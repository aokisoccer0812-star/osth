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3"/>
  </p:notesMasterIdLst>
  <p:handoutMasterIdLst>
    <p:handoutMasterId r:id="rId84"/>
  </p:handoutMasterIdLst>
  <p:sldIdLst>
    <p:sldId id="264" r:id="rId2"/>
    <p:sldId id="265" r:id="rId3"/>
    <p:sldId id="372" r:id="rId4"/>
    <p:sldId id="373" r:id="rId5"/>
    <p:sldId id="256" r:id="rId6"/>
    <p:sldId id="374" r:id="rId7"/>
    <p:sldId id="375" r:id="rId8"/>
    <p:sldId id="376" r:id="rId9"/>
    <p:sldId id="377" r:id="rId10"/>
    <p:sldId id="378" r:id="rId11"/>
    <p:sldId id="379" r:id="rId12"/>
    <p:sldId id="380" r:id="rId13"/>
    <p:sldId id="381" r:id="rId14"/>
    <p:sldId id="382" r:id="rId15"/>
    <p:sldId id="383" r:id="rId16"/>
    <p:sldId id="384" r:id="rId17"/>
    <p:sldId id="385" r:id="rId18"/>
    <p:sldId id="386" r:id="rId19"/>
    <p:sldId id="387" r:id="rId20"/>
    <p:sldId id="388" r:id="rId21"/>
    <p:sldId id="389" r:id="rId22"/>
    <p:sldId id="390" r:id="rId23"/>
    <p:sldId id="391" r:id="rId24"/>
    <p:sldId id="392" r:id="rId25"/>
    <p:sldId id="393" r:id="rId26"/>
    <p:sldId id="394" r:id="rId27"/>
    <p:sldId id="395" r:id="rId28"/>
    <p:sldId id="396" r:id="rId29"/>
    <p:sldId id="397" r:id="rId30"/>
    <p:sldId id="398" r:id="rId31"/>
    <p:sldId id="399" r:id="rId32"/>
    <p:sldId id="400" r:id="rId33"/>
    <p:sldId id="401" r:id="rId34"/>
    <p:sldId id="402" r:id="rId35"/>
    <p:sldId id="403" r:id="rId36"/>
    <p:sldId id="404" r:id="rId37"/>
    <p:sldId id="405" r:id="rId38"/>
    <p:sldId id="406" r:id="rId39"/>
    <p:sldId id="407" r:id="rId40"/>
    <p:sldId id="408" r:id="rId41"/>
    <p:sldId id="409" r:id="rId42"/>
    <p:sldId id="410" r:id="rId43"/>
    <p:sldId id="411" r:id="rId44"/>
    <p:sldId id="412" r:id="rId45"/>
    <p:sldId id="413" r:id="rId46"/>
    <p:sldId id="414" r:id="rId47"/>
    <p:sldId id="415" r:id="rId48"/>
    <p:sldId id="416" r:id="rId49"/>
    <p:sldId id="417" r:id="rId50"/>
    <p:sldId id="418" r:id="rId51"/>
    <p:sldId id="419" r:id="rId52"/>
    <p:sldId id="420" r:id="rId53"/>
    <p:sldId id="421" r:id="rId54"/>
    <p:sldId id="422" r:id="rId55"/>
    <p:sldId id="423" r:id="rId56"/>
    <p:sldId id="424" r:id="rId57"/>
    <p:sldId id="425" r:id="rId58"/>
    <p:sldId id="426" r:id="rId59"/>
    <p:sldId id="427" r:id="rId60"/>
    <p:sldId id="428" r:id="rId61"/>
    <p:sldId id="429" r:id="rId62"/>
    <p:sldId id="430" r:id="rId63"/>
    <p:sldId id="431" r:id="rId64"/>
    <p:sldId id="432" r:id="rId65"/>
    <p:sldId id="433" r:id="rId66"/>
    <p:sldId id="434" r:id="rId67"/>
    <p:sldId id="435" r:id="rId68"/>
    <p:sldId id="436" r:id="rId69"/>
    <p:sldId id="437" r:id="rId70"/>
    <p:sldId id="438" r:id="rId71"/>
    <p:sldId id="439" r:id="rId72"/>
    <p:sldId id="440" r:id="rId73"/>
    <p:sldId id="441" r:id="rId74"/>
    <p:sldId id="442" r:id="rId75"/>
    <p:sldId id="443" r:id="rId76"/>
    <p:sldId id="444" r:id="rId77"/>
    <p:sldId id="445" r:id="rId78"/>
    <p:sldId id="446" r:id="rId79"/>
    <p:sldId id="447" r:id="rId80"/>
    <p:sldId id="448" r:id="rId81"/>
    <p:sldId id="449" r:id="rId82"/>
  </p:sldIdLst>
  <p:sldSz cx="6858000" cy="12192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autoAdjust="0"/>
  </p:normalViewPr>
  <p:slideViewPr>
    <p:cSldViewPr snapToGrid="0">
      <p:cViewPr varScale="1">
        <p:scale>
          <a:sx n="38" d="100"/>
          <a:sy n="38" d="100"/>
        </p:scale>
        <p:origin x="2356" y="6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3822"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7D61A3E-AC6E-4B60-95A4-C1B3371851F9}" type="datetimeFigureOut">
              <a:rPr kumimoji="1" lang="ja-JP" altLang="en-US" smtClean="0"/>
              <a:t>2026/3/4</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90A3E0-14E8-4BE6-85AB-5C5385A62A44}"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C34F6E-DEEE-400C-92A1-19923C75B907}" type="datetimeFigureOut">
              <a:rPr kumimoji="1" lang="ja-JP" altLang="en-US" smtClean="0"/>
              <a:t>2026/3/4</a:t>
            </a:fld>
            <a:endParaRPr kumimoji="1" lang="ja-JP" altLang="en-US"/>
          </a:p>
        </p:txBody>
      </p:sp>
      <p:sp>
        <p:nvSpPr>
          <p:cNvPr id="4" name="スライド イメージ プレースホルダー 3"/>
          <p:cNvSpPr>
            <a:spLocks noGrp="1" noRot="1" noChangeAspect="1"/>
          </p:cNvSpPr>
          <p:nvPr>
            <p:ph type="sldImg" idx="2"/>
          </p:nvPr>
        </p:nvSpPr>
        <p:spPr>
          <a:xfrm>
            <a:off x="2561120" y="1143000"/>
            <a:ext cx="173576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23A1E1-D89E-4D9F-ACC7-724568FAD569}"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857250" y="1995508"/>
            <a:ext cx="5143500" cy="4245040"/>
          </a:xfrm>
        </p:spPr>
        <p:txBody>
          <a:bodyPr anchor="b"/>
          <a:lstStyle>
            <a:lvl1pPr algn="ctr">
              <a:defRPr sz="4500"/>
            </a:lvl1pPr>
          </a:lstStyle>
          <a:p>
            <a:r>
              <a:rPr kumimoji="1" lang="ja-JP" altLang="en-US"/>
              <a:t>マスター タイトルの書式設定</a:t>
            </a:r>
          </a:p>
        </p:txBody>
      </p:sp>
      <p:sp>
        <p:nvSpPr>
          <p:cNvPr id="3" name="サブタイトル 2"/>
          <p:cNvSpPr>
            <a:spLocks noGrp="1"/>
          </p:cNvSpPr>
          <p:nvPr>
            <p:ph type="subTitle" idx="1"/>
          </p:nvPr>
        </p:nvSpPr>
        <p:spPr>
          <a:xfrm>
            <a:off x="857250" y="6404254"/>
            <a:ext cx="5143500" cy="2943867"/>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14C5B98E-B881-44C6-965E-C4CBF4BD5DE0}" type="datetimeFigureOut">
              <a:rPr kumimoji="1" lang="ja-JP" altLang="en-US" smtClean="0"/>
              <a:t>2026/3/4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14C5B98E-B881-44C6-965E-C4CBF4BD5DE0}" type="datetimeFigureOut">
              <a:rPr kumimoji="1" lang="ja-JP" altLang="en-US" smtClean="0"/>
              <a:t>2026/3/4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467916" y="3039834"/>
            <a:ext cx="5915025" cy="5072032"/>
          </a:xfrm>
        </p:spPr>
        <p:txBody>
          <a:bodyPr anchor="b"/>
          <a:lstStyle>
            <a:lvl1pPr>
              <a:defRPr sz="45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467916" y="8159849"/>
            <a:ext cx="5915025" cy="2667262"/>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14C5B98E-B881-44C6-965E-C4CBF4BD5DE0}" type="datetimeFigureOut">
              <a:rPr kumimoji="1" lang="ja-JP" altLang="en-US" smtClean="0"/>
              <a:t>2026/3/4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471488" y="3245875"/>
            <a:ext cx="2914650" cy="773647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3471863" y="3245875"/>
            <a:ext cx="2914650" cy="773647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14C5B98E-B881-44C6-965E-C4CBF4BD5DE0}" type="datetimeFigureOut">
              <a:rPr kumimoji="1" lang="ja-JP" altLang="en-US" smtClean="0"/>
              <a:t>2026/3/4</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72381" y="649175"/>
            <a:ext cx="5915025" cy="2356788"/>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472381" y="2989029"/>
            <a:ext cx="2901255" cy="146487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472381" y="4453905"/>
            <a:ext cx="2901255" cy="655102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3471863" y="2989029"/>
            <a:ext cx="2915543" cy="146487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3471863" y="4453905"/>
            <a:ext cx="2915543" cy="6551024"/>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14C5B98E-B881-44C6-965E-C4CBF4BD5DE0}" type="datetimeFigureOut">
              <a:rPr kumimoji="1" lang="ja-JP" altLang="en-US" smtClean="0"/>
              <a:t>2026/3/4</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14C5B98E-B881-44C6-965E-C4CBF4BD5DE0}" type="datetimeFigureOut">
              <a:rPr kumimoji="1" lang="ja-JP" altLang="en-US" smtClean="0"/>
              <a:t>2026/3/4</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14C5B98E-B881-44C6-965E-C4CBF4BD5DE0}" type="datetimeFigureOut">
              <a:rPr kumimoji="1" lang="ja-JP" altLang="en-US" smtClean="0"/>
              <a:t>2026/3/4</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472381" y="812880"/>
            <a:ext cx="2211883" cy="2845080"/>
          </a:xfrm>
        </p:spPr>
        <p:txBody>
          <a:bodyPr anchor="b"/>
          <a:lstStyle>
            <a:lvl1pPr>
              <a:defRPr sz="2400"/>
            </a:lvl1pPr>
          </a:lstStyle>
          <a:p>
            <a:r>
              <a:rPr kumimoji="1" lang="ja-JP" altLang="en-US"/>
              <a:t>マスター タイトルの書式設定</a:t>
            </a:r>
          </a:p>
        </p:txBody>
      </p:sp>
      <p:sp>
        <p:nvSpPr>
          <p:cNvPr id="3" name="図プレースホルダー 2"/>
          <p:cNvSpPr>
            <a:spLocks noGrp="1"/>
          </p:cNvSpPr>
          <p:nvPr>
            <p:ph type="pic" idx="1"/>
          </p:nvPr>
        </p:nvSpPr>
        <p:spPr>
          <a:xfrm>
            <a:off x="2915543" y="1755595"/>
            <a:ext cx="3471863" cy="866507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kumimoji="1" lang="ja-JP" altLang="en-US"/>
          </a:p>
        </p:txBody>
      </p:sp>
      <p:sp>
        <p:nvSpPr>
          <p:cNvPr id="4" name="テキスト プレースホルダー 3"/>
          <p:cNvSpPr>
            <a:spLocks noGrp="1"/>
          </p:cNvSpPr>
          <p:nvPr>
            <p:ph type="body" sz="half" idx="2"/>
          </p:nvPr>
        </p:nvSpPr>
        <p:spPr>
          <a:xfrm>
            <a:off x="472381" y="3657960"/>
            <a:ext cx="2211883" cy="677682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14C5B98E-B881-44C6-965E-C4CBF4BD5DE0}" type="datetimeFigureOut">
              <a:rPr kumimoji="1" lang="ja-JP" altLang="en-US" smtClean="0"/>
              <a:t>2026/3/4</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B261B85B-3F11-4807-BF0A-089ABAB91E6D}" type="slidenum">
              <a:rPr kumimoji="1" lang="ja-JP" altLang="en-US" smtClean="0"/>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orient="vert"/>
          </p:nvPr>
        </p:nvSpPr>
        <p:spPr>
          <a:xfrm>
            <a:off x="5526272" y="649175"/>
            <a:ext cx="860240" cy="10333174"/>
          </a:xfrm>
        </p:spPr>
        <p:txBody>
          <a:bodyPr vert="eaVert">
            <a:normAutofit/>
          </a:bodyPr>
          <a:lstStyle>
            <a:lvl1pPr>
              <a:defRPr sz="3300"/>
            </a:lvl1pPr>
          </a:lstStyle>
          <a:p>
            <a:r>
              <a:rPr lang="ja-JP"/>
              <a:t>マスター タイトルの書式設定</a:t>
            </a:r>
          </a:p>
        </p:txBody>
      </p:sp>
      <p:sp>
        <p:nvSpPr>
          <p:cNvPr id="3" name="縦書きテキスト プレースホルダー 2"/>
          <p:cNvSpPr>
            <a:spLocks noGrp="1"/>
          </p:cNvSpPr>
          <p:nvPr>
            <p:ph type="body" orient="vert" idx="1"/>
          </p:nvPr>
        </p:nvSpPr>
        <p:spPr>
          <a:xfrm>
            <a:off x="471488" y="649175"/>
            <a:ext cx="4994976" cy="10333174"/>
          </a:xfrm>
        </p:spPr>
        <p:txBody>
          <a:bodyPr vert="eaVert"/>
          <a:lstStyle>
            <a:lvl1pPr marL="171450" indent="-171450">
              <a:defRPr kumimoji="1" lang="ja-JP" altLang="en-US" sz="2100" kern="1200" dirty="0" smtClean="0">
                <a:solidFill>
                  <a:schemeClr val="tx1"/>
                </a:solidFill>
                <a:latin typeface="+mn-lt"/>
                <a:ea typeface="+mn-ea"/>
                <a:cs typeface="+mn-cs"/>
              </a:defRPr>
            </a:lvl1pPr>
            <a:lvl2pPr marL="514350" indent="-171450">
              <a:defRPr kumimoji="1" lang="ja-JP" altLang="en-US" sz="1800" kern="1200" dirty="0" smtClean="0">
                <a:solidFill>
                  <a:schemeClr val="tx1"/>
                </a:solidFill>
                <a:latin typeface="+mn-lt"/>
                <a:ea typeface="+mn-ea"/>
                <a:cs typeface="+mn-cs"/>
              </a:defRPr>
            </a:lvl2pPr>
            <a:lvl3pPr marL="857250" indent="-171450">
              <a:defRPr kumimoji="1" lang="ja-JP" altLang="en-US" sz="1500" kern="1200" dirty="0" smtClean="0">
                <a:solidFill>
                  <a:schemeClr val="tx1"/>
                </a:solidFill>
                <a:latin typeface="+mn-lt"/>
                <a:ea typeface="+mn-ea"/>
                <a:cs typeface="+mn-cs"/>
              </a:defRPr>
            </a:lvl3pPr>
            <a:lvl4pPr marL="1200150" indent="-171450">
              <a:defRPr kumimoji="1" lang="ja-JP" altLang="en-US" sz="1350" kern="1200" dirty="0" smtClean="0">
                <a:solidFill>
                  <a:schemeClr val="tx1"/>
                </a:solidFill>
                <a:latin typeface="+mn-lt"/>
                <a:ea typeface="+mn-ea"/>
                <a:cs typeface="+mn-cs"/>
              </a:defRPr>
            </a:lvl4pPr>
            <a:lvl5pPr marL="1543050" indent="-171450">
              <a:defRPr kumimoji="1" lang="ja-JP" altLang="en-US" sz="1350" kern="1200" dirty="0">
                <a:solidFill>
                  <a:schemeClr val="tx1"/>
                </a:solidFill>
                <a:latin typeface="+mn-lt"/>
                <a:ea typeface="+mn-ea"/>
                <a:cs typeface="+mn-cs"/>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kumimoji="1" lang="ja-JP" altLang="en-US" dirty="0"/>
              <a:t>マスター テキストの書式設定</a:t>
            </a:r>
          </a:p>
          <a:p>
            <a:pPr marL="685800" lvl="1" indent="-228600" algn="l" defTabSz="914400" rtl="0" eaLnBrk="1" latinLnBrk="0" hangingPunct="1">
              <a:lnSpc>
                <a:spcPct val="90000"/>
              </a:lnSpc>
              <a:spcBef>
                <a:spcPts val="500"/>
              </a:spcBef>
              <a:buFont typeface="Arial" panose="020B0604020202020204" pitchFamily="34" charset="0"/>
              <a:buChar char="•"/>
            </a:pPr>
            <a:r>
              <a:rPr kumimoji="1" lang="ja-JP" altLang="en-US" dirty="0"/>
              <a:t>第 2 レベル</a:t>
            </a:r>
          </a:p>
          <a:p>
            <a:pPr marL="1143000" lvl="2" indent="-228600" algn="l" defTabSz="914400" rtl="0" eaLnBrk="1" latinLnBrk="0" hangingPunct="1">
              <a:lnSpc>
                <a:spcPct val="90000"/>
              </a:lnSpc>
              <a:spcBef>
                <a:spcPts val="500"/>
              </a:spcBef>
              <a:buFont typeface="Arial" panose="020B0604020202020204" pitchFamily="34" charset="0"/>
              <a:buChar char="•"/>
            </a:pPr>
            <a:r>
              <a:rPr kumimoji="1" lang="ja-JP" altLang="en-US" dirty="0"/>
              <a:t>第 </a:t>
            </a:r>
            <a:r>
              <a:rPr kumimoji="1" lang="en-US" altLang="ja-JP" dirty="0"/>
              <a:t>3 </a:t>
            </a:r>
            <a:r>
              <a:rPr kumimoji="1" lang="ja-JP" altLang="en-US" dirty="0"/>
              <a:t>レベル</a:t>
            </a:r>
          </a:p>
          <a:p>
            <a:pPr marL="1600200" lvl="3" indent="-228600" algn="l" defTabSz="914400" rtl="0" eaLnBrk="1" latinLnBrk="0" hangingPunct="1">
              <a:lnSpc>
                <a:spcPct val="90000"/>
              </a:lnSpc>
              <a:spcBef>
                <a:spcPts val="500"/>
              </a:spcBef>
              <a:buFont typeface="Arial" panose="020B0604020202020204" pitchFamily="34" charset="0"/>
              <a:buChar char="•"/>
            </a:pPr>
            <a:r>
              <a:rPr kumimoji="1" lang="ja-JP" altLang="en-US" dirty="0"/>
              <a:t>第 </a:t>
            </a:r>
            <a:r>
              <a:rPr kumimoji="1" lang="en-US" altLang="ja-JP" dirty="0"/>
              <a:t>4 </a:t>
            </a:r>
            <a:r>
              <a:rPr kumimoji="1" lang="ja-JP" altLang="en-US" dirty="0"/>
              <a:t>レベル</a:t>
            </a:r>
          </a:p>
          <a:p>
            <a:pPr marL="2057400" lvl="4" indent="-228600" algn="l" defTabSz="914400" rtl="0" eaLnBrk="1" latinLnBrk="0" hangingPunct="1">
              <a:lnSpc>
                <a:spcPct val="90000"/>
              </a:lnSpc>
              <a:spcBef>
                <a:spcPts val="500"/>
              </a:spcBef>
              <a:buFont typeface="Arial" panose="020B0604020202020204" pitchFamily="34" charset="0"/>
              <a:buChar char="•"/>
            </a:pPr>
            <a:r>
              <a:rPr kumimoji="1" lang="ja-JP" altLang="en-US" dirty="0"/>
              <a:t>第 </a:t>
            </a:r>
            <a:r>
              <a:rPr kumimoji="1" lang="en-US" altLang="ja-JP" dirty="0"/>
              <a:t>5 </a:t>
            </a:r>
            <a:r>
              <a:rPr kumimoji="1" lang="ja-JP" altLang="en-US" dirty="0"/>
              <a:t>レベル</a:t>
            </a:r>
          </a:p>
        </p:txBody>
      </p:sp>
      <p:sp>
        <p:nvSpPr>
          <p:cNvPr id="4" name="Date Placeholder 3"/>
          <p:cNvSpPr>
            <a:spLocks noGrp="1"/>
          </p:cNvSpPr>
          <p:nvPr>
            <p:ph type="dt" sz="half" idx="10"/>
          </p:nvPr>
        </p:nvSpPr>
        <p:spPr/>
        <p:txBody>
          <a:bodyPr/>
          <a:lstStyle/>
          <a:p>
            <a:fld id="{760FBDFE-C587-4B4C-A407-44438C67B59E}" type="datetimeFigureOut">
              <a:rPr lang="en-US" altLang="ja-JP" smtClean="0"/>
              <a:t>3/4/2026</a:t>
            </a:fld>
            <a:endParaRPr lang="ja-JP"/>
          </a:p>
        </p:txBody>
      </p:sp>
      <p:sp>
        <p:nvSpPr>
          <p:cNvPr id="5" name="Footer Placeholder 4"/>
          <p:cNvSpPr>
            <a:spLocks noGrp="1"/>
          </p:cNvSpPr>
          <p:nvPr>
            <p:ph type="ftr" sz="quarter" idx="11"/>
          </p:nvPr>
        </p:nvSpPr>
        <p:spPr/>
        <p:txBody>
          <a:bodyPr/>
          <a:lstStyle/>
          <a:p>
            <a:endParaRPr lang="ja-JP"/>
          </a:p>
        </p:txBody>
      </p:sp>
      <p:sp>
        <p:nvSpPr>
          <p:cNvPr id="6" name="Slide Number Placeholder 5"/>
          <p:cNvSpPr>
            <a:spLocks noGrp="1"/>
          </p:cNvSpPr>
          <p:nvPr>
            <p:ph type="sldNum" sz="quarter" idx="12"/>
          </p:nvPr>
        </p:nvSpPr>
        <p:spPr/>
        <p:txBody>
          <a:bodyPr/>
          <a:lstStyle/>
          <a:p>
            <a:fld id="{49AE70B2-8BF9-45C0-BB95-33D1B9D3A854}" type="slidenum">
              <a:rPr lang="en-US" altLang="ja-JP" smtClean="0"/>
              <a:t>‹#›</a:t>
            </a:fld>
            <a:endParaRPr lang="ja-JP"/>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p:txBody>
          <a:bodyPr/>
          <a:lstStyle/>
          <a:p>
            <a:fld id="{760FBDFE-C587-4B4C-A407-44438C67B59E}" type="datetimeFigureOut">
              <a:rPr lang="en-US" smtClean="0"/>
              <a:t>3/4/2026</a:t>
            </a:fld>
            <a:endParaRPr lang="en-US"/>
          </a:p>
        </p:txBody>
      </p:sp>
      <p:sp>
        <p:nvSpPr>
          <p:cNvPr id="4" name="フッター プレースホルダー 3"/>
          <p:cNvSpPr>
            <a:spLocks noGrp="1"/>
          </p:cNvSpPr>
          <p:nvPr>
            <p:ph type="ftr" sz="quarter" idx="11"/>
          </p:nvPr>
        </p:nvSpPr>
        <p:spPr/>
        <p:txBody>
          <a:bodyPr/>
          <a:lstStyle/>
          <a:p>
            <a:r>
              <a:rPr lang="en-US"/>
              <a:t>フッター</a:t>
            </a:r>
          </a:p>
        </p:txBody>
      </p:sp>
      <p:sp>
        <p:nvSpPr>
          <p:cNvPr id="5" name="スライド番号プレースホルダー 4"/>
          <p:cNvSpPr>
            <a:spLocks noGrp="1"/>
          </p:cNvSpPr>
          <p:nvPr>
            <p:ph type="sldNum" sz="quarter" idx="12"/>
          </p:nvPr>
        </p:nvSpPr>
        <p:spPr/>
        <p:txBody>
          <a:bodyPr/>
          <a:lstStyle/>
          <a:p>
            <a:fld id="{49AE70B2-8BF9-45C0-BB95-33D1B9D3A854}" type="slidenum">
              <a:rPr lang="en-US" smtClean="0"/>
              <a:t>‹#›</a:t>
            </a:fld>
            <a:endParaRPr lang="en-US"/>
          </a:p>
        </p:txBody>
      </p:sp>
      <p:sp>
        <p:nvSpPr>
          <p:cNvPr id="7" name="コンテンツ プレースホルダー 6"/>
          <p:cNvSpPr>
            <a:spLocks noGrp="1"/>
          </p:cNvSpPr>
          <p:nvPr>
            <p:ph sz="quarter" idx="13"/>
          </p:nvPr>
        </p:nvSpPr>
        <p:spPr>
          <a:xfrm>
            <a:off x="471488" y="980617"/>
            <a:ext cx="5915025" cy="9883588"/>
          </a:xfrm>
        </p:spPr>
        <p:txBody>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71488" y="649175"/>
            <a:ext cx="5915025" cy="2356788"/>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471488" y="3245875"/>
            <a:ext cx="5915025" cy="7736474"/>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471488" y="11301291"/>
            <a:ext cx="1543050" cy="649175"/>
          </a:xfrm>
          <a:prstGeom prst="rect">
            <a:avLst/>
          </a:prstGeom>
        </p:spPr>
        <p:txBody>
          <a:bodyPr vert="horz" lIns="91440" tIns="45720" rIns="91440" bIns="45720" rtlCol="0" anchor="ctr"/>
          <a:lstStyle>
            <a:lvl1pPr algn="l">
              <a:defRPr sz="900">
                <a:solidFill>
                  <a:schemeClr val="tx1">
                    <a:tint val="75000"/>
                  </a:schemeClr>
                </a:solidFill>
              </a:defRPr>
            </a:lvl1pPr>
          </a:lstStyle>
          <a:p>
            <a:fld id="{14C5B98E-B881-44C6-965E-C4CBF4BD5DE0}" type="datetimeFigureOut">
              <a:rPr kumimoji="1" lang="ja-JP" altLang="en-US" smtClean="0"/>
              <a:t>2026/3/4</a:t>
            </a:fld>
            <a:endParaRPr kumimoji="1" lang="ja-JP" altLang="en-US"/>
          </a:p>
        </p:txBody>
      </p:sp>
      <p:sp>
        <p:nvSpPr>
          <p:cNvPr id="5" name="フッター プレースホルダー 4"/>
          <p:cNvSpPr>
            <a:spLocks noGrp="1"/>
          </p:cNvSpPr>
          <p:nvPr>
            <p:ph type="ftr" sz="quarter" idx="3"/>
          </p:nvPr>
        </p:nvSpPr>
        <p:spPr>
          <a:xfrm>
            <a:off x="2271713" y="11301291"/>
            <a:ext cx="2314575" cy="64917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4843463" y="11301291"/>
            <a:ext cx="1543050" cy="649175"/>
          </a:xfrm>
          <a:prstGeom prst="rect">
            <a:avLst/>
          </a:prstGeom>
        </p:spPr>
        <p:txBody>
          <a:bodyPr vert="horz" lIns="91440" tIns="45720" rIns="91440" bIns="45720" rtlCol="0" anchor="ctr"/>
          <a:lstStyle>
            <a:lvl1pPr algn="r">
              <a:defRPr sz="900">
                <a:solidFill>
                  <a:schemeClr val="tx1">
                    <a:tint val="75000"/>
                  </a:schemeClr>
                </a:solidFill>
              </a:defRPr>
            </a:lvl1pPr>
          </a:lstStyle>
          <a:p>
            <a:fld id="{B261B85B-3F11-4807-BF0A-089ABAB91E6D}"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lang="en-US"/>
          </a:p>
        </p:txBody>
      </p:sp>
      <p:sp>
        <p:nvSpPr>
          <p:cNvPr id="3" name="コンテンツプレースホルダ 2"/>
          <p:cNvSpPr>
            <a:spLocks noGrp="1"/>
          </p:cNvSpPr>
          <p:nvPr>
            <p:ph idx="1"/>
          </p:nvPr>
        </p:nvSpPr>
        <p:spPr>
          <a:xfrm>
            <a:off x="471488" y="4430150"/>
            <a:ext cx="5915025" cy="7736474"/>
          </a:xfrm>
        </p:spPr>
        <p:txBody>
          <a:bodyPr/>
          <a:lstStyle/>
          <a:p>
            <a:pPr marL="0" indent="0">
              <a:buNone/>
            </a:pPr>
            <a:r>
              <a:rPr lang="ja-JP" altLang="en-US"/>
              <a:t>空</a:t>
            </a:r>
          </a:p>
        </p:txBody>
      </p:sp>
      <p:pic>
        <p:nvPicPr>
          <p:cNvPr id="4" name="図形 3"/>
          <p:cNvPicPr>
            <a:picLocks noChangeAspect="1"/>
          </p:cNvPicPr>
          <p:nvPr/>
        </p:nvPicPr>
        <p:blipFill>
          <a:blip r:embed="rId2"/>
          <a:stretch>
            <a:fillRect/>
          </a:stretch>
        </p:blipFill>
        <p:spPr>
          <a:xfrm>
            <a:off x="267335" y="138430"/>
            <a:ext cx="6324600" cy="3596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lang="en-US"/>
          </a:p>
        </p:txBody>
      </p:sp>
      <p:sp>
        <p:nvSpPr>
          <p:cNvPr id="3" name="コンテンツプレースホルダ 2"/>
          <p:cNvSpPr>
            <a:spLocks noGrp="1"/>
          </p:cNvSpPr>
          <p:nvPr>
            <p:ph idx="1"/>
          </p:nvPr>
        </p:nvSpPr>
        <p:spPr>
          <a:xfrm>
            <a:off x="397193" y="4440310"/>
            <a:ext cx="5915025" cy="7736474"/>
          </a:xfrm>
        </p:spPr>
        <p:txBody>
          <a:bodyPr/>
          <a:lstStyle/>
          <a:p>
            <a:pPr marL="0" indent="0">
              <a:buNone/>
            </a:pPr>
            <a:r>
              <a:rPr lang="ja-JP" altLang="en-US"/>
              <a:t>空</a:t>
            </a:r>
          </a:p>
        </p:txBody>
      </p:sp>
      <p:pic>
        <p:nvPicPr>
          <p:cNvPr id="4" name="図形 3"/>
          <p:cNvPicPr>
            <a:picLocks noChangeAspect="1"/>
          </p:cNvPicPr>
          <p:nvPr/>
        </p:nvPicPr>
        <p:blipFill>
          <a:blip r:embed="rId2"/>
          <a:stretch>
            <a:fillRect/>
          </a:stretch>
        </p:blipFill>
        <p:spPr>
          <a:xfrm>
            <a:off x="284480" y="125095"/>
            <a:ext cx="6290310" cy="3581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lang="en-US"/>
          </a:p>
        </p:txBody>
      </p:sp>
      <p:sp>
        <p:nvSpPr>
          <p:cNvPr id="3" name="コンテンツプレースホルダ 2"/>
          <p:cNvSpPr>
            <a:spLocks noGrp="1"/>
          </p:cNvSpPr>
          <p:nvPr>
            <p:ph idx="1"/>
          </p:nvPr>
        </p:nvSpPr>
        <p:spPr>
          <a:xfrm>
            <a:off x="471488" y="4440310"/>
            <a:ext cx="5915025" cy="7736474"/>
          </a:xfrm>
        </p:spPr>
        <p:txBody>
          <a:bodyPr/>
          <a:lstStyle/>
          <a:p>
            <a:pPr marL="0" indent="0">
              <a:buNone/>
            </a:pPr>
            <a:r>
              <a:rPr lang="ja-JP" altLang="en-US"/>
              <a:t>空</a:t>
            </a:r>
          </a:p>
        </p:txBody>
      </p:sp>
      <p:pic>
        <p:nvPicPr>
          <p:cNvPr id="4" name="図形 3"/>
          <p:cNvPicPr>
            <a:picLocks noChangeAspect="1"/>
          </p:cNvPicPr>
          <p:nvPr/>
        </p:nvPicPr>
        <p:blipFill>
          <a:blip r:embed="rId2"/>
          <a:stretch>
            <a:fillRect/>
          </a:stretch>
        </p:blipFill>
        <p:spPr>
          <a:xfrm>
            <a:off x="259715" y="162560"/>
            <a:ext cx="6339840" cy="35890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lang="en-US"/>
          </a:p>
        </p:txBody>
      </p:sp>
      <p:sp>
        <p:nvSpPr>
          <p:cNvPr id="3" name="コンテンツプレースホルダ 2"/>
          <p:cNvSpPr>
            <a:spLocks noGrp="1"/>
          </p:cNvSpPr>
          <p:nvPr>
            <p:ph idx="1"/>
          </p:nvPr>
        </p:nvSpPr>
        <p:spPr>
          <a:xfrm>
            <a:off x="470853" y="4472695"/>
            <a:ext cx="5915025" cy="7736474"/>
          </a:xfrm>
        </p:spPr>
        <p:txBody>
          <a:bodyPr/>
          <a:lstStyle/>
          <a:p>
            <a:pPr marL="0" indent="0">
              <a:buNone/>
            </a:pPr>
            <a:r>
              <a:rPr lang="ja-JP" altLang="en-US"/>
              <a:t>空</a:t>
            </a:r>
          </a:p>
        </p:txBody>
      </p:sp>
      <p:pic>
        <p:nvPicPr>
          <p:cNvPr id="4" name="図形 3"/>
          <p:cNvPicPr>
            <a:picLocks noChangeAspect="1"/>
          </p:cNvPicPr>
          <p:nvPr/>
        </p:nvPicPr>
        <p:blipFill>
          <a:blip r:embed="rId2"/>
          <a:stretch>
            <a:fillRect/>
          </a:stretch>
        </p:blipFill>
        <p:spPr>
          <a:xfrm>
            <a:off x="281305" y="118745"/>
            <a:ext cx="6294120" cy="356997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671570"/>
            <a:ext cx="6852285" cy="8262408"/>
          </a:xfrm>
        </p:spPr>
        <p:txBody>
          <a:bodyPr>
            <a:noAutofit/>
          </a:bodyPr>
          <a:lstStyle/>
          <a:p>
            <a:pPr algn="l"/>
            <a:r>
              <a:rPr lang="ja-JP" altLang="en-US" sz="1200" dirty="0"/>
              <a:t>現代において、産業用制御システム（ICS）は多くの国で 重要インフラの大部分 を構成しています。</a:t>
            </a:r>
          </a:p>
          <a:p>
            <a:pPr algn="l"/>
            <a:r>
              <a:rPr lang="ja-JP" altLang="en-US" sz="1200" dirty="0"/>
              <a:t>重要インフラに該当しない場合でも、ICS はその国の 製造業の基盤 を支え、</a:t>
            </a:r>
          </a:p>
          <a:p>
            <a:pPr algn="l"/>
            <a:r>
              <a:rPr lang="ja-JP" altLang="en-US" sz="1200" dirty="0"/>
              <a:t>国家の富を生み出す上で極めて重要な役割を果たしています。</a:t>
            </a:r>
          </a:p>
          <a:p>
            <a:pPr algn="l"/>
            <a:r>
              <a:rPr lang="ja-JP" altLang="en-US" sz="1200" dirty="0"/>
              <a:t>そのため、悪意ある攻撃者が ICS を狙う理由は数多く存在します。</a:t>
            </a:r>
          </a:p>
          <a:p>
            <a:pPr algn="l"/>
            <a:r>
              <a:rPr lang="ja-JP" altLang="en-US" sz="1200" dirty="0"/>
              <a:t>攻撃は個人または組織によって行われ、目的は以下のように多岐にわたります：</a:t>
            </a:r>
          </a:p>
          <a:p>
            <a:pPr algn="l"/>
            <a:r>
              <a:rPr lang="ja-JP" altLang="en-US" sz="1200" dirty="0"/>
              <a:t>- 金銭的利益（または破壊）</a:t>
            </a:r>
          </a:p>
          <a:p>
            <a:pPr algn="l"/>
            <a:r>
              <a:rPr lang="ja-JP" altLang="en-US" sz="1200" dirty="0"/>
              <a:t>- 企業スパイ</a:t>
            </a:r>
          </a:p>
          <a:p>
            <a:pPr algn="l"/>
            <a:r>
              <a:rPr lang="ja-JP" altLang="en-US" sz="1200" dirty="0"/>
              <a:t>- ハクティビズム</a:t>
            </a:r>
          </a:p>
          <a:p>
            <a:pPr algn="l"/>
            <a:r>
              <a:rPr lang="ja-JP" altLang="en-US" sz="1200" dirty="0"/>
              <a:t>- テロ活動</a:t>
            </a:r>
          </a:p>
          <a:p>
            <a:pPr algn="l"/>
            <a:r>
              <a:rPr lang="ja-JP" altLang="en-US" sz="1200" dirty="0"/>
              <a:t>さらに、国家レベルの脅威 も深刻です。</a:t>
            </a:r>
          </a:p>
          <a:p>
            <a:pPr algn="l"/>
            <a:r>
              <a:rPr lang="ja-JP" altLang="en-US" sz="1200" dirty="0"/>
              <a:t>多くの国がサイバースパイ活動やサイバー戦に積極的に関与しているためです。</a:t>
            </a:r>
          </a:p>
          <a:p>
            <a:pPr algn="l"/>
            <a:r>
              <a:rPr lang="ja-JP" altLang="en-US" sz="1200" dirty="0"/>
              <a:t>また、忘れてはならないのが、</a:t>
            </a:r>
          </a:p>
          <a:p>
            <a:pPr algn="l"/>
            <a:r>
              <a:rPr lang="ja-JP" altLang="en-US" sz="1200" dirty="0"/>
              <a:t>自分のスキルを試したい、学習したい、仲間から認められたい という動機で</a:t>
            </a:r>
          </a:p>
          <a:p>
            <a:pPr algn="l"/>
            <a:r>
              <a:rPr lang="ja-JP" altLang="en-US" sz="1200" dirty="0"/>
              <a:t>組織を攻撃しようとする多数の個人です。</a:t>
            </a:r>
          </a:p>
          <a:p>
            <a:pPr algn="l"/>
            <a:r>
              <a:rPr lang="ja-JP" altLang="en-US" sz="1200" dirty="0"/>
              <a:t>このグループはしばしば「倫理的ハッキング」を名乗り、</a:t>
            </a:r>
          </a:p>
          <a:p>
            <a:pPr algn="l"/>
            <a:r>
              <a:rPr lang="ja-JP" altLang="en-US" sz="1200" dirty="0"/>
              <a:t>脆弱性を企業に共有する意図があると主張することもありますが、</a:t>
            </a:r>
          </a:p>
          <a:p>
            <a:pPr algn="l"/>
            <a:r>
              <a:rPr lang="ja-JP" altLang="en-US" sz="1200" dirty="0"/>
              <a:t>許可なく行うハッキングは決して倫理的ではありません。</a:t>
            </a:r>
          </a:p>
          <a:p>
            <a:pPr algn="l"/>
            <a:endParaRPr lang="ja-JP" altLang="en-US" sz="1200" dirty="0"/>
          </a:p>
          <a:p>
            <a:pPr algn="l"/>
            <a:r>
              <a:rPr lang="ja-JP" altLang="en-US" sz="1200" dirty="0"/>
              <a:t>攻撃の例（参考リンク）</a:t>
            </a:r>
          </a:p>
          <a:p>
            <a:pPr algn="l"/>
            <a:r>
              <a:rPr lang="ja-JP" altLang="en-US" sz="1200" dirty="0"/>
              <a:t>- TRITON / TRISIS ICS 攻撃フレームワーク</a:t>
            </a:r>
          </a:p>
          <a:p>
            <a:pPr algn="l"/>
            <a:r>
              <a:rPr lang="ja-JP" altLang="en-US" sz="1200" dirty="0"/>
              <a:t>https://www.fireeye.com/blog/threat-research/2017/12/attackers-deploy-new-ics-attack-framework-triton.html (fireeye.com in Bing)</a:t>
            </a:r>
          </a:p>
          <a:p>
            <a:pPr algn="l"/>
            <a:r>
              <a:rPr lang="ja-JP" altLang="en-US" sz="1200" dirty="0"/>
              <a:t>- 水処理システムの設定改ざん</a:t>
            </a:r>
          </a:p>
          <a:p>
            <a:pPr algn="l"/>
            <a:r>
              <a:rPr lang="ja-JP" altLang="en-US" sz="1200" dirty="0"/>
              <a:t>https://www.securityweek.com/attackers-alter-water-treatment-systems-utility-hack-report</a:t>
            </a:r>
          </a:p>
          <a:p>
            <a:pPr algn="l"/>
            <a:r>
              <a:rPr lang="ja-JP" altLang="en-US" sz="1200" dirty="0"/>
              <a:t>- サンフランシスコ鉄道システムへのランサムウェア攻撃</a:t>
            </a:r>
          </a:p>
          <a:p>
            <a:pPr algn="l"/>
            <a:r>
              <a:rPr lang="ja-JP" altLang="en-US" sz="1200" dirty="0"/>
              <a:t>https://www.securityweek.com/ransomware-attack-disrupts-san-francisco-rail-system</a:t>
            </a:r>
          </a:p>
          <a:p>
            <a:pPr algn="l"/>
            <a:r>
              <a:rPr lang="ja-JP" altLang="en-US" sz="1200" dirty="0"/>
              <a:t>- ドイツ製鉄所への ICS 攻撃（BBC）</a:t>
            </a:r>
          </a:p>
          <a:p>
            <a:pPr algn="l"/>
            <a:r>
              <a:rPr lang="ja-JP" altLang="en-US" sz="1200" dirty="0"/>
              <a:t>https://www.bbc.co.uk/news/technology-30575104</a:t>
            </a:r>
          </a:p>
          <a:p>
            <a:pPr algn="l"/>
            <a:endParaRPr lang="ja-JP" altLang="en-US" sz="1200" dirty="0"/>
          </a:p>
          <a:p>
            <a:pPr algn="l"/>
            <a:r>
              <a:rPr lang="ja-JP" altLang="en-US" sz="1200" dirty="0"/>
              <a:t>ICS410 の教材に含まれる 研究論文や防御ユースケース もぜひ確認してください。</a:t>
            </a:r>
          </a:p>
          <a:p>
            <a:pPr algn="l"/>
            <a:r>
              <a:rPr lang="ja-JP" altLang="en-US" sz="1200" dirty="0"/>
              <a:t>実際の攻撃事例と防御アプローチを学ぶことで、ICS セキュリティの理解がさらに深まります。</a:t>
            </a:r>
          </a:p>
        </p:txBody>
      </p:sp>
      <p:pic>
        <p:nvPicPr>
          <p:cNvPr id="2" name="図形 1"/>
          <p:cNvPicPr>
            <a:picLocks noChangeAspect="1"/>
          </p:cNvPicPr>
          <p:nvPr/>
        </p:nvPicPr>
        <p:blipFill>
          <a:blip r:embed="rId2"/>
          <a:stretch>
            <a:fillRect/>
          </a:stretch>
        </p:blipFill>
        <p:spPr>
          <a:xfrm>
            <a:off x="264160" y="93980"/>
            <a:ext cx="6328410" cy="35775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677285"/>
            <a:ext cx="6852285" cy="7452148"/>
          </a:xfrm>
        </p:spPr>
        <p:txBody>
          <a:bodyPr>
            <a:noAutofit/>
          </a:bodyPr>
          <a:lstStyle/>
          <a:p>
            <a:pPr algn="l"/>
            <a:r>
              <a:rPr lang="ja-JP" altLang="en-US" sz="1000" dirty="0"/>
              <a:t>セキュリティの観点では、脆弱性（vulnerability） とは、脅威によって悪用される可能性のある</a:t>
            </a:r>
          </a:p>
          <a:p>
            <a:pPr algn="l"/>
            <a:r>
              <a:rPr lang="ja-JP" altLang="en-US" sz="1000" dirty="0"/>
              <a:t>システムやプロセスの弱点を指します。</a:t>
            </a:r>
          </a:p>
          <a:p>
            <a:pPr algn="l"/>
            <a:r>
              <a:rPr lang="ja-JP" altLang="en-US" sz="1000" dirty="0"/>
              <a:t>ただし、脆弱性が存在すること自体が必ずしも悪いわけではありません。</a:t>
            </a:r>
          </a:p>
          <a:p>
            <a:pPr algn="l"/>
            <a:r>
              <a:rPr lang="ja-JP" altLang="en-US" sz="1000" dirty="0"/>
              <a:t>脆弱性と脅威が結びついたときに初めて危険が生まれます。</a:t>
            </a:r>
          </a:p>
          <a:p>
            <a:pPr algn="l"/>
            <a:endParaRPr lang="ja-JP" altLang="en-US" sz="1000" dirty="0"/>
          </a:p>
          <a:p>
            <a:pPr algn="l"/>
            <a:r>
              <a:rPr lang="ja-JP" altLang="en-US" sz="1000" dirty="0"/>
              <a:t>脆弱性と脅威の関係を理解する例え</a:t>
            </a:r>
          </a:p>
          <a:p>
            <a:pPr algn="l"/>
            <a:r>
              <a:rPr lang="ja-JP" altLang="en-US" sz="1000" dirty="0"/>
              <a:t>夜間に家のドアや窓を施錠しない習慣があるとします。</a:t>
            </a:r>
          </a:p>
          <a:p>
            <a:pPr algn="l"/>
            <a:r>
              <a:rPr lang="ja-JP" altLang="en-US" sz="1000" dirty="0"/>
              <a:t>- もし人里離れた森の中に住んでいるなら</a:t>
            </a:r>
          </a:p>
          <a:p>
            <a:pPr algn="l"/>
            <a:r>
              <a:rPr lang="ja-JP" altLang="en-US" sz="1000" dirty="0"/>
              <a:t>施錠しないという脆弱性は存在しますが、それを悪用する脅威はほとんどありません。</a:t>
            </a:r>
          </a:p>
          <a:p>
            <a:pPr algn="l"/>
            <a:r>
              <a:rPr lang="ja-JP" altLang="en-US" sz="1000" dirty="0"/>
              <a:t>- しかし、犯罪率が国内で最も高い大都市に引っ越した場合</a:t>
            </a:r>
          </a:p>
          <a:p>
            <a:pPr algn="l"/>
            <a:r>
              <a:rPr lang="ja-JP" altLang="en-US" sz="1000" dirty="0"/>
              <a:t>脆弱性（施錠しない）は以前と同じでも、脅威レベルが大幅に上昇します。</a:t>
            </a:r>
          </a:p>
          <a:p>
            <a:pPr algn="l"/>
            <a:r>
              <a:rPr lang="ja-JP" altLang="en-US" sz="1000" dirty="0"/>
              <a:t>その結果、危険性とリスクは格段に高くなります。</a:t>
            </a:r>
          </a:p>
          <a:p>
            <a:pPr algn="l"/>
            <a:r>
              <a:rPr lang="ja-JP" altLang="en-US" sz="1000" dirty="0"/>
              <a:t>コンピュータシステムにも同じことが言えます。</a:t>
            </a:r>
          </a:p>
          <a:p>
            <a:pPr algn="l"/>
            <a:endParaRPr lang="ja-JP" altLang="en-US" sz="1000" dirty="0"/>
          </a:p>
          <a:p>
            <a:pPr algn="l"/>
            <a:r>
              <a:rPr lang="ja-JP" altLang="en-US" sz="1000" dirty="0"/>
              <a:t>脆弱性は脅威が現れる“入口”</a:t>
            </a:r>
          </a:p>
          <a:p>
            <a:pPr algn="l"/>
            <a:r>
              <a:rPr lang="ja-JP" altLang="en-US" sz="1000" dirty="0"/>
              <a:t>脆弱性が存在しなければ、脅威は組織にリスクをもたらしません。</a:t>
            </a:r>
          </a:p>
          <a:p>
            <a:pPr algn="l"/>
            <a:r>
              <a:rPr lang="ja-JP" altLang="en-US" sz="1000" dirty="0"/>
              <a:t>脆弱性はソフトウェアの欠陥だけではなく、以下のような形でも存在します：</a:t>
            </a:r>
          </a:p>
          <a:p>
            <a:pPr algn="l"/>
            <a:r>
              <a:rPr lang="ja-JP" altLang="en-US" sz="1000" dirty="0"/>
              <a:t>- 誤った設定</a:t>
            </a:r>
          </a:p>
          <a:p>
            <a:pPr algn="l"/>
            <a:r>
              <a:rPr lang="ja-JP" altLang="en-US" sz="1000" dirty="0"/>
              <a:t>- 不十分な物理セキュリティ</a:t>
            </a:r>
          </a:p>
          <a:p>
            <a:pPr algn="l"/>
            <a:r>
              <a:rPr lang="ja-JP" altLang="en-US" sz="1000" dirty="0"/>
              <a:t>- 不適切な採用・人事プロセス</a:t>
            </a:r>
          </a:p>
          <a:p>
            <a:pPr algn="l"/>
            <a:r>
              <a:rPr lang="ja-JP" altLang="en-US" sz="1000" dirty="0"/>
              <a:t>- 手順の不備</a:t>
            </a:r>
          </a:p>
          <a:p>
            <a:pPr algn="l"/>
            <a:r>
              <a:rPr lang="ja-JP" altLang="en-US" sz="1000" dirty="0"/>
              <a:t>脅威と脆弱性が結びついたとき、組織にリスクが発生します。</a:t>
            </a:r>
          </a:p>
          <a:p>
            <a:pPr algn="l"/>
            <a:endParaRPr lang="ja-JP" altLang="en-US" sz="1000" dirty="0"/>
          </a:p>
          <a:p>
            <a:pPr algn="l"/>
            <a:r>
              <a:rPr lang="ja-JP" altLang="en-US" sz="1000" dirty="0"/>
              <a:t>ゼロデイ攻撃（0-day attack）</a:t>
            </a:r>
          </a:p>
          <a:p>
            <a:pPr algn="l"/>
            <a:r>
              <a:rPr lang="ja-JP" altLang="en-US" sz="1000" dirty="0"/>
              <a:t>ゼロデイ攻撃とは、</a:t>
            </a:r>
          </a:p>
          <a:p>
            <a:pPr algn="l"/>
            <a:r>
              <a:rPr lang="ja-JP" altLang="en-US" sz="1000" dirty="0"/>
              <a:t>まだ公開されておらず、ベンダーも存在を認識していない脆弱性を悪用する攻撃 を指します。</a:t>
            </a:r>
          </a:p>
          <a:p>
            <a:pPr algn="l"/>
            <a:r>
              <a:rPr lang="ja-JP" altLang="en-US" sz="1000" dirty="0"/>
              <a:t>当然ながら、これは最も危険なタイプの攻撃です。</a:t>
            </a:r>
          </a:p>
          <a:p>
            <a:pPr algn="l"/>
            <a:r>
              <a:rPr lang="ja-JP" altLang="en-US" sz="1000" dirty="0"/>
              <a:t>ただし、以下のような手法により一定の防御が可能です：</a:t>
            </a:r>
          </a:p>
          <a:p>
            <a:pPr algn="l"/>
            <a:r>
              <a:rPr lang="ja-JP" altLang="en-US" sz="1000" dirty="0"/>
              <a:t>- マルウェアのヒューリスティック分析</a:t>
            </a:r>
          </a:p>
          <a:p>
            <a:pPr algn="l"/>
            <a:r>
              <a:rPr lang="ja-JP" altLang="en-US" sz="1000" dirty="0"/>
              <a:t>- 不審なファイルやアプリケーションの振る舞い分析</a:t>
            </a:r>
          </a:p>
          <a:p>
            <a:pPr algn="l"/>
            <a:r>
              <a:rPr lang="ja-JP" altLang="en-US" sz="1000" dirty="0"/>
              <a:t>これらは未知の脆弱性を悪用する攻撃に対しても、ある程度の検知能力を提供します。</a:t>
            </a:r>
          </a:p>
        </p:txBody>
      </p:sp>
      <p:pic>
        <p:nvPicPr>
          <p:cNvPr id="2" name="図形 1"/>
          <p:cNvPicPr>
            <a:picLocks noChangeAspect="1"/>
          </p:cNvPicPr>
          <p:nvPr/>
        </p:nvPicPr>
        <p:blipFill>
          <a:blip r:embed="rId2"/>
          <a:stretch>
            <a:fillRect/>
          </a:stretch>
        </p:blipFill>
        <p:spPr>
          <a:xfrm>
            <a:off x="260985" y="88265"/>
            <a:ext cx="6336030" cy="35890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540" y="4141470"/>
            <a:ext cx="6852285" cy="6312535"/>
          </a:xfrm>
        </p:spPr>
        <p:txBody>
          <a:bodyPr>
            <a:noAutofit/>
          </a:bodyPr>
          <a:lstStyle/>
          <a:p>
            <a:pPr algn="l"/>
            <a:r>
              <a:rPr lang="ja-JP" altLang="en-US" sz="1200"/>
              <a:t>管理サーバーが Windows や Linux といった一般的な OS を使用しているため、</a:t>
            </a:r>
          </a:p>
          <a:p>
            <a:pPr algn="l"/>
            <a:r>
              <a:rPr lang="ja-JP" altLang="en-US" sz="1200"/>
              <a:t>従来のセキュリティ脆弱性リストは制御システムにもそのまま適用できます。</a:t>
            </a:r>
          </a:p>
          <a:p>
            <a:pPr algn="l"/>
            <a:r>
              <a:rPr lang="ja-JP" altLang="en-US" sz="1200"/>
              <a:t>しかし ICS コミュニティには、ICS 特有の脆弱性に特化した追加の報告サイト も存在します。</a:t>
            </a:r>
          </a:p>
          <a:p>
            <a:pPr algn="l"/>
            <a:endParaRPr lang="ja-JP" altLang="en-US" sz="1200"/>
          </a:p>
          <a:p>
            <a:pPr algn="l"/>
            <a:r>
              <a:rPr lang="ja-JP" altLang="en-US" sz="1200"/>
              <a:t>CISA（ICS-CERT）</a:t>
            </a:r>
          </a:p>
          <a:p>
            <a:pPr algn="l"/>
            <a:r>
              <a:rPr lang="ja-JP" altLang="en-US" sz="1200"/>
              <a:t>Cybersecurity &amp; Infrastructure Security Agency（CISA）は、</a:t>
            </a:r>
          </a:p>
          <a:p>
            <a:pPr algn="l"/>
            <a:r>
              <a:rPr lang="ja-JP" altLang="en-US" sz="1200"/>
              <a:t>最新情報を得るための最も有用なリソースの一つです。</a:t>
            </a:r>
          </a:p>
          <a:p>
            <a:pPr algn="l"/>
            <a:r>
              <a:rPr lang="ja-JP" altLang="en-US" sz="1200"/>
              <a:t>CISA の ICS-CERT プログラム は、以下を定期的に公開しています：</a:t>
            </a:r>
          </a:p>
          <a:p>
            <a:pPr algn="l"/>
            <a:r>
              <a:rPr lang="ja-JP" altLang="en-US" sz="1200"/>
              <a:t>- ICS 製品に影響を与える最新の脆弱性レポート</a:t>
            </a:r>
          </a:p>
          <a:p>
            <a:pPr algn="l"/>
            <a:r>
              <a:rPr lang="ja-JP" altLang="en-US" sz="1200"/>
              <a:t>- 最近発生した ICS セキュリティ侵害の概要</a:t>
            </a:r>
          </a:p>
          <a:p>
            <a:pPr algn="l"/>
            <a:r>
              <a:rPr lang="ja-JP" altLang="en-US" sz="1200"/>
              <a:t>https://www.cisa.gov/uscert/ics</a:t>
            </a:r>
          </a:p>
          <a:p>
            <a:pPr algn="l"/>
            <a:endParaRPr lang="ja-JP" altLang="en-US" sz="1200"/>
          </a:p>
          <a:p>
            <a:pPr algn="l"/>
            <a:r>
              <a:rPr lang="ja-JP" altLang="en-US" sz="1200"/>
              <a:t>CWE（Common Weakness Enumeration）</a:t>
            </a:r>
          </a:p>
          <a:p>
            <a:pPr algn="l"/>
            <a:r>
              <a:rPr lang="ja-JP" altLang="en-US" sz="1200"/>
              <a:t>CWE はより一般的な IT 向けの弱点分類データベースです。</a:t>
            </a:r>
          </a:p>
          <a:p>
            <a:pPr algn="l"/>
            <a:r>
              <a:rPr lang="ja-JP" altLang="en-US" sz="1200"/>
              <a:t>ICS コミュニティでも広く参照されており、以下の特徴があります：</a:t>
            </a:r>
          </a:p>
          <a:p>
            <a:pPr algn="l"/>
            <a:r>
              <a:rPr lang="ja-JP" altLang="en-US" sz="1200"/>
              <a:t>- 特定製品の脆弱性そのものは掲載しない</a:t>
            </a:r>
          </a:p>
          <a:p>
            <a:pPr algn="l"/>
            <a:r>
              <a:rPr lang="ja-JP" altLang="en-US" sz="1200"/>
              <a:t>- 代わりに、脆弱性の「カテゴリ」や「弱点の種類」を説明する</a:t>
            </a:r>
          </a:p>
          <a:p>
            <a:pPr algn="l"/>
            <a:r>
              <a:rPr lang="ja-JP" altLang="en-US" sz="1200"/>
              <a:t>- 共通の用語体系を提供することが目的</a:t>
            </a:r>
          </a:p>
          <a:p>
            <a:pPr algn="l"/>
            <a:r>
              <a:rPr lang="ja-JP" altLang="en-US" sz="1200"/>
              <a:t>http://cwe.mitre.org/data/slices/2000.html</a:t>
            </a:r>
          </a:p>
          <a:p>
            <a:pPr algn="l"/>
            <a:endParaRPr lang="ja-JP" altLang="en-US" sz="1200"/>
          </a:p>
          <a:p>
            <a:pPr algn="l"/>
            <a:r>
              <a:rPr lang="ja-JP" altLang="en-US" sz="1200"/>
              <a:t>NVD（National Vulnerability Database）と CVE Details</a:t>
            </a:r>
          </a:p>
          <a:p>
            <a:pPr algn="l"/>
            <a:r>
              <a:rPr lang="ja-JP" altLang="en-US" sz="1200"/>
              <a:t>特定製品の脆弱性を調べるための最大級のデータベースとしては：</a:t>
            </a:r>
          </a:p>
          <a:p>
            <a:pPr algn="l"/>
            <a:r>
              <a:rPr lang="ja-JP" altLang="en-US" sz="1200"/>
              <a:t>- NIST の NVD（National Vulnerability Database）</a:t>
            </a:r>
          </a:p>
          <a:p>
            <a:pPr algn="l"/>
            <a:r>
              <a:rPr lang="ja-JP" altLang="en-US" sz="1200"/>
              <a:t>- より使いやすい UI を提供する CVE Details（NVD の別インターフェース）</a:t>
            </a:r>
          </a:p>
          <a:p>
            <a:pPr algn="l"/>
            <a:r>
              <a:rPr lang="ja-JP" altLang="en-US" sz="1200"/>
              <a:t>が利用できます。</a:t>
            </a:r>
          </a:p>
        </p:txBody>
      </p:sp>
      <p:pic>
        <p:nvPicPr>
          <p:cNvPr id="2" name="図形 1"/>
          <p:cNvPicPr>
            <a:picLocks noChangeAspect="1"/>
          </p:cNvPicPr>
          <p:nvPr/>
        </p:nvPicPr>
        <p:blipFill>
          <a:blip r:embed="rId2"/>
          <a:stretch>
            <a:fillRect/>
          </a:stretch>
        </p:blipFill>
        <p:spPr>
          <a:xfrm>
            <a:off x="260350" y="71755"/>
            <a:ext cx="6336030" cy="36004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743960"/>
            <a:ext cx="6852285" cy="8148532"/>
          </a:xfrm>
        </p:spPr>
        <p:txBody>
          <a:bodyPr>
            <a:noAutofit/>
          </a:bodyPr>
          <a:lstStyle/>
          <a:p>
            <a:pPr algn="l"/>
            <a:r>
              <a:rPr lang="ja-JP" altLang="en-US" sz="1200" dirty="0"/>
              <a:t>制御システム（ICS）がインターネットに公開されてしまうことがあります。</a:t>
            </a:r>
          </a:p>
          <a:p>
            <a:pPr algn="l"/>
            <a:r>
              <a:rPr lang="ja-JP" altLang="en-US" sz="1200" dirty="0"/>
              <a:t>多くの場合、企業や制御エンジニアがそのリスクを理解していないことが原因です。</a:t>
            </a:r>
          </a:p>
          <a:p>
            <a:pPr algn="l"/>
            <a:r>
              <a:rPr lang="ja-JP" altLang="en-US" sz="1200" dirty="0"/>
              <a:t>また、制御エンジニアや IT スタッフが以下のような 誤設定によって意図せず公開してしまう ケースもあります：</a:t>
            </a:r>
          </a:p>
          <a:p>
            <a:pPr algn="l"/>
            <a:r>
              <a:rPr lang="ja-JP" altLang="en-US" sz="1200" dirty="0"/>
              <a:t>- ネットワーク設定ミス</a:t>
            </a:r>
          </a:p>
          <a:p>
            <a:pPr algn="l"/>
            <a:r>
              <a:rPr lang="ja-JP" altLang="en-US" sz="1200" dirty="0"/>
              <a:t>- 誤ったファイアウォールルール</a:t>
            </a:r>
          </a:p>
          <a:p>
            <a:pPr algn="l"/>
            <a:r>
              <a:rPr lang="ja-JP" altLang="en-US" sz="1200" dirty="0"/>
              <a:t>- WAN 回線のアップグレード時の設定漏れ</a:t>
            </a:r>
          </a:p>
          <a:p>
            <a:pPr algn="l"/>
            <a:r>
              <a:rPr lang="ja-JP" altLang="en-US" sz="1200" dirty="0"/>
              <a:t>さらに、従業員やビジネスパートナー向けのリモートアクセスなど、</a:t>
            </a:r>
          </a:p>
          <a:p>
            <a:pPr algn="l"/>
            <a:r>
              <a:rPr lang="ja-JP" altLang="en-US" sz="1200" dirty="0"/>
              <a:t>正当な業務上の理由 で ICS をインターネットに公開する場合もあります。</a:t>
            </a:r>
          </a:p>
          <a:p>
            <a:pPr algn="l"/>
            <a:r>
              <a:rPr lang="ja-JP" altLang="en-US" sz="1200" dirty="0"/>
              <a:t>本来であれば、攻撃者の悪用を防ぐために複数のセキュリティ防御が必要ですが、</a:t>
            </a:r>
          </a:p>
          <a:p>
            <a:pPr algn="l"/>
            <a:r>
              <a:rPr lang="ja-JP" altLang="en-US" sz="1200" dirty="0"/>
              <a:t>実際には パスワード 1 つだけ で守られている場合や、</a:t>
            </a:r>
          </a:p>
          <a:p>
            <a:pPr algn="l"/>
            <a:r>
              <a:rPr lang="ja-JP" altLang="en-US" sz="1200" dirty="0"/>
              <a:t>防御がまったく存在しない 場合すらあります。</a:t>
            </a:r>
          </a:p>
          <a:p>
            <a:pPr algn="l"/>
            <a:endParaRPr lang="ja-JP" altLang="en-US" sz="1200" dirty="0"/>
          </a:p>
          <a:p>
            <a:pPr algn="l"/>
            <a:r>
              <a:rPr lang="ja-JP" altLang="en-US" sz="1200" dirty="0"/>
              <a:t>攻撃者が ICS を見つける方法</a:t>
            </a:r>
          </a:p>
          <a:p>
            <a:pPr algn="l"/>
            <a:r>
              <a:rPr lang="ja-JP" altLang="en-US" sz="1200" dirty="0"/>
              <a:t>攻撃者は ICS を探し出すためにさまざまな手法を使います。</a:t>
            </a:r>
          </a:p>
          <a:p>
            <a:pPr algn="l"/>
            <a:r>
              <a:rPr lang="ja-JP" altLang="en-US" sz="1200" dirty="0"/>
              <a:t>● 1. ポートスキャン（最も一般的）</a:t>
            </a:r>
          </a:p>
          <a:p>
            <a:pPr algn="l"/>
            <a:r>
              <a:rPr lang="ja-JP" altLang="en-US" sz="1200" dirty="0"/>
              <a:t>Nmap のようなツールを使い、ICS サービスが動作しているポートを探します。</a:t>
            </a:r>
          </a:p>
          <a:p>
            <a:pPr algn="l"/>
            <a:r>
              <a:rPr lang="ja-JP" altLang="en-US" sz="1200" dirty="0"/>
              <a:t>ただし、この方法は攻撃者の IP アドレスが露出する可能性があります。</a:t>
            </a:r>
          </a:p>
          <a:p>
            <a:pPr algn="l"/>
            <a:r>
              <a:rPr lang="ja-JP" altLang="en-US" sz="1200" dirty="0"/>
              <a:t>● 2. Google 検索（Google Hacking）</a:t>
            </a:r>
          </a:p>
          <a:p>
            <a:pPr algn="l"/>
            <a:r>
              <a:rPr lang="ja-JP" altLang="en-US" sz="1200" dirty="0"/>
              <a:t>インターネット上で Web インターフェースを公開している制御システムは、</a:t>
            </a:r>
          </a:p>
          <a:p>
            <a:pPr algn="l"/>
            <a:r>
              <a:rPr lang="ja-JP" altLang="en-US" sz="1200" dirty="0"/>
              <a:t>Googlebot によってインデックス化され、</a:t>
            </a:r>
          </a:p>
          <a:p>
            <a:pPr algn="l"/>
            <a:r>
              <a:rPr lang="ja-JP" altLang="en-US" sz="1200" dirty="0"/>
              <a:t>簡単な検索で発見されてしまいます。</a:t>
            </a:r>
          </a:p>
          <a:p>
            <a:pPr algn="l"/>
            <a:r>
              <a:rPr lang="ja-JP" altLang="en-US" sz="1200" dirty="0"/>
              <a:t>攻撃者が Google を使って脆弱なサーバーを探す行為は Google Hacking と呼ばれます。</a:t>
            </a:r>
          </a:p>
          <a:p>
            <a:pPr algn="l"/>
            <a:r>
              <a:rPr lang="ja-JP" altLang="en-US" sz="1200" dirty="0"/>
              <a:t>● 3. Shodan（制御システム探索に特化した検索エンジン）</a:t>
            </a:r>
          </a:p>
          <a:p>
            <a:pPr algn="l"/>
            <a:r>
              <a:rPr lang="ja-JP" altLang="en-US" sz="1200" dirty="0"/>
              <a:t>Google が Web インターフェースのみを対象とするのに対し、</a:t>
            </a:r>
          </a:p>
          <a:p>
            <a:pPr algn="l"/>
            <a:r>
              <a:rPr lang="ja-JP" altLang="en-US" sz="1200" dirty="0"/>
              <a:t>Shodan は ICS を含む多様なサービスを検索可能 です。</a:t>
            </a:r>
          </a:p>
          <a:p>
            <a:pPr algn="l"/>
            <a:r>
              <a:rPr lang="ja-JP" altLang="en-US" sz="1200" dirty="0"/>
              <a:t>Shodan では以下の情報を検索できます：</a:t>
            </a:r>
          </a:p>
          <a:p>
            <a:pPr algn="l"/>
            <a:r>
              <a:rPr lang="ja-JP" altLang="en-US" sz="1200" dirty="0"/>
              <a:t>- サービスバナー</a:t>
            </a:r>
          </a:p>
          <a:p>
            <a:pPr algn="l"/>
            <a:r>
              <a:rPr lang="ja-JP" altLang="en-US" sz="1200" dirty="0"/>
              <a:t>- HTTP ヘッダー</a:t>
            </a:r>
          </a:p>
          <a:p>
            <a:pPr algn="l"/>
            <a:r>
              <a:rPr lang="ja-JP" altLang="en-US" sz="1200" dirty="0"/>
              <a:t>- ICS プロトコルの応答</a:t>
            </a:r>
          </a:p>
          <a:p>
            <a:pPr algn="l"/>
            <a:r>
              <a:rPr lang="ja-JP" altLang="en-US" sz="1200" dirty="0"/>
              <a:t>これにより、攻撃者は ICS を特定しやすくなります。</a:t>
            </a:r>
          </a:p>
        </p:txBody>
      </p:sp>
      <p:pic>
        <p:nvPicPr>
          <p:cNvPr id="2" name="図形 1"/>
          <p:cNvPicPr>
            <a:picLocks noChangeAspect="1"/>
          </p:cNvPicPr>
          <p:nvPr/>
        </p:nvPicPr>
        <p:blipFill>
          <a:blip r:embed="rId2"/>
          <a:stretch>
            <a:fillRect/>
          </a:stretch>
        </p:blipFill>
        <p:spPr>
          <a:xfrm>
            <a:off x="260985" y="128270"/>
            <a:ext cx="6336030" cy="36156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以下に、専門性を保ちつつ自然で読みやすい日本語訳をまとめます。</a:t>
            </a:r>
          </a:p>
          <a:p>
            <a:pPr algn="l"/>
            <a:endParaRPr lang="ja-JP" altLang="en-US" sz="1400"/>
          </a:p>
          <a:p>
            <a:pPr algn="l"/>
            <a:r>
              <a:rPr lang="ja-JP" altLang="en-US" sz="1400"/>
              <a:t>日本語訳（分かりやすく意訳）</a:t>
            </a:r>
          </a:p>
          <a:p>
            <a:pPr algn="l"/>
            <a:r>
              <a:rPr lang="ja-JP" altLang="en-US" sz="1400"/>
              <a:t>制御システムの Web インターフェースや、制御システムへ横移動される可能性のある</a:t>
            </a:r>
          </a:p>
          <a:p>
            <a:pPr algn="l"/>
            <a:r>
              <a:rPr lang="ja-JP" altLang="en-US" sz="1400"/>
              <a:t>顧客向けポータルがインターネットに公開されている場合、</a:t>
            </a:r>
          </a:p>
          <a:p>
            <a:pPr algn="l"/>
            <a:r>
              <a:rPr lang="ja-JP" altLang="en-US" sz="1400"/>
              <a:t>Google ハッキング（Google Hacking） は攻撃者にとって最も迅速で静かな手法の一つです。</a:t>
            </a:r>
          </a:p>
          <a:p>
            <a:pPr algn="l"/>
            <a:r>
              <a:rPr lang="ja-JP" altLang="en-US" sz="1400"/>
              <a:t>世界最大の検索エンジンである Google は、</a:t>
            </a:r>
          </a:p>
          <a:p>
            <a:pPr algn="l"/>
            <a:r>
              <a:rPr lang="ja-JP" altLang="en-US" sz="1400"/>
              <a:t>インターネット上に公開されている膨大な Web インターフェースをすでにインデックス化しています。</a:t>
            </a:r>
          </a:p>
          <a:p>
            <a:pPr algn="l"/>
            <a:r>
              <a:rPr lang="ja-JP" altLang="en-US" sz="1400"/>
              <a:t>つまり、攻撃者は自分でスキャンする必要すらなく、</a:t>
            </a:r>
          </a:p>
          <a:p>
            <a:pPr algn="l"/>
            <a:r>
              <a:rPr lang="ja-JP" altLang="en-US" sz="1400"/>
              <a:t>Google が収集した情報を検索するだけで対象システムを見つけられる のです。</a:t>
            </a:r>
          </a:p>
          <a:p>
            <a:pPr algn="l"/>
            <a:r>
              <a:rPr lang="ja-JP" altLang="en-US" sz="1400"/>
              <a:t>攻撃者は、いくつかの工夫された検索キーワードを入力するだけで</a:t>
            </a:r>
          </a:p>
          <a:p>
            <a:pPr algn="l"/>
            <a:r>
              <a:rPr lang="ja-JP" altLang="en-US" sz="1400"/>
              <a:t>目的のシステムを簡単に探し出すことができます。</a:t>
            </a:r>
          </a:p>
          <a:p>
            <a:pPr algn="l"/>
            <a:r>
              <a:rPr lang="ja-JP" altLang="en-US" sz="1400"/>
              <a:t>例えば、特定の企業ドメインに対して「login」という単語を検索するだけでも、</a:t>
            </a:r>
          </a:p>
          <a:p>
            <a:pPr algn="l"/>
            <a:r>
              <a:rPr lang="ja-JP" altLang="en-US" sz="1400"/>
              <a:t>検索結果を一つずつ確認し、制御システムに見えるものを手動で特定できます。</a:t>
            </a:r>
          </a:p>
          <a:p>
            <a:pPr algn="l"/>
            <a:endParaRPr lang="ja-JP" altLang="en-US" sz="1400"/>
          </a:p>
          <a:p>
            <a:pPr algn="l"/>
            <a:r>
              <a:rPr lang="ja-JP" altLang="en-US" sz="1400"/>
              <a:t>参考資料</a:t>
            </a:r>
          </a:p>
          <a:p>
            <a:pPr algn="l"/>
            <a:r>
              <a:rPr lang="ja-JP" altLang="en-US" sz="1400"/>
              <a:t>● Google の検索演算子（ディレクティブ）についての詳細</a:t>
            </a:r>
          </a:p>
          <a:p>
            <a:pPr algn="l"/>
            <a:r>
              <a:rPr lang="ja-JP" altLang="en-US" sz="1400"/>
              <a:t>http://www.googleguide.com/advanced_operators_reference.html</a:t>
            </a:r>
          </a:p>
          <a:p>
            <a:pPr algn="l"/>
            <a:r>
              <a:rPr lang="ja-JP" altLang="en-US" sz="1400"/>
              <a:t>● Google Hacking の手法をまとめたデータベース</a:t>
            </a:r>
          </a:p>
          <a:p>
            <a:pPr algn="l"/>
            <a:r>
              <a:rPr lang="ja-JP" altLang="en-US" sz="1400"/>
              <a:t>https://www.exploit-db.com/google-hacking-database/</a:t>
            </a:r>
          </a:p>
        </p:txBody>
      </p:sp>
      <p:pic>
        <p:nvPicPr>
          <p:cNvPr id="2" name="図形 1"/>
          <p:cNvPicPr>
            <a:picLocks noChangeAspect="1"/>
          </p:cNvPicPr>
          <p:nvPr/>
        </p:nvPicPr>
        <p:blipFill>
          <a:blip r:embed="rId2"/>
          <a:stretch>
            <a:fillRect/>
          </a:stretch>
        </p:blipFill>
        <p:spPr>
          <a:xfrm>
            <a:off x="262890" y="125095"/>
            <a:ext cx="6332220" cy="36004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718560"/>
            <a:ext cx="6852285" cy="8473440"/>
          </a:xfrm>
        </p:spPr>
        <p:txBody>
          <a:bodyPr>
            <a:noAutofit/>
          </a:bodyPr>
          <a:lstStyle/>
          <a:p>
            <a:pPr algn="l"/>
            <a:r>
              <a:rPr lang="ja-JP" altLang="en-US" sz="1200" dirty="0"/>
              <a:t>ポートスキャンに利用できる最良のツールの一つが Nmap です。</a:t>
            </a:r>
          </a:p>
          <a:p>
            <a:pPr algn="l"/>
            <a:r>
              <a:rPr lang="ja-JP" altLang="en-US" sz="1200" dirty="0"/>
              <a:t>Nmap は非常に強力なオープンソースのポートスキャナで、主要な OS すべてで利用できます。</a:t>
            </a:r>
          </a:p>
          <a:p>
            <a:pPr algn="l"/>
            <a:r>
              <a:rPr lang="ja-JP" altLang="en-US" sz="1200" dirty="0"/>
              <a:t>Nmap を使うと、以下のようなスキャンが可能です：</a:t>
            </a:r>
          </a:p>
          <a:p>
            <a:pPr algn="l"/>
            <a:r>
              <a:rPr lang="ja-JP" altLang="en-US" sz="1200" dirty="0"/>
              <a:t>- 1 つの IP 上で動作しているすべてのサービスの特定</a:t>
            </a:r>
          </a:p>
          <a:p>
            <a:pPr algn="l"/>
            <a:r>
              <a:rPr lang="ja-JP" altLang="en-US" sz="1200" dirty="0"/>
              <a:t>- 任意の IP グループに対して特定サービスのみを検索</a:t>
            </a:r>
          </a:p>
          <a:p>
            <a:pPr algn="l"/>
            <a:r>
              <a:rPr lang="ja-JP" altLang="en-US" sz="1200" dirty="0"/>
              <a:t>- すべての IP に対してすべてのサービスを検索</a:t>
            </a:r>
          </a:p>
          <a:p>
            <a:pPr algn="l"/>
            <a:r>
              <a:rPr lang="ja-JP" altLang="en-US" sz="1200" dirty="0"/>
              <a:t>また、サービスがバナー情報を提供していれば サービスバナーの取得 ができ、</a:t>
            </a:r>
          </a:p>
          <a:p>
            <a:pPr algn="l"/>
            <a:r>
              <a:rPr lang="ja-JP" altLang="en-US" sz="1200" dirty="0"/>
              <a:t>Nmap Scripting Engine（NSE）を使って 高度な解析やサービス情報の列挙 を行うこともできます。</a:t>
            </a:r>
          </a:p>
          <a:p>
            <a:pPr algn="l"/>
            <a:r>
              <a:rPr lang="ja-JP" altLang="en-US" sz="1200" dirty="0"/>
              <a:t>NSE には ICS 向けのスクリプトも複数存在し、今後さらに追加される見込みです。</a:t>
            </a:r>
          </a:p>
          <a:p>
            <a:pPr algn="l"/>
            <a:endParaRPr lang="ja-JP" altLang="en-US" sz="1200" dirty="0"/>
          </a:p>
          <a:p>
            <a:pPr algn="l"/>
            <a:r>
              <a:rPr lang="ja-JP" altLang="en-US" sz="1200" dirty="0"/>
              <a:t>ポートスキャンの利点と欠点</a:t>
            </a:r>
          </a:p>
          <a:p>
            <a:pPr algn="l"/>
            <a:r>
              <a:rPr lang="ja-JP" altLang="en-US" sz="1200" dirty="0"/>
              <a:t>ポートスキャンは、攻撃者が脆弱なサービスを発見・特定するための</a:t>
            </a:r>
          </a:p>
          <a:p>
            <a:pPr algn="l"/>
            <a:r>
              <a:rPr lang="ja-JP" altLang="en-US" sz="1200" dirty="0"/>
              <a:t>最も正確な手法 とされています。</a:t>
            </a:r>
          </a:p>
          <a:p>
            <a:pPr algn="l"/>
            <a:r>
              <a:rPr lang="ja-JP" altLang="en-US" sz="1200" dirty="0"/>
              <a:t>ただし欠点もあります：</a:t>
            </a:r>
          </a:p>
          <a:p>
            <a:pPr algn="l"/>
            <a:r>
              <a:rPr lang="ja-JP" altLang="en-US" sz="1200" dirty="0"/>
              <a:t>- 攻撃者の 送信元 IP が露出 する</a:t>
            </a:r>
          </a:p>
          <a:p>
            <a:pPr algn="l"/>
            <a:r>
              <a:rPr lang="ja-JP" altLang="en-US" sz="1200" dirty="0"/>
              <a:t>- 多数の IP やポートを扱う場合、非常に時間がかかる</a:t>
            </a:r>
          </a:p>
          <a:p>
            <a:pPr algn="l"/>
            <a:r>
              <a:rPr lang="ja-JP" altLang="en-US" sz="1200" dirty="0"/>
              <a:t>とはいえ、特定企業に対して Nmap を実行する場合は、</a:t>
            </a:r>
          </a:p>
          <a:p>
            <a:pPr algn="l"/>
            <a:r>
              <a:rPr lang="ja-JP" altLang="en-US" sz="1200" dirty="0"/>
              <a:t>興味深いサービスを比較的短時間で見つけられることがあります。</a:t>
            </a:r>
          </a:p>
          <a:p>
            <a:pPr algn="l"/>
            <a:endParaRPr lang="ja-JP" altLang="en-US" sz="1200" dirty="0"/>
          </a:p>
          <a:p>
            <a:pPr algn="l"/>
            <a:r>
              <a:rPr lang="ja-JP" altLang="en-US" sz="1200" dirty="0"/>
              <a:t>ICS 環境での注意点</a:t>
            </a:r>
          </a:p>
          <a:p>
            <a:pPr algn="l"/>
            <a:r>
              <a:rPr lang="ja-JP" altLang="en-US" sz="1200" dirty="0"/>
              <a:t>Nmap のようなツールは、ICS 環境において 障害や予測不能な挙動を引き起こす可能性 があります。</a:t>
            </a:r>
          </a:p>
          <a:p>
            <a:pPr algn="l"/>
            <a:r>
              <a:rPr lang="ja-JP" altLang="en-US" sz="1200" dirty="0"/>
              <a:t>SANS では、ICS 環境で安全にペネトレーションテストを行う方法に特化した</a:t>
            </a:r>
          </a:p>
          <a:p>
            <a:pPr algn="l"/>
            <a:r>
              <a:rPr lang="ja-JP" altLang="en-US" sz="1200" dirty="0"/>
              <a:t>「Assessing and Exploiting Control Systems」などのコースを提供しています。</a:t>
            </a:r>
          </a:p>
          <a:p>
            <a:pPr algn="l"/>
            <a:r>
              <a:rPr lang="ja-JP" altLang="en-US" sz="1200" dirty="0"/>
              <a:t>ICS 資産所有者が内部ネットワークの情報を把握したい場合、</a:t>
            </a:r>
          </a:p>
          <a:p>
            <a:pPr algn="l"/>
            <a:r>
              <a:rPr lang="ja-JP" altLang="en-US" sz="1200" dirty="0"/>
              <a:t>パッシブネットワークキャプチャ を利用するという代替手法もあります。</a:t>
            </a:r>
          </a:p>
          <a:p>
            <a:pPr algn="l"/>
            <a:r>
              <a:rPr lang="ja-JP" altLang="en-US" sz="1200" dirty="0"/>
              <a:t>これは ICS へのリスクをほぼ排除できますが、</a:t>
            </a:r>
          </a:p>
          <a:p>
            <a:pPr algn="l"/>
            <a:r>
              <a:rPr lang="ja-JP" altLang="en-US" sz="1200" dirty="0"/>
              <a:t>通信頻度の低いサービスは検出できない という欠点があります。</a:t>
            </a:r>
          </a:p>
          <a:p>
            <a:pPr algn="l"/>
            <a:endParaRPr lang="ja-JP" altLang="en-US" sz="1200" dirty="0"/>
          </a:p>
          <a:p>
            <a:pPr algn="l"/>
            <a:r>
              <a:rPr lang="ja-JP" altLang="en-US" sz="1200" dirty="0"/>
              <a:t>法的な注意</a:t>
            </a:r>
          </a:p>
          <a:p>
            <a:pPr algn="l"/>
            <a:r>
              <a:rPr lang="ja-JP" altLang="en-US" sz="1200" dirty="0"/>
              <a:t>国によっては、ネットワーク所有者の許可なしにポートスキャンを行うことが</a:t>
            </a:r>
          </a:p>
          <a:p>
            <a:pPr algn="l"/>
            <a:r>
              <a:rPr lang="ja-JP" altLang="en-US" sz="1200" dirty="0"/>
              <a:t>違法とみなされる場合があります。</a:t>
            </a:r>
          </a:p>
        </p:txBody>
      </p:sp>
      <p:pic>
        <p:nvPicPr>
          <p:cNvPr id="2" name="図形 1"/>
          <p:cNvPicPr>
            <a:picLocks noChangeAspect="1"/>
          </p:cNvPicPr>
          <p:nvPr/>
        </p:nvPicPr>
        <p:blipFill>
          <a:blip r:embed="rId2"/>
          <a:stretch>
            <a:fillRect/>
          </a:stretch>
        </p:blipFill>
        <p:spPr>
          <a:xfrm>
            <a:off x="254000" y="110490"/>
            <a:ext cx="6351270" cy="36080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857" y="3229398"/>
            <a:ext cx="6852285" cy="8875607"/>
          </a:xfrm>
        </p:spPr>
        <p:txBody>
          <a:bodyPr>
            <a:noAutofit/>
          </a:bodyPr>
          <a:lstStyle/>
          <a:p>
            <a:pPr algn="l"/>
            <a:r>
              <a:rPr lang="ja-JP" altLang="en-US" sz="800" dirty="0"/>
              <a:t>Google がインターネットに公開された Web ページに関する膨大な情報を持っているのに対し、</a:t>
            </a:r>
          </a:p>
          <a:p>
            <a:pPr algn="l"/>
            <a:r>
              <a:rPr lang="ja-JP" altLang="en-US" sz="800" dirty="0"/>
              <a:t>Shodan は Web 以外のプロトコルに関する情報を収集するために攻撃者が利用する代表的な情報源 です。</a:t>
            </a:r>
          </a:p>
          <a:p>
            <a:pPr algn="l"/>
            <a:r>
              <a:rPr lang="ja-JP" altLang="en-US" sz="800" dirty="0"/>
              <a:t>Shodan は以下のプロトコルの バナー情報やレスポンスヘッダー を収集します：</a:t>
            </a:r>
          </a:p>
          <a:p>
            <a:pPr algn="l"/>
            <a:r>
              <a:rPr lang="ja-JP" altLang="en-US" sz="800" dirty="0"/>
              <a:t>• 	HTTP / HTTPS</a:t>
            </a:r>
          </a:p>
          <a:p>
            <a:pPr algn="l"/>
            <a:r>
              <a:rPr lang="ja-JP" altLang="en-US" sz="800" dirty="0"/>
              <a:t>• 	Telnet</a:t>
            </a:r>
          </a:p>
          <a:p>
            <a:pPr algn="l"/>
            <a:r>
              <a:rPr lang="ja-JP" altLang="en-US" sz="800" dirty="0"/>
              <a:t>• 	SSH</a:t>
            </a:r>
          </a:p>
          <a:p>
            <a:pPr algn="l"/>
            <a:r>
              <a:rPr lang="ja-JP" altLang="en-US" sz="800" dirty="0"/>
              <a:t>• 	FTP</a:t>
            </a:r>
          </a:p>
          <a:p>
            <a:pPr algn="l"/>
            <a:r>
              <a:rPr lang="ja-JP" altLang="en-US" sz="800" dirty="0"/>
              <a:t>• 	SNMP</a:t>
            </a:r>
          </a:p>
          <a:p>
            <a:pPr algn="l"/>
            <a:r>
              <a:rPr lang="ja-JP" altLang="en-US" sz="800" dirty="0"/>
              <a:t>• 	SIP</a:t>
            </a:r>
          </a:p>
          <a:p>
            <a:pPr algn="l"/>
            <a:r>
              <a:rPr lang="ja-JP" altLang="en-US" sz="800" dirty="0"/>
              <a:t>• 	SMTP</a:t>
            </a:r>
          </a:p>
          <a:p>
            <a:pPr algn="l"/>
            <a:r>
              <a:rPr lang="ja-JP" altLang="en-US" sz="800" dirty="0"/>
              <a:t>• 	POP</a:t>
            </a:r>
          </a:p>
          <a:p>
            <a:pPr algn="l"/>
            <a:r>
              <a:rPr lang="ja-JP" altLang="en-US" sz="800" dirty="0"/>
              <a:t>• 	IMAP</a:t>
            </a:r>
          </a:p>
          <a:p>
            <a:pPr algn="l"/>
            <a:r>
              <a:rPr lang="ja-JP" altLang="en-US" sz="800" dirty="0"/>
              <a:t>• 	NetBIOS</a:t>
            </a:r>
          </a:p>
          <a:p>
            <a:pPr algn="l"/>
            <a:r>
              <a:rPr lang="ja-JP" altLang="en-US" sz="800" dirty="0"/>
              <a:t>これにより、攻撃者（および防御側のセキュリティ担当者）は、</a:t>
            </a:r>
          </a:p>
          <a:p>
            <a:pPr algn="l"/>
            <a:r>
              <a:rPr lang="ja-JP" altLang="en-US" sz="800" dirty="0"/>
              <a:t>自分でポートスキャンを行わなくても、</a:t>
            </a:r>
          </a:p>
          <a:p>
            <a:pPr algn="l"/>
            <a:r>
              <a:rPr lang="ja-JP" altLang="en-US" sz="800" dirty="0"/>
              <a:t>インターネット上で公開されているサービスを特定 できます。</a:t>
            </a:r>
          </a:p>
          <a:p>
            <a:pPr algn="l"/>
            <a:r>
              <a:rPr lang="ja-JP" altLang="en-US" sz="800" dirty="0"/>
              <a:t>Shodan は、</a:t>
            </a:r>
          </a:p>
          <a:p>
            <a:pPr algn="l"/>
            <a:r>
              <a:rPr lang="ja-JP" altLang="en-US" sz="800" dirty="0"/>
              <a:t>「最も一般的な 10 種類のサービスポートに対するポートスキャン結果を提供するインターネット上のリソース」</a:t>
            </a:r>
          </a:p>
          <a:p>
            <a:pPr algn="l"/>
            <a:r>
              <a:rPr lang="ja-JP" altLang="en-US" sz="800" dirty="0"/>
              <a:t>と考えることができます。</a:t>
            </a:r>
          </a:p>
          <a:p>
            <a:pPr algn="l"/>
            <a:r>
              <a:rPr lang="ja-JP" altLang="en-US" sz="800" dirty="0"/>
              <a:t>Shodan が提供する情報は Nmap でも取得できますが、</a:t>
            </a:r>
          </a:p>
          <a:p>
            <a:pPr algn="l"/>
            <a:r>
              <a:rPr lang="ja-JP" altLang="en-US" sz="800" dirty="0"/>
              <a:t>Nmap をインターネットに対して実行する際の時間とリスクを大幅に削減できる 点が大きな利点です。</a:t>
            </a:r>
          </a:p>
          <a:p>
            <a:pPr algn="l"/>
            <a:r>
              <a:rPr lang="ja-JP" altLang="en-US" sz="800" dirty="0"/>
              <a:t>特に注目すべきなのは、Shodan に新設された ICS 専用ページ です：</a:t>
            </a:r>
          </a:p>
          <a:p>
            <a:pPr algn="l"/>
            <a:r>
              <a:rPr lang="ja-JP" altLang="en-US" sz="800" dirty="0"/>
              <a:t>https://www.shodan.io/explore/category/industrial-control-systems</a:t>
            </a:r>
          </a:p>
          <a:p>
            <a:pPr algn="l"/>
            <a:endParaRPr lang="ja-JP" altLang="en-US" sz="800" dirty="0"/>
          </a:p>
          <a:p>
            <a:pPr algn="l"/>
            <a:r>
              <a:rPr lang="ja-JP" altLang="en-US" sz="800" dirty="0"/>
              <a:t>Project SHINE と ICS のインターネット露出</a:t>
            </a:r>
          </a:p>
          <a:p>
            <a:pPr algn="l"/>
            <a:r>
              <a:rPr lang="ja-JP" altLang="en-US" sz="800" dirty="0"/>
              <a:t>セキュリティ研究者 Bob Radvanovsky（Project SHINE）は、</a:t>
            </a:r>
          </a:p>
          <a:p>
            <a:pPr algn="l"/>
            <a:r>
              <a:rPr lang="ja-JP" altLang="en-US" sz="800" dirty="0"/>
              <a:t>2012 年 4 月から Shodan を活用してインターネットに接続された ICS デバイスを調査しました。</a:t>
            </a:r>
          </a:p>
          <a:p>
            <a:pPr algn="l"/>
            <a:r>
              <a:rPr lang="ja-JP" altLang="en-US" sz="800" dirty="0"/>
              <a:t>その結果：</a:t>
            </a:r>
          </a:p>
          <a:p>
            <a:pPr algn="l"/>
            <a:r>
              <a:rPr lang="ja-JP" altLang="en-US" sz="800" dirty="0"/>
              <a:t>• 	2013 年末までに 100 万台以上の ICS デバイス を発見</a:t>
            </a:r>
          </a:p>
          <a:p>
            <a:pPr algn="l"/>
            <a:r>
              <a:rPr lang="ja-JP" altLang="en-US" sz="800" dirty="0"/>
              <a:t>• 	メーカーは 64 社以上</a:t>
            </a:r>
          </a:p>
          <a:p>
            <a:pPr algn="l"/>
            <a:r>
              <a:rPr lang="ja-JP" altLang="en-US" sz="800" dirty="0"/>
              <a:t>• 	現在も 1 日あたり 2,000〜8,000 台 の新規 ICS デバイスが見つかっている</a:t>
            </a:r>
          </a:p>
          <a:p>
            <a:pPr algn="l"/>
            <a:r>
              <a:rPr lang="ja-JP" altLang="en-US" sz="800" dirty="0"/>
              <a:t>詳細はこちら：</a:t>
            </a:r>
          </a:p>
          <a:p>
            <a:pPr algn="l"/>
            <a:r>
              <a:rPr lang="ja-JP" altLang="en-US" sz="800" dirty="0"/>
              <a:t>• 	 (tofinosecurity.com in Bing)</a:t>
            </a:r>
          </a:p>
          <a:p>
            <a:pPr algn="l"/>
            <a:r>
              <a:rPr lang="ja-JP" altLang="en-US" sz="800" dirty="0"/>
              <a:t>• 	最新レポート（2014 年）：</a:t>
            </a:r>
          </a:p>
          <a:p>
            <a:pPr algn="l"/>
            <a:r>
              <a:rPr lang="ja-JP" altLang="en-US" sz="800" dirty="0"/>
              <a:t>https://www.slideshare.net/BobRadvanovsky/project-shine-findings-report-dated-1oct2014</a:t>
            </a:r>
          </a:p>
          <a:p>
            <a:pPr algn="l"/>
            <a:endParaRPr lang="ja-JP" altLang="en-US" sz="800" dirty="0"/>
          </a:p>
          <a:p>
            <a:pPr algn="l"/>
            <a:r>
              <a:rPr lang="ja-JP" altLang="en-US" sz="800" dirty="0"/>
              <a:t>注意事項</a:t>
            </a:r>
          </a:p>
          <a:p>
            <a:pPr algn="l"/>
            <a:r>
              <a:rPr lang="ja-JP" altLang="en-US" sz="800" dirty="0"/>
              <a:t>Shodan のようなツールの使用は、</a:t>
            </a:r>
          </a:p>
          <a:p>
            <a:pPr algn="l"/>
            <a:r>
              <a:rPr lang="ja-JP" altLang="en-US" sz="800" dirty="0"/>
              <a:t>組織によっては禁止されている場合があります。</a:t>
            </a:r>
          </a:p>
          <a:p>
            <a:pPr algn="l"/>
            <a:r>
              <a:rPr lang="ja-JP" altLang="en-US" sz="800" dirty="0"/>
              <a:t>利用前に必ず自組織のポリシーを確認する必要があります。</a:t>
            </a:r>
          </a:p>
          <a:p>
            <a:pPr algn="l"/>
            <a:endParaRPr lang="ja-JP" altLang="en-US" sz="800" dirty="0"/>
          </a:p>
          <a:p>
            <a:pPr algn="l"/>
            <a:r>
              <a:rPr lang="ja-JP" altLang="en-US" sz="800" dirty="0"/>
              <a:t>必要であれば、</a:t>
            </a:r>
          </a:p>
        </p:txBody>
      </p:sp>
      <p:pic>
        <p:nvPicPr>
          <p:cNvPr id="2" name="図形 1"/>
          <p:cNvPicPr>
            <a:picLocks noChangeAspect="1"/>
          </p:cNvPicPr>
          <p:nvPr/>
        </p:nvPicPr>
        <p:blipFill>
          <a:blip r:embed="rId2"/>
          <a:stretch>
            <a:fillRect/>
          </a:stretch>
        </p:blipFill>
        <p:spPr>
          <a:xfrm>
            <a:off x="631611" y="86995"/>
            <a:ext cx="5515779" cy="314240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45745" y="173355"/>
            <a:ext cx="6366510" cy="35890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59715" y="105410"/>
            <a:ext cx="6339840" cy="35966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59080" y="121920"/>
            <a:ext cx="6339840" cy="35852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71145" y="113665"/>
            <a:ext cx="6316980" cy="36004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540" y="4374515"/>
            <a:ext cx="6852285" cy="6312535"/>
          </a:xfrm>
        </p:spPr>
        <p:txBody>
          <a:bodyPr>
            <a:noAutofit/>
          </a:bodyPr>
          <a:lstStyle/>
          <a:p>
            <a:pPr algn="l"/>
            <a:r>
              <a:rPr lang="ja-JP" altLang="en-US" sz="1200"/>
              <a:t>Purdue レベルは、まず第一に 「言語的なツール」 です。</a:t>
            </a:r>
          </a:p>
          <a:p>
            <a:pPr algn="l"/>
            <a:r>
              <a:rPr lang="ja-JP" altLang="en-US" sz="1200"/>
              <a:t>ICS デバイスを 機能やリスクの類似性に基づいてグループ化するための共通言語 として使われます。</a:t>
            </a:r>
          </a:p>
          <a:p>
            <a:pPr algn="l"/>
            <a:r>
              <a:rPr lang="ja-JP" altLang="en-US" sz="1200"/>
              <a:t>この Purdue レベルの用語をポリシーやネットワーク図に用いることで、</a:t>
            </a:r>
          </a:p>
          <a:p>
            <a:pPr algn="l"/>
            <a:r>
              <a:rPr lang="ja-JP" altLang="en-US" sz="1200"/>
              <a:t>細部に踏み込まなくても 大まかな意味や役割を共有できる ようになります。</a:t>
            </a:r>
          </a:p>
          <a:p>
            <a:pPr algn="l"/>
            <a:endParaRPr lang="ja-JP" altLang="en-US" sz="1200"/>
          </a:p>
          <a:p>
            <a:pPr algn="l"/>
            <a:r>
              <a:rPr lang="ja-JP" altLang="en-US" sz="1200"/>
              <a:t>Purdue レベルの構造</a:t>
            </a:r>
          </a:p>
          <a:p>
            <a:pPr algn="l"/>
            <a:r>
              <a:rPr lang="ja-JP" altLang="en-US" sz="1200"/>
              <a:t>Purdue モデルは、産業用制御システムとそれらを接続するネットワークの</a:t>
            </a:r>
          </a:p>
          <a:p>
            <a:pPr algn="l"/>
            <a:r>
              <a:rPr lang="ja-JP" altLang="en-US" sz="1200"/>
              <a:t>階層的な構造 を表しています。</a:t>
            </a:r>
          </a:p>
          <a:p>
            <a:pPr algn="l"/>
            <a:r>
              <a:rPr lang="ja-JP" altLang="en-US" sz="1200"/>
              <a:t>レベルは「現場（プラントフロア）」に最も近いところから始まります：</a:t>
            </a:r>
          </a:p>
          <a:p>
            <a:pPr algn="l"/>
            <a:r>
              <a:rPr lang="ja-JP" altLang="en-US" sz="1200"/>
              <a:t>- Level 0：プロセス制御用の計装バスネットワーク</a:t>
            </a:r>
          </a:p>
          <a:p>
            <a:pPr algn="l"/>
            <a:r>
              <a:rPr lang="ja-JP" altLang="en-US" sz="1200"/>
              <a:t>- Level 1：制御デバイス（PLC、RTU など）</a:t>
            </a:r>
          </a:p>
          <a:p>
            <a:pPr algn="l"/>
            <a:r>
              <a:rPr lang="ja-JP" altLang="en-US" sz="1200"/>
              <a:t>- Level 2：監視制御（SCADA/HMI）用のローカルネットワーク</a:t>
            </a:r>
          </a:p>
          <a:p>
            <a:pPr algn="l"/>
            <a:r>
              <a:rPr lang="ja-JP" altLang="en-US" sz="1200"/>
              <a:t>- Level 3：運用支援 DMZ（Operations Support DMZ）</a:t>
            </a:r>
          </a:p>
          <a:p>
            <a:pPr algn="l"/>
            <a:r>
              <a:rPr lang="ja-JP" altLang="en-US" sz="1200"/>
              <a:t>- Level 4–5：プラントネットワークおよびビジネスネットワーク</a:t>
            </a:r>
          </a:p>
          <a:p>
            <a:pPr algn="l"/>
            <a:endParaRPr lang="ja-JP" altLang="en-US" sz="1200"/>
          </a:p>
          <a:p>
            <a:pPr algn="l"/>
            <a:r>
              <a:rPr lang="ja-JP" altLang="en-US" sz="1200"/>
              <a:t>Purdue レベル間の「境界（Enforcement Boundaries）」</a:t>
            </a:r>
          </a:p>
          <a:p>
            <a:pPr algn="l"/>
            <a:r>
              <a:rPr lang="ja-JP" altLang="en-US" sz="1200"/>
              <a:t>Purdue レベルの間には、</a:t>
            </a:r>
          </a:p>
          <a:p>
            <a:pPr algn="l"/>
            <a:r>
              <a:rPr lang="ja-JP" altLang="en-US" sz="1200"/>
              <a:t>セグメンテーションと保護を実現するための境界 を設けます。</a:t>
            </a:r>
          </a:p>
          <a:p>
            <a:pPr algn="l"/>
            <a:r>
              <a:rPr lang="ja-JP" altLang="en-US" sz="1200"/>
              <a:t>この境界には、通常次のような要素が含まれます：</a:t>
            </a:r>
          </a:p>
          <a:p>
            <a:pPr algn="l"/>
            <a:r>
              <a:rPr lang="ja-JP" altLang="en-US" sz="1200"/>
              <a:t>- ファイアウォール</a:t>
            </a:r>
          </a:p>
          <a:p>
            <a:pPr algn="l"/>
            <a:r>
              <a:rPr lang="ja-JP" altLang="en-US" sz="1200"/>
              <a:t>- ACL（アクセス制御リスト）付きルーター</a:t>
            </a:r>
          </a:p>
          <a:p>
            <a:pPr algn="l"/>
            <a:r>
              <a:rPr lang="ja-JP" altLang="en-US" sz="1200"/>
              <a:t>- アプリケーションファイアウォール</a:t>
            </a:r>
          </a:p>
          <a:p>
            <a:pPr algn="l"/>
            <a:r>
              <a:rPr lang="ja-JP" altLang="en-US" sz="1200"/>
              <a:t>- データダイオード（最新型の一方向通信デバイス）</a:t>
            </a:r>
          </a:p>
          <a:p>
            <a:pPr algn="l"/>
            <a:r>
              <a:rPr lang="ja-JP" altLang="en-US" sz="1200"/>
              <a:t>これらは ICS 環境の各レベルを適切に分離し、</a:t>
            </a:r>
          </a:p>
          <a:p>
            <a:pPr algn="l"/>
            <a:r>
              <a:rPr lang="ja-JP" altLang="en-US" sz="1200"/>
              <a:t>不要な通信や攻撃の横移動を防ぐために配置されます。</a:t>
            </a:r>
          </a:p>
          <a:p>
            <a:pPr algn="l"/>
            <a:endParaRPr lang="ja-JP" altLang="en-US" sz="1200"/>
          </a:p>
          <a:p>
            <a:pPr algn="l"/>
            <a:r>
              <a:rPr lang="ja-JP" altLang="en-US" sz="1200"/>
              <a:t>境界に導入される技術はレベルごとに異なる</a:t>
            </a:r>
          </a:p>
          <a:p>
            <a:pPr algn="l"/>
            <a:r>
              <a:rPr lang="ja-JP" altLang="en-US" sz="1200"/>
              <a:t>どの境界にどの技術を導入するかは、以下によって変わります：</a:t>
            </a:r>
          </a:p>
          <a:p>
            <a:pPr algn="l"/>
            <a:r>
              <a:rPr lang="ja-JP" altLang="en-US" sz="1200"/>
              <a:t>- そのレベルに求められる 業務要件</a:t>
            </a:r>
          </a:p>
          <a:p>
            <a:pPr algn="l"/>
            <a:r>
              <a:rPr lang="ja-JP" altLang="en-US" sz="1200"/>
              <a:t>- そのレベルに対して評価された リスクレベル</a:t>
            </a:r>
          </a:p>
          <a:p>
            <a:pPr algn="l"/>
            <a:r>
              <a:rPr lang="ja-JP" altLang="en-US" sz="1200"/>
              <a:t>たとえば、Level 3 と Level 2 の間では高度な制御が必要ですが、</a:t>
            </a:r>
          </a:p>
          <a:p>
            <a:pPr algn="l"/>
            <a:r>
              <a:rPr lang="ja-JP" altLang="en-US" sz="1200"/>
              <a:t>Level 4 と Level 5 の間ではビジネス要件が優先される場合があります。</a:t>
            </a:r>
          </a:p>
        </p:txBody>
      </p:sp>
      <p:pic>
        <p:nvPicPr>
          <p:cNvPr id="4" name="図形 3"/>
          <p:cNvPicPr>
            <a:picLocks noChangeAspect="1"/>
          </p:cNvPicPr>
          <p:nvPr/>
        </p:nvPicPr>
        <p:blipFill>
          <a:blip r:embed="rId2"/>
          <a:stretch>
            <a:fillRect/>
          </a:stretch>
        </p:blipFill>
        <p:spPr>
          <a:xfrm>
            <a:off x="264795" y="119380"/>
            <a:ext cx="6328410" cy="36118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5" name="図形 4"/>
          <p:cNvPicPr>
            <a:picLocks noChangeAspect="1"/>
          </p:cNvPicPr>
          <p:nvPr/>
        </p:nvPicPr>
        <p:blipFill>
          <a:blip r:embed="rId2"/>
          <a:stretch>
            <a:fillRect/>
          </a:stretch>
        </p:blipFill>
        <p:spPr>
          <a:xfrm>
            <a:off x="252095" y="85725"/>
            <a:ext cx="6355080" cy="361569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857" y="3691890"/>
            <a:ext cx="6852285" cy="8366548"/>
          </a:xfrm>
        </p:spPr>
        <p:txBody>
          <a:bodyPr>
            <a:noAutofit/>
          </a:bodyPr>
          <a:lstStyle/>
          <a:p>
            <a:pPr algn="l"/>
            <a:r>
              <a:rPr lang="ja-JP" altLang="en-US" sz="1400" dirty="0"/>
              <a:t>Purdue Level 5：エンタープライズ・ビジネスネットワーク</a:t>
            </a:r>
          </a:p>
          <a:p>
            <a:pPr algn="l"/>
            <a:r>
              <a:rPr lang="ja-JP" altLang="en-US" sz="1400" dirty="0"/>
              <a:t>企業全体のビジネス運営やユーザー業務を支えるアプリケーションが配置される層です。</a:t>
            </a:r>
          </a:p>
          <a:p>
            <a:pPr algn="l"/>
            <a:r>
              <a:rPr lang="ja-JP" altLang="en-US" sz="1400" dirty="0"/>
              <a:t>このゾーンに典型的に含まれるもの：</a:t>
            </a:r>
          </a:p>
          <a:p>
            <a:pPr algn="l"/>
            <a:r>
              <a:rPr lang="ja-JP" altLang="en-US" sz="1400" dirty="0"/>
              <a:t>- インターネット接続ポイント</a:t>
            </a:r>
          </a:p>
          <a:p>
            <a:pPr algn="l"/>
            <a:r>
              <a:rPr lang="ja-JP" altLang="en-US" sz="1400" dirty="0"/>
              <a:t>- メールサーバ</a:t>
            </a:r>
          </a:p>
          <a:p>
            <a:pPr algn="l"/>
            <a:r>
              <a:rPr lang="ja-JP" altLang="en-US" sz="1400" dirty="0"/>
              <a:t>- 顧客向け Web サーバ</a:t>
            </a:r>
          </a:p>
          <a:p>
            <a:pPr algn="l"/>
            <a:r>
              <a:rPr lang="ja-JP" altLang="en-US" sz="1400" dirty="0"/>
              <a:t>- 社内 Web サーバ</a:t>
            </a:r>
          </a:p>
          <a:p>
            <a:pPr algn="l"/>
            <a:r>
              <a:rPr lang="ja-JP" altLang="en-US" sz="1400" dirty="0"/>
              <a:t>- CRM システム</a:t>
            </a:r>
          </a:p>
          <a:p>
            <a:pPr algn="l"/>
            <a:r>
              <a:rPr lang="ja-JP" altLang="en-US" sz="1400" dirty="0"/>
              <a:t>- 人事（HR）システム</a:t>
            </a:r>
          </a:p>
          <a:p>
            <a:pPr algn="l"/>
            <a:r>
              <a:rPr lang="ja-JP" altLang="en-US" sz="1400" dirty="0"/>
              <a:t>- 企業ディレクトリ（認証基盤）</a:t>
            </a:r>
          </a:p>
          <a:p>
            <a:pPr algn="l"/>
            <a:r>
              <a:rPr lang="ja-JP" altLang="en-US" sz="1400" dirty="0"/>
              <a:t>- エンタープライズ文書管理システム</a:t>
            </a:r>
          </a:p>
          <a:p>
            <a:pPr algn="l"/>
            <a:r>
              <a:rPr lang="ja-JP" altLang="en-US" sz="1400" dirty="0"/>
              <a:t>- リモートアクセス用 VPN エンドポイント</a:t>
            </a:r>
          </a:p>
          <a:p>
            <a:pPr algn="l"/>
            <a:endParaRPr lang="ja-JP" altLang="en-US" sz="1400" dirty="0"/>
          </a:p>
          <a:p>
            <a:pPr algn="l"/>
            <a:r>
              <a:rPr lang="ja-JP" altLang="en-US" sz="1400" dirty="0"/>
              <a:t>Purdue Level 4：プラント（工場）におけるビジネスネットワーク</a:t>
            </a:r>
          </a:p>
          <a:p>
            <a:pPr algn="l"/>
            <a:r>
              <a:rPr lang="ja-JP" altLang="en-US" sz="1400" dirty="0"/>
              <a:t>ローカルサイト、工場、事業部、子会社などのための IT 共有サービス が配置される層です。</a:t>
            </a:r>
          </a:p>
          <a:p>
            <a:pPr algn="l"/>
            <a:r>
              <a:rPr lang="ja-JP" altLang="en-US" sz="1400" dirty="0"/>
              <a:t>このゾーンに典型的に含まれるもの：</a:t>
            </a:r>
          </a:p>
          <a:p>
            <a:pPr algn="l"/>
            <a:r>
              <a:rPr lang="ja-JP" altLang="en-US" sz="1400" dirty="0"/>
              <a:t>- ローカルファイルサーバ、プリントサーバ</a:t>
            </a:r>
          </a:p>
          <a:p>
            <a:pPr algn="l"/>
            <a:r>
              <a:rPr lang="ja-JP" altLang="en-US" sz="1400" dirty="0"/>
              <a:t>- ローカル電話システム</a:t>
            </a:r>
          </a:p>
          <a:p>
            <a:pPr algn="l"/>
            <a:r>
              <a:rPr lang="ja-JP" altLang="en-US" sz="1400" dirty="0"/>
              <a:t>- サイトごとのディレクトリレプリカ</a:t>
            </a:r>
          </a:p>
          <a:p>
            <a:pPr algn="l"/>
            <a:r>
              <a:rPr lang="ja-JP" altLang="en-US" sz="1400" dirty="0"/>
              <a:t>- サイト固有のリモートアクセスソリューション</a:t>
            </a:r>
          </a:p>
          <a:p>
            <a:pPr algn="l"/>
            <a:r>
              <a:rPr lang="ja-JP" altLang="en-US" sz="1400" dirty="0"/>
              <a:t>- セキュリティイベント集約システム</a:t>
            </a:r>
          </a:p>
          <a:p>
            <a:pPr algn="l"/>
            <a:r>
              <a:rPr lang="ja-JP" altLang="en-US" sz="1400" dirty="0"/>
              <a:t>- サイト固有のインターネット接続ポイント</a:t>
            </a:r>
          </a:p>
          <a:p>
            <a:pPr algn="l"/>
            <a:r>
              <a:rPr lang="ja-JP" altLang="en-US" sz="1400" dirty="0"/>
              <a:t>このネットワークには、企業メールやインターネットにアクセスするすべてのワークステーション を配置します。</a:t>
            </a:r>
          </a:p>
          <a:p>
            <a:pPr algn="l"/>
            <a:r>
              <a:rPr lang="ja-JP" altLang="en-US" sz="1400" dirty="0"/>
              <a:t>OT（Operational Technology）従業員も、</a:t>
            </a:r>
          </a:p>
          <a:p>
            <a:pPr algn="l"/>
            <a:r>
              <a:rPr lang="ja-JP" altLang="en-US" sz="1400" dirty="0"/>
              <a:t>- このネットワークにアクセスできるワークステーションを持つ</a:t>
            </a:r>
          </a:p>
          <a:p>
            <a:pPr algn="l"/>
            <a:r>
              <a:rPr lang="ja-JP" altLang="en-US" sz="1400" dirty="0"/>
              <a:t>または</a:t>
            </a:r>
          </a:p>
          <a:p>
            <a:pPr algn="l"/>
            <a:r>
              <a:rPr lang="ja-JP" altLang="en-US" sz="1400" dirty="0"/>
              <a:t>- OT 用とは別に、2 台目のワークステーションを割り当てられる</a:t>
            </a:r>
          </a:p>
          <a:p>
            <a:pPr algn="l"/>
            <a:r>
              <a:rPr lang="ja-JP" altLang="en-US" sz="1400" dirty="0"/>
              <a:t>ことで、通常の企業業務を行えるようにする必要があります。</a:t>
            </a:r>
          </a:p>
        </p:txBody>
      </p:sp>
      <p:pic>
        <p:nvPicPr>
          <p:cNvPr id="2" name="図形 1"/>
          <p:cNvPicPr>
            <a:picLocks noChangeAspect="1"/>
          </p:cNvPicPr>
          <p:nvPr/>
        </p:nvPicPr>
        <p:blipFill>
          <a:blip r:embed="rId2"/>
          <a:stretch>
            <a:fillRect/>
          </a:stretch>
        </p:blipFill>
        <p:spPr>
          <a:xfrm>
            <a:off x="247650" y="95250"/>
            <a:ext cx="6362700" cy="35966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この図では、ICS DMZ（制御システム DMZ）の 上位と下位の両方に 2 つの境界（Enforcement Boundary） が存在しています。</a:t>
            </a:r>
          </a:p>
          <a:p>
            <a:pPr algn="l"/>
            <a:r>
              <a:rPr lang="ja-JP" altLang="en-US" sz="1400"/>
              <a:t>簡単のため、両方の境界にファイアウォールが設置されており、</a:t>
            </a:r>
          </a:p>
          <a:p>
            <a:pPr algn="l"/>
            <a:r>
              <a:rPr lang="ja-JP" altLang="en-US" sz="1400"/>
              <a:t>ビジネスネットワークから制御ネットワークへ直接通信が通過することは許可されず、</a:t>
            </a:r>
          </a:p>
          <a:p>
            <a:pPr algn="l"/>
            <a:r>
              <a:rPr lang="ja-JP" altLang="en-US" sz="1400"/>
              <a:t>必ず一度 Control System DMZ 内のシステムを経由する というルールになっていると仮定します。</a:t>
            </a:r>
          </a:p>
          <a:p>
            <a:pPr algn="l"/>
            <a:r>
              <a:rPr lang="ja-JP" altLang="en-US" sz="1400"/>
              <a:t>同じ構成は、1 台のファイアウォール を使って実現することも可能です。</a:t>
            </a:r>
          </a:p>
          <a:p>
            <a:pPr algn="l"/>
            <a:r>
              <a:rPr lang="ja-JP" altLang="en-US" sz="1400"/>
              <a:t>この場合、ファイアウォールの第 3 ポートに Control System DMZ を配置します。</a:t>
            </a:r>
          </a:p>
          <a:p>
            <a:pPr algn="l"/>
            <a:r>
              <a:rPr lang="ja-JP" altLang="en-US" sz="1400"/>
              <a:t>理論的には、以下の条件を満たす限り、1 台構成でも同等の安全性を確保できます：</a:t>
            </a:r>
          </a:p>
          <a:p>
            <a:pPr algn="l"/>
            <a:r>
              <a:rPr lang="ja-JP" altLang="en-US" sz="1400"/>
              <a:t>- ファイアウォールの管理を完全に制御システム側（より安全で侵害されにくい側）が行うこと</a:t>
            </a:r>
          </a:p>
          <a:p>
            <a:pPr algn="l"/>
            <a:r>
              <a:rPr lang="ja-JP" altLang="en-US" sz="1400"/>
              <a:t>しかし、現実にはこの管理要件は 企業のセキュリティチームに受け入れられない ことが多く、</a:t>
            </a:r>
          </a:p>
          <a:p>
            <a:pPr algn="l"/>
            <a:r>
              <a:rPr lang="ja-JP" altLang="en-US" sz="1400"/>
              <a:t>そのため、ビジネス側と制御側が それぞれ独自にファイアウォールを管理できるように</a:t>
            </a:r>
          </a:p>
          <a:p>
            <a:pPr algn="l"/>
            <a:r>
              <a:rPr lang="ja-JP" altLang="en-US" sz="1400"/>
              <a:t>2 台構成が採用されるケースが一般的です。</a:t>
            </a:r>
          </a:p>
          <a:p>
            <a:pPr algn="l"/>
            <a:endParaRPr lang="ja-JP" altLang="en-US" sz="1400"/>
          </a:p>
          <a:p>
            <a:pPr algn="l"/>
            <a:r>
              <a:rPr lang="ja-JP" altLang="en-US" sz="1400"/>
              <a:t>出典：NIST SP 800-82</a:t>
            </a:r>
          </a:p>
          <a:p>
            <a:pPr algn="l"/>
            <a:r>
              <a:rPr lang="ja-JP" altLang="en-US" sz="1400"/>
              <a:t>https://nvlpubs.nist.gov/nistpubs/SpecialPublications/NIST.SP.800-82r2.pdf</a:t>
            </a:r>
          </a:p>
        </p:txBody>
      </p:sp>
      <p:pic>
        <p:nvPicPr>
          <p:cNvPr id="4" name="図形 3"/>
          <p:cNvPicPr>
            <a:picLocks noChangeAspect="1"/>
          </p:cNvPicPr>
          <p:nvPr/>
        </p:nvPicPr>
        <p:blipFill>
          <a:blip r:embed="rId2"/>
          <a:stretch>
            <a:fillRect/>
          </a:stretch>
        </p:blipFill>
        <p:spPr>
          <a:xfrm>
            <a:off x="257810" y="71120"/>
            <a:ext cx="6343650" cy="362331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fontScale="82500" lnSpcReduction="20000"/>
          </a:bodyPr>
          <a:lstStyle/>
          <a:p>
            <a:pPr algn="l"/>
            <a:r>
              <a:rPr lang="ja-JP" altLang="en-US" sz="1400"/>
              <a:t>ICS DMZ（制御システム DMZ）は、いくつ作ろうとも 目的はただ一つ です。</a:t>
            </a:r>
          </a:p>
          <a:p>
            <a:pPr algn="l"/>
            <a:r>
              <a:rPr lang="ja-JP" altLang="en-US" sz="1400"/>
              <a:t>それは、エンタープライズネットワークと ICS ネットワークの間で共有されるすべての通信を必ず一度停止させる安全な中継点を作ること です。</a:t>
            </a:r>
          </a:p>
          <a:p>
            <a:pPr algn="l"/>
            <a:r>
              <a:rPr lang="ja-JP" altLang="en-US" sz="1400"/>
              <a:t>これにより、以下が可能になります：</a:t>
            </a:r>
          </a:p>
          <a:p>
            <a:pPr algn="l"/>
            <a:r>
              <a:rPr lang="ja-JP" altLang="en-US" sz="1400"/>
              <a:t>- サイバーセキュリティチェックの実施</a:t>
            </a:r>
          </a:p>
          <a:p>
            <a:pPr algn="l"/>
            <a:r>
              <a:rPr lang="ja-JP" altLang="en-US" sz="1400"/>
              <a:t>- 攻撃の監視</a:t>
            </a:r>
          </a:p>
          <a:p>
            <a:pPr algn="l"/>
            <a:r>
              <a:rPr lang="ja-JP" altLang="en-US" sz="1400"/>
              <a:t>- すべての通信の記録（インシデント対応やネットワークフォレンジックに役立つ）</a:t>
            </a:r>
          </a:p>
          <a:p>
            <a:pPr algn="l"/>
            <a:r>
              <a:rPr lang="ja-JP" altLang="en-US" sz="1400"/>
              <a:t>すべての通信を ICS DMZ のシステムで一度止めることで、</a:t>
            </a:r>
          </a:p>
          <a:p>
            <a:pPr algn="l"/>
            <a:r>
              <a:rPr lang="ja-JP" altLang="en-US" sz="1400"/>
              <a:t>攻撃者が 双方向のバックドアトンネルを ICS ネットワーク内に作る能力を大幅に制限 できます。</a:t>
            </a:r>
          </a:p>
          <a:p>
            <a:pPr algn="l"/>
            <a:endParaRPr lang="ja-JP" altLang="en-US" sz="1400"/>
          </a:p>
          <a:p>
            <a:pPr algn="l"/>
            <a:r>
              <a:rPr lang="ja-JP" altLang="en-US" sz="1400"/>
              <a:t>ICS DMZ を「データのサニタイズ室」として捉える</a:t>
            </a:r>
          </a:p>
          <a:p>
            <a:pPr algn="l"/>
            <a:r>
              <a:rPr lang="ja-JP" altLang="en-US" sz="1400"/>
              <a:t>ICS DMZ は、工場の製造エリアに入退場する際に</a:t>
            </a:r>
          </a:p>
          <a:p>
            <a:pPr algn="l"/>
            <a:r>
              <a:rPr lang="ja-JP" altLang="en-US" sz="1400"/>
              <a:t>従業員が必ず通過する 物理的なサニタイズ室（清浄化ルーム） と同じ役割を果たします。</a:t>
            </a:r>
          </a:p>
          <a:p>
            <a:pPr algn="l"/>
            <a:r>
              <a:rPr lang="ja-JP" altLang="en-US" sz="1400"/>
              <a:t>- 工場では、人が出入りするたびにサニタイズ手順を踏む</a:t>
            </a:r>
          </a:p>
          <a:p>
            <a:pPr algn="l"/>
            <a:r>
              <a:rPr lang="ja-JP" altLang="en-US" sz="1400"/>
              <a:t>- ICS では、データが出入りするたびに DMZ でチェック・検証される</a:t>
            </a:r>
          </a:p>
          <a:p>
            <a:pPr algn="l"/>
            <a:r>
              <a:rPr lang="ja-JP" altLang="en-US" sz="1400"/>
              <a:t>つまり ICS DMZ は、工場のデータ版サニタイズ室 です。</a:t>
            </a:r>
          </a:p>
          <a:p>
            <a:pPr algn="l"/>
            <a:endParaRPr lang="ja-JP" altLang="en-US" sz="1400"/>
          </a:p>
          <a:p>
            <a:pPr algn="l"/>
            <a:r>
              <a:rPr lang="ja-JP" altLang="en-US" sz="1400"/>
              <a:t>本コースではさらに詳細な推奨事項を紹介</a:t>
            </a:r>
          </a:p>
          <a:p>
            <a:pPr algn="l"/>
            <a:r>
              <a:rPr lang="ja-JP" altLang="en-US" sz="1400"/>
              <a:t>この後のセクションでは、</a:t>
            </a:r>
          </a:p>
          <a:p>
            <a:pPr algn="l"/>
            <a:r>
              <a:rPr lang="ja-JP" altLang="en-US" sz="1400"/>
              <a:t>ICS DMZ に具体的に何を配置すべきか、より詳細な推奨事項が提示されます。</a:t>
            </a:r>
          </a:p>
          <a:p>
            <a:pPr algn="l"/>
            <a:r>
              <a:rPr lang="ja-JP" altLang="en-US" sz="1400"/>
              <a:t>ここではまず、高レベルのガイドラインのみを示しています。</a:t>
            </a:r>
          </a:p>
          <a:p>
            <a:pPr algn="l"/>
            <a:endParaRPr lang="ja-JP" altLang="en-US" sz="1400"/>
          </a:p>
          <a:p>
            <a:pPr algn="l"/>
            <a:r>
              <a:rPr lang="ja-JP" altLang="en-US" sz="1400"/>
              <a:t>よくある誤った推奨：ICS DMZ にサイバー運用システムを置くこと</a:t>
            </a:r>
          </a:p>
          <a:p>
            <a:pPr algn="l"/>
            <a:r>
              <a:rPr lang="ja-JP" altLang="en-US" sz="1400"/>
              <a:t>古い資料などでいまだに見かける誤った推奨として、</a:t>
            </a:r>
          </a:p>
          <a:p>
            <a:pPr algn="l"/>
            <a:r>
              <a:rPr lang="ja-JP" altLang="en-US" sz="1400"/>
              <a:t>パッチ管理などのサイバーセキュリティ運用システムを ICS DMZ に置く というものがあります。</a:t>
            </a:r>
          </a:p>
          <a:p>
            <a:pPr algn="l"/>
            <a:r>
              <a:rPr lang="ja-JP" altLang="en-US" sz="1400"/>
              <a:t>これはやめるべきです。</a:t>
            </a:r>
          </a:p>
          <a:p>
            <a:pPr algn="l"/>
            <a:r>
              <a:rPr lang="ja-JP" altLang="en-US" sz="1400"/>
              <a:t>次のページで、その理由と背景が説明されます。</a:t>
            </a:r>
          </a:p>
          <a:p>
            <a:pPr algn="l"/>
            <a:endParaRPr lang="ja-JP" altLang="en-US" sz="1400"/>
          </a:p>
          <a:p>
            <a:pPr algn="l"/>
            <a:endParaRPr lang="ja-JP" altLang="en-US" sz="1400"/>
          </a:p>
        </p:txBody>
      </p:sp>
      <p:pic>
        <p:nvPicPr>
          <p:cNvPr id="4" name="図形 3"/>
          <p:cNvPicPr>
            <a:picLocks noChangeAspect="1"/>
          </p:cNvPicPr>
          <p:nvPr/>
        </p:nvPicPr>
        <p:blipFill>
          <a:blip r:embed="rId2"/>
          <a:stretch>
            <a:fillRect/>
          </a:stretch>
        </p:blipFill>
        <p:spPr>
          <a:xfrm>
            <a:off x="260985" y="105410"/>
            <a:ext cx="6336030" cy="35966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46380" y="90170"/>
            <a:ext cx="6366510" cy="362712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2844800"/>
            <a:ext cx="6852285" cy="9342120"/>
          </a:xfrm>
        </p:spPr>
        <p:txBody>
          <a:bodyPr>
            <a:noAutofit/>
          </a:bodyPr>
          <a:lstStyle/>
          <a:p>
            <a:pPr algn="l"/>
            <a:r>
              <a:rPr lang="ja-JP" altLang="en-US" sz="800" dirty="0"/>
              <a:t>このレベルに属するシステムは、工場全体や製造サイト全体の</a:t>
            </a:r>
          </a:p>
          <a:p>
            <a:pPr algn="l"/>
            <a:r>
              <a:rPr lang="ja-JP" altLang="en-US" sz="800" dirty="0"/>
              <a:t>オペレーション環境を管理する機能 を担います。</a:t>
            </a:r>
          </a:p>
          <a:p>
            <a:pPr algn="l"/>
            <a:r>
              <a:rPr lang="ja-JP" altLang="en-US" sz="800" dirty="0"/>
              <a:t>このゾーンに典型的に含まれるもの：</a:t>
            </a:r>
          </a:p>
          <a:p>
            <a:pPr algn="l"/>
            <a:r>
              <a:rPr lang="ja-JP" altLang="en-US" sz="800" dirty="0"/>
              <a:t>- サイト全体の運用を指揮する管理サーバ</a:t>
            </a:r>
          </a:p>
          <a:p>
            <a:pPr algn="l"/>
            <a:r>
              <a:rPr lang="ja-JP" altLang="en-US" sz="800" dirty="0"/>
              <a:t>- プラント全体の SCADA</a:t>
            </a:r>
          </a:p>
          <a:p>
            <a:pPr algn="l"/>
            <a:r>
              <a:rPr lang="ja-JP" altLang="en-US" sz="800" dirty="0"/>
              <a:t>- プラントアラームサーバ</a:t>
            </a:r>
          </a:p>
          <a:p>
            <a:pPr algn="l"/>
            <a:r>
              <a:rPr lang="ja-JP" altLang="en-US" sz="800" dirty="0"/>
              <a:t>- DMZ の読み取り専用ヒストリアンへ複製可能な、サイト全体の集約ヒストリアン</a:t>
            </a:r>
          </a:p>
          <a:p>
            <a:pPr algn="l"/>
            <a:r>
              <a:rPr lang="ja-JP" altLang="en-US" sz="800" dirty="0"/>
              <a:t>- 運用スケジューリングリソース</a:t>
            </a:r>
          </a:p>
          <a:p>
            <a:pPr algn="l"/>
            <a:r>
              <a:rPr lang="ja-JP" altLang="en-US" sz="800" dirty="0"/>
              <a:t>- 信頼性トラッキングツール</a:t>
            </a:r>
          </a:p>
          <a:p>
            <a:pPr algn="l"/>
            <a:r>
              <a:rPr lang="ja-JP" altLang="en-US" sz="800" dirty="0"/>
              <a:t>- 運用シミュレーション／モデリングツール</a:t>
            </a:r>
          </a:p>
          <a:p>
            <a:pPr algn="l"/>
            <a:r>
              <a:rPr lang="ja-JP" altLang="en-US" sz="800" dirty="0"/>
              <a:t>- コンティンジェンシー（代替策）分析ツール</a:t>
            </a:r>
          </a:p>
          <a:p>
            <a:pPr algn="l"/>
            <a:r>
              <a:rPr lang="ja-JP" altLang="en-US" sz="800" dirty="0"/>
              <a:t>- データ可視化ツール</a:t>
            </a:r>
          </a:p>
          <a:p>
            <a:pPr algn="l"/>
            <a:r>
              <a:rPr lang="ja-JP" altLang="en-US" sz="800" dirty="0"/>
              <a:t>- DHCP、LDAP、DNS、ファイルサーバなど、運用専用の IT サービス</a:t>
            </a:r>
          </a:p>
          <a:p>
            <a:pPr algn="l"/>
            <a:endParaRPr lang="ja-JP" altLang="en-US" sz="800" dirty="0"/>
          </a:p>
          <a:p>
            <a:pPr algn="l"/>
            <a:r>
              <a:rPr lang="ja-JP" altLang="en-US" sz="800" dirty="0"/>
              <a:t>運用／ICS ネットワークの管理はエンタープライズと分離すべき</a:t>
            </a:r>
          </a:p>
          <a:p>
            <a:pPr algn="l"/>
            <a:r>
              <a:rPr lang="ja-JP" altLang="en-US" sz="800" dirty="0"/>
              <a:t>ネットワーク機器、Active Directory、仮想化サーバなど、</a:t>
            </a:r>
          </a:p>
          <a:p>
            <a:pPr algn="l"/>
            <a:r>
              <a:rPr lang="ja-JP" altLang="en-US" sz="800" dirty="0"/>
              <a:t>運用／ICS ネットワークに属するすべての管理システムは、</a:t>
            </a:r>
          </a:p>
          <a:p>
            <a:pPr algn="l"/>
            <a:r>
              <a:rPr lang="ja-JP" altLang="en-US" sz="800" dirty="0"/>
              <a:t>エンタープライズ側とは完全に分離して配置し、ICS ネットワーク内部からのみ管理できるようにすべき です。</a:t>
            </a:r>
          </a:p>
          <a:p>
            <a:pPr algn="l"/>
            <a:r>
              <a:rPr lang="ja-JP" altLang="en-US" sz="800" dirty="0"/>
              <a:t>サポート担当チームがどこに所属していても、</a:t>
            </a:r>
          </a:p>
          <a:p>
            <a:pPr algn="l"/>
            <a:r>
              <a:rPr lang="ja-JP" altLang="en-US" sz="800" dirty="0"/>
              <a:t>ICS ネットワークにアクセスする際は標準のリモートアクセス手段を必ず経由する</a:t>
            </a:r>
          </a:p>
          <a:p>
            <a:pPr algn="l"/>
            <a:r>
              <a:rPr lang="ja-JP" altLang="en-US" sz="800" dirty="0"/>
              <a:t>というルールを徹底する必要があります。</a:t>
            </a:r>
          </a:p>
          <a:p>
            <a:pPr algn="l"/>
            <a:endParaRPr lang="ja-JP" altLang="en-US" sz="800" dirty="0"/>
          </a:p>
          <a:p>
            <a:pPr algn="l"/>
            <a:r>
              <a:rPr lang="ja-JP" altLang="en-US" sz="800" dirty="0"/>
              <a:t>サイバーセキュリティ運用専用サブネットの必要性</a:t>
            </a:r>
          </a:p>
          <a:p>
            <a:pPr algn="l"/>
            <a:r>
              <a:rPr lang="ja-JP" altLang="en-US" sz="800" dirty="0"/>
              <a:t>SIEM、パッチ管理サーバ、ホスト保護ソフトウェアの管理サーバなど、</a:t>
            </a:r>
          </a:p>
          <a:p>
            <a:pPr algn="l"/>
            <a:r>
              <a:rPr lang="ja-JP" altLang="en-US" sz="800" dirty="0"/>
              <a:t>サイバーセキュリティ運用システムは専用のサブネットにまとめて配置 すべきです。</a:t>
            </a:r>
          </a:p>
          <a:p>
            <a:pPr algn="l"/>
            <a:r>
              <a:rPr lang="ja-JP" altLang="en-US" sz="800" dirty="0"/>
              <a:t>理由：</a:t>
            </a:r>
          </a:p>
          <a:p>
            <a:pPr algn="l"/>
            <a:r>
              <a:rPr lang="ja-JP" altLang="en-US" sz="800" dirty="0"/>
              <a:t>- 高度に機密性の高いデータを安全に保管できる</a:t>
            </a:r>
          </a:p>
          <a:p>
            <a:pPr algn="l"/>
            <a:r>
              <a:rPr lang="ja-JP" altLang="en-US" sz="800" dirty="0"/>
              <a:t>- ICS ネットワーク外へ情報が漏れるリスクを防げる</a:t>
            </a:r>
          </a:p>
          <a:p>
            <a:pPr algn="l"/>
            <a:endParaRPr lang="ja-JP" altLang="en-US" sz="800" dirty="0"/>
          </a:p>
          <a:p>
            <a:pPr algn="l"/>
            <a:r>
              <a:rPr lang="ja-JP" altLang="en-US" sz="800" dirty="0"/>
              <a:t>ICS DMZ にセキュリティ運用システムを置くのは危険</a:t>
            </a:r>
          </a:p>
          <a:p>
            <a:pPr algn="l"/>
            <a:r>
              <a:rPr lang="ja-JP" altLang="en-US" sz="800" dirty="0"/>
              <a:t>古いガイダンスでは、</a:t>
            </a:r>
          </a:p>
          <a:p>
            <a:pPr algn="l"/>
            <a:r>
              <a:rPr lang="ja-JP" altLang="en-US" sz="800" dirty="0"/>
              <a:t>「パッチ管理やセキュリティ運用システムを ICS DMZ に置くべき」</a:t>
            </a:r>
          </a:p>
          <a:p>
            <a:pPr algn="l"/>
            <a:r>
              <a:rPr lang="ja-JP" altLang="en-US" sz="800" dirty="0"/>
              <a:t>と推奨されていることがありますが、これは 非常に危険 です。</a:t>
            </a:r>
          </a:p>
          <a:p>
            <a:pPr algn="l"/>
            <a:r>
              <a:rPr lang="ja-JP" altLang="en-US" sz="800" dirty="0"/>
              <a:t>理由：</a:t>
            </a:r>
          </a:p>
          <a:p>
            <a:pPr algn="l"/>
            <a:r>
              <a:rPr lang="ja-JP" altLang="en-US" sz="800" dirty="0"/>
              <a:t>- これらのシステムは 高い権限で ICS に接続する必要がある</a:t>
            </a:r>
          </a:p>
          <a:p>
            <a:pPr algn="l"/>
            <a:r>
              <a:rPr lang="ja-JP" altLang="en-US" sz="800" dirty="0"/>
              <a:t>- DMZ に置くと、ICS への広範なアクセスを許す 危険なファイアウォールルール を作らざるを得ない</a:t>
            </a:r>
          </a:p>
          <a:p>
            <a:pPr algn="l"/>
            <a:r>
              <a:rPr lang="ja-JP" altLang="en-US" sz="800" dirty="0"/>
              <a:t>- DMZ の本来の目的は</a:t>
            </a:r>
          </a:p>
          <a:p>
            <a:pPr algn="l"/>
            <a:r>
              <a:rPr lang="ja-JP" altLang="en-US" sz="800" dirty="0"/>
              <a:t>「外部ネットワークと安全にデータを共有すること」であり、</a:t>
            </a:r>
          </a:p>
          <a:p>
            <a:pPr algn="l"/>
            <a:r>
              <a:rPr lang="ja-JP" altLang="en-US" sz="800" dirty="0"/>
              <a:t>「外部ネットワークから ICS を管理させること」ではない</a:t>
            </a:r>
          </a:p>
          <a:p>
            <a:pPr algn="l"/>
            <a:r>
              <a:rPr lang="ja-JP" altLang="en-US" sz="800" dirty="0"/>
              <a:t>たとえるなら：</a:t>
            </a:r>
          </a:p>
          <a:p>
            <a:pPr algn="l"/>
            <a:r>
              <a:rPr lang="ja-JP" altLang="en-US" sz="800" dirty="0"/>
              <a:t>IT 組織がパッチ管理サーバをインターネット DMZ に置くことはありません。</a:t>
            </a:r>
          </a:p>
          <a:p>
            <a:pPr algn="l"/>
            <a:r>
              <a:rPr lang="ja-JP" altLang="en-US" sz="800" dirty="0"/>
              <a:t>それは「インターネットに内部サーバのパッチ管理を任せる」</a:t>
            </a:r>
            <a:r>
              <a:rPr lang="ja-JP" altLang="en-US" sz="800" dirty="0" err="1"/>
              <a:t>ような</a:t>
            </a:r>
            <a:r>
              <a:rPr lang="ja-JP" altLang="en-US" sz="800" dirty="0"/>
              <a:t>ものだからです。</a:t>
            </a:r>
          </a:p>
          <a:p>
            <a:pPr algn="l"/>
            <a:endParaRPr lang="ja-JP" altLang="en-US" sz="800" dirty="0"/>
          </a:p>
          <a:p>
            <a:pPr algn="l"/>
            <a:r>
              <a:rPr lang="ja-JP" altLang="en-US" sz="800" dirty="0"/>
              <a:t>ICS でも同じです。</a:t>
            </a:r>
          </a:p>
        </p:txBody>
      </p:sp>
      <p:pic>
        <p:nvPicPr>
          <p:cNvPr id="2" name="図形 1"/>
          <p:cNvPicPr>
            <a:picLocks noChangeAspect="1"/>
          </p:cNvPicPr>
          <p:nvPr/>
        </p:nvPicPr>
        <p:blipFill>
          <a:blip r:embed="rId2"/>
          <a:stretch>
            <a:fillRect/>
          </a:stretch>
        </p:blipFill>
        <p:spPr>
          <a:xfrm>
            <a:off x="919060" y="0"/>
            <a:ext cx="5019880" cy="28448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540" y="3673053"/>
            <a:ext cx="6852285" cy="8163348"/>
          </a:xfrm>
        </p:spPr>
        <p:txBody>
          <a:bodyPr>
            <a:noAutofit/>
          </a:bodyPr>
          <a:lstStyle/>
          <a:p>
            <a:pPr algn="l"/>
            <a:r>
              <a:rPr lang="ja-JP" altLang="en-US" sz="900" dirty="0"/>
              <a:t>Purdue Level 2：リアルタイム制御システムの運用層</a:t>
            </a:r>
          </a:p>
          <a:p>
            <a:pPr algn="l"/>
            <a:r>
              <a:rPr lang="ja-JP" altLang="en-US" sz="900" dirty="0"/>
              <a:t>Level 2 には、リアルタイム制御システムの運用に直接関わる機能 が含まれます。</a:t>
            </a:r>
          </a:p>
          <a:p>
            <a:pPr algn="l"/>
            <a:r>
              <a:rPr lang="ja-JP" altLang="en-US" sz="900" dirty="0"/>
              <a:t>このゾーンに典型的に存在するもの：</a:t>
            </a:r>
          </a:p>
          <a:p>
            <a:pPr algn="l"/>
            <a:r>
              <a:rPr lang="ja-JP" altLang="en-US" sz="900" dirty="0"/>
              <a:t>- 制御室の運用ワークステーション</a:t>
            </a:r>
          </a:p>
          <a:p>
            <a:pPr algn="l"/>
            <a:r>
              <a:rPr lang="ja-JP" altLang="en-US" sz="900" dirty="0"/>
              <a:t>- ローカル HMI（Human Machine Interface）</a:t>
            </a:r>
          </a:p>
          <a:p>
            <a:pPr algn="l"/>
            <a:r>
              <a:rPr lang="ja-JP" altLang="en-US" sz="900" dirty="0"/>
              <a:t>- エンジニアリングワークステーション</a:t>
            </a:r>
          </a:p>
          <a:p>
            <a:pPr algn="l"/>
            <a:r>
              <a:rPr lang="ja-JP" altLang="en-US" sz="900" dirty="0"/>
              <a:t>- セキュリティイベント収集装置</a:t>
            </a:r>
          </a:p>
          <a:p>
            <a:pPr algn="l"/>
            <a:r>
              <a:rPr lang="ja-JP" altLang="en-US" sz="900" dirty="0"/>
              <a:t>- 運用アラームシステム</a:t>
            </a:r>
          </a:p>
          <a:p>
            <a:pPr algn="l"/>
            <a:r>
              <a:rPr lang="ja-JP" altLang="en-US" sz="900" dirty="0"/>
              <a:t>- 通信フロントエンド</a:t>
            </a:r>
          </a:p>
          <a:p>
            <a:pPr algn="l"/>
            <a:r>
              <a:rPr lang="ja-JP" altLang="en-US" sz="900" dirty="0"/>
              <a:t>- データヒストリアン</a:t>
            </a:r>
          </a:p>
          <a:p>
            <a:pPr algn="l"/>
            <a:r>
              <a:rPr lang="ja-JP" altLang="en-US" sz="900" dirty="0"/>
              <a:t>- 製造セル／工程／ラインごとのネットワーク管理者・アプリ管理者用ワークステーション</a:t>
            </a:r>
          </a:p>
          <a:p>
            <a:pPr algn="l"/>
            <a:r>
              <a:rPr lang="ja-JP" altLang="en-US" sz="900" dirty="0"/>
              <a:t>Level 2 と Level 3 のシステムは似ているため混乱しがちですが、</a:t>
            </a:r>
          </a:p>
          <a:p>
            <a:pPr algn="l"/>
            <a:r>
              <a:rPr lang="ja-JP" altLang="en-US" sz="900" dirty="0"/>
              <a:t>最大の違いは「スコープ（範囲）」です。</a:t>
            </a:r>
          </a:p>
          <a:p>
            <a:pPr algn="l"/>
            <a:r>
              <a:rPr lang="ja-JP" altLang="en-US" sz="900" dirty="0"/>
              <a:t>理想的には、各製造セル・ライン・工程は、</a:t>
            </a:r>
          </a:p>
          <a:p>
            <a:pPr algn="l"/>
            <a:r>
              <a:rPr lang="ja-JP" altLang="en-US" sz="900" dirty="0"/>
              <a:t>Level 3 との通信が途絶しても一定時間は自律運転できる べきです。</a:t>
            </a:r>
          </a:p>
          <a:p>
            <a:pPr algn="l"/>
            <a:r>
              <a:rPr lang="ja-JP" altLang="en-US" sz="900" dirty="0"/>
              <a:t>これは、Level 3 が侵害された場合に、各工程を「島化（island）」して影響を最小化するためです。</a:t>
            </a:r>
          </a:p>
          <a:p>
            <a:pPr algn="l"/>
            <a:endParaRPr lang="ja-JP" altLang="en-US" sz="900" dirty="0"/>
          </a:p>
          <a:p>
            <a:pPr algn="l"/>
            <a:r>
              <a:rPr lang="ja-JP" altLang="en-US" sz="900" dirty="0"/>
              <a:t>Purdue Level 1：制御デバイス層</a:t>
            </a:r>
          </a:p>
          <a:p>
            <a:pPr algn="l"/>
            <a:r>
              <a:rPr lang="ja-JP" altLang="en-US" sz="900" dirty="0"/>
              <a:t>Level 1 は、現場固有の制御環境を構成するデバイス が含まれます。</a:t>
            </a:r>
          </a:p>
          <a:p>
            <a:pPr algn="l"/>
            <a:r>
              <a:rPr lang="ja-JP" altLang="en-US" sz="900" dirty="0"/>
              <a:t>典型的な構成要素：</a:t>
            </a:r>
          </a:p>
          <a:p>
            <a:pPr algn="l"/>
            <a:r>
              <a:rPr lang="ja-JP" altLang="en-US" sz="900" dirty="0"/>
              <a:t>- 専用オペレータワークステーション</a:t>
            </a:r>
          </a:p>
          <a:p>
            <a:pPr algn="l"/>
            <a:r>
              <a:rPr lang="ja-JP" altLang="en-US" sz="900" dirty="0"/>
              <a:t>- PLC（Programmable Logic Controller）</a:t>
            </a:r>
          </a:p>
          <a:p>
            <a:pPr algn="l"/>
            <a:r>
              <a:rPr lang="ja-JP" altLang="en-US" sz="900" dirty="0"/>
              <a:t>- 制御プロセッサ</a:t>
            </a:r>
          </a:p>
          <a:p>
            <a:pPr algn="l"/>
            <a:r>
              <a:rPr lang="ja-JP" altLang="en-US" sz="900" dirty="0"/>
              <a:t>- プログラマブルリレー</a:t>
            </a:r>
          </a:p>
          <a:p>
            <a:pPr algn="l"/>
            <a:r>
              <a:rPr lang="ja-JP" altLang="en-US" sz="900" dirty="0"/>
              <a:t>- RTU（Remote Terminal Unit）</a:t>
            </a:r>
          </a:p>
          <a:p>
            <a:pPr algn="l"/>
            <a:r>
              <a:rPr lang="ja-JP" altLang="en-US" sz="900" dirty="0"/>
              <a:t>- 工程固有のマイクロコントローラ</a:t>
            </a:r>
          </a:p>
          <a:p>
            <a:pPr algn="l"/>
            <a:endParaRPr lang="ja-JP" altLang="en-US" sz="900" dirty="0"/>
          </a:p>
          <a:p>
            <a:pPr algn="l"/>
            <a:r>
              <a:rPr lang="ja-JP" altLang="en-US" sz="900" dirty="0"/>
              <a:t>Purdue Level 0：フィールドデバイス層</a:t>
            </a:r>
          </a:p>
          <a:p>
            <a:pPr algn="l"/>
            <a:r>
              <a:rPr lang="ja-JP" altLang="en-US" sz="900" dirty="0"/>
              <a:t>Level 0 は、サイバーと物理の境界 に位置する層です。</a:t>
            </a:r>
          </a:p>
          <a:p>
            <a:pPr algn="l"/>
            <a:r>
              <a:rPr lang="ja-JP" altLang="en-US" sz="900" dirty="0"/>
              <a:t>ここでは、物理プロセスを測定・制御するデバイスが稼働します。</a:t>
            </a:r>
          </a:p>
          <a:p>
            <a:pPr algn="l"/>
            <a:r>
              <a:rPr lang="ja-JP" altLang="en-US" sz="900" dirty="0"/>
              <a:t>典型的な構成要素：</a:t>
            </a:r>
          </a:p>
          <a:p>
            <a:pPr algn="l"/>
            <a:r>
              <a:rPr lang="ja-JP" altLang="en-US" sz="900" dirty="0"/>
              <a:t>- センサー</a:t>
            </a:r>
          </a:p>
          <a:p>
            <a:pPr algn="l"/>
            <a:r>
              <a:rPr lang="ja-JP" altLang="en-US" sz="900" dirty="0"/>
              <a:t>- アクチュエータ</a:t>
            </a:r>
          </a:p>
          <a:p>
            <a:pPr algn="l"/>
            <a:r>
              <a:rPr lang="ja-JP" altLang="en-US" sz="900" dirty="0"/>
              <a:t>- モーター</a:t>
            </a:r>
          </a:p>
          <a:p>
            <a:pPr algn="l"/>
            <a:r>
              <a:rPr lang="ja-JP" altLang="en-US" sz="900" dirty="0"/>
              <a:t>- 工程固有の自動化機器</a:t>
            </a:r>
          </a:p>
          <a:p>
            <a:pPr algn="l"/>
            <a:r>
              <a:rPr lang="ja-JP" altLang="en-US" sz="900" dirty="0"/>
              <a:t>- フィールド計装デバイス</a:t>
            </a:r>
          </a:p>
        </p:txBody>
      </p:sp>
      <p:pic>
        <p:nvPicPr>
          <p:cNvPr id="2" name="図形 1"/>
          <p:cNvPicPr>
            <a:picLocks noChangeAspect="1"/>
          </p:cNvPicPr>
          <p:nvPr/>
        </p:nvPicPr>
        <p:blipFill>
          <a:blip r:embed="rId2"/>
          <a:stretch>
            <a:fillRect/>
          </a:stretch>
        </p:blipFill>
        <p:spPr>
          <a:xfrm>
            <a:off x="264795" y="66675"/>
            <a:ext cx="6328410" cy="358902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329517"/>
            <a:ext cx="6852285" cy="8862483"/>
          </a:xfrm>
        </p:spPr>
        <p:txBody>
          <a:bodyPr>
            <a:noAutofit/>
          </a:bodyPr>
          <a:lstStyle/>
          <a:p>
            <a:pPr algn="l"/>
            <a:r>
              <a:rPr lang="ja-JP" altLang="en-US" sz="1000" dirty="0"/>
              <a:t>OT スタッフやベンダーがリモート接続を行う場合、</a:t>
            </a:r>
          </a:p>
          <a:p>
            <a:pPr algn="l"/>
            <a:r>
              <a:rPr lang="ja-JP" altLang="en-US" sz="1000" dirty="0"/>
              <a:t>基本的には 2 段階の接続プロセス を必須とすべきです。</a:t>
            </a:r>
          </a:p>
          <a:p>
            <a:pPr algn="l"/>
            <a:r>
              <a:rPr lang="ja-JP" altLang="en-US" sz="1000" dirty="0"/>
              <a:t>- VPN で ICS DMZ に接続する</a:t>
            </a:r>
          </a:p>
          <a:p>
            <a:pPr algn="l"/>
            <a:r>
              <a:rPr lang="ja-JP" altLang="en-US" sz="1000" dirty="0"/>
              <a:t>- 強化された RDP／VNC／Citrix を使って、Purdue Level 3 のジャンプホストへ接続する</a:t>
            </a:r>
          </a:p>
          <a:p>
            <a:pPr algn="l"/>
            <a:r>
              <a:rPr lang="ja-JP" altLang="en-US" sz="1000" dirty="0"/>
              <a:t>（この際に使用するのは ICS 内部の認証情報）</a:t>
            </a:r>
          </a:p>
          <a:p>
            <a:pPr algn="l"/>
            <a:r>
              <a:rPr lang="ja-JP" altLang="en-US" sz="1000" dirty="0"/>
              <a:t>このジャンプホストへの接続は、</a:t>
            </a:r>
          </a:p>
          <a:p>
            <a:pPr algn="l"/>
            <a:r>
              <a:rPr lang="ja-JP" altLang="en-US" sz="1000" dirty="0"/>
              <a:t>リモート端末側のソフトウェアやデータを使用できないように制限 されている必要があります。</a:t>
            </a:r>
          </a:p>
          <a:p>
            <a:pPr algn="l"/>
            <a:r>
              <a:rPr lang="ja-JP" altLang="en-US" sz="1000" dirty="0"/>
              <a:t>例として、RDP ユーザーがジャンプホストへデータを持ち込むのを防ぐ最も効果的な方法は、</a:t>
            </a:r>
          </a:p>
          <a:p>
            <a:pPr algn="l"/>
            <a:r>
              <a:rPr lang="ja-JP" altLang="en-US" sz="1000" dirty="0"/>
              <a:t>ローカルセキュリティポリシーを編集し、ドライブリダイレクトとクリップボードリダイレクトを無効化 することです。</a:t>
            </a:r>
          </a:p>
          <a:p>
            <a:pPr algn="l"/>
            <a:endParaRPr lang="ja-JP" altLang="en-US" sz="1000" dirty="0"/>
          </a:p>
          <a:p>
            <a:pPr algn="l"/>
            <a:r>
              <a:rPr lang="ja-JP" altLang="en-US" sz="1000" dirty="0"/>
              <a:t>ほとんどのリモートユーザー向け：ジャンプホストに必要なものを事前インストール</a:t>
            </a:r>
          </a:p>
          <a:p>
            <a:pPr algn="l"/>
            <a:r>
              <a:rPr lang="ja-JP" altLang="en-US" sz="1000" dirty="0"/>
              <a:t>一般的なリモートアクセスユーザーに対しては、</a:t>
            </a:r>
          </a:p>
          <a:p>
            <a:pPr algn="l"/>
            <a:r>
              <a:rPr lang="ja-JP" altLang="en-US" sz="1000" dirty="0"/>
              <a:t>必要なソフトウェアやデータは すべてジャンプホスト側に事前インストール しておくべきです。</a:t>
            </a:r>
          </a:p>
          <a:p>
            <a:pPr algn="l"/>
            <a:endParaRPr lang="ja-JP" altLang="en-US" sz="1000" dirty="0"/>
          </a:p>
          <a:p>
            <a:pPr algn="l"/>
            <a:r>
              <a:rPr lang="ja-JP" altLang="en-US" sz="1000" dirty="0"/>
              <a:t>一部のユーザー向け：データ持ち込みが必要な場合</a:t>
            </a:r>
          </a:p>
          <a:p>
            <a:pPr algn="l"/>
            <a:r>
              <a:rPr lang="ja-JP" altLang="en-US" sz="1000" dirty="0"/>
              <a:t>少数のユーザーがデータを持ち込む必要がある場合は、</a:t>
            </a:r>
          </a:p>
          <a:p>
            <a:pPr algn="l"/>
            <a:r>
              <a:rPr lang="ja-JP" altLang="en-US" sz="1000" dirty="0"/>
              <a:t>エンタープライズ → ICS のデータ転送に使用しているマルウェアスキャンサーバを経由させる安全な方法 を用意します。</a:t>
            </a:r>
          </a:p>
          <a:p>
            <a:pPr algn="l"/>
            <a:r>
              <a:rPr lang="ja-JP" altLang="en-US" sz="1000" dirty="0"/>
              <a:t>典型的なフロー：</a:t>
            </a:r>
          </a:p>
          <a:p>
            <a:pPr algn="l"/>
            <a:r>
              <a:rPr lang="ja-JP" altLang="en-US" sz="1000" dirty="0"/>
              <a:t>- ユーザーが VPN で接続</a:t>
            </a:r>
          </a:p>
          <a:p>
            <a:pPr algn="l"/>
            <a:r>
              <a:rPr lang="ja-JP" altLang="en-US" sz="1000" dirty="0"/>
              <a:t>- データをスキャンサービスにドラッグ＆ドロップ</a:t>
            </a:r>
          </a:p>
          <a:p>
            <a:pPr algn="l"/>
            <a:r>
              <a:rPr lang="ja-JP" altLang="en-US" sz="1000" dirty="0"/>
              <a:t>- ジャンプホストに接続</a:t>
            </a:r>
          </a:p>
          <a:p>
            <a:pPr algn="l"/>
            <a:r>
              <a:rPr lang="ja-JP" altLang="en-US" sz="1000" dirty="0"/>
              <a:t>- スキャン済みデータをジャンプホストにダウンロードして使用</a:t>
            </a:r>
          </a:p>
          <a:p>
            <a:pPr algn="l"/>
            <a:r>
              <a:rPr lang="ja-JP" altLang="en-US" sz="1000" dirty="0"/>
              <a:t>これにより：</a:t>
            </a:r>
          </a:p>
          <a:p>
            <a:pPr algn="l"/>
            <a:r>
              <a:rPr lang="ja-JP" altLang="en-US" sz="1000" dirty="0"/>
              <a:t>- データを ICS に持ち込む前にマルウェアスキャンが可能</a:t>
            </a:r>
          </a:p>
          <a:p>
            <a:pPr algn="l"/>
            <a:r>
              <a:rPr lang="ja-JP" altLang="en-US" sz="1000" dirty="0"/>
              <a:t>- 持ち込まれたすべてのデータを記録できる</a:t>
            </a:r>
          </a:p>
          <a:p>
            <a:pPr algn="l"/>
            <a:endParaRPr lang="ja-JP" altLang="en-US" sz="1000" dirty="0"/>
          </a:p>
          <a:p>
            <a:pPr algn="l"/>
            <a:r>
              <a:rPr lang="ja-JP" altLang="en-US" sz="1000" dirty="0"/>
              <a:t>ごく一部のユーザー向け：リモート端末のソフトを直接使う必要がある場合</a:t>
            </a:r>
          </a:p>
          <a:p>
            <a:pPr algn="l"/>
            <a:r>
              <a:rPr lang="ja-JP" altLang="en-US" sz="1000" dirty="0"/>
              <a:t>極めて少数のユーザーは、</a:t>
            </a:r>
          </a:p>
          <a:p>
            <a:pPr algn="l"/>
            <a:r>
              <a:rPr lang="ja-JP" altLang="en-US" sz="1000" dirty="0"/>
              <a:t>ジャンプホストにインストールできないソフトウェアを</a:t>
            </a:r>
          </a:p>
          <a:p>
            <a:pPr algn="l"/>
            <a:r>
              <a:rPr lang="ja-JP" altLang="en-US" sz="1000" dirty="0"/>
              <a:t>リモート端末側で直接使用する必要がある 場合があります。</a:t>
            </a:r>
          </a:p>
          <a:p>
            <a:pPr algn="l"/>
            <a:r>
              <a:rPr lang="ja-JP" altLang="en-US" sz="1000" dirty="0"/>
              <a:t>この場合は、以下のような追加対策が必要です：</a:t>
            </a:r>
          </a:p>
          <a:p>
            <a:pPr algn="l"/>
            <a:r>
              <a:rPr lang="ja-JP" altLang="en-US" sz="1000" dirty="0"/>
              <a:t>- VPN 接続後に 追加のスキャン要件 を課す</a:t>
            </a:r>
          </a:p>
          <a:p>
            <a:pPr algn="l"/>
            <a:r>
              <a:rPr lang="ja-JP" altLang="en-US" sz="1000" dirty="0"/>
              <a:t>- 必要な ICS 機器に対して 特定 IP・特定ポートのみ許可するファイアウォールルール を作成</a:t>
            </a:r>
          </a:p>
          <a:p>
            <a:pPr algn="l"/>
            <a:r>
              <a:rPr lang="ja-JP" altLang="en-US" sz="1000" dirty="0"/>
              <a:t>- このレベルのアクセスは</a:t>
            </a:r>
          </a:p>
          <a:p>
            <a:pPr algn="l"/>
            <a:r>
              <a:rPr lang="ja-JP" altLang="en-US" sz="1000" dirty="0"/>
              <a:t>- 非常に厳しく制限</a:t>
            </a:r>
          </a:p>
          <a:p>
            <a:pPr algn="l"/>
            <a:r>
              <a:rPr lang="ja-JP" altLang="en-US" sz="1000" dirty="0"/>
              <a:t>- 最高レベルの承認を必須</a:t>
            </a:r>
          </a:p>
          <a:p>
            <a:pPr algn="l"/>
            <a:r>
              <a:rPr lang="ja-JP" altLang="en-US" sz="1000" dirty="0"/>
              <a:t>- 濫用や感染の兆候を厳密に監視</a:t>
            </a:r>
          </a:p>
          <a:p>
            <a:pPr algn="l"/>
            <a:endParaRPr lang="ja-JP" altLang="en-US" sz="1000" dirty="0"/>
          </a:p>
          <a:p>
            <a:pPr algn="l"/>
            <a:endParaRPr lang="ja-JP" altLang="en-US" sz="1000" dirty="0"/>
          </a:p>
        </p:txBody>
      </p:sp>
      <p:pic>
        <p:nvPicPr>
          <p:cNvPr id="2" name="図形 1"/>
          <p:cNvPicPr>
            <a:picLocks noChangeAspect="1"/>
          </p:cNvPicPr>
          <p:nvPr/>
        </p:nvPicPr>
        <p:blipFill>
          <a:blip r:embed="rId2"/>
          <a:stretch>
            <a:fillRect/>
          </a:stretch>
        </p:blipFill>
        <p:spPr>
          <a:xfrm>
            <a:off x="609388" y="132370"/>
            <a:ext cx="5639223" cy="319714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680460"/>
            <a:ext cx="6852285" cy="8374803"/>
          </a:xfrm>
        </p:spPr>
        <p:txBody>
          <a:bodyPr>
            <a:noAutofit/>
          </a:bodyPr>
          <a:lstStyle/>
          <a:p>
            <a:pPr algn="l"/>
            <a:r>
              <a:rPr lang="ja-JP" altLang="en-US" sz="900" dirty="0"/>
              <a:t>クラウドは、ICS や OT において 現在も、過去も、そして今後も重要なテーマ であり続けます。</a:t>
            </a:r>
          </a:p>
          <a:p>
            <a:pPr algn="l"/>
            <a:r>
              <a:rPr lang="ja-JP" altLang="en-US" sz="900" dirty="0"/>
              <a:t>Industry 4.0 やスマートグリッドのような取り組みでは、</a:t>
            </a:r>
          </a:p>
          <a:p>
            <a:pPr algn="l"/>
            <a:r>
              <a:rPr lang="ja-JP" altLang="en-US" sz="900" dirty="0"/>
              <a:t>より高度な接続性や相互依存性が求められます。</a:t>
            </a:r>
          </a:p>
          <a:p>
            <a:pPr algn="l"/>
            <a:r>
              <a:rPr lang="ja-JP" altLang="en-US" sz="900" dirty="0"/>
              <a:t>また、大規模データの分析能力も必要となり、</a:t>
            </a:r>
          </a:p>
          <a:p>
            <a:pPr algn="l"/>
            <a:r>
              <a:rPr lang="ja-JP" altLang="en-US" sz="900" dirty="0"/>
              <a:t>オンサイトだけでは処理しきれないケースが増えています。</a:t>
            </a:r>
          </a:p>
          <a:p>
            <a:pPr algn="l"/>
            <a:r>
              <a:rPr lang="ja-JP" altLang="en-US" sz="900" dirty="0"/>
              <a:t>そのため、クラウドは ICS／OT 環境でも積極的に利用されるようになっています。</a:t>
            </a:r>
          </a:p>
          <a:p>
            <a:pPr algn="l"/>
            <a:endParaRPr lang="ja-JP" altLang="en-US" sz="900" dirty="0"/>
          </a:p>
          <a:p>
            <a:pPr algn="l"/>
            <a:r>
              <a:rPr lang="ja-JP" altLang="en-US" sz="900" dirty="0"/>
              <a:t>クラウド接続は慎重に検討すべき</a:t>
            </a:r>
          </a:p>
          <a:p>
            <a:pPr algn="l"/>
            <a:r>
              <a:rPr lang="ja-JP" altLang="en-US" sz="900" dirty="0"/>
              <a:t>クラウド接続を導入する際には、次の点を慎重に考える必要があります：</a:t>
            </a:r>
          </a:p>
          <a:p>
            <a:pPr algn="l"/>
            <a:r>
              <a:rPr lang="ja-JP" altLang="en-US" sz="900" dirty="0"/>
              <a:t>- それは本当に業務やプロセスに必要か</a:t>
            </a:r>
          </a:p>
          <a:p>
            <a:pPr algn="l"/>
            <a:r>
              <a:rPr lang="ja-JP" altLang="en-US" sz="900" dirty="0"/>
              <a:t>- クラウド化がプロセスの セキュリティ・信頼性・安全性 にどのような影響を与えるか</a:t>
            </a:r>
          </a:p>
          <a:p>
            <a:pPr algn="l"/>
            <a:r>
              <a:rPr lang="ja-JP" altLang="en-US" sz="900" dirty="0"/>
              <a:t>クラウドが最適解となる場合もありますが、</a:t>
            </a:r>
          </a:p>
          <a:p>
            <a:pPr algn="l"/>
            <a:r>
              <a:rPr lang="ja-JP" altLang="en-US" sz="900" dirty="0"/>
              <a:t>クラウド側が侵害された場合の影響を最小化できる設計 が必須です。</a:t>
            </a:r>
          </a:p>
          <a:p>
            <a:pPr algn="l"/>
            <a:endParaRPr lang="ja-JP" altLang="en-US" sz="900" dirty="0"/>
          </a:p>
          <a:p>
            <a:pPr algn="l"/>
            <a:r>
              <a:rPr lang="ja-JP" altLang="en-US" sz="900" dirty="0"/>
              <a:t>クラウドを使う場合の基本方針：攻撃はクラウド側から来ると想定する</a:t>
            </a:r>
          </a:p>
          <a:p>
            <a:pPr algn="l"/>
            <a:r>
              <a:rPr lang="ja-JP" altLang="en-US" sz="900" dirty="0"/>
              <a:t>クラウド接続が必要な場合、</a:t>
            </a:r>
          </a:p>
          <a:p>
            <a:pPr algn="l"/>
            <a:r>
              <a:rPr lang="ja-JP" altLang="en-US" sz="900" dirty="0"/>
              <a:t>攻撃はクラウド側から ICS に向かってくる と想定して設計すべきです。</a:t>
            </a:r>
          </a:p>
          <a:p>
            <a:pPr algn="l"/>
            <a:r>
              <a:rPr lang="ja-JP" altLang="en-US" sz="900" dirty="0"/>
              <a:t>1. クラウドと通信するオンサイトサーバを「Cloud DMZ」に移動する</a:t>
            </a:r>
          </a:p>
          <a:p>
            <a:pPr algn="l"/>
            <a:r>
              <a:rPr lang="ja-JP" altLang="en-US" sz="900" dirty="0"/>
              <a:t>これにより：</a:t>
            </a:r>
          </a:p>
          <a:p>
            <a:pPr algn="l"/>
            <a:r>
              <a:rPr lang="ja-JP" altLang="en-US" sz="900" dirty="0"/>
              <a:t>- クラウドとの通信はすべて Cloud DMZ で終端</a:t>
            </a:r>
          </a:p>
          <a:p>
            <a:pPr algn="l"/>
            <a:r>
              <a:rPr lang="ja-JP" altLang="en-US" sz="900" dirty="0"/>
              <a:t>- DMZ 内で監視・フィルタリングが可能</a:t>
            </a:r>
          </a:p>
          <a:p>
            <a:pPr algn="l"/>
            <a:r>
              <a:rPr lang="ja-JP" altLang="en-US" sz="900" dirty="0"/>
              <a:t>- ICS ネットワーク本体を直接クラウドに晒さずに済む</a:t>
            </a:r>
          </a:p>
          <a:p>
            <a:pPr algn="l"/>
            <a:r>
              <a:rPr lang="ja-JP" altLang="en-US" sz="900" dirty="0"/>
              <a:t>2. Cloud DMZ 内のサーバが ICS 内で通信できる範囲を最小化する</a:t>
            </a:r>
          </a:p>
          <a:p>
            <a:pPr algn="l"/>
            <a:r>
              <a:rPr lang="ja-JP" altLang="en-US" sz="900" dirty="0"/>
              <a:t>- 必要な ICS システムとのみ通信を許可</a:t>
            </a:r>
          </a:p>
          <a:p>
            <a:pPr algn="l"/>
            <a:r>
              <a:rPr lang="ja-JP" altLang="en-US" sz="900" dirty="0"/>
              <a:t>- 必要に応じて Level 2／1／0 へ接続させる場合は、そのレベルを囲む追加の境界を構築</a:t>
            </a:r>
          </a:p>
          <a:p>
            <a:pPr algn="l"/>
            <a:r>
              <a:rPr lang="ja-JP" altLang="en-US" sz="900" dirty="0"/>
              <a:t>- 低レベルに侵入された場合でも、他プロセスへ横移動できないよう防御を追加</a:t>
            </a:r>
          </a:p>
          <a:p>
            <a:pPr algn="l"/>
            <a:endParaRPr lang="ja-JP" altLang="en-US" sz="900" dirty="0"/>
          </a:p>
          <a:p>
            <a:pPr algn="l"/>
            <a:r>
              <a:rPr lang="ja-JP" altLang="en-US" sz="900" dirty="0"/>
              <a:t>IIoT（Industrial IoT）とクラウド</a:t>
            </a:r>
          </a:p>
          <a:p>
            <a:pPr algn="l"/>
            <a:r>
              <a:rPr lang="ja-JP" altLang="en-US" sz="900" dirty="0"/>
              <a:t>クラウド接続の代表的な用途の一つが、</a:t>
            </a:r>
          </a:p>
          <a:p>
            <a:pPr algn="l"/>
            <a:r>
              <a:rPr lang="ja-JP" altLang="en-US" sz="900" dirty="0"/>
              <a:t>大量のセンサーや安価なデバイスを独立したマイクロネットワークとして展開するケース です。</a:t>
            </a:r>
          </a:p>
          <a:p>
            <a:pPr algn="l"/>
            <a:r>
              <a:rPr lang="ja-JP" altLang="en-US" sz="900" dirty="0"/>
              <a:t>これは IIoT（Industrial Internet of Things）の典型例と言えます。</a:t>
            </a:r>
          </a:p>
          <a:p>
            <a:pPr algn="l"/>
            <a:r>
              <a:rPr lang="ja-JP" altLang="en-US" sz="900" dirty="0"/>
              <a:t>ただし、IoT／IIoT の定義はマーケティング的に乱用されがちで、</a:t>
            </a:r>
          </a:p>
          <a:p>
            <a:pPr algn="l"/>
            <a:r>
              <a:rPr lang="ja-JP" altLang="en-US" sz="900" dirty="0"/>
              <a:t>何が該当するのか曖昧なことも多いのが現状です。</a:t>
            </a:r>
          </a:p>
          <a:p>
            <a:pPr algn="l"/>
            <a:r>
              <a:rPr lang="ja-JP" altLang="en-US" sz="900" dirty="0"/>
              <a:t>IIoT ソリューションを使う場合は：</a:t>
            </a:r>
          </a:p>
          <a:p>
            <a:pPr algn="l"/>
            <a:r>
              <a:rPr lang="ja-JP" altLang="en-US" sz="900" dirty="0"/>
              <a:t>- 1 </a:t>
            </a:r>
            <a:r>
              <a:rPr lang="ja-JP" altLang="en-US" sz="900" dirty="0" err="1"/>
              <a:t>つの</a:t>
            </a:r>
            <a:r>
              <a:rPr lang="ja-JP" altLang="en-US" sz="900" dirty="0"/>
              <a:t>独立したプロセスとして扱い、他のプロセスから隔離する</a:t>
            </a:r>
          </a:p>
          <a:p>
            <a:pPr algn="l"/>
            <a:r>
              <a:rPr lang="ja-JP" altLang="en-US" sz="900" dirty="0"/>
              <a:t>- その上で、前述のクラウド接続のセキュリティ対策を適用する</a:t>
            </a:r>
          </a:p>
          <a:p>
            <a:pPr algn="l"/>
            <a:r>
              <a:rPr lang="ja-JP" altLang="en-US" sz="900" dirty="0"/>
              <a:t>ことが推奨されます。</a:t>
            </a:r>
          </a:p>
        </p:txBody>
      </p:sp>
      <p:pic>
        <p:nvPicPr>
          <p:cNvPr id="2" name="図形 1"/>
          <p:cNvPicPr>
            <a:picLocks noChangeAspect="1"/>
          </p:cNvPicPr>
          <p:nvPr/>
        </p:nvPicPr>
        <p:blipFill>
          <a:blip r:embed="rId2"/>
          <a:stretch>
            <a:fillRect/>
          </a:stretch>
        </p:blipFill>
        <p:spPr>
          <a:xfrm>
            <a:off x="263525" y="83820"/>
            <a:ext cx="6332220" cy="359664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これが ICS410 サイトリファレンスモデル全体図 です。</a:t>
            </a:r>
          </a:p>
          <a:p>
            <a:pPr algn="l"/>
            <a:r>
              <a:rPr lang="ja-JP" altLang="en-US" sz="1400"/>
              <a:t>このモジュールで説明してきたすべての要素を 1 つの図に統合したもの になります。</a:t>
            </a:r>
          </a:p>
          <a:p>
            <a:pPr algn="l"/>
            <a:r>
              <a:rPr lang="ja-JP" altLang="en-US" sz="1400"/>
              <a:t>ICS410 のメディアファイルを確認すると、</a:t>
            </a:r>
          </a:p>
          <a:p>
            <a:pPr algn="l"/>
            <a:r>
              <a:rPr lang="ja-JP" altLang="en-US" sz="1400"/>
              <a:t>Poster フォルダの中に、この図の PNG 版 が含まれているはずです。</a:t>
            </a:r>
          </a:p>
          <a:p>
            <a:pPr algn="l"/>
            <a:r>
              <a:rPr lang="ja-JP" altLang="en-US" sz="1400"/>
              <a:t>また、「Control Systems are a Target」ポスター にも同じ図が掲載されています。</a:t>
            </a:r>
          </a:p>
        </p:txBody>
      </p:sp>
      <p:pic>
        <p:nvPicPr>
          <p:cNvPr id="4" name="図形 3"/>
          <p:cNvPicPr>
            <a:picLocks noChangeAspect="1"/>
          </p:cNvPicPr>
          <p:nvPr/>
        </p:nvPicPr>
        <p:blipFill>
          <a:blip r:embed="rId2"/>
          <a:stretch>
            <a:fillRect/>
          </a:stretch>
        </p:blipFill>
        <p:spPr>
          <a:xfrm>
            <a:off x="273050" y="125095"/>
            <a:ext cx="6313170" cy="360045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668395"/>
            <a:ext cx="6852285" cy="8428143"/>
          </a:xfrm>
        </p:spPr>
        <p:txBody>
          <a:bodyPr>
            <a:noAutofit/>
          </a:bodyPr>
          <a:lstStyle/>
          <a:p>
            <a:pPr algn="l"/>
            <a:r>
              <a:rPr lang="ja-JP" altLang="en-US" sz="800" dirty="0"/>
              <a:t>ICS が複数の遠隔サイトにまたがり、地域 SCADA（Regional SCADA）によって管理される場合、</a:t>
            </a:r>
          </a:p>
          <a:p>
            <a:pPr algn="l"/>
            <a:r>
              <a:rPr lang="ja-JP" altLang="en-US" sz="800" dirty="0"/>
              <a:t>Purdue モデルの適用が分かりにくくなる ことがあります。</a:t>
            </a:r>
          </a:p>
          <a:p>
            <a:pPr algn="l"/>
            <a:r>
              <a:rPr lang="ja-JP" altLang="en-US" sz="800" dirty="0"/>
              <a:t>その結果、ICS 業界間、さらには同じ業界内でさえ、</a:t>
            </a:r>
          </a:p>
          <a:p>
            <a:pPr algn="l"/>
            <a:r>
              <a:rPr lang="ja-JP" altLang="en-US" sz="800" dirty="0"/>
              <a:t>SCADA における Purdue モデルの使い方が一貫しない という問題が生じています。</a:t>
            </a:r>
          </a:p>
          <a:p>
            <a:pPr algn="l"/>
            <a:r>
              <a:rPr lang="ja-JP" altLang="en-US" sz="800" dirty="0"/>
              <a:t>このモジュールで示したリファレンスモデルが、</a:t>
            </a:r>
          </a:p>
          <a:p>
            <a:pPr algn="l"/>
            <a:r>
              <a:rPr lang="ja-JP" altLang="en-US" sz="800" dirty="0"/>
              <a:t>地域 SCADA における Purdue モデルの より一貫した使い方 を理解する助けになるはずです。</a:t>
            </a:r>
          </a:p>
          <a:p>
            <a:pPr algn="l"/>
            <a:endParaRPr lang="ja-JP" altLang="en-US" sz="800" dirty="0"/>
          </a:p>
          <a:p>
            <a:pPr algn="l"/>
            <a:r>
              <a:rPr lang="ja-JP" altLang="en-US" sz="800" dirty="0"/>
              <a:t>地域 SCADA における Purdue Level 3 の考え方</a:t>
            </a:r>
          </a:p>
          <a:p>
            <a:pPr algn="l"/>
            <a:r>
              <a:rPr lang="ja-JP" altLang="en-US" sz="800" dirty="0"/>
              <a:t>プラント内では、Purdue Level 3 は 工場全体の監視・制御を行うシステム を含みます。</a:t>
            </a:r>
          </a:p>
          <a:p>
            <a:pPr algn="l"/>
            <a:r>
              <a:rPr lang="ja-JP" altLang="en-US" sz="800" dirty="0"/>
              <a:t>地域 SCADA も同じですが、対象が 工場全体ではなく地域全体 に広がるだけです。</a:t>
            </a:r>
          </a:p>
          <a:p>
            <a:pPr algn="l"/>
            <a:r>
              <a:rPr lang="ja-JP" altLang="en-US" sz="800" dirty="0"/>
              <a:t>したがって：</a:t>
            </a:r>
          </a:p>
          <a:p>
            <a:pPr algn="l"/>
            <a:r>
              <a:rPr lang="ja-JP" altLang="en-US" sz="800" dirty="0"/>
              <a:t>• 	ICS コントロールセンター</a:t>
            </a:r>
          </a:p>
          <a:p>
            <a:pPr algn="l"/>
            <a:r>
              <a:rPr lang="ja-JP" altLang="en-US" sz="800" dirty="0"/>
              <a:t>• 	中央 ICS データセンター</a:t>
            </a:r>
          </a:p>
          <a:p>
            <a:pPr algn="l"/>
            <a:r>
              <a:rPr lang="ja-JP" altLang="en-US" sz="800" dirty="0"/>
              <a:t>これらは すべて Purdue Level 3 と分類すべき です。</a:t>
            </a:r>
          </a:p>
          <a:p>
            <a:pPr algn="l"/>
            <a:endParaRPr lang="ja-JP" altLang="en-US" sz="800" dirty="0"/>
          </a:p>
          <a:p>
            <a:pPr algn="l"/>
            <a:r>
              <a:rPr lang="ja-JP" altLang="en-US" sz="800" dirty="0"/>
              <a:t>遠隔サイト・アウトステーション・変電所の扱い</a:t>
            </a:r>
          </a:p>
          <a:p>
            <a:pPr algn="l"/>
            <a:r>
              <a:rPr lang="ja-JP" altLang="en-US" sz="800" dirty="0"/>
              <a:t>遠隔サイトや変電所は、</a:t>
            </a:r>
          </a:p>
          <a:p>
            <a:pPr algn="l"/>
            <a:r>
              <a:rPr lang="ja-JP" altLang="en-US" sz="800" dirty="0"/>
              <a:t>それぞれが独立したセル／ライン／プロセス と考えるべきです。</a:t>
            </a:r>
          </a:p>
          <a:p>
            <a:pPr algn="l"/>
            <a:r>
              <a:rPr lang="ja-JP" altLang="en-US" sz="800" dirty="0"/>
              <a:t>つまり、それぞれが：</a:t>
            </a:r>
          </a:p>
          <a:p>
            <a:pPr algn="l"/>
            <a:r>
              <a:rPr lang="ja-JP" altLang="en-US" sz="800" dirty="0"/>
              <a:t>• 	Purdue Level 0</a:t>
            </a:r>
          </a:p>
          <a:p>
            <a:pPr algn="l"/>
            <a:r>
              <a:rPr lang="ja-JP" altLang="en-US" sz="800" dirty="0"/>
              <a:t>• 	Purdue Level 1</a:t>
            </a:r>
          </a:p>
          <a:p>
            <a:pPr algn="l"/>
            <a:r>
              <a:rPr lang="ja-JP" altLang="en-US" sz="800" dirty="0"/>
              <a:t>• 	Purdue Level 2</a:t>
            </a:r>
          </a:p>
          <a:p>
            <a:pPr algn="l"/>
            <a:r>
              <a:rPr lang="ja-JP" altLang="en-US" sz="800" dirty="0"/>
              <a:t>を持つことになります。</a:t>
            </a:r>
          </a:p>
          <a:p>
            <a:pPr algn="l"/>
            <a:r>
              <a:rPr lang="ja-JP" altLang="en-US" sz="800" dirty="0"/>
              <a:t>これらのサイトは SCADA WAN を使って ICS コントロールセンターと通信するため、</a:t>
            </a:r>
          </a:p>
          <a:p>
            <a:pPr algn="l"/>
            <a:r>
              <a:rPr lang="ja-JP" altLang="en-US" sz="800" dirty="0"/>
              <a:t>WAN 通過時に攻撃者に傍受されないよう VPN を必ず使用する必要があります。</a:t>
            </a:r>
          </a:p>
          <a:p>
            <a:pPr algn="l"/>
            <a:endParaRPr lang="ja-JP" altLang="en-US" sz="800" dirty="0"/>
          </a:p>
          <a:p>
            <a:pPr algn="l"/>
            <a:r>
              <a:rPr lang="ja-JP" altLang="en-US" sz="800" dirty="0"/>
              <a:t>WAN は攻撃者にとって“簡単にアクセス可能”であることを忘れない</a:t>
            </a:r>
          </a:p>
          <a:p>
            <a:pPr algn="l"/>
            <a:r>
              <a:rPr lang="ja-JP" altLang="en-US" sz="800" dirty="0"/>
              <a:t>WAN の物理ケーブルも無線も、</a:t>
            </a:r>
          </a:p>
          <a:p>
            <a:pPr algn="l"/>
            <a:r>
              <a:rPr lang="ja-JP" altLang="en-US" sz="800" dirty="0"/>
              <a:t>本気の攻撃者にとっては容易にアクセス可能 です。</a:t>
            </a:r>
          </a:p>
          <a:p>
            <a:pPr algn="l"/>
            <a:r>
              <a:rPr lang="ja-JP" altLang="en-US" sz="800" dirty="0"/>
              <a:t>さらに：</a:t>
            </a:r>
          </a:p>
          <a:p>
            <a:pPr algn="l"/>
            <a:r>
              <a:rPr lang="ja-JP" altLang="en-US" sz="800" dirty="0"/>
              <a:t>• 	WAN を通過するデータは、WAN 事業者のネットワークから通常アクセス可能</a:t>
            </a:r>
          </a:p>
          <a:p>
            <a:pPr algn="l"/>
            <a:r>
              <a:rPr lang="ja-JP" altLang="en-US" sz="800" dirty="0"/>
              <a:t>• 	そのため、WAN 事業者内部の悪意ある人物や侵害された内部者は</a:t>
            </a:r>
          </a:p>
          <a:p>
            <a:pPr algn="l"/>
            <a:r>
              <a:rPr lang="ja-JP" altLang="en-US" sz="800" dirty="0"/>
              <a:t>• 	監視</a:t>
            </a:r>
          </a:p>
          <a:p>
            <a:pPr algn="l"/>
            <a:r>
              <a:rPr lang="ja-JP" altLang="en-US" sz="800" dirty="0"/>
              <a:t>• 	改ざん</a:t>
            </a:r>
          </a:p>
          <a:p>
            <a:pPr algn="l"/>
            <a:r>
              <a:rPr lang="ja-JP" altLang="en-US" sz="800" dirty="0"/>
              <a:t>• 	スプーフィング（偽装）</a:t>
            </a:r>
          </a:p>
          <a:p>
            <a:pPr algn="l"/>
            <a:r>
              <a:rPr lang="ja-JP" altLang="en-US" sz="800" dirty="0"/>
              <a:t>を行える可能性がある</a:t>
            </a:r>
          </a:p>
          <a:p>
            <a:pPr algn="l"/>
            <a:r>
              <a:rPr lang="ja-JP" altLang="en-US" sz="800" dirty="0"/>
              <a:t>これを防ぐには：</a:t>
            </a:r>
          </a:p>
          <a:p>
            <a:pPr algn="l"/>
            <a:r>
              <a:rPr lang="ja-JP" altLang="en-US" sz="800" dirty="0"/>
              <a:t>• 	自組織が完全に管理できる暗号化技術（VPN など）を WAN 境界に配置すること</a:t>
            </a:r>
          </a:p>
          <a:p>
            <a:pPr algn="l"/>
            <a:r>
              <a:rPr lang="ja-JP" altLang="en-US" sz="800" dirty="0"/>
              <a:t>• 	トラフィックフィルタリングや監視を行うサイバーセキュリティソリューションを併用すること</a:t>
            </a:r>
          </a:p>
          <a:p>
            <a:pPr algn="l"/>
            <a:r>
              <a:rPr lang="ja-JP" altLang="en-US" sz="800" dirty="0"/>
              <a:t>が不可欠です。</a:t>
            </a:r>
          </a:p>
        </p:txBody>
      </p:sp>
      <p:pic>
        <p:nvPicPr>
          <p:cNvPr id="2" name="図形 1"/>
          <p:cNvPicPr>
            <a:picLocks noChangeAspect="1"/>
          </p:cNvPicPr>
          <p:nvPr/>
        </p:nvPicPr>
        <p:blipFill>
          <a:blip r:embed="rId2"/>
          <a:stretch>
            <a:fillRect/>
          </a:stretch>
        </p:blipFill>
        <p:spPr>
          <a:xfrm>
            <a:off x="259080" y="75565"/>
            <a:ext cx="6339840" cy="359283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57810" y="111125"/>
            <a:ext cx="6343650" cy="358521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61620" y="64770"/>
            <a:ext cx="6336030" cy="359283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68605" y="84455"/>
            <a:ext cx="6320790" cy="359664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66700" y="111760"/>
            <a:ext cx="6324600" cy="358521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2387781"/>
            <a:ext cx="6852285" cy="9760148"/>
          </a:xfrm>
        </p:spPr>
        <p:txBody>
          <a:bodyPr>
            <a:noAutofit/>
          </a:bodyPr>
          <a:lstStyle/>
          <a:p>
            <a:pPr algn="l"/>
            <a:r>
              <a:rPr lang="ja-JP" altLang="en-US" sz="800" dirty="0"/>
              <a:t>ICS 環境では、制御プロトコルとそのデータペイロードを保護するための専用ネットワーク機器 を使用する必要があります。</a:t>
            </a:r>
          </a:p>
          <a:p>
            <a:pPr algn="l"/>
            <a:r>
              <a:rPr lang="ja-JP" altLang="en-US" sz="800" dirty="0"/>
              <a:t>これにより、攻撃者の侵入を防ぎ、また防御側が 境界を通過するデータの種類を可視化 できるようになります。</a:t>
            </a:r>
          </a:p>
          <a:p>
            <a:pPr algn="l"/>
            <a:endParaRPr lang="ja-JP" altLang="en-US" sz="800" dirty="0"/>
          </a:p>
          <a:p>
            <a:pPr algn="l"/>
            <a:r>
              <a:rPr lang="ja-JP" altLang="en-US" sz="800" dirty="0"/>
              <a:t>ICS を守るための主要ネットワークセキュリティ機器</a:t>
            </a:r>
          </a:p>
          <a:p>
            <a:pPr algn="l"/>
            <a:r>
              <a:rPr lang="ja-JP" altLang="en-US" sz="800" dirty="0"/>
              <a:t>● ネットワークファイアウォール</a:t>
            </a:r>
          </a:p>
          <a:p>
            <a:pPr algn="l"/>
            <a:r>
              <a:rPr lang="ja-JP" altLang="en-US" sz="800" dirty="0"/>
              <a:t>セキュリティ担当者が定義したルールに基づき、</a:t>
            </a:r>
          </a:p>
          <a:p>
            <a:pPr algn="l"/>
            <a:r>
              <a:rPr lang="ja-JP" altLang="en-US" sz="800" dirty="0"/>
              <a:t>ネットワーク間の通信を制限します。</a:t>
            </a:r>
          </a:p>
          <a:p>
            <a:pPr algn="l"/>
            <a:r>
              <a:rPr lang="ja-JP" altLang="en-US" sz="800" dirty="0"/>
              <a:t>例：</a:t>
            </a:r>
          </a:p>
          <a:p>
            <a:pPr algn="l"/>
            <a:r>
              <a:rPr lang="ja-JP" altLang="en-US" sz="800" dirty="0"/>
              <a:t>- ベンダー X のみ制御ネットワークへリモートアクセスを許可</a:t>
            </a:r>
          </a:p>
          <a:p>
            <a:pPr algn="l"/>
            <a:r>
              <a:rPr lang="ja-JP" altLang="en-US" sz="800" dirty="0"/>
              <a:t>- PLC が HMI とだけ通信でき、他の機器とは通信できないようにする</a:t>
            </a:r>
          </a:p>
          <a:p>
            <a:pPr algn="l"/>
            <a:endParaRPr lang="ja-JP" altLang="en-US" sz="800" dirty="0"/>
          </a:p>
          <a:p>
            <a:pPr algn="l"/>
            <a:r>
              <a:rPr lang="ja-JP" altLang="en-US" sz="800" dirty="0"/>
              <a:t>● アプリケーションレイヤーファイアウォール（OSI レイヤ 5–7）</a:t>
            </a:r>
          </a:p>
          <a:p>
            <a:pPr algn="l"/>
            <a:r>
              <a:rPr lang="ja-JP" altLang="en-US" sz="800" dirty="0"/>
              <a:t>アプリケーションプロトコルに基づく制御が可能です。</a:t>
            </a:r>
          </a:p>
          <a:p>
            <a:pPr algn="l"/>
            <a:r>
              <a:rPr lang="ja-JP" altLang="en-US" sz="800" dirty="0"/>
              <a:t>例：</a:t>
            </a:r>
          </a:p>
          <a:p>
            <a:pPr algn="l"/>
            <a:r>
              <a:rPr lang="ja-JP" altLang="en-US" sz="800" dirty="0"/>
              <a:t>- HMI は PLC に対して 読み取り要求のみ許可</a:t>
            </a:r>
          </a:p>
          <a:p>
            <a:pPr algn="l"/>
            <a:r>
              <a:rPr lang="ja-JP" altLang="en-US" sz="800" dirty="0"/>
              <a:t>- 書き込み要求（コマンド信号）は禁止</a:t>
            </a:r>
          </a:p>
          <a:p>
            <a:pPr algn="l"/>
            <a:r>
              <a:rPr lang="ja-JP" altLang="en-US" sz="800" dirty="0"/>
              <a:t>これにより、誤操作や攻撃による不正コマンド送信を防止できます。</a:t>
            </a:r>
          </a:p>
          <a:p>
            <a:pPr algn="l"/>
            <a:endParaRPr lang="ja-JP" altLang="en-US" sz="800" dirty="0"/>
          </a:p>
          <a:p>
            <a:pPr algn="l"/>
            <a:r>
              <a:rPr lang="ja-JP" altLang="en-US" sz="800" dirty="0"/>
              <a:t>● ネットワーク侵入検知システム（NIDS）</a:t>
            </a:r>
          </a:p>
          <a:p>
            <a:pPr algn="l"/>
            <a:r>
              <a:rPr lang="ja-JP" altLang="en-US" sz="800" dirty="0"/>
              <a:t>以下のような既知の攻撃や不審な挙動を監視します：</a:t>
            </a:r>
          </a:p>
          <a:p>
            <a:pPr algn="l"/>
            <a:r>
              <a:rPr lang="ja-JP" altLang="en-US" sz="800" dirty="0"/>
              <a:t>- ARP スプーフィング</a:t>
            </a:r>
          </a:p>
          <a:p>
            <a:pPr algn="l"/>
            <a:r>
              <a:rPr lang="ja-JP" altLang="en-US" sz="800" dirty="0"/>
              <a:t>- バッファオーバーフロー攻撃</a:t>
            </a:r>
          </a:p>
          <a:p>
            <a:pPr algn="l"/>
            <a:r>
              <a:rPr lang="ja-JP" altLang="en-US" sz="800" dirty="0"/>
              <a:t>- 異常な通信パターン</a:t>
            </a:r>
          </a:p>
          <a:p>
            <a:pPr algn="l"/>
            <a:r>
              <a:rPr lang="ja-JP" altLang="en-US" sz="800" dirty="0"/>
              <a:t>ICS では「検知の可視性」が非常に重要です。</a:t>
            </a:r>
          </a:p>
          <a:p>
            <a:pPr algn="l"/>
            <a:endParaRPr lang="ja-JP" altLang="en-US" sz="800" dirty="0"/>
          </a:p>
          <a:p>
            <a:pPr algn="l"/>
            <a:r>
              <a:rPr lang="ja-JP" altLang="en-US" sz="800" dirty="0"/>
              <a:t>● データダイオード（物理的・論理的な一方向通信）</a:t>
            </a:r>
          </a:p>
          <a:p>
            <a:pPr algn="l"/>
            <a:r>
              <a:rPr lang="ja-JP" altLang="en-US" sz="800" dirty="0"/>
              <a:t>制御ネットワークの 双方向アクセスを完全に防ぐ ための装置です。</a:t>
            </a:r>
          </a:p>
          <a:p>
            <a:pPr algn="l"/>
            <a:r>
              <a:rPr lang="ja-JP" altLang="en-US" sz="800" dirty="0"/>
              <a:t>- 一方向にしかデータが流れない</a:t>
            </a:r>
          </a:p>
          <a:p>
            <a:pPr algn="l"/>
            <a:r>
              <a:rPr lang="ja-JP" altLang="en-US" sz="800" dirty="0"/>
              <a:t>- 攻撃者が ICS 内部に戻ってくる経路を遮断</a:t>
            </a:r>
          </a:p>
          <a:p>
            <a:pPr algn="l"/>
            <a:r>
              <a:rPr lang="ja-JP" altLang="en-US" sz="800" dirty="0"/>
              <a:t>最新のデータダイオードは、</a:t>
            </a:r>
          </a:p>
          <a:p>
            <a:pPr algn="l"/>
            <a:r>
              <a:rPr lang="ja-JP" altLang="en-US" sz="800" dirty="0"/>
              <a:t>Modbus、DNP3、IEC 104、MMS、OPC などの 本来双方向のプロトコルにも対応 できるよう設計されています。</a:t>
            </a:r>
          </a:p>
          <a:p>
            <a:pPr algn="l"/>
            <a:endParaRPr lang="ja-JP" altLang="en-US" sz="800" dirty="0"/>
          </a:p>
          <a:p>
            <a:pPr algn="l"/>
            <a:r>
              <a:rPr lang="ja-JP" altLang="en-US" sz="800" dirty="0"/>
              <a:t>ICS では「環境に合わせた設計」が必須</a:t>
            </a:r>
          </a:p>
          <a:p>
            <a:pPr algn="l"/>
            <a:r>
              <a:rPr lang="ja-JP" altLang="en-US" sz="800" dirty="0"/>
              <a:t>ICS は業界・設備・工程ごとに大きく異なるため、</a:t>
            </a:r>
          </a:p>
          <a:p>
            <a:pPr algn="l"/>
            <a:r>
              <a:rPr lang="ja-JP" altLang="en-US" sz="800" dirty="0"/>
              <a:t>最適なセキュリティソリューションは環境に合わせて設計する必要があります。</a:t>
            </a:r>
          </a:p>
          <a:p>
            <a:pPr algn="l"/>
            <a:endParaRPr lang="ja-JP" altLang="en-US" sz="800" dirty="0"/>
          </a:p>
          <a:p>
            <a:pPr algn="l"/>
            <a:r>
              <a:rPr lang="ja-JP" altLang="en-US" sz="800" dirty="0"/>
              <a:t>ISA‑95 / Purdue モデルが推奨する境界（Enforcement Boundaries）</a:t>
            </a:r>
          </a:p>
          <a:p>
            <a:pPr algn="l"/>
            <a:r>
              <a:rPr lang="ja-JP" altLang="en-US" sz="800" dirty="0"/>
              <a:t>ICS ネットワークを分割する際の基本的な境界として、以下が推奨されています：</a:t>
            </a:r>
          </a:p>
          <a:p>
            <a:pPr algn="l"/>
            <a:r>
              <a:rPr lang="ja-JP" altLang="en-US" sz="800" dirty="0"/>
              <a:t>- Safety Integrated System（SIS）ゾーン</a:t>
            </a:r>
          </a:p>
          <a:p>
            <a:pPr algn="l"/>
            <a:r>
              <a:rPr lang="ja-JP" altLang="en-US" sz="800" dirty="0"/>
              <a:t>- Basic Control / PLC ゾーン</a:t>
            </a:r>
          </a:p>
          <a:p>
            <a:pPr algn="l"/>
            <a:r>
              <a:rPr lang="ja-JP" altLang="en-US" sz="800" dirty="0"/>
              <a:t>- Supervisory / HMI ゾーン</a:t>
            </a:r>
          </a:p>
          <a:p>
            <a:pPr algn="l"/>
            <a:r>
              <a:rPr lang="ja-JP" altLang="en-US" sz="800" dirty="0"/>
              <a:t>- Process Information / Data Historian ゾーン</a:t>
            </a:r>
          </a:p>
          <a:p>
            <a:pPr algn="l"/>
            <a:r>
              <a:rPr lang="ja-JP" altLang="en-US" sz="800" dirty="0"/>
              <a:t>- IT ネットワークゾーン</a:t>
            </a:r>
          </a:p>
          <a:p>
            <a:pPr algn="l"/>
            <a:r>
              <a:rPr lang="ja-JP" altLang="en-US" sz="800" dirty="0"/>
              <a:t>これらの境界を適切に設計することで、</a:t>
            </a:r>
          </a:p>
          <a:p>
            <a:pPr algn="l"/>
            <a:r>
              <a:rPr lang="ja-JP" altLang="en-US" sz="800" dirty="0"/>
              <a:t>攻撃の横移動を防ぎ、異常検知の精度を高め、</a:t>
            </a:r>
          </a:p>
          <a:p>
            <a:pPr algn="l"/>
            <a:r>
              <a:rPr lang="ja-JP" altLang="en-US" sz="800" dirty="0"/>
              <a:t>ICS 全体の安全性と信頼性を向上させることができます。</a:t>
            </a:r>
          </a:p>
        </p:txBody>
      </p:sp>
      <p:pic>
        <p:nvPicPr>
          <p:cNvPr id="2" name="図形 1"/>
          <p:cNvPicPr>
            <a:picLocks noChangeAspect="1"/>
          </p:cNvPicPr>
          <p:nvPr/>
        </p:nvPicPr>
        <p:blipFill>
          <a:blip r:embed="rId2"/>
          <a:stretch>
            <a:fillRect/>
          </a:stretch>
        </p:blipFill>
        <p:spPr>
          <a:xfrm>
            <a:off x="1328631" y="0"/>
            <a:ext cx="4195022" cy="238778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3733588"/>
            <a:ext cx="6852285" cy="8347710"/>
          </a:xfrm>
        </p:spPr>
        <p:txBody>
          <a:bodyPr>
            <a:noAutofit/>
          </a:bodyPr>
          <a:lstStyle/>
          <a:p>
            <a:pPr algn="l"/>
            <a:r>
              <a:rPr lang="ja-JP" altLang="en-US" sz="800" dirty="0"/>
              <a:t>ファイアウォールは、組織のセキュリティポリシーを適用するだけでなく、</a:t>
            </a:r>
          </a:p>
          <a:p>
            <a:pPr algn="l"/>
            <a:r>
              <a:rPr lang="ja-JP" altLang="en-US" sz="800" dirty="0"/>
              <a:t>さまざまな役割を果たすことができる非常に興味深いセキュリティ機器 です。</a:t>
            </a:r>
          </a:p>
          <a:p>
            <a:pPr algn="l"/>
            <a:r>
              <a:rPr lang="ja-JP" altLang="en-US" sz="800" dirty="0"/>
              <a:t>ファイアウォールが提供できる主なメリット：</a:t>
            </a:r>
          </a:p>
          <a:p>
            <a:pPr algn="l"/>
            <a:r>
              <a:rPr lang="ja-JP" altLang="en-US" sz="800" dirty="0"/>
              <a:t>- 脆弱性悪用の試行（外向き・内向き両方）からシステムを保護し、リスクを低減する</a:t>
            </a:r>
          </a:p>
          <a:p>
            <a:pPr algn="l"/>
            <a:r>
              <a:rPr lang="ja-JP" altLang="en-US" sz="800" dirty="0"/>
              <a:t>- サイトに関する情報収集を困難にし、プライバシーを向上させる</a:t>
            </a:r>
          </a:p>
          <a:p>
            <a:pPr algn="l"/>
            <a:r>
              <a:rPr lang="ja-JP" altLang="en-US" sz="800" dirty="0"/>
              <a:t>- 不快・悪意あるコンテンツの流入や、機密情報の流出をコンテンツベースでフィルタリングする</a:t>
            </a:r>
          </a:p>
          <a:p>
            <a:pPr algn="l"/>
            <a:r>
              <a:rPr lang="ja-JP" altLang="en-US" sz="800" dirty="0"/>
              <a:t>- 通信を暗号化し、機密性を確保する</a:t>
            </a:r>
          </a:p>
          <a:p>
            <a:pPr algn="l"/>
            <a:r>
              <a:rPr lang="ja-JP" altLang="en-US" sz="800" dirty="0"/>
              <a:t>- 許可された通信・ブロックされた通信の両方を記録し、インシデント対応やフォレンジックに役立てる</a:t>
            </a:r>
          </a:p>
          <a:p>
            <a:pPr algn="l"/>
            <a:r>
              <a:rPr lang="ja-JP" altLang="en-US" sz="800" dirty="0"/>
              <a:t>- “ノイズフィルタ”として機能し、帯域幅を節約する</a:t>
            </a:r>
          </a:p>
          <a:p>
            <a:pPr algn="l"/>
            <a:endParaRPr lang="ja-JP" altLang="en-US" sz="800" dirty="0"/>
          </a:p>
          <a:p>
            <a:pPr algn="l"/>
            <a:r>
              <a:rPr lang="ja-JP" altLang="en-US" sz="800" dirty="0"/>
              <a:t>防御のためにファイアウォールを連携させる</a:t>
            </a:r>
          </a:p>
          <a:p>
            <a:pPr algn="l"/>
            <a:r>
              <a:rPr lang="ja-JP" altLang="en-US" sz="800" dirty="0"/>
              <a:t>異なる種類のファイアウォールをカスケード（直列配置）したり、</a:t>
            </a:r>
          </a:p>
          <a:p>
            <a:pPr algn="l"/>
            <a:r>
              <a:rPr lang="ja-JP" altLang="en-US" sz="800" dirty="0"/>
              <a:t>さまざまなネットワークトポロジに組み込むことができます。</a:t>
            </a:r>
          </a:p>
          <a:p>
            <a:pPr algn="l"/>
            <a:r>
              <a:rPr lang="ja-JP" altLang="en-US" sz="800" dirty="0"/>
              <a:t>特に高セキュリティ環境では：</a:t>
            </a:r>
          </a:p>
          <a:p>
            <a:pPr algn="l"/>
            <a:r>
              <a:rPr lang="ja-JP" altLang="en-US" sz="800" dirty="0"/>
              <a:t>- 異なるブランドや種類のファイアウォールを直列に配置し、同様のルールセットを適用する</a:t>
            </a:r>
          </a:p>
          <a:p>
            <a:pPr algn="l"/>
            <a:r>
              <a:rPr lang="ja-JP" altLang="en-US" sz="800" dirty="0"/>
              <a:t>- これは Defense-in-Depth（多層防御）の一環として非常に有効</a:t>
            </a:r>
          </a:p>
          <a:p>
            <a:pPr algn="l"/>
            <a:r>
              <a:rPr lang="ja-JP" altLang="en-US" sz="800" dirty="0"/>
              <a:t>ただし、ファイアウォールがあっても 多層防御を徹底する必要がある ことは変わりません。</a:t>
            </a:r>
          </a:p>
          <a:p>
            <a:pPr algn="l"/>
            <a:endParaRPr lang="ja-JP" altLang="en-US" sz="800" dirty="0"/>
          </a:p>
          <a:p>
            <a:pPr algn="l"/>
            <a:r>
              <a:rPr lang="ja-JP" altLang="en-US" sz="800" dirty="0"/>
              <a:t>ファイアウォールの基本原則：デフォルト拒否（Deny-by-Default）</a:t>
            </a:r>
          </a:p>
          <a:p>
            <a:pPr algn="l"/>
            <a:r>
              <a:rPr lang="ja-JP" altLang="en-US" sz="800" dirty="0"/>
              <a:t>ファイアウォールは通常、次のデフォルトルールを持っています：</a:t>
            </a:r>
          </a:p>
          <a:p>
            <a:pPr algn="l"/>
            <a:r>
              <a:rPr lang="ja-JP" altLang="en-US" sz="800" dirty="0"/>
              <a:t>他のルールに一致しないパケットはすべて破棄する</a:t>
            </a:r>
          </a:p>
          <a:p>
            <a:pPr algn="l"/>
            <a:endParaRPr lang="ja-JP" altLang="en-US" sz="800" dirty="0"/>
          </a:p>
          <a:p>
            <a:pPr algn="l"/>
            <a:r>
              <a:rPr lang="ja-JP" altLang="en-US" sz="800" dirty="0"/>
              <a:t>これは Enforcement Boundary（境界防御）において必須の動作であり、</a:t>
            </a:r>
          </a:p>
          <a:p>
            <a:pPr algn="l"/>
            <a:r>
              <a:rPr lang="ja-JP" altLang="en-US" sz="800" dirty="0"/>
              <a:t>“明示的に許可されたもの以外はすべて拒否する” という原則です。</a:t>
            </a:r>
          </a:p>
          <a:p>
            <a:pPr algn="l"/>
            <a:r>
              <a:rPr lang="ja-JP" altLang="en-US" sz="800" dirty="0"/>
              <a:t>しかし、管理者がこれを覆してしまい、</a:t>
            </a:r>
          </a:p>
          <a:p>
            <a:pPr algn="l"/>
            <a:r>
              <a:rPr lang="ja-JP" altLang="en-US" sz="800" dirty="0"/>
              <a:t>“明示的に拒否されたもの以外はすべて許可する”</a:t>
            </a:r>
          </a:p>
          <a:p>
            <a:pPr algn="l"/>
            <a:endParaRPr lang="ja-JP" altLang="en-US" sz="800" dirty="0"/>
          </a:p>
          <a:p>
            <a:pPr algn="l"/>
            <a:r>
              <a:rPr lang="ja-JP" altLang="en-US" sz="800" dirty="0"/>
              <a:t>という設定にしてしまうと、</a:t>
            </a:r>
          </a:p>
          <a:p>
            <a:pPr algn="l"/>
            <a:r>
              <a:rPr lang="ja-JP" altLang="en-US" sz="800" dirty="0"/>
              <a:t>境界防御としては 極めて危険 な状態になります。</a:t>
            </a:r>
          </a:p>
          <a:p>
            <a:pPr algn="l"/>
            <a:endParaRPr lang="ja-JP" altLang="en-US" sz="800" dirty="0"/>
          </a:p>
          <a:p>
            <a:pPr algn="l"/>
            <a:r>
              <a:rPr lang="ja-JP" altLang="en-US" sz="800" dirty="0"/>
              <a:t>なぜ組織のセキュリティポリシーと連動させる必要があるのか</a:t>
            </a:r>
          </a:p>
          <a:p>
            <a:pPr algn="l"/>
            <a:r>
              <a:rPr lang="ja-JP" altLang="en-US" sz="800" dirty="0"/>
              <a:t>ファイアウォールルールは、</a:t>
            </a:r>
          </a:p>
          <a:p>
            <a:pPr algn="l"/>
            <a:r>
              <a:rPr lang="ja-JP" altLang="en-US" sz="800" dirty="0"/>
              <a:t>組織のセキュリティポリシーに基づいて詳細に設計されるべき です。</a:t>
            </a:r>
          </a:p>
          <a:p>
            <a:pPr algn="l"/>
            <a:r>
              <a:rPr lang="ja-JP" altLang="en-US" sz="800" dirty="0"/>
              <a:t>もしポリシーに基づかず、</a:t>
            </a:r>
          </a:p>
          <a:p>
            <a:pPr algn="l"/>
            <a:r>
              <a:rPr lang="ja-JP" altLang="en-US" sz="800" dirty="0"/>
              <a:t>管理者がその場の判断でルールを作ってしまうと：</a:t>
            </a:r>
          </a:p>
          <a:p>
            <a:pPr algn="l"/>
            <a:r>
              <a:rPr lang="ja-JP" altLang="en-US" sz="800" dirty="0"/>
              <a:t>- 一貫性がなくなる</a:t>
            </a:r>
          </a:p>
          <a:p>
            <a:pPr algn="l"/>
            <a:r>
              <a:rPr lang="ja-JP" altLang="en-US" sz="800" dirty="0"/>
              <a:t>- 組織内の圧力や要求に耐えられなくなる</a:t>
            </a:r>
          </a:p>
          <a:p>
            <a:pPr algn="l"/>
            <a:r>
              <a:rPr lang="ja-JP" altLang="en-US" sz="800" dirty="0"/>
              <a:t>- 長期的に安全性が維持できなくなる</a:t>
            </a:r>
          </a:p>
          <a:p>
            <a:pPr algn="l"/>
            <a:r>
              <a:rPr lang="ja-JP" altLang="en-US" sz="800" dirty="0"/>
              <a:t>という問題が発生します。</a:t>
            </a:r>
          </a:p>
          <a:p>
            <a:pPr algn="l"/>
            <a:endParaRPr lang="ja-JP" altLang="en-US" sz="800" dirty="0"/>
          </a:p>
          <a:p>
            <a:pPr algn="l"/>
            <a:endParaRPr lang="ja-JP" altLang="en-US" sz="800" dirty="0"/>
          </a:p>
        </p:txBody>
      </p:sp>
      <p:pic>
        <p:nvPicPr>
          <p:cNvPr id="2" name="図形 1"/>
          <p:cNvPicPr>
            <a:picLocks noChangeAspect="1"/>
          </p:cNvPicPr>
          <p:nvPr/>
        </p:nvPicPr>
        <p:blipFill>
          <a:blip r:embed="rId2"/>
          <a:stretch>
            <a:fillRect/>
          </a:stretch>
        </p:blipFill>
        <p:spPr>
          <a:xfrm>
            <a:off x="266700" y="127635"/>
            <a:ext cx="6324600" cy="35890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3671570"/>
            <a:ext cx="6852285" cy="7737475"/>
          </a:xfrm>
        </p:spPr>
        <p:txBody>
          <a:bodyPr>
            <a:noAutofit/>
          </a:bodyPr>
          <a:lstStyle/>
          <a:p>
            <a:pPr algn="l"/>
            <a:r>
              <a:rPr lang="ja-JP" altLang="en-US" sz="1200" dirty="0"/>
              <a:t>従来型のアクセスコントロールリスト（ACL）は、L3 スイッチやルーターなど多くのネットワーク機器で利用できます。</a:t>
            </a:r>
          </a:p>
          <a:p>
            <a:pPr algn="l"/>
            <a:r>
              <a:rPr lang="ja-JP" altLang="en-US" sz="1200" dirty="0"/>
              <a:t>一部にはステートフルなルールや追加設定が必要なものもありますが、多くは ステートレス（状態を保持しない） です。</a:t>
            </a:r>
          </a:p>
          <a:p>
            <a:pPr algn="l"/>
            <a:r>
              <a:rPr lang="ja-JP" altLang="en-US" sz="1200" dirty="0"/>
              <a:t>ACL がステートレスであるということは、</a:t>
            </a:r>
          </a:p>
          <a:p>
            <a:pPr algn="l"/>
            <a:r>
              <a:rPr lang="ja-JP" altLang="en-US" sz="1200" dirty="0"/>
              <a:t>ファイアウォールのように通信のリクエストとレスポンスを関連付けて管理しない という意味です。</a:t>
            </a:r>
          </a:p>
          <a:p>
            <a:pPr algn="l"/>
            <a:r>
              <a:rPr lang="ja-JP" altLang="en-US" sz="1200" dirty="0"/>
              <a:t>そのため、1 </a:t>
            </a:r>
            <a:r>
              <a:rPr lang="ja-JP" altLang="en-US" sz="1200" dirty="0" err="1"/>
              <a:t>つの</a:t>
            </a:r>
            <a:r>
              <a:rPr lang="ja-JP" altLang="en-US" sz="1200" dirty="0"/>
              <a:t>通信（会話）に対して 2 つのルール を作成する必要があります：</a:t>
            </a:r>
          </a:p>
          <a:p>
            <a:pPr algn="l"/>
            <a:r>
              <a:rPr lang="ja-JP" altLang="en-US" sz="1200" dirty="0"/>
              <a:t>- リクエスト側のトラフィックを許可するルール</a:t>
            </a:r>
          </a:p>
          <a:p>
            <a:pPr algn="l"/>
            <a:r>
              <a:rPr lang="ja-JP" altLang="en-US" sz="1200" dirty="0"/>
              <a:t>- レスポンス側のトラフィックを許可するルール</a:t>
            </a:r>
          </a:p>
          <a:p>
            <a:pPr algn="l"/>
            <a:r>
              <a:rPr lang="ja-JP" altLang="en-US" sz="1200" dirty="0"/>
              <a:t>レスポンス側については、</a:t>
            </a:r>
          </a:p>
          <a:p>
            <a:pPr algn="l"/>
            <a:r>
              <a:rPr lang="ja-JP" altLang="en-US" sz="1200" dirty="0"/>
              <a:t>どのエフェメラルポート（動的ポート）が使われるか予測できないため、</a:t>
            </a:r>
          </a:p>
          <a:p>
            <a:pPr algn="l"/>
            <a:r>
              <a:rPr lang="ja-JP" altLang="en-US" sz="1200" dirty="0"/>
              <a:t>TCP/UDP の 1023 番より大きいポートをすべて許可 する必要があります。</a:t>
            </a:r>
          </a:p>
          <a:p>
            <a:pPr algn="l"/>
            <a:r>
              <a:rPr lang="ja-JP" altLang="en-US" sz="1200" dirty="0"/>
              <a:t>通信するデバイスの詳細が分かっていれば、</a:t>
            </a:r>
          </a:p>
          <a:p>
            <a:pPr algn="l"/>
            <a:r>
              <a:rPr lang="ja-JP" altLang="en-US" sz="1200" dirty="0"/>
              <a:t>より狭いエフェメラルポート範囲を指定できる場合もありますが、</a:t>
            </a:r>
          </a:p>
          <a:p>
            <a:pPr algn="l"/>
            <a:r>
              <a:rPr lang="ja-JP" altLang="en-US" sz="1200" dirty="0"/>
              <a:t>一般的には &gt;1023 を使うのが安全です。</a:t>
            </a:r>
          </a:p>
          <a:p>
            <a:pPr algn="l"/>
            <a:r>
              <a:rPr lang="ja-JP" altLang="en-US" sz="1200" dirty="0"/>
              <a:t>多くの NAT やロードバランサは 1023 番以上のポートをエフェメラル用途に使用するためです。</a:t>
            </a:r>
          </a:p>
          <a:p>
            <a:pPr algn="l"/>
            <a:endParaRPr lang="ja-JP" altLang="en-US" sz="1200" dirty="0"/>
          </a:p>
          <a:p>
            <a:pPr algn="l"/>
            <a:r>
              <a:rPr lang="ja-JP" altLang="en-US" sz="1200" dirty="0"/>
              <a:t>従来型ファイアウォール vs アプリケーション層／次世代ファイアウォール</a:t>
            </a:r>
          </a:p>
          <a:p>
            <a:pPr algn="l"/>
            <a:r>
              <a:rPr lang="ja-JP" altLang="en-US" sz="1200" dirty="0"/>
              <a:t>従来型ファイアウォールは高速ですが、騙される可能性があります。</a:t>
            </a:r>
          </a:p>
          <a:p>
            <a:pPr algn="l"/>
            <a:r>
              <a:rPr lang="ja-JP" altLang="en-US" sz="1200" dirty="0"/>
              <a:t>一方、アプリケーション層ファイアウォールや次世代ファイアウォールはその逆で、</a:t>
            </a:r>
          </a:p>
          <a:p>
            <a:pPr algn="l"/>
            <a:r>
              <a:rPr lang="ja-JP" altLang="en-US" sz="1200" dirty="0"/>
              <a:t>管理が面倒なことも多い（特に新しいプロトコルが未対応の場合など）ものの、</a:t>
            </a:r>
          </a:p>
          <a:p>
            <a:pPr algn="l"/>
            <a:r>
              <a:rPr lang="ja-JP" altLang="en-US" sz="1200" dirty="0"/>
              <a:t>セキュリティレベルは最も高い とされています。</a:t>
            </a:r>
          </a:p>
          <a:p>
            <a:pPr algn="l"/>
            <a:r>
              <a:rPr lang="ja-JP" altLang="en-US" sz="1200" dirty="0"/>
              <a:t>両者の主な違いは次のとおりです：</a:t>
            </a:r>
          </a:p>
          <a:p>
            <a:pPr algn="l"/>
            <a:r>
              <a:rPr lang="ja-JP" altLang="en-US" sz="1200" dirty="0"/>
              <a:t>- アプリケーション層ファイアウォール</a:t>
            </a:r>
          </a:p>
          <a:p>
            <a:pPr algn="l"/>
            <a:r>
              <a:rPr lang="ja-JP" altLang="en-US" sz="1200" dirty="0"/>
              <a:t>- OSI レイヤ 5〜7 のプロトコルを理解し、細かい制御が可能</a:t>
            </a:r>
          </a:p>
          <a:p>
            <a:pPr algn="l"/>
            <a:r>
              <a:rPr lang="ja-JP" altLang="en-US" sz="1200" dirty="0"/>
              <a:t>- 次世代ファイアウォール（NGFW）</a:t>
            </a:r>
          </a:p>
          <a:p>
            <a:pPr algn="l"/>
            <a:r>
              <a:rPr lang="ja-JP" altLang="en-US" sz="1200" dirty="0"/>
              <a:t>- アプリケーション層ファイアウォールの機能に加え、</a:t>
            </a:r>
          </a:p>
          <a:p>
            <a:pPr algn="l"/>
            <a:r>
              <a:rPr lang="ja-JP" altLang="en-US" sz="1200" dirty="0"/>
              <a:t>侵入検知システム（IDS）などの追加のセキュリティエンジンを統合 している</a:t>
            </a:r>
          </a:p>
          <a:p>
            <a:pPr algn="l"/>
            <a:r>
              <a:rPr lang="ja-JP" altLang="en-US" sz="1200" dirty="0"/>
              <a:t>そのため NGFW は、より高度な攻撃検知やコンテキストベースの制御が可能です。</a:t>
            </a:r>
          </a:p>
        </p:txBody>
      </p:sp>
      <p:pic>
        <p:nvPicPr>
          <p:cNvPr id="2" name="図形 1"/>
          <p:cNvPicPr>
            <a:picLocks noChangeAspect="1"/>
          </p:cNvPicPr>
          <p:nvPr/>
        </p:nvPicPr>
        <p:blipFill>
          <a:blip r:embed="rId2"/>
          <a:stretch>
            <a:fillRect/>
          </a:stretch>
        </p:blipFill>
        <p:spPr>
          <a:xfrm>
            <a:off x="256540" y="71120"/>
            <a:ext cx="6343650" cy="360045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2205215"/>
            <a:ext cx="6852285" cy="9986785"/>
          </a:xfrm>
        </p:spPr>
        <p:txBody>
          <a:bodyPr>
            <a:noAutofit/>
          </a:bodyPr>
          <a:lstStyle/>
          <a:p>
            <a:pPr algn="l"/>
            <a:r>
              <a:rPr lang="ja-JP" altLang="en-US" sz="800" dirty="0"/>
              <a:t>データダイオードは、軍事や政府ネットワークにおいて 機密保持を守るために日常的に使用される 技術です。</a:t>
            </a:r>
          </a:p>
          <a:p>
            <a:pPr algn="l"/>
            <a:r>
              <a:rPr lang="ja-JP" altLang="en-US" sz="800" dirty="0"/>
              <a:t>データダイオードはハードウェア中心の仕組みであり、付随するソフトウェアは比較的単純なものが多いです。</a:t>
            </a:r>
          </a:p>
          <a:p>
            <a:pPr algn="l"/>
            <a:r>
              <a:rPr lang="ja-JP" altLang="en-US" sz="800" dirty="0"/>
              <a:t>原理的には、データダイオードを逆向きに使って、</a:t>
            </a:r>
          </a:p>
          <a:p>
            <a:pPr algn="l"/>
            <a:r>
              <a:rPr lang="ja-JP" altLang="en-US" sz="800" dirty="0"/>
              <a:t>機密性が重要なネットワークにデータを入れるのではなく、</a:t>
            </a:r>
          </a:p>
          <a:p>
            <a:pPr algn="l"/>
            <a:r>
              <a:rPr lang="ja-JP" altLang="en-US" sz="800" dirty="0"/>
              <a:t>安全性が重要なネットワークからデータを外部へ送る ことも可能です。</a:t>
            </a:r>
          </a:p>
          <a:p>
            <a:pPr algn="l"/>
            <a:r>
              <a:rPr lang="ja-JP" altLang="en-US" sz="800" dirty="0"/>
              <a:t>しかし、ダイオードは 産業用プロトコルのサポートが限定的 であるという課題があります。</a:t>
            </a:r>
          </a:p>
          <a:p>
            <a:pPr algn="l"/>
            <a:endParaRPr lang="ja-JP" altLang="en-US" sz="800" dirty="0"/>
          </a:p>
          <a:p>
            <a:pPr algn="l"/>
            <a:r>
              <a:rPr lang="ja-JP" altLang="en-US" sz="800" dirty="0"/>
              <a:t>制御システムネットワークの変化と接続ニーズ</a:t>
            </a:r>
          </a:p>
          <a:p>
            <a:pPr algn="l"/>
            <a:r>
              <a:rPr lang="ja-JP" altLang="en-US" sz="800" dirty="0"/>
              <a:t>かつて制御システム（ICS）ネットワークは、</a:t>
            </a:r>
          </a:p>
          <a:p>
            <a:pPr algn="l"/>
            <a:r>
              <a:rPr lang="ja-JP" altLang="en-US" sz="800" dirty="0"/>
              <a:t>ほぼ完全に孤立した環境 で、外部との通信はほとんどありませんでした。</a:t>
            </a:r>
          </a:p>
          <a:p>
            <a:pPr algn="l"/>
            <a:r>
              <a:rPr lang="ja-JP" altLang="en-US" sz="800" dirty="0"/>
              <a:t>しかし現在では、以下のニーズが増加し、</a:t>
            </a:r>
          </a:p>
          <a:p>
            <a:pPr algn="l"/>
            <a:r>
              <a:rPr lang="ja-JP" altLang="en-US" sz="800" dirty="0"/>
              <a:t>ICS は高度に相互接続された環境へと変化しています：</a:t>
            </a:r>
          </a:p>
          <a:p>
            <a:pPr algn="l"/>
            <a:r>
              <a:rPr lang="ja-JP" altLang="en-US" sz="800" dirty="0"/>
              <a:t>- セカンダリサイトへのデータ複製</a:t>
            </a:r>
          </a:p>
          <a:p>
            <a:pPr algn="l"/>
            <a:r>
              <a:rPr lang="ja-JP" altLang="en-US" sz="800" dirty="0"/>
              <a:t>- リモートサポート</a:t>
            </a:r>
          </a:p>
          <a:p>
            <a:pPr algn="l"/>
            <a:r>
              <a:rPr lang="ja-JP" altLang="en-US" sz="800" dirty="0"/>
              <a:t>- アセットパフォーマンス管理</a:t>
            </a:r>
          </a:p>
          <a:p>
            <a:pPr algn="l"/>
            <a:r>
              <a:rPr lang="ja-JP" altLang="en-US" sz="800" dirty="0"/>
              <a:t>- ビジネスインテリジェンス分析</a:t>
            </a:r>
          </a:p>
          <a:p>
            <a:pPr algn="l"/>
            <a:r>
              <a:rPr lang="ja-JP" altLang="en-US" sz="800" dirty="0"/>
              <a:t>- 経営層の可視化ニーズ</a:t>
            </a:r>
          </a:p>
          <a:p>
            <a:pPr algn="l"/>
            <a:r>
              <a:rPr lang="ja-JP" altLang="en-US" sz="800" dirty="0"/>
              <a:t>外部環境と接続する必要性が高まる一方で、</a:t>
            </a:r>
          </a:p>
          <a:p>
            <a:pPr algn="l"/>
            <a:r>
              <a:rPr lang="ja-JP" altLang="en-US" sz="800" dirty="0"/>
              <a:t>その接続が制御システムにどれだけのリスクを追加するか を常に慎重に検討する必要があります。</a:t>
            </a:r>
          </a:p>
          <a:p>
            <a:pPr algn="l"/>
            <a:endParaRPr lang="ja-JP" altLang="en-US" sz="800" dirty="0"/>
          </a:p>
          <a:p>
            <a:pPr algn="l"/>
            <a:r>
              <a:rPr lang="ja-JP" altLang="en-US" sz="800" dirty="0"/>
              <a:t>課題：安全に「一方向のデータ送信」を実現すること</a:t>
            </a:r>
          </a:p>
          <a:p>
            <a:pPr algn="l"/>
            <a:r>
              <a:rPr lang="ja-JP" altLang="en-US" sz="800" dirty="0"/>
              <a:t>ICS の課題は明確です：</a:t>
            </a:r>
          </a:p>
          <a:p>
            <a:pPr algn="l"/>
            <a:r>
              <a:rPr lang="ja-JP" altLang="en-US" sz="800" dirty="0"/>
              <a:t>制御ネットワークから、より低セキュリティのネットワークへデータを送信したい。</a:t>
            </a:r>
          </a:p>
          <a:p>
            <a:pPr algn="l"/>
            <a:r>
              <a:rPr lang="ja-JP" altLang="en-US" sz="800" dirty="0"/>
              <a:t>しかし、逆方向の通信は絶対に許したくない。</a:t>
            </a:r>
          </a:p>
          <a:p>
            <a:pPr algn="l"/>
            <a:endParaRPr lang="ja-JP" altLang="en-US" sz="800" dirty="0"/>
          </a:p>
          <a:p>
            <a:pPr algn="l"/>
            <a:r>
              <a:rPr lang="ja-JP" altLang="en-US" sz="800" dirty="0"/>
              <a:t>これを実現するための代表的な技術が データダイオード です。</a:t>
            </a:r>
          </a:p>
          <a:p>
            <a:pPr algn="l"/>
            <a:endParaRPr lang="ja-JP" altLang="en-US" sz="800" dirty="0"/>
          </a:p>
          <a:p>
            <a:pPr algn="l"/>
            <a:r>
              <a:rPr lang="ja-JP" altLang="en-US" sz="800" dirty="0"/>
              <a:t>IDS（侵入検知システム）での典型的なユースケース</a:t>
            </a:r>
          </a:p>
          <a:p>
            <a:pPr algn="l"/>
            <a:r>
              <a:rPr lang="ja-JP" altLang="en-US" sz="800" dirty="0"/>
              <a:t>IDS がより安全なネットワーク層のトラフィックを監視したい場合、</a:t>
            </a:r>
          </a:p>
          <a:p>
            <a:pPr algn="l"/>
            <a:r>
              <a:rPr lang="ja-JP" altLang="en-US" sz="800" dirty="0"/>
              <a:t>単純に IDS を両方のネットワークに接続すると：</a:t>
            </a:r>
          </a:p>
          <a:p>
            <a:pPr algn="l"/>
            <a:r>
              <a:rPr lang="ja-JP" altLang="en-US" sz="800" dirty="0"/>
              <a:t>- IDS が デュアルホーム化 してしまい</a:t>
            </a:r>
          </a:p>
          <a:p>
            <a:pPr algn="l"/>
            <a:r>
              <a:rPr lang="ja-JP" altLang="en-US" sz="800" dirty="0"/>
              <a:t>- 既存のセキュリティ境界を バイパス してしまう</a:t>
            </a:r>
          </a:p>
          <a:p>
            <a:pPr algn="l"/>
            <a:r>
              <a:rPr lang="ja-JP" altLang="en-US" sz="800" dirty="0"/>
              <a:t>という問題が発生します。</a:t>
            </a:r>
          </a:p>
          <a:p>
            <a:pPr algn="l"/>
            <a:r>
              <a:rPr lang="ja-JP" altLang="en-US" sz="800" dirty="0"/>
              <a:t>代わりに、各ネットワークに IDS を個別に設置する方法もありますが、</a:t>
            </a:r>
          </a:p>
          <a:p>
            <a:pPr algn="l"/>
            <a:r>
              <a:rPr lang="ja-JP" altLang="en-US" sz="800" dirty="0"/>
              <a:t>運用負荷が高く非効率です。</a:t>
            </a:r>
          </a:p>
          <a:p>
            <a:pPr algn="l"/>
            <a:r>
              <a:rPr lang="ja-JP" altLang="en-US" sz="800" dirty="0"/>
              <a:t>この問題を解決するのが 物理的な一方向データフロー（データダイオード） です。</a:t>
            </a:r>
          </a:p>
          <a:p>
            <a:pPr algn="l"/>
            <a:endParaRPr lang="ja-JP" altLang="en-US" sz="800" dirty="0"/>
          </a:p>
          <a:p>
            <a:pPr algn="l"/>
            <a:r>
              <a:rPr lang="ja-JP" altLang="en-US" sz="800" dirty="0"/>
              <a:t>SPAN ポートの危険性とデータダイオードの役割</a:t>
            </a:r>
          </a:p>
          <a:p>
            <a:pPr algn="l"/>
            <a:r>
              <a:rPr lang="ja-JP" altLang="en-US" sz="800" dirty="0"/>
              <a:t>IDS ベンダーは一般的に以下の方法でトラフィックを取得します：</a:t>
            </a:r>
          </a:p>
          <a:p>
            <a:pPr algn="l"/>
            <a:r>
              <a:rPr lang="ja-JP" altLang="en-US" sz="800" dirty="0"/>
              <a:t>- 商用ネットワークタップ</a:t>
            </a:r>
          </a:p>
          <a:p>
            <a:pPr algn="l"/>
            <a:r>
              <a:rPr lang="ja-JP" altLang="en-US" sz="800" dirty="0"/>
              <a:t>- スイッチの SPAN ポート</a:t>
            </a:r>
          </a:p>
          <a:p>
            <a:pPr algn="l"/>
            <a:r>
              <a:rPr lang="ja-JP" altLang="en-US" sz="800" dirty="0"/>
              <a:t>しかし、SPAN ポートが誤設定されると：</a:t>
            </a:r>
          </a:p>
          <a:p>
            <a:pPr algn="l"/>
            <a:r>
              <a:rPr lang="ja-JP" altLang="en-US" sz="800" dirty="0"/>
              <a:t>- 攻撃者が SPAN ポートを悪用して</a:t>
            </a:r>
          </a:p>
          <a:p>
            <a:pPr algn="l"/>
            <a:r>
              <a:rPr lang="ja-JP" altLang="en-US" sz="800" dirty="0"/>
              <a:t>- 保護されたネットワークに侵入する可能性 が生じます</a:t>
            </a:r>
          </a:p>
          <a:p>
            <a:pPr algn="l"/>
            <a:r>
              <a:rPr lang="ja-JP" altLang="en-US" sz="800" dirty="0"/>
              <a:t>データダイオードを使用すれば：</a:t>
            </a:r>
          </a:p>
          <a:p>
            <a:pPr algn="l"/>
            <a:r>
              <a:rPr lang="ja-JP" altLang="en-US" sz="800" dirty="0"/>
              <a:t>- SPAN ポートの設定に関係なく</a:t>
            </a:r>
          </a:p>
          <a:p>
            <a:pPr algn="l"/>
            <a:r>
              <a:rPr lang="ja-JP" altLang="en-US" sz="800" dirty="0"/>
              <a:t>- 保護ネットワークへの逆方向通信を完全に遮断 できます</a:t>
            </a:r>
          </a:p>
        </p:txBody>
      </p:sp>
      <p:pic>
        <p:nvPicPr>
          <p:cNvPr id="2" name="図形 1"/>
          <p:cNvPicPr>
            <a:picLocks noChangeAspect="1"/>
          </p:cNvPicPr>
          <p:nvPr/>
        </p:nvPicPr>
        <p:blipFill>
          <a:blip r:embed="rId2"/>
          <a:stretch>
            <a:fillRect/>
          </a:stretch>
        </p:blipFill>
        <p:spPr>
          <a:xfrm>
            <a:off x="1479678" y="0"/>
            <a:ext cx="3892928" cy="220521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2199435"/>
            <a:ext cx="6852285" cy="9992565"/>
          </a:xfrm>
        </p:spPr>
        <p:txBody>
          <a:bodyPr>
            <a:noAutofit/>
          </a:bodyPr>
          <a:lstStyle/>
          <a:p>
            <a:pPr algn="l"/>
            <a:r>
              <a:rPr lang="ja-JP" altLang="en-US" sz="800" dirty="0"/>
              <a:t>現代のデータダイオードは、ファイアウォールの代替としてそのまま置き換えられるものではありません。</a:t>
            </a:r>
          </a:p>
          <a:p>
            <a:pPr algn="l"/>
            <a:r>
              <a:rPr lang="ja-JP" altLang="en-US" sz="800" dirty="0"/>
              <a:t>インフラを正しく設計すれば、一部のシナリオではファイアウォールの代わりに使える場合もありますが、</a:t>
            </a:r>
          </a:p>
          <a:p>
            <a:pPr algn="l"/>
            <a:r>
              <a:rPr lang="ja-JP" altLang="en-US" sz="800" dirty="0"/>
              <a:t>すべての状況で代替できるわけではありません。</a:t>
            </a:r>
          </a:p>
          <a:p>
            <a:pPr algn="l"/>
            <a:r>
              <a:rPr lang="ja-JP" altLang="en-US" sz="800" dirty="0"/>
              <a:t>データダイオードを利用するには、以下が必須です：</a:t>
            </a:r>
          </a:p>
          <a:p>
            <a:pPr algn="l"/>
            <a:r>
              <a:rPr lang="ja-JP" altLang="en-US" sz="800" dirty="0"/>
              <a:t>- 使用したいプロトコルをデータダイオードがサポートしていること</a:t>
            </a:r>
          </a:p>
          <a:p>
            <a:pPr algn="l"/>
            <a:r>
              <a:rPr lang="ja-JP" altLang="en-US" sz="800" dirty="0"/>
              <a:t>- 安全側ネットワークから“どのデータを取り出すか”を事前に完全に決めておくこと</a:t>
            </a:r>
          </a:p>
          <a:p>
            <a:pPr algn="l"/>
            <a:r>
              <a:rPr lang="ja-JP" altLang="en-US" sz="800" dirty="0"/>
              <a:t>（非安全側ネットワークは要求を送れないため、後から追加要求はできない）</a:t>
            </a:r>
          </a:p>
          <a:p>
            <a:pPr algn="l"/>
            <a:endParaRPr lang="ja-JP" altLang="en-US" sz="800" dirty="0"/>
          </a:p>
          <a:p>
            <a:pPr algn="l"/>
            <a:r>
              <a:rPr lang="ja-JP" altLang="en-US" sz="800" dirty="0"/>
              <a:t>現代のデータダイオードの仕組み</a:t>
            </a:r>
          </a:p>
          <a:p>
            <a:pPr algn="l"/>
            <a:r>
              <a:rPr lang="ja-JP" altLang="en-US" sz="800" dirty="0"/>
              <a:t>現代のデータダイオードは、従来型の物理一方向ダイオードの両側に</a:t>
            </a:r>
          </a:p>
          <a:p>
            <a:pPr algn="l"/>
            <a:r>
              <a:rPr lang="ja-JP" altLang="en-US" sz="800" dirty="0"/>
              <a:t>専用ソフトウェアアプリケーション を組み合わせて動作します。</a:t>
            </a:r>
          </a:p>
          <a:p>
            <a:pPr algn="l"/>
            <a:r>
              <a:rPr lang="ja-JP" altLang="en-US" sz="800" dirty="0"/>
              <a:t>流れは次の通りです：</a:t>
            </a:r>
          </a:p>
          <a:p>
            <a:pPr algn="l"/>
            <a:r>
              <a:rPr lang="ja-JP" altLang="en-US" sz="800" dirty="0"/>
              <a:t>- データ収集アプリケーション</a:t>
            </a:r>
          </a:p>
          <a:p>
            <a:pPr algn="l"/>
            <a:r>
              <a:rPr lang="ja-JP" altLang="en-US" sz="800" dirty="0"/>
              <a:t>- 安全側ネットワークで必要なデータを収集</a:t>
            </a:r>
          </a:p>
          <a:p>
            <a:pPr algn="l"/>
            <a:r>
              <a:rPr lang="ja-JP" altLang="en-US" sz="800" dirty="0"/>
              <a:t>- 任意のサポートされたプロトコルを使用可能</a:t>
            </a:r>
          </a:p>
          <a:p>
            <a:pPr algn="l"/>
            <a:r>
              <a:rPr lang="ja-JP" altLang="en-US" sz="800" dirty="0"/>
              <a:t>- 一方向転送（データダイオード本体）</a:t>
            </a:r>
          </a:p>
          <a:p>
            <a:pPr algn="l"/>
            <a:r>
              <a:rPr lang="ja-JP" altLang="en-US" sz="800" dirty="0"/>
              <a:t>- 収集したデータを、独自の一方向プロトコルで外部へ送信</a:t>
            </a:r>
          </a:p>
          <a:p>
            <a:pPr algn="l"/>
            <a:r>
              <a:rPr lang="ja-JP" altLang="en-US" sz="800" dirty="0"/>
              <a:t>- データ提示アプリケーション</a:t>
            </a:r>
          </a:p>
          <a:p>
            <a:pPr algn="l"/>
            <a:r>
              <a:rPr lang="ja-JP" altLang="en-US" sz="800" dirty="0"/>
              <a:t>- 非安全側ネットワークでデータを受信</a:t>
            </a:r>
          </a:p>
          <a:p>
            <a:pPr algn="l"/>
            <a:r>
              <a:rPr lang="ja-JP" altLang="en-US" sz="800" dirty="0"/>
              <a:t>- 収集時と同じプロトコルで外部システムに提供</a:t>
            </a:r>
          </a:p>
          <a:p>
            <a:pPr algn="l"/>
            <a:r>
              <a:rPr lang="ja-JP" altLang="en-US" sz="800" dirty="0"/>
              <a:t>例：ヒストリアンのレプリケーション</a:t>
            </a:r>
          </a:p>
          <a:p>
            <a:pPr algn="l"/>
            <a:r>
              <a:rPr lang="ja-JP" altLang="en-US" sz="800" dirty="0"/>
              <a:t>- ソフトウェアが ICS 内のヒストリアンに問い合わせ</a:t>
            </a:r>
          </a:p>
          <a:p>
            <a:pPr algn="l"/>
            <a:r>
              <a:rPr lang="ja-JP" altLang="en-US" sz="800" dirty="0"/>
              <a:t>- データを一方向で企業ネットワークへ送信</a:t>
            </a:r>
          </a:p>
          <a:p>
            <a:pPr algn="l"/>
            <a:r>
              <a:rPr lang="ja-JP" altLang="en-US" sz="800" dirty="0"/>
              <a:t>- 企業側でレプリカヒストリアンにデータを挿入</a:t>
            </a:r>
          </a:p>
          <a:p>
            <a:pPr algn="l"/>
            <a:r>
              <a:rPr lang="ja-JP" altLang="en-US" sz="800" dirty="0"/>
              <a:t>- 企業ユーザーはレプリカを参照するだけなので、</a:t>
            </a:r>
          </a:p>
          <a:p>
            <a:pPr algn="l"/>
            <a:r>
              <a:rPr lang="ja-JP" altLang="en-US" sz="800" dirty="0"/>
              <a:t>元の ICS ヒストリアンや制御ネットワークは危険に晒されない</a:t>
            </a:r>
          </a:p>
          <a:p>
            <a:pPr algn="l"/>
            <a:endParaRPr lang="ja-JP" altLang="en-US" sz="800" dirty="0"/>
          </a:p>
          <a:p>
            <a:pPr algn="l"/>
            <a:r>
              <a:rPr lang="ja-JP" altLang="en-US" sz="800" dirty="0"/>
              <a:t>最も一般的なデータダイオード用途：ヒストリアン／OPC レプリケーション</a:t>
            </a:r>
          </a:p>
          <a:p>
            <a:pPr algn="l"/>
            <a:r>
              <a:rPr lang="ja-JP" altLang="en-US" sz="800" dirty="0"/>
              <a:t>データダイオードで最も広く使われているのは：</a:t>
            </a:r>
          </a:p>
          <a:p>
            <a:pPr algn="l"/>
            <a:r>
              <a:rPr lang="ja-JP" altLang="en-US" sz="800" dirty="0"/>
              <a:t>- ヒストリアンのレプリケーション</a:t>
            </a:r>
          </a:p>
          <a:p>
            <a:pPr algn="l"/>
            <a:r>
              <a:rPr lang="ja-JP" altLang="en-US" sz="800" dirty="0"/>
              <a:t>- OPC サーバのレプリケーション</a:t>
            </a:r>
          </a:p>
          <a:p>
            <a:pPr algn="l"/>
            <a:r>
              <a:rPr lang="ja-JP" altLang="en-US" sz="800" dirty="0"/>
              <a:t>仕組み：</a:t>
            </a:r>
          </a:p>
          <a:p>
            <a:pPr algn="l"/>
            <a:r>
              <a:rPr lang="ja-JP" altLang="en-US" sz="800" dirty="0"/>
              <a:t>- 内部ネットワーク側のデータ収集アプリが 本物の OPC サーバに問い合わせ</a:t>
            </a:r>
          </a:p>
          <a:p>
            <a:pPr algn="l"/>
            <a:r>
              <a:rPr lang="ja-JP" altLang="en-US" sz="800" dirty="0"/>
              <a:t>- データを企業ネットワークへ一方向送信</a:t>
            </a:r>
          </a:p>
          <a:p>
            <a:pPr algn="l"/>
            <a:r>
              <a:rPr lang="ja-JP" altLang="en-US" sz="800" dirty="0"/>
              <a:t>- 企業側で OPC サーバをエミュレート し、</a:t>
            </a:r>
          </a:p>
          <a:p>
            <a:pPr algn="l"/>
            <a:r>
              <a:rPr lang="ja-JP" altLang="en-US" sz="800" dirty="0"/>
              <a:t>外部アプリケーションに OPC プロトコルでデータ提供</a:t>
            </a:r>
          </a:p>
          <a:p>
            <a:pPr algn="l"/>
            <a:r>
              <a:rPr lang="ja-JP" altLang="en-US" sz="800" dirty="0"/>
              <a:t>これにより、2 台目のヒストリアンサーバを購入する必要がなくなる という利点もあります。</a:t>
            </a:r>
          </a:p>
          <a:p>
            <a:pPr algn="l"/>
            <a:endParaRPr lang="ja-JP" altLang="en-US" sz="800" dirty="0"/>
          </a:p>
          <a:p>
            <a:pPr algn="l"/>
            <a:r>
              <a:rPr lang="ja-JP" altLang="en-US" sz="800" dirty="0"/>
              <a:t>双方向プロトコルを“一方向化”する仕組み</a:t>
            </a:r>
          </a:p>
          <a:p>
            <a:pPr algn="l"/>
            <a:r>
              <a:rPr lang="ja-JP" altLang="en-US" sz="800" dirty="0"/>
              <a:t>- データ収集側では 本物の双方向 OPC プロトコル を使用</a:t>
            </a:r>
          </a:p>
          <a:p>
            <a:pPr algn="l"/>
            <a:r>
              <a:rPr lang="ja-JP" altLang="en-US" sz="800" dirty="0"/>
              <a:t>- 必要なデータだけを抽出し、一方向で送信</a:t>
            </a:r>
          </a:p>
          <a:p>
            <a:pPr algn="l"/>
            <a:r>
              <a:rPr lang="ja-JP" altLang="en-US" sz="800" dirty="0"/>
              <a:t>- 企業側では再び 双方向 OPC プロトコルで公開</a:t>
            </a:r>
          </a:p>
          <a:p>
            <a:pPr algn="l"/>
            <a:r>
              <a:rPr lang="ja-JP" altLang="en-US" sz="800" dirty="0"/>
              <a:t>同じアプローチは以下のプロトコルにも適用できます：</a:t>
            </a:r>
          </a:p>
          <a:p>
            <a:pPr algn="l"/>
            <a:r>
              <a:rPr lang="ja-JP" altLang="en-US" sz="800" dirty="0"/>
              <a:t>- Modbus</a:t>
            </a:r>
          </a:p>
          <a:p>
            <a:pPr algn="l"/>
            <a:r>
              <a:rPr lang="ja-JP" altLang="en-US" sz="800" dirty="0"/>
              <a:t>- DNP3</a:t>
            </a:r>
          </a:p>
          <a:p>
            <a:pPr algn="l"/>
            <a:r>
              <a:rPr lang="ja-JP" altLang="en-US" sz="800" dirty="0"/>
              <a:t>- ICCP</a:t>
            </a:r>
          </a:p>
          <a:p>
            <a:pPr algn="l"/>
            <a:r>
              <a:rPr lang="ja-JP" altLang="en-US" sz="800" dirty="0"/>
              <a:t>- その他多くの双方向 ICS プロトコル</a:t>
            </a:r>
          </a:p>
        </p:txBody>
      </p:sp>
      <p:pic>
        <p:nvPicPr>
          <p:cNvPr id="2" name="図形 1"/>
          <p:cNvPicPr>
            <a:picLocks noChangeAspect="1"/>
          </p:cNvPicPr>
          <p:nvPr/>
        </p:nvPicPr>
        <p:blipFill>
          <a:blip r:embed="rId2"/>
          <a:stretch>
            <a:fillRect/>
          </a:stretch>
        </p:blipFill>
        <p:spPr>
          <a:xfrm>
            <a:off x="1500187" y="0"/>
            <a:ext cx="3851910" cy="219943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62890" y="102235"/>
            <a:ext cx="6332220" cy="35814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Resources:</a:t>
            </a:r>
          </a:p>
          <a:p>
            <a:pPr algn="l"/>
            <a:r>
              <a:rPr lang="ja-JP" altLang="en-US" sz="1400"/>
              <a:t>• https://www.elastic.co/elastic-stack</a:t>
            </a:r>
          </a:p>
          <a:p>
            <a:pPr algn="l"/>
            <a:r>
              <a:rPr lang="ja-JP" altLang="en-US" sz="1400"/>
              <a:t>• https://arkime.com</a:t>
            </a:r>
          </a:p>
          <a:p>
            <a:pPr algn="l"/>
            <a:r>
              <a:rPr lang="ja-JP" altLang="en-US" sz="1400"/>
              <a:t>• https://github.com/idaholab/Malcolm</a:t>
            </a:r>
          </a:p>
          <a:p>
            <a:pPr algn="l"/>
            <a:endParaRPr lang="ja-JP" altLang="en-US" sz="1400"/>
          </a:p>
        </p:txBody>
      </p:sp>
      <p:pic>
        <p:nvPicPr>
          <p:cNvPr id="4" name="図形 3"/>
          <p:cNvPicPr>
            <a:picLocks noChangeAspect="1"/>
          </p:cNvPicPr>
          <p:nvPr/>
        </p:nvPicPr>
        <p:blipFill>
          <a:blip r:embed="rId2"/>
          <a:stretch>
            <a:fillRect/>
          </a:stretch>
        </p:blipFill>
        <p:spPr>
          <a:xfrm>
            <a:off x="270510" y="83820"/>
            <a:ext cx="6316980" cy="359664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705860"/>
            <a:ext cx="6852285" cy="6312535"/>
          </a:xfrm>
        </p:spPr>
        <p:txBody>
          <a:bodyPr>
            <a:normAutofit fontScale="90000" lnSpcReduction="20000"/>
          </a:bodyPr>
          <a:lstStyle/>
          <a:p>
            <a:pPr algn="l"/>
            <a:r>
              <a:rPr lang="ja-JP" altLang="en-US" sz="1400" dirty="0"/>
              <a:t>エンフォースメントバウンダリ（境界防御）デバイスは非常に価値があるため、</a:t>
            </a:r>
          </a:p>
          <a:p>
            <a:pPr algn="l"/>
            <a:r>
              <a:rPr lang="ja-JP" altLang="en-US" sz="1400" dirty="0"/>
              <a:t>「これさえあればすべて解決する」 と考えてしまいがちです。</a:t>
            </a:r>
          </a:p>
          <a:p>
            <a:pPr algn="l"/>
            <a:r>
              <a:rPr lang="ja-JP" altLang="en-US" sz="1400" dirty="0"/>
              <a:t>しかし、そうではありません。</a:t>
            </a:r>
          </a:p>
          <a:p>
            <a:pPr algn="l"/>
            <a:r>
              <a:rPr lang="ja-JP" altLang="en-US" sz="1400" dirty="0"/>
              <a:t>境界防御デバイスは 万能ではなく、攻撃を完全に防げるわけでもありません。</a:t>
            </a:r>
          </a:p>
          <a:p>
            <a:pPr algn="l"/>
            <a:r>
              <a:rPr lang="ja-JP" altLang="en-US" sz="1400" dirty="0"/>
              <a:t>実際には、それ自体が攻撃対象になることもあります。</a:t>
            </a:r>
          </a:p>
          <a:p>
            <a:pPr algn="l"/>
            <a:r>
              <a:rPr lang="ja-JP" altLang="en-US" sz="1400" dirty="0"/>
              <a:t>これらのソリューションは、</a:t>
            </a:r>
          </a:p>
          <a:p>
            <a:pPr algn="l"/>
            <a:r>
              <a:rPr lang="ja-JP" altLang="en-US" sz="1400" dirty="0"/>
              <a:t>重要ネットワークからビジネスネットワークへ情報を安全に共有するための</a:t>
            </a:r>
          </a:p>
          <a:p>
            <a:pPr algn="l"/>
            <a:r>
              <a:rPr lang="ja-JP" altLang="en-US" sz="1400" dirty="0"/>
              <a:t>技術的な手段を提供しますが、</a:t>
            </a:r>
          </a:p>
          <a:p>
            <a:pPr algn="l"/>
            <a:r>
              <a:rPr lang="ja-JP" altLang="en-US" sz="1400" dirty="0"/>
              <a:t>人間による脅威を防ぐことはできません。</a:t>
            </a:r>
          </a:p>
          <a:p>
            <a:pPr algn="l"/>
            <a:r>
              <a:rPr lang="ja-JP" altLang="en-US" sz="1400" dirty="0"/>
              <a:t>重要ネットワークの機器に対しては、</a:t>
            </a:r>
          </a:p>
          <a:p>
            <a:pPr algn="l"/>
            <a:r>
              <a:rPr lang="ja-JP" altLang="en-US" sz="1400" dirty="0"/>
              <a:t>不正アクセスを防ぐための物理的セキュリティ が依然として必要です。</a:t>
            </a:r>
          </a:p>
          <a:p>
            <a:pPr algn="l"/>
            <a:r>
              <a:rPr lang="ja-JP" altLang="en-US" sz="1400" dirty="0"/>
              <a:t>たとえデータダイオードを導入していても、</a:t>
            </a:r>
          </a:p>
          <a:p>
            <a:pPr algn="l"/>
            <a:r>
              <a:rPr lang="ja-JP" altLang="en-US" sz="1400" dirty="0"/>
              <a:t>人が意図的または偶発的に ダイオードを迂回する配線をしてしまえば、</a:t>
            </a:r>
          </a:p>
          <a:p>
            <a:pPr algn="l"/>
            <a:r>
              <a:rPr lang="ja-JP" altLang="en-US" sz="1400" dirty="0"/>
              <a:t>2 </a:t>
            </a:r>
            <a:r>
              <a:rPr lang="ja-JP" altLang="en-US" sz="1400" dirty="0" err="1"/>
              <a:t>つの</a:t>
            </a:r>
            <a:r>
              <a:rPr lang="ja-JP" altLang="en-US" sz="1400" dirty="0"/>
              <a:t>ネットワークが直接つながり、</a:t>
            </a:r>
          </a:p>
          <a:p>
            <a:pPr algn="l"/>
            <a:r>
              <a:rPr lang="ja-JP" altLang="en-US" sz="1400" dirty="0"/>
              <a:t>せっかくの制御が無効化されてしまう 可能性があります。</a:t>
            </a:r>
          </a:p>
          <a:p>
            <a:pPr algn="l"/>
            <a:r>
              <a:rPr lang="ja-JP" altLang="en-US" sz="1400" dirty="0"/>
              <a:t>さらに、近年では モバイルデバイスのリスクが増大 しています。</a:t>
            </a:r>
          </a:p>
          <a:p>
            <a:pPr algn="l"/>
            <a:r>
              <a:rPr lang="ja-JP" altLang="en-US" sz="1400" dirty="0"/>
              <a:t>持ち運びが容易で、重要ネットワークに簡単に接続できてしまうためです。</a:t>
            </a:r>
          </a:p>
          <a:p>
            <a:pPr algn="l"/>
            <a:r>
              <a:rPr lang="ja-JP" altLang="en-US" sz="1400" dirty="0"/>
              <a:t>多くの人は境界防御デバイスに 盲目的な信頼 を寄せてしまいます。</a:t>
            </a:r>
          </a:p>
          <a:p>
            <a:pPr algn="l"/>
            <a:r>
              <a:rPr lang="ja-JP" altLang="en-US" sz="1400" dirty="0"/>
              <a:t>例えば、次のような発言を耳にすることがあります：</a:t>
            </a:r>
          </a:p>
          <a:p>
            <a:pPr algn="l"/>
            <a:endParaRPr lang="ja-JP" altLang="en-US" sz="1400" dirty="0"/>
          </a:p>
          <a:p>
            <a:pPr algn="l"/>
            <a:r>
              <a:rPr lang="ja-JP" altLang="en-US" sz="1400" dirty="0"/>
              <a:t>しかし、境界防御デバイスを導入すると、</a:t>
            </a:r>
          </a:p>
          <a:p>
            <a:pPr algn="l"/>
            <a:r>
              <a:rPr lang="ja-JP" altLang="en-US" sz="1400" dirty="0"/>
              <a:t>他のセキュリティ対策がおろそかになる という副作用が生じることがあります。</a:t>
            </a:r>
          </a:p>
          <a:p>
            <a:pPr algn="l"/>
            <a:r>
              <a:rPr lang="ja-JP" altLang="en-US" sz="1400" dirty="0"/>
              <a:t>境界防御デバイスを理解する最も良い比喩は 「傘」 です。</a:t>
            </a:r>
          </a:p>
          <a:p>
            <a:pPr algn="l"/>
            <a:r>
              <a:rPr lang="ja-JP" altLang="en-US" sz="1400" dirty="0"/>
              <a:t>傘を使えば、特に頭部は雨からよく守られます。</a:t>
            </a:r>
          </a:p>
          <a:p>
            <a:pPr algn="l"/>
            <a:r>
              <a:rPr lang="ja-JP" altLang="en-US" sz="1400" dirty="0"/>
              <a:t>しかし、傘の隙間から雨粒が入り込むこともある のです。</a:t>
            </a:r>
          </a:p>
          <a:p>
            <a:pPr algn="l"/>
            <a:r>
              <a:rPr lang="ja-JP" altLang="en-US" sz="1400" dirty="0"/>
              <a:t>情報戦の世界では、これらの雨粒の侵入を 「リーク（漏れ）」 と呼びます。</a:t>
            </a:r>
          </a:p>
        </p:txBody>
      </p:sp>
      <p:pic>
        <p:nvPicPr>
          <p:cNvPr id="2" name="図形 1"/>
          <p:cNvPicPr>
            <a:picLocks noChangeAspect="1"/>
          </p:cNvPicPr>
          <p:nvPr/>
        </p:nvPicPr>
        <p:blipFill>
          <a:blip r:embed="rId2"/>
          <a:stretch>
            <a:fillRect/>
          </a:stretch>
        </p:blipFill>
        <p:spPr>
          <a:xfrm>
            <a:off x="268605" y="101600"/>
            <a:ext cx="6320790" cy="360426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覚えておいてほしいのは、多くの人が ICS サイトに物理的に入る前には、</a:t>
            </a:r>
          </a:p>
          <a:p>
            <a:pPr algn="l"/>
            <a:r>
              <a:rPr lang="ja-JP" altLang="en-US" sz="1400"/>
              <a:t>チェックインや除染（デコンタミネーション）プロセスを必ず通過する ということです。</a:t>
            </a:r>
          </a:p>
          <a:p>
            <a:pPr algn="l"/>
            <a:r>
              <a:rPr lang="ja-JP" altLang="en-US" sz="1400"/>
              <a:t>私たちが望んでいるのは、</a:t>
            </a:r>
          </a:p>
          <a:p>
            <a:pPr algn="l"/>
            <a:r>
              <a:rPr lang="ja-JP" altLang="en-US" sz="1400"/>
              <a:t>サイトに入ってくるすべてのデータに対しても、同じプロセスを適用すること なのです。</a:t>
            </a:r>
          </a:p>
        </p:txBody>
      </p:sp>
      <p:pic>
        <p:nvPicPr>
          <p:cNvPr id="2" name="図形 1"/>
          <p:cNvPicPr>
            <a:picLocks noChangeAspect="1"/>
          </p:cNvPicPr>
          <p:nvPr/>
        </p:nvPicPr>
        <p:blipFill>
          <a:blip r:embed="rId2"/>
          <a:stretch>
            <a:fillRect/>
          </a:stretch>
        </p:blipFill>
        <p:spPr>
          <a:xfrm>
            <a:off x="252095" y="106680"/>
            <a:ext cx="6355080" cy="361569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857" y="2620101"/>
            <a:ext cx="6852285" cy="9571899"/>
          </a:xfrm>
        </p:spPr>
        <p:txBody>
          <a:bodyPr>
            <a:noAutofit/>
          </a:bodyPr>
          <a:lstStyle/>
          <a:p>
            <a:pPr algn="l"/>
            <a:r>
              <a:rPr lang="ja-JP" altLang="en-US" sz="800" dirty="0"/>
              <a:t>セキュリティの究極の目的は、組織の重要資産に対するリスクを減らす、あるいは排除することです。</a:t>
            </a:r>
          </a:p>
          <a:p>
            <a:pPr algn="l"/>
            <a:r>
              <a:rPr lang="ja-JP" altLang="en-US" sz="800" dirty="0"/>
              <a:t>理想的には攻撃を未然に防ぐことが望ましいのですが、情報セキュリティの重要なモットーの一つに</a:t>
            </a:r>
          </a:p>
          <a:p>
            <a:pPr algn="l"/>
            <a:r>
              <a:rPr lang="ja-JP" altLang="en-US" sz="800" dirty="0"/>
              <a:t>「予防が理想、しかし検知は必須」</a:t>
            </a:r>
          </a:p>
          <a:p>
            <a:pPr algn="l"/>
            <a:endParaRPr lang="ja-JP" altLang="en-US" sz="800" dirty="0"/>
          </a:p>
          <a:p>
            <a:pPr algn="l"/>
            <a:r>
              <a:rPr lang="ja-JP" altLang="en-US" sz="800" dirty="0"/>
              <a:t>というものがあります。</a:t>
            </a:r>
          </a:p>
          <a:p>
            <a:pPr algn="l"/>
            <a:r>
              <a:rPr lang="ja-JP" altLang="en-US" sz="800" dirty="0"/>
              <a:t>つまり、組織の重要なリソースは必ず攻撃されると認識し、</a:t>
            </a:r>
          </a:p>
          <a:p>
            <a:pPr algn="l"/>
            <a:r>
              <a:rPr lang="ja-JP" altLang="en-US" sz="800" dirty="0"/>
              <a:t>攻撃のサイクルのできるだけ早い段階で検知し、</a:t>
            </a:r>
          </a:p>
          <a:p>
            <a:pPr algn="l"/>
            <a:r>
              <a:rPr lang="ja-JP" altLang="en-US" sz="800" dirty="0"/>
              <a:t>その状況を有利に活用できるよう準備しておく必要がある ということです。</a:t>
            </a:r>
          </a:p>
          <a:p>
            <a:pPr algn="l"/>
            <a:r>
              <a:rPr lang="ja-JP" altLang="en-US" sz="800" dirty="0"/>
              <a:t>その方法の一つが、ハニーポットなどの Honey-x 技術 です。</a:t>
            </a:r>
          </a:p>
          <a:p>
            <a:pPr algn="l"/>
            <a:endParaRPr lang="ja-JP" altLang="en-US" sz="800" dirty="0"/>
          </a:p>
          <a:p>
            <a:pPr algn="l"/>
            <a:r>
              <a:rPr lang="ja-JP" altLang="en-US" sz="800" dirty="0"/>
              <a:t>ハニーポットの定義が難しい理由</a:t>
            </a:r>
          </a:p>
          <a:p>
            <a:pPr algn="l"/>
            <a:r>
              <a:rPr lang="ja-JP" altLang="en-US" sz="800" dirty="0"/>
              <a:t>ハニーポットは用途が非常に多様で、</a:t>
            </a:r>
          </a:p>
          <a:p>
            <a:pPr algn="l"/>
            <a:r>
              <a:rPr lang="ja-JP" altLang="en-US" sz="800" dirty="0"/>
              <a:t>「ハニーポットとは何か」を厳密に定義するのが難しいほどです。</a:t>
            </a:r>
          </a:p>
          <a:p>
            <a:pPr algn="l"/>
            <a:r>
              <a:rPr lang="ja-JP" altLang="en-US" sz="800" dirty="0"/>
              <a:t>一般的には、ハニーポットとは：</a:t>
            </a:r>
          </a:p>
          <a:p>
            <a:pPr algn="l"/>
            <a:r>
              <a:rPr lang="ja-JP" altLang="en-US" sz="800" dirty="0"/>
              <a:t>不正または不適切に利用されること自体に価値がある情報システムリソース</a:t>
            </a:r>
          </a:p>
          <a:p>
            <a:pPr algn="l"/>
            <a:endParaRPr lang="ja-JP" altLang="en-US" sz="800" dirty="0"/>
          </a:p>
          <a:p>
            <a:pPr algn="l"/>
            <a:r>
              <a:rPr lang="ja-JP" altLang="en-US" sz="800" dirty="0"/>
              <a:t>を指します。</a:t>
            </a:r>
          </a:p>
          <a:p>
            <a:pPr algn="l"/>
            <a:r>
              <a:rPr lang="ja-JP" altLang="en-US" sz="800" dirty="0"/>
              <a:t>そのリソースは、例えば次のようなものです：</a:t>
            </a:r>
          </a:p>
          <a:p>
            <a:pPr algn="l"/>
            <a:r>
              <a:rPr lang="ja-JP" altLang="en-US" sz="800" dirty="0"/>
              <a:t>- 専用サーバ</a:t>
            </a:r>
          </a:p>
          <a:p>
            <a:pPr algn="l"/>
            <a:r>
              <a:rPr lang="ja-JP" altLang="en-US" sz="800" dirty="0"/>
              <a:t>- シミュレートされたシステムやステートマシン</a:t>
            </a:r>
          </a:p>
          <a:p>
            <a:pPr algn="l"/>
            <a:r>
              <a:rPr lang="ja-JP" altLang="en-US" sz="800" dirty="0"/>
              <a:t>- 特定ホスト上のサービス</a:t>
            </a:r>
          </a:p>
          <a:p>
            <a:pPr algn="l"/>
            <a:r>
              <a:rPr lang="ja-JP" altLang="en-US" sz="800" dirty="0"/>
              <a:t>- 仮想サーバ</a:t>
            </a:r>
          </a:p>
          <a:p>
            <a:pPr algn="l"/>
            <a:r>
              <a:rPr lang="ja-JP" altLang="en-US" sz="800" dirty="0"/>
              <a:t>- 特殊な属性を持つ単一ファイル（ハニートークンと呼ばれることもある）</a:t>
            </a:r>
          </a:p>
          <a:p>
            <a:pPr algn="l"/>
            <a:endParaRPr lang="ja-JP" altLang="en-US" sz="800" dirty="0"/>
          </a:p>
          <a:p>
            <a:pPr algn="l"/>
            <a:r>
              <a:rPr lang="ja-JP" altLang="en-US" sz="800" dirty="0"/>
              <a:t>低インタラクション型ハニーポットの役割</a:t>
            </a:r>
          </a:p>
          <a:p>
            <a:pPr algn="l"/>
            <a:r>
              <a:rPr lang="ja-JP" altLang="en-US" sz="800" dirty="0"/>
              <a:t>制御プロトコルのポートで待ち受け、</a:t>
            </a:r>
          </a:p>
          <a:p>
            <a:pPr algn="l"/>
            <a:r>
              <a:rPr lang="ja-JP" altLang="en-US" sz="800" dirty="0"/>
              <a:t>接続をログに記録して拒否するだけの 低インタラクション型ハニーポット でも、以下が可能です：</a:t>
            </a:r>
          </a:p>
          <a:p>
            <a:pPr algn="l"/>
            <a:r>
              <a:rPr lang="ja-JP" altLang="en-US" sz="800" dirty="0"/>
              <a:t>- 不正なスキャンやプロービングの検知</a:t>
            </a:r>
          </a:p>
          <a:p>
            <a:pPr algn="l"/>
            <a:r>
              <a:rPr lang="ja-JP" altLang="en-US" sz="800" dirty="0"/>
              <a:t>- セキュアネットワークへの侵入試行の検知</a:t>
            </a:r>
          </a:p>
          <a:p>
            <a:pPr algn="l"/>
            <a:r>
              <a:rPr lang="ja-JP" altLang="en-US" sz="800" dirty="0"/>
              <a:t>- 検知した活動のアラート通知</a:t>
            </a:r>
          </a:p>
          <a:p>
            <a:pPr algn="l"/>
            <a:r>
              <a:rPr lang="ja-JP" altLang="en-US" sz="800" dirty="0"/>
              <a:t>ICS/OT では特に、スキャン検知は早期警戒の重要なシグナル になります。</a:t>
            </a:r>
          </a:p>
          <a:p>
            <a:pPr algn="l"/>
            <a:endParaRPr lang="ja-JP" altLang="en-US" sz="800" dirty="0"/>
          </a:p>
          <a:p>
            <a:pPr algn="l"/>
            <a:r>
              <a:rPr lang="ja-JP" altLang="en-US" sz="800" dirty="0"/>
              <a:t>高インタラクション型ハニーポットの価値</a:t>
            </a:r>
          </a:p>
          <a:p>
            <a:pPr algn="l"/>
            <a:r>
              <a:rPr lang="ja-JP" altLang="en-US" sz="800" dirty="0"/>
              <a:t>組織や研究者にとって、ハニーポットを導入する主な目的の一つは：</a:t>
            </a:r>
          </a:p>
          <a:p>
            <a:pPr algn="l"/>
            <a:r>
              <a:rPr lang="ja-JP" altLang="en-US" sz="800" dirty="0"/>
              <a:t>攻撃者の戦術・技術・動機を学ぶこと</a:t>
            </a:r>
          </a:p>
          <a:p>
            <a:pPr algn="l"/>
            <a:endParaRPr lang="ja-JP" altLang="en-US" sz="800" dirty="0"/>
          </a:p>
          <a:p>
            <a:pPr algn="l"/>
            <a:r>
              <a:rPr lang="ja-JP" altLang="en-US" sz="800" dirty="0"/>
              <a:t>高インタラクション型ハニーポットを使い、</a:t>
            </a:r>
          </a:p>
          <a:p>
            <a:pPr algn="l"/>
            <a:r>
              <a:rPr lang="ja-JP" altLang="en-US" sz="800" dirty="0"/>
              <a:t>攻撃者がどのようにシステムを侵害し、侵害後に何を行うかを観察することで：</a:t>
            </a:r>
          </a:p>
          <a:p>
            <a:pPr algn="l"/>
            <a:r>
              <a:rPr lang="ja-JP" altLang="en-US" sz="800" dirty="0"/>
              <a:t>- 使用するツール</a:t>
            </a:r>
          </a:p>
          <a:p>
            <a:pPr algn="l"/>
            <a:r>
              <a:rPr lang="ja-JP" altLang="en-US" sz="800" dirty="0"/>
              <a:t>- スキルレベル</a:t>
            </a:r>
          </a:p>
          <a:p>
            <a:pPr algn="l"/>
            <a:r>
              <a:rPr lang="ja-JP" altLang="en-US" sz="800" dirty="0"/>
              <a:t>- 攻撃の目的</a:t>
            </a:r>
          </a:p>
          <a:p>
            <a:pPr algn="l"/>
            <a:r>
              <a:rPr lang="ja-JP" altLang="en-US" sz="800" dirty="0"/>
              <a:t>などを把握できます。</a:t>
            </a:r>
          </a:p>
          <a:p>
            <a:pPr algn="l"/>
            <a:r>
              <a:rPr lang="ja-JP" altLang="en-US" sz="800" dirty="0"/>
              <a:t>また、大規模ネットワークでは、</a:t>
            </a:r>
          </a:p>
          <a:p>
            <a:pPr algn="l"/>
            <a:r>
              <a:rPr lang="ja-JP" altLang="en-US" sz="800" dirty="0"/>
              <a:t>ハニーポットが攻撃トラフィックを吸収することで</a:t>
            </a:r>
          </a:p>
          <a:p>
            <a:pPr algn="l"/>
            <a:r>
              <a:rPr lang="ja-JP" altLang="en-US" sz="800" dirty="0"/>
              <a:t>正規トラフィックと攻撃トラフィックを分離しやすくなる という利点もあります。</a:t>
            </a:r>
          </a:p>
        </p:txBody>
      </p:sp>
      <p:pic>
        <p:nvPicPr>
          <p:cNvPr id="2" name="図形 1"/>
          <p:cNvPicPr>
            <a:picLocks noChangeAspect="1"/>
          </p:cNvPicPr>
          <p:nvPr/>
        </p:nvPicPr>
        <p:blipFill>
          <a:blip r:embed="rId2"/>
          <a:stretch>
            <a:fillRect/>
          </a:stretch>
        </p:blipFill>
        <p:spPr>
          <a:xfrm>
            <a:off x="1136756" y="0"/>
            <a:ext cx="4584488" cy="2620101"/>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63525" y="75565"/>
            <a:ext cx="6332220" cy="359283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69240" y="97155"/>
            <a:ext cx="6320790" cy="359283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61620" y="93980"/>
            <a:ext cx="6336030" cy="357759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070479"/>
            <a:ext cx="6852285" cy="9121521"/>
          </a:xfrm>
        </p:spPr>
        <p:txBody>
          <a:bodyPr>
            <a:noAutofit/>
          </a:bodyPr>
          <a:lstStyle/>
          <a:p>
            <a:pPr algn="l"/>
            <a:r>
              <a:rPr lang="ja-JP" altLang="en-US" sz="1000" dirty="0"/>
              <a:t>コントローラ（PLC、RTU、IED など）は、非常に多くの攻撃面（アタックサーフェス） を持っています。</a:t>
            </a:r>
          </a:p>
          <a:p>
            <a:pPr algn="l"/>
            <a:r>
              <a:rPr lang="ja-JP" altLang="en-US" sz="1000" dirty="0"/>
              <a:t>コントローラを包括的に保護するためには、その構成要素と主要機能をすべて考慮する必要があります。</a:t>
            </a:r>
          </a:p>
          <a:p>
            <a:pPr algn="l"/>
            <a:r>
              <a:rPr lang="ja-JP" altLang="en-US" sz="1000" dirty="0"/>
              <a:t>コントローラは以下で構成されます：</a:t>
            </a:r>
          </a:p>
          <a:p>
            <a:pPr algn="l"/>
            <a:r>
              <a:rPr lang="ja-JP" altLang="en-US" sz="1000" dirty="0"/>
              <a:t>- CPU（中央処理装置）</a:t>
            </a:r>
          </a:p>
          <a:p>
            <a:pPr algn="l"/>
            <a:r>
              <a:rPr lang="ja-JP" altLang="en-US" sz="1000" dirty="0"/>
              <a:t>- メモリ（テーブルやロジック）</a:t>
            </a:r>
          </a:p>
          <a:p>
            <a:pPr algn="l"/>
            <a:r>
              <a:rPr lang="ja-JP" altLang="en-US" sz="1000" dirty="0"/>
              <a:t>- 入力インターフェース</a:t>
            </a:r>
          </a:p>
          <a:p>
            <a:pPr algn="l"/>
            <a:r>
              <a:rPr lang="ja-JP" altLang="en-US" sz="1000" dirty="0"/>
              <a:t>- 出力インターフェース</a:t>
            </a:r>
          </a:p>
          <a:p>
            <a:pPr algn="l"/>
            <a:r>
              <a:rPr lang="ja-JP" altLang="en-US" sz="1000" dirty="0"/>
              <a:t>メモリには一般的に 2 種類あります：</a:t>
            </a:r>
          </a:p>
          <a:p>
            <a:pPr algn="l"/>
            <a:r>
              <a:rPr lang="ja-JP" altLang="en-US" sz="1000" dirty="0"/>
              <a:t>- ROM：CPU が RAM 内のロジックやプログラムを解釈・実行するためのプログラム情報を保持</a:t>
            </a:r>
          </a:p>
          <a:p>
            <a:pPr algn="l"/>
            <a:r>
              <a:rPr lang="ja-JP" altLang="en-US" sz="1000" dirty="0"/>
              <a:t>- RAM：PLC がスキャンとロジック実行の際に読み書きする値（レジスタやテーブル）を保持</a:t>
            </a:r>
          </a:p>
          <a:p>
            <a:pPr algn="l"/>
            <a:r>
              <a:rPr lang="ja-JP" altLang="en-US" sz="1000" dirty="0"/>
              <a:t>アプリケーションプログラムもこれらの値を参照します。</a:t>
            </a:r>
          </a:p>
          <a:p>
            <a:pPr algn="l"/>
            <a:r>
              <a:rPr lang="ja-JP" altLang="en-US" sz="1000" dirty="0"/>
              <a:t>近年の PLC には EEPROM（電気的に消去可能な ROM） を搭載したものもあり、</a:t>
            </a:r>
          </a:p>
          <a:p>
            <a:pPr algn="l"/>
            <a:r>
              <a:rPr lang="ja-JP" altLang="en-US" sz="1000" dirty="0"/>
              <a:t>RAM の内容を保持するためにバッテリーを必要としません。</a:t>
            </a:r>
          </a:p>
          <a:p>
            <a:pPr algn="l"/>
            <a:r>
              <a:rPr lang="ja-JP" altLang="en-US" sz="1000" dirty="0"/>
              <a:t>また、コントローラには入力ユニット、出力ユニット、接続ポート、時計、電源、そして通常はバッテリーが含まれます。</a:t>
            </a:r>
          </a:p>
          <a:p>
            <a:pPr algn="l"/>
            <a:endParaRPr lang="ja-JP" altLang="en-US" sz="1000" dirty="0"/>
          </a:p>
          <a:p>
            <a:pPr algn="l"/>
            <a:r>
              <a:rPr lang="ja-JP" altLang="en-US" sz="1000" dirty="0"/>
              <a:t>攻撃面（Attack Surfaces）</a:t>
            </a:r>
          </a:p>
          <a:p>
            <a:pPr algn="l"/>
            <a:r>
              <a:rPr lang="ja-JP" altLang="en-US" sz="1000" dirty="0"/>
              <a:t>● 物理コンポーネント</a:t>
            </a:r>
          </a:p>
          <a:p>
            <a:pPr algn="l"/>
            <a:r>
              <a:rPr lang="ja-JP" altLang="en-US" sz="1000" dirty="0"/>
              <a:t>チップ、カード、ポート、スマートカードなどの物理要素が含まれます。</a:t>
            </a:r>
          </a:p>
          <a:p>
            <a:pPr algn="l"/>
            <a:r>
              <a:rPr lang="ja-JP" altLang="en-US" sz="1000" dirty="0"/>
              <a:t>（例：Ethernet ポート、RS-232 シリアルポート）</a:t>
            </a:r>
          </a:p>
          <a:p>
            <a:pPr algn="l"/>
            <a:r>
              <a:rPr lang="ja-JP" altLang="en-US" sz="1000" dirty="0"/>
              <a:t>デバイスやポートへの直接アクセスは、攻撃者に多くの選択肢を与えます。</a:t>
            </a:r>
          </a:p>
          <a:p>
            <a:pPr algn="l"/>
            <a:r>
              <a:rPr lang="ja-JP" altLang="en-US" sz="1000" dirty="0"/>
              <a:t>攻撃者は以下のような方法で悪意あるコードを注入できます：</a:t>
            </a:r>
          </a:p>
          <a:p>
            <a:pPr algn="l"/>
            <a:r>
              <a:rPr lang="ja-JP" altLang="en-US" sz="1000" dirty="0"/>
              <a:t>- エンジニアリング用シリアルポートへの物理アクセス</a:t>
            </a:r>
          </a:p>
          <a:p>
            <a:pPr algn="l"/>
            <a:r>
              <a:rPr lang="ja-JP" altLang="en-US" sz="1000" dirty="0"/>
              <a:t>- USB、SD カード、CompactFlash などのメモリ更新デバイスを利用</a:t>
            </a:r>
          </a:p>
          <a:p>
            <a:pPr algn="l"/>
            <a:r>
              <a:rPr lang="ja-JP" altLang="en-US" sz="1000" dirty="0"/>
              <a:t>開発・テスト・監視・保守目的で使用される バックドアや保護されていないインターフェース が</a:t>
            </a:r>
          </a:p>
          <a:p>
            <a:pPr algn="l"/>
            <a:r>
              <a:rPr lang="ja-JP" altLang="en-US" sz="1000" dirty="0"/>
              <a:t>そのまま製品に残っているケースもあります。</a:t>
            </a:r>
          </a:p>
          <a:p>
            <a:pPr algn="l"/>
            <a:r>
              <a:rPr lang="ja-JP" altLang="en-US" sz="1000" dirty="0"/>
              <a:t>多くのデバイスは、エンジニアリングポートやコンソールポートに対する</a:t>
            </a:r>
          </a:p>
          <a:p>
            <a:pPr algn="l"/>
            <a:r>
              <a:rPr lang="ja-JP" altLang="en-US" sz="1000" dirty="0"/>
              <a:t>アクセス制御や認証機構が欠如 しています。</a:t>
            </a:r>
          </a:p>
          <a:p>
            <a:pPr algn="l"/>
            <a:r>
              <a:rPr lang="ja-JP" altLang="en-US" sz="1000" dirty="0"/>
              <a:t>攻撃者がカバーを外し、基板やチップに直接アクセスできてしまう例もあります。</a:t>
            </a:r>
          </a:p>
          <a:p>
            <a:pPr algn="l"/>
            <a:r>
              <a:rPr lang="ja-JP" altLang="en-US" sz="1000" dirty="0"/>
              <a:t>現場や工場フロアに設置されたデバイスでは、物理セキュリティが不十分だったり、容易に回避されることがあります。</a:t>
            </a:r>
          </a:p>
          <a:p>
            <a:pPr algn="l"/>
            <a:endParaRPr lang="ja-JP" altLang="en-US" sz="1000" dirty="0"/>
          </a:p>
          <a:p>
            <a:pPr algn="l"/>
            <a:r>
              <a:rPr lang="ja-JP" altLang="en-US" sz="1000" dirty="0"/>
              <a:t>● ファームウェア／RTOS（リアルタイム OS）</a:t>
            </a:r>
          </a:p>
          <a:p>
            <a:pPr algn="l"/>
            <a:r>
              <a:rPr lang="ja-JP" altLang="en-US" sz="1000" dirty="0"/>
              <a:t>RTOS の脆弱性により、攻撃者がデータへアクセス・読み取り・書き込みできる可能性があります。</a:t>
            </a:r>
          </a:p>
          <a:p>
            <a:pPr algn="l"/>
            <a:r>
              <a:rPr lang="ja-JP" altLang="en-US" sz="1000" dirty="0"/>
              <a:t>典型的な脆弱性：</a:t>
            </a:r>
          </a:p>
          <a:p>
            <a:pPr algn="l"/>
            <a:r>
              <a:rPr lang="ja-JP" altLang="en-US" sz="1000" dirty="0"/>
              <a:t>- ハードコードされたアカウント</a:t>
            </a:r>
          </a:p>
          <a:p>
            <a:pPr algn="l"/>
            <a:r>
              <a:rPr lang="ja-JP" altLang="en-US" sz="1000" dirty="0"/>
              <a:t>- 弱い認証</a:t>
            </a:r>
          </a:p>
          <a:p>
            <a:pPr algn="l"/>
            <a:r>
              <a:rPr lang="ja-JP" altLang="en-US" sz="1000" dirty="0"/>
              <a:t>- 平文の FTP や Telnet サービス</a:t>
            </a:r>
          </a:p>
          <a:p>
            <a:pPr algn="l"/>
            <a:r>
              <a:rPr lang="ja-JP" altLang="en-US" sz="1000" dirty="0"/>
              <a:t>- デバッグコード（リバースエンジニアリングを容易にする）</a:t>
            </a:r>
          </a:p>
          <a:p>
            <a:pPr algn="l"/>
            <a:r>
              <a:rPr lang="ja-JP" altLang="en-US" sz="1000" dirty="0"/>
              <a:t>- 認証なしの読み取り／書き込み</a:t>
            </a:r>
          </a:p>
        </p:txBody>
      </p:sp>
      <p:pic>
        <p:nvPicPr>
          <p:cNvPr id="2" name="図形 1"/>
          <p:cNvPicPr>
            <a:picLocks noChangeAspect="1"/>
          </p:cNvPicPr>
          <p:nvPr/>
        </p:nvPicPr>
        <p:blipFill>
          <a:blip r:embed="rId2"/>
          <a:stretch>
            <a:fillRect/>
          </a:stretch>
        </p:blipFill>
        <p:spPr>
          <a:xfrm>
            <a:off x="739068" y="0"/>
            <a:ext cx="5374148" cy="3070479"/>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0"/>
            <a:ext cx="6852285" cy="12192000"/>
          </a:xfrm>
        </p:spPr>
        <p:txBody>
          <a:bodyPr>
            <a:noAutofit/>
          </a:bodyPr>
          <a:lstStyle/>
          <a:p>
            <a:pPr algn="l"/>
            <a:r>
              <a:rPr lang="ja-JP" altLang="en-US" sz="1100" dirty="0"/>
              <a:t>メモリには、プログラムロジック（ファンクションブロック、ラダーなど）、</a:t>
            </a:r>
          </a:p>
          <a:p>
            <a:pPr algn="l"/>
            <a:r>
              <a:rPr lang="ja-JP" altLang="en-US" sz="1100" dirty="0"/>
              <a:t>入力テーブル／レジスタ、出力テーブル／レジスタ が格納されています。</a:t>
            </a:r>
          </a:p>
          <a:p>
            <a:pPr algn="l"/>
            <a:r>
              <a:rPr lang="ja-JP" altLang="en-US" sz="1100" dirty="0"/>
              <a:t>多くの RTOS（リアルタイム OS）には、ソフトウェアや情報の完全性を保証する仕組みが不足 しています。</a:t>
            </a:r>
          </a:p>
          <a:p>
            <a:pPr algn="l"/>
            <a:r>
              <a:rPr lang="ja-JP" altLang="en-US" sz="1100" dirty="0"/>
              <a:t>一部の実装では、バックプレーン上の Ethernet モジュールが TCP スタックを実装しており、</a:t>
            </a:r>
          </a:p>
          <a:p>
            <a:pPr algn="l"/>
            <a:r>
              <a:rPr lang="ja-JP" altLang="en-US" sz="1100" dirty="0"/>
              <a:t>Linux ベースや独自スタックに依存している場合があります。</a:t>
            </a:r>
          </a:p>
          <a:p>
            <a:pPr algn="l"/>
            <a:r>
              <a:rPr lang="ja-JP" altLang="en-US" sz="1100" dirty="0"/>
              <a:t>また、適切に廃棄されなかった機器 が攻撃者の手に渡ると、リバースエンジニアリングされるリスクがあります。</a:t>
            </a:r>
          </a:p>
          <a:p>
            <a:pPr algn="l"/>
            <a:endParaRPr lang="ja-JP" altLang="en-US" sz="1100" dirty="0"/>
          </a:p>
          <a:p>
            <a:pPr algn="l"/>
            <a:r>
              <a:rPr lang="ja-JP" altLang="en-US" sz="1100" dirty="0"/>
              <a:t>● アプリケーション（システムソフトウェア）</a:t>
            </a:r>
          </a:p>
          <a:p>
            <a:pPr algn="l"/>
            <a:r>
              <a:rPr lang="ja-JP" altLang="en-US" sz="1100" dirty="0"/>
              <a:t>アプリケーションにも多くの脆弱性が存在します。</a:t>
            </a:r>
          </a:p>
          <a:p>
            <a:pPr algn="l"/>
            <a:r>
              <a:rPr lang="ja-JP" altLang="en-US" sz="1100" dirty="0"/>
              <a:t>近年の PLC には、コントローラ情報の表示や管理インターフェース提供のために</a:t>
            </a:r>
          </a:p>
          <a:p>
            <a:pPr algn="l"/>
            <a:r>
              <a:rPr lang="ja-JP" altLang="en-US" sz="1100" dirty="0"/>
              <a:t>Web サーバが組み込まれている ことが多く、これが Web ベースの脆弱性 を追加する原因になります。</a:t>
            </a:r>
          </a:p>
          <a:p>
            <a:pPr algn="l"/>
            <a:endParaRPr lang="ja-JP" altLang="en-US" sz="1100" dirty="0"/>
          </a:p>
          <a:p>
            <a:pPr algn="l"/>
            <a:r>
              <a:rPr lang="ja-JP" altLang="en-US" sz="1100" dirty="0"/>
              <a:t>● 通信（Communication）</a:t>
            </a:r>
          </a:p>
          <a:p>
            <a:pPr algn="l"/>
            <a:r>
              <a:rPr lang="ja-JP" altLang="en-US" sz="1100" dirty="0"/>
              <a:t>通信には、アプリケーションサーバ、HMI、エンジニアリングワークステーション、さらにはフィールド機器との接続に使用されるプロトコルが含まれます。</a:t>
            </a:r>
          </a:p>
          <a:p>
            <a:pPr algn="l"/>
            <a:r>
              <a:rPr lang="ja-JP" altLang="en-US" sz="1100" dirty="0"/>
              <a:t>しかし多くの産業用プロトコルは：</a:t>
            </a:r>
          </a:p>
          <a:p>
            <a:pPr algn="l"/>
            <a:r>
              <a:rPr lang="ja-JP" altLang="en-US" sz="1100" dirty="0"/>
              <a:t>- セキュリティ機能がほとんどない</a:t>
            </a:r>
          </a:p>
          <a:p>
            <a:pPr algn="l"/>
            <a:r>
              <a:rPr lang="ja-JP" altLang="en-US" sz="1100" dirty="0"/>
              <a:t>- 認証や完全性保護が限定的（例：DNP3v5）</a:t>
            </a:r>
          </a:p>
          <a:p>
            <a:pPr algn="l"/>
            <a:r>
              <a:rPr lang="ja-JP" altLang="en-US" sz="1100" dirty="0"/>
              <a:t>- 大半が平文通信</a:t>
            </a:r>
          </a:p>
          <a:p>
            <a:pPr algn="l"/>
            <a:r>
              <a:rPr lang="ja-JP" altLang="en-US" sz="1100" dirty="0"/>
              <a:t>といった問題を抱えています。</a:t>
            </a:r>
          </a:p>
          <a:p>
            <a:pPr algn="l"/>
            <a:r>
              <a:rPr lang="ja-JP" altLang="en-US" sz="1100" dirty="0"/>
              <a:t>プロトコルの脆弱性としては、データソース認証の不備 などが典型例です。</a:t>
            </a:r>
          </a:p>
          <a:p>
            <a:pPr algn="l"/>
            <a:r>
              <a:rPr lang="ja-JP" altLang="en-US" sz="1100" dirty="0"/>
              <a:t>また、制御ネットワークは、隣接するビジネスネットワークが侵害されることで横移動（pivot）されるリスク があります。</a:t>
            </a:r>
          </a:p>
          <a:p>
            <a:pPr algn="l"/>
            <a:r>
              <a:rPr lang="ja-JP" altLang="en-US" sz="1100" dirty="0"/>
              <a:t>さらに、以下のような不適切なネットワーク設計も危険です：</a:t>
            </a:r>
          </a:p>
          <a:p>
            <a:pPr algn="l"/>
            <a:r>
              <a:rPr lang="ja-JP" altLang="en-US" sz="1100" dirty="0"/>
              <a:t>- VLAN を“セキュリティ目的”で使用する（本来 VLAN はセキュリティ境界ではない）</a:t>
            </a:r>
          </a:p>
          <a:p>
            <a:pPr algn="l"/>
            <a:r>
              <a:rPr lang="ja-JP" altLang="en-US" sz="1100" dirty="0"/>
              <a:t>- ビジネスと制御で同じネットワークサービスを共有する</a:t>
            </a:r>
          </a:p>
          <a:p>
            <a:pPr algn="l"/>
            <a:r>
              <a:rPr lang="ja-JP" altLang="en-US" sz="1100" dirty="0"/>
              <a:t>これにより、攻撃者がエンジニアリングワークステーションへアクセスできてしまう可能性があります。</a:t>
            </a:r>
          </a:p>
          <a:p>
            <a:pPr algn="l"/>
            <a:endParaRPr lang="ja-JP" altLang="en-US" sz="1100" dirty="0"/>
          </a:p>
          <a:p>
            <a:pPr algn="l"/>
            <a:r>
              <a:rPr lang="ja-JP" altLang="en-US" sz="1100" dirty="0"/>
              <a:t>● サプライチェーンのリスク</a:t>
            </a:r>
          </a:p>
          <a:p>
            <a:pPr algn="l"/>
            <a:r>
              <a:rPr lang="ja-JP" altLang="en-US" sz="1100" dirty="0"/>
              <a:t>サプライチェーンが侵害されると、コントローラが納品される前に チップやカードへ直接アクセスされる 可能性があります。</a:t>
            </a:r>
          </a:p>
          <a:p>
            <a:pPr algn="l"/>
            <a:r>
              <a:rPr lang="ja-JP" altLang="en-US" sz="1100" dirty="0"/>
              <a:t>これにより：</a:t>
            </a:r>
          </a:p>
          <a:p>
            <a:pPr algn="l"/>
            <a:r>
              <a:rPr lang="ja-JP" altLang="en-US" sz="1100" dirty="0"/>
              <a:t>- 不正なコードの挿入</a:t>
            </a:r>
          </a:p>
          <a:p>
            <a:pPr algn="l"/>
            <a:r>
              <a:rPr lang="ja-JP" altLang="en-US" sz="1100" dirty="0"/>
              <a:t>- 文書化されていない機能の追加といった攻撃が可能になります。</a:t>
            </a:r>
          </a:p>
          <a:p>
            <a:pPr algn="l"/>
            <a:endParaRPr lang="ja-JP" altLang="en-US" sz="1100" dirty="0"/>
          </a:p>
          <a:p>
            <a:pPr algn="l"/>
            <a:r>
              <a:rPr lang="ja-JP" altLang="en-US" sz="1100" dirty="0"/>
              <a:t>● 人（People）— 最後の攻撃面</a:t>
            </a:r>
          </a:p>
          <a:p>
            <a:pPr algn="l"/>
            <a:r>
              <a:rPr lang="ja-JP" altLang="en-US" sz="1100" dirty="0"/>
              <a:t>最後の攻撃面は、現場で機器を扱う人間 です。</a:t>
            </a:r>
          </a:p>
          <a:p>
            <a:pPr algn="l"/>
            <a:r>
              <a:rPr lang="ja-JP" altLang="en-US" sz="1100" dirty="0"/>
              <a:t>- PLC プログラマ</a:t>
            </a:r>
          </a:p>
          <a:p>
            <a:pPr algn="l"/>
            <a:r>
              <a:rPr lang="ja-JP" altLang="en-US" sz="1100" dirty="0"/>
              <a:t>- 電気技術者</a:t>
            </a:r>
          </a:p>
          <a:p>
            <a:pPr algn="l"/>
            <a:r>
              <a:rPr lang="ja-JP" altLang="en-US" sz="1100" dirty="0"/>
              <a:t>- フィールド技術者</a:t>
            </a:r>
          </a:p>
          <a:p>
            <a:pPr algn="l"/>
            <a:r>
              <a:rPr lang="ja-JP" altLang="en-US" sz="1100" dirty="0"/>
              <a:t>- プロセス制御エンジニア</a:t>
            </a:r>
          </a:p>
          <a:p>
            <a:pPr algn="l"/>
            <a:r>
              <a:rPr lang="ja-JP" altLang="en-US" sz="1100" dirty="0"/>
              <a:t>これらの人々が、</a:t>
            </a:r>
          </a:p>
          <a:p>
            <a:pPr algn="l"/>
            <a:r>
              <a:rPr lang="ja-JP" altLang="en-US" sz="1100" dirty="0"/>
              <a:t>セキュリティ意識の欠如や不適切な行動 によって</a:t>
            </a:r>
          </a:p>
          <a:p>
            <a:pPr algn="l"/>
            <a:r>
              <a:rPr lang="ja-JP" altLang="en-US" sz="1100" dirty="0"/>
              <a:t>システムを危険にさらすことがあります。</a:t>
            </a:r>
          </a:p>
          <a:p>
            <a:pPr algn="l"/>
            <a:r>
              <a:rPr lang="ja-JP" altLang="en-US" sz="1100" dirty="0"/>
              <a:t>内部脅威は必ずしも悪意ある人物とは限らず、</a:t>
            </a:r>
          </a:p>
          <a:p>
            <a:pPr algn="l"/>
            <a:r>
              <a:rPr lang="ja-JP" altLang="en-US" sz="1100" dirty="0"/>
              <a:t>もっとも一般的なのは：</a:t>
            </a:r>
          </a:p>
          <a:p>
            <a:pPr algn="l"/>
            <a:r>
              <a:rPr lang="ja-JP" altLang="en-US" sz="1100" dirty="0"/>
              <a:t>信頼できない USB を何気なく機器に挿してしまう“善意の内部者”</a:t>
            </a:r>
          </a:p>
          <a:p>
            <a:pPr algn="l"/>
            <a:endParaRPr lang="ja-JP" altLang="en-US" sz="1100" dirty="0"/>
          </a:p>
          <a:p>
            <a:pPr algn="l"/>
            <a:r>
              <a:rPr lang="ja-JP" altLang="en-US" sz="1100" dirty="0"/>
              <a:t>です。</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540" y="3876675"/>
            <a:ext cx="6852285" cy="6312535"/>
          </a:xfrm>
        </p:spPr>
        <p:txBody>
          <a:bodyPr>
            <a:noAutofit/>
          </a:bodyPr>
          <a:lstStyle/>
          <a:p>
            <a:pPr algn="l"/>
            <a:r>
              <a:rPr lang="ja-JP" altLang="en-US" sz="1400"/>
              <a:t>この研究は、研究者たちが入手可能なコントローラと、その時点のファームウェア／システムソフトウェアを対象に実施したものであり、網羅的な調査ではありません。</a:t>
            </a:r>
          </a:p>
          <a:p>
            <a:pPr algn="l"/>
            <a:r>
              <a:rPr lang="ja-JP" altLang="en-US" sz="1400"/>
              <a:t>しかし、彼らが行った「観察」の結果は、コントローラに一般的に見られるセキュリティ脆弱性をよく要約したもの になっています。</a:t>
            </a:r>
          </a:p>
          <a:p>
            <a:pPr algn="l"/>
            <a:r>
              <a:rPr lang="ja-JP" altLang="en-US" sz="1400"/>
              <a:t>研究者たちは、以下の複数の領域にわたり、可能な限り多くの脆弱性を発見しようと試みました：</a:t>
            </a:r>
          </a:p>
          <a:p>
            <a:pPr algn="l"/>
            <a:r>
              <a:rPr lang="ja-JP" altLang="en-US" sz="1400"/>
              <a:t>- ファームウェア</a:t>
            </a:r>
          </a:p>
          <a:p>
            <a:pPr algn="l"/>
            <a:r>
              <a:rPr lang="ja-JP" altLang="en-US" sz="1400"/>
              <a:t>- ファジング</a:t>
            </a:r>
          </a:p>
          <a:p>
            <a:pPr algn="l"/>
            <a:r>
              <a:rPr lang="ja-JP" altLang="en-US" sz="1400"/>
              <a:t>- プログラム変更</a:t>
            </a:r>
          </a:p>
          <a:p>
            <a:pPr algn="l"/>
            <a:r>
              <a:rPr lang="ja-JP" altLang="en-US" sz="1400"/>
              <a:t>- 既存のバックドア</a:t>
            </a:r>
          </a:p>
          <a:p>
            <a:pPr algn="l"/>
            <a:r>
              <a:rPr lang="ja-JP" altLang="en-US" sz="1400"/>
              <a:t>- 管理インターフェースの Web ベース脆弱性</a:t>
            </a:r>
          </a:p>
          <a:p>
            <a:pPr algn="l"/>
            <a:r>
              <a:rPr lang="ja-JP" altLang="en-US" sz="1400"/>
              <a:t>- 文書化されていない機能</a:t>
            </a:r>
          </a:p>
          <a:p>
            <a:pPr algn="l"/>
            <a:r>
              <a:rPr lang="ja-JP" altLang="en-US" sz="1400"/>
              <a:t>- リソース枯渇</a:t>
            </a:r>
          </a:p>
          <a:p>
            <a:pPr algn="l"/>
            <a:r>
              <a:rPr lang="ja-JP" altLang="en-US" sz="1400"/>
              <a:t>- 設定上の弱点</a:t>
            </a:r>
          </a:p>
          <a:p>
            <a:pPr algn="l"/>
            <a:r>
              <a:rPr lang="ja-JP" altLang="en-US" sz="1400"/>
              <a:t>各研究者は、決められた時間内で調査を実施しました。</a:t>
            </a:r>
          </a:p>
          <a:p>
            <a:pPr algn="l"/>
            <a:r>
              <a:rPr lang="ja-JP" altLang="en-US" sz="1400"/>
              <a:t>Digital Bond は結果を簡潔にまとめています：</a:t>
            </a:r>
          </a:p>
          <a:p>
            <a:pPr algn="l"/>
            <a:r>
              <a:rPr lang="ja-JP" altLang="en-US" sz="1400"/>
              <a:t>Reid Wightman の言葉を借りれば、「まさに血の海だった（it was a bloodbath）」</a:t>
            </a:r>
          </a:p>
          <a:p>
            <a:pPr algn="l"/>
            <a:r>
              <a:rPr lang="ja-JP" altLang="en-US" sz="1400"/>
              <a:t>予想された通り、PLC はクラッシュし、オーバーフローや XSS といった典型的な脆弱性を抱えており、</a:t>
            </a:r>
          </a:p>
          <a:p>
            <a:pPr algn="l"/>
            <a:r>
              <a:rPr lang="ja-JP" altLang="en-US" sz="1400"/>
              <a:t>製品に備わっている機能そのものが攻撃に悪用できる状態だった。</a:t>
            </a:r>
          </a:p>
          <a:p>
            <a:pPr algn="l"/>
            <a:endParaRPr lang="ja-JP" altLang="en-US" sz="1400"/>
          </a:p>
          <a:p>
            <a:pPr algn="l"/>
            <a:endParaRPr lang="ja-JP" altLang="en-US" sz="1400"/>
          </a:p>
          <a:p>
            <a:pPr algn="l"/>
            <a:r>
              <a:rPr lang="ja-JP" altLang="en-US" sz="1400"/>
              <a:t>参考資料</a:t>
            </a:r>
          </a:p>
          <a:p>
            <a:pPr algn="l"/>
            <a:r>
              <a:rPr lang="ja-JP" altLang="en-US" sz="1400"/>
              <a:t>- S4 カンファレンスでのフルプレゼンテーション（YouTube）</a:t>
            </a:r>
          </a:p>
          <a:p>
            <a:pPr algn="l"/>
            <a:r>
              <a:rPr lang="ja-JP" altLang="en-US" sz="1400"/>
              <a:t>https://www.youtube.com/watch?v=dtadMIN3CCc</a:t>
            </a:r>
          </a:p>
          <a:p>
            <a:pPr algn="l"/>
            <a:endParaRPr lang="ja-JP" altLang="en-US" sz="1400"/>
          </a:p>
        </p:txBody>
      </p:sp>
      <p:pic>
        <p:nvPicPr>
          <p:cNvPr id="2" name="図形 1"/>
          <p:cNvPicPr>
            <a:picLocks noChangeAspect="1"/>
          </p:cNvPicPr>
          <p:nvPr/>
        </p:nvPicPr>
        <p:blipFill>
          <a:blip r:embed="rId2"/>
          <a:stretch>
            <a:fillRect/>
          </a:stretch>
        </p:blipFill>
        <p:spPr>
          <a:xfrm>
            <a:off x="267335" y="67945"/>
            <a:ext cx="6324600" cy="360807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RTU、PLC、リレー、IED など多くのフィールドデバイスには、</a:t>
            </a:r>
          </a:p>
          <a:p>
            <a:pPr algn="l"/>
            <a:r>
              <a:rPr lang="ja-JP" altLang="en-US" sz="1400"/>
              <a:t>フィールド技術者がトラブルシュートしたり、制御装置を手動で上書きしたりするための</a:t>
            </a:r>
          </a:p>
          <a:p>
            <a:pPr algn="l"/>
            <a:r>
              <a:rPr lang="ja-JP" altLang="en-US" sz="1400"/>
              <a:t>ローカルインターフェース が備わっています。</a:t>
            </a:r>
          </a:p>
          <a:p>
            <a:pPr algn="l"/>
            <a:r>
              <a:rPr lang="ja-JP" altLang="en-US" sz="1400"/>
              <a:t>これらの保守用インターフェースには、</a:t>
            </a:r>
          </a:p>
          <a:p>
            <a:pPr algn="l"/>
            <a:r>
              <a:rPr lang="ja-JP" altLang="en-US" sz="1400"/>
              <a:t>認証保護がある場合と、まったくない場合 があります。</a:t>
            </a:r>
          </a:p>
          <a:p>
            <a:pPr algn="l"/>
            <a:r>
              <a:rPr lang="ja-JP" altLang="en-US" sz="1400"/>
              <a:t>- 認証がない場合</a:t>
            </a:r>
          </a:p>
          <a:p>
            <a:pPr algn="l"/>
            <a:r>
              <a:rPr lang="ja-JP" altLang="en-US" sz="1400"/>
              <a:t>攻撃者はデバイスに直接アクセスするだけで、</a:t>
            </a:r>
          </a:p>
          <a:p>
            <a:pPr algn="l"/>
            <a:r>
              <a:rPr lang="ja-JP" altLang="en-US" sz="1400"/>
              <a:t>システムを手動で操作できてしまいます。</a:t>
            </a:r>
          </a:p>
          <a:p>
            <a:pPr algn="l"/>
            <a:r>
              <a:rPr lang="ja-JP" altLang="en-US" sz="1400"/>
              <a:t>- 認証がある場合でも</a:t>
            </a:r>
          </a:p>
          <a:p>
            <a:pPr algn="l"/>
            <a:r>
              <a:rPr lang="ja-JP" altLang="en-US" sz="1400"/>
              <a:t>物理アクセスを得た攻撃者は、</a:t>
            </a:r>
          </a:p>
          <a:p>
            <a:pPr algn="l"/>
            <a:r>
              <a:rPr lang="ja-JP" altLang="en-US" sz="1400"/>
              <a:t>以前説明した攻撃手法や、これから紹介するハードウェア攻撃を使って</a:t>
            </a:r>
          </a:p>
          <a:p>
            <a:pPr algn="l"/>
            <a:r>
              <a:rPr lang="ja-JP" altLang="en-US" sz="1400"/>
              <a:t>認証を突破・回避できる可能性があります。</a:t>
            </a:r>
          </a:p>
          <a:p>
            <a:pPr algn="l"/>
            <a:r>
              <a:rPr lang="ja-JP" altLang="en-US" sz="1400"/>
              <a:t>さらに、保守インターフェースのパスワードが</a:t>
            </a:r>
          </a:p>
          <a:p>
            <a:pPr algn="l"/>
            <a:r>
              <a:rPr lang="ja-JP" altLang="en-US" sz="1400"/>
              <a:t>全デバイス共通の“ユニバーサルパスワード” に設定されていることも多く、</a:t>
            </a:r>
          </a:p>
          <a:p>
            <a:pPr algn="l"/>
            <a:r>
              <a:rPr lang="ja-JP" altLang="en-US" sz="1400"/>
              <a:t>技術者が覚えやすいという理由で使われがちです。</a:t>
            </a:r>
          </a:p>
          <a:p>
            <a:pPr algn="l"/>
            <a:r>
              <a:rPr lang="ja-JP" altLang="en-US" sz="1400"/>
              <a:t>これは攻撃者にとっても同様に覚えやすく、重大なリスクになります。</a:t>
            </a:r>
          </a:p>
        </p:txBody>
      </p:sp>
      <p:pic>
        <p:nvPicPr>
          <p:cNvPr id="2" name="図形 1"/>
          <p:cNvPicPr>
            <a:picLocks noChangeAspect="1"/>
          </p:cNvPicPr>
          <p:nvPr/>
        </p:nvPicPr>
        <p:blipFill>
          <a:blip r:embed="rId2"/>
          <a:stretch>
            <a:fillRect/>
          </a:stretch>
        </p:blipFill>
        <p:spPr>
          <a:xfrm>
            <a:off x="259080" y="175260"/>
            <a:ext cx="6339840" cy="358521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パスワードや暗号化通信といったローカルなセキュリティ保護を持たない古いフィールドデバイスは、すでによく知られた弱点です。</a:t>
            </a:r>
          </a:p>
          <a:p>
            <a:pPr algn="l"/>
            <a:r>
              <a:rPr lang="ja-JP" altLang="en-US" sz="1400"/>
              <a:t>しかし、より興味深いのは 新しいフィールドデバイス です。</a:t>
            </a:r>
          </a:p>
          <a:p>
            <a:pPr algn="l"/>
            <a:r>
              <a:rPr lang="ja-JP" altLang="en-US" sz="1400"/>
              <a:t>これらは攻撃から守るためのセキュリティ機能を備えていますが、組み込み電子攻撃によってその防御が破られる可能性がある ためです。</a:t>
            </a:r>
          </a:p>
          <a:p>
            <a:pPr algn="l"/>
            <a:r>
              <a:rPr lang="ja-JP" altLang="en-US" sz="1400"/>
              <a:t>新しいデバイスは、セキュリティ機能があることを前提に、より高度な管理機能やリモート機能を搭載していることが多く、その分攻撃対象として魅力的になります。</a:t>
            </a:r>
          </a:p>
          <a:p>
            <a:pPr algn="l"/>
            <a:endParaRPr lang="ja-JP" altLang="en-US" sz="1400"/>
          </a:p>
          <a:p>
            <a:pPr algn="l"/>
            <a:r>
              <a:rPr lang="ja-JP" altLang="en-US" sz="1400"/>
              <a:t>新しいフィールドデバイスに対して攻撃者が行う可能性のある攻撃例</a:t>
            </a:r>
          </a:p>
          <a:p>
            <a:pPr algn="l"/>
            <a:r>
              <a:rPr lang="ja-JP" altLang="en-US" sz="1400"/>
              <a:t>● 暗号鍵やファームウェアの取得</a:t>
            </a:r>
          </a:p>
          <a:p>
            <a:pPr algn="l"/>
            <a:r>
              <a:rPr lang="ja-JP" altLang="en-US" sz="1400"/>
              <a:t>攻撃者は、デバイス内部のストレージやメモリから</a:t>
            </a:r>
          </a:p>
          <a:p>
            <a:pPr algn="l"/>
            <a:r>
              <a:rPr lang="ja-JP" altLang="en-US" sz="1400"/>
              <a:t>暗号鍵やファームウェアを抽出 し、それを利用して：</a:t>
            </a:r>
          </a:p>
          <a:p>
            <a:pPr algn="l"/>
            <a:r>
              <a:rPr lang="ja-JP" altLang="en-US" sz="1400"/>
              <a:t>- セキュリティ制御を回避</a:t>
            </a:r>
          </a:p>
          <a:p>
            <a:pPr algn="l"/>
            <a:r>
              <a:rPr lang="ja-JP" altLang="en-US" sz="1400"/>
              <a:t>- 他のシステムへアクセス</a:t>
            </a:r>
          </a:p>
          <a:p>
            <a:pPr algn="l"/>
            <a:r>
              <a:rPr lang="ja-JP" altLang="en-US" sz="1400"/>
              <a:t>- デバイスを開封することなく攻撃を拡大</a:t>
            </a:r>
          </a:p>
          <a:p>
            <a:pPr algn="l"/>
            <a:r>
              <a:rPr lang="ja-JP" altLang="en-US" sz="1400"/>
              <a:t>といった行為が可能になります。</a:t>
            </a:r>
          </a:p>
          <a:p>
            <a:pPr algn="l"/>
            <a:r>
              <a:rPr lang="ja-JP" altLang="en-US" sz="1400"/>
              <a:t>● ネットワークプロトコル用の暗号鍵の窃取</a:t>
            </a:r>
          </a:p>
          <a:p>
            <a:pPr algn="l"/>
            <a:r>
              <a:rPr lang="ja-JP" altLang="en-US" sz="1400"/>
              <a:t>攻撃者がデバイスから 通信プロトコル用の暗号鍵 を取得すると：</a:t>
            </a:r>
          </a:p>
          <a:p>
            <a:pPr algn="l"/>
            <a:r>
              <a:rPr lang="ja-JP" altLang="en-US" sz="1400"/>
              <a:t>- 攻撃者自身が正規のデバイスになりすまして攻撃トラフィックを生成</a:t>
            </a:r>
          </a:p>
          <a:p>
            <a:pPr algn="l"/>
            <a:r>
              <a:rPr lang="ja-JP" altLang="en-US" sz="1400"/>
              <a:t>- 管理サーバや他のフィールドデバイスに対してファジングやエクスプロイトを実行</a:t>
            </a:r>
          </a:p>
          <a:p>
            <a:pPr algn="l"/>
            <a:r>
              <a:rPr lang="ja-JP" altLang="en-US" sz="1400"/>
              <a:t>といった攻撃が可能になります。</a:t>
            </a:r>
          </a:p>
          <a:p>
            <a:pPr algn="l"/>
            <a:endParaRPr lang="ja-JP" altLang="en-US" sz="1400"/>
          </a:p>
          <a:p>
            <a:pPr algn="l"/>
            <a:endParaRPr lang="ja-JP" altLang="en-US" sz="1400"/>
          </a:p>
        </p:txBody>
      </p:sp>
      <p:pic>
        <p:nvPicPr>
          <p:cNvPr id="2" name="図形 1"/>
          <p:cNvPicPr>
            <a:picLocks noChangeAspect="1"/>
          </p:cNvPicPr>
          <p:nvPr/>
        </p:nvPicPr>
        <p:blipFill>
          <a:blip r:embed="rId2"/>
          <a:stretch>
            <a:fillRect/>
          </a:stretch>
        </p:blipFill>
        <p:spPr>
          <a:xfrm>
            <a:off x="263525" y="96520"/>
            <a:ext cx="6332220" cy="359283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上の電子回路基板の写真を見てください。</a:t>
            </a:r>
          </a:p>
          <a:p>
            <a:pPr algn="l"/>
            <a:r>
              <a:rPr lang="ja-JP" altLang="en-US" sz="1400"/>
              <a:t>攻撃者は、EEPROM やフラッシュチップなどの データストレージチップに直接接続するための専用ハードウェア を使い、</a:t>
            </a:r>
          </a:p>
          <a:p>
            <a:pPr algn="l"/>
            <a:r>
              <a:rPr lang="ja-JP" altLang="en-US" sz="1400"/>
              <a:t>その内容をダンプ（抽出）することができます。</a:t>
            </a:r>
          </a:p>
          <a:p>
            <a:pPr algn="l"/>
            <a:r>
              <a:rPr lang="ja-JP" altLang="en-US" sz="1400"/>
              <a:t>上のスクリーンショットにあるアプリケーションは、</a:t>
            </a:r>
          </a:p>
          <a:p>
            <a:pPr algn="l"/>
            <a:r>
              <a:rPr lang="ja-JP" altLang="en-US" sz="1400"/>
              <a:t>Total Phase 社の Aardvark ハードウェア向けの商用ツールの例で、</a:t>
            </a:r>
          </a:p>
          <a:p>
            <a:pPr algn="l"/>
            <a:r>
              <a:rPr lang="ja-JP" altLang="en-US" sz="1400"/>
              <a:t>まさにこのような処理を行うためのものです。</a:t>
            </a:r>
          </a:p>
          <a:p>
            <a:pPr algn="l"/>
            <a:r>
              <a:rPr lang="ja-JP" altLang="en-US" sz="1400"/>
              <a:t>しかし、攻撃者が購入できる より安価な代替手段（約 35 ドル） も存在します。</a:t>
            </a:r>
          </a:p>
          <a:p>
            <a:pPr algn="l"/>
            <a:r>
              <a:rPr lang="ja-JP" altLang="en-US" sz="1400"/>
              <a:t>代表例として：</a:t>
            </a:r>
          </a:p>
          <a:p>
            <a:pPr algn="l"/>
            <a:r>
              <a:rPr lang="ja-JP" altLang="en-US" sz="1400"/>
              <a:t>- Bus Pirate</a:t>
            </a:r>
          </a:p>
          <a:p>
            <a:pPr algn="l"/>
            <a:r>
              <a:rPr lang="ja-JP" altLang="en-US" sz="1400"/>
              <a:t>- GoodFET</a:t>
            </a:r>
          </a:p>
          <a:p>
            <a:pPr algn="l"/>
            <a:r>
              <a:rPr lang="ja-JP" altLang="en-US" sz="1400"/>
              <a:t>これらはオープンソースのハードウェアとソフトウェアを使用しており、</a:t>
            </a:r>
          </a:p>
          <a:p>
            <a:pPr algn="l"/>
            <a:r>
              <a:rPr lang="ja-JP" altLang="en-US" sz="1400"/>
              <a:t>同様にストレージチップへ直接アクセスしてデータを抽出する攻撃が可能です。</a:t>
            </a:r>
          </a:p>
        </p:txBody>
      </p:sp>
      <p:pic>
        <p:nvPicPr>
          <p:cNvPr id="4" name="図形 3"/>
          <p:cNvPicPr>
            <a:picLocks noChangeAspect="1"/>
          </p:cNvPicPr>
          <p:nvPr/>
        </p:nvPicPr>
        <p:blipFill>
          <a:blip r:embed="rId2"/>
          <a:stretch>
            <a:fillRect/>
          </a:stretch>
        </p:blipFill>
        <p:spPr>
          <a:xfrm>
            <a:off x="263525" y="111125"/>
            <a:ext cx="6332220" cy="358521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fontScale="75000" lnSpcReduction="20000"/>
          </a:bodyPr>
          <a:lstStyle/>
          <a:p>
            <a:pPr algn="l"/>
            <a:r>
              <a:rPr lang="ja-JP" altLang="en-US" sz="1400"/>
              <a:t>以下に、専門性を保ちつつ自然で読みやすい日本語訳をまとめます。</a:t>
            </a:r>
          </a:p>
          <a:p>
            <a:pPr algn="l"/>
            <a:endParaRPr lang="ja-JP" altLang="en-US" sz="1400"/>
          </a:p>
          <a:p>
            <a:pPr algn="l"/>
            <a:r>
              <a:rPr lang="ja-JP" altLang="en-US" sz="1400"/>
              <a:t>日本語訳（分かりやすく意訳）</a:t>
            </a:r>
          </a:p>
          <a:p>
            <a:pPr algn="l"/>
            <a:r>
              <a:rPr lang="ja-JP" altLang="en-US" sz="1400"/>
              <a:t>この回路基板の写真も、攻撃者が専用ハードウェアを使って</a:t>
            </a:r>
          </a:p>
          <a:p>
            <a:pPr algn="l"/>
            <a:r>
              <a:rPr lang="ja-JP" altLang="en-US" sz="1400"/>
              <a:t>基板上のコンポーネントに接続している点では同じですが、</a:t>
            </a:r>
          </a:p>
          <a:p>
            <a:pPr algn="l"/>
            <a:r>
              <a:rPr lang="ja-JP" altLang="en-US" sz="1400"/>
              <a:t>ここで使われている手法は少し異なります。</a:t>
            </a:r>
          </a:p>
          <a:p>
            <a:pPr algn="l"/>
            <a:r>
              <a:rPr lang="ja-JP" altLang="en-US" sz="1400"/>
              <a:t>個々のチップを直接狙うのではなく、</a:t>
            </a:r>
          </a:p>
          <a:p>
            <a:pPr algn="l"/>
            <a:r>
              <a:rPr lang="ja-JP" altLang="en-US" sz="1400"/>
              <a:t>攻撃者は バススニッフィング（bus sniffing） を行っています。</a:t>
            </a:r>
          </a:p>
          <a:p>
            <a:pPr algn="l"/>
            <a:r>
              <a:rPr lang="ja-JP" altLang="en-US" sz="1400"/>
              <a:t>これは、チップ同士が通常動作しているときに</a:t>
            </a:r>
          </a:p>
          <a:p>
            <a:pPr algn="l"/>
            <a:r>
              <a:rPr lang="ja-JP" altLang="en-US" sz="1400"/>
              <a:t>その間でやり取りされる通信を盗み取る 手法です。</a:t>
            </a:r>
          </a:p>
          <a:p>
            <a:pPr algn="l"/>
            <a:r>
              <a:rPr lang="ja-JP" altLang="en-US" sz="1400"/>
              <a:t>この方法は、以下のような情報を取得するのに非常に有効です：</a:t>
            </a:r>
          </a:p>
          <a:p>
            <a:pPr algn="l"/>
            <a:r>
              <a:rPr lang="ja-JP" altLang="en-US" sz="1400"/>
              <a:t>- 読み取り保護されたフラッシュチップから</a:t>
            </a:r>
          </a:p>
          <a:p>
            <a:pPr algn="l"/>
            <a:r>
              <a:rPr lang="ja-JP" altLang="en-US" sz="1400"/>
              <a:t>マイクロコントローラへ転送される ファームウェア</a:t>
            </a:r>
          </a:p>
          <a:p>
            <a:pPr algn="l"/>
            <a:r>
              <a:rPr lang="ja-JP" altLang="en-US" sz="1400"/>
              <a:t>- マイクロコントローラが RF チップへ送る ネットワーク暗号鍵</a:t>
            </a:r>
          </a:p>
          <a:p>
            <a:pPr algn="l"/>
            <a:r>
              <a:rPr lang="ja-JP" altLang="en-US" sz="1400"/>
              <a:t>- RF チップへ送信される 周波数ホッピングアルゴリズム</a:t>
            </a:r>
          </a:p>
          <a:p>
            <a:pPr algn="l"/>
            <a:r>
              <a:rPr lang="ja-JP" altLang="en-US" sz="1400"/>
              <a:t>つまり、デバイスを分解したり保護を破ったりしなくても、</a:t>
            </a:r>
          </a:p>
          <a:p>
            <a:pPr algn="l"/>
            <a:r>
              <a:rPr lang="ja-JP" altLang="en-US" sz="1400"/>
              <a:t>動作中の通信を盗聴するだけで重要情報を抜き取れる わけです。</a:t>
            </a:r>
          </a:p>
          <a:p>
            <a:pPr algn="l"/>
            <a:r>
              <a:rPr lang="ja-JP" altLang="en-US" sz="1400"/>
              <a:t>上のアプリケーションは、Total Phase 社の Beagle ハードウェア向け</a:t>
            </a:r>
          </a:p>
          <a:p>
            <a:pPr algn="l"/>
            <a:r>
              <a:rPr lang="ja-JP" altLang="en-US" sz="1400"/>
              <a:t>バス解析ツールの例です。</a:t>
            </a:r>
          </a:p>
          <a:p>
            <a:pPr algn="l"/>
            <a:r>
              <a:rPr lang="ja-JP" altLang="en-US" sz="1400"/>
              <a:t>Total Phase は Aardvark という別のハードウェアも提供しています。</a:t>
            </a:r>
          </a:p>
          <a:p>
            <a:pPr algn="l"/>
            <a:r>
              <a:rPr lang="ja-JP" altLang="en-US" sz="1400"/>
              <a:t>もちろん、オープンソースコミュニティにも代替手段があり、</a:t>
            </a:r>
          </a:p>
          <a:p>
            <a:pPr algn="l"/>
            <a:r>
              <a:rPr lang="ja-JP" altLang="en-US" sz="1400"/>
              <a:t>以下のようなツールが同様の攻撃を実行できます：</a:t>
            </a:r>
          </a:p>
          <a:p>
            <a:pPr algn="l"/>
            <a:r>
              <a:rPr lang="ja-JP" altLang="en-US" sz="1400"/>
              <a:t>- Bus Pirate</a:t>
            </a:r>
          </a:p>
          <a:p>
            <a:pPr algn="l"/>
            <a:r>
              <a:rPr lang="ja-JP" altLang="en-US" sz="1400"/>
              <a:t>- GoodFET</a:t>
            </a:r>
          </a:p>
          <a:p>
            <a:pPr algn="l"/>
            <a:r>
              <a:rPr lang="ja-JP" altLang="en-US" sz="1400"/>
              <a:t>- GreatFET</a:t>
            </a:r>
          </a:p>
          <a:p>
            <a:pPr algn="l"/>
            <a:r>
              <a:rPr lang="ja-JP" altLang="en-US" sz="1400"/>
              <a:t>- その他のオープンソースデバイス</a:t>
            </a:r>
          </a:p>
          <a:p>
            <a:pPr algn="l"/>
            <a:endParaRPr lang="ja-JP" altLang="en-US" sz="1400"/>
          </a:p>
          <a:p>
            <a:pPr algn="l"/>
            <a:r>
              <a:rPr lang="ja-JP" altLang="en-US" sz="1400"/>
              <a:t>参考</a:t>
            </a:r>
          </a:p>
          <a:p>
            <a:pPr algn="l"/>
            <a:r>
              <a:rPr lang="ja-JP" altLang="en-US" sz="1400"/>
              <a:t>- https://www.totalphase.com/</a:t>
            </a:r>
          </a:p>
        </p:txBody>
      </p:sp>
      <p:pic>
        <p:nvPicPr>
          <p:cNvPr id="4" name="図形 3"/>
          <p:cNvPicPr>
            <a:picLocks noChangeAspect="1"/>
          </p:cNvPicPr>
          <p:nvPr/>
        </p:nvPicPr>
        <p:blipFill>
          <a:blip r:embed="rId2"/>
          <a:stretch>
            <a:fillRect/>
          </a:stretch>
        </p:blipFill>
        <p:spPr>
          <a:xfrm>
            <a:off x="262890" y="96520"/>
            <a:ext cx="6332220" cy="359283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540" y="3724275"/>
            <a:ext cx="6852285" cy="6312535"/>
          </a:xfrm>
        </p:spPr>
        <p:txBody>
          <a:bodyPr>
            <a:noAutofit/>
          </a:bodyPr>
          <a:lstStyle/>
          <a:p>
            <a:pPr algn="l"/>
            <a:r>
              <a:rPr lang="ja-JP" altLang="en-US" sz="1400"/>
              <a:t>ファームウェアは、攻撃者がアクセスしてリバースエンジニアリングを行うことで</a:t>
            </a:r>
          </a:p>
          <a:p>
            <a:pPr algn="l"/>
            <a:r>
              <a:rPr lang="ja-JP" altLang="en-US" sz="1400"/>
              <a:t>コードを改変されたり、ファームウェアのロードを破壊されたりする 可能性があります。</a:t>
            </a:r>
          </a:p>
          <a:p>
            <a:pPr algn="l"/>
            <a:r>
              <a:rPr lang="ja-JP" altLang="en-US" sz="1400"/>
              <a:t>攻撃者がファームウェアにアクセスする方法としては、次のようなものがあります：</a:t>
            </a:r>
          </a:p>
          <a:p>
            <a:pPr algn="l"/>
            <a:r>
              <a:rPr lang="ja-JP" altLang="en-US" sz="1400"/>
              <a:t>- デバイスに物理的に接続する</a:t>
            </a:r>
          </a:p>
          <a:p>
            <a:pPr algn="l"/>
            <a:r>
              <a:rPr lang="ja-JP" altLang="en-US" sz="1400"/>
              <a:t>- ネットワーク上で行われるファームウェアアップロードを傍受する</a:t>
            </a:r>
          </a:p>
          <a:p>
            <a:pPr algn="l"/>
            <a:r>
              <a:rPr lang="ja-JP" altLang="en-US" sz="1400"/>
              <a:t>- エンジニアリングワークステーション上のファイルを見つける</a:t>
            </a:r>
          </a:p>
          <a:p>
            <a:pPr algn="l"/>
            <a:r>
              <a:rPr lang="ja-JP" altLang="en-US" sz="1400"/>
              <a:t>- 供給元（ベンダー）からファームウェアをダウンロードする</a:t>
            </a:r>
          </a:p>
          <a:p>
            <a:pPr algn="l"/>
            <a:r>
              <a:rPr lang="ja-JP" altLang="en-US" sz="1400"/>
              <a:t>一度ファームウェアを入手されると、攻撃者はそれを解析し、</a:t>
            </a:r>
          </a:p>
          <a:p>
            <a:pPr algn="l"/>
            <a:r>
              <a:rPr lang="ja-JP" altLang="en-US" sz="1400"/>
              <a:t>静的な暗号鍵、暗号アルゴリズム、周波数ホッピングアルゴリズム などを抽出できます。</a:t>
            </a:r>
          </a:p>
          <a:p>
            <a:pPr algn="l"/>
            <a:r>
              <a:rPr lang="ja-JP" altLang="en-US" sz="1400"/>
              <a:t>さらに攻撃者はリバースエンジニアリングによって：</a:t>
            </a:r>
          </a:p>
          <a:p>
            <a:pPr algn="l"/>
            <a:r>
              <a:rPr lang="ja-JP" altLang="en-US" sz="1400"/>
              <a:t>- リモートから悪用可能な脆弱性を発見する</a:t>
            </a:r>
          </a:p>
          <a:p>
            <a:pPr algn="l"/>
            <a:r>
              <a:rPr lang="ja-JP" altLang="en-US" sz="1400"/>
              <a:t>- ファームウェアを改造し、再アップロードして攻撃ツール化する</a:t>
            </a:r>
          </a:p>
          <a:p>
            <a:pPr algn="l"/>
            <a:r>
              <a:rPr lang="ja-JP" altLang="en-US" sz="1400"/>
              <a:t>といった行為も可能になります。</a:t>
            </a:r>
          </a:p>
          <a:p>
            <a:pPr algn="l"/>
            <a:endParaRPr lang="ja-JP" altLang="en-US" sz="1400"/>
          </a:p>
          <a:p>
            <a:pPr algn="l"/>
            <a:r>
              <a:rPr lang="ja-JP" altLang="en-US" sz="1400"/>
              <a:t>物理アクセスを防ぐ重要性</a:t>
            </a:r>
          </a:p>
          <a:p>
            <a:pPr algn="l"/>
            <a:r>
              <a:rPr lang="ja-JP" altLang="en-US" sz="1400"/>
              <a:t>攻撃者に物理アクセスを許してしまうと、以下のような危険が生じます：</a:t>
            </a:r>
          </a:p>
          <a:p>
            <a:pPr algn="l"/>
            <a:r>
              <a:rPr lang="ja-JP" altLang="en-US" sz="1400"/>
              <a:t>- ロジックの改変</a:t>
            </a:r>
          </a:p>
          <a:p>
            <a:pPr algn="l"/>
            <a:r>
              <a:rPr lang="ja-JP" altLang="en-US" sz="1400"/>
              <a:t>- メモリへの書き込み</a:t>
            </a:r>
          </a:p>
          <a:p>
            <a:pPr algn="l"/>
            <a:r>
              <a:rPr lang="ja-JP" altLang="en-US" sz="1400"/>
              <a:t>- 暗号鍵の取得</a:t>
            </a:r>
          </a:p>
          <a:p>
            <a:pPr algn="l"/>
            <a:r>
              <a:rPr lang="ja-JP" altLang="en-US" sz="1400"/>
              <a:t>- その他、デバイスの完全な制御</a:t>
            </a:r>
          </a:p>
          <a:p>
            <a:pPr algn="l"/>
            <a:r>
              <a:rPr lang="ja-JP" altLang="en-US" sz="1400"/>
              <a:t>また、ネットワーク経路へのアクセスも防ぐ必要があります。</a:t>
            </a:r>
          </a:p>
          <a:p>
            <a:pPr algn="l"/>
            <a:r>
              <a:rPr lang="ja-JP" altLang="en-US" sz="1400"/>
              <a:t>多くの産業用プロトコルは 認証が弱く、インジェクション攻撃に脆弱 だからです。</a:t>
            </a:r>
          </a:p>
          <a:p>
            <a:pPr algn="l"/>
            <a:endParaRPr lang="ja-JP" altLang="en-US" sz="1400"/>
          </a:p>
          <a:p>
            <a:pPr algn="l"/>
            <a:r>
              <a:rPr lang="ja-JP" altLang="en-US" sz="1400"/>
              <a:t>次に行うべきこと</a:t>
            </a:r>
          </a:p>
          <a:p>
            <a:pPr algn="l"/>
            <a:r>
              <a:rPr lang="ja-JP" altLang="en-US" sz="1400"/>
              <a:t>組み込みシステムの攻撃面（アタックサーフェス）を</a:t>
            </a:r>
          </a:p>
          <a:p>
            <a:pPr algn="l"/>
            <a:r>
              <a:rPr lang="ja-JP" altLang="en-US" sz="1400"/>
              <a:t>改めて確認し、どこを守るべきかを明確にする必要があります。</a:t>
            </a:r>
          </a:p>
        </p:txBody>
      </p:sp>
      <p:pic>
        <p:nvPicPr>
          <p:cNvPr id="2" name="図形 1"/>
          <p:cNvPicPr>
            <a:picLocks noChangeAspect="1"/>
          </p:cNvPicPr>
          <p:nvPr/>
        </p:nvPicPr>
        <p:blipFill>
          <a:blip r:embed="rId2"/>
          <a:stretch>
            <a:fillRect/>
          </a:stretch>
        </p:blipFill>
        <p:spPr>
          <a:xfrm>
            <a:off x="253365" y="131445"/>
            <a:ext cx="6351270" cy="359283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3813175"/>
            <a:ext cx="6852285" cy="8040158"/>
          </a:xfrm>
        </p:spPr>
        <p:txBody>
          <a:bodyPr>
            <a:noAutofit/>
          </a:bodyPr>
          <a:lstStyle/>
          <a:p>
            <a:pPr algn="l"/>
            <a:r>
              <a:rPr lang="ja-JP" altLang="en-US" sz="1200" dirty="0"/>
              <a:t>ファームウェア改ざんの例として、</a:t>
            </a:r>
          </a:p>
          <a:p>
            <a:pPr algn="l"/>
            <a:r>
              <a:rPr lang="ja-JP" altLang="en-US" sz="1200" dirty="0"/>
              <a:t>Mike Davis と Jason Larson が Black Hat 2009 で発表した</a:t>
            </a:r>
          </a:p>
          <a:p>
            <a:pPr algn="l"/>
            <a:r>
              <a:rPr lang="ja-JP" altLang="en-US" sz="1200" dirty="0"/>
              <a:t>スマートメーター向け PoC（概念実証）ファームウェアワーム があります。</a:t>
            </a:r>
          </a:p>
          <a:p>
            <a:pPr algn="l"/>
            <a:r>
              <a:rPr lang="ja-JP" altLang="en-US" sz="1200" dirty="0"/>
              <a:t>Mike はまず、スマートメーターからファームウェアを入手し、</a:t>
            </a:r>
          </a:p>
          <a:p>
            <a:pPr algn="l"/>
            <a:r>
              <a:rPr lang="ja-JP" altLang="en-US" sz="1200" dirty="0"/>
              <a:t>リバースエンジニアリングを行いました。</a:t>
            </a:r>
          </a:p>
          <a:p>
            <a:pPr algn="l"/>
            <a:r>
              <a:rPr lang="ja-JP" altLang="en-US" sz="1200" dirty="0"/>
              <a:t>その後、ヘッドエンド（集中管理側）が送信する</a:t>
            </a:r>
          </a:p>
          <a:p>
            <a:pPr algn="l"/>
            <a:r>
              <a:rPr lang="ja-JP" altLang="en-US" sz="1200" dirty="0"/>
              <a:t>ファームウェア更新メッセージを偽装するように</a:t>
            </a:r>
          </a:p>
          <a:p>
            <a:pPr algn="l"/>
            <a:r>
              <a:rPr lang="ja-JP" altLang="en-US" sz="1200" dirty="0"/>
              <a:t>スマートメーターのファームウェアを改造しました。</a:t>
            </a:r>
          </a:p>
          <a:p>
            <a:pPr algn="l"/>
            <a:r>
              <a:rPr lang="ja-JP" altLang="en-US" sz="1200" dirty="0"/>
              <a:t>彼はこの改造ファームウェアを 1 台のメーターに書き込み、電源を入れました。</a:t>
            </a:r>
          </a:p>
          <a:p>
            <a:pPr algn="l"/>
            <a:r>
              <a:rPr lang="ja-JP" altLang="en-US" sz="1200" dirty="0"/>
              <a:t>感染したメーターは Mike のカスタムコードに従い、</a:t>
            </a:r>
          </a:p>
          <a:p>
            <a:pPr algn="l"/>
            <a:r>
              <a:rPr lang="ja-JP" altLang="en-US" sz="1200" dirty="0"/>
              <a:t>自分自身の感染ファームウェアを他のメーターへ配布 し始めました。</a:t>
            </a:r>
          </a:p>
          <a:p>
            <a:pPr algn="l"/>
            <a:r>
              <a:rPr lang="ja-JP" altLang="en-US" sz="1200" dirty="0"/>
              <a:t>他のメーターは、その更新要求を</a:t>
            </a:r>
          </a:p>
          <a:p>
            <a:pPr algn="l"/>
            <a:r>
              <a:rPr lang="ja-JP" altLang="en-US" sz="1200" dirty="0"/>
              <a:t>「ヘッドエンドからの正規の更新」だと誤認し、</a:t>
            </a:r>
          </a:p>
          <a:p>
            <a:pPr algn="l"/>
            <a:r>
              <a:rPr lang="ja-JP" altLang="en-US" sz="1200" dirty="0"/>
              <a:t>素直に新しいファームウェアをインストールしました。</a:t>
            </a:r>
          </a:p>
          <a:p>
            <a:pPr algn="l"/>
            <a:r>
              <a:rPr lang="ja-JP" altLang="en-US" sz="1200" dirty="0"/>
              <a:t>再起動後、それらのメーターも Mike のカスタムコードを実行し、</a:t>
            </a:r>
          </a:p>
          <a:p>
            <a:pPr algn="l"/>
            <a:r>
              <a:rPr lang="ja-JP" altLang="en-US" sz="1200" dirty="0"/>
              <a:t>さらに多くのメーターへ感染ファームウェアを拡散していきました。</a:t>
            </a:r>
          </a:p>
          <a:p>
            <a:pPr algn="l"/>
            <a:endParaRPr lang="ja-JP" altLang="en-US" sz="1200" dirty="0"/>
          </a:p>
          <a:p>
            <a:pPr algn="l"/>
            <a:r>
              <a:rPr lang="ja-JP" altLang="en-US" sz="1200" dirty="0"/>
              <a:t>ワームの“皮肉な”ポイント</a:t>
            </a:r>
          </a:p>
          <a:p>
            <a:pPr algn="l"/>
            <a:r>
              <a:rPr lang="ja-JP" altLang="en-US" sz="1200" dirty="0"/>
              <a:t>このワームで特に興味深い点は、</a:t>
            </a:r>
          </a:p>
          <a:p>
            <a:pPr algn="l"/>
            <a:r>
              <a:rPr lang="ja-JP" altLang="en-US" sz="1200" dirty="0"/>
              <a:t>Mike がワーム拡散コードを組み込むために</a:t>
            </a:r>
          </a:p>
          <a:p>
            <a:pPr algn="l"/>
            <a:r>
              <a:rPr lang="ja-JP" altLang="en-US" sz="1200" dirty="0"/>
              <a:t>元のファームウェアの機能を削除する必要があった ことです。</a:t>
            </a:r>
          </a:p>
          <a:p>
            <a:pPr algn="l"/>
            <a:r>
              <a:rPr lang="ja-JP" altLang="en-US" sz="1200" dirty="0"/>
              <a:t>彼が削除したのは、なんと ファームウェア更新機能そのもの でした。</a:t>
            </a:r>
          </a:p>
          <a:p>
            <a:pPr algn="l"/>
            <a:r>
              <a:rPr lang="ja-JP" altLang="en-US" sz="1200" dirty="0"/>
              <a:t>その結果、感染したメーターは</a:t>
            </a:r>
          </a:p>
          <a:p>
            <a:pPr algn="l"/>
            <a:r>
              <a:rPr lang="ja-JP" altLang="en-US" sz="1200" dirty="0"/>
              <a:t>今後一切アップデートを受け取れない状態 となり、</a:t>
            </a:r>
          </a:p>
          <a:p>
            <a:pPr algn="l"/>
            <a:r>
              <a:rPr lang="ja-JP" altLang="en-US" sz="1200" dirty="0"/>
              <a:t>現実世界であれば、</a:t>
            </a:r>
          </a:p>
          <a:p>
            <a:pPr algn="l"/>
            <a:r>
              <a:rPr lang="ja-JP" altLang="en-US" sz="1200" dirty="0"/>
              <a:t>フィールド技術者が 1 台ずつ手作業で交換するしかない という事態になります。</a:t>
            </a:r>
          </a:p>
          <a:p>
            <a:pPr algn="l"/>
            <a:r>
              <a:rPr lang="ja-JP" altLang="en-US" sz="1200" dirty="0"/>
              <a:t>Mike のテストは、ワームが偶発的に拡散しないよう</a:t>
            </a:r>
          </a:p>
          <a:p>
            <a:pPr algn="l"/>
            <a:r>
              <a:rPr lang="ja-JP" altLang="en-US" sz="1200" dirty="0"/>
              <a:t>ラボ環境のみで実施 されましたが、</a:t>
            </a:r>
          </a:p>
          <a:p>
            <a:pPr algn="l"/>
            <a:r>
              <a:rPr lang="ja-JP" altLang="en-US" sz="1200" dirty="0"/>
              <a:t>この種のワームが実現可能であることを示す</a:t>
            </a:r>
          </a:p>
          <a:p>
            <a:pPr algn="l"/>
            <a:r>
              <a:rPr lang="ja-JP" altLang="en-US" sz="1200" dirty="0"/>
              <a:t>非常に優れた概念実証となりました。</a:t>
            </a:r>
          </a:p>
        </p:txBody>
      </p:sp>
      <p:pic>
        <p:nvPicPr>
          <p:cNvPr id="2" name="図形 1"/>
          <p:cNvPicPr>
            <a:picLocks noChangeAspect="1"/>
          </p:cNvPicPr>
          <p:nvPr/>
        </p:nvPicPr>
        <p:blipFill>
          <a:blip r:embed="rId2"/>
          <a:stretch>
            <a:fillRect/>
          </a:stretch>
        </p:blipFill>
        <p:spPr>
          <a:xfrm>
            <a:off x="265430" y="130810"/>
            <a:ext cx="6328410" cy="358902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540" y="3949700"/>
            <a:ext cx="6852285" cy="6312535"/>
          </a:xfrm>
        </p:spPr>
        <p:txBody>
          <a:bodyPr>
            <a:noAutofit/>
          </a:bodyPr>
          <a:lstStyle/>
          <a:p>
            <a:pPr algn="l"/>
            <a:r>
              <a:rPr lang="ja-JP" altLang="en-US" sz="1400"/>
              <a:t>最後に取り上げたい攻撃は、フィールド側から管理サーバ（Management Server）を攻撃される可能性 です。</a:t>
            </a:r>
          </a:p>
          <a:p>
            <a:pPr algn="l"/>
            <a:r>
              <a:rPr lang="ja-JP" altLang="en-US" sz="1400"/>
              <a:t>リモートのフィールドデバイスは常に管理サーバへデータを送り返していますが、</a:t>
            </a:r>
          </a:p>
          <a:p>
            <a:pPr algn="l"/>
            <a:r>
              <a:rPr lang="ja-JP" altLang="en-US" sz="1400"/>
              <a:t>これらの入力データは、以前説明したネットワークプロトコルの脆弱性と同様に、</a:t>
            </a:r>
          </a:p>
          <a:p>
            <a:pPr algn="l"/>
            <a:r>
              <a:rPr lang="ja-JP" altLang="en-US" sz="1400"/>
              <a:t>バッファオーバーフローやビジネスロジックの欠陥 といった問題にさらされる可能性があります。</a:t>
            </a:r>
          </a:p>
          <a:p>
            <a:pPr algn="l"/>
            <a:r>
              <a:rPr lang="ja-JP" altLang="en-US" sz="1400"/>
              <a:t>攻撃者がフィールドネットワーク内に足場（foothold）を得ると、</a:t>
            </a:r>
          </a:p>
          <a:p>
            <a:pPr algn="l"/>
            <a:r>
              <a:rPr lang="ja-JP" altLang="en-US" sz="1400"/>
              <a:t>その接続性を利用して 入力データをファジングし、脆弱性を探し、悪用を試みる ことができます。</a:t>
            </a:r>
          </a:p>
          <a:p>
            <a:pPr algn="l"/>
            <a:r>
              <a:rPr lang="ja-JP" altLang="en-US" sz="1400"/>
              <a:t>たとえば、フィールド側の攻撃者が管理サーバに悪意あるデータを送り、</a:t>
            </a:r>
          </a:p>
          <a:p>
            <a:pPr algn="l"/>
            <a:r>
              <a:rPr lang="ja-JP" altLang="en-US" sz="1400"/>
              <a:t>バッファオーバーフローを引き起こして任意のリモートコード実行を達成する</a:t>
            </a:r>
          </a:p>
          <a:p>
            <a:pPr algn="l"/>
            <a:r>
              <a:rPr lang="ja-JP" altLang="en-US" sz="1400"/>
              <a:t>といった攻撃も十分に可能です。</a:t>
            </a:r>
          </a:p>
          <a:p>
            <a:pPr algn="l"/>
            <a:r>
              <a:rPr lang="ja-JP" altLang="en-US" sz="1400"/>
              <a:t>これらの攻撃は現実的であり、非常に破壊的になり得ます。</a:t>
            </a:r>
          </a:p>
          <a:p>
            <a:pPr algn="l"/>
            <a:r>
              <a:rPr lang="ja-JP" altLang="en-US" sz="1400"/>
              <a:t>なぜなら、前述の通り 管理サーバが侵害されるということは、</a:t>
            </a:r>
          </a:p>
          <a:p>
            <a:pPr algn="l"/>
            <a:r>
              <a:rPr lang="ja-JP" altLang="en-US" sz="1400"/>
              <a:t>制御システム全体が侵害されることを意味する からです。</a:t>
            </a:r>
          </a:p>
          <a:p>
            <a:pPr algn="l"/>
            <a:endParaRPr lang="ja-JP" altLang="en-US" sz="1400"/>
          </a:p>
          <a:p>
            <a:pPr algn="l"/>
            <a:r>
              <a:rPr lang="ja-JP" altLang="en-US" sz="1400"/>
              <a:t>“Upstream Attack（上流攻撃）” の危険性</a:t>
            </a:r>
          </a:p>
          <a:p>
            <a:pPr algn="l"/>
            <a:r>
              <a:rPr lang="ja-JP" altLang="en-US" sz="1400"/>
              <a:t>コントローラや RTU が侵害されると、攻撃者は次のような 上流攻撃 を行えるようになります：</a:t>
            </a:r>
          </a:p>
          <a:p>
            <a:pPr algn="l"/>
            <a:r>
              <a:rPr lang="ja-JP" altLang="en-US" sz="1400"/>
              <a:t>- 通信ゲートウェイや FEP（Front-End Processor）に対する DoS</a:t>
            </a:r>
          </a:p>
          <a:p>
            <a:pPr algn="l"/>
            <a:r>
              <a:rPr lang="ja-JP" altLang="en-US" sz="1400"/>
              <a:t>- ゲートウェイや FEP 上でのコード実行</a:t>
            </a:r>
          </a:p>
          <a:p>
            <a:pPr algn="l"/>
            <a:r>
              <a:rPr lang="ja-JP" altLang="en-US" sz="1400"/>
              <a:t>- そこから制御ネットワークへの侵入</a:t>
            </a:r>
          </a:p>
          <a:p>
            <a:pPr algn="l"/>
            <a:r>
              <a:rPr lang="ja-JP" altLang="en-US" sz="1400"/>
              <a:t>さらに、シリアル通信でさえ上流攻撃に悪用可能 です。</a:t>
            </a:r>
          </a:p>
          <a:p>
            <a:pPr algn="l"/>
            <a:r>
              <a:rPr lang="ja-JP" altLang="en-US" sz="1400"/>
              <a:t>攻撃内容は以下のように幅広くなります：</a:t>
            </a:r>
          </a:p>
          <a:p>
            <a:pPr algn="l"/>
            <a:r>
              <a:rPr lang="ja-JP" altLang="en-US" sz="1400"/>
              <a:t>- サーバやネットワーク機器をクラッシュさせる（非常に目立つ）</a:t>
            </a:r>
          </a:p>
          <a:p>
            <a:pPr algn="l"/>
            <a:r>
              <a:rPr lang="ja-JP" altLang="en-US" sz="1400"/>
              <a:t>- あるいは、より巧妙にコードを実行させる（気づかれにくい）</a:t>
            </a:r>
          </a:p>
          <a:p>
            <a:pPr algn="l"/>
            <a:r>
              <a:rPr lang="ja-JP" altLang="en-US" sz="1400"/>
              <a:t>つまり、リモートのデバイス（しばしば保護が弱い）が、</a:t>
            </a:r>
          </a:p>
          <a:p>
            <a:pPr algn="l"/>
            <a:r>
              <a:rPr lang="ja-JP" altLang="en-US" sz="1400"/>
              <a:t>ICS 全体を危険にさらす可能性がある のです。</a:t>
            </a:r>
          </a:p>
          <a:p>
            <a:pPr algn="l"/>
            <a:endParaRPr lang="ja-JP" altLang="en-US" sz="1400"/>
          </a:p>
          <a:p>
            <a:pPr algn="l"/>
            <a:r>
              <a:rPr lang="ja-JP" altLang="en-US" sz="1400"/>
              <a:t>防御の方向性</a:t>
            </a:r>
          </a:p>
          <a:p>
            <a:pPr algn="l"/>
            <a:r>
              <a:rPr lang="ja-JP" altLang="en-US" sz="1400"/>
              <a:t>ICS サプライヤと協力し、</a:t>
            </a:r>
          </a:p>
          <a:p>
            <a:pPr algn="l"/>
            <a:r>
              <a:rPr lang="ja-JP" altLang="en-US" sz="1400"/>
              <a:t>サーバやネットワーク機器の設定を適切に選定すること が重要です。</a:t>
            </a:r>
          </a:p>
          <a:p>
            <a:pPr algn="l"/>
            <a:r>
              <a:rPr lang="ja-JP" altLang="en-US" sz="1400"/>
              <a:t>これにより、上流攻撃による侵害の可能性を大幅に減らすことができます。</a:t>
            </a:r>
          </a:p>
        </p:txBody>
      </p:sp>
      <p:pic>
        <p:nvPicPr>
          <p:cNvPr id="2" name="図形 1"/>
          <p:cNvPicPr>
            <a:picLocks noChangeAspect="1"/>
          </p:cNvPicPr>
          <p:nvPr/>
        </p:nvPicPr>
        <p:blipFill>
          <a:blip r:embed="rId2"/>
          <a:stretch>
            <a:fillRect/>
          </a:stretch>
        </p:blipFill>
        <p:spPr>
          <a:xfrm>
            <a:off x="264160" y="94615"/>
            <a:ext cx="6328410" cy="359664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63525" y="97155"/>
            <a:ext cx="6332220" cy="359283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64795" y="180340"/>
            <a:ext cx="6328410" cy="359664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61620" y="93345"/>
            <a:ext cx="6336030" cy="360045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59715" y="121920"/>
            <a:ext cx="6339840" cy="358521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5715" y="2550588"/>
            <a:ext cx="6852285" cy="9641412"/>
          </a:xfrm>
        </p:spPr>
        <p:txBody>
          <a:bodyPr>
            <a:noAutofit/>
          </a:bodyPr>
          <a:lstStyle/>
          <a:p>
            <a:pPr algn="l"/>
            <a:r>
              <a:rPr lang="ja-JP" altLang="en-US" sz="800" dirty="0"/>
              <a:t>保護すべきフィールド機器やプラントフロアの機器には、</a:t>
            </a:r>
          </a:p>
          <a:p>
            <a:pPr algn="l"/>
            <a:r>
              <a:rPr lang="ja-JP" altLang="en-US" sz="800" dirty="0"/>
              <a:t>多様なコンポーネントやデータが含まれます。</a:t>
            </a:r>
          </a:p>
          <a:p>
            <a:pPr algn="l"/>
            <a:r>
              <a:rPr lang="ja-JP" altLang="en-US" sz="800" dirty="0"/>
              <a:t>このレベル（プラントフロアやフィールドに近い層）でのセキュリティは、</a:t>
            </a:r>
          </a:p>
          <a:p>
            <a:pPr algn="l"/>
            <a:r>
              <a:rPr lang="ja-JP" altLang="en-US" sz="800" dirty="0"/>
              <a:t>エンドユーザーにとって非常に難しい場合があります。</a:t>
            </a:r>
          </a:p>
          <a:p>
            <a:pPr algn="l"/>
            <a:r>
              <a:rPr lang="ja-JP" altLang="en-US" sz="800" dirty="0"/>
              <a:t>理由としては：</a:t>
            </a:r>
          </a:p>
          <a:p>
            <a:pPr algn="l"/>
            <a:r>
              <a:rPr lang="ja-JP" altLang="en-US" sz="800" dirty="0"/>
              <a:t>- 利用できるリソースが限られている</a:t>
            </a:r>
          </a:p>
          <a:p>
            <a:pPr algn="l"/>
            <a:r>
              <a:rPr lang="ja-JP" altLang="en-US" sz="800" dirty="0"/>
              <a:t>- セキュリティ機能が不完全または基本的なものに留まっている</a:t>
            </a:r>
          </a:p>
          <a:p>
            <a:pPr algn="l"/>
            <a:r>
              <a:rPr lang="ja-JP" altLang="en-US" sz="800" dirty="0"/>
              <a:t>- 運用上の要件がセキュリティ対策を上書きしてしまう</a:t>
            </a:r>
          </a:p>
          <a:p>
            <a:pPr algn="l"/>
            <a:r>
              <a:rPr lang="ja-JP" altLang="en-US" sz="800" dirty="0"/>
              <a:t>- 想像以上に多くのアクセス経路が存在する</a:t>
            </a:r>
          </a:p>
          <a:p>
            <a:pPr algn="l"/>
            <a:r>
              <a:rPr lang="ja-JP" altLang="en-US" sz="800" dirty="0"/>
              <a:t>といった点が挙げられます。</a:t>
            </a:r>
          </a:p>
          <a:p>
            <a:pPr algn="l"/>
            <a:r>
              <a:rPr lang="ja-JP" altLang="en-US" sz="800" dirty="0"/>
              <a:t>しかし、このレベルのセキュリティは極めて重要です。</a:t>
            </a:r>
          </a:p>
          <a:p>
            <a:pPr algn="l"/>
            <a:r>
              <a:rPr lang="ja-JP" altLang="en-US" sz="800" dirty="0"/>
              <a:t>攻撃者が成功すると、次のような重大な影響が発生し得るためです：</a:t>
            </a:r>
          </a:p>
          <a:p>
            <a:pPr algn="l"/>
            <a:r>
              <a:rPr lang="ja-JP" altLang="en-US" sz="800" dirty="0"/>
              <a:t>- プロセスの誤動作</a:t>
            </a:r>
          </a:p>
          <a:p>
            <a:pPr algn="l"/>
            <a:r>
              <a:rPr lang="ja-JP" altLang="en-US" sz="800" dirty="0"/>
              <a:t>- セットポイントの改ざん</a:t>
            </a:r>
          </a:p>
          <a:p>
            <a:pPr algn="l"/>
            <a:r>
              <a:rPr lang="ja-JP" altLang="en-US" sz="800" dirty="0"/>
              <a:t>- ICS コンポーネントの破損</a:t>
            </a:r>
          </a:p>
          <a:p>
            <a:pPr algn="l"/>
            <a:r>
              <a:rPr lang="ja-JP" altLang="en-US" sz="800" dirty="0"/>
              <a:t>- 安全システムや保護機能の無効化による物理設備の損傷</a:t>
            </a:r>
          </a:p>
          <a:p>
            <a:pPr algn="l"/>
            <a:r>
              <a:rPr lang="ja-JP" altLang="en-US" sz="800" dirty="0"/>
              <a:t>- 監視不能（Loss of View）</a:t>
            </a:r>
          </a:p>
          <a:p>
            <a:pPr algn="l"/>
            <a:r>
              <a:rPr lang="ja-JP" altLang="en-US" sz="800" dirty="0"/>
              <a:t>- 制御不能（Loss of Control）</a:t>
            </a:r>
          </a:p>
          <a:p>
            <a:pPr algn="l"/>
            <a:r>
              <a:rPr lang="ja-JP" altLang="en-US" sz="800" dirty="0"/>
              <a:t>- オペレータの画面や情報の偽装</a:t>
            </a:r>
          </a:p>
          <a:p>
            <a:pPr algn="l"/>
            <a:r>
              <a:rPr lang="ja-JP" altLang="en-US" sz="800" dirty="0"/>
              <a:t>- ロジックへの入力の改ざん、または偽装</a:t>
            </a:r>
          </a:p>
          <a:p>
            <a:pPr algn="l"/>
            <a:endParaRPr lang="ja-JP" altLang="en-US" sz="800" dirty="0"/>
          </a:p>
          <a:p>
            <a:pPr algn="l"/>
            <a:r>
              <a:rPr lang="ja-JP" altLang="en-US" sz="800" dirty="0"/>
              <a:t>コントローラやフィールドデバイスの脆弱性</a:t>
            </a:r>
          </a:p>
          <a:p>
            <a:pPr algn="l"/>
            <a:r>
              <a:rPr lang="ja-JP" altLang="en-US" sz="800" dirty="0"/>
              <a:t>コントローラやフィールドデバイスは、以下の経路で攻撃される可能性があります：</a:t>
            </a:r>
          </a:p>
          <a:p>
            <a:pPr algn="l"/>
            <a:r>
              <a:rPr lang="ja-JP" altLang="en-US" sz="800" dirty="0"/>
              <a:t>- 物理アクセス</a:t>
            </a:r>
          </a:p>
          <a:p>
            <a:pPr algn="l"/>
            <a:r>
              <a:rPr lang="ja-JP" altLang="en-US" sz="800" dirty="0"/>
              <a:t>- ネットワークアクセス</a:t>
            </a:r>
          </a:p>
          <a:p>
            <a:pPr algn="l"/>
            <a:r>
              <a:rPr lang="ja-JP" altLang="en-US" sz="800" dirty="0"/>
              <a:t>- リモートアクセス</a:t>
            </a:r>
          </a:p>
          <a:p>
            <a:pPr algn="l"/>
            <a:r>
              <a:rPr lang="ja-JP" altLang="en-US" sz="800" dirty="0"/>
              <a:t>また、これらのデバイスには多くの機器・インフラ・サブシステムが</a:t>
            </a:r>
          </a:p>
          <a:p>
            <a:pPr algn="l"/>
            <a:r>
              <a:rPr lang="ja-JP" altLang="en-US" sz="800" dirty="0"/>
              <a:t>（恒常的または一時的に）接続されており、</a:t>
            </a:r>
          </a:p>
          <a:p>
            <a:pPr algn="l"/>
            <a:r>
              <a:rPr lang="ja-JP" altLang="en-US" sz="800" dirty="0"/>
              <a:t>それらがセキュリティに影響を与える可能性があります。</a:t>
            </a:r>
          </a:p>
          <a:p>
            <a:pPr algn="l"/>
            <a:r>
              <a:rPr lang="ja-JP" altLang="en-US" sz="800" dirty="0"/>
              <a:t>保護すべき対象には、例えば次のものがあります：</a:t>
            </a:r>
          </a:p>
          <a:p>
            <a:pPr algn="l"/>
            <a:r>
              <a:rPr lang="ja-JP" altLang="en-US" sz="800" dirty="0"/>
              <a:t>- ネットワーク機器</a:t>
            </a:r>
          </a:p>
          <a:p>
            <a:pPr algn="l"/>
            <a:r>
              <a:rPr lang="ja-JP" altLang="en-US" sz="800" dirty="0"/>
              <a:t>- プロトコル</a:t>
            </a:r>
          </a:p>
          <a:p>
            <a:pPr algn="l"/>
            <a:r>
              <a:rPr lang="ja-JP" altLang="en-US" sz="800" dirty="0"/>
              <a:t>- システムアプリケーション</a:t>
            </a:r>
          </a:p>
          <a:p>
            <a:pPr algn="l"/>
            <a:r>
              <a:rPr lang="ja-JP" altLang="en-US" sz="800" dirty="0"/>
              <a:t>- エンジニアリングワークステーション</a:t>
            </a:r>
          </a:p>
          <a:p>
            <a:pPr algn="l"/>
            <a:r>
              <a:rPr lang="ja-JP" altLang="en-US" sz="800" dirty="0"/>
              <a:t>- コントローラ／組み込みシステム</a:t>
            </a:r>
          </a:p>
          <a:p>
            <a:pPr algn="l"/>
            <a:r>
              <a:rPr lang="ja-JP" altLang="en-US" sz="800" dirty="0"/>
              <a:t>- フィールドデバイス</a:t>
            </a:r>
          </a:p>
          <a:p>
            <a:pPr algn="l"/>
            <a:r>
              <a:rPr lang="ja-JP" altLang="en-US" sz="800" dirty="0"/>
              <a:t>- コントローラやフィールドデバイスに接続される機器</a:t>
            </a:r>
          </a:p>
          <a:p>
            <a:pPr algn="l"/>
            <a:endParaRPr lang="ja-JP" altLang="en-US" sz="800" dirty="0"/>
          </a:p>
          <a:p>
            <a:pPr algn="l"/>
            <a:r>
              <a:rPr lang="ja-JP" altLang="en-US" sz="800" dirty="0"/>
              <a:t>人間の作業プロセスを理解する重要性</a:t>
            </a:r>
          </a:p>
          <a:p>
            <a:pPr algn="l"/>
            <a:r>
              <a:rPr lang="ja-JP" altLang="en-US" sz="800" dirty="0"/>
              <a:t>最後に、オペレータやフィールド／プラントフロアの保守担当者が</a:t>
            </a:r>
          </a:p>
          <a:p>
            <a:pPr algn="l"/>
            <a:r>
              <a:rPr lang="ja-JP" altLang="en-US" sz="800" dirty="0"/>
              <a:t>コントローラやフィールドデバイスと どのように関わっているかを理解することも重要 です。</a:t>
            </a:r>
          </a:p>
          <a:p>
            <a:pPr algn="l"/>
            <a:r>
              <a:rPr lang="ja-JP" altLang="en-US" sz="800" dirty="0"/>
              <a:t>具体的には：</a:t>
            </a:r>
          </a:p>
          <a:p>
            <a:pPr algn="l"/>
            <a:r>
              <a:rPr lang="ja-JP" altLang="en-US" sz="800" dirty="0"/>
              <a:t>- システムのキャリブレーション（校正）がどのように行われるか</a:t>
            </a:r>
          </a:p>
          <a:p>
            <a:pPr algn="l"/>
            <a:r>
              <a:rPr lang="ja-JP" altLang="en-US" sz="800" dirty="0"/>
              <a:t>- ファームウェア更新がどのように計画・実施されるか</a:t>
            </a:r>
          </a:p>
          <a:p>
            <a:pPr algn="l"/>
            <a:r>
              <a:rPr lang="ja-JP" altLang="en-US" sz="800" dirty="0"/>
              <a:t>といった 実際の作業プロセス を考慮する必要があります。</a:t>
            </a:r>
          </a:p>
        </p:txBody>
      </p:sp>
      <p:pic>
        <p:nvPicPr>
          <p:cNvPr id="2" name="図形 1"/>
          <p:cNvPicPr>
            <a:picLocks noChangeAspect="1"/>
          </p:cNvPicPr>
          <p:nvPr/>
        </p:nvPicPr>
        <p:blipFill>
          <a:blip r:embed="rId2"/>
          <a:stretch>
            <a:fillRect/>
          </a:stretch>
        </p:blipFill>
        <p:spPr>
          <a:xfrm>
            <a:off x="1192185" y="0"/>
            <a:ext cx="4473629" cy="2550588"/>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2156260"/>
            <a:ext cx="6852285" cy="10977182"/>
          </a:xfrm>
        </p:spPr>
        <p:txBody>
          <a:bodyPr>
            <a:noAutofit/>
          </a:bodyPr>
          <a:lstStyle/>
          <a:p>
            <a:pPr algn="l"/>
            <a:r>
              <a:rPr lang="ja-JP" altLang="en-US" sz="700" dirty="0"/>
              <a:t>組み込みシステム（Embedded Systems）は、特定のタスクを実行するために設計され、</a:t>
            </a:r>
          </a:p>
          <a:p>
            <a:pPr algn="l"/>
            <a:r>
              <a:rPr lang="ja-JP" altLang="en-US" sz="700" dirty="0"/>
              <a:t>そのタスクに最適化されたシステムです。</a:t>
            </a:r>
          </a:p>
          <a:p>
            <a:pPr algn="l"/>
            <a:r>
              <a:rPr lang="ja-JP" altLang="en-US" sz="700" dirty="0"/>
              <a:t>たとえば、シンプルなセンサーは以下のような構成を持ちます：</a:t>
            </a:r>
          </a:p>
          <a:p>
            <a:pPr algn="l"/>
            <a:r>
              <a:rPr lang="ja-JP" altLang="en-US" sz="700" dirty="0"/>
              <a:t>- 基本的なデータ収集用の専用基板（多くはアナログ入力）</a:t>
            </a:r>
          </a:p>
          <a:p>
            <a:pPr algn="l"/>
            <a:r>
              <a:rPr lang="ja-JP" altLang="en-US" sz="700" dirty="0"/>
              <a:t>- 必要に応じてデジタル入力（ボタンなど）</a:t>
            </a:r>
          </a:p>
          <a:p>
            <a:pPr algn="l"/>
            <a:r>
              <a:rPr lang="ja-JP" altLang="en-US" sz="700" dirty="0"/>
              <a:t>- キャリブレーション機能</a:t>
            </a:r>
          </a:p>
          <a:p>
            <a:pPr algn="l"/>
            <a:r>
              <a:rPr lang="ja-JP" altLang="en-US" sz="700" dirty="0"/>
              <a:t>これらのセンサーはリアルタイム処理が必要ですが、</a:t>
            </a:r>
          </a:p>
          <a:p>
            <a:pPr algn="l"/>
            <a:r>
              <a:rPr lang="ja-JP" altLang="en-US" sz="700" dirty="0"/>
              <a:t>動作に必要なコードはごく少量で済むため、</a:t>
            </a:r>
          </a:p>
          <a:p>
            <a:pPr algn="l"/>
            <a:r>
              <a:rPr lang="ja-JP" altLang="en-US" sz="700" dirty="0"/>
              <a:t>OS を使わず、マイクロコントローラに直接 C 言語のようなコードを書き込む（ベアメタル）</a:t>
            </a:r>
          </a:p>
          <a:p>
            <a:pPr algn="l"/>
            <a:r>
              <a:rPr lang="ja-JP" altLang="en-US" sz="700" dirty="0"/>
              <a:t>ことが一般的です。</a:t>
            </a:r>
          </a:p>
          <a:p>
            <a:pPr algn="l"/>
            <a:r>
              <a:rPr lang="ja-JP" altLang="en-US" sz="700" dirty="0"/>
              <a:t>この方式は：</a:t>
            </a:r>
          </a:p>
          <a:p>
            <a:pPr algn="l"/>
            <a:r>
              <a:rPr lang="ja-JP" altLang="en-US" sz="700" dirty="0"/>
              <a:t>- ハードウェアコストを低く抑えられる</a:t>
            </a:r>
          </a:p>
          <a:p>
            <a:pPr algn="l"/>
            <a:r>
              <a:rPr lang="ja-JP" altLang="en-US" sz="700" dirty="0"/>
              <a:t>- コードがシンプルで信頼性が高い</a:t>
            </a:r>
          </a:p>
          <a:p>
            <a:pPr algn="l"/>
            <a:r>
              <a:rPr lang="ja-JP" altLang="en-US" sz="700" dirty="0"/>
              <a:t>という利点があります。</a:t>
            </a:r>
          </a:p>
          <a:p>
            <a:pPr algn="l"/>
            <a:endParaRPr lang="ja-JP" altLang="en-US" sz="700" dirty="0"/>
          </a:p>
          <a:p>
            <a:pPr algn="l"/>
            <a:r>
              <a:rPr lang="ja-JP" altLang="en-US" sz="700" dirty="0"/>
              <a:t>より複雑な組み込み機器と RTOS の役割</a:t>
            </a:r>
          </a:p>
          <a:p>
            <a:pPr algn="l"/>
            <a:r>
              <a:rPr lang="ja-JP" altLang="en-US" sz="700" dirty="0"/>
              <a:t>より複雑な組み込みデバイスでは、</a:t>
            </a:r>
          </a:p>
          <a:p>
            <a:pPr algn="l"/>
            <a:r>
              <a:rPr lang="ja-JP" altLang="en-US" sz="700" dirty="0"/>
              <a:t>開発を簡素化するために OS の上に機能を構築 することがあります。</a:t>
            </a:r>
          </a:p>
          <a:p>
            <a:pPr algn="l"/>
            <a:r>
              <a:rPr lang="ja-JP" altLang="en-US" sz="700" dirty="0"/>
              <a:t>これにより、ベンダーは以下のようなコードを自前で書く必要がなくなります：</a:t>
            </a:r>
          </a:p>
          <a:p>
            <a:pPr algn="l"/>
            <a:r>
              <a:rPr lang="ja-JP" altLang="en-US" sz="700" dirty="0"/>
              <a:t>- TCP/IP 通信スタック</a:t>
            </a:r>
          </a:p>
          <a:p>
            <a:pPr algn="l"/>
            <a:r>
              <a:rPr lang="ja-JP" altLang="en-US" sz="700" dirty="0"/>
              <a:t>- 並列処理のスケジューリング</a:t>
            </a:r>
          </a:p>
          <a:p>
            <a:pPr algn="l"/>
            <a:r>
              <a:rPr lang="ja-JP" altLang="en-US" sz="700" dirty="0"/>
              <a:t>ここで使われるのが RTOS（リアルタイム OS） です。</a:t>
            </a:r>
          </a:p>
          <a:p>
            <a:pPr algn="l"/>
            <a:r>
              <a:rPr lang="ja-JP" altLang="en-US" sz="700" dirty="0"/>
              <a:t>RTOS は、一般的な PC の OS </a:t>
            </a:r>
            <a:r>
              <a:rPr lang="ja-JP" altLang="en-US" sz="700" dirty="0" err="1"/>
              <a:t>ほ</a:t>
            </a:r>
            <a:r>
              <a:rPr lang="ja-JP" altLang="en-US" sz="700" dirty="0"/>
              <a:t>どのオーバーヘッドを持たず、</a:t>
            </a:r>
          </a:p>
          <a:p>
            <a:pPr algn="l"/>
            <a:r>
              <a:rPr lang="ja-JP" altLang="en-US" sz="700" dirty="0"/>
              <a:t>リアルタイム性を満たすための特別なスケジューリング方式で動作します。</a:t>
            </a:r>
          </a:p>
          <a:p>
            <a:pPr algn="l"/>
            <a:r>
              <a:rPr lang="ja-JP" altLang="en-US" sz="700" dirty="0"/>
              <a:t>リアルタイム OS と呼ばれる理由は、</a:t>
            </a:r>
          </a:p>
          <a:p>
            <a:pPr algn="l"/>
            <a:r>
              <a:rPr lang="ja-JP" altLang="en-US" sz="700" dirty="0"/>
              <a:t>処理のタイミングが厳密に要求されるため です。</a:t>
            </a:r>
          </a:p>
          <a:p>
            <a:pPr algn="l"/>
            <a:r>
              <a:rPr lang="ja-JP" altLang="en-US" sz="700" dirty="0"/>
              <a:t>通常のデスクトップ OS と異なり：</a:t>
            </a:r>
          </a:p>
          <a:p>
            <a:pPr algn="l"/>
            <a:r>
              <a:rPr lang="ja-JP" altLang="en-US" sz="700" dirty="0"/>
              <a:t>- あるプロセスが CPU を独占することは許されない</a:t>
            </a:r>
          </a:p>
          <a:p>
            <a:pPr algn="l"/>
            <a:r>
              <a:rPr lang="ja-JP" altLang="en-US" sz="700" dirty="0"/>
              <a:t>- CPU ロックや遅延が発生した場合に再起動する ウォッチドッグ機能 を備えることが多い</a:t>
            </a:r>
          </a:p>
          <a:p>
            <a:pPr algn="l"/>
            <a:endParaRPr lang="ja-JP" altLang="en-US" sz="700" dirty="0"/>
          </a:p>
          <a:p>
            <a:pPr algn="l"/>
            <a:r>
              <a:rPr lang="ja-JP" altLang="en-US" sz="700" dirty="0"/>
              <a:t>RTOS のスケジューリング例：ラウンドロビン</a:t>
            </a:r>
          </a:p>
          <a:p>
            <a:pPr algn="l"/>
            <a:r>
              <a:rPr lang="ja-JP" altLang="en-US" sz="700" dirty="0"/>
              <a:t>ラウンドロビン方式では、</a:t>
            </a:r>
          </a:p>
          <a:p>
            <a:pPr algn="l"/>
            <a:r>
              <a:rPr lang="ja-JP" altLang="en-US" sz="700" dirty="0"/>
              <a:t>3 </a:t>
            </a:r>
            <a:r>
              <a:rPr lang="ja-JP" altLang="en-US" sz="700" dirty="0" err="1"/>
              <a:t>つの</a:t>
            </a:r>
            <a:r>
              <a:rPr lang="ja-JP" altLang="en-US" sz="700" dirty="0"/>
              <a:t>プロセスが動作している場合、それぞれが CPU の時間を均等に割り当てられます。</a:t>
            </a:r>
          </a:p>
          <a:p>
            <a:pPr algn="l"/>
            <a:r>
              <a:rPr lang="ja-JP" altLang="en-US" sz="700" dirty="0"/>
              <a:t>- プロセスは順番に実行される</a:t>
            </a:r>
          </a:p>
          <a:p>
            <a:pPr algn="l"/>
            <a:r>
              <a:rPr lang="ja-JP" altLang="en-US" sz="700" dirty="0"/>
              <a:t>- 持ち時間（タイムスライス）が終わると強制的に切り替え</a:t>
            </a:r>
          </a:p>
          <a:p>
            <a:pPr algn="l"/>
            <a:r>
              <a:rPr lang="ja-JP" altLang="en-US" sz="700" dirty="0"/>
              <a:t>- 次のサイクルまで待機</a:t>
            </a:r>
          </a:p>
          <a:p>
            <a:pPr algn="l"/>
            <a:r>
              <a:rPr lang="ja-JP" altLang="en-US" sz="700" dirty="0"/>
              <a:t>もし各プロセスが 1 秒ごとに重要処理を行う必要があるなら、</a:t>
            </a:r>
          </a:p>
          <a:p>
            <a:pPr algn="l"/>
            <a:r>
              <a:rPr lang="ja-JP" altLang="en-US" sz="700" dirty="0"/>
              <a:t>どのプロセスも 333ms を超えて実行し続けることはできません。</a:t>
            </a:r>
          </a:p>
          <a:p>
            <a:pPr algn="l"/>
            <a:endParaRPr lang="ja-JP" altLang="en-US" sz="700" dirty="0"/>
          </a:p>
          <a:p>
            <a:pPr algn="l"/>
            <a:r>
              <a:rPr lang="ja-JP" altLang="en-US" sz="700" dirty="0"/>
              <a:t>RTOS における割り込み処理</a:t>
            </a:r>
          </a:p>
          <a:p>
            <a:pPr algn="l"/>
            <a:r>
              <a:rPr lang="ja-JP" altLang="en-US" sz="700" dirty="0"/>
              <a:t>RTOS では割り込み処理も一般的な OS と異なります。</a:t>
            </a:r>
          </a:p>
          <a:p>
            <a:pPr algn="l"/>
            <a:r>
              <a:rPr lang="ja-JP" altLang="en-US" sz="700" dirty="0"/>
              <a:t>割り込みハンドラは最小限に抑えられ：</a:t>
            </a:r>
          </a:p>
          <a:p>
            <a:pPr algn="l"/>
            <a:r>
              <a:rPr lang="ja-JP" altLang="en-US" sz="700" dirty="0"/>
              <a:t>- 割り込みを認識する</a:t>
            </a:r>
          </a:p>
          <a:p>
            <a:pPr algn="l"/>
            <a:r>
              <a:rPr lang="ja-JP" altLang="en-US" sz="700" dirty="0"/>
              <a:t>- 同種の割り込みを一時的に無効化する</a:t>
            </a:r>
          </a:p>
          <a:p>
            <a:pPr algn="l"/>
            <a:r>
              <a:rPr lang="ja-JP" altLang="en-US" sz="700" dirty="0"/>
              <a:t>- 対応が必要なプロセスへ通知する</a:t>
            </a:r>
          </a:p>
          <a:p>
            <a:pPr algn="l"/>
            <a:r>
              <a:rPr lang="ja-JP" altLang="en-US" sz="700" dirty="0"/>
              <a:t>といった最低限の処理のみを行います。</a:t>
            </a:r>
          </a:p>
          <a:p>
            <a:pPr algn="l"/>
            <a:r>
              <a:rPr lang="ja-JP" altLang="en-US" sz="700" dirty="0"/>
              <a:t>これは、RTOS では カーネル空間とユーザー空間の分離がないことが多い ためです。</a:t>
            </a:r>
          </a:p>
          <a:p>
            <a:pPr algn="l"/>
            <a:r>
              <a:rPr lang="ja-JP" altLang="en-US" sz="700" dirty="0"/>
              <a:t>その結果：</a:t>
            </a:r>
          </a:p>
          <a:p>
            <a:pPr algn="l"/>
            <a:r>
              <a:rPr lang="ja-JP" altLang="en-US" sz="700" dirty="0"/>
              <a:t>- プロセスはより効率的にシステムコールを実行できる</a:t>
            </a:r>
          </a:p>
          <a:p>
            <a:pPr algn="l"/>
            <a:r>
              <a:rPr lang="ja-JP" altLang="en-US" sz="700" dirty="0"/>
              <a:t>- 割り込みの無効化など、RTOS 環境を直接制御できる</a:t>
            </a:r>
          </a:p>
          <a:p>
            <a:pPr algn="l"/>
            <a:r>
              <a:rPr lang="ja-JP" altLang="en-US" sz="700" dirty="0"/>
              <a:t>という特徴があります。</a:t>
            </a:r>
          </a:p>
        </p:txBody>
      </p:sp>
      <p:pic>
        <p:nvPicPr>
          <p:cNvPr id="2" name="図形 1"/>
          <p:cNvPicPr>
            <a:picLocks noChangeAspect="1"/>
          </p:cNvPicPr>
          <p:nvPr/>
        </p:nvPicPr>
        <p:blipFill>
          <a:blip r:embed="rId2"/>
          <a:stretch>
            <a:fillRect/>
          </a:stretch>
        </p:blipFill>
        <p:spPr>
          <a:xfrm>
            <a:off x="1364562" y="0"/>
            <a:ext cx="3817038" cy="215626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この図は、マイクロカーネル（RTOS のカーネル） と</a:t>
            </a:r>
          </a:p>
          <a:p>
            <a:pPr algn="l"/>
            <a:r>
              <a:rPr lang="ja-JP" altLang="en-US" sz="1400"/>
              <a:t>モノリシックカーネル（Windows や Linux のような従来型 OS） の違いを示しています。</a:t>
            </a:r>
          </a:p>
          <a:p>
            <a:pPr algn="l"/>
            <a:r>
              <a:rPr lang="ja-JP" altLang="en-US" sz="1400"/>
              <a:t>この例では、マイクロカーネルが担当するのは以下のような</a:t>
            </a:r>
          </a:p>
          <a:p>
            <a:pPr algn="l"/>
            <a:r>
              <a:rPr lang="ja-JP" altLang="en-US" sz="1400"/>
              <a:t>最小限の基本機能 に限られています：</a:t>
            </a:r>
          </a:p>
          <a:p>
            <a:pPr algn="l"/>
            <a:r>
              <a:rPr lang="ja-JP" altLang="en-US" sz="1400"/>
              <a:t>- プロセス間通信（IPC）</a:t>
            </a:r>
          </a:p>
          <a:p>
            <a:pPr algn="l"/>
            <a:r>
              <a:rPr lang="ja-JP" altLang="en-US" sz="1400"/>
              <a:t>- 仮想メモリ</a:t>
            </a:r>
          </a:p>
          <a:p>
            <a:pPr algn="l"/>
            <a:r>
              <a:rPr lang="ja-JP" altLang="en-US" sz="1400"/>
              <a:t>- スケジューリング</a:t>
            </a:r>
          </a:p>
          <a:p>
            <a:pPr algn="l"/>
            <a:r>
              <a:rPr lang="ja-JP" altLang="en-US" sz="1400"/>
              <a:t>（ただし IPC の扱いは QNX とは異なる）</a:t>
            </a:r>
          </a:p>
          <a:p>
            <a:pPr algn="l"/>
            <a:r>
              <a:rPr lang="ja-JP" altLang="en-US" sz="1400"/>
              <a:t>一方、それ以外の典型的なカーネル機能は</a:t>
            </a:r>
          </a:p>
          <a:p>
            <a:pPr algn="l"/>
            <a:r>
              <a:rPr lang="ja-JP" altLang="en-US" sz="1400"/>
              <a:t>ユーザーランドのプログラムとして動作 し、</a:t>
            </a:r>
          </a:p>
          <a:p>
            <a:pPr algn="l"/>
            <a:r>
              <a:rPr lang="ja-JP" altLang="en-US" sz="1400"/>
              <a:t>ファイル管理などの処理を担当します。</a:t>
            </a:r>
          </a:p>
          <a:p>
            <a:pPr algn="l"/>
            <a:endParaRPr lang="ja-JP" altLang="en-US" sz="1400"/>
          </a:p>
          <a:p>
            <a:pPr algn="l"/>
            <a:r>
              <a:rPr lang="ja-JP" altLang="en-US" sz="1400"/>
              <a:t>参考</a:t>
            </a:r>
          </a:p>
          <a:p>
            <a:pPr algn="l"/>
            <a:r>
              <a:rPr lang="ja-JP" altLang="en-US" sz="1400"/>
              <a:t>- https://en.wikipedia.org/wiki/Microkernel</a:t>
            </a:r>
          </a:p>
        </p:txBody>
      </p:sp>
      <p:pic>
        <p:nvPicPr>
          <p:cNvPr id="2" name="図形 1"/>
          <p:cNvPicPr>
            <a:picLocks noChangeAspect="1"/>
          </p:cNvPicPr>
          <p:nvPr/>
        </p:nvPicPr>
        <p:blipFill>
          <a:blip r:embed="rId2"/>
          <a:stretch>
            <a:fillRect/>
          </a:stretch>
        </p:blipFill>
        <p:spPr>
          <a:xfrm>
            <a:off x="259715" y="133985"/>
            <a:ext cx="6339840" cy="35814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540" y="3725333"/>
            <a:ext cx="6852285" cy="7941734"/>
          </a:xfrm>
        </p:spPr>
        <p:txBody>
          <a:bodyPr>
            <a:noAutofit/>
          </a:bodyPr>
          <a:lstStyle/>
          <a:p>
            <a:pPr algn="l"/>
            <a:r>
              <a:rPr lang="ja-JP" altLang="en-US" sz="1200" dirty="0"/>
              <a:t>時刻同期は、RTU がイベントやログデータにタイムスタンプを付与する際に、</a:t>
            </a:r>
          </a:p>
          <a:p>
            <a:pPr algn="l"/>
            <a:r>
              <a:rPr lang="ja-JP" altLang="en-US" sz="1200" dirty="0"/>
              <a:t>信頼できる時刻源（authoritative time source） に基づいて行われます。</a:t>
            </a:r>
          </a:p>
          <a:p>
            <a:pPr algn="l"/>
            <a:r>
              <a:rPr lang="ja-JP" altLang="en-US" sz="1200" dirty="0"/>
              <a:t>特に、電力グリッドのような 広域に分散した SCADA システム では、</a:t>
            </a:r>
          </a:p>
          <a:p>
            <a:pPr algn="l"/>
            <a:r>
              <a:rPr lang="ja-JP" altLang="en-US" sz="1200" dirty="0"/>
              <a:t>数百マイル離れたデバイス同士や制御センターとのデータを相関させる必要があるため、</a:t>
            </a:r>
          </a:p>
          <a:p>
            <a:pPr algn="l"/>
            <a:r>
              <a:rPr lang="ja-JP" altLang="en-US" sz="1200" dirty="0"/>
              <a:t>時刻同期は極めて重要になります。</a:t>
            </a:r>
          </a:p>
          <a:p>
            <a:pPr algn="l"/>
            <a:endParaRPr lang="ja-JP" altLang="en-US" sz="1200" dirty="0"/>
          </a:p>
          <a:p>
            <a:pPr algn="l"/>
            <a:r>
              <a:rPr lang="ja-JP" altLang="en-US" sz="1200" dirty="0"/>
              <a:t>GNSS（衛星測位システム）による時刻同期</a:t>
            </a:r>
          </a:p>
          <a:p>
            <a:pPr algn="l"/>
            <a:r>
              <a:rPr lang="ja-JP" altLang="en-US" sz="1200" dirty="0"/>
              <a:t>GNSS（全地球航法衛星システム）は、</a:t>
            </a:r>
          </a:p>
          <a:p>
            <a:pPr algn="l"/>
            <a:r>
              <a:rPr lang="ja-JP" altLang="en-US" sz="1200" dirty="0"/>
              <a:t>遠隔地でも利用でき、無料で、非常に高精度かつ信頼性の高い時刻参照源 として広く認識されています。</a:t>
            </a:r>
          </a:p>
          <a:p>
            <a:pPr algn="l"/>
            <a:r>
              <a:rPr lang="ja-JP" altLang="en-US" sz="1200" dirty="0"/>
              <a:t>GNSS は複数の国・地域が提供しています：</a:t>
            </a:r>
          </a:p>
          <a:p>
            <a:pPr algn="l"/>
            <a:r>
              <a:rPr lang="ja-JP" altLang="en-US" sz="1200" dirty="0"/>
              <a:t>- 米国：GPS</a:t>
            </a:r>
          </a:p>
          <a:p>
            <a:pPr algn="l"/>
            <a:r>
              <a:rPr lang="ja-JP" altLang="en-US" sz="1200" dirty="0"/>
              <a:t>- ロシア：GLONASS</a:t>
            </a:r>
          </a:p>
          <a:p>
            <a:pPr algn="l"/>
            <a:r>
              <a:rPr lang="ja-JP" altLang="en-US" sz="1200" dirty="0"/>
              <a:t>- 中国：BeiDou</a:t>
            </a:r>
          </a:p>
          <a:p>
            <a:pPr algn="l"/>
            <a:r>
              <a:rPr lang="ja-JP" altLang="en-US" sz="1200" dirty="0"/>
              <a:t>- 欧州連合：Galileo</a:t>
            </a:r>
          </a:p>
          <a:p>
            <a:pPr algn="l"/>
            <a:r>
              <a:rPr lang="ja-JP" altLang="en-US" sz="1200" dirty="0"/>
              <a:t>- 日本：準天頂衛星システム（QZSS）</a:t>
            </a:r>
          </a:p>
          <a:p>
            <a:pPr algn="l"/>
            <a:r>
              <a:rPr lang="ja-JP" altLang="en-US" sz="1200" dirty="0"/>
              <a:t>- インド：IRNSS</a:t>
            </a:r>
          </a:p>
          <a:p>
            <a:pPr algn="l"/>
            <a:r>
              <a:rPr lang="ja-JP" altLang="en-US" sz="1200" dirty="0"/>
              <a:t>一部の ICS デバイスは、</a:t>
            </a:r>
          </a:p>
          <a:p>
            <a:pPr algn="l"/>
            <a:r>
              <a:rPr lang="ja-JP" altLang="en-US" sz="1200" dirty="0"/>
              <a:t>複数の衛星システム（例：GPS と GLONASS）を同時に参照し、</a:t>
            </a:r>
          </a:p>
          <a:p>
            <a:pPr algn="l"/>
            <a:r>
              <a:rPr lang="ja-JP" altLang="en-US" sz="1200" dirty="0"/>
              <a:t>両者の時刻を照合することで GPS スプーフィング対策 を行っています。</a:t>
            </a:r>
          </a:p>
          <a:p>
            <a:pPr algn="l"/>
            <a:endParaRPr lang="ja-JP" altLang="en-US" sz="1200" dirty="0"/>
          </a:p>
          <a:p>
            <a:pPr algn="l"/>
            <a:r>
              <a:rPr lang="ja-JP" altLang="en-US" sz="1200" dirty="0"/>
              <a:t>GNSS と時刻同期プロトコルの関係</a:t>
            </a:r>
          </a:p>
          <a:p>
            <a:pPr algn="l"/>
            <a:r>
              <a:rPr lang="ja-JP" altLang="en-US" sz="1200" dirty="0"/>
              <a:t>GNSS から得られる正確な時刻は、</a:t>
            </a:r>
          </a:p>
          <a:p>
            <a:pPr algn="l"/>
            <a:r>
              <a:rPr lang="ja-JP" altLang="en-US" sz="1200" dirty="0"/>
              <a:t>以下のような分散システムの時刻同期に利用されます：</a:t>
            </a:r>
          </a:p>
          <a:p>
            <a:pPr algn="l"/>
            <a:r>
              <a:rPr lang="ja-JP" altLang="en-US" sz="1200" dirty="0"/>
              <a:t>- NTP（Network Time Protocol）</a:t>
            </a:r>
          </a:p>
          <a:p>
            <a:pPr algn="l"/>
            <a:r>
              <a:rPr lang="ja-JP" altLang="en-US" sz="1200" dirty="0"/>
              <a:t>- PTP（Precision Time Protocol）</a:t>
            </a:r>
          </a:p>
          <a:p>
            <a:pPr algn="l"/>
            <a:r>
              <a:rPr lang="ja-JP" altLang="en-US" sz="1200" dirty="0"/>
              <a:t>- GPS 受信機を直接 RTU に接続する方式</a:t>
            </a:r>
          </a:p>
          <a:p>
            <a:pPr algn="l"/>
            <a:r>
              <a:rPr lang="ja-JP" altLang="en-US" sz="1200" dirty="0"/>
              <a:t>これらの仕組みにより、</a:t>
            </a:r>
          </a:p>
          <a:p>
            <a:pPr algn="l"/>
            <a:r>
              <a:rPr lang="ja-JP" altLang="en-US" sz="1200" dirty="0"/>
              <a:t>広域に分散した ICS/SCADA システム全体で</a:t>
            </a:r>
          </a:p>
          <a:p>
            <a:pPr algn="l"/>
            <a:r>
              <a:rPr lang="ja-JP" altLang="en-US" sz="1200" dirty="0"/>
              <a:t>一貫した時刻基準を維持 できます。</a:t>
            </a:r>
          </a:p>
        </p:txBody>
      </p:sp>
      <p:pic>
        <p:nvPicPr>
          <p:cNvPr id="2" name="図形 1"/>
          <p:cNvPicPr>
            <a:picLocks noChangeAspect="1"/>
          </p:cNvPicPr>
          <p:nvPr/>
        </p:nvPicPr>
        <p:blipFill>
          <a:blip r:embed="rId2"/>
          <a:stretch>
            <a:fillRect/>
          </a:stretch>
        </p:blipFill>
        <p:spPr>
          <a:xfrm>
            <a:off x="266700" y="123190"/>
            <a:ext cx="6324600" cy="358521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fontScale="65000" lnSpcReduction="20000"/>
          </a:bodyPr>
          <a:lstStyle/>
          <a:p>
            <a:pPr algn="l"/>
            <a:r>
              <a:rPr lang="ja-JP" altLang="en-US" sz="1400"/>
              <a:t>ICS（産業制御システム）は、</a:t>
            </a:r>
          </a:p>
          <a:p>
            <a:pPr algn="l"/>
            <a:r>
              <a:rPr lang="ja-JP" altLang="en-US" sz="1400"/>
              <a:t>システム全体で正確かつ同期された時刻を維持し、</a:t>
            </a:r>
          </a:p>
          <a:p>
            <a:pPr algn="l"/>
            <a:r>
              <a:rPr lang="ja-JP" altLang="en-US" sz="1400"/>
              <a:t>タイムスタンプ付き情報を共有するための基盤を確保するために、</a:t>
            </a:r>
          </a:p>
          <a:p>
            <a:pPr algn="l"/>
            <a:r>
              <a:rPr lang="ja-JP" altLang="en-US" sz="1400"/>
              <a:t>時刻サービス（Time Services）が必要 です。</a:t>
            </a:r>
          </a:p>
          <a:p>
            <a:pPr algn="l"/>
            <a:r>
              <a:rPr lang="ja-JP" altLang="en-US" sz="1400"/>
              <a:t>時刻サービスは次の 3 要素で構成されます：</a:t>
            </a:r>
          </a:p>
          <a:p>
            <a:pPr algn="l"/>
            <a:r>
              <a:rPr lang="ja-JP" altLang="en-US" sz="1400"/>
              <a:t>- 時刻源（Time Sources）</a:t>
            </a:r>
          </a:p>
          <a:p>
            <a:pPr algn="l"/>
            <a:r>
              <a:rPr lang="ja-JP" altLang="en-US" sz="1400"/>
              <a:t>- サービス／プロトコル（NTP、PTP など）</a:t>
            </a:r>
          </a:p>
          <a:p>
            <a:pPr algn="l"/>
            <a:r>
              <a:rPr lang="ja-JP" altLang="en-US" sz="1400"/>
              <a:t>- 接続性（Connectivity）</a:t>
            </a:r>
          </a:p>
          <a:p>
            <a:pPr algn="l"/>
            <a:r>
              <a:rPr lang="ja-JP" altLang="en-US" sz="1400"/>
              <a:t>時刻源は正確な時刻入力を提供し、常に利用可能である必要があります。</a:t>
            </a:r>
          </a:p>
          <a:p>
            <a:pPr algn="l"/>
            <a:r>
              <a:rPr lang="ja-JP" altLang="en-US" sz="1400"/>
              <a:t>最も一般的な「真の時刻源」は GPS です。</a:t>
            </a:r>
          </a:p>
          <a:p>
            <a:pPr algn="l"/>
            <a:r>
              <a:rPr lang="ja-JP" altLang="en-US" sz="1400"/>
              <a:t>時刻サーバ（Time Server）は、以下のような形態があります：</a:t>
            </a:r>
          </a:p>
          <a:p>
            <a:pPr algn="l"/>
            <a:r>
              <a:rPr lang="ja-JP" altLang="en-US" sz="1400"/>
              <a:t>- 多目的ネットワークサーバ</a:t>
            </a:r>
          </a:p>
          <a:p>
            <a:pPr algn="l"/>
            <a:r>
              <a:rPr lang="ja-JP" altLang="en-US" sz="1400"/>
              <a:t>- 専用のネットワークサーバ</a:t>
            </a:r>
          </a:p>
          <a:p>
            <a:pPr algn="l"/>
            <a:r>
              <a:rPr lang="ja-JP" altLang="en-US" sz="1400"/>
              <a:t>- 専用デバイス（例：PMU に搭載された GPS モジュール）</a:t>
            </a:r>
          </a:p>
          <a:p>
            <a:pPr algn="l"/>
            <a:r>
              <a:rPr lang="ja-JP" altLang="en-US" sz="1400"/>
              <a:t>専用の時刻サーバは、単に 正確な時刻を提供することだけに特化 しています。</a:t>
            </a:r>
          </a:p>
          <a:p>
            <a:pPr algn="l"/>
            <a:r>
              <a:rPr lang="ja-JP" altLang="en-US" sz="1400"/>
              <a:t>時刻信号に最もよく使われるプロトコルは：</a:t>
            </a:r>
          </a:p>
          <a:p>
            <a:pPr algn="l"/>
            <a:r>
              <a:rPr lang="ja-JP" altLang="en-US" sz="1400"/>
              <a:t>- NTP（Network Time Protocol）</a:t>
            </a:r>
          </a:p>
          <a:p>
            <a:pPr algn="l"/>
            <a:r>
              <a:rPr lang="ja-JP" altLang="en-US" sz="1400"/>
              <a:t>- PTP（Precision Time Protocol）</a:t>
            </a:r>
          </a:p>
          <a:p>
            <a:pPr algn="l"/>
            <a:r>
              <a:rPr lang="ja-JP" altLang="en-US" sz="1400"/>
              <a:t>一部のシステムでは、ベンダー独自のプロトコルが使われることもあります。</a:t>
            </a:r>
          </a:p>
          <a:p>
            <a:pPr algn="l"/>
            <a:endParaRPr lang="ja-JP" altLang="en-US" sz="1400"/>
          </a:p>
          <a:p>
            <a:pPr algn="l"/>
            <a:r>
              <a:rPr lang="ja-JP" altLang="en-US" sz="1400"/>
              <a:t>Stratum（階層）とは何か</a:t>
            </a:r>
          </a:p>
          <a:p>
            <a:pPr algn="l"/>
            <a:r>
              <a:rPr lang="ja-JP" altLang="en-US" sz="1400"/>
              <a:t>「ストラタム（stratum）」という用語は、</a:t>
            </a:r>
          </a:p>
          <a:p>
            <a:pPr algn="l"/>
            <a:r>
              <a:rPr lang="ja-JP" altLang="en-US" sz="1400"/>
              <a:t>中央の高品質な時刻源にどれだけ近いかを示す相対的な指標 です。</a:t>
            </a:r>
          </a:p>
          <a:p>
            <a:pPr algn="l"/>
            <a:r>
              <a:rPr lang="ja-JP" altLang="en-US" sz="1400"/>
              <a:t>ストラタムは 0〜15 のスケール で表されます：</a:t>
            </a:r>
          </a:p>
          <a:p>
            <a:pPr algn="l"/>
            <a:r>
              <a:rPr lang="ja-JP" altLang="en-US" sz="1400"/>
              <a:t>- Stratum 0：最も正確で、時刻源に最も近い</a:t>
            </a:r>
          </a:p>
          <a:p>
            <a:pPr algn="l"/>
            <a:r>
              <a:rPr lang="ja-JP" altLang="en-US" sz="1400"/>
              <a:t>- 高精度の時刻源を持つハードウェアデバイス</a:t>
            </a:r>
          </a:p>
          <a:p>
            <a:pPr algn="l"/>
            <a:r>
              <a:rPr lang="ja-JP" altLang="en-US" sz="1400"/>
              <a:t>- コンピュータや機器のメイン基板に直接接続されることが多い</a:t>
            </a:r>
          </a:p>
          <a:p>
            <a:pPr algn="l"/>
            <a:r>
              <a:rPr lang="ja-JP" altLang="en-US" sz="1400"/>
              <a:t>- Stratum が大きいほど精度が低く、時刻源から遠い</a:t>
            </a:r>
          </a:p>
          <a:p>
            <a:pPr algn="l"/>
            <a:r>
              <a:rPr lang="ja-JP" altLang="en-US" sz="1400"/>
              <a:t>ICS では、アプリケーションや技術要件に応じて</a:t>
            </a:r>
          </a:p>
          <a:p>
            <a:pPr algn="l"/>
            <a:r>
              <a:rPr lang="ja-JP" altLang="en-US" sz="1400"/>
              <a:t>必要なストラタムレベルが決まっており、</a:t>
            </a:r>
          </a:p>
          <a:p>
            <a:pPr algn="l"/>
            <a:r>
              <a:rPr lang="ja-JP" altLang="en-US" sz="1400"/>
              <a:t>精度が低すぎる（ストラタムが高すぎる）時刻源は拒否される ことがあります。</a:t>
            </a:r>
          </a:p>
        </p:txBody>
      </p:sp>
      <p:pic>
        <p:nvPicPr>
          <p:cNvPr id="4" name="図形 3"/>
          <p:cNvPicPr>
            <a:picLocks noChangeAspect="1"/>
          </p:cNvPicPr>
          <p:nvPr/>
        </p:nvPicPr>
        <p:blipFill>
          <a:blip r:embed="rId2"/>
          <a:stretch>
            <a:fillRect/>
          </a:stretch>
        </p:blipFill>
        <p:spPr>
          <a:xfrm>
            <a:off x="252095" y="119380"/>
            <a:ext cx="6355080" cy="361188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フィールドデバイスの通信モジュールは、</a:t>
            </a:r>
          </a:p>
          <a:p>
            <a:pPr algn="l"/>
            <a:r>
              <a:rPr lang="ja-JP" altLang="en-US" sz="1400"/>
              <a:t>Modbus や PROFIBUS などの IED（Intelligent Electronic Devices）ネットワーク に</a:t>
            </a:r>
          </a:p>
          <a:p>
            <a:pPr algn="l"/>
            <a:r>
              <a:rPr lang="ja-JP" altLang="en-US" sz="1400"/>
              <a:t>FEP（Front-End Processor）を接続する役割を担います。</a:t>
            </a:r>
          </a:p>
          <a:p>
            <a:pPr algn="l"/>
            <a:r>
              <a:rPr lang="ja-JP" altLang="en-US" sz="1400"/>
              <a:t>これらの通信モジュールは FEP 本体とは分離されており、</a:t>
            </a:r>
          </a:p>
          <a:p>
            <a:pPr algn="l"/>
            <a:r>
              <a:rPr lang="ja-JP" altLang="en-US" sz="1400"/>
              <a:t>その理由は 必要となるインターフェースの種類や数がサイトごとに大きく異なる ためです。</a:t>
            </a:r>
          </a:p>
          <a:p>
            <a:pPr algn="l"/>
            <a:r>
              <a:rPr lang="ja-JP" altLang="en-US" sz="1400"/>
              <a:t>このモジュール化されたアプローチにより、エンドユーザーは：</a:t>
            </a:r>
          </a:p>
          <a:p>
            <a:pPr algn="l"/>
            <a:r>
              <a:rPr lang="ja-JP" altLang="en-US" sz="1400"/>
              <a:t>- ICS をアップグレードしたり拡張したりする際に</a:t>
            </a:r>
          </a:p>
          <a:p>
            <a:pPr algn="l"/>
            <a:r>
              <a:rPr lang="ja-JP" altLang="en-US" sz="1400"/>
              <a:t>- 初期段階から「最悪ケースに合わせた巨大な PLC」を購入する必要がなくなる</a:t>
            </a:r>
          </a:p>
          <a:p>
            <a:pPr algn="l"/>
            <a:r>
              <a:rPr lang="ja-JP" altLang="en-US" sz="1400"/>
              <a:t>というメリットがあります。</a:t>
            </a:r>
          </a:p>
          <a:p>
            <a:pPr algn="l"/>
            <a:r>
              <a:rPr lang="ja-JP" altLang="en-US" sz="1400"/>
              <a:t>つまり、必要な通信モジュールだけを追加していく柔軟な拡張性 が確保されるわけです。</a:t>
            </a:r>
          </a:p>
        </p:txBody>
      </p:sp>
      <p:pic>
        <p:nvPicPr>
          <p:cNvPr id="4" name="図形 3"/>
          <p:cNvPicPr>
            <a:picLocks noChangeAspect="1"/>
          </p:cNvPicPr>
          <p:nvPr/>
        </p:nvPicPr>
        <p:blipFill>
          <a:blip r:embed="rId2"/>
          <a:stretch>
            <a:fillRect/>
          </a:stretch>
        </p:blipFill>
        <p:spPr>
          <a:xfrm>
            <a:off x="269240" y="137795"/>
            <a:ext cx="6320790" cy="359664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通信ゲートウェイは、産業用データネットワーク全体において</a:t>
            </a:r>
          </a:p>
          <a:p>
            <a:pPr algn="l"/>
            <a:r>
              <a:rPr lang="ja-JP" altLang="en-US" sz="1400"/>
              <a:t>データの収集、保存、送信、そしてプロトコル変換 を行う役割を担います。</a:t>
            </a:r>
          </a:p>
          <a:p>
            <a:pPr algn="l"/>
            <a:r>
              <a:rPr lang="ja-JP" altLang="en-US" sz="1400"/>
              <a:t>これらのデバイスは、RS-232 や RS-485 しか持たない IED（Intelligent Electronic Devices）を</a:t>
            </a:r>
          </a:p>
          <a:p>
            <a:pPr algn="l"/>
            <a:r>
              <a:rPr lang="ja-JP" altLang="en-US" sz="1400"/>
              <a:t>TCP/IP ネットワークへ接続するため に使用されることがあります。</a:t>
            </a:r>
          </a:p>
          <a:p>
            <a:pPr algn="l"/>
            <a:r>
              <a:rPr lang="ja-JP" altLang="en-US" sz="1400"/>
              <a:t>また、通信をセルラー回線やその他の無線ネットワーク</a:t>
            </a:r>
          </a:p>
          <a:p>
            <a:pPr algn="l"/>
            <a:r>
              <a:rPr lang="ja-JP" altLang="en-US" sz="1400"/>
              <a:t>（メッシュ無線、ライセンス無線など）でバックホールする必要がある場合にも利用されます。</a:t>
            </a:r>
          </a:p>
          <a:p>
            <a:pPr algn="l"/>
            <a:r>
              <a:rPr lang="ja-JP" altLang="en-US" sz="1400"/>
              <a:t>通信ゲートウェイは、ローカルに接続された RTU に対して</a:t>
            </a:r>
          </a:p>
          <a:p>
            <a:pPr algn="l"/>
            <a:r>
              <a:rPr lang="ja-JP" altLang="en-US" sz="1400"/>
              <a:t>データやログにタイムスタンプを付与する用途でも広く使われています。</a:t>
            </a:r>
          </a:p>
          <a:p>
            <a:pPr algn="l"/>
            <a:r>
              <a:rPr lang="ja-JP" altLang="en-US" sz="1400"/>
              <a:t>これにより、複数の RTU を 1 台の通信ゲートウェイに接続し、</a:t>
            </a:r>
          </a:p>
          <a:p>
            <a:pPr algn="l"/>
            <a:r>
              <a:rPr lang="ja-JP" altLang="en-US" sz="1400"/>
              <a:t>同じ時刻源（time source）を共有させることが可能 になります。</a:t>
            </a:r>
          </a:p>
        </p:txBody>
      </p:sp>
      <p:pic>
        <p:nvPicPr>
          <p:cNvPr id="4" name="図形 3"/>
          <p:cNvPicPr>
            <a:picLocks noChangeAspect="1"/>
          </p:cNvPicPr>
          <p:nvPr/>
        </p:nvPicPr>
        <p:blipFill>
          <a:blip r:embed="rId2"/>
          <a:stretch>
            <a:fillRect/>
          </a:stretch>
        </p:blipFill>
        <p:spPr>
          <a:xfrm>
            <a:off x="257810" y="60325"/>
            <a:ext cx="6343650" cy="362331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形 3"/>
          <p:cNvPicPr>
            <a:picLocks noChangeAspect="1"/>
          </p:cNvPicPr>
          <p:nvPr/>
        </p:nvPicPr>
        <p:blipFill>
          <a:blip r:embed="rId2"/>
          <a:stretch>
            <a:fillRect/>
          </a:stretch>
        </p:blipFill>
        <p:spPr>
          <a:xfrm>
            <a:off x="263525" y="74295"/>
            <a:ext cx="6332220" cy="361569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9C11906D-CFDE-4D94-B710-A8E8E2B6035F}"/>
              </a:ext>
            </a:extLst>
          </p:cNvPr>
          <p:cNvPicPr>
            <a:picLocks noChangeAspect="1"/>
          </p:cNvPicPr>
          <p:nvPr/>
        </p:nvPicPr>
        <p:blipFill>
          <a:blip r:embed="rId2"/>
          <a:stretch>
            <a:fillRect/>
          </a:stretch>
        </p:blipFill>
        <p:spPr>
          <a:xfrm>
            <a:off x="0" y="-1"/>
            <a:ext cx="6871819" cy="3843867"/>
          </a:xfrm>
          <a:prstGeom prst="rect">
            <a:avLst/>
          </a:prstGeom>
        </p:spPr>
      </p:pic>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dirty="0"/>
              <a:t>空</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7EDDBFF1-1B3F-4922-8478-B943135796BA}"/>
              </a:ext>
            </a:extLst>
          </p:cNvPr>
          <p:cNvPicPr>
            <a:picLocks noChangeAspect="1"/>
          </p:cNvPicPr>
          <p:nvPr/>
        </p:nvPicPr>
        <p:blipFill>
          <a:blip r:embed="rId2"/>
          <a:stretch>
            <a:fillRect/>
          </a:stretch>
        </p:blipFill>
        <p:spPr>
          <a:xfrm>
            <a:off x="-1" y="-1"/>
            <a:ext cx="6804191" cy="3843867"/>
          </a:xfrm>
          <a:prstGeom prst="rect">
            <a:avLst/>
          </a:prstGeom>
        </p:spPr>
      </p:pic>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9403B58C-2E98-437A-AFB0-94FCBBF859F5}"/>
              </a:ext>
            </a:extLst>
          </p:cNvPr>
          <p:cNvPicPr>
            <a:picLocks noChangeAspect="1"/>
          </p:cNvPicPr>
          <p:nvPr/>
        </p:nvPicPr>
        <p:blipFill>
          <a:blip r:embed="rId2"/>
          <a:stretch>
            <a:fillRect/>
          </a:stretch>
        </p:blipFill>
        <p:spPr>
          <a:xfrm>
            <a:off x="0" y="0"/>
            <a:ext cx="6815686" cy="3877733"/>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E90FEB04-E8E4-462E-9ADF-6527F617DB09}"/>
              </a:ext>
            </a:extLst>
          </p:cNvPr>
          <p:cNvPicPr>
            <a:picLocks noChangeAspect="1"/>
          </p:cNvPicPr>
          <p:nvPr/>
        </p:nvPicPr>
        <p:blipFill>
          <a:blip r:embed="rId2"/>
          <a:stretch>
            <a:fillRect/>
          </a:stretch>
        </p:blipFill>
        <p:spPr>
          <a:xfrm>
            <a:off x="-1" y="0"/>
            <a:ext cx="6845299" cy="3911600"/>
          </a:xfrm>
          <a:prstGeom prst="rect">
            <a:avLst/>
          </a:prstGeom>
        </p:spPr>
      </p:pic>
      <p:sp>
        <p:nvSpPr>
          <p:cNvPr id="3" name="サブタイトル 2"/>
          <p:cNvSpPr>
            <a:spLocks noGrp="1"/>
          </p:cNvSpPr>
          <p:nvPr>
            <p:ph type="subTitle" idx="1"/>
          </p:nvPr>
        </p:nvSpPr>
        <p:spPr>
          <a:xfrm>
            <a:off x="3175" y="5874385"/>
            <a:ext cx="6852285" cy="6312535"/>
          </a:xfrm>
        </p:spPr>
        <p:txBody>
          <a:bodyPr>
            <a:normAutofit fontScale="67500" lnSpcReduction="20000"/>
          </a:bodyPr>
          <a:lstStyle/>
          <a:p>
            <a:pPr algn="l"/>
            <a:r>
              <a:rPr lang="ja-JP" altLang="en-US" sz="1400"/>
              <a:t>以下に、専門性を保ちつつ自然で読みやすい日本語訳をまとめます。</a:t>
            </a:r>
          </a:p>
          <a:p>
            <a:pPr algn="l"/>
            <a:endParaRPr lang="ja-JP" altLang="en-US" sz="1400"/>
          </a:p>
          <a:p>
            <a:pPr algn="l"/>
            <a:r>
              <a:rPr lang="ja-JP" altLang="en-US" sz="1400"/>
              <a:t>日本語訳（分かりやすく意訳）</a:t>
            </a:r>
          </a:p>
          <a:p>
            <a:pPr algn="l"/>
            <a:r>
              <a:rPr lang="ja-JP" altLang="en-US" sz="1400"/>
              <a:t>調達プロセスの主な目的は、</a:t>
            </a:r>
          </a:p>
          <a:p>
            <a:pPr algn="l"/>
            <a:r>
              <a:rPr lang="ja-JP" altLang="en-US" sz="1400"/>
              <a:t>顧客のニーズを明確にし、それに合った適切なソリューションを、</a:t>
            </a:r>
          </a:p>
          <a:p>
            <a:pPr algn="l"/>
            <a:r>
              <a:rPr lang="ja-JP" altLang="en-US" sz="1400"/>
              <a:t>購入者の予算内で選定すること にあります。</a:t>
            </a:r>
          </a:p>
          <a:p>
            <a:pPr algn="l"/>
            <a:r>
              <a:rPr lang="ja-JP" altLang="en-US" sz="1400"/>
              <a:t>セキュリティ要件を調達仕様として盛り込むことは可能ですが、</a:t>
            </a:r>
          </a:p>
          <a:p>
            <a:pPr algn="l"/>
            <a:r>
              <a:rPr lang="ja-JP" altLang="en-US" sz="1400"/>
              <a:t>それは 機能要件や価格など、他の要求事項と競合する ため、</a:t>
            </a:r>
          </a:p>
          <a:p>
            <a:pPr algn="l"/>
            <a:r>
              <a:rPr lang="ja-JP" altLang="en-US" sz="1400"/>
              <a:t>調達判断の中でバランスを取る必要があります。</a:t>
            </a:r>
          </a:p>
          <a:p>
            <a:pPr algn="l"/>
            <a:endParaRPr lang="ja-JP" altLang="en-US" sz="1400"/>
          </a:p>
          <a:p>
            <a:pPr algn="l"/>
            <a:r>
              <a:rPr lang="ja-JP" altLang="en-US" sz="1400"/>
              <a:t>セキュリティ要件を調達仕様に落とし込む難しさ</a:t>
            </a:r>
          </a:p>
          <a:p>
            <a:pPr algn="l"/>
            <a:r>
              <a:rPr lang="ja-JP" altLang="en-US" sz="1400"/>
              <a:t>セキュリティ要件を調達文書に組み込むことは容易ではなく、</a:t>
            </a:r>
          </a:p>
          <a:p>
            <a:pPr algn="l"/>
            <a:r>
              <a:rPr lang="ja-JP" altLang="en-US" sz="1400"/>
              <a:t>技術専門家は、技術的な要求を 調達プロセスで使われる言語に翻訳することに苦労 してきました。</a:t>
            </a:r>
          </a:p>
          <a:p>
            <a:pPr algn="l"/>
            <a:r>
              <a:rPr lang="ja-JP" altLang="en-US" sz="1400"/>
              <a:t>この課題に対応するため、</a:t>
            </a:r>
          </a:p>
          <a:p>
            <a:pPr algn="l"/>
            <a:r>
              <a:rPr lang="ja-JP" altLang="en-US" sz="1400"/>
              <a:t>調達の専門家が文書作成に関与し、</a:t>
            </a:r>
          </a:p>
          <a:p>
            <a:pPr algn="l"/>
            <a:r>
              <a:rPr lang="ja-JP" altLang="en-US" sz="1400"/>
              <a:t>調達プロセスに適した表現へと整える支援を行いました。</a:t>
            </a:r>
          </a:p>
          <a:p>
            <a:pPr algn="l"/>
            <a:r>
              <a:rPr lang="ja-JP" altLang="en-US" sz="1400"/>
              <a:t>作成されたリソースでは、</a:t>
            </a:r>
          </a:p>
          <a:p>
            <a:pPr algn="l"/>
            <a:r>
              <a:rPr lang="ja-JP" altLang="en-US" sz="1400"/>
              <a:t>要件が満たされているかを検証するための具体的な測定項目（measures）</a:t>
            </a:r>
          </a:p>
          <a:p>
            <a:pPr algn="l"/>
            <a:r>
              <a:rPr lang="ja-JP" altLang="en-US" sz="1400"/>
              <a:t>も定義されています。</a:t>
            </a:r>
          </a:p>
          <a:p>
            <a:pPr algn="l"/>
            <a:r>
              <a:rPr lang="ja-JP" altLang="en-US" sz="1400"/>
              <a:t>これらの測定項目は、</a:t>
            </a:r>
          </a:p>
          <a:p>
            <a:pPr algn="l"/>
            <a:r>
              <a:rPr lang="ja-JP" altLang="en-US" sz="1400"/>
              <a:t>導入時だけでなく、システム運用や保守フェーズまで含めて評価できる</a:t>
            </a:r>
          </a:p>
          <a:p>
            <a:pPr algn="l"/>
            <a:r>
              <a:rPr lang="ja-JP" altLang="en-US" sz="1400"/>
              <a:t>ように設計されています。</a:t>
            </a:r>
          </a:p>
          <a:p>
            <a:pPr algn="l"/>
            <a:endParaRPr lang="ja-JP" altLang="en-US" sz="1400"/>
          </a:p>
          <a:p>
            <a:pPr algn="l"/>
            <a:r>
              <a:rPr lang="ja-JP" altLang="en-US" sz="1400"/>
              <a:t>参考資料</a:t>
            </a:r>
          </a:p>
          <a:p>
            <a:pPr algn="l"/>
            <a:r>
              <a:rPr lang="ja-JP" altLang="en-US" sz="1400"/>
              <a:t>- Procurement Language Documents</a:t>
            </a:r>
          </a:p>
          <a:p>
            <a:pPr algn="l"/>
            <a:r>
              <a:rPr lang="ja-JP" altLang="en-US" sz="1400"/>
              <a:t>https://ics-cert.us-cert.gov/sites/default/files/documents/Procurement_Language_Rev4_100809_S508C.pdf (ics-cert.us-cert.gov in Bing)</a:t>
            </a:r>
          </a:p>
          <a:p>
            <a:pPr algn="l"/>
            <a:r>
              <a:rPr lang="ja-JP" altLang="en-US" sz="1400"/>
              <a:t>- Cybersecurity Procurement Language for Energy Delivery Systems</a:t>
            </a:r>
          </a:p>
          <a:p>
            <a:pPr algn="l"/>
            <a:r>
              <a:rPr lang="ja-JP" altLang="en-US" sz="1400"/>
              <a:t>https://www.energy.gov/sites/prod/files/2014/04/f15/CybersecProcurementLanguage-EnergyDeliverySystems_040714_fin.pdf (energy.gov in Bing)</a:t>
            </a:r>
          </a:p>
          <a:p>
            <a:pPr algn="l"/>
            <a:r>
              <a:rPr lang="ja-JP" altLang="en-US" sz="1400"/>
              <a:t>ICS-CERT リソース</a:t>
            </a:r>
          </a:p>
          <a:p>
            <a:pPr algn="l"/>
            <a:r>
              <a:rPr lang="ja-JP" altLang="en-US" sz="1400"/>
              <a:t>- https://us-cert.cisa.gov/ics/Information-Products</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ご覧のとおり、調達言語ツールキット（Procurement Language Toolkit）には、</a:t>
            </a:r>
          </a:p>
          <a:p>
            <a:pPr algn="l"/>
            <a:r>
              <a:rPr lang="ja-JP" altLang="en-US" sz="1400"/>
              <a:t>ICS を保有するあらゆる企業に役立つ多くのトピックが含まれています。</a:t>
            </a:r>
          </a:p>
          <a:p>
            <a:pPr algn="l"/>
            <a:r>
              <a:rPr lang="ja-JP" altLang="en-US" sz="1400"/>
              <a:t>エネルギー分野向けには、</a:t>
            </a:r>
          </a:p>
          <a:p>
            <a:pPr algn="l"/>
            <a:r>
              <a:rPr lang="ja-JP" altLang="en-US" sz="1400"/>
              <a:t>「Procurement Language for Energy Delivery Systems」 という拡張ガイダンスが存在します。</a:t>
            </a:r>
          </a:p>
          <a:p>
            <a:pPr algn="l"/>
            <a:r>
              <a:rPr lang="ja-JP" altLang="en-US" sz="1400"/>
              <a:t>これは Energy Sector Control Systems Working Group（ESCSWG） によって作成され、</a:t>
            </a:r>
          </a:p>
          <a:p>
            <a:pPr algn="l"/>
            <a:r>
              <a:rPr lang="ja-JP" altLang="en-US" sz="1400"/>
              <a:t>2014 年 4 月に公開されました。</a:t>
            </a:r>
          </a:p>
          <a:p>
            <a:pPr algn="l"/>
            <a:r>
              <a:rPr lang="ja-JP" altLang="en-US" sz="1400"/>
              <a:t>この文書は、元の調達言語ツールキットでは扱われていなかった</a:t>
            </a:r>
          </a:p>
          <a:p>
            <a:pPr algn="l"/>
            <a:r>
              <a:rPr lang="ja-JP" altLang="en-US" sz="1400"/>
              <a:t>エネルギー分野特有のシステム向けの追加文言 を提供しており、</a:t>
            </a:r>
          </a:p>
          <a:p>
            <a:pPr algn="l"/>
            <a:r>
              <a:rPr lang="ja-JP" altLang="en-US" sz="1400"/>
              <a:t>さらに、既存の項目の一部についても文言が更新されています。</a:t>
            </a:r>
          </a:p>
          <a:p>
            <a:pPr algn="l"/>
            <a:r>
              <a:rPr lang="ja-JP" altLang="en-US" sz="1400"/>
              <a:t>この文書には、以下のカテゴリに関する調達文言が含まれています：</a:t>
            </a:r>
          </a:p>
          <a:p>
            <a:pPr algn="l"/>
            <a:r>
              <a:rPr lang="ja-JP" altLang="en-US" sz="1400"/>
              <a:t>- 一般的なサイバーセキュリティ文言（General Cybersecurity Language）</a:t>
            </a:r>
          </a:p>
          <a:p>
            <a:pPr algn="l"/>
            <a:r>
              <a:rPr lang="ja-JP" altLang="en-US" sz="1400"/>
              <a:t>- サプライヤーのライフサイクルセキュリティプログラム（Supplier Life Cycle Security Program）</a:t>
            </a:r>
          </a:p>
          <a:p>
            <a:pPr algn="l"/>
            <a:r>
              <a:rPr lang="ja-JP" altLang="en-US" sz="1400"/>
              <a:t>- 侵入検知（Intrusion Detection）</a:t>
            </a:r>
          </a:p>
          <a:p>
            <a:pPr algn="l"/>
            <a:r>
              <a:rPr lang="ja-JP" altLang="en-US" sz="1400"/>
              <a:t>- 無線技術（Wireless Technologies）</a:t>
            </a:r>
          </a:p>
          <a:p>
            <a:pPr algn="l"/>
            <a:r>
              <a:rPr lang="ja-JP" altLang="en-US" sz="1400"/>
              <a:t>- 暗号システム管理（Cryptographic System Management）</a:t>
            </a:r>
          </a:p>
        </p:txBody>
      </p:sp>
      <p:pic>
        <p:nvPicPr>
          <p:cNvPr id="4" name="図 3">
            <a:extLst>
              <a:ext uri="{FF2B5EF4-FFF2-40B4-BE49-F238E27FC236}">
                <a16:creationId xmlns:a16="http://schemas.microsoft.com/office/drawing/2014/main" id="{C0AA21C8-50B0-4D46-AB74-043AEB9C76CE}"/>
              </a:ext>
            </a:extLst>
          </p:cNvPr>
          <p:cNvPicPr>
            <a:picLocks noChangeAspect="1"/>
          </p:cNvPicPr>
          <p:nvPr/>
        </p:nvPicPr>
        <p:blipFill>
          <a:blip r:embed="rId2"/>
          <a:stretch>
            <a:fillRect/>
          </a:stretch>
        </p:blipFill>
        <p:spPr>
          <a:xfrm>
            <a:off x="0" y="-1"/>
            <a:ext cx="6831762" cy="3877733"/>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2031807"/>
            <a:ext cx="3429000" cy="8703925"/>
          </a:xfrm>
        </p:spPr>
        <p:txBody>
          <a:bodyPr>
            <a:noAutofit/>
          </a:bodyPr>
          <a:lstStyle/>
          <a:p>
            <a:pPr algn="l"/>
            <a:r>
              <a:rPr lang="ja-JP" altLang="en-US" sz="1000" dirty="0"/>
              <a:t>以下は、Procurement Language Toolkit（調達言語ツールキット） の</a:t>
            </a:r>
          </a:p>
          <a:p>
            <a:pPr algn="l"/>
            <a:r>
              <a:rPr lang="ja-JP" altLang="en-US" sz="1000" dirty="0"/>
              <a:t>ハードニング（堅牢化）セクションで述べられている内容の要約です。</a:t>
            </a:r>
          </a:p>
          <a:p>
            <a:pPr algn="l"/>
            <a:r>
              <a:rPr lang="ja-JP" altLang="en-US" sz="1000" dirty="0"/>
              <a:t>1. 未使用サービスの無効化</a:t>
            </a:r>
          </a:p>
          <a:p>
            <a:pPr algn="l"/>
            <a:r>
              <a:rPr lang="ja-JP" altLang="en-US" sz="1000" dirty="0"/>
              <a:t>ホスト OS において 使用していないサービスが有効のまま残っていると、</a:t>
            </a:r>
          </a:p>
          <a:p>
            <a:pPr algn="l"/>
            <a:r>
              <a:rPr lang="ja-JP" altLang="en-US" sz="1000" dirty="0"/>
              <a:t>攻撃者に悪用される潜在的な入口となる。</a:t>
            </a:r>
          </a:p>
          <a:p>
            <a:pPr algn="l"/>
            <a:r>
              <a:rPr lang="ja-JP" altLang="en-US" sz="1000" dirty="0"/>
              <a:t>これらのサービスは通常監視されないため、リスクが高い。</a:t>
            </a:r>
          </a:p>
          <a:p>
            <a:pPr algn="l"/>
            <a:r>
              <a:rPr lang="ja-JP" altLang="en-US" sz="1000" dirty="0"/>
              <a:t>制御システムの運用・保守に必要なサービスだけを有効化すべき とされている。</a:t>
            </a:r>
          </a:p>
          <a:p>
            <a:pPr algn="l"/>
            <a:r>
              <a:rPr lang="ja-JP" altLang="en-US" sz="1000" dirty="0"/>
              <a:t>2. デフォルトで有効なサービスの危険性</a:t>
            </a:r>
          </a:p>
          <a:p>
            <a:pPr algn="l"/>
            <a:r>
              <a:rPr lang="ja-JP" altLang="en-US" sz="1000" dirty="0"/>
              <a:t>多くのネットワーク機器は、出荷時点で複数のサービスや</a:t>
            </a:r>
          </a:p>
          <a:p>
            <a:pPr algn="l"/>
            <a:r>
              <a:rPr lang="ja-JP" altLang="en-US" sz="1000" dirty="0"/>
              <a:t>OS のデフォルトユーティリティが有効になっている。</a:t>
            </a:r>
          </a:p>
          <a:p>
            <a:pPr algn="l"/>
            <a:r>
              <a:rPr lang="ja-JP" altLang="en-US" sz="1000" dirty="0"/>
              <a:t>これには診断ツールからチャットプログラムまで含まれ、</a:t>
            </a:r>
          </a:p>
          <a:p>
            <a:pPr algn="l"/>
            <a:r>
              <a:rPr lang="ja-JP" altLang="en-US" sz="1000" dirty="0"/>
              <a:t>既知の脆弱性を持つものも多い。</a:t>
            </a:r>
          </a:p>
          <a:p>
            <a:pPr algn="l"/>
            <a:r>
              <a:rPr lang="ja-JP" altLang="en-US" sz="1000" dirty="0"/>
              <a:t>攻撃者はこれらを悪用してシステム侵害につながる情報を取得できる。</a:t>
            </a:r>
          </a:p>
          <a:p>
            <a:pPr algn="l"/>
            <a:r>
              <a:rPr lang="ja-JP" altLang="en-US" sz="1000" dirty="0"/>
              <a:t>3. ネットワークサービスのリスク</a:t>
            </a:r>
          </a:p>
          <a:p>
            <a:pPr algn="l"/>
            <a:r>
              <a:rPr lang="ja-JP" altLang="en-US" sz="1000" dirty="0"/>
              <a:t>特定のアドレス（IP + TCP/UDP ポート）で接続要求を待ち受ける</a:t>
            </a:r>
          </a:p>
          <a:p>
            <a:pPr algn="l"/>
            <a:r>
              <a:rPr lang="ja-JP" altLang="en-US" sz="1000" dirty="0"/>
              <a:t>ネットワークサービスは攻撃対象になり得る。</a:t>
            </a:r>
          </a:p>
          <a:p>
            <a:pPr algn="l"/>
            <a:r>
              <a:rPr lang="ja-JP" altLang="en-US" sz="1000" dirty="0"/>
              <a:t>推奨される堅牢化策として、</a:t>
            </a:r>
          </a:p>
          <a:p>
            <a:pPr algn="l"/>
            <a:r>
              <a:rPr lang="ja-JP" altLang="en-US" sz="1000" dirty="0"/>
              <a:t>通常運用に不要なサービスやプログラムは無効化または削除する</a:t>
            </a:r>
          </a:p>
          <a:p>
            <a:pPr algn="l"/>
            <a:r>
              <a:rPr lang="ja-JP" altLang="en-US" sz="1000" dirty="0"/>
              <a:t>ことが挙げられている。</a:t>
            </a:r>
          </a:p>
          <a:p>
            <a:pPr algn="l"/>
            <a:r>
              <a:rPr lang="ja-JP" altLang="en-US" sz="1000" dirty="0"/>
              <a:t>4. ポートスキャンの活用</a:t>
            </a:r>
          </a:p>
          <a:p>
            <a:pPr algn="l"/>
            <a:r>
              <a:rPr lang="ja-JP" altLang="en-US" sz="1000" dirty="0"/>
              <a:t>必要なサービスが存在し、不要なサービスが存在しないことを確認するため、</a:t>
            </a:r>
          </a:p>
          <a:p>
            <a:pPr algn="l"/>
            <a:r>
              <a:rPr lang="ja-JP" altLang="en-US" sz="1000" dirty="0"/>
              <a:t>ポートスキャンが一般的に使用される。</a:t>
            </a:r>
          </a:p>
          <a:p>
            <a:pPr algn="l"/>
            <a:r>
              <a:rPr lang="ja-JP" altLang="en-US" sz="1000" dirty="0"/>
              <a:t>• 	FAT（Factory Acceptance Test）前に実施</a:t>
            </a:r>
          </a:p>
          <a:p>
            <a:pPr algn="l"/>
            <a:r>
              <a:rPr lang="ja-JP" altLang="en-US" sz="1000" dirty="0"/>
              <a:t>• 	代表的で完全な構成のシステムで実施</a:t>
            </a:r>
          </a:p>
          <a:p>
            <a:pPr algn="l"/>
            <a:r>
              <a:rPr lang="ja-JP" altLang="en-US" sz="1000" dirty="0"/>
              <a:t>• 	TCP/UDP の全 I/O ポートを対象</a:t>
            </a:r>
          </a:p>
          <a:p>
            <a:pPr algn="l"/>
            <a:r>
              <a:rPr lang="ja-JP" altLang="en-US" sz="1000" dirty="0"/>
              <a:t>• 	SAT（Site Acceptance Test）前にも再度実施</a:t>
            </a:r>
          </a:p>
          <a:p>
            <a:pPr algn="l"/>
            <a:r>
              <a:rPr lang="ja-JP" altLang="en-US" sz="1000" dirty="0"/>
              <a:t>• 	本番環境ではスキャナが運用に影響するため、通常は実施困難</a:t>
            </a:r>
          </a:p>
          <a:p>
            <a:pPr algn="l"/>
            <a:endParaRPr lang="ja-JP" altLang="en-US" sz="1000" dirty="0"/>
          </a:p>
        </p:txBody>
      </p:sp>
      <p:pic>
        <p:nvPicPr>
          <p:cNvPr id="2" name="図 1">
            <a:extLst>
              <a:ext uri="{FF2B5EF4-FFF2-40B4-BE49-F238E27FC236}">
                <a16:creationId xmlns:a16="http://schemas.microsoft.com/office/drawing/2014/main" id="{B58E0F17-30AA-4C19-8DE5-CCCDA98E3EC2}"/>
              </a:ext>
            </a:extLst>
          </p:cNvPr>
          <p:cNvPicPr>
            <a:picLocks noChangeAspect="1"/>
          </p:cNvPicPr>
          <p:nvPr/>
        </p:nvPicPr>
        <p:blipFill>
          <a:blip r:embed="rId2"/>
          <a:stretch>
            <a:fillRect/>
          </a:stretch>
        </p:blipFill>
        <p:spPr>
          <a:xfrm>
            <a:off x="1378114" y="0"/>
            <a:ext cx="3566419" cy="2031807"/>
          </a:xfrm>
          <a:prstGeom prst="rect">
            <a:avLst/>
          </a:prstGeom>
        </p:spPr>
      </p:pic>
      <p:sp>
        <p:nvSpPr>
          <p:cNvPr id="4" name="サブタイトル 2">
            <a:extLst>
              <a:ext uri="{FF2B5EF4-FFF2-40B4-BE49-F238E27FC236}">
                <a16:creationId xmlns:a16="http://schemas.microsoft.com/office/drawing/2014/main" id="{285E86D2-50D7-4249-A199-F5EB40732A2C}"/>
              </a:ext>
            </a:extLst>
          </p:cNvPr>
          <p:cNvSpPr txBox="1">
            <a:spLocks/>
          </p:cNvSpPr>
          <p:nvPr/>
        </p:nvSpPr>
        <p:spPr>
          <a:xfrm>
            <a:off x="3429000" y="2031807"/>
            <a:ext cx="3429000" cy="6875127"/>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000" dirty="0"/>
              <a:t>5. 調達仕様としての要求事項</a:t>
            </a:r>
          </a:p>
          <a:p>
            <a:pPr algn="l"/>
            <a:r>
              <a:rPr lang="ja-JP" altLang="en-US" sz="1000" dirty="0"/>
              <a:t>契約後、ベンダーは以下を含む詳細なドキュメントを提供する必要がある：</a:t>
            </a:r>
          </a:p>
          <a:p>
            <a:pPr algn="l"/>
            <a:r>
              <a:rPr lang="ja-JP" altLang="en-US" sz="1000" dirty="0"/>
              <a:t>• 	すべてのアプリケーション</a:t>
            </a:r>
          </a:p>
          <a:p>
            <a:pPr algn="l"/>
            <a:r>
              <a:rPr lang="ja-JP" altLang="en-US" sz="1000" dirty="0"/>
              <a:t>• 	ユーティリティ</a:t>
            </a:r>
          </a:p>
          <a:p>
            <a:pPr algn="l"/>
            <a:r>
              <a:rPr lang="ja-JP" altLang="en-US" sz="1000" dirty="0"/>
              <a:t>• 	システムサービス</a:t>
            </a:r>
          </a:p>
          <a:p>
            <a:pPr algn="l"/>
            <a:r>
              <a:rPr lang="ja-JP" altLang="en-US" sz="1000" dirty="0"/>
              <a:t>• 	スクリプト</a:t>
            </a:r>
          </a:p>
          <a:p>
            <a:pPr algn="l"/>
            <a:r>
              <a:rPr lang="ja-JP" altLang="en-US" sz="1000" dirty="0"/>
              <a:t>• 	設定ファイル</a:t>
            </a:r>
          </a:p>
          <a:p>
            <a:pPr algn="l"/>
            <a:r>
              <a:rPr lang="ja-JP" altLang="en-US" sz="1000" dirty="0"/>
              <a:t>• 	データベース</a:t>
            </a:r>
          </a:p>
          <a:p>
            <a:pPr algn="l"/>
            <a:r>
              <a:rPr lang="ja-JP" altLang="en-US" sz="1000" dirty="0"/>
              <a:t>• 	その他必要なソフトウェア</a:t>
            </a:r>
          </a:p>
          <a:p>
            <a:pPr algn="l"/>
            <a:r>
              <a:rPr lang="ja-JP" altLang="en-US" sz="1000" dirty="0"/>
              <a:t>• 	それぞれの適切な設定、リビジョン、パッチレベル</a:t>
            </a:r>
          </a:p>
          <a:p>
            <a:pPr algn="l"/>
            <a:r>
              <a:rPr lang="ja-JP" altLang="en-US" sz="1000" dirty="0"/>
              <a:t>これらは 制御システムに関連するすべてのコンピュータシステム を対象とする。</a:t>
            </a:r>
          </a:p>
          <a:p>
            <a:pPr algn="l"/>
            <a:endParaRPr lang="ja-JP" altLang="en-US" sz="1000" dirty="0"/>
          </a:p>
          <a:p>
            <a:pPr algn="l"/>
            <a:r>
              <a:rPr lang="ja-JP" altLang="en-US" sz="1000" dirty="0"/>
              <a:t>補足：ICS の堅牢化で重要なポイント</a:t>
            </a:r>
          </a:p>
          <a:p>
            <a:pPr algn="l"/>
            <a:r>
              <a:rPr lang="ja-JP" altLang="en-US" sz="1000" dirty="0"/>
              <a:t>Takahiro </a:t>
            </a:r>
            <a:r>
              <a:rPr lang="ja-JP" altLang="en-US" sz="1000" dirty="0" err="1"/>
              <a:t>さんの</a:t>
            </a:r>
            <a:r>
              <a:rPr lang="ja-JP" altLang="en-US" sz="1000" dirty="0"/>
              <a:t>ラボ構築や ICS/OT の翻訳作業にも直結する部分ですが、</a:t>
            </a:r>
          </a:p>
          <a:p>
            <a:pPr algn="l"/>
            <a:r>
              <a:rPr lang="ja-JP" altLang="en-US" sz="1000" dirty="0"/>
              <a:t>このセクションが強調しているのは次の 3 点です。</a:t>
            </a:r>
          </a:p>
          <a:p>
            <a:pPr algn="l"/>
            <a:r>
              <a:rPr lang="ja-JP" altLang="en-US" sz="1000" dirty="0"/>
              <a:t>① “デフォルトのまま” は危険</a:t>
            </a:r>
          </a:p>
          <a:p>
            <a:pPr algn="l"/>
            <a:r>
              <a:rPr lang="ja-JP" altLang="en-US" sz="1000" dirty="0"/>
              <a:t>ICS 機器は IT 機器以上に、</a:t>
            </a:r>
          </a:p>
          <a:p>
            <a:pPr algn="l"/>
            <a:r>
              <a:rPr lang="ja-JP" altLang="en-US" sz="1000" dirty="0"/>
              <a:t>不要サービスが放置されているケースが多い。</a:t>
            </a:r>
          </a:p>
          <a:p>
            <a:pPr algn="l"/>
            <a:r>
              <a:rPr lang="ja-JP" altLang="en-US" sz="1000" dirty="0"/>
              <a:t>特に古い OS や組み込み Linux では顕著。</a:t>
            </a:r>
          </a:p>
          <a:p>
            <a:pPr algn="l"/>
            <a:r>
              <a:rPr lang="ja-JP" altLang="en-US" sz="1000" dirty="0"/>
              <a:t>② FAT/SAT での検証が必須</a:t>
            </a:r>
          </a:p>
          <a:p>
            <a:pPr algn="l"/>
            <a:r>
              <a:rPr lang="ja-JP" altLang="en-US" sz="1000" dirty="0"/>
              <a:t>本番環境ではスキャンできないため、</a:t>
            </a:r>
          </a:p>
          <a:p>
            <a:pPr algn="l"/>
            <a:r>
              <a:rPr lang="ja-JP" altLang="en-US" sz="1000" dirty="0"/>
              <a:t>受入試験の段階で徹底的に確認するしかない。</a:t>
            </a:r>
          </a:p>
          <a:p>
            <a:pPr algn="l"/>
            <a:r>
              <a:rPr lang="ja-JP" altLang="en-US" sz="1000" dirty="0"/>
              <a:t>③ ベンダーに透明性を要求する</a:t>
            </a:r>
          </a:p>
          <a:p>
            <a:pPr algn="l"/>
            <a:r>
              <a:rPr lang="ja-JP" altLang="en-US" sz="1000" dirty="0"/>
              <a:t>調達言語の目的は、</a:t>
            </a:r>
          </a:p>
          <a:p>
            <a:pPr algn="l"/>
            <a:r>
              <a:rPr lang="ja-JP" altLang="en-US" sz="1000" dirty="0"/>
              <a:t>「ブラックボックスの ICS を買わされないようにする」</a:t>
            </a:r>
          </a:p>
          <a:p>
            <a:pPr algn="l"/>
            <a:r>
              <a:rPr lang="ja-JP" altLang="en-US" sz="1000" dirty="0"/>
              <a:t>ことでもある。</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0"/>
            <a:ext cx="6852285" cy="6848263"/>
          </a:xfrm>
        </p:spPr>
        <p:txBody>
          <a:bodyPr>
            <a:noAutofit/>
          </a:bodyPr>
          <a:lstStyle/>
          <a:p>
            <a:pPr algn="l"/>
            <a:r>
              <a:rPr lang="ja-JP" altLang="en-US" sz="1400" dirty="0"/>
              <a:t>1. 必要サービス一覧の提供義務</a:t>
            </a:r>
          </a:p>
          <a:p>
            <a:pPr algn="l"/>
            <a:r>
              <a:rPr lang="ja-JP" altLang="en-US" sz="1400" dirty="0"/>
              <a:t>ベンダーは、</a:t>
            </a:r>
          </a:p>
          <a:p>
            <a:pPr algn="l"/>
            <a:r>
              <a:rPr lang="ja-JP" altLang="en-US" sz="1400" dirty="0"/>
              <a:t>制御システムアプリケーションを実行する、またはそれらと連携するために必要な</a:t>
            </a:r>
          </a:p>
          <a:p>
            <a:pPr algn="l"/>
            <a:r>
              <a:rPr lang="ja-JP" altLang="en-US" sz="1400" dirty="0"/>
              <a:t>すべてのコンピュータシステムにおけるサービス一覧 を提供しなければならない。</a:t>
            </a:r>
          </a:p>
          <a:p>
            <a:pPr algn="l"/>
            <a:r>
              <a:rPr lang="ja-JP" altLang="en-US" sz="1400" dirty="0"/>
              <a:t>この一覧には以下が含まれる：</a:t>
            </a:r>
          </a:p>
          <a:p>
            <a:pPr algn="l"/>
            <a:r>
              <a:rPr lang="ja-JP" altLang="en-US" sz="1400" dirty="0"/>
              <a:t>• 	通常運用に必要なすべてのポートとサービス</a:t>
            </a:r>
          </a:p>
          <a:p>
            <a:pPr algn="l"/>
            <a:r>
              <a:rPr lang="ja-JP" altLang="en-US" sz="1400" dirty="0"/>
              <a:t>• 	緊急時運用に必要なポートとサービス</a:t>
            </a:r>
          </a:p>
          <a:p>
            <a:pPr algn="l"/>
            <a:r>
              <a:rPr lang="ja-JP" altLang="en-US" sz="1400" dirty="0"/>
              <a:t>• 	各サービスがなぜ必要なのかを説明する文書、</a:t>
            </a:r>
          </a:p>
          <a:p>
            <a:pPr algn="l"/>
            <a:r>
              <a:rPr lang="ja-JP" altLang="en-US" sz="1400" dirty="0"/>
              <a:t>またはその理由を示す参照情報（クロスリファレンス）</a:t>
            </a:r>
          </a:p>
          <a:p>
            <a:pPr algn="l"/>
            <a:endParaRPr lang="ja-JP" altLang="en-US" sz="1400" dirty="0"/>
          </a:p>
          <a:p>
            <a:pPr algn="l"/>
            <a:r>
              <a:rPr lang="ja-JP" altLang="en-US" sz="1400" dirty="0"/>
              <a:t>2. パッチ適用状況の証明</a:t>
            </a:r>
          </a:p>
          <a:p>
            <a:pPr algn="l"/>
            <a:r>
              <a:rPr lang="ja-JP" altLang="en-US" sz="1400" dirty="0"/>
              <a:t>ベンダーは、</a:t>
            </a:r>
          </a:p>
          <a:p>
            <a:pPr algn="l"/>
            <a:r>
              <a:rPr lang="ja-JP" altLang="en-US" sz="1400" dirty="0"/>
              <a:t>すべてのサービスが最新のパッチ状態であることを検証し、</a:t>
            </a:r>
          </a:p>
          <a:p>
            <a:pPr algn="l"/>
            <a:r>
              <a:rPr lang="ja-JP" altLang="en-US" sz="1400" dirty="0"/>
              <a:t>その証拠となる文書を提供する義務 がある。</a:t>
            </a:r>
          </a:p>
          <a:p>
            <a:pPr algn="l"/>
            <a:endParaRPr lang="ja-JP" altLang="en-US" sz="1400" dirty="0"/>
          </a:p>
          <a:p>
            <a:pPr algn="l"/>
            <a:r>
              <a:rPr lang="ja-JP" altLang="en-US" sz="1400" dirty="0"/>
              <a:t>3. 脆弱性対策のアップデート提供義務</a:t>
            </a:r>
          </a:p>
          <a:p>
            <a:pPr algn="l"/>
            <a:r>
              <a:rPr lang="ja-JP" altLang="en-US" sz="1400" dirty="0"/>
              <a:t>ベンダーは、事前に合意した期間内に：</a:t>
            </a:r>
          </a:p>
          <a:p>
            <a:pPr algn="l"/>
            <a:r>
              <a:rPr lang="ja-JP" altLang="en-US" sz="1400" dirty="0"/>
              <a:t>• 	適切なソフトウェア更新</a:t>
            </a:r>
          </a:p>
          <a:p>
            <a:pPr algn="l"/>
            <a:r>
              <a:rPr lang="ja-JP" altLang="en-US" sz="1400" dirty="0"/>
              <a:t>• 	サービス更新</a:t>
            </a:r>
          </a:p>
          <a:p>
            <a:pPr algn="l"/>
            <a:r>
              <a:rPr lang="ja-JP" altLang="en-US" sz="1400" dirty="0"/>
              <a:t>• 	必要に応じたワークアラウンド</a:t>
            </a:r>
          </a:p>
          <a:p>
            <a:pPr algn="l"/>
            <a:r>
              <a:rPr lang="ja-JP" altLang="en-US" sz="1400" dirty="0" err="1"/>
              <a:t>を提</a:t>
            </a:r>
            <a:r>
              <a:rPr lang="ja-JP" altLang="en-US" sz="1400" dirty="0"/>
              <a:t>供し、</a:t>
            </a:r>
          </a:p>
          <a:p>
            <a:pPr algn="l"/>
            <a:r>
              <a:rPr lang="ja-JP" altLang="en-US" sz="1400" dirty="0"/>
              <a:t>製品に関連するすべての脆弱性を軽減し、</a:t>
            </a:r>
          </a:p>
          <a:p>
            <a:pPr algn="l"/>
            <a:r>
              <a:rPr lang="ja-JP" altLang="en-US" sz="1400" dirty="0"/>
              <a:t>既定のセキュリティレベルを維持する 必要がある。</a:t>
            </a:r>
          </a:p>
          <a:p>
            <a:pPr algn="l"/>
            <a:endParaRPr lang="ja-JP" altLang="en-US" sz="1400" dirty="0"/>
          </a:p>
          <a:p>
            <a:pPr algn="l"/>
            <a:endParaRPr lang="ja-JP" altLang="en-US" sz="1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2857" y="3843866"/>
            <a:ext cx="6852285" cy="8348134"/>
          </a:xfrm>
        </p:spPr>
        <p:txBody>
          <a:bodyPr>
            <a:noAutofit/>
          </a:bodyPr>
          <a:lstStyle/>
          <a:p>
            <a:pPr algn="l"/>
            <a:r>
              <a:rPr lang="ja-JP" altLang="en-US" sz="1200" dirty="0"/>
              <a:t>以下に、専門性を保ちつつ自然で読みやすい日本語訳をまとめます。</a:t>
            </a:r>
          </a:p>
          <a:p>
            <a:pPr algn="l"/>
            <a:endParaRPr lang="ja-JP" altLang="en-US" sz="1200" dirty="0"/>
          </a:p>
          <a:p>
            <a:pPr algn="l"/>
            <a:r>
              <a:rPr lang="ja-JP" altLang="en-US" sz="1200" dirty="0"/>
              <a:t>日本語訳（分かりやすく意訳）</a:t>
            </a:r>
          </a:p>
          <a:p>
            <a:pPr algn="l"/>
            <a:r>
              <a:rPr lang="ja-JP" altLang="en-US" sz="1200" dirty="0"/>
              <a:t>ISA Security Compliance Institute（ISCI）は、</a:t>
            </a:r>
          </a:p>
          <a:p>
            <a:pPr algn="l"/>
            <a:r>
              <a:rPr lang="ja-JP" altLang="en-US" sz="1200" dirty="0"/>
              <a:t>ISA99 およびその他の制御システム向けセキュリティ標準に対する</a:t>
            </a:r>
          </a:p>
          <a:p>
            <a:pPr algn="l"/>
            <a:r>
              <a:rPr lang="ja-JP" altLang="en-US" sz="1200" dirty="0"/>
              <a:t>コンプライアンステスト仕様 を策定しています。</a:t>
            </a:r>
          </a:p>
          <a:p>
            <a:pPr algn="l"/>
            <a:r>
              <a:rPr lang="ja-JP" altLang="en-US" sz="1200" dirty="0"/>
              <a:t>さらに、ISCI は ISASecure と呼ばれる</a:t>
            </a:r>
          </a:p>
          <a:p>
            <a:pPr algn="l"/>
            <a:r>
              <a:rPr lang="ja-JP" altLang="en-US" sz="1200" dirty="0"/>
              <a:t>ANSI 認定の認証プログラムを構築しており、</a:t>
            </a:r>
          </a:p>
          <a:p>
            <a:pPr algn="l"/>
            <a:r>
              <a:rPr lang="ja-JP" altLang="en-US" sz="1200" dirty="0"/>
              <a:t>これは以下のような産業オートメーション機器の認証に利用されています：</a:t>
            </a:r>
          </a:p>
          <a:p>
            <a:pPr algn="l"/>
            <a:r>
              <a:rPr lang="ja-JP" altLang="en-US" sz="1200" dirty="0"/>
              <a:t>- PLC（Programmable Logic Controller）</a:t>
            </a:r>
          </a:p>
          <a:p>
            <a:pPr algn="l"/>
            <a:r>
              <a:rPr lang="ja-JP" altLang="en-US" sz="1200" dirty="0"/>
              <a:t>- DCS（Distributed Control System）内のフィールドコンポーネント</a:t>
            </a:r>
          </a:p>
          <a:p>
            <a:pPr algn="l"/>
            <a:r>
              <a:rPr lang="ja-JP" altLang="en-US" sz="1200" dirty="0"/>
              <a:t>- PCS（Process Control System）内のフィールドコンポーネント</a:t>
            </a:r>
          </a:p>
          <a:p>
            <a:pPr algn="l"/>
            <a:r>
              <a:rPr lang="ja-JP" altLang="en-US" sz="1200" dirty="0"/>
              <a:t>ISASecure は、IEC 62443 シリーズに基づく</a:t>
            </a:r>
          </a:p>
          <a:p>
            <a:pPr algn="l"/>
            <a:r>
              <a:rPr lang="ja-JP" altLang="en-US" sz="1200" dirty="0"/>
              <a:t>国際的に認められた ICS/OT セキュリティ認証として広く利用されています。</a:t>
            </a:r>
          </a:p>
          <a:p>
            <a:pPr algn="l"/>
            <a:endParaRPr lang="ja-JP" altLang="en-US" sz="1200" dirty="0"/>
          </a:p>
          <a:p>
            <a:pPr algn="l"/>
            <a:r>
              <a:rPr lang="ja-JP" altLang="en-US" sz="1200" dirty="0"/>
              <a:t>参考リンク</a:t>
            </a:r>
          </a:p>
          <a:p>
            <a:pPr algn="l"/>
            <a:r>
              <a:rPr lang="ja-JP" altLang="en-US" sz="1200" dirty="0"/>
              <a:t>- ISASecure 公式サイト</a:t>
            </a:r>
          </a:p>
          <a:p>
            <a:pPr algn="l"/>
            <a:r>
              <a:rPr lang="ja-JP" altLang="en-US" sz="1200" dirty="0"/>
              <a:t>https://www.isasecure.org/en-US</a:t>
            </a:r>
          </a:p>
          <a:p>
            <a:pPr algn="l"/>
            <a:r>
              <a:rPr lang="ja-JP" altLang="en-US" sz="1200" dirty="0"/>
              <a:t>- IEC 62443 SDLA Certification（Security Development Lifecycle Assurance）</a:t>
            </a:r>
          </a:p>
          <a:p>
            <a:pPr algn="l"/>
            <a:r>
              <a:rPr lang="ja-JP" altLang="en-US" sz="1200" dirty="0"/>
              <a:t>https://isasecure.org/en-US/Certification/IEC-62443-SDLA-Certification-(1) (isasecure.org in Bing)</a:t>
            </a:r>
          </a:p>
          <a:p>
            <a:pPr algn="l"/>
            <a:r>
              <a:rPr lang="ja-JP" altLang="en-US" sz="1200" dirty="0"/>
              <a:t>- IEC 62443 EDSA Certification（Embedded Device Security Assurance）</a:t>
            </a:r>
          </a:p>
          <a:p>
            <a:pPr algn="l"/>
            <a:r>
              <a:rPr lang="ja-JP" altLang="en-US" sz="1200" dirty="0"/>
              <a:t>https://isasecure.org/en-US/Certification/IEC-62443-EDSA-Certification</a:t>
            </a:r>
          </a:p>
          <a:p>
            <a:pPr algn="l"/>
            <a:r>
              <a:rPr lang="ja-JP" altLang="en-US" sz="1200" dirty="0"/>
              <a:t>- IEC 62443 SSA Certification（System Security Assurance）</a:t>
            </a:r>
          </a:p>
          <a:p>
            <a:pPr algn="l"/>
            <a:r>
              <a:rPr lang="ja-JP" altLang="en-US" sz="1200" dirty="0"/>
              <a:t>https://isasecure.org/en-US/Certification/IEC-62443-SSA-Certification</a:t>
            </a:r>
          </a:p>
          <a:p>
            <a:pPr algn="l"/>
            <a:r>
              <a:rPr lang="ja-JP" altLang="en-US" sz="1200" dirty="0"/>
              <a:t>- ISASecure Test Tools</a:t>
            </a:r>
          </a:p>
          <a:p>
            <a:pPr algn="l"/>
            <a:r>
              <a:rPr lang="ja-JP" altLang="en-US" sz="1200" dirty="0"/>
              <a:t>https://www.isasecure.org/en-US/Test-Tools</a:t>
            </a:r>
          </a:p>
          <a:p>
            <a:pPr algn="l"/>
            <a:r>
              <a:rPr lang="ja-JP" altLang="en-US" sz="1200" dirty="0"/>
              <a:t>- CRT（Communication Robustness Testing）認定テストツール一覧</a:t>
            </a:r>
          </a:p>
          <a:p>
            <a:pPr algn="l"/>
            <a:r>
              <a:rPr lang="ja-JP" altLang="en-US" sz="1200" dirty="0"/>
              <a:t>https://www.isasecure.org/en-US/Test-Tools</a:t>
            </a:r>
          </a:p>
        </p:txBody>
      </p:sp>
      <p:pic>
        <p:nvPicPr>
          <p:cNvPr id="2" name="図 1">
            <a:extLst>
              <a:ext uri="{FF2B5EF4-FFF2-40B4-BE49-F238E27FC236}">
                <a16:creationId xmlns:a16="http://schemas.microsoft.com/office/drawing/2014/main" id="{86274EE6-7FD3-45C2-A7AE-C932B09C4436}"/>
              </a:ext>
            </a:extLst>
          </p:cNvPr>
          <p:cNvPicPr>
            <a:picLocks noChangeAspect="1"/>
          </p:cNvPicPr>
          <p:nvPr/>
        </p:nvPicPr>
        <p:blipFill>
          <a:blip r:embed="rId2"/>
          <a:stretch>
            <a:fillRect/>
          </a:stretch>
        </p:blipFill>
        <p:spPr>
          <a:xfrm>
            <a:off x="0" y="-1"/>
            <a:ext cx="6788106" cy="3843867"/>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214511"/>
            <a:ext cx="3429000" cy="8926689"/>
          </a:xfrm>
        </p:spPr>
        <p:txBody>
          <a:bodyPr>
            <a:noAutofit/>
          </a:bodyPr>
          <a:lstStyle/>
          <a:p>
            <a:pPr algn="l"/>
            <a:r>
              <a:rPr lang="ja-JP" altLang="en-US" sz="1100" dirty="0"/>
              <a:t>ICS メーカーやサードパーティは、</a:t>
            </a:r>
          </a:p>
          <a:p>
            <a:pPr algn="l"/>
            <a:r>
              <a:rPr lang="ja-JP" altLang="en-US" sz="1100" dirty="0"/>
              <a:t>制御システム機器の設計や用途に基づき、必要な通信だけを許可するための</a:t>
            </a:r>
          </a:p>
          <a:p>
            <a:pPr algn="l"/>
            <a:r>
              <a:rPr lang="ja-JP" altLang="en-US" sz="1100" dirty="0"/>
              <a:t>カスタマイズされたフィルタを適用できるインライン型ファイアウォール を多数開発してきました。</a:t>
            </a:r>
          </a:p>
          <a:p>
            <a:pPr algn="l"/>
            <a:r>
              <a:rPr lang="ja-JP" altLang="en-US" sz="1100" dirty="0"/>
              <a:t>固定構成（Fixed Configuration）ファイアウォールは、</a:t>
            </a:r>
          </a:p>
          <a:p>
            <a:pPr algn="l"/>
            <a:r>
              <a:rPr lang="ja-JP" altLang="en-US" sz="1100" dirty="0"/>
              <a:t>特定のプロトコル（例：Modbus、SNMP Trap など）や</a:t>
            </a:r>
          </a:p>
          <a:p>
            <a:pPr algn="l"/>
            <a:r>
              <a:rPr lang="ja-JP" altLang="en-US" sz="1100" dirty="0"/>
              <a:t>特定のシグネチャルール（例：通信モジュールの DoS を防ぐためのレート制限）に</a:t>
            </a:r>
          </a:p>
          <a:p>
            <a:pPr algn="l"/>
            <a:r>
              <a:rPr lang="ja-JP" altLang="en-US" sz="1100" dirty="0"/>
              <a:t>対応するよう設計されています。</a:t>
            </a:r>
          </a:p>
          <a:p>
            <a:pPr algn="l"/>
            <a:r>
              <a:rPr lang="ja-JP" altLang="en-US" sz="1100" dirty="0"/>
              <a:t>これらの 事前構成済みルールセット により、</a:t>
            </a:r>
          </a:p>
          <a:p>
            <a:pPr algn="l"/>
            <a:r>
              <a:rPr lang="ja-JP" altLang="en-US" sz="1100" dirty="0"/>
              <a:t>制御エンジニアは ICS デバイスに影響を与える脆弱性の一部に</a:t>
            </a:r>
          </a:p>
          <a:p>
            <a:pPr algn="l"/>
            <a:r>
              <a:rPr lang="ja-JP" altLang="en-US" sz="1100" dirty="0"/>
              <a:t>容易に対処できるようになります。</a:t>
            </a:r>
          </a:p>
          <a:p>
            <a:pPr algn="l"/>
            <a:r>
              <a:rPr lang="ja-JP" altLang="en-US" sz="1100" dirty="0"/>
              <a:t>また、デフォルトパスワードの使用を拒否するなど、</a:t>
            </a:r>
          </a:p>
          <a:p>
            <a:pPr algn="l"/>
            <a:r>
              <a:rPr lang="ja-JP" altLang="en-US" sz="1100" dirty="0"/>
              <a:t>セキュリティポリシーの強制にも利用できます。</a:t>
            </a:r>
          </a:p>
          <a:p>
            <a:pPr algn="l"/>
            <a:r>
              <a:rPr lang="ja-JP" altLang="en-US" sz="1100" dirty="0"/>
              <a:t>ICS メーカーが提供するファイアウォールは、</a:t>
            </a:r>
          </a:p>
          <a:p>
            <a:pPr algn="l"/>
            <a:r>
              <a:rPr lang="ja-JP" altLang="en-US" sz="1100" dirty="0"/>
              <a:t>• 	工場でテスト済み</a:t>
            </a:r>
          </a:p>
          <a:p>
            <a:pPr algn="l"/>
            <a:r>
              <a:rPr lang="ja-JP" altLang="en-US" sz="1100" dirty="0"/>
              <a:t>• 	使用中の制御システムファミリー専用に設計</a:t>
            </a:r>
          </a:p>
          <a:p>
            <a:pPr algn="l"/>
            <a:r>
              <a:rPr lang="ja-JP" altLang="en-US" sz="1100" dirty="0"/>
              <a:t>• 	導入が容易</a:t>
            </a:r>
          </a:p>
          <a:p>
            <a:pPr algn="l"/>
            <a:r>
              <a:rPr lang="ja-JP" altLang="en-US" sz="1100" dirty="0"/>
              <a:t>といった理由から「信頼できる」ソリューションと見なされます。</a:t>
            </a:r>
          </a:p>
          <a:p>
            <a:pPr algn="l"/>
            <a:r>
              <a:rPr lang="ja-JP" altLang="en-US" sz="1100" dirty="0"/>
              <a:t>これらのファイアウォールは、</a:t>
            </a:r>
          </a:p>
          <a:p>
            <a:pPr algn="l"/>
            <a:r>
              <a:rPr lang="ja-JP" altLang="en-US" sz="1100" dirty="0"/>
              <a:t>ICS アーキテクチャの下位レベル（レベル 2 以下） に配置され、</a:t>
            </a:r>
          </a:p>
          <a:p>
            <a:pPr algn="l"/>
            <a:r>
              <a:rPr lang="ja-JP" altLang="en-US" sz="1100" dirty="0"/>
              <a:t>コントローラや安全系 PLC（SIS PLC）へのトラフィックをフィルタリングします。</a:t>
            </a:r>
          </a:p>
          <a:p>
            <a:pPr algn="l"/>
            <a:r>
              <a:rPr lang="ja-JP" altLang="en-US" sz="1100" dirty="0"/>
              <a:t>ただし、保護対象デバイスとインラインで接続する必要があるため、</a:t>
            </a:r>
          </a:p>
          <a:p>
            <a:pPr algn="l"/>
            <a:r>
              <a:rPr lang="ja-JP" altLang="en-US" sz="1100" dirty="0"/>
              <a:t>複数のコントローラを使用する複雑なプロセスでは</a:t>
            </a:r>
          </a:p>
          <a:p>
            <a:pPr algn="l"/>
            <a:r>
              <a:rPr lang="ja-JP" altLang="en-US" sz="1100" dirty="0"/>
              <a:t>導入コストが高くなる ことがあります。</a:t>
            </a:r>
          </a:p>
          <a:p>
            <a:pPr algn="l"/>
            <a:r>
              <a:rPr lang="ja-JP" altLang="en-US" sz="1100" dirty="0"/>
              <a:t>一部のメーカーは、</a:t>
            </a:r>
          </a:p>
          <a:p>
            <a:pPr algn="l"/>
            <a:r>
              <a:rPr lang="ja-JP" altLang="en-US" sz="1100" dirty="0"/>
              <a:t>ユーザーが自社の運用・管理方針、構成、産業用途に基づいて</a:t>
            </a:r>
          </a:p>
          <a:p>
            <a:pPr algn="l"/>
            <a:r>
              <a:rPr lang="ja-JP" altLang="en-US" sz="1100" dirty="0"/>
              <a:t>ルールを生成できる ルールセットジェネレーター を提供しています。</a:t>
            </a:r>
          </a:p>
          <a:p>
            <a:pPr algn="l"/>
            <a:r>
              <a:rPr lang="ja-JP" altLang="en-US" sz="1100" dirty="0"/>
              <a:t>多くのファイアウォールはリモートログ機能を備え、</a:t>
            </a:r>
          </a:p>
          <a:p>
            <a:pPr algn="l"/>
            <a:r>
              <a:rPr lang="ja-JP" altLang="en-US" sz="1100" dirty="0"/>
              <a:t>USB ポート経由でログを取り出すことも可能です。</a:t>
            </a:r>
          </a:p>
        </p:txBody>
      </p:sp>
      <p:pic>
        <p:nvPicPr>
          <p:cNvPr id="2" name="図 1">
            <a:extLst>
              <a:ext uri="{FF2B5EF4-FFF2-40B4-BE49-F238E27FC236}">
                <a16:creationId xmlns:a16="http://schemas.microsoft.com/office/drawing/2014/main" id="{F1804681-50AA-4098-9F48-45B3930BDE41}"/>
              </a:ext>
            </a:extLst>
          </p:cNvPr>
          <p:cNvPicPr>
            <a:picLocks noChangeAspect="1"/>
          </p:cNvPicPr>
          <p:nvPr/>
        </p:nvPicPr>
        <p:blipFill>
          <a:blip r:embed="rId2"/>
          <a:stretch>
            <a:fillRect/>
          </a:stretch>
        </p:blipFill>
        <p:spPr>
          <a:xfrm>
            <a:off x="0" y="0"/>
            <a:ext cx="5672667" cy="3214511"/>
          </a:xfrm>
          <a:prstGeom prst="rect">
            <a:avLst/>
          </a:prstGeom>
        </p:spPr>
      </p:pic>
      <p:sp>
        <p:nvSpPr>
          <p:cNvPr id="4" name="サブタイトル 2">
            <a:extLst>
              <a:ext uri="{FF2B5EF4-FFF2-40B4-BE49-F238E27FC236}">
                <a16:creationId xmlns:a16="http://schemas.microsoft.com/office/drawing/2014/main" id="{316AEE37-18DC-4D9B-89E3-0A62664D2D42}"/>
              </a:ext>
            </a:extLst>
          </p:cNvPr>
          <p:cNvSpPr txBox="1">
            <a:spLocks/>
          </p:cNvSpPr>
          <p:nvPr/>
        </p:nvSpPr>
        <p:spPr>
          <a:xfrm>
            <a:off x="3429000" y="3214511"/>
            <a:ext cx="3429000" cy="6747405"/>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100" dirty="0"/>
              <a:t>固定構成ファイアウォールの例</a:t>
            </a:r>
          </a:p>
          <a:p>
            <a:pPr algn="l"/>
            <a:r>
              <a:rPr lang="ja-JP" altLang="en-US" sz="1100" dirty="0"/>
              <a:t>• 	SCALANCE S602（Siemens）</a:t>
            </a:r>
          </a:p>
          <a:p>
            <a:pPr algn="l"/>
            <a:r>
              <a:rPr lang="ja-JP" altLang="en-US" sz="1100" dirty="0"/>
              <a:t>• 	Honeywell Safety System Firewall</a:t>
            </a:r>
          </a:p>
          <a:p>
            <a:pPr algn="l"/>
            <a:r>
              <a:rPr lang="ja-JP" altLang="en-US" sz="1100" dirty="0"/>
              <a:t>• 	いずれも 読み取り専用通信の強制 や</a:t>
            </a:r>
          </a:p>
          <a:p>
            <a:pPr algn="l"/>
            <a:r>
              <a:rPr lang="ja-JP" altLang="en-US" sz="1100" dirty="0"/>
              <a:t>SIS（Safety Instrumented System）向けの正当な通信のフィルタリング に対応</a:t>
            </a:r>
          </a:p>
          <a:p>
            <a:pPr algn="l"/>
            <a:r>
              <a:rPr lang="ja-JP" altLang="en-US" sz="1100" dirty="0"/>
              <a:t>• 	Triconex Tofino Firewall</a:t>
            </a:r>
          </a:p>
          <a:p>
            <a:pPr algn="l"/>
            <a:r>
              <a:rPr lang="ja-JP" altLang="en-US" sz="1100" dirty="0"/>
              <a:t>• 	コミュニケーションモジュールの</a:t>
            </a:r>
          </a:p>
          <a:p>
            <a:pPr algn="l"/>
            <a:r>
              <a:rPr lang="ja-JP" altLang="en-US" sz="1100" dirty="0"/>
              <a:t>User Access Security Model と連携し、</a:t>
            </a:r>
          </a:p>
          <a:p>
            <a:pPr algn="l"/>
            <a:r>
              <a:rPr lang="ja-JP" altLang="en-US" sz="1100" dirty="0"/>
              <a:t>DCS に接続された安全システムを保護するため</a:t>
            </a:r>
          </a:p>
          <a:p>
            <a:pPr algn="l"/>
            <a:r>
              <a:rPr lang="ja-JP" altLang="en-US" sz="1100" dirty="0"/>
              <a:t>読み取り専用通信を強制</a:t>
            </a:r>
          </a:p>
          <a:p>
            <a:pPr algn="l"/>
            <a:r>
              <a:rPr lang="ja-JP" altLang="en-US" sz="1100" dirty="0"/>
              <a:t>多くの機種は VPN モジュール を搭載可能です。</a:t>
            </a:r>
          </a:p>
          <a:p>
            <a:pPr algn="l"/>
            <a:r>
              <a:rPr lang="ja-JP" altLang="en-US" sz="1100" dirty="0"/>
              <a:t>これらの プロトコル／アプリケーション特化型ファイアウォール は、</a:t>
            </a:r>
          </a:p>
          <a:p>
            <a:pPr algn="l"/>
            <a:r>
              <a:rPr lang="ja-JP" altLang="en-US" sz="1100" dirty="0"/>
              <a:t>制御系と安全系が統合されつつある現代の ICS において、</a:t>
            </a:r>
          </a:p>
          <a:p>
            <a:pPr algn="l"/>
            <a:r>
              <a:rPr lang="ja-JP" altLang="en-US" sz="1100" dirty="0"/>
              <a:t>適切なセグメンテーションを実現するための重要なツールです。</a:t>
            </a:r>
          </a:p>
          <a:p>
            <a:pPr algn="l"/>
            <a:r>
              <a:rPr lang="ja-JP" altLang="en-US" sz="1100" dirty="0"/>
              <a:t>また、産業環境向けに設計されているため、</a:t>
            </a:r>
          </a:p>
          <a:p>
            <a:pPr algn="l"/>
            <a:r>
              <a:rPr lang="ja-JP" altLang="en-US" sz="1100" dirty="0"/>
              <a:t>キャビネットやマーシャリングキャビネットへの取り付けも容易です。</a:t>
            </a:r>
          </a:p>
          <a:p>
            <a:pPr algn="l"/>
            <a:endParaRPr lang="ja-JP" altLang="en-US" sz="1100" dirty="0"/>
          </a:p>
          <a:p>
            <a:pPr algn="l"/>
            <a:r>
              <a:rPr lang="ja-JP" altLang="en-US" sz="1100" dirty="0"/>
              <a:t>図の説明（文章のみ）</a:t>
            </a:r>
          </a:p>
          <a:p>
            <a:pPr algn="l"/>
            <a:r>
              <a:rPr lang="ja-JP" altLang="en-US" sz="1100" dirty="0"/>
              <a:t>図では、</a:t>
            </a:r>
          </a:p>
          <a:p>
            <a:pPr algn="l"/>
            <a:r>
              <a:rPr lang="ja-JP" altLang="en-US" sz="1100" dirty="0"/>
              <a:t>Tofino Security Appliance のような専用 ICS ファイアウォールが</a:t>
            </a:r>
          </a:p>
          <a:p>
            <a:pPr algn="l"/>
            <a:r>
              <a:rPr lang="ja-JP" altLang="en-US" sz="1100" dirty="0"/>
              <a:t>PLC、RTU、SIS コントローラなどの前段にインラインで配置される位置</a:t>
            </a:r>
          </a:p>
          <a:p>
            <a:pPr algn="l"/>
            <a:r>
              <a:rPr lang="ja-JP" altLang="en-US" sz="1100" dirty="0"/>
              <a:t>が示されています。</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0" y="3355340"/>
            <a:ext cx="3429000" cy="6838527"/>
          </a:xfrm>
        </p:spPr>
        <p:txBody>
          <a:bodyPr>
            <a:noAutofit/>
          </a:bodyPr>
          <a:lstStyle/>
          <a:p>
            <a:pPr algn="l"/>
            <a:r>
              <a:rPr lang="ja-JP" altLang="en-US" sz="1000" dirty="0"/>
              <a:t>SIS（Safety Instrumented System：安全計装システム）は、</a:t>
            </a:r>
          </a:p>
          <a:p>
            <a:pPr algn="l"/>
            <a:r>
              <a:rPr lang="ja-JP" altLang="en-US" sz="1000" dirty="0"/>
              <a:t>許容できない、または危険な状態が発生した際に、プロセスをフェイルセーフに導く、</a:t>
            </a:r>
          </a:p>
          <a:p>
            <a:pPr algn="l"/>
            <a:r>
              <a:rPr lang="ja-JP" altLang="en-US" sz="1000" dirty="0"/>
              <a:t>もしくは安全な運転状態を維持するための特定の制御機能を実行するよう設計されたシステム です。</a:t>
            </a:r>
          </a:p>
          <a:p>
            <a:pPr algn="l"/>
            <a:r>
              <a:rPr lang="ja-JP" altLang="en-US" sz="1000" dirty="0"/>
              <a:t>SIS の機能が損なわれないようにするため、</a:t>
            </a:r>
          </a:p>
          <a:p>
            <a:pPr algn="l"/>
            <a:r>
              <a:rPr lang="ja-JP" altLang="en-US" sz="1000" dirty="0"/>
              <a:t>同じ設備を制御する他の制御システムから独立していることが必須 です。</a:t>
            </a:r>
          </a:p>
          <a:p>
            <a:pPr algn="l"/>
            <a:r>
              <a:rPr lang="ja-JP" altLang="en-US" sz="1000" dirty="0"/>
              <a:t>SIS は一般的な制御システムと同じ種類の要素で構成されますが、</a:t>
            </a:r>
          </a:p>
          <a:p>
            <a:pPr algn="l"/>
            <a:r>
              <a:rPr lang="ja-JP" altLang="en-US" sz="1000" dirty="0"/>
              <a:t>そのすべてが SIS の安全機能のためだけに専用化されている 点が異なります。</a:t>
            </a:r>
          </a:p>
          <a:p>
            <a:pPr algn="l"/>
            <a:endParaRPr lang="ja-JP" altLang="en-US" sz="1000" dirty="0"/>
          </a:p>
          <a:p>
            <a:pPr algn="l"/>
            <a:r>
              <a:rPr lang="ja-JP" altLang="en-US" sz="1000" dirty="0"/>
              <a:t>Safety Instrumented Function（SIF）とは</a:t>
            </a:r>
          </a:p>
          <a:p>
            <a:pPr algn="l"/>
            <a:r>
              <a:rPr lang="ja-JP" altLang="en-US" sz="1000" dirty="0"/>
              <a:t>SIS が実行する特定の安全制御機能は SIF（Safety Instrumented Function） と呼ばれます。</a:t>
            </a:r>
          </a:p>
          <a:p>
            <a:pPr algn="l"/>
            <a:r>
              <a:rPr lang="ja-JP" altLang="en-US" sz="1000" dirty="0"/>
              <a:t>SIF は、以下のような SH&amp;E（Safety, Health &amp; Environment）リスクを低減するための</a:t>
            </a:r>
          </a:p>
          <a:p>
            <a:pPr algn="l"/>
            <a:r>
              <a:rPr lang="ja-JP" altLang="en-US" sz="1000" dirty="0"/>
              <a:t>全体的なリスク低減戦略の一部として実装されます：</a:t>
            </a:r>
          </a:p>
          <a:p>
            <a:pPr algn="l"/>
            <a:r>
              <a:rPr lang="ja-JP" altLang="en-US" sz="1000" dirty="0"/>
              <a:t>• 	軽微な設備損傷</a:t>
            </a:r>
          </a:p>
          <a:p>
            <a:pPr algn="l"/>
            <a:r>
              <a:rPr lang="ja-JP" altLang="en-US" sz="1000" dirty="0"/>
              <a:t>• 	エネルギーや物質の制御不能な大規模放出につながる重大事故</a:t>
            </a:r>
          </a:p>
          <a:p>
            <a:pPr algn="l"/>
            <a:r>
              <a:rPr lang="ja-JP" altLang="en-US" sz="1000" dirty="0"/>
              <a:t>安全状態（Safe State） とは、プロセスが稼働中であっても停止中であっても、</a:t>
            </a:r>
          </a:p>
          <a:p>
            <a:pPr algn="l"/>
            <a:r>
              <a:rPr lang="ja-JP" altLang="en-US" sz="1000" dirty="0"/>
              <a:t>危険な SH&amp;E 事象が発生し得ない状態を指します。</a:t>
            </a:r>
          </a:p>
          <a:p>
            <a:pPr algn="l"/>
            <a:r>
              <a:rPr lang="ja-JP" altLang="en-US" sz="1000" dirty="0"/>
              <a:t>この安全状態は、プロセスセーフティタイム（Process Safety Time）内に達成されなければならない とされています。</a:t>
            </a:r>
          </a:p>
          <a:p>
            <a:pPr algn="l"/>
            <a:endParaRPr lang="ja-JP" altLang="en-US" sz="1000" dirty="0"/>
          </a:p>
          <a:p>
            <a:pPr algn="l"/>
            <a:r>
              <a:rPr lang="ja-JP" altLang="en-US" sz="1000" dirty="0"/>
              <a:t>SIS を構成する要素</a:t>
            </a:r>
          </a:p>
          <a:p>
            <a:pPr algn="l"/>
            <a:r>
              <a:rPr lang="ja-JP" altLang="en-US" sz="1000" dirty="0"/>
              <a:t>SIS は以下の要素で構成されます：</a:t>
            </a:r>
          </a:p>
          <a:p>
            <a:pPr algn="l"/>
            <a:r>
              <a:rPr lang="ja-JP" altLang="en-US" sz="1000" dirty="0"/>
              <a:t>1. センサー（Sensors）</a:t>
            </a:r>
          </a:p>
          <a:p>
            <a:pPr algn="l"/>
            <a:r>
              <a:rPr lang="ja-JP" altLang="en-US" sz="1000" dirty="0"/>
              <a:t>異常な運転状態を検知するためのセンサー。</a:t>
            </a:r>
          </a:p>
        </p:txBody>
      </p:sp>
      <p:pic>
        <p:nvPicPr>
          <p:cNvPr id="4" name="図形 3"/>
          <p:cNvPicPr>
            <a:picLocks noChangeAspect="1"/>
          </p:cNvPicPr>
          <p:nvPr/>
        </p:nvPicPr>
        <p:blipFill>
          <a:blip r:embed="rId2"/>
          <a:stretch>
            <a:fillRect/>
          </a:stretch>
        </p:blipFill>
        <p:spPr>
          <a:xfrm>
            <a:off x="644561" y="10193867"/>
            <a:ext cx="5568878" cy="1849370"/>
          </a:xfrm>
          <a:prstGeom prst="rect">
            <a:avLst/>
          </a:prstGeom>
        </p:spPr>
      </p:pic>
      <p:pic>
        <p:nvPicPr>
          <p:cNvPr id="2" name="図 1">
            <a:extLst>
              <a:ext uri="{FF2B5EF4-FFF2-40B4-BE49-F238E27FC236}">
                <a16:creationId xmlns:a16="http://schemas.microsoft.com/office/drawing/2014/main" id="{FAFE0690-E575-461B-AD07-82547C0D134A}"/>
              </a:ext>
            </a:extLst>
          </p:cNvPr>
          <p:cNvPicPr>
            <a:picLocks noChangeAspect="1"/>
          </p:cNvPicPr>
          <p:nvPr/>
        </p:nvPicPr>
        <p:blipFill>
          <a:blip r:embed="rId3"/>
          <a:stretch>
            <a:fillRect/>
          </a:stretch>
        </p:blipFill>
        <p:spPr>
          <a:xfrm>
            <a:off x="19122" y="0"/>
            <a:ext cx="5915165" cy="3355340"/>
          </a:xfrm>
          <a:prstGeom prst="rect">
            <a:avLst/>
          </a:prstGeom>
        </p:spPr>
      </p:pic>
      <p:sp>
        <p:nvSpPr>
          <p:cNvPr id="5" name="サブタイトル 2">
            <a:extLst>
              <a:ext uri="{FF2B5EF4-FFF2-40B4-BE49-F238E27FC236}">
                <a16:creationId xmlns:a16="http://schemas.microsoft.com/office/drawing/2014/main" id="{66433B67-0F83-492F-A8C6-95CD4A702D23}"/>
              </a:ext>
            </a:extLst>
          </p:cNvPr>
          <p:cNvSpPr txBox="1">
            <a:spLocks/>
          </p:cNvSpPr>
          <p:nvPr/>
        </p:nvSpPr>
        <p:spPr>
          <a:xfrm>
            <a:off x="3429000" y="3398149"/>
            <a:ext cx="3429001" cy="6625062"/>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000" dirty="0"/>
              <a:t>2. ロジックソルバ（Logic Solver）</a:t>
            </a:r>
          </a:p>
          <a:p>
            <a:pPr algn="l"/>
            <a:r>
              <a:rPr lang="ja-JP" altLang="en-US" sz="1000" dirty="0"/>
              <a:t>センサーからの入力を受け取り、</a:t>
            </a:r>
          </a:p>
          <a:p>
            <a:pPr algn="l"/>
            <a:r>
              <a:rPr lang="ja-JP" altLang="en-US" sz="1000" dirty="0"/>
              <a:t>信号の内容に基づいて判断し、</a:t>
            </a:r>
          </a:p>
          <a:p>
            <a:pPr algn="l"/>
            <a:r>
              <a:rPr lang="ja-JP" altLang="en-US" sz="1000" dirty="0"/>
              <a:t>ユーザー定義のロジックに従って出力を切り替える装置。</a:t>
            </a:r>
          </a:p>
          <a:p>
            <a:pPr algn="l"/>
            <a:r>
              <a:rPr lang="ja-JP" altLang="en-US" sz="1000" dirty="0"/>
              <a:t>ロジックソルバには以下が利用されます：</a:t>
            </a:r>
          </a:p>
          <a:p>
            <a:pPr algn="l"/>
            <a:r>
              <a:rPr lang="ja-JP" altLang="en-US" sz="1000" dirty="0"/>
              <a:t>• 	電気／電子機器</a:t>
            </a:r>
          </a:p>
          <a:p>
            <a:pPr algn="l"/>
            <a:r>
              <a:rPr lang="ja-JP" altLang="en-US" sz="1000" dirty="0"/>
              <a:t>• 	リレー</a:t>
            </a:r>
          </a:p>
          <a:p>
            <a:pPr algn="l"/>
            <a:r>
              <a:rPr lang="ja-JP" altLang="en-US" sz="1000" dirty="0"/>
              <a:t>• 	トリップアンプ</a:t>
            </a:r>
          </a:p>
          <a:p>
            <a:pPr algn="l"/>
            <a:r>
              <a:rPr lang="ja-JP" altLang="en-US" sz="1000" dirty="0"/>
              <a:t>• 	プログラマブルロジックコントローラ（PLC）</a:t>
            </a:r>
          </a:p>
          <a:p>
            <a:pPr algn="l"/>
            <a:r>
              <a:rPr lang="ja-JP" altLang="en-US" sz="1000" dirty="0"/>
              <a:t>3. 最終要素（Final Elements）</a:t>
            </a:r>
          </a:p>
          <a:p>
            <a:pPr algn="l"/>
            <a:r>
              <a:rPr lang="ja-JP" altLang="en-US" sz="1000" dirty="0"/>
              <a:t>ロジックソルバの出力に応じてプロセスに作用し、</a:t>
            </a:r>
          </a:p>
          <a:p>
            <a:pPr algn="l"/>
            <a:r>
              <a:rPr lang="ja-JP" altLang="en-US" sz="1000" dirty="0"/>
              <a:t>安全状態へ移行させるための機器（例：遮断弁、停止装置など）。</a:t>
            </a:r>
          </a:p>
          <a:p>
            <a:pPr algn="l"/>
            <a:r>
              <a:rPr lang="ja-JP" altLang="en-US" sz="1000" dirty="0"/>
              <a:t>4. 支援システム（Support Systems）</a:t>
            </a:r>
          </a:p>
          <a:p>
            <a:pPr algn="l"/>
            <a:r>
              <a:rPr lang="ja-JP" altLang="en-US" sz="1000" dirty="0"/>
              <a:t>SIS の動作に必要な以下のようなインフラ：</a:t>
            </a:r>
          </a:p>
          <a:p>
            <a:pPr algn="l"/>
            <a:r>
              <a:rPr lang="ja-JP" altLang="en-US" sz="1000" dirty="0"/>
              <a:t>• 	電源</a:t>
            </a:r>
          </a:p>
          <a:p>
            <a:pPr algn="l"/>
            <a:r>
              <a:rPr lang="ja-JP" altLang="en-US" sz="1000" dirty="0"/>
              <a:t>• 	計装用空気</a:t>
            </a:r>
          </a:p>
          <a:p>
            <a:pPr algn="l"/>
            <a:r>
              <a:rPr lang="ja-JP" altLang="en-US" sz="1000" dirty="0"/>
              <a:t>• 	通信</a:t>
            </a:r>
          </a:p>
          <a:p>
            <a:pPr algn="l"/>
            <a:r>
              <a:rPr lang="ja-JP" altLang="en-US" sz="1000" dirty="0"/>
              <a:t>これらも 必要な信頼性と完全性を満たすよう設計される必要があります。</a:t>
            </a:r>
          </a:p>
          <a:p>
            <a:pPr algn="l"/>
            <a:endParaRPr lang="ja-JP" altLang="en-US" sz="1000" dirty="0"/>
          </a:p>
          <a:p>
            <a:pPr algn="l"/>
            <a:r>
              <a:rPr lang="ja-JP" altLang="en-US" sz="1000" dirty="0"/>
              <a:t>関連する国際規格</a:t>
            </a:r>
          </a:p>
          <a:p>
            <a:pPr algn="l"/>
            <a:r>
              <a:rPr lang="ja-JP" altLang="en-US" sz="1000" dirty="0"/>
              <a:t>IEC 61511（プロセス産業向け SIS 規格）</a:t>
            </a:r>
          </a:p>
          <a:p>
            <a:pPr algn="l"/>
            <a:r>
              <a:rPr lang="ja-JP" altLang="en-US" sz="1000" dirty="0"/>
              <a:t>2003 年に発行され、</a:t>
            </a:r>
          </a:p>
          <a:p>
            <a:pPr algn="l"/>
            <a:r>
              <a:rPr lang="ja-JP" altLang="en-US" sz="1000" dirty="0"/>
              <a:t>プロセス産業における SIS の適用に関するガイダンス を提供します。</a:t>
            </a:r>
          </a:p>
          <a:p>
            <a:pPr algn="l"/>
            <a:r>
              <a:rPr lang="ja-JP" altLang="en-US" sz="1000" dirty="0"/>
              <a:t>この規格は、より汎用的な安全規格である IEC 61508 を基礎としています。</a:t>
            </a:r>
          </a:p>
          <a:p>
            <a:pPr algn="l"/>
            <a:r>
              <a:rPr lang="ja-JP" altLang="en-US" sz="1000" dirty="0"/>
              <a:t>IEC 61508 を基にした他分野の規格例</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 y="3443605"/>
            <a:ext cx="3333327" cy="8460528"/>
          </a:xfrm>
        </p:spPr>
        <p:txBody>
          <a:bodyPr>
            <a:noAutofit/>
          </a:bodyPr>
          <a:lstStyle/>
          <a:p>
            <a:pPr algn="l"/>
            <a:r>
              <a:rPr lang="ja-JP" altLang="en-US" sz="1200" dirty="0"/>
              <a:t>「機能安全（Functional Safety）」 とは、</a:t>
            </a:r>
          </a:p>
          <a:p>
            <a:pPr algn="l"/>
            <a:r>
              <a:rPr lang="ja-JP" altLang="en-US" sz="1200" dirty="0"/>
              <a:t>コンポーネントやシステムの誤動作によって生じる危険から保護すること を指します。</a:t>
            </a:r>
          </a:p>
          <a:p>
            <a:pPr algn="l"/>
            <a:r>
              <a:rPr lang="ja-JP" altLang="en-US" sz="1200" dirty="0"/>
              <a:t>安全システムが「機能的に安全」であるとは、</a:t>
            </a:r>
          </a:p>
          <a:p>
            <a:pPr algn="l"/>
            <a:r>
              <a:rPr lang="ja-JP" altLang="en-US" sz="1200" dirty="0"/>
              <a:t>ランダム故障・体系的故障・共通原因故障が発生しても安全システムが失われず、</a:t>
            </a:r>
          </a:p>
          <a:p>
            <a:pPr algn="l"/>
            <a:r>
              <a:rPr lang="ja-JP" altLang="en-US" sz="1200" dirty="0"/>
              <a:t>人身事故、環境への漏洩、設備損失や生産停止につながらない状態を意味します。</a:t>
            </a:r>
          </a:p>
          <a:p>
            <a:pPr algn="l"/>
            <a:r>
              <a:rPr lang="ja-JP" altLang="en-US" sz="1200" dirty="0"/>
              <a:t>一般的な「安全」はあらゆる危険からの保護を指しますが、</a:t>
            </a:r>
          </a:p>
          <a:p>
            <a:pPr algn="l"/>
            <a:r>
              <a:rPr lang="ja-JP" altLang="en-US" sz="1200" dirty="0"/>
              <a:t>「機能安全」は“誤った機能”による危険からの保護 に特化しています。</a:t>
            </a:r>
          </a:p>
          <a:p>
            <a:pPr algn="l"/>
            <a:endParaRPr lang="ja-JP" altLang="en-US" sz="1200" dirty="0"/>
          </a:p>
          <a:p>
            <a:pPr algn="l"/>
            <a:r>
              <a:rPr lang="ja-JP" altLang="en-US" sz="1200" dirty="0"/>
              <a:t>HAZOP（Hazard and Operability Study）と SIL</a:t>
            </a:r>
          </a:p>
          <a:p>
            <a:pPr algn="l"/>
            <a:r>
              <a:rPr lang="ja-JP" altLang="en-US" sz="1200" dirty="0"/>
              <a:t>プロセスの各工程（Unit Operation）の設計が完了すると、</a:t>
            </a:r>
          </a:p>
          <a:p>
            <a:pPr algn="l"/>
            <a:r>
              <a:rPr lang="ja-JP" altLang="en-US" sz="1200" dirty="0"/>
              <a:t>プロジェクトチームのエンジニアや専門家が</a:t>
            </a:r>
          </a:p>
          <a:p>
            <a:pPr algn="l"/>
            <a:r>
              <a:rPr lang="ja-JP" altLang="en-US" sz="1200" dirty="0"/>
              <a:t>体系的で厳密な手順に基づく危険特定プロセス を実施します。</a:t>
            </a:r>
          </a:p>
          <a:p>
            <a:pPr algn="l"/>
            <a:r>
              <a:rPr lang="ja-JP" altLang="en-US" sz="1200" dirty="0"/>
              <a:t>- 設計内の潜在的な危険点（ノード）を一つずつレビュー</a:t>
            </a:r>
          </a:p>
          <a:p>
            <a:pPr algn="l"/>
            <a:r>
              <a:rPr lang="ja-JP" altLang="en-US" sz="1200" dirty="0"/>
              <a:t>- その結果を文書化したものが HAZOP（Hazard &amp; Operability Study）</a:t>
            </a:r>
          </a:p>
          <a:p>
            <a:pPr algn="l"/>
            <a:r>
              <a:rPr lang="ja-JP" altLang="en-US" sz="1200" dirty="0"/>
              <a:t>HAZOP の結果に基づき、</a:t>
            </a:r>
          </a:p>
          <a:p>
            <a:pPr algn="l"/>
            <a:r>
              <a:rPr lang="ja-JP" altLang="en-US" sz="1200" dirty="0"/>
              <a:t>SIS（Safety Instrumented System）に必要な SIL（Safety Integrity Level） が定義されます。</a:t>
            </a:r>
          </a:p>
          <a:p>
            <a:pPr algn="l"/>
            <a:r>
              <a:rPr lang="ja-JP" altLang="en-US" sz="1200" dirty="0"/>
              <a:t>SIL と HAZOP の推奨事項を踏まえて、</a:t>
            </a:r>
          </a:p>
          <a:p>
            <a:pPr algn="l"/>
            <a:r>
              <a:rPr lang="ja-JP" altLang="en-US" sz="1200" dirty="0"/>
              <a:t>各ユニットオペレーションにおける以下の設計が最終化されます：</a:t>
            </a:r>
          </a:p>
          <a:p>
            <a:pPr algn="l"/>
            <a:r>
              <a:rPr lang="ja-JP" altLang="en-US" sz="1200" dirty="0"/>
              <a:t>- エンジニアリング設計</a:t>
            </a:r>
          </a:p>
          <a:p>
            <a:pPr algn="l"/>
            <a:r>
              <a:rPr lang="ja-JP" altLang="en-US" sz="1200" dirty="0"/>
              <a:t>- BPCS（Basic Process Control System）</a:t>
            </a:r>
          </a:p>
          <a:p>
            <a:pPr algn="l"/>
            <a:r>
              <a:rPr lang="ja-JP" altLang="en-US" sz="1200" dirty="0"/>
              <a:t>- SIS（Safety Instrumented System）</a:t>
            </a:r>
          </a:p>
          <a:p>
            <a:pPr algn="l"/>
            <a:r>
              <a:rPr lang="ja-JP" altLang="en-US" sz="1200" dirty="0"/>
              <a:t>HAZOP では以下の指標も評価されます：</a:t>
            </a:r>
          </a:p>
          <a:p>
            <a:pPr algn="l"/>
            <a:r>
              <a:rPr lang="ja-JP" altLang="en-US" sz="1200" dirty="0"/>
              <a:t>- PFD（Probability of Failure on Demand：要求時故障確率）</a:t>
            </a:r>
          </a:p>
          <a:p>
            <a:pPr algn="l"/>
            <a:r>
              <a:rPr lang="ja-JP" altLang="en-US" sz="1200" dirty="0"/>
              <a:t>- Failures per hour（時間当たり故障率）</a:t>
            </a:r>
          </a:p>
        </p:txBody>
      </p:sp>
      <p:pic>
        <p:nvPicPr>
          <p:cNvPr id="2" name="図 1">
            <a:extLst>
              <a:ext uri="{FF2B5EF4-FFF2-40B4-BE49-F238E27FC236}">
                <a16:creationId xmlns:a16="http://schemas.microsoft.com/office/drawing/2014/main" id="{0A5764BF-2819-469C-900A-7C0B72CA74DB}"/>
              </a:ext>
            </a:extLst>
          </p:cNvPr>
          <p:cNvPicPr>
            <a:picLocks noChangeAspect="1"/>
          </p:cNvPicPr>
          <p:nvPr/>
        </p:nvPicPr>
        <p:blipFill>
          <a:blip r:embed="rId2"/>
          <a:stretch>
            <a:fillRect/>
          </a:stretch>
        </p:blipFill>
        <p:spPr>
          <a:xfrm>
            <a:off x="-1" y="0"/>
            <a:ext cx="6054601" cy="3443605"/>
          </a:xfrm>
          <a:prstGeom prst="rect">
            <a:avLst/>
          </a:prstGeom>
        </p:spPr>
      </p:pic>
      <p:sp>
        <p:nvSpPr>
          <p:cNvPr id="4" name="サブタイトル 2">
            <a:extLst>
              <a:ext uri="{FF2B5EF4-FFF2-40B4-BE49-F238E27FC236}">
                <a16:creationId xmlns:a16="http://schemas.microsoft.com/office/drawing/2014/main" id="{BB64F6A9-2E53-4C5D-BD28-840DFCDF18AB}"/>
              </a:ext>
            </a:extLst>
          </p:cNvPr>
          <p:cNvSpPr txBox="1">
            <a:spLocks/>
          </p:cNvSpPr>
          <p:nvPr/>
        </p:nvSpPr>
        <p:spPr>
          <a:xfrm>
            <a:off x="3524678" y="3443605"/>
            <a:ext cx="3333328" cy="8172662"/>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kumimoji="1"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kumimoji="1"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kumimoji="1"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kumimoji="1" sz="1200" kern="1200">
                <a:solidFill>
                  <a:schemeClr val="tx1"/>
                </a:solidFill>
                <a:latin typeface="+mn-lt"/>
                <a:ea typeface="+mn-ea"/>
                <a:cs typeface="+mn-cs"/>
              </a:defRPr>
            </a:lvl9pPr>
          </a:lstStyle>
          <a:p>
            <a:pPr algn="l"/>
            <a:r>
              <a:rPr lang="ja-JP" altLang="en-US" sz="1200" dirty="0"/>
              <a:t>PHA（Process Hazard Analysis）とリスク分析</a:t>
            </a:r>
          </a:p>
          <a:p>
            <a:pPr algn="l"/>
            <a:r>
              <a:rPr lang="ja-JP" altLang="en-US" sz="1200" dirty="0"/>
              <a:t>PHA やその他のリスク分析ツールは、</a:t>
            </a:r>
          </a:p>
          <a:p>
            <a:pPr algn="l"/>
            <a:r>
              <a:rPr lang="ja-JP" altLang="en-US" sz="1200" dirty="0"/>
              <a:t>どこを優先的に保護すべきかを特定するための重要な情報源 です。</a:t>
            </a:r>
          </a:p>
          <a:p>
            <a:pPr algn="l"/>
            <a:r>
              <a:rPr lang="ja-JP" altLang="en-US" sz="1200" dirty="0"/>
              <a:t>たとえば、PHA では次のような問いを検討します：</a:t>
            </a:r>
          </a:p>
          <a:p>
            <a:pPr algn="l"/>
            <a:r>
              <a:rPr lang="ja-JP" altLang="en-US" sz="1200" dirty="0"/>
              <a:t>- 「特定のバルブが閉じず、誤った位置を示したらどうなるか」</a:t>
            </a:r>
          </a:p>
          <a:p>
            <a:pPr algn="l"/>
            <a:r>
              <a:rPr lang="ja-JP" altLang="en-US" sz="1200" dirty="0"/>
              <a:t>- 「外部要因で危険が増す装置はどれか」</a:t>
            </a:r>
          </a:p>
          <a:p>
            <a:pPr algn="l"/>
            <a:r>
              <a:rPr lang="ja-JP" altLang="en-US" sz="1200" dirty="0"/>
              <a:t>PHA/HAZOP は、既に導入されている安全対策についても洞察を与えます：</a:t>
            </a:r>
          </a:p>
          <a:p>
            <a:pPr algn="l"/>
            <a:r>
              <a:rPr lang="ja-JP" altLang="en-US" sz="1200" dirty="0"/>
              <a:t>- アイソレーション技術</a:t>
            </a:r>
          </a:p>
          <a:p>
            <a:pPr algn="l"/>
            <a:r>
              <a:rPr lang="ja-JP" altLang="en-US" sz="1200" dirty="0"/>
              <a:t>- 漏洩検知システム</a:t>
            </a:r>
          </a:p>
          <a:p>
            <a:pPr algn="l"/>
            <a:r>
              <a:rPr lang="ja-JP" altLang="en-US" sz="1200" dirty="0"/>
              <a:t>- 消火・抑制システム</a:t>
            </a:r>
          </a:p>
          <a:p>
            <a:pPr algn="l"/>
            <a:r>
              <a:rPr lang="ja-JP" altLang="en-US" sz="1200" dirty="0"/>
              <a:t>など</a:t>
            </a:r>
          </a:p>
          <a:p>
            <a:pPr algn="l"/>
            <a:endParaRPr lang="ja-JP" altLang="en-US" sz="1200" dirty="0"/>
          </a:p>
          <a:p>
            <a:pPr algn="l"/>
            <a:r>
              <a:rPr lang="ja-JP" altLang="en-US" sz="1200" dirty="0"/>
              <a:t>IEC 61508 と関連規格</a:t>
            </a:r>
          </a:p>
          <a:p>
            <a:pPr algn="l"/>
            <a:r>
              <a:rPr lang="ja-JP" altLang="en-US" sz="1200" dirty="0"/>
              <a:t>機能安全の中心となる国際規格は IEC 61508 であり、</a:t>
            </a:r>
          </a:p>
          <a:p>
            <a:pPr algn="l"/>
            <a:r>
              <a:rPr lang="ja-JP" altLang="en-US" sz="1200" dirty="0"/>
              <a:t>さまざまな産業分野でこれを基礎とした規格が存在します：</a:t>
            </a:r>
          </a:p>
          <a:p>
            <a:pPr algn="l"/>
            <a:r>
              <a:rPr lang="ja-JP" altLang="en-US" sz="1200" dirty="0"/>
              <a:t>- IEC 61511：プロセス産業向け SIS</a:t>
            </a:r>
          </a:p>
          <a:p>
            <a:pPr algn="l"/>
            <a:r>
              <a:rPr lang="ja-JP" altLang="en-US" sz="1200" dirty="0"/>
              <a:t>- IEC 62061：機械システム</a:t>
            </a:r>
          </a:p>
          <a:p>
            <a:pPr algn="l"/>
            <a:r>
              <a:rPr lang="ja-JP" altLang="en-US" sz="1200" dirty="0"/>
              <a:t>- IEC 62425：鉄道信号システム</a:t>
            </a:r>
          </a:p>
          <a:p>
            <a:pPr algn="l"/>
            <a:r>
              <a:rPr lang="ja-JP" altLang="en-US" sz="1200" dirty="0"/>
              <a:t>- IEC 61513：原子力システム</a:t>
            </a:r>
          </a:p>
          <a:p>
            <a:pPr algn="l"/>
            <a:r>
              <a:rPr lang="ja-JP" altLang="en-US" sz="1200" dirty="0"/>
              <a:t>- ISO 26262：自動車（現在ドラフト段階）</a:t>
            </a:r>
          </a:p>
          <a:p>
            <a:pPr algn="l"/>
            <a:r>
              <a:rPr lang="ja-JP" altLang="en-US" sz="1200" dirty="0"/>
              <a:t>認証プロセスには以下が含まれます：</a:t>
            </a:r>
          </a:p>
          <a:p>
            <a:pPr algn="l"/>
            <a:r>
              <a:rPr lang="ja-JP" altLang="en-US" sz="1200" dirty="0"/>
              <a:t>- 機能安全マネジメント</a:t>
            </a:r>
          </a:p>
          <a:p>
            <a:pPr algn="l"/>
            <a:r>
              <a:rPr lang="ja-JP" altLang="en-US" sz="1200" dirty="0"/>
              <a:t>- ハードウェア評価</a:t>
            </a:r>
          </a:p>
          <a:p>
            <a:pPr algn="l"/>
            <a:r>
              <a:rPr lang="ja-JP" altLang="en-US" sz="1200" dirty="0"/>
              <a:t>- ソフトウェア評価</a:t>
            </a:r>
          </a:p>
          <a:p>
            <a:pPr algn="l"/>
            <a:r>
              <a:rPr lang="ja-JP" altLang="en-US" sz="1200" dirty="0"/>
              <a:t>- テスト</a:t>
            </a:r>
          </a:p>
          <a:p>
            <a:pPr algn="l"/>
            <a:r>
              <a:rPr lang="ja-JP" altLang="en-US" sz="1200" dirty="0"/>
              <a:t>主要メーカーはすべて、この認証を取得した製品を提供しています。</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以下に、引用内容を踏まえた 専門的で自然な日本語訳（意訳） をまとめます。</a:t>
            </a:r>
          </a:p>
          <a:p>
            <a:pPr algn="l"/>
            <a:endParaRPr lang="ja-JP" altLang="en-US" sz="1400"/>
          </a:p>
          <a:p>
            <a:pPr algn="l"/>
            <a:r>
              <a:rPr lang="ja-JP" altLang="en-US" sz="1400"/>
              <a:t>日本語訳（意訳）</a:t>
            </a:r>
          </a:p>
          <a:p>
            <a:pPr algn="l"/>
            <a:r>
              <a:rPr lang="ja-JP" altLang="en-US" sz="1400"/>
              <a:t>「従来、安全回路は機械や装置の周囲に独立したロジックを持っていました。しかし、</a:t>
            </a:r>
          </a:p>
          <a:p>
            <a:pPr algn="l"/>
            <a:r>
              <a:rPr lang="ja-JP" altLang="en-US" sz="1400"/>
              <a:t>統合安全（Integrated Safety） の流れによって、安全機能がデバイスや装置そのものに</a:t>
            </a:r>
          </a:p>
          <a:p>
            <a:pPr algn="l"/>
            <a:r>
              <a:rPr lang="ja-JP" altLang="en-US" sz="1400"/>
              <a:t>組み込まれるようになっています」と、Siemens Industry US のプロダクトマーケティング</a:t>
            </a:r>
          </a:p>
          <a:p>
            <a:pPr algn="l"/>
            <a:r>
              <a:rPr lang="ja-JP" altLang="en-US" sz="1400"/>
              <a:t>マネージャーである Craig Nelson 氏は DesignNews に語っています。</a:t>
            </a:r>
          </a:p>
          <a:p>
            <a:pPr algn="l"/>
            <a:r>
              <a:rPr lang="ja-JP" altLang="en-US" sz="1400"/>
              <a:t>「今ではすべてが同じシステム上で動作します。</a:t>
            </a:r>
          </a:p>
          <a:p>
            <a:pPr algn="l"/>
            <a:r>
              <a:rPr lang="ja-JP" altLang="en-US" sz="1400"/>
              <a:t>その結果、より経済的で、安全性が高まり、診断性が向上し、生産性も機能性も向上 します。</a:t>
            </a:r>
          </a:p>
          <a:p>
            <a:pPr algn="l"/>
            <a:r>
              <a:rPr lang="ja-JP" altLang="en-US" sz="1400"/>
              <a:t>従来の方法では実現できなかったことです。」</a:t>
            </a:r>
          </a:p>
          <a:p>
            <a:pPr algn="l"/>
            <a:r>
              <a:rPr lang="ja-JP" altLang="en-US" sz="1400"/>
              <a:t>さらに Nelson 氏は次のように述べています。</a:t>
            </a:r>
          </a:p>
          <a:p>
            <a:pPr algn="l"/>
            <a:r>
              <a:rPr lang="ja-JP" altLang="en-US" sz="1400"/>
              <a:t>「多くは経済性に関わる問題です。企業は自社の評判を守りたいのです。</a:t>
            </a:r>
          </a:p>
          <a:p>
            <a:pPr algn="l"/>
            <a:r>
              <a:rPr lang="ja-JP" altLang="en-US" sz="1400"/>
              <a:t>統合安全によって得られる より高いレベルの安全性 を求めています。</a:t>
            </a:r>
          </a:p>
          <a:p>
            <a:pPr algn="l"/>
            <a:r>
              <a:rPr lang="ja-JP" altLang="en-US" sz="1400"/>
              <a:t>安全機能を組み込む方が経済的であり、維持するコストも低く済みます。」</a:t>
            </a:r>
          </a:p>
          <a:p>
            <a:pPr algn="l"/>
            <a:endParaRPr lang="ja-JP" altLang="en-US" sz="1400"/>
          </a:p>
          <a:p>
            <a:pPr algn="l"/>
            <a:r>
              <a:rPr lang="ja-JP" altLang="en-US" sz="1400"/>
              <a:t>参考</a:t>
            </a:r>
          </a:p>
          <a:p>
            <a:pPr algn="l"/>
            <a:r>
              <a:rPr lang="ja-JP" altLang="en-US" sz="1400"/>
              <a:t>- DesignNews – “Integrated Safety Breaks the Cost-Savings Barrier at Plants”</a:t>
            </a:r>
          </a:p>
          <a:p>
            <a:pPr algn="l"/>
            <a:r>
              <a:rPr lang="ja-JP" altLang="en-US" sz="1400"/>
              <a:t>https://goo.gl/fro2KS</a:t>
            </a:r>
          </a:p>
        </p:txBody>
      </p:sp>
      <p:pic>
        <p:nvPicPr>
          <p:cNvPr id="2" name="図 1">
            <a:extLst>
              <a:ext uri="{FF2B5EF4-FFF2-40B4-BE49-F238E27FC236}">
                <a16:creationId xmlns:a16="http://schemas.microsoft.com/office/drawing/2014/main" id="{A1D9D528-3C11-46AE-8B7C-6293B8C6C8B5}"/>
              </a:ext>
            </a:extLst>
          </p:cNvPr>
          <p:cNvPicPr>
            <a:picLocks noChangeAspect="1"/>
          </p:cNvPicPr>
          <p:nvPr/>
        </p:nvPicPr>
        <p:blipFill>
          <a:blip r:embed="rId2"/>
          <a:stretch>
            <a:fillRect/>
          </a:stretch>
        </p:blipFill>
        <p:spPr>
          <a:xfrm>
            <a:off x="0" y="0"/>
            <a:ext cx="6801930" cy="3860800"/>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References:</a:t>
            </a:r>
          </a:p>
          <a:p>
            <a:pPr algn="l"/>
            <a:r>
              <a:rPr lang="ja-JP" altLang="en-US" sz="1400"/>
              <a:t>• https://www.fireeye.com/blog/threat-research/2017/12/attackers-deploy-new-ics-attack-framework-</a:t>
            </a:r>
          </a:p>
          <a:p>
            <a:pPr algn="l"/>
            <a:r>
              <a:rPr lang="ja-JP" altLang="en-US" sz="1400"/>
              <a:t>triton.html</a:t>
            </a:r>
          </a:p>
          <a:p>
            <a:pPr algn="l"/>
            <a:r>
              <a:rPr lang="ja-JP" altLang="en-US" sz="1400"/>
              <a:t>• https://dragos.com/wp-content/uploads/TRISIS-01.pdf</a:t>
            </a:r>
          </a:p>
          <a:p>
            <a:pPr algn="l"/>
            <a:r>
              <a:rPr lang="ja-JP" altLang="en-US" sz="1400"/>
              <a:t>• https://www.se.com/ww/en/download/document/SEVD-2017-347-01/</a:t>
            </a:r>
          </a:p>
          <a:p>
            <a:pPr algn="l"/>
            <a:r>
              <a:rPr lang="ja-JP" altLang="en-US" sz="1400"/>
              <a:t>• ICS-CERT Analysis Report - http://bit.ly/2IRjapN</a:t>
            </a:r>
          </a:p>
          <a:p>
            <a:pPr algn="l"/>
            <a:endParaRPr lang="ja-JP" altLang="en-US" sz="1400"/>
          </a:p>
        </p:txBody>
      </p:sp>
      <p:pic>
        <p:nvPicPr>
          <p:cNvPr id="4" name="図 3">
            <a:extLst>
              <a:ext uri="{FF2B5EF4-FFF2-40B4-BE49-F238E27FC236}">
                <a16:creationId xmlns:a16="http://schemas.microsoft.com/office/drawing/2014/main" id="{01F3772D-2DE6-4E44-A36E-6A76EFDF50F2}"/>
              </a:ext>
            </a:extLst>
          </p:cNvPr>
          <p:cNvPicPr>
            <a:picLocks noChangeAspect="1"/>
          </p:cNvPicPr>
          <p:nvPr/>
        </p:nvPicPr>
        <p:blipFill>
          <a:blip r:embed="rId2"/>
          <a:stretch>
            <a:fillRect/>
          </a:stretch>
        </p:blipFill>
        <p:spPr>
          <a:xfrm>
            <a:off x="0" y="-1"/>
            <a:ext cx="6854948" cy="3877733"/>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a:bodyPr>
          <a:lstStyle/>
          <a:p>
            <a:pPr algn="l"/>
            <a:r>
              <a:rPr lang="ja-JP" altLang="en-US" sz="1400"/>
              <a:t>空</a:t>
            </a:r>
          </a:p>
        </p:txBody>
      </p:sp>
      <p:pic>
        <p:nvPicPr>
          <p:cNvPr id="4" name="図 3">
            <a:extLst>
              <a:ext uri="{FF2B5EF4-FFF2-40B4-BE49-F238E27FC236}">
                <a16:creationId xmlns:a16="http://schemas.microsoft.com/office/drawing/2014/main" id="{0590072F-C654-4C21-BF1C-795D1E224F01}"/>
              </a:ext>
            </a:extLst>
          </p:cNvPr>
          <p:cNvPicPr>
            <a:picLocks noChangeAspect="1"/>
          </p:cNvPicPr>
          <p:nvPr/>
        </p:nvPicPr>
        <p:blipFill>
          <a:blip r:embed="rId2"/>
          <a:stretch>
            <a:fillRect/>
          </a:stretch>
        </p:blipFill>
        <p:spPr>
          <a:xfrm>
            <a:off x="-1" y="0"/>
            <a:ext cx="6818009" cy="386080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3175" y="5874385"/>
            <a:ext cx="6852285" cy="6312535"/>
          </a:xfrm>
        </p:spPr>
        <p:txBody>
          <a:bodyPr>
            <a:normAutofit fontScale="90000" lnSpcReduction="20000"/>
          </a:bodyPr>
          <a:lstStyle/>
          <a:p>
            <a:pPr algn="l"/>
            <a:r>
              <a:rPr lang="ja-JP" altLang="en-US" sz="1400"/>
              <a:t>Justin Searle は InGuardians 社の ICS セキュリティ部門ディレクター であり、</a:t>
            </a:r>
          </a:p>
          <a:p>
            <a:pPr algn="l"/>
            <a:r>
              <a:rPr lang="ja-JP" altLang="en-US" sz="1400"/>
              <a:t>ICS セキュリティアーキテクチャ設計やペネトレーションテストを専門としています。</a:t>
            </a:r>
          </a:p>
          <a:p>
            <a:pPr algn="l"/>
            <a:r>
              <a:rPr lang="ja-JP" altLang="en-US" sz="1400"/>
              <a:t>彼は NIST Interagency Report 7628 の作成において</a:t>
            </a:r>
          </a:p>
          <a:p>
            <a:pPr algn="l"/>
            <a:r>
              <a:rPr lang="ja-JP" altLang="en-US" sz="1400"/>
              <a:t>Smart Grid Security Architecture グループを率いたほか、</a:t>
            </a:r>
          </a:p>
          <a:p>
            <a:pPr algn="l"/>
            <a:r>
              <a:rPr lang="ja-JP" altLang="en-US" sz="1400"/>
              <a:t>以下の主要プロジェクトでも重要な役割を果たしました：</a:t>
            </a:r>
          </a:p>
          <a:p>
            <a:pPr algn="l"/>
            <a:r>
              <a:rPr lang="ja-JP" altLang="en-US" sz="1400"/>
              <a:t>- ASAP-SG（Advanced Security Acceleration Project for the Smart Grid）</a:t>
            </a:r>
          </a:p>
          <a:p>
            <a:pPr algn="l"/>
            <a:r>
              <a:rPr lang="ja-JP" altLang="en-US" sz="1400"/>
              <a:t>- NESCOR（National Electric Sector Cybersecurity Organization Resources）</a:t>
            </a:r>
          </a:p>
          <a:p>
            <a:pPr algn="l"/>
            <a:r>
              <a:rPr lang="ja-JP" altLang="en-US" sz="1400"/>
              <a:t>- SGIP（Smart Grid Interoperability Panel）</a:t>
            </a:r>
          </a:p>
          <a:p>
            <a:pPr algn="l"/>
            <a:r>
              <a:rPr lang="ja-JP" altLang="en-US" sz="1400"/>
              <a:t>Justin は、複数の大学・企業・セキュリティカンファレンスで</a:t>
            </a:r>
          </a:p>
          <a:p>
            <a:pPr algn="l"/>
            <a:r>
              <a:rPr lang="ja-JP" altLang="en-US" sz="1400"/>
              <a:t>ハッキング技術、フォレンジクス、ネットワーキング、侵入検知などの講義を担当してきました。</a:t>
            </a:r>
          </a:p>
          <a:p>
            <a:pPr algn="l"/>
            <a:r>
              <a:rPr lang="ja-JP" altLang="en-US" sz="1400"/>
              <a:t>現在は SANS Institute のシニアインストラクター であり、</a:t>
            </a:r>
          </a:p>
          <a:p>
            <a:pPr algn="l"/>
            <a:r>
              <a:rPr lang="ja-JP" altLang="en-US" sz="1400"/>
              <a:t>IANS の教員 も務めています。</a:t>
            </a:r>
          </a:p>
          <a:p>
            <a:pPr algn="l"/>
            <a:r>
              <a:rPr lang="ja-JP" altLang="en-US" sz="1400"/>
              <a:t>また、電力業界のカンファレンスに加え、</a:t>
            </a:r>
          </a:p>
          <a:p>
            <a:pPr algn="l"/>
            <a:r>
              <a:rPr lang="ja-JP" altLang="en-US" sz="1400"/>
              <a:t>Black Hat、DEFCON、OWASP、Nullcon、AusCERT など</a:t>
            </a:r>
          </a:p>
          <a:p>
            <a:pPr algn="l"/>
            <a:r>
              <a:rPr lang="ja-JP" altLang="en-US" sz="1400"/>
              <a:t>世界的なセキュリティカンファレンスで頻繁に講演 しています。</a:t>
            </a:r>
          </a:p>
          <a:p>
            <a:pPr algn="l"/>
            <a:r>
              <a:rPr lang="ja-JP" altLang="en-US" sz="1400"/>
              <a:t>さらに、以下の著名なオープンソースプロジェクトを主導しています：</a:t>
            </a:r>
          </a:p>
          <a:p>
            <a:pPr algn="l"/>
            <a:r>
              <a:rPr lang="ja-JP" altLang="en-US" sz="1400"/>
              <a:t>- ControlThings Platform</a:t>
            </a:r>
          </a:p>
          <a:p>
            <a:pPr algn="l"/>
            <a:r>
              <a:rPr lang="ja-JP" altLang="en-US" sz="1400"/>
              <a:t>- Samurai Web Testing Framework（SamuraiWTF）</a:t>
            </a:r>
          </a:p>
          <a:p>
            <a:pPr algn="l"/>
            <a:r>
              <a:rPr lang="ja-JP" altLang="en-US" sz="1400"/>
              <a:t>- SamuraiSTFU（Samurai Security Testing Framework for Utilities）</a:t>
            </a:r>
          </a:p>
          <a:p>
            <a:pPr algn="l"/>
            <a:r>
              <a:rPr lang="ja-JP" altLang="en-US" sz="1400"/>
              <a:t>学歴としては 国際技術分野の MBA を取得しており、</a:t>
            </a:r>
          </a:p>
          <a:p>
            <a:pPr algn="l"/>
            <a:r>
              <a:rPr lang="ja-JP" altLang="en-US" sz="1400"/>
              <a:t>以下の資格を保有しています：</a:t>
            </a:r>
          </a:p>
          <a:p>
            <a:pPr algn="l"/>
            <a:r>
              <a:rPr lang="ja-JP" altLang="en-US" sz="1400"/>
              <a:t>- CISSP</a:t>
            </a:r>
          </a:p>
          <a:p>
            <a:pPr algn="l"/>
            <a:r>
              <a:rPr lang="ja-JP" altLang="en-US" sz="1400"/>
              <a:t>- SANS GIAC Incident Handler（GCIH）</a:t>
            </a:r>
          </a:p>
          <a:p>
            <a:pPr algn="l"/>
            <a:r>
              <a:rPr lang="ja-JP" altLang="en-US" sz="1400"/>
              <a:t>- GIAC Intrusion Analyst（GCIA）</a:t>
            </a:r>
          </a:p>
          <a:p>
            <a:pPr algn="l"/>
            <a:r>
              <a:rPr lang="ja-JP" altLang="en-US" sz="1400"/>
              <a:t>- GIAC Web Application Penetration Tester（GWAPT）</a:t>
            </a:r>
          </a:p>
          <a:p>
            <a:pPr algn="l"/>
            <a:r>
              <a:rPr lang="ja-JP" altLang="en-US" sz="1400"/>
              <a:t>- GIAC Industrial Control Security Professional（GICSP）</a:t>
            </a:r>
          </a:p>
        </p:txBody>
      </p:sp>
      <p:pic>
        <p:nvPicPr>
          <p:cNvPr id="2" name="図 1">
            <a:extLst>
              <a:ext uri="{FF2B5EF4-FFF2-40B4-BE49-F238E27FC236}">
                <a16:creationId xmlns:a16="http://schemas.microsoft.com/office/drawing/2014/main" id="{08E65D8C-9AF6-48F6-A43B-A41438F120BA}"/>
              </a:ext>
            </a:extLst>
          </p:cNvPr>
          <p:cNvPicPr>
            <a:picLocks noChangeAspect="1"/>
          </p:cNvPicPr>
          <p:nvPr/>
        </p:nvPicPr>
        <p:blipFill>
          <a:blip r:embed="rId2"/>
          <a:stretch>
            <a:fillRect/>
          </a:stretch>
        </p:blipFill>
        <p:spPr>
          <a:xfrm>
            <a:off x="0" y="-1"/>
            <a:ext cx="6815666" cy="3894667"/>
          </a:xfrm>
          <a:prstGeom prst="rect">
            <a:avLst/>
          </a:prstGeom>
        </p:spPr>
      </p:pic>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MS PGothic"/>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MS PGothic"/>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TotalTime>
  <Words>16429</Words>
  <Application>Microsoft Office PowerPoint</Application>
  <PresentationFormat>ワイド画面</PresentationFormat>
  <Paragraphs>1621</Paragraphs>
  <Slides>81</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81</vt:i4>
      </vt:variant>
    </vt:vector>
  </HeadingPairs>
  <TitlesOfParts>
    <vt:vector size="86" baseType="lpstr">
      <vt:lpstr>ＭＳ Ｐゴシック</vt:lpstr>
      <vt:lpstr>ＭＳ Ｐゴシック</vt:lpstr>
      <vt:lpstr>Arial</vt:lpstr>
      <vt:lpstr>Calibri</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A1251715</cp:lastModifiedBy>
  <cp:revision>34</cp:revision>
  <dcterms:created xsi:type="dcterms:W3CDTF">2026-01-25T22:59:00Z</dcterms:created>
  <dcterms:modified xsi:type="dcterms:W3CDTF">2026-03-04T06:00:52Z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1033-11.2.0.9396</vt:lpwstr>
  </property>
</Properties>
</file>