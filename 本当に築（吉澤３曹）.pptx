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0" r:id="rId6"/>
    <p:sldMasterId id="2147483696" r:id="rId7"/>
    <p:sldMasterId id="2147483711" r:id="rId8"/>
    <p:sldMasterId id="2147483715" r:id="rId9"/>
  </p:sldMasterIdLst>
  <p:notesMasterIdLst>
    <p:notesMasterId r:id="rId35"/>
  </p:notesMasterIdLst>
  <p:sldIdLst>
    <p:sldId id="137227" r:id="rId10"/>
    <p:sldId id="257" r:id="rId11"/>
    <p:sldId id="258" r:id="rId12"/>
    <p:sldId id="296" r:id="rId13"/>
    <p:sldId id="283" r:id="rId14"/>
    <p:sldId id="284" r:id="rId15"/>
    <p:sldId id="285" r:id="rId16"/>
    <p:sldId id="286" r:id="rId17"/>
    <p:sldId id="287" r:id="rId18"/>
    <p:sldId id="294" r:id="rId19"/>
    <p:sldId id="137245" r:id="rId20"/>
    <p:sldId id="137246" r:id="rId21"/>
    <p:sldId id="137229" r:id="rId22"/>
    <p:sldId id="137230" r:id="rId23"/>
    <p:sldId id="137247" r:id="rId24"/>
    <p:sldId id="137248" r:id="rId25"/>
    <p:sldId id="137249" r:id="rId26"/>
    <p:sldId id="137250" r:id="rId27"/>
    <p:sldId id="137251" r:id="rId28"/>
    <p:sldId id="137242" r:id="rId29"/>
    <p:sldId id="137241" r:id="rId30"/>
    <p:sldId id="137243" r:id="rId31"/>
    <p:sldId id="137252" r:id="rId32"/>
    <p:sldId id="137240" r:id="rId33"/>
    <p:sldId id="137244" r:id="rId34"/>
  </p:sldIdLst>
  <p:sldSz cx="12192000" cy="6858000"/>
  <p:notesSz cx="6737350" cy="986917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EFE7674-E940-484F-A97F-D238A894A5CF}">
          <p14:sldIdLst>
            <p14:sldId id="137227"/>
            <p14:sldId id="257"/>
            <p14:sldId id="258"/>
            <p14:sldId id="296"/>
            <p14:sldId id="283"/>
            <p14:sldId id="284"/>
            <p14:sldId id="285"/>
            <p14:sldId id="286"/>
            <p14:sldId id="287"/>
            <p14:sldId id="294"/>
            <p14:sldId id="137245"/>
            <p14:sldId id="137246"/>
            <p14:sldId id="137229"/>
            <p14:sldId id="137230"/>
            <p14:sldId id="137247"/>
            <p14:sldId id="137248"/>
            <p14:sldId id="137249"/>
            <p14:sldId id="137250"/>
            <p14:sldId id="137251"/>
            <p14:sldId id="137242"/>
            <p14:sldId id="137241"/>
            <p14:sldId id="137243"/>
            <p14:sldId id="137252"/>
            <p14:sldId id="137240"/>
            <p14:sldId id="137244"/>
          </p14:sldIdLst>
        </p14:section>
        <p14:section name="資料置き場" id="{DA2579B4-7817-413B-B3FD-C9D74BED9F8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00B0F0"/>
    <a:srgbClr val="FFCCCC"/>
    <a:srgbClr val="FFCCFF"/>
    <a:srgbClr val="FFFFFF"/>
    <a:srgbClr val="FFFBE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486" autoAdjust="0"/>
    <p:restoredTop sz="94660"/>
  </p:normalViewPr>
  <p:slideViewPr>
    <p:cSldViewPr snapToGrid="0">
      <p:cViewPr varScale="1">
        <p:scale>
          <a:sx n="68" d="100"/>
          <a:sy n="68" d="100"/>
        </p:scale>
        <p:origin x="9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notesMaster" Target="notesMasters/notesMaster1.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slide" Target="slides/slid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518" cy="495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6273" y="0"/>
            <a:ext cx="2919518" cy="495188"/>
          </a:xfrm>
          <a:prstGeom prst="rect">
            <a:avLst/>
          </a:prstGeom>
        </p:spPr>
        <p:txBody>
          <a:bodyPr vert="horz" lIns="91440" tIns="45720" rIns="91440" bIns="45720" rtlCol="0"/>
          <a:lstStyle>
            <a:lvl1pPr algn="r">
              <a:defRPr sz="1200"/>
            </a:lvl1pPr>
          </a:lstStyle>
          <a:p>
            <a:fld id="{A7106A37-0208-42A8-AA56-132C7D537F40}" type="datetimeFigureOut">
              <a:rPr kumimoji="1" lang="ja-JP" altLang="en-US" smtClean="0"/>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8200" cy="3330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735" y="4749691"/>
            <a:ext cx="5389880" cy="3886111"/>
          </a:xfrm>
          <a:prstGeom prst="rect">
            <a:avLst/>
          </a:prstGeom>
        </p:spPr>
        <p:txBody>
          <a:bodyPr vert="horz" lIns="91440" tIns="45720" rIns="91440" bIns="45720" rtlCol="0"/>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6" name="フッター プレースホルダー 5"/>
          <p:cNvSpPr>
            <a:spLocks noGrp="1"/>
          </p:cNvSpPr>
          <p:nvPr>
            <p:ph type="ftr" sz="quarter" idx="4"/>
          </p:nvPr>
        </p:nvSpPr>
        <p:spPr>
          <a:xfrm>
            <a:off x="0" y="9374301"/>
            <a:ext cx="2919518" cy="4951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6273" y="9374301"/>
            <a:ext cx="2919518" cy="495187"/>
          </a:xfrm>
          <a:prstGeom prst="rect">
            <a:avLst/>
          </a:prstGeom>
        </p:spPr>
        <p:txBody>
          <a:bodyPr vert="horz" lIns="91440" tIns="45720" rIns="91440" bIns="45720" rtlCol="0" anchor="b"/>
          <a:lstStyle>
            <a:lvl1pPr algn="r">
              <a:defRPr sz="1200"/>
            </a:lvl1pPr>
          </a:lstStyle>
          <a:p>
            <a:fld id="{55AEFDBE-3E9D-4DC4-A843-A45D0B873D19}"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マスター タイトルの書式設定</a:t>
            </a:r>
            <a:endParaRPr kumimoji="1" lang="ja-JP"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66A46830-8AA4-43B2-B259-31ACA4F65965}"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90762DD-1B69-48C9-A635-1F8398D530E4}" type="slidenum">
              <a:rPr kumimoji="1" lang="ja-JP" altLang="en-US" smtClean="0"/>
            </a:fld>
            <a:endParaRPr kumimoji="1" lang="ja-JP"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D4434EAC-051A-4BA5-9748-9745F9DBECB0}"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82BEDA-FC73-43FB-8705-8E0CB56C2A53}" type="slidenum">
              <a:rPr kumimoji="1" lang="ja-JP" altLang="en-US" smtClean="0"/>
            </a:fld>
            <a:endParaRPr kumimoji="1" lang="ja-JP"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endParaRPr kumimoji="1" lang="ja-JP" altLang="en-US"/>
          </a:p>
        </p:txBody>
      </p:sp>
      <p:sp>
        <p:nvSpPr>
          <p:cNvPr id="3" name="スライド番号プレースホルダー 2"/>
          <p:cNvSpPr>
            <a:spLocks noGrp="1"/>
          </p:cNvSpPr>
          <p:nvPr>
            <p:ph type="sldNum" sz="quarter" idx="10"/>
          </p:nvPr>
        </p:nvSpPr>
        <p:spPr/>
        <p:txBody>
          <a:bodyPr/>
          <a:lstStyle/>
          <a:p>
            <a:fld id="{E72C8F07-DB57-4129-B04E-1E64F941A10A}" type="slidenum">
              <a:rPr lang="ja-JP" altLang="en-US" smtClean="0"/>
            </a:fld>
            <a:endParaRPr lang="ja-JP"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5B7081D9-8F3A-4C2A-8F7E-FB0E45FE6BE0}" type="slidenum">
              <a:rPr kumimoji="1" lang="ja-JP" altLang="en-US" smtClean="0"/>
            </a:fld>
            <a:endParaRPr kumimoji="1" lang="ja-JP"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endParaRPr kumimoji="1" lang="ja-JP" altLang="en-US"/>
          </a:p>
        </p:txBody>
      </p:sp>
      <p:sp>
        <p:nvSpPr>
          <p:cNvPr id="3" name="スライド番号プレースホルダー 2"/>
          <p:cNvSpPr>
            <a:spLocks noGrp="1"/>
          </p:cNvSpPr>
          <p:nvPr>
            <p:ph type="sldNum" sz="quarter" idx="10"/>
          </p:nvPr>
        </p:nvSpPr>
        <p:spPr/>
        <p:txBody>
          <a:bodyPr/>
          <a:lstStyle/>
          <a:p>
            <a:fld id="{E72C8F07-DB57-4129-B04E-1E64F941A10A}" type="slidenum">
              <a:rPr lang="ja-JP" altLang="en-US" smtClean="0"/>
            </a:fld>
            <a:endParaRPr lang="ja-JP"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fld>
            <a:endParaRPr lang="ja-JP"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0" name="タイトル 1"/>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endParaRPr kumimoji="1" lang="ja-JP" altLang="en-US" dirty="0"/>
          </a:p>
        </p:txBody>
      </p:sp>
      <p:sp>
        <p:nvSpPr>
          <p:cNvPr id="11" name="スライド番号プレースホルダー 5"/>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90" b="1">
                <a:solidFill>
                  <a:schemeClr val="bg1"/>
                </a:solidFill>
              </a:defRPr>
            </a:lvl1pPr>
          </a:lstStyle>
          <a:p>
            <a:fld id="{80709F25-3440-4B76-B09C-B07F16B95057}" type="slidenum">
              <a:rPr lang="ja-JP" altLang="en-US" smtClean="0"/>
            </a:fld>
            <a:endParaRPr lang="ja-JP"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1" name="スライド番号プレースホルダー 5"/>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90" b="1">
                <a:solidFill>
                  <a:schemeClr val="bg1"/>
                </a:solidFill>
              </a:defRPr>
            </a:lvl1pPr>
          </a:lstStyle>
          <a:p>
            <a:fld id="{80709F25-3440-4B76-B09C-B07F16B95057}" type="slidenum">
              <a:rPr lang="ja-JP" altLang="en-US" smtClean="0"/>
            </a:fld>
            <a:endParaRPr lang="ja-JP"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userDrawn="1"/>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fld>
            <a:endParaRPr lang="ja-JP"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2002366" y="109009"/>
            <a:ext cx="8373533" cy="482600"/>
          </a:xfrm>
          <a:prstGeom prst="rect">
            <a:avLst/>
          </a:prstGeom>
        </p:spPr>
        <p:txBody>
          <a:bodyPr/>
          <a:lstStyle>
            <a:lvl1pPr algn="ctr">
              <a:defRPr sz="2800">
                <a:latin typeface="ＭＳ ゴシック" panose="020B0609070205080204" pitchFamily="49" charset="-128"/>
                <a:ea typeface="ＭＳ ゴシック" panose="020B0609070205080204" pitchFamily="49" charset="-128"/>
              </a:defRPr>
            </a:lvl1pPr>
          </a:lstStyle>
          <a:p>
            <a:r>
              <a:rPr kumimoji="1" lang="ja-JP" altLang="en-US"/>
              <a:t>マスター タイトルの書式設定</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03711E59-91EA-47B0-AF74-FF07041BBA0E}"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7DA399D-D976-4A9D-A096-DE4C517DD142}" type="slidenum">
              <a:rPr kumimoji="1" lang="ja-JP" altLang="en-US" smtClean="0"/>
            </a:fld>
            <a:endParaRPr kumimoji="1" lang="ja-JP"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目次スライド">
    <p:spTree>
      <p:nvGrpSpPr>
        <p:cNvPr id="1" name=""/>
        <p:cNvGrpSpPr/>
        <p:nvPr/>
      </p:nvGrpSpPr>
      <p:grpSpPr>
        <a:xfrm>
          <a:off x="0" y="0"/>
          <a:ext cx="0" cy="0"/>
          <a:chOff x="0" y="0"/>
          <a:chExt cx="0" cy="0"/>
        </a:xfrm>
      </p:grpSpPr>
      <p:sp>
        <p:nvSpPr>
          <p:cNvPr id="11" name="AutoShape 7"/>
          <p:cNvSpPr>
            <a:spLocks noChangeArrowheads="1"/>
          </p:cNvSpPr>
          <p:nvPr userDrawn="1"/>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ln>
          <a:effectLst/>
        </p:spPr>
        <p:txBody>
          <a:bodyPr wrap="none" anchor="ctr"/>
          <a:lstStyle/>
          <a:p>
            <a:pPr>
              <a:defRPr/>
            </a:pPr>
            <a:r>
              <a:rPr lang="ja-JP" altLang="en-US" sz="750" i="1" dirty="0">
                <a:solidFill>
                  <a:srgbClr val="0000FF"/>
                </a:solidFill>
                <a:ea typeface="ＭＳ Ｐゴシック" panose="020B0600070205080204" pitchFamily="50" charset="-128"/>
              </a:rPr>
              <a:t>入間サイバーステーション</a:t>
            </a:r>
            <a:endParaRPr lang="ja-JP" altLang="en-US" sz="750" i="1" dirty="0">
              <a:solidFill>
                <a:srgbClr val="0000FF"/>
              </a:solidFill>
              <a:ea typeface="ＭＳ Ｐゴシック" panose="020B0600070205080204" pitchFamily="50" charset="-128"/>
            </a:endParaRPr>
          </a:p>
        </p:txBody>
      </p:sp>
      <p:sp>
        <p:nvSpPr>
          <p:cNvPr id="12" name="円柱 11"/>
          <p:cNvSpPr/>
          <p:nvPr userDrawn="1"/>
        </p:nvSpPr>
        <p:spPr>
          <a:xfrm rot="5400000">
            <a:off x="5849967" y="-4448095"/>
            <a:ext cx="492066" cy="9864500"/>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350" dirty="0"/>
          </a:p>
        </p:txBody>
      </p:sp>
      <p:sp>
        <p:nvSpPr>
          <p:cNvPr id="6" name="スライド番号プレースホルダー 5"/>
          <p:cNvSpPr>
            <a:spLocks noGrp="1"/>
          </p:cNvSpPr>
          <p:nvPr>
            <p:ph type="sldNum" sz="quarter" idx="4"/>
          </p:nvPr>
        </p:nvSpPr>
        <p:spPr>
          <a:xfrm>
            <a:off x="11718188" y="6561374"/>
            <a:ext cx="480000" cy="288000"/>
          </a:xfrm>
          <a:prstGeom prst="rect">
            <a:avLst/>
          </a:prstGeom>
          <a:solidFill>
            <a:schemeClr val="tx1"/>
          </a:solidFill>
        </p:spPr>
        <p:txBody>
          <a:bodyPr vert="horz" lIns="36000" tIns="36000" rIns="36000" bIns="36000" rtlCol="0" anchor="ctr"/>
          <a:lstStyle>
            <a:lvl1pPr algn="ctr">
              <a:defRPr sz="1050" b="1">
                <a:solidFill>
                  <a:schemeClr val="bg1"/>
                </a:solidFill>
              </a:defRPr>
            </a:lvl1pPr>
          </a:lstStyle>
          <a:p>
            <a:fld id="{80709F25-3440-4B76-B09C-B07F16B95057}" type="slidenum">
              <a:rPr lang="ja-JP" altLang="en-US" smtClean="0"/>
            </a:fld>
            <a:endParaRPr lang="ja-JP" altLang="en-US" dirty="0"/>
          </a:p>
        </p:txBody>
      </p:sp>
      <p:sp>
        <p:nvSpPr>
          <p:cNvPr id="87" name="タイトル プレースホルダー 1"/>
          <p:cNvSpPr>
            <a:spLocks noGrp="1"/>
          </p:cNvSpPr>
          <p:nvPr>
            <p:ph type="title"/>
          </p:nvPr>
        </p:nvSpPr>
        <p:spPr>
          <a:xfrm>
            <a:off x="1163750" y="254776"/>
            <a:ext cx="9864500" cy="492066"/>
          </a:xfrm>
          <a:prstGeom prst="rect">
            <a:avLst/>
          </a:prstGeom>
        </p:spPr>
        <p:txBody>
          <a:bodyPr vert="horz" lIns="91440" tIns="45720" rIns="91440" bIns="45720" rtlCol="0" anchor="ctr">
            <a:normAutofit/>
          </a:bodyPr>
          <a:lstStyle>
            <a:lvl1pPr algn="ctr">
              <a:defRPr/>
            </a:lvl1pPr>
          </a:lstStyle>
          <a:p>
            <a:r>
              <a:rPr kumimoji="1" lang="ja-JP" altLang="en-US" dirty="0"/>
              <a:t>マスター タイトルの書式設定</a:t>
            </a:r>
            <a:endParaRPr kumimoji="1" lang="ja-JP" altLang="en-US" dirty="0"/>
          </a:p>
        </p:txBody>
      </p:sp>
      <p:pic>
        <p:nvPicPr>
          <p:cNvPr id="14" name="図 13"/>
          <p:cNvPicPr>
            <a:picLocks noChangeAspect="1"/>
          </p:cNvPicPr>
          <p:nvPr userDrawn="1"/>
        </p:nvPicPr>
        <p:blipFill rotWithShape="1">
          <a:blip r:embed="rId2"/>
          <a:srcRect l="10091"/>
          <a:stretch>
            <a:fillRect/>
          </a:stretch>
        </p:blipFill>
        <p:spPr>
          <a:xfrm>
            <a:off x="17357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ln>
          <a:effectLst/>
        </p:spPr>
        <p:txBody>
          <a:bodyPr wrap="none" anchor="ctr"/>
          <a:lstStyle/>
          <a:p>
            <a:pPr>
              <a:defRPr/>
            </a:pPr>
            <a:r>
              <a:rPr lang="ja-JP" altLang="en-US" sz="565" i="1" dirty="0">
                <a:solidFill>
                  <a:srgbClr val="7030A0"/>
                </a:solidFill>
                <a:ea typeface="ＭＳ Ｐゴシック" panose="020B0600070205080204" pitchFamily="50" charset="-128"/>
              </a:rPr>
              <a:t>自衛隊サイバー防衛隊</a:t>
            </a:r>
            <a:endParaRPr lang="ja-JP" altLang="en-US" sz="565" i="1" dirty="0">
              <a:solidFill>
                <a:srgbClr val="7030A0"/>
              </a:solidFill>
              <a:ea typeface="ＭＳ Ｐゴシック" panose="020B0600070205080204" pitchFamily="50" charset="-128"/>
            </a:endParaRP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5" dirty="0"/>
          </a:p>
        </p:txBody>
      </p:sp>
      <p:pic>
        <p:nvPicPr>
          <p:cNvPr id="9" name="図 8"/>
          <p:cNvPicPr>
            <a:picLocks noChangeAspect="1"/>
          </p:cNvPicPr>
          <p:nvPr userDrawn="1"/>
        </p:nvPicPr>
        <p:blipFill rotWithShape="1">
          <a:blip r:embed="rId2"/>
          <a:srcRect l="10091"/>
          <a:stretch>
            <a:fillRect/>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endParaRPr kumimoji="1" lang="ja-JP" altLang="en-US" dirty="0"/>
          </a:p>
        </p:txBody>
      </p:sp>
      <p:sp>
        <p:nvSpPr>
          <p:cNvPr id="11" name="スライド番号プレースホルダー 5"/>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90" b="1">
                <a:solidFill>
                  <a:schemeClr val="bg1"/>
                </a:solidFill>
              </a:defRPr>
            </a:lvl1pPr>
          </a:lstStyle>
          <a:p>
            <a:fld id="{80709F25-3440-4B76-B09C-B07F16B95057}" type="slidenum">
              <a:rPr lang="ja-JP" altLang="en-US" smtClean="0"/>
            </a:fld>
            <a:endParaRPr lang="ja-JP"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endParaRPr kumimoji="1" lang="ja-JP" altLang="en-US"/>
          </a:p>
        </p:txBody>
      </p:sp>
      <p:sp>
        <p:nvSpPr>
          <p:cNvPr id="3" name="スライド番号プレースホルダー 2"/>
          <p:cNvSpPr>
            <a:spLocks noGrp="1"/>
          </p:cNvSpPr>
          <p:nvPr>
            <p:ph type="sldNum" sz="quarter" idx="10"/>
          </p:nvPr>
        </p:nvSpPr>
        <p:spPr/>
        <p:txBody>
          <a:bodyPr/>
          <a:lstStyle/>
          <a:p>
            <a:fld id="{E72C8F07-DB57-4129-B04E-1E64F941A10A}" type="slidenum">
              <a:rPr lang="ja-JP" altLang="en-US" smtClean="0"/>
            </a:fld>
            <a:endParaRPr lang="ja-JP" alt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ln>
          <a:effectLst/>
        </p:spPr>
        <p:txBody>
          <a:bodyPr wrap="none" anchor="ctr"/>
          <a:lstStyle/>
          <a:p>
            <a:pPr>
              <a:defRPr/>
            </a:pPr>
            <a:r>
              <a:rPr lang="ja-JP" altLang="en-US" sz="565" i="1" dirty="0">
                <a:solidFill>
                  <a:srgbClr val="7030A0"/>
                </a:solidFill>
                <a:ea typeface="ＭＳ Ｐゴシック" panose="020B0600070205080204" pitchFamily="50" charset="-128"/>
              </a:rPr>
              <a:t>自衛隊サイバー防衛隊</a:t>
            </a:r>
            <a:endParaRPr lang="ja-JP" altLang="en-US" sz="565" i="1" dirty="0">
              <a:solidFill>
                <a:srgbClr val="7030A0"/>
              </a:solidFill>
              <a:ea typeface="ＭＳ Ｐゴシック" panose="020B0600070205080204" pitchFamily="50" charset="-128"/>
            </a:endParaRP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5" dirty="0"/>
          </a:p>
        </p:txBody>
      </p:sp>
      <p:pic>
        <p:nvPicPr>
          <p:cNvPr id="9" name="図 8"/>
          <p:cNvPicPr>
            <a:picLocks noChangeAspect="1"/>
          </p:cNvPicPr>
          <p:nvPr userDrawn="1"/>
        </p:nvPicPr>
        <p:blipFill rotWithShape="1">
          <a:blip r:embed="rId2"/>
          <a:srcRect l="10091"/>
          <a:stretch>
            <a:fillRect/>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endParaRPr kumimoji="1" lang="ja-JP" alt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180762"/>
            <a:ext cx="10224000" cy="468000"/>
          </a:xfrm>
          <a:gradFill>
            <a:gsLst>
              <a:gs pos="55000">
                <a:schemeClr val="accent1">
                  <a:lumMod val="5000"/>
                  <a:lumOff val="95000"/>
                </a:schemeClr>
              </a:gs>
              <a:gs pos="0">
                <a:schemeClr val="accent1"/>
              </a:gs>
              <a:gs pos="100000">
                <a:schemeClr val="accent1"/>
              </a:gs>
            </a:gsLst>
            <a:lin ang="5400000" scaled="1"/>
          </a:gradFill>
        </p:spPr>
        <p:txBody>
          <a:bodyPr lIns="36000" tIns="36000" rIns="36000" bIns="36000">
            <a:normAutofit/>
          </a:bodyPr>
          <a:lstStyle>
            <a:lvl1pPr algn="ctr">
              <a:defRPr sz="2400">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endParaRPr kumimoji="1" lang="ja-JP" altLang="en-US" dirty="0"/>
          </a:p>
        </p:txBody>
      </p:sp>
      <p:sp>
        <p:nvSpPr>
          <p:cNvPr id="3" name="日付プレースホルダー 2"/>
          <p:cNvSpPr>
            <a:spLocks noGrp="1"/>
          </p:cNvSpPr>
          <p:nvPr>
            <p:ph type="dt" sz="half" idx="10"/>
          </p:nvPr>
        </p:nvSpPr>
        <p:spPr/>
        <p:txBody>
          <a:bodyPr/>
          <a:lstStyle/>
          <a:p>
            <a:fld id="{E18F3A59-7A99-40F2-BAF5-1B2F9D57A8F4}" type="datetime1">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a:xfrm>
            <a:off x="11353800" y="13078"/>
            <a:ext cx="838200" cy="147421"/>
          </a:xfrm>
        </p:spPr>
        <p:txBody>
          <a:bodyPr/>
          <a:lstStyle>
            <a:lvl1pPr>
              <a:defRPr>
                <a:latin typeface="ＭＳ Ｐゴシック" panose="020B0600070205080204" pitchFamily="50" charset="-128"/>
                <a:ea typeface="ＭＳ Ｐゴシック" panose="020B0600070205080204" pitchFamily="50" charset="-128"/>
              </a:defRPr>
            </a:lvl1pPr>
          </a:lstStyle>
          <a:p>
            <a:fld id="{29D0A02A-D293-4AA2-B538-CA731D6C535C}" type="slidenum">
              <a:rPr lang="ja-JP" altLang="en-US" smtClean="0"/>
            </a:fld>
            <a:endParaRPr lang="ja-JP" altLang="en-US"/>
          </a:p>
        </p:txBody>
      </p:sp>
      <p:sp>
        <p:nvSpPr>
          <p:cNvPr id="6" name="正方形/長方形 5"/>
          <p:cNvSpPr/>
          <p:nvPr userDrawn="1"/>
        </p:nvSpPr>
        <p:spPr>
          <a:xfrm>
            <a:off x="0" y="692710"/>
            <a:ext cx="12192000" cy="4571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ja-JP" altLang="en-US" sz="1800"/>
          </a:p>
        </p:txBody>
      </p:sp>
      <p:sp>
        <p:nvSpPr>
          <p:cNvPr id="7" name="正方形/長方形 6"/>
          <p:cNvSpPr/>
          <p:nvPr userDrawn="1"/>
        </p:nvSpPr>
        <p:spPr>
          <a:xfrm>
            <a:off x="0" y="-214850"/>
            <a:ext cx="1527662"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spAutoFit/>
          </a:bodyPr>
          <a:lstStyle/>
          <a:p>
            <a:pPr algn="l"/>
            <a:r>
              <a:rPr kumimoji="1" lang="en-US" altLang="ja-JP" sz="1200" i="1" dirty="0">
                <a:solidFill>
                  <a:schemeClr val="tx1"/>
                </a:solidFill>
                <a:latin typeface="Century" panose="02040604050505020304" pitchFamily="18" charset="0"/>
                <a:ea typeface="+mj-ea"/>
              </a:rPr>
              <a:t>Cyber</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Defense</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Group</a:t>
            </a:r>
            <a:endParaRPr kumimoji="1" lang="ja-JP" altLang="en-US" sz="1200" i="1" dirty="0">
              <a:solidFill>
                <a:schemeClr val="tx1"/>
              </a:solidFill>
              <a:latin typeface="Century" panose="02040604050505020304" pitchFamily="18" charset="0"/>
              <a:ea typeface="+mj-ea"/>
            </a:endParaRPr>
          </a:p>
        </p:txBody>
      </p:sp>
      <p:pic>
        <p:nvPicPr>
          <p:cNvPr id="9" name="図 8"/>
          <p:cNvPicPr>
            <a:picLocks noChangeAspect="1"/>
          </p:cNvPicPr>
          <p:nvPr userDrawn="1"/>
        </p:nvPicPr>
        <p:blipFill rotWithShape="1">
          <a:blip r:embed="rId2" cstate="screen"/>
          <a:srcRect/>
          <a:stretch>
            <a:fillRect/>
          </a:stretch>
        </p:blipFill>
        <p:spPr>
          <a:xfrm>
            <a:off x="158329" y="149225"/>
            <a:ext cx="557881" cy="543485"/>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1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ln>
          <a:effectLst/>
        </p:spPr>
        <p:txBody>
          <a:bodyPr wrap="none" anchor="ctr"/>
          <a:lstStyle/>
          <a:p>
            <a:pPr>
              <a:defRPr/>
            </a:pPr>
            <a:r>
              <a:rPr lang="ja-JP" altLang="en-US" sz="565" i="1" dirty="0">
                <a:solidFill>
                  <a:srgbClr val="7030A0"/>
                </a:solidFill>
                <a:ea typeface="ＭＳ Ｐゴシック" panose="020B0600070205080204" pitchFamily="50" charset="-128"/>
              </a:rPr>
              <a:t>自衛隊サイバー防衛隊</a:t>
            </a:r>
            <a:endParaRPr lang="ja-JP" altLang="en-US" sz="565" i="1" dirty="0">
              <a:solidFill>
                <a:srgbClr val="7030A0"/>
              </a:solidFill>
              <a:ea typeface="ＭＳ Ｐゴシック" panose="020B0600070205080204" pitchFamily="50" charset="-128"/>
            </a:endParaRP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5" dirty="0"/>
          </a:p>
        </p:txBody>
      </p:sp>
      <p:pic>
        <p:nvPicPr>
          <p:cNvPr id="9" name="図 8"/>
          <p:cNvPicPr>
            <a:picLocks noChangeAspect="1"/>
          </p:cNvPicPr>
          <p:nvPr userDrawn="1"/>
        </p:nvPicPr>
        <p:blipFill rotWithShape="1">
          <a:blip r:embed="rId2"/>
          <a:srcRect l="10091"/>
          <a:stretch>
            <a:fillRect/>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endParaRPr kumimoji="1" lang="ja-JP"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endParaRPr kumimoji="1" lang="ja-JP"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マスター タイトルの書式設定</a:t>
            </a:r>
            <a:endParaRPr kumimoji="1" lang="ja-JP"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5" name="正方形/長方形 4"/>
          <p:cNvSpPr/>
          <p:nvPr userDrawn="1"/>
        </p:nvSpPr>
        <p:spPr>
          <a:xfrm>
            <a:off x="563202" y="656706"/>
            <a:ext cx="4949469" cy="613837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rPr>
              <a:t>実施した事項（事実）：</a:t>
            </a:r>
            <a:r>
              <a:rPr kumimoji="1" lang="en-US" altLang="ja-JP" u="sng" dirty="0">
                <a:solidFill>
                  <a:schemeClr val="tx1"/>
                </a:solidFill>
              </a:rPr>
              <a:t>Blue</a:t>
            </a:r>
            <a:endParaRPr kumimoji="1" lang="ja-JP" altLang="en-US" u="sng" dirty="0">
              <a:solidFill>
                <a:schemeClr val="tx1"/>
              </a:solidFill>
            </a:endParaRPr>
          </a:p>
        </p:txBody>
      </p:sp>
      <p:sp>
        <p:nvSpPr>
          <p:cNvPr id="6" name="正方形/長方形 5"/>
          <p:cNvSpPr/>
          <p:nvPr userDrawn="1"/>
        </p:nvSpPr>
        <p:spPr>
          <a:xfrm>
            <a:off x="6673709" y="656706"/>
            <a:ext cx="4982483" cy="61383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latin typeface="ＭＳ ゴシック" panose="020B0609070205080204" pitchFamily="49" charset="-128"/>
                <a:ea typeface="ＭＳ ゴシック" panose="020B0609070205080204" pitchFamily="49" charset="-128"/>
              </a:rPr>
              <a:t>判断した事項</a:t>
            </a:r>
            <a:endParaRPr kumimoji="1" lang="ja-JP" altLang="en-US" u="sng" dirty="0">
              <a:solidFill>
                <a:schemeClr val="tx1"/>
              </a:solidFill>
              <a:latin typeface="ＭＳ ゴシック" panose="020B0609070205080204" pitchFamily="49" charset="-128"/>
              <a:ea typeface="ＭＳ ゴシック" panose="020B0609070205080204" pitchFamily="49" charset="-128"/>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endParaRPr kumimoji="1" lang="ja-JP"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6" Type="http://schemas.openxmlformats.org/officeDocument/2006/relationships/theme" Target="../theme/theme4.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7" Type="http://schemas.microsoft.com/office/2007/relationships/hdphoto" Target="../media/image3.wdp"/><Relationship Id="rId6" Type="http://schemas.openxmlformats.org/officeDocument/2006/relationships/image" Target="../media/image2.png"/><Relationship Id="rId5" Type="http://schemas.openxmlformats.org/officeDocument/2006/relationships/slideLayout" Target="../slideLayouts/slideLayout43.xml"/><Relationship Id="rId4" Type="http://schemas.openxmlformats.org/officeDocument/2006/relationships/slideLayout" Target="../slideLayouts/slideLayout42.xml"/><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52.xml"/><Relationship Id="rId8" Type="http://schemas.openxmlformats.org/officeDocument/2006/relationships/slideLayout" Target="../slideLayouts/slideLayout51.xml"/><Relationship Id="rId7" Type="http://schemas.openxmlformats.org/officeDocument/2006/relationships/slideLayout" Target="../slideLayouts/slideLayout50.xml"/><Relationship Id="rId6" Type="http://schemas.openxmlformats.org/officeDocument/2006/relationships/slideLayout" Target="../slideLayouts/slideLayout49.xml"/><Relationship Id="rId5" Type="http://schemas.openxmlformats.org/officeDocument/2006/relationships/slideLayout" Target="../slideLayouts/slideLayout48.xml"/><Relationship Id="rId4" Type="http://schemas.openxmlformats.org/officeDocument/2006/relationships/slideLayout" Target="../slideLayouts/slideLayout47.xml"/><Relationship Id="rId3" Type="http://schemas.openxmlformats.org/officeDocument/2006/relationships/slideLayout" Target="../slideLayouts/slideLayout46.xml"/><Relationship Id="rId2" Type="http://schemas.openxmlformats.org/officeDocument/2006/relationships/slideLayout" Target="../slideLayouts/slideLayout45.xml"/><Relationship Id="rId16" Type="http://schemas.openxmlformats.org/officeDocument/2006/relationships/theme" Target="../theme/theme6.xml"/><Relationship Id="rId15" Type="http://schemas.openxmlformats.org/officeDocument/2006/relationships/image" Target="../media/image1.png"/><Relationship Id="rId14" Type="http://schemas.openxmlformats.org/officeDocument/2006/relationships/slideLayout" Target="../slideLayouts/slideLayout57.xml"/><Relationship Id="rId13" Type="http://schemas.openxmlformats.org/officeDocument/2006/relationships/slideLayout" Target="../slideLayouts/slideLayout56.xml"/><Relationship Id="rId12" Type="http://schemas.openxmlformats.org/officeDocument/2006/relationships/slideLayout" Target="../slideLayouts/slideLayout55.xml"/><Relationship Id="rId11" Type="http://schemas.openxmlformats.org/officeDocument/2006/relationships/slideLayout" Target="../slideLayouts/slideLayout54.xml"/><Relationship Id="rId10" Type="http://schemas.openxmlformats.org/officeDocument/2006/relationships/slideLayout" Target="../slideLayouts/slideLayout53.xml"/><Relationship Id="rId1" Type="http://schemas.openxmlformats.org/officeDocument/2006/relationships/slideLayout" Target="../slideLayouts/slideLayout44.xml"/></Relationships>
</file>

<file path=ppt/slideMasters/_rels/slideMaster7.xml.rels><?xml version="1.0" encoding="UTF-8" standalone="yes"?>
<Relationships xmlns="http://schemas.openxmlformats.org/package/2006/relationships"><Relationship Id="rId4" Type="http://schemas.openxmlformats.org/officeDocument/2006/relationships/theme" Target="../theme/theme7.xml"/><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3" Type="http://schemas.openxmlformats.org/officeDocument/2006/relationships/theme" Target="../theme/theme8.xml"/><Relationship Id="rId12" Type="http://schemas.openxmlformats.org/officeDocument/2006/relationships/image" Target="../media/image1.png"/><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8" name="円柱 7"/>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endParaRPr kumimoji="1" lang="ja-JP" altLang="en-US" dirty="0"/>
          </a:p>
        </p:txBody>
      </p:sp>
      <p:sp>
        <p:nvSpPr>
          <p:cNvPr id="9" name="スライド番号プレースホルダー 5"/>
          <p:cNvSpPr txBox="1"/>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90"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fld>
            <a:endParaRPr lang="ja-JP" altLang="en-US" dirty="0"/>
          </a:p>
        </p:txBody>
      </p:sp>
      <p:pic>
        <p:nvPicPr>
          <p:cNvPr id="10" name="図 9"/>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46830-8AA4-43B2-B259-31ACA4F65965}"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0762DD-1B69-48C9-A635-1F8398D530E4}" type="slidenum">
              <a:rPr kumimoji="1" lang="ja-JP" altLang="en-US" smtClean="0"/>
            </a:fld>
            <a:endParaRPr kumimoji="1" lang="ja-JP" altLang="en-US"/>
          </a:p>
        </p:txBody>
      </p:sp>
      <p:pic>
        <p:nvPicPr>
          <p:cNvPr id="8" name="図 7"/>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288429" y="-53926"/>
            <a:ext cx="3081304" cy="3413062"/>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34EAC-051A-4BA5-9748-9745F9DBECB0}"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82BEDA-FC73-43FB-8705-8E0CB56C2A53}" type="slidenum">
              <a:rPr kumimoji="1" lang="ja-JP" altLang="en-US" smtClean="0"/>
            </a:fld>
            <a:endParaRPr kumimoji="1" lang="ja-JP" altLang="en-US"/>
          </a:p>
        </p:txBody>
      </p:sp>
      <p:pic>
        <p:nvPicPr>
          <p:cNvPr id="9" name="図 8"/>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2337907"/>
            <a:ext cx="3886200" cy="4304620"/>
          </a:xfrm>
          <a:prstGeom prst="rect">
            <a:avLst/>
          </a:prstGeom>
        </p:spPr>
      </p:pic>
      <p:sp>
        <p:nvSpPr>
          <p:cNvPr id="10" name="正方形/長方形 9"/>
          <p:cNvSpPr/>
          <p:nvPr userDrawn="1"/>
        </p:nvSpPr>
        <p:spPr>
          <a:xfrm>
            <a:off x="0" y="2304039"/>
            <a:ext cx="4114800" cy="441743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スライド番号プレースホルダー 20"/>
          <p:cNvSpPr>
            <a:spLocks noGrp="1"/>
          </p:cNvSpPr>
          <p:nvPr>
            <p:ph type="sldNum" sz="quarter" idx="4"/>
          </p:nvPr>
        </p:nvSpPr>
        <p:spPr>
          <a:xfrm>
            <a:off x="11885644" y="6687666"/>
            <a:ext cx="306356" cy="170334"/>
          </a:xfrm>
          <a:prstGeom prst="rect">
            <a:avLst/>
          </a:prstGeom>
          <a:solidFill>
            <a:schemeClr val="tx1"/>
          </a:solidFill>
        </p:spPr>
        <p:txBody>
          <a:bodyPr vert="horz" lIns="36000" tIns="36000" rIns="36000" bIns="36000" rtlCol="0" anchor="ctr"/>
          <a:lstStyle>
            <a:lvl1pPr algn="ctr">
              <a:defRPr sz="1100" b="1">
                <a:solidFill>
                  <a:schemeClr val="bg1"/>
                </a:solidFill>
              </a:defRPr>
            </a:lvl1pPr>
          </a:lstStyle>
          <a:p>
            <a:fld id="{E72C8F07-DB57-4129-B04E-1E64F941A10A}" type="slidenum">
              <a:rPr lang="ja-JP" altLang="en-US" smtClean="0"/>
            </a:fld>
            <a:endParaRPr lang="ja-JP" alt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スライド番号プレースホルダー 2"/>
          <p:cNvSpPr txBox="1"/>
          <p:nvPr userDrawn="1"/>
        </p:nvSpPr>
        <p:spPr>
          <a:xfrm>
            <a:off x="11832000" y="6570001"/>
            <a:ext cx="360000" cy="288000"/>
          </a:xfrm>
          <a:prstGeom prst="rect">
            <a:avLst/>
          </a:prstGeom>
          <a:solidFill>
            <a:schemeClr val="tx1"/>
          </a:solidFill>
        </p:spPr>
        <p:txBody>
          <a:bodyPr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fld id="{80709F25-3440-4B76-B09C-B07F16B95057}" type="slidenum">
              <a:rPr kumimoji="1" lang="ja-JP" altLang="en-US" sz="1050" b="1" i="0" u="none" strike="noStrike" kern="120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mn-cs"/>
              </a:rPr>
            </a:fld>
            <a:endParaRPr kumimoji="1" lang="ja-JP" altLang="en-US" sz="18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cs typeface="+mn-cs"/>
            </a:endParaRPr>
          </a:p>
        </p:txBody>
      </p:sp>
      <p:sp>
        <p:nvSpPr>
          <p:cNvPr id="16" name="円柱 15"/>
          <p:cNvSpPr/>
          <p:nvPr userDrawn="1"/>
        </p:nvSpPr>
        <p:spPr>
          <a:xfrm rot="5400000">
            <a:off x="5991511" y="-3987650"/>
            <a:ext cx="492066" cy="8648151"/>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19" name="タイトル 1"/>
          <p:cNvSpPr txBox="1"/>
          <p:nvPr userDrawn="1"/>
        </p:nvSpPr>
        <p:spPr>
          <a:xfrm>
            <a:off x="1524000" y="300046"/>
            <a:ext cx="9144000" cy="473465"/>
          </a:xfrm>
        </p:spPr>
        <p:txBody>
          <a:bodyPr anchor="ctr">
            <a:normAutofit lnSpcReduction="10000"/>
          </a:bodyPr>
          <a:lstStyle>
            <a:lvl1pPr algn="ctr" defTabSz="914400" rtl="0" eaLnBrk="1" latinLnBrk="0" hangingPunct="1">
              <a:lnSpc>
                <a:spcPct val="90000"/>
              </a:lnSpc>
              <a:spcBef>
                <a:spcPct val="0"/>
              </a:spcBef>
              <a:buNone/>
              <a:defRPr kumimoji="1" sz="2800" b="1" kern="1200">
                <a:solidFill>
                  <a:schemeClr val="tx1"/>
                </a:solidFill>
                <a:latin typeface="游ゴシック" panose="020B0400000000000000" pitchFamily="50" charset="-128"/>
                <a:ea typeface="游ゴシック" panose="020B0400000000000000" pitchFamily="50" charset="-128"/>
                <a:cs typeface="+mj-cs"/>
              </a:defRPr>
            </a:lvl1pPr>
          </a:lstStyle>
          <a:p>
            <a:endParaRPr lang="ja-JP" altLang="en-US" dirty="0"/>
          </a:p>
        </p:txBody>
      </p:sp>
      <p:pic>
        <p:nvPicPr>
          <p:cNvPr id="8" name="図 7"/>
          <p:cNvPicPr>
            <a:picLocks noChangeAspect="1"/>
          </p:cNvPicPr>
          <p:nvPr userDrawn="1"/>
        </p:nvPicPr>
        <p:blipFill>
          <a:blip r:embed="rId6">
            <a:extLst>
              <a:ext uri="{BEBA8EAE-BF5A-486C-A8C5-ECC9F3942E4B}">
                <a14:imgProps xmlns:a14="http://schemas.microsoft.com/office/drawing/2010/main">
                  <a14:imgLayer r:embed="rId7">
                    <a14:imgEffect>
                      <a14:backgroundRemoval t="4488" b="98205" l="5526" r="90196">
                        <a14:foregroundMark x1="50089" y1="11670" x2="9091" y2="25314"/>
                        <a14:foregroundMark x1="46881" y1="5386" x2="12656" y2="12567"/>
                        <a14:foregroundMark x1="12656" y1="12567" x2="8253" y2="16226"/>
                        <a14:foregroundMark x1="6904" y1="38082" x2="6883" y2="40036"/>
                        <a14:foregroundMark x1="7064" y1="22920" x2="7027" y2="26412"/>
                        <a14:foregroundMark x1="15013" y1="67680" x2="15865" y2="69479"/>
                        <a14:foregroundMark x1="12699" y1="62790" x2="12887" y2="63186"/>
                        <a14:foregroundMark x1="9450" y1="55923" x2="11795" y2="60879"/>
                        <a14:foregroundMark x1="15508" y1="72531" x2="8378" y2="74686"/>
                        <a14:foregroundMark x1="8378" y1="75045" x2="15865" y2="82226"/>
                        <a14:foregroundMark x1="15865" y1="82226" x2="47594" y2="92460"/>
                        <a14:foregroundMark x1="47594" y1="92460" x2="57932" y2="93537"/>
                        <a14:foregroundMark x1="68767" y1="91655" x2="71555" y2="91171"/>
                        <a14:foregroundMark x1="57932" y1="93537" x2="68630" y2="91679"/>
                        <a14:foregroundMark x1="65241" y1="65709" x2="53364" y2="96640"/>
                        <a14:foregroundMark x1="72014" y1="44345" x2="56863" y2="57989"/>
                        <a14:foregroundMark x1="56863" y1="57989" x2="47772" y2="59066"/>
                        <a14:foregroundMark x1="47772" y1="59066" x2="32442" y2="34650"/>
                        <a14:foregroundMark x1="32442" y1="34650" x2="24242" y2="29084"/>
                        <a14:foregroundMark x1="24242" y1="29084" x2="23529" y2="17415"/>
                        <a14:foregroundMark x1="18717" y1="27648" x2="26381" y2="34650"/>
                        <a14:foregroundMark x1="26381" y1="34650" x2="26381" y2="34650"/>
                        <a14:foregroundMark x1="21569" y1="21544" x2="27986" y2="14542"/>
                        <a14:foregroundMark x1="27986" y1="14542" x2="57398" y2="10772"/>
                        <a14:foregroundMark x1="57398" y1="10772" x2="68093" y2="12029"/>
                        <a14:foregroundMark x1="68093" y1="12029" x2="75045" y2="15081"/>
                        <a14:foregroundMark x1="29947" y1="9156" x2="29947" y2="9156"/>
                        <a14:foregroundMark x1="26381" y1="7361" x2="49020" y2="5386"/>
                        <a14:foregroundMark x1="49020" y1="5386" x2="63102" y2="6463"/>
                        <a14:foregroundMark x1="85383" y1="15081" x2="90018" y2="24057"/>
                        <a14:foregroundMark x1="90018" y1="24057" x2="85027" y2="56912"/>
                        <a14:foregroundMark x1="88057" y1="74147" x2="90374" y2="73968"/>
                        <a14:foregroundMark x1="6826" y1="21544" x2="6952" y2="23698"/>
                        <a14:foregroundMark x1="7436" y1="43192" x2="8200" y2="47935"/>
                        <a14:foregroundMark x1="8913" y1="54219" x2="9626" y2="57092"/>
                        <a14:foregroundMark x1="8749" y1="42370" x2="9804" y2="57451"/>
                        <a14:foregroundMark x1="8451" y1="38106" x2="8586" y2="40036"/>
                        <a14:foregroundMark x1="7291" y1="21544" x2="7633" y2="26421"/>
                        <a14:foregroundMark x1="6975" y1="17027" x2="7165" y2="19749"/>
                        <a14:foregroundMark x1="9804" y1="57451" x2="10770" y2="60715"/>
                        <a14:foregroundMark x1="13530" y1="68348" x2="16221" y2="70916"/>
                        <a14:foregroundMark x1="13109" y1="61793" x2="8378" y2="47756"/>
                        <a14:foregroundMark x1="13487" y1="62915" x2="13130" y2="61857"/>
                        <a14:foregroundMark x1="9271" y1="40678" x2="11196" y2="60440"/>
                        <a14:foregroundMark x1="8914" y1="37013" x2="9208" y2="40036"/>
                        <a14:foregroundMark x1="7407" y1="21544" x2="7882" y2="26425"/>
                        <a14:foregroundMark x1="6952" y1="16876" x2="7232" y2="19749"/>
                        <a14:foregroundMark x1="8913" y1="77020" x2="11078" y2="80563"/>
                        <a14:foregroundMark x1="27389" y1="92803" x2="56205" y2="96276"/>
                        <a14:foregroundMark x1="86186" y1="81871" x2="88948" y2="74865"/>
                        <a14:foregroundMark x1="8221" y1="17015" x2="28699" y2="9515"/>
                        <a14:foregroundMark x1="7130" y1="17415" x2="7439" y2="17302"/>
                        <a14:foregroundMark x1="8065" y1="16923" x2="34759" y2="5925"/>
                        <a14:foregroundMark x1="34759" y1="5925" x2="44742" y2="4488"/>
                        <a14:foregroundMark x1="44742" y1="4488" x2="45098" y2="4488"/>
                        <a14:foregroundMark x1="60428" y1="4488" x2="52050" y2="4488"/>
                        <a14:foregroundMark x1="55971" y1="4847" x2="87879" y2="14542"/>
                        <a14:foregroundMark x1="87879" y1="14542" x2="88592" y2="14901"/>
                        <a14:foregroundMark x1="7923" y1="21544" x2="8274" y2="26431"/>
                        <a14:foregroundMark x1="7665" y1="17953" x2="7794" y2="19749"/>
                        <a14:foregroundMark x1="9804" y1="49192" x2="15686" y2="64452"/>
                        <a14:foregroundMark x1="69715" y1="93155" x2="68984" y2="93537"/>
                        <a14:foregroundMark x1="78253" y1="88689" x2="70384" y2="92805"/>
                        <a14:foregroundMark x1="69994" y1="93597" x2="68093" y2="94075"/>
                        <a14:foregroundMark x1="68984" y1="93716" x2="66667" y2="94434"/>
                        <a14:foregroundMark x1="7651" y1="42370" x2="8021" y2="50269"/>
                        <a14:foregroundMark x1="7428" y1="37614" x2="7541" y2="40036"/>
                        <a14:foregroundMark x1="7130" y1="31239" x2="7256" y2="33939"/>
                        <a14:foregroundMark x1="8021" y1="50269" x2="9091" y2="53142"/>
                        <a14:foregroundMark x1="7679" y1="42370" x2="7665" y2="42729"/>
                        <a14:foregroundMark x1="7867" y1="37637" x2="7772" y2="40036"/>
                        <a14:foregroundMark x1="7665" y1="42729" x2="7665" y2="42729"/>
                        <a14:foregroundMark x1="8083" y1="42370" x2="9982" y2="53321"/>
                        <a14:foregroundMark x1="7256" y1="37605" x2="7678" y2="40036"/>
                        <a14:foregroundMark x1="7389" y1="42370" x2="8378" y2="52424"/>
                        <a14:foregroundMark x1="6852" y1="36907" x2="7160" y2="40036"/>
                        <a14:backgroundMark x1="1604" y1="40754" x2="4278" y2="50987"/>
                        <a14:backgroundMark x1="4278" y1="50987" x2="5299" y2="52092"/>
                        <a14:backgroundMark x1="5704" y1="16338" x2="5723" y2="16784"/>
                        <a14:backgroundMark x1="52228" y1="98564" x2="52423" y2="98542"/>
                        <a14:backgroundMark x1="10873" y1="64093" x2="13012" y2="68582"/>
                        <a14:backgroundMark x1="8913" y1="62478" x2="10873" y2="63914"/>
                        <a14:backgroundMark x1="10695" y1="63734" x2="11052" y2="64093"/>
                        <a14:backgroundMark x1="12121" y1="67504" x2="13369" y2="68223"/>
                        <a14:backgroundMark x1="11052" y1="82226" x2="17291" y2="89587"/>
                        <a14:backgroundMark x1="17291" y1="89587" x2="24242" y2="92998"/>
                        <a14:backgroundMark x1="10695" y1="80790" x2="11765" y2="82406"/>
                        <a14:backgroundMark x1="23173" y1="91741" x2="26916" y2="93357"/>
                        <a14:backgroundMark x1="55080" y1="98205" x2="64528" y2="96948"/>
                        <a14:backgroundMark x1="78844" y1="89338" x2="83779" y2="86715"/>
                        <a14:backgroundMark x1="64528" y1="96948" x2="67426" y2="95408"/>
                        <a14:backgroundMark x1="83779" y1="86715" x2="86631" y2="83303"/>
                        <a14:backgroundMark x1="70792" y1="96034" x2="75045" y2="93178"/>
                        <a14:backgroundMark x1="67558" y1="98205" x2="70506" y2="96226"/>
                        <a14:backgroundMark x1="64349" y1="98205" x2="70766" y2="96768"/>
                        <a14:backgroundMark x1="86988" y1="82765" x2="86275" y2="83124"/>
                        <a14:backgroundMark x1="71301" y1="94255" x2="70410" y2="94255"/>
                        <a14:backgroundMark x1="6774" y1="16158" x2="6417" y2="16697"/>
                        <a14:backgroundMark x1="6239" y1="19749" x2="6239" y2="21544"/>
                        <a14:backgroundMark x1="5526" y1="30162" x2="5640" y2="31310"/>
                        <a14:backgroundMark x1="5882" y1="30880" x2="5882" y2="31298"/>
                        <a14:backgroundMark x1="5704" y1="26391" x2="5629" y2="31310"/>
                        <a14:backgroundMark x1="29590" y1="29982" x2="29590" y2="29982"/>
                        <a14:backgroundMark x1="5882" y1="34111" x2="5704" y2="37522"/>
                        <a14:backgroundMark x1="5882" y1="34111" x2="6239" y2="36984"/>
                        <a14:backgroundMark x1="6239" y1="40036" x2="6239" y2="42370"/>
                      </a14:backgroundRemoval>
                    </a14:imgEffect>
                  </a14:imgLayer>
                </a14:imgProps>
              </a:ext>
            </a:extLst>
          </a:blip>
          <a:stretch>
            <a:fillRect/>
          </a:stretch>
        </p:blipFill>
        <p:spPr>
          <a:xfrm>
            <a:off x="117195" y="3713"/>
            <a:ext cx="670205" cy="665426"/>
          </a:xfrm>
          <a:prstGeom prst="rect">
            <a:avLst/>
          </a:prstGeom>
        </p:spPr>
      </p:pic>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円柱 8"/>
          <p:cNvSpPr/>
          <p:nvPr userDrawn="1"/>
        </p:nvSpPr>
        <p:spPr>
          <a:xfrm rot="5400000">
            <a:off x="6027767" y="-4114284"/>
            <a:ext cx="492066" cy="8923868"/>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3" name="テキスト プレースホルダー 2"/>
          <p:cNvSpPr>
            <a:spLocks noGrp="1"/>
          </p:cNvSpPr>
          <p:nvPr>
            <p:ph type="body" idx="1"/>
          </p:nvPr>
        </p:nvSpPr>
        <p:spPr>
          <a:xfrm>
            <a:off x="838200" y="2093954"/>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endParaRPr kumimoji="1" lang="ja-JP" altLang="en-US" dirty="0"/>
          </a:p>
          <a:p>
            <a:pPr lvl="1"/>
            <a:r>
              <a:rPr kumimoji="1" lang="ja-JP" altLang="en-US" dirty="0"/>
              <a:t>第 </a:t>
            </a:r>
            <a:r>
              <a:rPr kumimoji="1" lang="en-US" altLang="ja-JP" dirty="0"/>
              <a:t>2 </a:t>
            </a:r>
            <a:r>
              <a:rPr kumimoji="1" lang="ja-JP" altLang="en-US" dirty="0"/>
              <a:t>レベル</a:t>
            </a:r>
            <a:endParaRPr kumimoji="1" lang="ja-JP" altLang="en-US" dirty="0"/>
          </a:p>
          <a:p>
            <a:pPr lvl="2"/>
            <a:r>
              <a:rPr kumimoji="1" lang="ja-JP" altLang="en-US" dirty="0"/>
              <a:t>第 </a:t>
            </a:r>
            <a:r>
              <a:rPr kumimoji="1" lang="en-US" altLang="ja-JP" dirty="0"/>
              <a:t>3 </a:t>
            </a:r>
            <a:r>
              <a:rPr kumimoji="1" lang="ja-JP" altLang="en-US" dirty="0"/>
              <a:t>レベル</a:t>
            </a:r>
            <a:endParaRPr kumimoji="1" lang="ja-JP" altLang="en-US" dirty="0"/>
          </a:p>
          <a:p>
            <a:pPr lvl="3"/>
            <a:r>
              <a:rPr kumimoji="1" lang="ja-JP" altLang="en-US" dirty="0"/>
              <a:t>第 </a:t>
            </a:r>
            <a:r>
              <a:rPr kumimoji="1" lang="en-US" altLang="ja-JP" dirty="0"/>
              <a:t>4 </a:t>
            </a:r>
            <a:r>
              <a:rPr kumimoji="1" lang="ja-JP" altLang="en-US" dirty="0"/>
              <a:t>レベル</a:t>
            </a:r>
            <a:endParaRPr kumimoji="1" lang="ja-JP" altLang="en-US" dirty="0"/>
          </a:p>
          <a:p>
            <a:pPr lvl="4"/>
            <a:r>
              <a:rPr kumimoji="1" lang="ja-JP" altLang="en-US" dirty="0"/>
              <a:t>第 </a:t>
            </a:r>
            <a:r>
              <a:rPr kumimoji="1" lang="en-US" altLang="ja-JP" dirty="0"/>
              <a:t>5 </a:t>
            </a:r>
            <a:r>
              <a:rPr kumimoji="1" lang="ja-JP" altLang="en-US" dirty="0"/>
              <a:t>レベル</a:t>
            </a:r>
            <a:endParaRPr kumimoji="1" lang="ja-JP" altLang="en-US" dirty="0"/>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711E59-91EA-47B0-AF74-FF07041BBA0E}"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DA399D-D976-4A9D-A096-DE4C517DD142}" type="slidenum">
              <a:rPr kumimoji="1" lang="ja-JP" altLang="en-US" smtClean="0"/>
            </a:fld>
            <a:endParaRPr kumimoji="1" lang="ja-JP" altLang="en-US"/>
          </a:p>
        </p:txBody>
      </p:sp>
      <p:pic>
        <p:nvPicPr>
          <p:cNvPr id="8" name="図 7"/>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
        <p:nvSpPr>
          <p:cNvPr id="2" name="タイトル プレースホルダー 1"/>
          <p:cNvSpPr>
            <a:spLocks noGrp="1"/>
          </p:cNvSpPr>
          <p:nvPr>
            <p:ph type="title"/>
          </p:nvPr>
        </p:nvSpPr>
        <p:spPr>
          <a:xfrm>
            <a:off x="2082800" y="101616"/>
            <a:ext cx="8140702" cy="492067"/>
          </a:xfrm>
          <a:prstGeom prst="rect">
            <a:avLst/>
          </a:prstGeom>
        </p:spPr>
        <p:txBody>
          <a:bodyPr vert="horz" lIns="91440" tIns="45720" rIns="91440" bIns="45720" rtlCol="0" anchor="ctr">
            <a:noAutofit/>
          </a:bodyPr>
          <a:lstStyle/>
          <a:p>
            <a:r>
              <a:rPr kumimoji="1" lang="ja-JP" altLang="en-US" dirty="0"/>
              <a:t>マスター タイトルの書式設定</a:t>
            </a:r>
            <a:endParaRPr kumimoji="1" lang="ja-JP" alt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ＭＳ ゴシック" panose="020B0609070205080204" pitchFamily="49" charset="-128"/>
          <a:ea typeface="ＭＳ ゴシック" panose="020B0609070205080204" pitchFamily="49"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ＭＳ ゴシック" panose="020B0609070205080204" pitchFamily="49" charset="-128"/>
          <a:ea typeface="ＭＳ ゴシック" panose="020B0609070205080204" pitchFamily="49"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ＭＳ ゴシック" panose="020B0609070205080204" pitchFamily="49" charset="-128"/>
          <a:ea typeface="ＭＳ ゴシック" panose="020B0609070205080204" pitchFamily="49"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kumimoji="1" lang="ja-JP" altLang="en-US" dirty="0"/>
          </a:p>
        </p:txBody>
      </p:sp>
      <p:sp>
        <p:nvSpPr>
          <p:cNvPr id="5" name="フッター プレースホルダー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kumimoji="1" lang="ja-JP" altLang="en-US" dirty="0"/>
          </a:p>
        </p:txBody>
      </p:sp>
      <p:sp>
        <p:nvSpPr>
          <p:cNvPr id="6" name="スライド番号プレースホルダー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80709F25-3440-4B76-B09C-B07F16B95057}" type="slidenum">
              <a:rPr kumimoji="1" lang="ja-JP" altLang="en-US" smtClean="0"/>
            </a:fld>
            <a:endParaRPr kumimoji="1" lang="ja-JP" altLang="en-US" dirty="0"/>
          </a:p>
        </p:txBody>
      </p:sp>
      <p:grpSp>
        <p:nvGrpSpPr>
          <p:cNvPr id="7" name="グループ化 6"/>
          <p:cNvGrpSpPr/>
          <p:nvPr userDrawn="1"/>
        </p:nvGrpSpPr>
        <p:grpSpPr>
          <a:xfrm>
            <a:off x="11195267" y="161950"/>
            <a:ext cx="887309" cy="547330"/>
            <a:chOff x="10762108" y="88735"/>
            <a:chExt cx="1183079" cy="729773"/>
          </a:xfrm>
        </p:grpSpPr>
        <p:sp>
          <p:nvSpPr>
            <p:cNvPr id="8" name="正方形/長方形 7"/>
            <p:cNvSpPr/>
            <p:nvPr userDrawn="1"/>
          </p:nvSpPr>
          <p:spPr>
            <a:xfrm>
              <a:off x="10762413" y="88735"/>
              <a:ext cx="1182774" cy="368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algn="ctr">
                <a:defRPr/>
              </a:pPr>
              <a:r>
                <a:rPr lang="ja-JP" altLang="en-US" sz="1200" dirty="0">
                  <a:solidFill>
                    <a:srgbClr val="FF0000"/>
                  </a:solidFill>
                  <a:latin typeface="游ゴシック" panose="020B0400000000000000" pitchFamily="50" charset="-128"/>
                  <a:ea typeface="游ゴシック" panose="020B0400000000000000" pitchFamily="50" charset="-128"/>
                </a:rPr>
                <a:t>対外厳秘</a:t>
              </a:r>
              <a:endParaRPr lang="ja-JP" altLang="en-US" sz="1200" dirty="0">
                <a:solidFill>
                  <a:srgbClr val="FF0000"/>
                </a:solidFill>
                <a:latin typeface="游ゴシック" panose="020B0400000000000000" pitchFamily="50" charset="-128"/>
                <a:ea typeface="游ゴシック" panose="020B0400000000000000" pitchFamily="50" charset="-128"/>
              </a:endParaRPr>
            </a:p>
          </p:txBody>
        </p:sp>
        <p:sp>
          <p:nvSpPr>
            <p:cNvPr id="9" name="正方形/長方形 8"/>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隊進捗管理報告</a:t>
              </a:r>
              <a:endParaRPr lang="en-US" altLang="ja-JP" sz="675" dirty="0">
                <a:solidFill>
                  <a:prstClr val="white"/>
                </a:solidFill>
                <a:latin typeface="游ゴシック" panose="020B0400000000000000" pitchFamily="50" charset="-128"/>
                <a:ea typeface="游ゴシック" panose="020B0400000000000000" pitchFamily="50" charset="-128"/>
              </a:endParaRPr>
            </a:p>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関係者に限定</a:t>
              </a:r>
              <a:endParaRPr lang="ja-JP" altLang="en-US" sz="675" dirty="0">
                <a:solidFill>
                  <a:prstClr val="white"/>
                </a:solidFill>
                <a:latin typeface="游ゴシック" panose="020B0400000000000000" pitchFamily="50" charset="-128"/>
                <a:ea typeface="游ゴシック" panose="020B0400000000000000" pitchFamily="50" charset="-128"/>
              </a:endParaRPr>
            </a:p>
          </p:txBody>
        </p:sp>
      </p:grpSp>
      <p:sp>
        <p:nvSpPr>
          <p:cNvPr id="10" name="スライド番号プレースホルダー 5"/>
          <p:cNvSpPr txBox="1"/>
          <p:nvPr userDrawn="1"/>
        </p:nvSpPr>
        <p:spPr>
          <a:xfrm>
            <a:off x="11718188" y="6561374"/>
            <a:ext cx="480000" cy="288000"/>
          </a:xfrm>
          <a:prstGeom prst="rect">
            <a:avLst/>
          </a:prstGeom>
          <a:solidFill>
            <a:schemeClr val="tx1"/>
          </a:solidFill>
        </p:spPr>
        <p:txBody>
          <a:bodyPr vert="horz" lIns="36000" tIns="36000" rIns="36000" bIns="36000" rtlCol="0" anchor="ctr"/>
          <a:lstStyle>
            <a:defPPr>
              <a:defRPr lang="ja-JP"/>
            </a:defPPr>
            <a:lvl1pPr marL="0" algn="ctr" defTabSz="914400" rtl="0" eaLnBrk="1" latinLnBrk="0" hangingPunct="1">
              <a:defRPr kumimoji="1" sz="1050"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fld>
            <a:endParaRPr lang="ja-JP" altLang="en-US" dirty="0"/>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Lst>
  <p:hf hdr="0" ftr="0" dt="0"/>
  <p:txStyles>
    <p:titleStyle>
      <a:lvl1pPr algn="l" defTabSz="514350" rtl="0" eaLnBrk="1" latinLnBrk="0" hangingPunct="1">
        <a:lnSpc>
          <a:spcPct val="90000"/>
        </a:lnSpc>
        <a:spcBef>
          <a:spcPct val="0"/>
        </a:spcBef>
        <a:buNone/>
        <a:defRPr kumimoji="1" sz="2475" kern="1200">
          <a:solidFill>
            <a:schemeClr val="tx1"/>
          </a:solidFill>
          <a:latin typeface="+mj-lt"/>
          <a:ea typeface="+mj-ea"/>
          <a:cs typeface="+mj-cs"/>
        </a:defRPr>
      </a:lvl1pPr>
    </p:titleStyle>
    <p:bodyStyle>
      <a:lvl1pPr marL="128905" indent="-128905" algn="l" defTabSz="514350" rtl="0" eaLnBrk="1" latinLnBrk="0" hangingPunct="1">
        <a:lnSpc>
          <a:spcPct val="90000"/>
        </a:lnSpc>
        <a:spcBef>
          <a:spcPts val="565"/>
        </a:spcBef>
        <a:buFont typeface="Arial" panose="020B0604020202020204" pitchFamily="34" charset="0"/>
        <a:buChar char="•"/>
        <a:defRPr kumimoji="1" sz="1575" kern="1200">
          <a:solidFill>
            <a:schemeClr val="tx1"/>
          </a:solidFill>
          <a:latin typeface="+mn-lt"/>
          <a:ea typeface="+mn-ea"/>
          <a:cs typeface="+mn-cs"/>
        </a:defRPr>
      </a:lvl1pPr>
      <a:lvl2pPr marL="386080" indent="-128905" algn="l" defTabSz="514350" rtl="0" eaLnBrk="1" latinLnBrk="0" hangingPunct="1">
        <a:lnSpc>
          <a:spcPct val="90000"/>
        </a:lnSpc>
        <a:spcBef>
          <a:spcPts val="280"/>
        </a:spcBef>
        <a:buFont typeface="Arial" panose="020B0604020202020204" pitchFamily="34" charset="0"/>
        <a:buChar char="•"/>
        <a:defRPr kumimoji="1" sz="1350" kern="1200">
          <a:solidFill>
            <a:schemeClr val="tx1"/>
          </a:solidFill>
          <a:latin typeface="+mn-lt"/>
          <a:ea typeface="+mn-ea"/>
          <a:cs typeface="+mn-cs"/>
        </a:defRPr>
      </a:lvl2pPr>
      <a:lvl3pPr marL="643255" indent="-128905" algn="l" defTabSz="514350" rtl="0" eaLnBrk="1" latinLnBrk="0" hangingPunct="1">
        <a:lnSpc>
          <a:spcPct val="90000"/>
        </a:lnSpc>
        <a:spcBef>
          <a:spcPts val="280"/>
        </a:spcBef>
        <a:buFont typeface="Arial" panose="020B0604020202020204" pitchFamily="34" charset="0"/>
        <a:buChar char="•"/>
        <a:defRPr kumimoji="1" sz="1125" kern="1200">
          <a:solidFill>
            <a:schemeClr val="tx1"/>
          </a:solidFill>
          <a:latin typeface="+mn-lt"/>
          <a:ea typeface="+mn-ea"/>
          <a:cs typeface="+mn-cs"/>
        </a:defRPr>
      </a:lvl3pPr>
      <a:lvl4pPr marL="900430" indent="-128905" algn="l" defTabSz="514350" rtl="0" eaLnBrk="1" latinLnBrk="0" hangingPunct="1">
        <a:lnSpc>
          <a:spcPct val="90000"/>
        </a:lnSpc>
        <a:spcBef>
          <a:spcPts val="280"/>
        </a:spcBef>
        <a:buFont typeface="Arial" panose="020B0604020202020204" pitchFamily="34" charset="0"/>
        <a:buChar char="•"/>
        <a:defRPr kumimoji="1" sz="1015" kern="1200">
          <a:solidFill>
            <a:schemeClr val="tx1"/>
          </a:solidFill>
          <a:latin typeface="+mn-lt"/>
          <a:ea typeface="+mn-ea"/>
          <a:cs typeface="+mn-cs"/>
        </a:defRPr>
      </a:lvl4pPr>
      <a:lvl5pPr marL="1157605" indent="-128905" algn="l" defTabSz="514350" rtl="0" eaLnBrk="1" latinLnBrk="0" hangingPunct="1">
        <a:lnSpc>
          <a:spcPct val="90000"/>
        </a:lnSpc>
        <a:spcBef>
          <a:spcPts val="280"/>
        </a:spcBef>
        <a:buFont typeface="Arial" panose="020B0604020202020204" pitchFamily="34" charset="0"/>
        <a:buChar char="•"/>
        <a:defRPr kumimoji="1" sz="1015" kern="1200">
          <a:solidFill>
            <a:schemeClr val="tx1"/>
          </a:solidFill>
          <a:latin typeface="+mn-lt"/>
          <a:ea typeface="+mn-ea"/>
          <a:cs typeface="+mn-cs"/>
        </a:defRPr>
      </a:lvl5pPr>
      <a:lvl6pPr marL="1414780" indent="-128905" algn="l" defTabSz="514350" rtl="0" eaLnBrk="1" latinLnBrk="0" hangingPunct="1">
        <a:lnSpc>
          <a:spcPct val="90000"/>
        </a:lnSpc>
        <a:spcBef>
          <a:spcPts val="280"/>
        </a:spcBef>
        <a:buFont typeface="Arial" panose="020B0604020202020204" pitchFamily="34" charset="0"/>
        <a:buChar char="•"/>
        <a:defRPr kumimoji="1"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kumimoji="1"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kumimoji="1"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kumimoji="1" sz="1015" kern="1200">
          <a:solidFill>
            <a:schemeClr val="tx1"/>
          </a:solidFill>
          <a:latin typeface="+mn-lt"/>
          <a:ea typeface="+mn-ea"/>
          <a:cs typeface="+mn-cs"/>
        </a:defRPr>
      </a:lvl9pPr>
    </p:bodyStyle>
    <p:otherStyle>
      <a:defPPr>
        <a:defRPr lang="ja-JP"/>
      </a:defPPr>
      <a:lvl1pPr marL="0" algn="l" defTabSz="514350" rtl="0" eaLnBrk="1" latinLnBrk="0" hangingPunct="1">
        <a:defRPr kumimoji="1" sz="1015" kern="1200">
          <a:solidFill>
            <a:schemeClr val="tx1"/>
          </a:solidFill>
          <a:latin typeface="+mn-lt"/>
          <a:ea typeface="+mn-ea"/>
          <a:cs typeface="+mn-cs"/>
        </a:defRPr>
      </a:lvl1pPr>
      <a:lvl2pPr marL="257175" algn="l" defTabSz="514350" rtl="0" eaLnBrk="1" latinLnBrk="0" hangingPunct="1">
        <a:defRPr kumimoji="1" sz="1015" kern="1200">
          <a:solidFill>
            <a:schemeClr val="tx1"/>
          </a:solidFill>
          <a:latin typeface="+mn-lt"/>
          <a:ea typeface="+mn-ea"/>
          <a:cs typeface="+mn-cs"/>
        </a:defRPr>
      </a:lvl2pPr>
      <a:lvl3pPr marL="514350" algn="l" defTabSz="514350" rtl="0" eaLnBrk="1" latinLnBrk="0" hangingPunct="1">
        <a:defRPr kumimoji="1" sz="1015" kern="1200">
          <a:solidFill>
            <a:schemeClr val="tx1"/>
          </a:solidFill>
          <a:latin typeface="+mn-lt"/>
          <a:ea typeface="+mn-ea"/>
          <a:cs typeface="+mn-cs"/>
        </a:defRPr>
      </a:lvl3pPr>
      <a:lvl4pPr marL="771525" algn="l" defTabSz="514350" rtl="0" eaLnBrk="1" latinLnBrk="0" hangingPunct="1">
        <a:defRPr kumimoji="1" sz="1015" kern="1200">
          <a:solidFill>
            <a:schemeClr val="tx1"/>
          </a:solidFill>
          <a:latin typeface="+mn-lt"/>
          <a:ea typeface="+mn-ea"/>
          <a:cs typeface="+mn-cs"/>
        </a:defRPr>
      </a:lvl4pPr>
      <a:lvl5pPr marL="1028700" algn="l" defTabSz="514350" rtl="0" eaLnBrk="1" latinLnBrk="0" hangingPunct="1">
        <a:defRPr kumimoji="1" sz="1015" kern="1200">
          <a:solidFill>
            <a:schemeClr val="tx1"/>
          </a:solidFill>
          <a:latin typeface="+mn-lt"/>
          <a:ea typeface="+mn-ea"/>
          <a:cs typeface="+mn-cs"/>
        </a:defRPr>
      </a:lvl5pPr>
      <a:lvl6pPr marL="1285875" algn="l" defTabSz="514350" rtl="0" eaLnBrk="1" latinLnBrk="0" hangingPunct="1">
        <a:defRPr kumimoji="1" sz="1015" kern="1200">
          <a:solidFill>
            <a:schemeClr val="tx1"/>
          </a:solidFill>
          <a:latin typeface="+mn-lt"/>
          <a:ea typeface="+mn-ea"/>
          <a:cs typeface="+mn-cs"/>
        </a:defRPr>
      </a:lvl6pPr>
      <a:lvl7pPr marL="1543050" algn="l" defTabSz="514350" rtl="0" eaLnBrk="1" latinLnBrk="0" hangingPunct="1">
        <a:defRPr kumimoji="1" sz="1015" kern="1200">
          <a:solidFill>
            <a:schemeClr val="tx1"/>
          </a:solidFill>
          <a:latin typeface="+mn-lt"/>
          <a:ea typeface="+mn-ea"/>
          <a:cs typeface="+mn-cs"/>
        </a:defRPr>
      </a:lvl7pPr>
      <a:lvl8pPr marL="1800225" algn="l" defTabSz="514350" rtl="0" eaLnBrk="1" latinLnBrk="0" hangingPunct="1">
        <a:defRPr kumimoji="1" sz="1015" kern="1200">
          <a:solidFill>
            <a:schemeClr val="tx1"/>
          </a:solidFill>
          <a:latin typeface="+mn-lt"/>
          <a:ea typeface="+mn-ea"/>
          <a:cs typeface="+mn-cs"/>
        </a:defRPr>
      </a:lvl8pPr>
      <a:lvl9pPr marL="2057400" algn="l" defTabSz="514350" rtl="0" eaLnBrk="1" latinLnBrk="0" hangingPunct="1">
        <a:defRPr kumimoji="1" sz="1015"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8" name="円柱 7"/>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endParaRPr kumimoji="1" lang="ja-JP" altLang="en-US" dirty="0"/>
          </a:p>
        </p:txBody>
      </p:sp>
      <p:sp>
        <p:nvSpPr>
          <p:cNvPr id="9" name="スライド番号プレースホルダー 5"/>
          <p:cNvSpPr txBox="1"/>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90"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z="1100" smtClean="0"/>
            </a:fld>
            <a:endParaRPr lang="ja-JP" altLang="en-US" sz="1100" dirty="0"/>
          </a:p>
        </p:txBody>
      </p:sp>
      <p:pic>
        <p:nvPicPr>
          <p:cNvPr id="10" name="図 9"/>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2474336" y="2828835"/>
            <a:ext cx="7243325" cy="646331"/>
          </a:xfrm>
          <a:prstGeom prst="rect">
            <a:avLst/>
          </a:prstGeom>
          <a:noFill/>
        </p:spPr>
        <p:txBody>
          <a:bodyPr wrap="square">
            <a:spAutoFit/>
          </a:bodyPr>
          <a:lstStyle/>
          <a:p>
            <a:pPr lvl="0" algn="ctr">
              <a:defRPr/>
            </a:pPr>
            <a:r>
              <a:rPr lang="ja-JP" altLang="en-US" sz="3600" dirty="0"/>
              <a:t>春日仮説構築</a:t>
            </a:r>
            <a:endParaRPr kumimoji="1" lang="en-US" altLang="ja-JP" sz="3600" b="1" i="0" u="none" strike="noStrike" kern="1200" cap="none" spc="0" normalizeH="0" baseline="0" noProof="0" dirty="0">
              <a:ln>
                <a:noFill/>
              </a:ln>
              <a:solidFill>
                <a:srgbClr val="0000FF"/>
              </a:solidFill>
              <a:effectLst>
                <a:glow rad="127000">
                  <a:prstClr val="white"/>
                </a:glow>
                <a:outerShdw blurRad="38100" dist="38100" dir="2700000" algn="tl">
                  <a:srgbClr val="000000">
                    <a:alpha val="43137"/>
                  </a:srgbClr>
                </a:outerShdw>
              </a:effectLst>
              <a:uLnTx/>
              <a:uFillTx/>
              <a:latin typeface="HGｺﾞｼｯｸM" panose="020B0609000000000000" pitchFamily="49" charset="-128"/>
              <a:ea typeface="HGｺﾞｼｯｸM" panose="020B0609000000000000" pitchFamily="49" charset="-128"/>
              <a:cs typeface="+mn-cs"/>
            </a:endParaRPr>
          </a:p>
        </p:txBody>
      </p:sp>
      <p:sp>
        <p:nvSpPr>
          <p:cNvPr id="3" name="サブタイトル 170"/>
          <p:cNvSpPr txBox="1"/>
          <p:nvPr/>
        </p:nvSpPr>
        <p:spPr>
          <a:xfrm>
            <a:off x="2871802" y="5303909"/>
            <a:ext cx="6448391" cy="983346"/>
          </a:xfrm>
          <a:prstGeom prst="rect">
            <a:avLst/>
          </a:prstGeom>
        </p:spPr>
        <p:txBody>
          <a:bodyPr vert="horz" wrap="square" lIns="68580" tIns="34290" rIns="68580" bIns="34290" rtlCol="0">
            <a:spAutoFit/>
          </a:bodyPr>
          <a:lstStyle/>
          <a:p>
            <a:pPr marL="0" marR="0" lvl="0" indent="0" algn="ctr" defTabSz="914400" rtl="0" eaLnBrk="1" fontAlgn="auto" latinLnBrk="0" hangingPunct="1">
              <a:lnSpc>
                <a:spcPct val="100000"/>
              </a:lnSpc>
              <a:spcBef>
                <a:spcPct val="20000"/>
              </a:spcBef>
              <a:spcAft>
                <a:spcPts val="0"/>
              </a:spcAft>
              <a:buClrTx/>
              <a:buSzTx/>
              <a:buFontTx/>
              <a:buNone/>
              <a:defRPr/>
            </a:pP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令和</a:t>
            </a:r>
            <a:r>
              <a:rPr lang="ja-JP" altLang="en-US" sz="2700" b="1" dirty="0">
                <a:solidFill>
                  <a:prstClr val="black"/>
                </a:solidFill>
                <a:latin typeface="ＭＳ ゴシック" panose="020B0609070205080204" pitchFamily="49" charset="-128"/>
                <a:ea typeface="ＭＳ ゴシック" panose="020B0609070205080204" pitchFamily="49" charset="-128"/>
              </a:rPr>
              <a:t>８</a:t>
            </a: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年２</a:t>
            </a:r>
            <a:r>
              <a:rPr lang="ja-JP" altLang="en-US" sz="2700" b="1" dirty="0">
                <a:solidFill>
                  <a:prstClr val="black"/>
                </a:solidFill>
                <a:latin typeface="ＭＳ ゴシック" panose="020B0609070205080204" pitchFamily="49" charset="-128"/>
                <a:ea typeface="ＭＳ ゴシック" panose="020B0609070205080204" pitchFamily="49" charset="-128"/>
              </a:rPr>
              <a:t>月１９日</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a:p>
            <a:pPr marL="0" marR="0" lvl="0" indent="0" algn="ctr" defTabSz="914400" rtl="0" eaLnBrk="1" fontAlgn="auto" latinLnBrk="0" hangingPunct="1">
              <a:lnSpc>
                <a:spcPct val="100000"/>
              </a:lnSpc>
              <a:spcBef>
                <a:spcPct val="20000"/>
              </a:spcBef>
              <a:spcAft>
                <a:spcPts val="0"/>
              </a:spcAft>
              <a:buClrTx/>
              <a:buSzTx/>
              <a:buFontTx/>
              <a:buNone/>
              <a:defRPr/>
            </a:pPr>
            <a:r>
              <a:rPr lang="ja-JP" altLang="en-US" sz="2700" b="1" dirty="0">
                <a:solidFill>
                  <a:prstClr val="black"/>
                </a:solidFill>
                <a:latin typeface="ＭＳ ゴシック" panose="020B0609070205080204" pitchFamily="49" charset="-128"/>
                <a:ea typeface="ＭＳ ゴシック" panose="020B0609070205080204" pitchFamily="49" charset="-128"/>
              </a:rPr>
              <a:t>ＣＰＴ１班２分隊</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p:txBody>
      </p:sp>
      <p:sp>
        <p:nvSpPr>
          <p:cNvPr id="4" name="正方形/長方形 3"/>
          <p:cNvSpPr/>
          <p:nvPr/>
        </p:nvSpPr>
        <p:spPr>
          <a:xfrm>
            <a:off x="3092150" y="4174863"/>
            <a:ext cx="6299678" cy="98334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dirty="0">
                <a:solidFill>
                  <a:schemeClr val="tx1"/>
                </a:solidFill>
                <a:latin typeface="ＭＳ ゴシック" panose="020B0609070205080204" pitchFamily="49" charset="-128"/>
                <a:ea typeface="ＭＳ ゴシック" panose="020B0609070205080204" pitchFamily="49" charset="-128"/>
              </a:rPr>
              <a:t>【</a:t>
            </a:r>
            <a:r>
              <a:rPr kumimoji="1" lang="ja-JP" altLang="en-US" sz="1600" dirty="0">
                <a:solidFill>
                  <a:schemeClr val="tx1"/>
                </a:solidFill>
                <a:latin typeface="ＭＳ ゴシック" panose="020B0609070205080204" pitchFamily="49" charset="-128"/>
                <a:ea typeface="ＭＳ ゴシック" panose="020B0609070205080204" pitchFamily="49" charset="-128"/>
              </a:rPr>
              <a:t>趣　旨</a:t>
            </a:r>
            <a:r>
              <a:rPr kumimoji="1" lang="en-US" altLang="ja-JP" sz="1600" dirty="0">
                <a:solidFill>
                  <a:schemeClr val="tx1"/>
                </a:solidFill>
                <a:latin typeface="ＭＳ ゴシック" panose="020B0609070205080204" pitchFamily="49" charset="-128"/>
                <a:ea typeface="ＭＳ ゴシック" panose="020B0609070205080204" pitchFamily="49" charset="-128"/>
              </a:rPr>
              <a:t>】</a:t>
            </a:r>
            <a:endParaRPr kumimoji="1" lang="en-US" altLang="ja-JP" sz="1600" dirty="0">
              <a:solidFill>
                <a:schemeClr val="tx1"/>
              </a:solidFill>
              <a:latin typeface="ＭＳ ゴシック" panose="020B0609070205080204" pitchFamily="49" charset="-128"/>
              <a:ea typeface="ＭＳ ゴシック" panose="020B0609070205080204" pitchFamily="49" charset="-128"/>
            </a:endParaRPr>
          </a:p>
          <a:p>
            <a:r>
              <a:rPr lang="ja-JP" altLang="en-US" dirty="0">
                <a:solidFill>
                  <a:schemeClr val="tx1"/>
                </a:solidFill>
                <a:latin typeface="ＭＳ ゴシック" panose="020B0609070205080204" pitchFamily="49" charset="-128"/>
                <a:ea typeface="ＭＳ ゴシック" panose="020B0609070205080204" pitchFamily="49" charset="-128"/>
              </a:rPr>
              <a:t>　</a:t>
            </a:r>
            <a:r>
              <a:rPr lang="ja-JP" altLang="en-US" sz="1600" dirty="0">
                <a:solidFill>
                  <a:schemeClr val="tx1"/>
                </a:solidFill>
                <a:latin typeface="ＭＳ ゴシック" panose="020B0609070205080204" pitchFamily="49" charset="-128"/>
                <a:ea typeface="ＭＳ ゴシック" panose="020B0609070205080204" pitchFamily="49" charset="-128"/>
              </a:rPr>
              <a:t>春日基地におけるスレットハンティングの為の仮説構築</a:t>
            </a:r>
            <a:r>
              <a:rPr kumimoji="1" lang="ja-JP" altLang="en-US" sz="1600" dirty="0">
                <a:solidFill>
                  <a:schemeClr val="tx1"/>
                </a:solidFill>
                <a:highlight>
                  <a:srgbClr val="FFFF00"/>
                </a:highlight>
                <a:latin typeface="ＭＳ ゴシック" panose="020B0609070205080204" pitchFamily="49" charset="-128"/>
                <a:ea typeface="ＭＳ ゴシック" panose="020B0609070205080204" pitchFamily="49" charset="-128"/>
              </a:rPr>
              <a:t>　</a:t>
            </a:r>
            <a:endParaRPr kumimoji="1" lang="ja-JP" altLang="en-US" sz="1600" dirty="0">
              <a:solidFill>
                <a:schemeClr val="tx1"/>
              </a:solidFill>
              <a:highlight>
                <a:srgbClr val="FFFF00"/>
              </a:highlight>
              <a:latin typeface="ＭＳ ゴシック" panose="020B0609070205080204" pitchFamily="49" charset="-128"/>
              <a:ea typeface="ＭＳ ゴシック" panose="020B0609070205080204" pitchFamily="49" charset="-128"/>
            </a:endParaRPr>
          </a:p>
        </p:txBody>
      </p:sp>
      <p:grpSp>
        <p:nvGrpSpPr>
          <p:cNvPr id="5" name="グループ化 4"/>
          <p:cNvGrpSpPr/>
          <p:nvPr/>
        </p:nvGrpSpPr>
        <p:grpSpPr>
          <a:xfrm>
            <a:off x="11027055" y="73984"/>
            <a:ext cx="984945" cy="547330"/>
            <a:chOff x="10762108" y="88735"/>
            <a:chExt cx="1183082" cy="729773"/>
          </a:xfrm>
        </p:grpSpPr>
        <p:sp>
          <p:nvSpPr>
            <p:cNvPr id="6" name="正方形/長方形 5"/>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endPar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endParaRPr>
            </a:p>
          </p:txBody>
        </p:sp>
        <p:sp>
          <p:nvSpPr>
            <p:cNvPr id="7" name="正方形/長方形 6"/>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endParaRPr lang="en-US" altLang="ja-JP" sz="675" dirty="0">
                <a:solidFill>
                  <a:prstClr val="white"/>
                </a:solidFill>
                <a:latin typeface="ＭＳ ゴシック" panose="020B0609070205080204" pitchFamily="49" charset="-128"/>
                <a:ea typeface="ＭＳ ゴシック" panose="020B0609070205080204" pitchFamily="49" charset="-128"/>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endPar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rotWithShape="1">
          <a:blip r:embed="rId1">
            <a:extLst>
              <a:ext uri="{28A0092B-C50C-407E-A947-70E740481C1C}">
                <a14:useLocalDpi xmlns:a14="http://schemas.microsoft.com/office/drawing/2010/main" val="0"/>
              </a:ext>
            </a:extLst>
          </a:blip>
          <a:srcRect b="3086"/>
          <a:stretch>
            <a:fillRect/>
          </a:stretch>
        </p:blipFill>
        <p:spPr>
          <a:xfrm>
            <a:off x="453486" y="697577"/>
            <a:ext cx="7379190" cy="5809110"/>
          </a:xfrm>
          <a:prstGeom prst="rect">
            <a:avLst/>
          </a:prstGeom>
          <a:ln>
            <a:solidFill>
              <a:srgbClr val="00B0F0"/>
            </a:solidFill>
          </a:ln>
        </p:spPr>
      </p:pic>
      <p:sp>
        <p:nvSpPr>
          <p:cNvPr id="3" name="正方形/長方形 2"/>
          <p:cNvSpPr/>
          <p:nvPr/>
        </p:nvSpPr>
        <p:spPr>
          <a:xfrm>
            <a:off x="4734088" y="164444"/>
            <a:ext cx="2723823"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システム構成図（春日）</a:t>
            </a:r>
            <a:endParaRPr lang="ja-JP" altLang="en-US" dirty="0">
              <a:latin typeface="ＭＳ ゴシック" panose="020B0609070205080204" pitchFamily="49" charset="-128"/>
              <a:ea typeface="ＭＳ ゴシック" panose="020B0609070205080204" pitchFamily="49" charset="-128"/>
            </a:endParaRPr>
          </a:p>
        </p:txBody>
      </p:sp>
      <p:graphicFrame>
        <p:nvGraphicFramePr>
          <p:cNvPr id="16" name="表 15"/>
          <p:cNvGraphicFramePr>
            <a:graphicFrameLocks noGrp="1"/>
          </p:cNvGraphicFramePr>
          <p:nvPr/>
        </p:nvGraphicFramePr>
        <p:xfrm>
          <a:off x="7918516" y="697576"/>
          <a:ext cx="3819998" cy="5938898"/>
        </p:xfrm>
        <a:graphic>
          <a:graphicData uri="http://schemas.openxmlformats.org/drawingml/2006/table">
            <a:tbl>
              <a:tblPr firstRow="1" firstCol="1" bandRow="1">
                <a:tableStyleId>{5C22544A-7EE6-4342-B048-85BDC9FD1C3A}</a:tableStyleId>
              </a:tblPr>
              <a:tblGrid>
                <a:gridCol w="2057842"/>
                <a:gridCol w="1259148"/>
                <a:gridCol w="503008"/>
              </a:tblGrid>
              <a:tr h="123846">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416706">
                <a:tc>
                  <a:txBody>
                    <a:bodyPr/>
                    <a:lstStyle/>
                    <a:p>
                      <a:pPr algn="l">
                        <a:spcAft>
                          <a:spcPts val="0"/>
                        </a:spcAft>
                      </a:pPr>
                      <a:r>
                        <a:rPr lang="ja-JP" sz="300" kern="100">
                          <a:effectLst/>
                        </a:rPr>
                        <a:t>外部ｼｽﾃﾑ連接用ﾙｰﾀｰ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 </a:t>
                      </a:r>
                      <a:r>
                        <a:rPr lang="ja-JP" sz="300" kern="100">
                          <a:effectLst/>
                        </a:rPr>
                        <a:t>西部防空管制群</a:t>
                      </a:r>
                      <a:r>
                        <a:rPr lang="en-US" sz="300" kern="100">
                          <a:effectLst/>
                        </a:rPr>
                        <a:t>(JADGE)</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6</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0">
                          <a:effectLst/>
                        </a:rPr>
                        <a:t>ﾌｧｲｱｳｫｰﾙ</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0">
                          <a:effectLst/>
                        </a:rPr>
                        <a:t>LAN切替ｽｲｯﾁ</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支援処理装置</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23846">
                <a:tc>
                  <a:txBody>
                    <a:bodyPr/>
                    <a:lstStyle/>
                    <a:p>
                      <a:pPr algn="l">
                        <a:spcAft>
                          <a:spcPts val="0"/>
                        </a:spcAft>
                      </a:pPr>
                      <a:r>
                        <a:rPr lang="ja-JP" sz="300" kern="100">
                          <a:effectLst/>
                        </a:rPr>
                        <a:t>運航情報ﾃﾞｰﾀﾍﾞｰｽｻｰﾊﾞｰ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23846">
                <a:tc>
                  <a:txBody>
                    <a:bodyPr/>
                    <a:lstStyle/>
                    <a:p>
                      <a:pPr algn="l">
                        <a:spcAft>
                          <a:spcPts val="0"/>
                        </a:spcAft>
                      </a:pPr>
                      <a:r>
                        <a:rPr lang="ja-JP" sz="300" kern="100">
                          <a:effectLst/>
                        </a:rPr>
                        <a:t>運航情報ﾃﾞｰﾀﾍﾞｰｽｻｰﾊﾞｰ 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運用諸元管理装置</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運用諸元評価用端末</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仮想化ｻｰﾊﾞｰ</a:t>
                      </a: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（ｾﾝﾀｰﾌﾟﾘﾝﾀｰ）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仮想化ｻｰﾊﾞｰ</a:t>
                      </a: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23846">
                <a:tc>
                  <a:txBody>
                    <a:bodyPr/>
                    <a:lstStyle/>
                    <a:p>
                      <a:pPr algn="l">
                        <a:spcAft>
                          <a:spcPts val="0"/>
                        </a:spcAft>
                      </a:pPr>
                      <a:r>
                        <a:rPr lang="ja-JP" sz="300" kern="100">
                          <a:effectLst/>
                        </a:rPr>
                        <a:t>仮想化ｻｰﾊﾞｰ</a:t>
                      </a:r>
                      <a:r>
                        <a:rPr lang="en-US" sz="300" kern="100">
                          <a:effectLst/>
                        </a:rPr>
                        <a:t>2 </a:t>
                      </a:r>
                      <a:r>
                        <a:rPr lang="ja-JP" sz="300" kern="100">
                          <a:effectLst/>
                        </a:rPr>
                        <a:t>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代替運用等ｻｰﾊﾞｰ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A)</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電算機ﾜｰｸｽﾃｰｼｮﾝ</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システム監視ｺﾝｿｰﾙ</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ｻｰﾊﾞｰﾗｯｸ</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0">
                <a:tc>
                  <a:txBody>
                    <a:bodyPr/>
                    <a:lstStyle/>
                    <a:p>
                      <a:pPr algn="l">
                        <a:spcAft>
                          <a:spcPts val="0"/>
                        </a:spcAft>
                      </a:pPr>
                      <a:r>
                        <a:rPr lang="ja-JP" sz="300" kern="100">
                          <a:effectLst/>
                        </a:rPr>
                        <a:t>飛行管理業務処理部</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tc>
              </a:tr>
              <a:tr h="123846">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297648">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en-US" sz="300" kern="100">
                          <a:effectLst/>
                        </a:rPr>
                        <a:t>LAN</a:t>
                      </a:r>
                      <a:r>
                        <a:rPr lang="ja-JP" sz="300" kern="100">
                          <a:effectLst/>
                        </a:rPr>
                        <a:t>切替ｽｲｯﾁ</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23846">
                <a:tc>
                  <a:txBody>
                    <a:bodyPr/>
                    <a:lstStyle/>
                    <a:p>
                      <a:pPr algn="l">
                        <a:spcAft>
                          <a:spcPts val="0"/>
                        </a:spcAft>
                      </a:pPr>
                      <a:r>
                        <a:rPr lang="en-US" sz="300" kern="100">
                          <a:effectLst/>
                        </a:rPr>
                        <a:t>FADP</a:t>
                      </a:r>
                      <a:r>
                        <a:rPr lang="ja-JP" sz="300" kern="100">
                          <a:effectLst/>
                        </a:rPr>
                        <a:t>用</a:t>
                      </a:r>
                      <a:r>
                        <a:rPr lang="en-US" sz="300" kern="100">
                          <a:effectLst/>
                        </a:rPr>
                        <a:t>(FS/AMIS</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23846">
                <a:tc>
                  <a:txBody>
                    <a:bodyPr/>
                    <a:lstStyle/>
                    <a:p>
                      <a:pPr algn="l">
                        <a:spcAft>
                          <a:spcPts val="0"/>
                        </a:spcAft>
                      </a:pPr>
                      <a:r>
                        <a:rPr lang="en-US" sz="300" kern="100">
                          <a:effectLst/>
                        </a:rPr>
                        <a:t>FADP</a:t>
                      </a:r>
                      <a:r>
                        <a:rPr lang="ja-JP" sz="300" kern="100">
                          <a:effectLst/>
                        </a:rPr>
                        <a:t>用</a:t>
                      </a:r>
                      <a:r>
                        <a:rPr lang="en-US" sz="300" kern="100">
                          <a:effectLst/>
                        </a:rPr>
                        <a:t>(BOPS(</a:t>
                      </a:r>
                      <a:r>
                        <a:rPr lang="ja-JP" sz="300" kern="100">
                          <a:effectLst/>
                        </a:rPr>
                        <a:t>空</a:t>
                      </a:r>
                      <a:r>
                        <a:rPr lang="en-US" sz="300" kern="100">
                          <a:effectLst/>
                        </a:rPr>
                        <a:t>)</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23846">
                <a:tc>
                  <a:txBody>
                    <a:bodyPr/>
                    <a:lstStyle/>
                    <a:p>
                      <a:pPr algn="l">
                        <a:spcAft>
                          <a:spcPts val="0"/>
                        </a:spcAft>
                      </a:pPr>
                      <a:r>
                        <a:rPr lang="en-US" sz="300" kern="100">
                          <a:effectLst/>
                        </a:rPr>
                        <a:t>FADP</a:t>
                      </a:r>
                      <a:r>
                        <a:rPr lang="ja-JP" sz="300" kern="100">
                          <a:effectLst/>
                        </a:rPr>
                        <a:t>用</a:t>
                      </a:r>
                      <a:r>
                        <a:rPr lang="en-US" sz="300" kern="100">
                          <a:effectLst/>
                        </a:rPr>
                        <a:t>(</a:t>
                      </a:r>
                      <a:r>
                        <a:rPr lang="ja-JP" sz="300" kern="100">
                          <a:effectLst/>
                        </a:rPr>
                        <a:t>ｼﾞｬｰﾅﾙｰﾀｰｲﾌﾟ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78589">
                <a:tc>
                  <a:txBody>
                    <a:bodyPr/>
                    <a:lstStyle/>
                    <a:p>
                      <a:pPr algn="l">
                        <a:spcAft>
                          <a:spcPts val="0"/>
                        </a:spcAft>
                      </a:pPr>
                      <a:r>
                        <a:rPr lang="en-US" sz="300" kern="100">
                          <a:effectLst/>
                        </a:rPr>
                        <a:t>FADP</a:t>
                      </a:r>
                      <a:r>
                        <a:rPr lang="ja-JP" sz="300" kern="100">
                          <a:effectLst/>
                        </a:rPr>
                        <a:t>用</a:t>
                      </a:r>
                      <a:r>
                        <a:rPr lang="en-US" sz="300" kern="100">
                          <a:effectLst/>
                        </a:rPr>
                        <a:t>(DC</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7858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en-US" sz="300" kern="100">
                          <a:effectLst/>
                        </a:rPr>
                        <a:t>FDPS</a:t>
                      </a:r>
                      <a:r>
                        <a:rPr lang="ja-JP" sz="300" kern="100">
                          <a:effectLst/>
                        </a:rPr>
                        <a:t>対向用</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業務処理用ｻｰﾊﾞｰ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23846">
                <a:tc>
                  <a:txBody>
                    <a:bodyPr/>
                    <a:lstStyle/>
                    <a:p>
                      <a:pPr algn="l">
                        <a:spcAft>
                          <a:spcPts val="0"/>
                        </a:spcAft>
                      </a:pPr>
                      <a:r>
                        <a:rPr lang="ja-JP" sz="300" kern="100">
                          <a:effectLst/>
                        </a:rPr>
                        <a:t>運航情報等提供ｻｰﾊﾞｰ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運航情報等</a:t>
                      </a:r>
                      <a:r>
                        <a:rPr lang="en-US" sz="300" kern="100">
                          <a:effectLst/>
                        </a:rPr>
                        <a:t>DB</a:t>
                      </a:r>
                      <a:r>
                        <a:rPr lang="ja-JP" sz="300" kern="100">
                          <a:effectLst/>
                        </a:rPr>
                        <a:t>ｻｰﾊﾞｰ</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ｻｰﾊﾞｰ管理ｺﾝｿｰﾙ</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r h="119059">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c>
                  <a:txBody>
                    <a:bodyPr/>
                    <a:lstStyle/>
                    <a:p>
                      <a:pPr algn="r">
                        <a:spcAft>
                          <a:spcPts val="0"/>
                        </a:spcAft>
                      </a:pPr>
                      <a:r>
                        <a:rPr lang="en-US" sz="300" kern="100" dirty="0">
                          <a:effectLst/>
                        </a:rPr>
                        <a:t>1</a:t>
                      </a:r>
                      <a:endParaRPr lang="ja-JP" sz="500" kern="100" dirty="0">
                        <a:effectLst/>
                        <a:latin typeface="Century" panose="02040604050505020304" pitchFamily="18" charset="0"/>
                        <a:ea typeface="ＭＳ 明朝" panose="02020609040205080304" pitchFamily="17" charset="-128"/>
                        <a:cs typeface="Times New Roman" panose="02020603050405020304" charset="0"/>
                      </a:endParaRPr>
                    </a:p>
                  </a:txBody>
                  <a:tcPr marL="32965" marR="32965" marT="0" marB="0" anchor="ct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p:cNvGraphicFramePr>
            <a:graphicFrameLocks noGrp="1"/>
          </p:cNvGraphicFramePr>
          <p:nvPr>
            <p:ph idx="1"/>
          </p:nvPr>
        </p:nvGraphicFramePr>
        <p:xfrm>
          <a:off x="2073896" y="763137"/>
          <a:ext cx="8327011" cy="5803065"/>
        </p:xfrm>
        <a:graphic>
          <a:graphicData uri="http://schemas.openxmlformats.org/drawingml/2006/table">
            <a:tbl>
              <a:tblPr>
                <a:tableStyleId>{0505E3EF-67EA-436B-97B2-0124C06EBD24}</a:tableStyleId>
              </a:tblPr>
              <a:tblGrid>
                <a:gridCol w="491029"/>
                <a:gridCol w="2291460"/>
                <a:gridCol w="491029"/>
                <a:gridCol w="2271004"/>
                <a:gridCol w="491029"/>
                <a:gridCol w="2291460"/>
              </a:tblGrid>
              <a:tr h="156995">
                <a:tc gridSpan="6">
                  <a:txBody>
                    <a:bodyPr/>
                    <a:lstStyle/>
                    <a:p>
                      <a:pPr algn="ctr" fontAlgn="ctr"/>
                      <a:r>
                        <a:rPr lang="en-US" sz="1200" u="none" strike="noStrike">
                          <a:effectLst/>
                        </a:rPr>
                        <a:t>IP</a:t>
                      </a:r>
                      <a:r>
                        <a:rPr lang="ja-JP" altLang="en-US" sz="1200" u="none" strike="noStrike">
                          <a:effectLst/>
                        </a:rPr>
                        <a:t>一覧</a:t>
                      </a:r>
                      <a:endParaRPr lang="ja-JP" altLang="en-US"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hMerge="1">
                  <a:tcPr/>
                </a:tc>
                <a:tc hMerge="1">
                  <a:tcPr/>
                </a:tc>
                <a:tc hMerge="1">
                  <a:tcPr/>
                </a:tc>
                <a:tc hMerge="1">
                  <a:tcPr/>
                </a:tc>
                <a:tc hMerge="1">
                  <a:tcPr/>
                </a:tc>
              </a:tr>
              <a:tr h="156995">
                <a:tc>
                  <a:txBody>
                    <a:bodyPr/>
                    <a:lstStyle/>
                    <a:p>
                      <a:pPr algn="l" fontAlgn="ctr"/>
                      <a:r>
                        <a:rPr lang="en-US" altLang="ja-JP" sz="1200" u="none" strike="noStrike" dirty="0">
                          <a:effectLst/>
                        </a:rPr>
                        <a:t>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172.20.0.1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0826">
                <a:tc>
                  <a:txBody>
                    <a:bodyPr/>
                    <a:lstStyle/>
                    <a:p>
                      <a:pPr algn="l" fontAlgn="ctr"/>
                      <a:r>
                        <a:rPr lang="en-US" altLang="ja-JP" sz="1200" u="none" strike="noStrike" dirty="0">
                          <a:effectLst/>
                        </a:rPr>
                        <a:t>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10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11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12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10.107.190.150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13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10.107.190.148</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14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15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16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17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18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10.107.191.17</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99695">
                <a:tc>
                  <a:txBody>
                    <a:bodyPr/>
                    <a:lstStyle/>
                    <a:p>
                      <a:pPr algn="l" fontAlgn="ctr"/>
                      <a:r>
                        <a:rPr lang="en-US" altLang="ja-JP" sz="1200" u="none" strike="noStrike" dirty="0">
                          <a:effectLst/>
                        </a:rPr>
                        <a:t>19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10.107.190.123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10.107.189.12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20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21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10.107.191.254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r>
              <a:tr h="156995">
                <a:tc>
                  <a:txBody>
                    <a:bodyPr/>
                    <a:lstStyle/>
                    <a:p>
                      <a:pPr algn="l" fontAlgn="ctr"/>
                      <a:r>
                        <a:rPr lang="en-US" altLang="ja-JP" sz="1200" u="none" strike="noStrike" dirty="0">
                          <a:effectLst/>
                        </a:rPr>
                        <a:t>22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r>
              <a:tr h="156995">
                <a:tc>
                  <a:txBody>
                    <a:bodyPr/>
                    <a:lstStyle/>
                    <a:p>
                      <a:pPr algn="l" fontAlgn="ctr"/>
                      <a:r>
                        <a:rPr lang="en-US" altLang="ja-JP" sz="1200" u="none" strike="noStrike" dirty="0">
                          <a:effectLst/>
                        </a:rPr>
                        <a:t>23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tr>
              <a:tr h="156995">
                <a:tc>
                  <a:txBody>
                    <a:bodyPr/>
                    <a:lstStyle/>
                    <a:p>
                      <a:pPr algn="l" fontAlgn="ctr"/>
                      <a:r>
                        <a:rPr lang="en-US" altLang="ja-JP" sz="1200" u="none" strike="noStrike" dirty="0">
                          <a:effectLst/>
                        </a:rPr>
                        <a:t>24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10.2.70.100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r>
              <a:tr h="150826">
                <a:tc>
                  <a:txBody>
                    <a:bodyPr/>
                    <a:lstStyle/>
                    <a:p>
                      <a:pPr algn="l" fontAlgn="ctr"/>
                      <a:r>
                        <a:rPr lang="en-US" altLang="ja-JP" sz="1200" u="none" strike="noStrike" dirty="0">
                          <a:effectLst/>
                        </a:rPr>
                        <a:t>25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r>
              <a:tr h="156995">
                <a:tc>
                  <a:txBody>
                    <a:bodyPr/>
                    <a:lstStyle/>
                    <a:p>
                      <a:pPr algn="l" fontAlgn="ctr"/>
                      <a:r>
                        <a:rPr lang="en-US" altLang="ja-JP" sz="1200" u="none" strike="noStrike" dirty="0">
                          <a:effectLst/>
                        </a:rPr>
                        <a:t>26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10.107.190.35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r>
              <a:tr h="156995">
                <a:tc>
                  <a:txBody>
                    <a:bodyPr/>
                    <a:lstStyle/>
                    <a:p>
                      <a:pPr algn="l" fontAlgn="ctr"/>
                      <a:r>
                        <a:rPr lang="en-US" altLang="ja-JP" sz="1200" u="none" strike="noStrike" dirty="0">
                          <a:effectLst/>
                        </a:rPr>
                        <a:t>27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192.168.4.254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r>
              <a:tr h="156995">
                <a:tc>
                  <a:txBody>
                    <a:bodyPr/>
                    <a:lstStyle/>
                    <a:p>
                      <a:pPr algn="l" fontAlgn="ctr"/>
                      <a:r>
                        <a:rPr lang="en-US" altLang="ja-JP" sz="1200" u="none" strike="noStrike" dirty="0">
                          <a:effectLst/>
                        </a:rPr>
                        <a:t>28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r>
              <a:tr h="156995">
                <a:tc>
                  <a:txBody>
                    <a:bodyPr/>
                    <a:lstStyle/>
                    <a:p>
                      <a:pPr algn="l" fontAlgn="ctr"/>
                      <a:r>
                        <a:rPr lang="en-US" altLang="ja-JP" sz="1200" u="none" strike="noStrike" dirty="0">
                          <a:effectLst/>
                        </a:rPr>
                        <a:t>29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r>
              <a:tr h="156995">
                <a:tc>
                  <a:txBody>
                    <a:bodyPr/>
                    <a:lstStyle/>
                    <a:p>
                      <a:pPr algn="l" fontAlgn="ctr"/>
                      <a:r>
                        <a:rPr lang="en-US" altLang="ja-JP" sz="1200" u="none" strike="noStrike" dirty="0">
                          <a:effectLst/>
                        </a:rPr>
                        <a:t>30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tr>
            </a:tbl>
          </a:graphicData>
        </a:graphic>
      </p:graphicFrame>
      <p:sp>
        <p:nvSpPr>
          <p:cNvPr id="3" name="正方形/長方形 2"/>
          <p:cNvSpPr/>
          <p:nvPr/>
        </p:nvSpPr>
        <p:spPr>
          <a:xfrm>
            <a:off x="5657419" y="164444"/>
            <a:ext cx="877163" cy="369332"/>
          </a:xfrm>
          <a:prstGeom prst="rect">
            <a:avLst/>
          </a:prstGeom>
        </p:spPr>
        <p:txBody>
          <a:bodyPr wrap="none">
            <a:spAutoFit/>
          </a:bodyPr>
          <a:lstStyle/>
          <a:p>
            <a:pPr algn="ctr"/>
            <a:r>
              <a:rPr lang="en-US" altLang="ja-JP" dirty="0">
                <a:latin typeface="ＭＳ ゴシック" panose="020B0609070205080204" pitchFamily="49" charset="-128"/>
                <a:ea typeface="ＭＳ ゴシック" panose="020B0609070205080204" pitchFamily="49" charset="-128"/>
              </a:rPr>
              <a:t>IP</a:t>
            </a:r>
            <a:r>
              <a:rPr lang="ja-JP" altLang="en-US" dirty="0">
                <a:latin typeface="ＭＳ ゴシック" panose="020B0609070205080204" pitchFamily="49" charset="-128"/>
                <a:ea typeface="ＭＳ ゴシック" panose="020B0609070205080204" pitchFamily="49" charset="-128"/>
              </a:rPr>
              <a:t>一覧</a:t>
            </a:r>
            <a:endParaRPr lang="ja-JP" altLang="en-US" dirty="0">
              <a:latin typeface="ＭＳ ゴシック" panose="020B0609070205080204" pitchFamily="49" charset="-128"/>
              <a:ea typeface="ＭＳ ゴシック" panose="020B0609070205080204" pitchFamily="49"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474900" y="648091"/>
            <a:ext cx="9242196" cy="6233475"/>
          </a:xfrm>
        </p:spPr>
        <p:txBody>
          <a:bodyPr>
            <a:noAutofit/>
          </a:bodyPr>
          <a:lstStyle/>
          <a:p>
            <a:pPr marL="0" indent="0">
              <a:buNone/>
            </a:pP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（別名：</a:t>
            </a:r>
            <a:r>
              <a:rPr lang="en-US" altLang="ja-JP" sz="1000" dirty="0">
                <a:latin typeface="メイリオ" panose="020B0604030504040204" pitchFamily="50" charset="-128"/>
                <a:ea typeface="メイリオ" panose="020B0604030504040204" pitchFamily="50" charset="-128"/>
              </a:rPr>
              <a:t>Wicked Panda, Double Dragon, BARIUM, </a:t>
            </a:r>
            <a:r>
              <a:rPr lang="en-US" altLang="ja-JP" sz="1000" dirty="0" err="1">
                <a:latin typeface="メイリオ" panose="020B0604030504040204" pitchFamily="50" charset="-128"/>
                <a:ea typeface="メイリオ" panose="020B0604030504040204" pitchFamily="50" charset="-128"/>
              </a:rPr>
              <a:t>Winnti</a:t>
            </a:r>
            <a:r>
              <a:rPr lang="en-US" altLang="ja-JP" sz="1000" dirty="0">
                <a:latin typeface="メイリオ" panose="020B0604030504040204" pitchFamily="50" charset="-128"/>
                <a:ea typeface="メイリオ" panose="020B0604030504040204" pitchFamily="50" charset="-128"/>
              </a:rPr>
              <a:t> Group</a:t>
            </a:r>
            <a:r>
              <a:rPr lang="ja-JP" altLang="en-US" sz="1000" dirty="0">
                <a:latin typeface="メイリオ" panose="020B0604030504040204" pitchFamily="50" charset="-128"/>
                <a:ea typeface="メイリオ" panose="020B0604030504040204" pitchFamily="50" charset="-128"/>
              </a:rPr>
              <a:t>など）は、中国を拠点とすると見られる極めて高度で多才なサイバー脅威グループです。</a:t>
            </a:r>
            <a:r>
              <a:rPr lang="en-US" altLang="ja-JP" sz="1000" dirty="0">
                <a:latin typeface="メイリオ" panose="020B0604030504040204" pitchFamily="50" charset="-128"/>
                <a:ea typeface="メイリオ" panose="020B0604030504040204" pitchFamily="50" charset="-128"/>
              </a:rPr>
              <a:t>2012</a:t>
            </a:r>
            <a:r>
              <a:rPr lang="ja-JP" altLang="en-US" sz="1000" dirty="0">
                <a:latin typeface="メイリオ" panose="020B0604030504040204" pitchFamily="50" charset="-128"/>
                <a:ea typeface="メイリオ" panose="020B0604030504040204" pitchFamily="50" charset="-128"/>
              </a:rPr>
              <a:t>年頃（一説には</a:t>
            </a:r>
            <a:r>
              <a:rPr lang="en-US" altLang="ja-JP" sz="1000" dirty="0">
                <a:latin typeface="メイリオ" panose="020B0604030504040204" pitchFamily="50" charset="-128"/>
                <a:ea typeface="メイリオ" panose="020B0604030504040204" pitchFamily="50" charset="-128"/>
              </a:rPr>
              <a:t>2014</a:t>
            </a:r>
            <a:r>
              <a:rPr lang="ja-JP" altLang="en-US" sz="1000" dirty="0">
                <a:latin typeface="メイリオ" panose="020B0604030504040204" pitchFamily="50" charset="-128"/>
                <a:ea typeface="メイリオ" panose="020B0604030504040204" pitchFamily="50" charset="-128"/>
              </a:rPr>
              <a:t>年頃）から活動しており、最大の特徴は「国家支援型のスパイ活動」と「金銭目的の犯罪活動」の両方を行う二刀流（</a:t>
            </a:r>
            <a:r>
              <a:rPr lang="en-US" altLang="ja-JP" sz="1000" dirty="0">
                <a:latin typeface="メイリオ" panose="020B0604030504040204" pitchFamily="50" charset="-128"/>
                <a:ea typeface="メイリオ" panose="020B0604030504040204" pitchFamily="50" charset="-128"/>
              </a:rPr>
              <a:t>Dual-Purpose</a:t>
            </a:r>
            <a:r>
              <a:rPr lang="ja-JP" altLang="en-US" sz="1000" dirty="0">
                <a:latin typeface="メイリオ" panose="020B0604030504040204" pitchFamily="50" charset="-128"/>
                <a:ea typeface="メイリオ" panose="020B0604030504040204" pitchFamily="50" charset="-128"/>
              </a:rPr>
              <a:t>）である点です。 </a:t>
            </a:r>
            <a:endParaRPr lang="ja-JP" altLang="en-US" sz="1000" dirty="0">
              <a:latin typeface="メイリオ" panose="020B0604030504040204" pitchFamily="50" charset="-128"/>
              <a:ea typeface="メイリオ" panose="020B0604030504040204" pitchFamily="50" charset="-128"/>
            </a:endParaRPr>
          </a:p>
          <a:p>
            <a:pPr marL="0" indent="0">
              <a:buNone/>
            </a:pPr>
            <a:r>
              <a:rPr lang="en-US" altLang="ja-JP" sz="1000" b="1" dirty="0">
                <a:latin typeface="メイリオ" panose="020B0604030504040204" pitchFamily="50" charset="-128"/>
                <a:ea typeface="メイリオ" panose="020B0604030504040204" pitchFamily="50" charset="-128"/>
              </a:rPr>
              <a:t>APT41</a:t>
            </a:r>
            <a:r>
              <a:rPr lang="ja-JP" altLang="en-US" sz="1000" b="1" dirty="0">
                <a:latin typeface="メイリオ" panose="020B0604030504040204" pitchFamily="50" charset="-128"/>
                <a:ea typeface="メイリオ" panose="020B0604030504040204" pitchFamily="50" charset="-128"/>
              </a:rPr>
              <a:t>の主な特徴</a:t>
            </a:r>
            <a:endParaRPr lang="ja-JP" altLang="en-US" sz="1000" b="1" dirty="0">
              <a:latin typeface="メイリオ" panose="020B0604030504040204" pitchFamily="50" charset="-128"/>
              <a:ea typeface="メイリオ" panose="020B0604030504040204" pitchFamily="50" charset="-128"/>
            </a:endParaRPr>
          </a:p>
          <a:p>
            <a:pPr marL="0" indent="0">
              <a:buNone/>
            </a:pPr>
            <a:r>
              <a:rPr lang="en-US" altLang="ja-JP" sz="1000" b="1" dirty="0">
                <a:latin typeface="メイリオ" panose="020B0604030504040204" pitchFamily="50" charset="-128"/>
                <a:ea typeface="メイリオ" panose="020B0604030504040204" pitchFamily="50" charset="-128"/>
              </a:rPr>
              <a:t>1. </a:t>
            </a:r>
            <a:r>
              <a:rPr lang="ja-JP" altLang="en-US" sz="1000" b="1" dirty="0">
                <a:latin typeface="メイリオ" panose="020B0604030504040204" pitchFamily="50" charset="-128"/>
                <a:ea typeface="メイリオ" panose="020B0604030504040204" pitchFamily="50" charset="-128"/>
              </a:rPr>
              <a:t>活動（国家スパイ＋金銭目的） </a:t>
            </a:r>
            <a:endParaRPr lang="ja-JP" altLang="en-US" sz="1000" b="1"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国家支援型スパイ活動</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中国の</a:t>
            </a:r>
            <a:r>
              <a:rPr lang="en-US" altLang="ja-JP" sz="1000" dirty="0">
                <a:latin typeface="メイリオ" panose="020B0604030504040204" pitchFamily="50" charset="-128"/>
                <a:ea typeface="メイリオ" panose="020B0604030504040204" pitchFamily="50" charset="-128"/>
              </a:rPr>
              <a:t>5</a:t>
            </a:r>
            <a:r>
              <a:rPr lang="ja-JP" altLang="en-US" sz="1000" dirty="0">
                <a:latin typeface="メイリオ" panose="020B0604030504040204" pitchFamily="50" charset="-128"/>
                <a:ea typeface="メイリオ" panose="020B0604030504040204" pitchFamily="50" charset="-128"/>
              </a:rPr>
              <a:t>カ年経済計画に沿った戦略的産業の機密情報窃取（通信、ハイテク、医療、製薬、教育、政府機関など）を行う。</a:t>
            </a:r>
            <a:endParaRPr lang="ja-JP" altLang="en-US" sz="1000"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金銭目的の犯罪</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ビデオゲーム業界（ソースコードやバーチャル通貨の窃取）、仮想通貨のマイニング、ランサムウェアの展開などを行う。</a:t>
            </a:r>
            <a:endParaRPr lang="ja-JP" altLang="en-US" sz="1000"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特徴</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通常、国家支援型アクターは金銭的犯罪をあまり行わないが、</a:t>
            </a: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は「自身の活動資金を自身で稼ぐ」あるいは「スパイ活動をカモフラージュするために犯罪活動を利用する」というユニークな特性を持つ。 </a:t>
            </a:r>
            <a:endParaRPr lang="ja-JP" altLang="en-US" sz="1000" dirty="0">
              <a:latin typeface="メイリオ" panose="020B0604030504040204" pitchFamily="50" charset="-128"/>
              <a:ea typeface="メイリオ" panose="020B0604030504040204" pitchFamily="50" charset="-128"/>
            </a:endParaRPr>
          </a:p>
          <a:p>
            <a:pPr marL="0" indent="0">
              <a:buNone/>
            </a:pPr>
            <a:r>
              <a:rPr lang="en-US" altLang="ja-JP" sz="1000" b="1" dirty="0">
                <a:latin typeface="メイリオ" panose="020B0604030504040204" pitchFamily="50" charset="-128"/>
                <a:ea typeface="メイリオ" panose="020B0604030504040204" pitchFamily="50" charset="-128"/>
              </a:rPr>
              <a:t>2. </a:t>
            </a:r>
            <a:r>
              <a:rPr lang="ja-JP" altLang="en-US" sz="1000" b="1" dirty="0">
                <a:latin typeface="メイリオ" panose="020B0604030504040204" pitchFamily="50" charset="-128"/>
                <a:ea typeface="メイリオ" panose="020B0604030504040204" pitchFamily="50" charset="-128"/>
              </a:rPr>
              <a:t>攻撃技術と戦術（</a:t>
            </a:r>
            <a:r>
              <a:rPr lang="en-US" altLang="ja-JP" sz="1000" b="1" dirty="0">
                <a:latin typeface="メイリオ" panose="020B0604030504040204" pitchFamily="50" charset="-128"/>
                <a:ea typeface="メイリオ" panose="020B0604030504040204" pitchFamily="50" charset="-128"/>
              </a:rPr>
              <a:t>TTPs</a:t>
            </a:r>
            <a:r>
              <a:rPr lang="ja-JP" altLang="en-US" sz="1000" b="1" dirty="0">
                <a:latin typeface="メイリオ" panose="020B0604030504040204" pitchFamily="50" charset="-128"/>
                <a:ea typeface="メイリオ" panose="020B0604030504040204" pitchFamily="50" charset="-128"/>
              </a:rPr>
              <a:t>）</a:t>
            </a:r>
            <a:endParaRPr lang="ja-JP" altLang="en-US" sz="1000" b="1"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サプライチェーン攻撃</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ソフトウェア更新機能（アップデータ）や開発者用ツールを汚染し、そのソフトウェアを利用する顧客へ不正プログラムを配布する手法が非常に巧み。</a:t>
            </a:r>
            <a:endParaRPr lang="ja-JP" altLang="en-US" sz="1000"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ゼロデイの悪用</a:t>
            </a:r>
            <a:r>
              <a:rPr lang="en-US" altLang="ja-JP" sz="1000" dirty="0">
                <a:latin typeface="メイリオ" panose="020B0604030504040204" pitchFamily="50" charset="-128"/>
                <a:ea typeface="メイリオ" panose="020B0604030504040204" pitchFamily="50" charset="-128"/>
              </a:rPr>
              <a:t>: Citrix, </a:t>
            </a:r>
            <a:r>
              <a:rPr lang="en-US" altLang="ja-JP" sz="1000" dirty="0" err="1">
                <a:latin typeface="メイリオ" panose="020B0604030504040204" pitchFamily="50" charset="-128"/>
                <a:ea typeface="メイリオ" panose="020B0604030504040204" pitchFamily="50" charset="-128"/>
              </a:rPr>
              <a:t>Zoho</a:t>
            </a:r>
            <a:r>
              <a:rPr lang="en-US" altLang="ja-JP" sz="1000" dirty="0">
                <a:latin typeface="メイリオ" panose="020B0604030504040204" pitchFamily="50" charset="-128"/>
                <a:ea typeface="メイリオ" panose="020B0604030504040204" pitchFamily="50" charset="-128"/>
              </a:rPr>
              <a:t>, Cisco</a:t>
            </a:r>
            <a:r>
              <a:rPr lang="ja-JP" altLang="en-US" sz="1000" dirty="0">
                <a:latin typeface="メイリオ" panose="020B0604030504040204" pitchFamily="50" charset="-128"/>
                <a:ea typeface="メイリオ" panose="020B0604030504040204" pitchFamily="50" charset="-128"/>
              </a:rPr>
              <a:t>など、外部に公開されている脆弱性（ゼロデイ含む）を迅速に武器化して侵入する。</a:t>
            </a:r>
            <a:endParaRPr lang="ja-JP" altLang="en-US" sz="1000"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rPr>
              <a:t>Living off the Land</a:t>
            </a:r>
            <a:r>
              <a:rPr lang="ja-JP" altLang="en-US" sz="1000" dirty="0">
                <a:latin typeface="メイリオ" panose="020B0604030504040204" pitchFamily="50" charset="-128"/>
                <a:ea typeface="メイリオ" panose="020B0604030504040204" pitchFamily="50" charset="-128"/>
              </a:rPr>
              <a:t>」手法</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標的環境に元からある正規ツール（</a:t>
            </a:r>
            <a:r>
              <a:rPr lang="en-US" altLang="ja-JP" sz="1000" dirty="0">
                <a:latin typeface="メイリオ" panose="020B0604030504040204" pitchFamily="50" charset="-128"/>
                <a:ea typeface="メイリオ" panose="020B0604030504040204" pitchFamily="50" charset="-128"/>
              </a:rPr>
              <a:t>certutil.exe, powershell.exe</a:t>
            </a:r>
            <a:r>
              <a:rPr lang="ja-JP" altLang="en-US" sz="1000" dirty="0">
                <a:latin typeface="メイリオ" panose="020B0604030504040204" pitchFamily="50" charset="-128"/>
                <a:ea typeface="メイリオ" panose="020B0604030504040204" pitchFamily="50" charset="-128"/>
              </a:rPr>
              <a:t>など）を悪用し、不正ツールの持ち込みを最小限にして検知を回避する。</a:t>
            </a:r>
            <a:endParaRPr lang="ja-JP" altLang="en-US" sz="1000"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多様なバックドアとルートキット</a:t>
            </a:r>
            <a:r>
              <a:rPr lang="en-US" altLang="ja-JP" sz="1000" dirty="0">
                <a:latin typeface="メイリオ" panose="020B0604030504040204" pitchFamily="50" charset="-128"/>
                <a:ea typeface="メイリオ" panose="020B0604030504040204" pitchFamily="50" charset="-128"/>
              </a:rPr>
              <a:t>: Cobalt Strike</a:t>
            </a:r>
            <a:r>
              <a:rPr lang="ja-JP" altLang="en-US" sz="1000" dirty="0">
                <a:latin typeface="メイリオ" panose="020B0604030504040204" pitchFamily="50" charset="-128"/>
                <a:ea typeface="メイリオ" panose="020B0604030504040204" pitchFamily="50" charset="-128"/>
              </a:rPr>
              <a:t>のほか、</a:t>
            </a:r>
            <a:r>
              <a:rPr lang="en-US" altLang="ja-JP" sz="1000" dirty="0" err="1">
                <a:latin typeface="メイリオ" panose="020B0604030504040204" pitchFamily="50" charset="-128"/>
                <a:ea typeface="メイリオ" panose="020B0604030504040204" pitchFamily="50" charset="-128"/>
              </a:rPr>
              <a:t>Speculoos</a:t>
            </a:r>
            <a:r>
              <a:rPr lang="ja-JP" altLang="en-US" sz="1000" dirty="0">
                <a:latin typeface="メイリオ" panose="020B0604030504040204" pitchFamily="50" charset="-128"/>
                <a:ea typeface="メイリオ" panose="020B0604030504040204" pitchFamily="50" charset="-128"/>
              </a:rPr>
              <a:t>などのカスタムバックドア、ルートキット、ルートキット機能を持つブートキットを使用する。</a:t>
            </a:r>
            <a:endParaRPr lang="ja-JP" altLang="en-US" sz="1000"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デジタル証明書の盗用</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盗んだ認証済みのデジタル証明書でマルウェアに署名し、安全なソフトと見せかける。 </a:t>
            </a:r>
            <a:endParaRPr lang="ja-JP" altLang="en-US" sz="1000" dirty="0">
              <a:latin typeface="メイリオ" panose="020B0604030504040204" pitchFamily="50" charset="-128"/>
              <a:ea typeface="メイリオ" panose="020B0604030504040204" pitchFamily="50" charset="-128"/>
            </a:endParaRPr>
          </a:p>
          <a:p>
            <a:pPr marL="0" indent="0">
              <a:buNone/>
            </a:pPr>
            <a:r>
              <a:rPr lang="en-US" altLang="ja-JP" sz="1000" b="1" dirty="0">
                <a:latin typeface="メイリオ" panose="020B0604030504040204" pitchFamily="50" charset="-128"/>
                <a:ea typeface="メイリオ" panose="020B0604030504040204" pitchFamily="50" charset="-128"/>
              </a:rPr>
              <a:t>3. </a:t>
            </a:r>
            <a:r>
              <a:rPr lang="ja-JP" altLang="en-US" sz="1000" b="1" dirty="0">
                <a:latin typeface="メイリオ" panose="020B0604030504040204" pitchFamily="50" charset="-128"/>
                <a:ea typeface="メイリオ" panose="020B0604030504040204" pitchFamily="50" charset="-128"/>
              </a:rPr>
              <a:t>活動状況とターゲット</a:t>
            </a:r>
            <a:endParaRPr lang="ja-JP" altLang="en-US" sz="1000" b="1"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グローバルな攻撃</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米国をはじめ、日本を含む世界各地の政府、企業、大学などを無差別に、かつ執拗に攻撃する。</a:t>
            </a:r>
            <a:endParaRPr lang="ja-JP" altLang="en-US" sz="1000"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長期間の持続性</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一度侵入すると、半年以上にわたってネットワークに留まり、長期的にデータを盗み出し続ける。</a:t>
            </a:r>
            <a:endParaRPr lang="ja-JP" altLang="en-US" sz="1000"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活発な更新</a:t>
            </a:r>
            <a:r>
              <a:rPr lang="en-US" altLang="ja-JP" sz="1000" dirty="0">
                <a:latin typeface="メイリオ" panose="020B0604030504040204" pitchFamily="50" charset="-128"/>
                <a:ea typeface="メイリオ" panose="020B0604030504040204" pitchFamily="50" charset="-128"/>
              </a:rPr>
              <a:t>: 2023</a:t>
            </a:r>
            <a:r>
              <a:rPr lang="ja-JP" altLang="en-US" sz="1000" dirty="0">
                <a:latin typeface="メイリオ" panose="020B0604030504040204" pitchFamily="50" charset="-128"/>
                <a:ea typeface="メイリオ" panose="020B0604030504040204" pitchFamily="50" charset="-128"/>
              </a:rPr>
              <a:t>年から</a:t>
            </a:r>
            <a:r>
              <a:rPr lang="en-US" altLang="ja-JP" sz="1000" dirty="0">
                <a:latin typeface="メイリオ" panose="020B0604030504040204" pitchFamily="50" charset="-128"/>
                <a:ea typeface="メイリオ" panose="020B0604030504040204" pitchFamily="50" charset="-128"/>
              </a:rPr>
              <a:t>2024</a:t>
            </a:r>
            <a:r>
              <a:rPr lang="ja-JP" altLang="en-US" sz="1000" dirty="0">
                <a:latin typeface="メイリオ" panose="020B0604030504040204" pitchFamily="50" charset="-128"/>
                <a:ea typeface="メイリオ" panose="020B0604030504040204" pitchFamily="50" charset="-128"/>
              </a:rPr>
              <a:t>年にかけて「</a:t>
            </a:r>
            <a:r>
              <a:rPr lang="en-US" altLang="ja-JP" sz="1000" dirty="0">
                <a:latin typeface="メイリオ" panose="020B0604030504040204" pitchFamily="50" charset="-128"/>
                <a:ea typeface="メイリオ" panose="020B0604030504040204" pitchFamily="50" charset="-128"/>
              </a:rPr>
              <a:t>APT41 DUST</a:t>
            </a:r>
            <a:r>
              <a:rPr lang="ja-JP" altLang="en-US" sz="1000" dirty="0">
                <a:latin typeface="メイリオ" panose="020B0604030504040204" pitchFamily="50" charset="-128"/>
                <a:ea typeface="メイリオ" panose="020B0604030504040204" pitchFamily="50" charset="-128"/>
              </a:rPr>
              <a:t>」と呼ばれる活動が確認されるなど、進化を続けている。 </a:t>
            </a:r>
            <a:endParaRPr lang="ja-JP" altLang="en-US" sz="1000" dirty="0">
              <a:latin typeface="メイリオ" panose="020B0604030504040204" pitchFamily="50" charset="-128"/>
              <a:ea typeface="メイリオ" panose="020B0604030504040204" pitchFamily="50" charset="-128"/>
            </a:endParaRPr>
          </a:p>
          <a:p>
            <a:pPr marL="0" indent="0">
              <a:buNone/>
            </a:pPr>
            <a:r>
              <a:rPr lang="en-US" altLang="ja-JP" sz="1000" b="1" dirty="0">
                <a:latin typeface="メイリオ" panose="020B0604030504040204" pitchFamily="50" charset="-128"/>
                <a:ea typeface="メイリオ" panose="020B0604030504040204" pitchFamily="50" charset="-128"/>
              </a:rPr>
              <a:t>4. </a:t>
            </a:r>
            <a:r>
              <a:rPr lang="ja-JP" altLang="en-US" sz="1000" b="1" dirty="0">
                <a:latin typeface="メイリオ" panose="020B0604030504040204" pitchFamily="50" charset="-128"/>
                <a:ea typeface="メイリオ" panose="020B0604030504040204" pitchFamily="50" charset="-128"/>
              </a:rPr>
              <a:t>組織的な背景</a:t>
            </a:r>
            <a:endParaRPr lang="ja-JP" altLang="en-US" sz="1000" b="1"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成都</a:t>
            </a:r>
            <a:r>
              <a:rPr lang="en-US" altLang="ja-JP" sz="1000" dirty="0">
                <a:latin typeface="メイリオ" panose="020B0604030504040204" pitchFamily="50" charset="-128"/>
                <a:ea typeface="メイリオ" panose="020B0604030504040204" pitchFamily="50" charset="-128"/>
              </a:rPr>
              <a:t>404: </a:t>
            </a:r>
            <a:r>
              <a:rPr lang="ja-JP" altLang="en-US" sz="1000" dirty="0">
                <a:latin typeface="メイリオ" panose="020B0604030504040204" pitchFamily="50" charset="-128"/>
                <a:ea typeface="メイリオ" panose="020B0604030504040204" pitchFamily="50" charset="-128"/>
              </a:rPr>
              <a:t>米国司法省（</a:t>
            </a:r>
            <a:r>
              <a:rPr lang="en-US" altLang="ja-JP" sz="1000" dirty="0">
                <a:latin typeface="メイリオ" panose="020B0604030504040204" pitchFamily="50" charset="-128"/>
                <a:ea typeface="メイリオ" panose="020B0604030504040204" pitchFamily="50" charset="-128"/>
              </a:rPr>
              <a:t>DOJ</a:t>
            </a:r>
            <a:r>
              <a:rPr lang="ja-JP" altLang="en-US" sz="1000" dirty="0">
                <a:latin typeface="メイリオ" panose="020B0604030504040204" pitchFamily="50" charset="-128"/>
                <a:ea typeface="メイリオ" panose="020B0604030504040204" pitchFamily="50" charset="-128"/>
              </a:rPr>
              <a:t>）は、成都</a:t>
            </a:r>
            <a:r>
              <a:rPr lang="en-US" altLang="ja-JP" sz="1000" dirty="0">
                <a:latin typeface="メイリオ" panose="020B0604030504040204" pitchFamily="50" charset="-128"/>
                <a:ea typeface="メイリオ" panose="020B0604030504040204" pitchFamily="50" charset="-128"/>
              </a:rPr>
              <a:t>404</a:t>
            </a:r>
            <a:r>
              <a:rPr lang="ja-JP" altLang="en-US" sz="1000" dirty="0">
                <a:latin typeface="メイリオ" panose="020B0604030504040204" pitchFamily="50" charset="-128"/>
                <a:ea typeface="メイリオ" panose="020B0604030504040204" pitchFamily="50" charset="-128"/>
              </a:rPr>
              <a:t>ネットワークテクノロジー社（</a:t>
            </a:r>
            <a:r>
              <a:rPr lang="en-US" altLang="ja-JP" sz="1000" dirty="0">
                <a:latin typeface="メイリオ" panose="020B0604030504040204" pitchFamily="50" charset="-128"/>
                <a:ea typeface="メイリオ" panose="020B0604030504040204" pitchFamily="50" charset="-128"/>
              </a:rPr>
              <a:t>Chengdu 404 Network Technology Company</a:t>
            </a:r>
            <a:r>
              <a:rPr lang="ja-JP" altLang="en-US" sz="1000" dirty="0">
                <a:latin typeface="メイリオ" panose="020B0604030504040204" pitchFamily="50" charset="-128"/>
                <a:ea typeface="メイリオ" panose="020B0604030504040204" pitchFamily="50" charset="-128"/>
              </a:rPr>
              <a:t>）の従業員らが、このグループの活動に関与していると指摘している。</a:t>
            </a:r>
            <a:endParaRPr lang="ja-JP" altLang="en-US" sz="1000" dirty="0">
              <a:latin typeface="メイリオ" panose="020B0604030504040204" pitchFamily="50" charset="-128"/>
              <a:ea typeface="メイリオ" panose="020B0604030504040204" pitchFamily="50" charset="-128"/>
            </a:endParaRPr>
          </a:p>
          <a:p>
            <a:pPr marL="0" indent="0">
              <a:buNone/>
            </a:pPr>
            <a:r>
              <a:rPr lang="en-US" altLang="ja-JP" sz="1000" dirty="0">
                <a:latin typeface="メイリオ" panose="020B0604030504040204" pitchFamily="50" charset="-128"/>
                <a:ea typeface="メイリオ" panose="020B0604030504040204" pitchFamily="50" charset="-128"/>
              </a:rPr>
              <a:t>FBI</a:t>
            </a:r>
            <a:r>
              <a:rPr lang="ja-JP" altLang="en-US" sz="1000" dirty="0">
                <a:latin typeface="メイリオ" panose="020B0604030504040204" pitchFamily="50" charset="-128"/>
                <a:ea typeface="メイリオ" panose="020B0604030504040204" pitchFamily="50" charset="-128"/>
              </a:rPr>
              <a:t>の指名手配</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米国政府は、</a:t>
            </a: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のメンバー複数を指名手配し、その活動を強く非難している。 </a:t>
            </a:r>
            <a:endParaRPr lang="ja-JP" altLang="en-US" sz="1000" dirty="0">
              <a:latin typeface="メイリオ" panose="020B0604030504040204" pitchFamily="50" charset="-128"/>
              <a:ea typeface="メイリオ" panose="020B0604030504040204" pitchFamily="50" charset="-128"/>
            </a:endParaRPr>
          </a:p>
          <a:p>
            <a:pPr marL="0" indent="0">
              <a:buNone/>
            </a:pPr>
            <a:r>
              <a:rPr lang="ja-JP" altLang="en-US" sz="1000" dirty="0">
                <a:latin typeface="メイリオ" panose="020B0604030504040204" pitchFamily="50" charset="-128"/>
                <a:ea typeface="メイリオ" panose="020B0604030504040204" pitchFamily="50" charset="-128"/>
              </a:rPr>
              <a:t>まとめると、</a:t>
            </a: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は「政府級の高度なスキルを持ちながら、サイバー犯罪者のような金銭への執着も併せ持つ、最も危険なアクターの一つ」といえます。</a:t>
            </a:r>
            <a:endParaRPr kumimoji="1" lang="ja-JP" altLang="en-US" sz="1000" dirty="0">
              <a:latin typeface="メイリオ" panose="020B0604030504040204" pitchFamily="50" charset="-128"/>
              <a:ea typeface="メイリオ" panose="020B0604030504040204" pitchFamily="50" charset="-128"/>
            </a:endParaRPr>
          </a:p>
        </p:txBody>
      </p:sp>
      <p:sp>
        <p:nvSpPr>
          <p:cNvPr id="4" name="タイトル 1"/>
          <p:cNvSpPr txBox="1"/>
          <p:nvPr/>
        </p:nvSpPr>
        <p:spPr>
          <a:xfrm>
            <a:off x="4440026" y="160829"/>
            <a:ext cx="2969442" cy="489621"/>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dirty="0">
                <a:latin typeface="メイリオ" panose="020B0604030504040204" pitchFamily="50" charset="-128"/>
                <a:ea typeface="メイリオ" panose="020B0604030504040204" pitchFamily="50" charset="-128"/>
              </a:rPr>
              <a:t>脅威アクター（</a:t>
            </a:r>
            <a:r>
              <a:rPr lang="en-US" altLang="ja-JP" sz="2800" dirty="0">
                <a:latin typeface="メイリオ" panose="020B0604030504040204" pitchFamily="50" charset="-128"/>
                <a:ea typeface="メイリオ" panose="020B0604030504040204" pitchFamily="50" charset="-128"/>
              </a:rPr>
              <a:t>APT41</a:t>
            </a:r>
            <a:r>
              <a:rPr lang="ja-JP" altLang="en-US" sz="2800" dirty="0">
                <a:latin typeface="メイリオ" panose="020B0604030504040204" pitchFamily="50" charset="-128"/>
                <a:ea typeface="メイリオ" panose="020B0604030504040204" pitchFamily="50" charset="-128"/>
              </a:rPr>
              <a:t>）の特徴</a:t>
            </a:r>
            <a:endParaRPr lang="ja-JP" altLang="en-US" sz="28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p:cNvGraphicFramePr>
            <a:graphicFrameLocks noGrp="1"/>
          </p:cNvGraphicFramePr>
          <p:nvPr>
            <p:ph idx="1"/>
          </p:nvPr>
        </p:nvGraphicFramePr>
        <p:xfrm>
          <a:off x="0" y="18837"/>
          <a:ext cx="4191000" cy="6478200"/>
        </p:xfrm>
        <a:graphic>
          <a:graphicData uri="http://schemas.openxmlformats.org/drawingml/2006/table">
            <a:tbl>
              <a:tblPr>
                <a:tableStyleId>{5C22544A-7EE6-4342-B048-85BDC9FD1C3A}</a:tableStyleId>
              </a:tblPr>
              <a:tblGrid>
                <a:gridCol w="2095500"/>
                <a:gridCol w="2095500"/>
              </a:tblGrid>
              <a:tr h="283008">
                <a:tc gridSpan="2">
                  <a:txBody>
                    <a:bodyPr/>
                    <a:lstStyle/>
                    <a:p>
                      <a:pPr algn="ctr" fontAlgn="b"/>
                      <a:r>
                        <a:rPr lang="en-US" sz="1100" u="none" strike="noStrike" dirty="0">
                          <a:effectLst/>
                        </a:rPr>
                        <a:t>TA0043: Reconnaissance</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283008">
                <a:tc rowSpan="3">
                  <a:txBody>
                    <a:bodyPr/>
                    <a:lstStyle/>
                    <a:p>
                      <a:pPr algn="l" fontAlgn="t"/>
                      <a:r>
                        <a:rPr lang="en-US" sz="1100" u="none" strike="noStrike" dirty="0">
                          <a:effectLst/>
                        </a:rPr>
                        <a:t>T1595: Active Scanning</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t"/>
                      <a:r>
                        <a:rPr lang="en-US" sz="1100" u="none" strike="noStrike" dirty="0">
                          <a:effectLst/>
                        </a:rPr>
                        <a:t>T1595.001: Scanning IP Blocks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r>
              <a:tr h="555688">
                <a:tc vMerge="1">
                  <a:tcPr/>
                </a:tc>
                <a:tc>
                  <a:txBody>
                    <a:bodyPr/>
                    <a:lstStyle/>
                    <a:p>
                      <a:pPr algn="l" fontAlgn="t"/>
                      <a:r>
                        <a:rPr lang="en-US" sz="1100" u="none" strike="noStrike" dirty="0">
                          <a:effectLst/>
                          <a:highlight>
                            <a:srgbClr val="FF0000"/>
                          </a:highlight>
                        </a:rPr>
                        <a:t>T1595.002: Vulnerability</a:t>
                      </a:r>
                      <a:r>
                        <a:rPr lang="en-US" sz="1100" u="none" strike="noStrike" dirty="0">
                          <a:effectLst/>
                        </a:rPr>
                        <a:t> </a:t>
                      </a:r>
                      <a:r>
                        <a:rPr lang="en-US" sz="1100" u="none" strike="noStrike" dirty="0">
                          <a:effectLst/>
                          <a:highlight>
                            <a:srgbClr val="FF0000"/>
                          </a:highlight>
                        </a:rPr>
                        <a:t>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83008">
                <a:tc vMerge="1">
                  <a:tcPr/>
                </a:tc>
                <a:tc>
                  <a:txBody>
                    <a:bodyPr/>
                    <a:lstStyle/>
                    <a:p>
                      <a:pPr algn="l" fontAlgn="t"/>
                      <a:r>
                        <a:rPr lang="en-US" sz="1100" u="none" strike="noStrike" dirty="0">
                          <a:effectLst/>
                          <a:highlight>
                            <a:srgbClr val="FF0000"/>
                          </a:highlight>
                        </a:rPr>
                        <a:t>T1595.003: Wordlist 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83008">
                <a:tc gridSpan="2">
                  <a:txBody>
                    <a:bodyPr/>
                    <a:lstStyle/>
                    <a:p>
                      <a:pPr algn="l" fontAlgn="t"/>
                      <a:r>
                        <a:rPr lang="en-US" sz="1100" u="none" strike="noStrike">
                          <a:effectLst/>
                        </a:rPr>
                        <a:t>T1592: Gather Victim Host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cPr/>
                </a:tc>
              </a:tr>
              <a:tr h="283008">
                <a:tc gridSpan="2">
                  <a:txBody>
                    <a:bodyPr/>
                    <a:lstStyle/>
                    <a:p>
                      <a:pPr algn="l" fontAlgn="t"/>
                      <a:r>
                        <a:rPr lang="en-US" sz="1100" u="none" strike="noStrike">
                          <a:effectLst/>
                        </a:rPr>
                        <a:t>T1589: Gather Victim Identity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cPr/>
                </a:tc>
              </a:tr>
              <a:tr h="283008">
                <a:tc gridSpan="2">
                  <a:txBody>
                    <a:bodyPr/>
                    <a:lstStyle/>
                    <a:p>
                      <a:pPr algn="l" fontAlgn="t"/>
                      <a:r>
                        <a:rPr lang="en-US" sz="1100" u="none" strike="noStrike">
                          <a:effectLst/>
                        </a:rPr>
                        <a:t>T1590: Gather Victim Network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cPr/>
                </a:tc>
              </a:tr>
              <a:tr h="283008">
                <a:tc gridSpan="2">
                  <a:txBody>
                    <a:bodyPr/>
                    <a:lstStyle/>
                    <a:p>
                      <a:pPr algn="l" fontAlgn="t"/>
                      <a:r>
                        <a:rPr lang="en-US" sz="1100" u="none" strike="noStrike">
                          <a:effectLst/>
                        </a:rPr>
                        <a:t>T1591: Gather Victim Org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cPr/>
                </a:tc>
              </a:tr>
              <a:tr h="283008">
                <a:tc>
                  <a:txBody>
                    <a:bodyPr/>
                    <a:lstStyle/>
                    <a:p>
                      <a:pPr algn="l" fontAlgn="t"/>
                      <a:r>
                        <a:rPr lang="en-US" sz="1100" u="none" strike="noStrike">
                          <a:effectLst/>
                        </a:rPr>
                        <a:t>T1598: Phishing for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283008">
                <a:tc>
                  <a:txBody>
                    <a:bodyPr/>
                    <a:lstStyle/>
                    <a:p>
                      <a:pPr algn="l" fontAlgn="t"/>
                      <a:r>
                        <a:rPr lang="en-US" sz="1100" u="none" strike="noStrike">
                          <a:effectLst/>
                        </a:rPr>
                        <a:t>T1597: Search Closed Sources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283008">
                <a:tc rowSpan="5">
                  <a:txBody>
                    <a:bodyPr/>
                    <a:lstStyle/>
                    <a:p>
                      <a:pPr algn="l" fontAlgn="t"/>
                      <a:r>
                        <a:rPr lang="en-US" sz="1100" u="none" strike="noStrike">
                          <a:effectLst/>
                        </a:rPr>
                        <a:t>T1596: Search Open Technical Databases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T1596.004: CDNs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83008">
                <a:tc vMerge="1">
                  <a:tcPr/>
                </a:tc>
                <a:tc>
                  <a:txBody>
                    <a:bodyPr/>
                    <a:lstStyle/>
                    <a:p>
                      <a:pPr algn="l" fontAlgn="t"/>
                      <a:r>
                        <a:rPr lang="en-US" sz="1100" u="none" strike="noStrike">
                          <a:effectLst/>
                        </a:rPr>
                        <a:t>T1596.003: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83008">
                <a:tc vMerge="1">
                  <a:tcPr/>
                </a:tc>
                <a:tc>
                  <a:txBody>
                    <a:bodyPr/>
                    <a:lstStyle/>
                    <a:p>
                      <a:pPr algn="l" fontAlgn="t"/>
                      <a:r>
                        <a:rPr lang="en-US" sz="1100" u="none" strike="noStrike">
                          <a:effectLst/>
                        </a:rPr>
                        <a:t>T1596.001: DNS/Passive 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83008">
                <a:tc vMerge="1">
                  <a:tcPr/>
                </a:tc>
                <a:tc>
                  <a:txBody>
                    <a:bodyPr/>
                    <a:lstStyle/>
                    <a:p>
                      <a:pPr algn="l" fontAlgn="t"/>
                      <a:r>
                        <a:rPr lang="en-US" sz="1100" u="none" strike="noStrike" dirty="0">
                          <a:effectLst/>
                          <a:highlight>
                            <a:srgbClr val="FF0000"/>
                          </a:highlight>
                        </a:rPr>
                        <a:t>T1596.005: Scan Databases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83008">
                <a:tc vMerge="1">
                  <a:tcPr/>
                </a:tc>
                <a:tc>
                  <a:txBody>
                    <a:bodyPr/>
                    <a:lstStyle/>
                    <a:p>
                      <a:pPr algn="l" fontAlgn="t"/>
                      <a:r>
                        <a:rPr lang="en-US" sz="1100" u="none" strike="noStrike" dirty="0">
                          <a:effectLst/>
                        </a:rPr>
                        <a:t>T1596.002: WHOIS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83008">
                <a:tc rowSpan="3">
                  <a:txBody>
                    <a:bodyPr/>
                    <a:lstStyle/>
                    <a:p>
                      <a:pPr algn="l" fontAlgn="t"/>
                      <a:r>
                        <a:rPr lang="en-US" sz="1100" u="none" strike="noStrike">
                          <a:effectLst/>
                        </a:rPr>
                        <a:t>T1593: Search Open Websites/Domains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T1593.003: Code Repositories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83008">
                <a:tc vMerge="1">
                  <a:tcPr/>
                </a:tc>
                <a:tc>
                  <a:txBody>
                    <a:bodyPr/>
                    <a:lstStyle/>
                    <a:p>
                      <a:pPr algn="l" fontAlgn="t"/>
                      <a:r>
                        <a:rPr lang="en-US" sz="1100" u="none" strike="noStrike" dirty="0">
                          <a:effectLst/>
                          <a:highlight>
                            <a:srgbClr val="FF0000"/>
                          </a:highlight>
                        </a:rPr>
                        <a:t>T1593.002: Search Engines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83008">
                <a:tc vMerge="1">
                  <a:tcPr/>
                </a:tc>
                <a:tc>
                  <a:txBody>
                    <a:bodyPr/>
                    <a:lstStyle/>
                    <a:p>
                      <a:pPr algn="l" fontAlgn="t"/>
                      <a:r>
                        <a:rPr lang="en-US" sz="1100" u="none" strike="noStrike">
                          <a:effectLst/>
                        </a:rPr>
                        <a:t>T1593.001: Social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555688">
                <a:tc>
                  <a:txBody>
                    <a:bodyPr/>
                    <a:lstStyle/>
                    <a:p>
                      <a:pPr algn="l" fontAlgn="t"/>
                      <a:r>
                        <a:rPr lang="en-US" sz="1100" u="none" strike="noStrike">
                          <a:effectLst/>
                        </a:rPr>
                        <a:t>T1681: Search Threat Vendor Data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555688">
                <a:tc>
                  <a:txBody>
                    <a:bodyPr/>
                    <a:lstStyle/>
                    <a:p>
                      <a:pPr algn="l" fontAlgn="t"/>
                      <a:r>
                        <a:rPr lang="en-US" sz="1100" u="none" strike="noStrike">
                          <a:effectLst/>
                        </a:rPr>
                        <a:t>T1594: Search Victim-Owned Websites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bl>
          </a:graphicData>
        </a:graphic>
      </p:graphicFrame>
      <p:graphicFrame>
        <p:nvGraphicFramePr>
          <p:cNvPr id="5" name="表 4"/>
          <p:cNvGraphicFramePr>
            <a:graphicFrameLocks noGrp="1"/>
          </p:cNvGraphicFramePr>
          <p:nvPr/>
        </p:nvGraphicFramePr>
        <p:xfrm>
          <a:off x="4191000" y="18836"/>
          <a:ext cx="4191000" cy="6478208"/>
        </p:xfrm>
        <a:graphic>
          <a:graphicData uri="http://schemas.openxmlformats.org/drawingml/2006/table">
            <a:tbl>
              <a:tblPr>
                <a:tableStyleId>{5C22544A-7EE6-4342-B048-85BDC9FD1C3A}</a:tableStyleId>
              </a:tblPr>
              <a:tblGrid>
                <a:gridCol w="2095500"/>
                <a:gridCol w="2095500"/>
              </a:tblGrid>
              <a:tr h="232577">
                <a:tc gridSpan="2">
                  <a:txBody>
                    <a:bodyPr/>
                    <a:lstStyle/>
                    <a:p>
                      <a:pPr algn="ctr" fontAlgn="b"/>
                      <a:r>
                        <a:rPr lang="en-US" sz="1100" u="none" strike="noStrike" dirty="0">
                          <a:effectLst/>
                        </a:rPr>
                        <a:t>TA0042: Resource Development</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232577">
                <a:tc>
                  <a:txBody>
                    <a:bodyPr/>
                    <a:lstStyle/>
                    <a:p>
                      <a:pPr algn="l" fontAlgn="t"/>
                      <a:r>
                        <a:rPr lang="en-US" sz="1100" u="none" strike="noStrike">
                          <a:effectLst/>
                        </a:rPr>
                        <a:t>T1650: Acquire Access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tr>
              <a:tr h="232577">
                <a:tc rowSpan="8">
                  <a:txBody>
                    <a:bodyPr/>
                    <a:lstStyle/>
                    <a:p>
                      <a:pPr algn="l" fontAlgn="t"/>
                      <a:r>
                        <a:rPr lang="en-US" sz="1100" u="none" strike="noStrike" dirty="0">
                          <a:effectLst/>
                        </a:rPr>
                        <a:t>T1583: Acquire Infrastructure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T1583.005: Botnet</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a:effectLst/>
                        </a:rPr>
                        <a:t>T1583.002: DNS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a:effectLst/>
                        </a:rPr>
                        <a:t>T1583.001: 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a:effectLst/>
                        </a:rPr>
                        <a:t>T1583.008: Malvertising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a:effectLst/>
                        </a:rPr>
                        <a:t>T1583.004: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dirty="0">
                          <a:effectLst/>
                          <a:highlight>
                            <a:srgbClr val="FF0000"/>
                          </a:highlight>
                        </a:rPr>
                        <a:t>T1583.007: Serverless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456667">
                <a:tc vMerge="1">
                  <a:tcPr/>
                </a:tc>
                <a:tc>
                  <a:txBody>
                    <a:bodyPr/>
                    <a:lstStyle/>
                    <a:p>
                      <a:pPr algn="l" fontAlgn="t"/>
                      <a:r>
                        <a:rPr lang="en-US" sz="1100" u="none" strike="noStrike">
                          <a:effectLst/>
                        </a:rPr>
                        <a:t>T1583.003: Virtual Private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a:effectLst/>
                        </a:rPr>
                        <a:t>T1583.006: Web Services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rowSpan="3">
                  <a:txBody>
                    <a:bodyPr/>
                    <a:lstStyle/>
                    <a:p>
                      <a:pPr algn="l" fontAlgn="t"/>
                      <a:r>
                        <a:rPr lang="en-US" sz="1100" u="none" strike="noStrike">
                          <a:effectLst/>
                        </a:rPr>
                        <a:t>T1586: Compromise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T1586.003: Cloud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dirty="0">
                          <a:effectLst/>
                        </a:rPr>
                        <a:t>T1586.002: Email Accounts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456667">
                <a:tc vMerge="1">
                  <a:tcPr/>
                </a:tc>
                <a:tc>
                  <a:txBody>
                    <a:bodyPr/>
                    <a:lstStyle/>
                    <a:p>
                      <a:pPr algn="l" fontAlgn="t"/>
                      <a:r>
                        <a:rPr lang="en-US" sz="1100" u="none" strike="noStrike">
                          <a:effectLst/>
                        </a:rPr>
                        <a:t>T1586.001: Social Media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456667">
                <a:tc>
                  <a:txBody>
                    <a:bodyPr/>
                    <a:lstStyle/>
                    <a:p>
                      <a:pPr algn="l" fontAlgn="t"/>
                      <a:r>
                        <a:rPr lang="en-US" sz="1100" u="none" strike="noStrike">
                          <a:effectLst/>
                        </a:rPr>
                        <a:t>T1584: Compromise Infrastructure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232577">
                <a:tc>
                  <a:txBody>
                    <a:bodyPr/>
                    <a:lstStyle/>
                    <a:p>
                      <a:pPr algn="l" fontAlgn="t"/>
                      <a:r>
                        <a:rPr lang="en-US" sz="1100" u="none" strike="noStrike">
                          <a:effectLst/>
                        </a:rPr>
                        <a:t>T1587: Develop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232577">
                <a:tc>
                  <a:txBody>
                    <a:bodyPr/>
                    <a:lstStyle/>
                    <a:p>
                      <a:pPr algn="l" fontAlgn="t"/>
                      <a:r>
                        <a:rPr lang="en-US" sz="1100" u="none" strike="noStrike">
                          <a:effectLst/>
                        </a:rPr>
                        <a:t>T1585: Establish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232577">
                <a:tc rowSpan="7">
                  <a:txBody>
                    <a:bodyPr/>
                    <a:lstStyle/>
                    <a:p>
                      <a:pPr algn="l" fontAlgn="t"/>
                      <a:r>
                        <a:rPr lang="en-US" sz="1100" u="none" strike="noStrike">
                          <a:effectLst/>
                        </a:rPr>
                        <a:t>T1588: Obtain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T1588.007: Artificial Intelligence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456667">
                <a:tc vMerge="1">
                  <a:tcPr/>
                </a:tc>
                <a:tc>
                  <a:txBody>
                    <a:bodyPr/>
                    <a:lstStyle/>
                    <a:p>
                      <a:pPr algn="l" fontAlgn="t"/>
                      <a:r>
                        <a:rPr lang="en-US" sz="1100" u="none" strike="noStrike" dirty="0">
                          <a:effectLst/>
                          <a:highlight>
                            <a:srgbClr val="FF0000"/>
                          </a:highlight>
                        </a:rPr>
                        <a:t>T1588.003: Code Signing Certificates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a:effectLst/>
                        </a:rPr>
                        <a:t>T1588.004: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a:effectLst/>
                        </a:rPr>
                        <a:t>T1588.005: Exploits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a:effectLst/>
                        </a:rPr>
                        <a:t>T1588.001: Malware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dirty="0">
                          <a:effectLst/>
                          <a:highlight>
                            <a:srgbClr val="FF0000"/>
                          </a:highlight>
                        </a:rPr>
                        <a:t>T1588.002: Tool</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32577">
                <a:tc vMerge="1">
                  <a:tcPr/>
                </a:tc>
                <a:tc>
                  <a:txBody>
                    <a:bodyPr/>
                    <a:lstStyle/>
                    <a:p>
                      <a:pPr algn="l" fontAlgn="t"/>
                      <a:r>
                        <a:rPr lang="en-US" sz="1100" u="none" strike="noStrike" dirty="0">
                          <a:effectLst/>
                        </a:rPr>
                        <a:t>T1588.006: Vulnerabilities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32577">
                <a:tc>
                  <a:txBody>
                    <a:bodyPr/>
                    <a:lstStyle/>
                    <a:p>
                      <a:pPr algn="l" fontAlgn="t"/>
                      <a:r>
                        <a:rPr lang="en-US" sz="1100" u="none" strike="noStrike">
                          <a:effectLst/>
                        </a:rPr>
                        <a:t>T1608: Stage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bl>
          </a:graphicData>
        </a:graphic>
      </p:graphicFrame>
      <p:graphicFrame>
        <p:nvGraphicFramePr>
          <p:cNvPr id="6" name="表 5"/>
          <p:cNvGraphicFramePr>
            <a:graphicFrameLocks noGrp="1"/>
          </p:cNvGraphicFramePr>
          <p:nvPr/>
        </p:nvGraphicFramePr>
        <p:xfrm>
          <a:off x="8382000" y="18838"/>
          <a:ext cx="3810000" cy="6486204"/>
        </p:xfrm>
        <a:graphic>
          <a:graphicData uri="http://schemas.openxmlformats.org/drawingml/2006/table">
            <a:tbl>
              <a:tblPr>
                <a:tableStyleId>{5C22544A-7EE6-4342-B048-85BDC9FD1C3A}</a:tableStyleId>
              </a:tblPr>
              <a:tblGrid>
                <a:gridCol w="1905000"/>
                <a:gridCol w="1905000"/>
              </a:tblGrid>
              <a:tr h="255546">
                <a:tc gridSpan="2">
                  <a:txBody>
                    <a:bodyPr/>
                    <a:lstStyle/>
                    <a:p>
                      <a:pPr algn="ctr" fontAlgn="b"/>
                      <a:r>
                        <a:rPr lang="en-US" sz="1100" u="none" strike="noStrike" dirty="0">
                          <a:effectLst/>
                        </a:rPr>
                        <a:t>TA0001: Initial Access</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255546">
                <a:tc>
                  <a:txBody>
                    <a:bodyPr/>
                    <a:lstStyle/>
                    <a:p>
                      <a:pPr algn="l" fontAlgn="t"/>
                      <a:r>
                        <a:rPr lang="en-US" sz="1100" u="none" strike="noStrike">
                          <a:effectLst/>
                        </a:rPr>
                        <a:t>T1659: Content Injection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tr>
              <a:tr h="255546">
                <a:tc>
                  <a:txBody>
                    <a:bodyPr/>
                    <a:lstStyle/>
                    <a:p>
                      <a:pPr algn="l" fontAlgn="t"/>
                      <a:r>
                        <a:rPr lang="en-US" sz="1100" u="none" strike="noStrike">
                          <a:effectLst/>
                        </a:rPr>
                        <a:t>T1189: Drive-by Compromise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501765">
                <a:tc>
                  <a:txBody>
                    <a:bodyPr/>
                    <a:lstStyle/>
                    <a:p>
                      <a:pPr algn="l" fontAlgn="t"/>
                      <a:r>
                        <a:rPr lang="en-US" sz="1100" u="none" strike="noStrike" dirty="0">
                          <a:effectLst/>
                          <a:highlight>
                            <a:srgbClr val="FF0000"/>
                          </a:highlight>
                        </a:rPr>
                        <a:t>T1190: Exploit Public-Facing Application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501765">
                <a:tc>
                  <a:txBody>
                    <a:bodyPr/>
                    <a:lstStyle/>
                    <a:p>
                      <a:pPr algn="l" fontAlgn="t"/>
                      <a:r>
                        <a:rPr lang="en-US" sz="1100" u="none" strike="noStrike" dirty="0">
                          <a:effectLst/>
                          <a:highlight>
                            <a:srgbClr val="FF0000"/>
                          </a:highlight>
                        </a:rPr>
                        <a:t>T1133: External Remote Services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255546">
                <a:tc>
                  <a:txBody>
                    <a:bodyPr/>
                    <a:lstStyle/>
                    <a:p>
                      <a:pPr algn="l" fontAlgn="t"/>
                      <a:r>
                        <a:rPr lang="en-US" sz="1100" u="none" strike="noStrike">
                          <a:effectLst/>
                        </a:rPr>
                        <a:t>T1200: Hardware Additions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501765">
                <a:tc rowSpan="4">
                  <a:txBody>
                    <a:bodyPr/>
                    <a:lstStyle/>
                    <a:p>
                      <a:pPr algn="l" fontAlgn="t"/>
                      <a:r>
                        <a:rPr lang="en-US" sz="1100" u="none" strike="noStrike">
                          <a:effectLst/>
                        </a:rPr>
                        <a:t>T1566: Phishing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T1566.001: </a:t>
                      </a:r>
                      <a:r>
                        <a:rPr lang="en-US" sz="1100" u="none" strike="noStrike" dirty="0" err="1">
                          <a:effectLst/>
                          <a:highlight>
                            <a:srgbClr val="FF0000"/>
                          </a:highlight>
                        </a:rPr>
                        <a:t>Spearphishing</a:t>
                      </a:r>
                      <a:r>
                        <a:rPr lang="en-US" sz="1100" u="none" strike="noStrike" dirty="0">
                          <a:effectLst/>
                          <a:highlight>
                            <a:srgbClr val="FF0000"/>
                          </a:highlight>
                        </a:rPr>
                        <a:t> Attachment</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337627">
                <a:tc vMerge="1">
                  <a:tcPr/>
                </a:tc>
                <a:tc>
                  <a:txBody>
                    <a:bodyPr/>
                    <a:lstStyle/>
                    <a:p>
                      <a:pPr algn="l" fontAlgn="t"/>
                      <a:r>
                        <a:rPr lang="en-US" sz="1100" u="none" strike="noStrike">
                          <a:effectLst/>
                        </a:rPr>
                        <a:t>T1566.002: Spearphishing Link</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501765">
                <a:tc vMerge="1">
                  <a:tcPr/>
                </a:tc>
                <a:tc>
                  <a:txBody>
                    <a:bodyPr/>
                    <a:lstStyle/>
                    <a:p>
                      <a:pPr algn="l" fontAlgn="t"/>
                      <a:r>
                        <a:rPr lang="en-US" sz="1100" u="none" strike="noStrike" dirty="0">
                          <a:effectLst/>
                        </a:rPr>
                        <a:t>T1566.003: </a:t>
                      </a:r>
                      <a:r>
                        <a:rPr lang="en-US" sz="1100" u="none" strike="noStrike" dirty="0" err="1">
                          <a:effectLst/>
                        </a:rPr>
                        <a:t>Spearphishing</a:t>
                      </a:r>
                      <a:r>
                        <a:rPr lang="en-US" sz="1100" u="none" strike="noStrike" dirty="0">
                          <a:effectLst/>
                        </a:rPr>
                        <a:t> via Service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337627">
                <a:tc vMerge="1">
                  <a:tcPr/>
                </a:tc>
                <a:tc>
                  <a:txBody>
                    <a:bodyPr/>
                    <a:lstStyle/>
                    <a:p>
                      <a:pPr algn="l" fontAlgn="t"/>
                      <a:r>
                        <a:rPr lang="en-US" sz="1100" u="none" strike="noStrike">
                          <a:effectLst/>
                        </a:rPr>
                        <a:t>T1566.004: Spearphishing Voice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55546">
                <a:tc gridSpan="2">
                  <a:txBody>
                    <a:bodyPr/>
                    <a:lstStyle/>
                    <a:p>
                      <a:pPr algn="l" fontAlgn="t"/>
                      <a:r>
                        <a:rPr lang="en-US" sz="1100" u="none" strike="noStrike">
                          <a:effectLst/>
                        </a:rPr>
                        <a:t>T1091: Replication Through Removable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cPr/>
                </a:tc>
              </a:tr>
              <a:tr h="501765">
                <a:tc rowSpan="3">
                  <a:txBody>
                    <a:bodyPr/>
                    <a:lstStyle/>
                    <a:p>
                      <a:pPr algn="l" fontAlgn="t"/>
                      <a:r>
                        <a:rPr lang="en-US" sz="1100" u="none" strike="noStrike" dirty="0">
                          <a:effectLst/>
                        </a:rPr>
                        <a:t>T1195: Supply Chain Compromise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T1195.003: Compromise Hardware Supply Chain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747986">
                <a:tc vMerge="1">
                  <a:tcPr/>
                </a:tc>
                <a:tc>
                  <a:txBody>
                    <a:bodyPr/>
                    <a:lstStyle/>
                    <a:p>
                      <a:pPr algn="l" fontAlgn="t"/>
                      <a:r>
                        <a:rPr lang="en-US" sz="1100" u="none" strike="noStrike" dirty="0">
                          <a:effectLst/>
                        </a:rPr>
                        <a:t>T1195.001: Compromise Software Dependencies and Development Tools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501765">
                <a:tc vMerge="1">
                  <a:tcPr/>
                </a:tc>
                <a:tc>
                  <a:txBody>
                    <a:bodyPr/>
                    <a:lstStyle/>
                    <a:p>
                      <a:pPr algn="l" fontAlgn="t"/>
                      <a:r>
                        <a:rPr lang="en-US" sz="1100" u="none" strike="noStrike" dirty="0">
                          <a:effectLst/>
                          <a:highlight>
                            <a:srgbClr val="FF0000"/>
                          </a:highlight>
                        </a:rPr>
                        <a:t>T1195.002: Compromise Software Supply Chain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55546">
                <a:tc>
                  <a:txBody>
                    <a:bodyPr/>
                    <a:lstStyle/>
                    <a:p>
                      <a:pPr algn="l" fontAlgn="t"/>
                      <a:r>
                        <a:rPr lang="en-US" sz="1100" u="none" strike="noStrike">
                          <a:effectLst/>
                        </a:rPr>
                        <a:t>T1199: Trusted Relationship</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255546">
                <a:tc>
                  <a:txBody>
                    <a:bodyPr/>
                    <a:lstStyle/>
                    <a:p>
                      <a:pPr algn="l" fontAlgn="t"/>
                      <a:r>
                        <a:rPr lang="en-US" sz="1100" u="none" strike="noStrike" dirty="0">
                          <a:effectLst/>
                          <a:highlight>
                            <a:srgbClr val="FF0000"/>
                          </a:highlight>
                        </a:rPr>
                        <a:t>T1078: Valid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255546">
                <a:tc>
                  <a:txBody>
                    <a:bodyPr/>
                    <a:lstStyle/>
                    <a:p>
                      <a:pPr algn="l" fontAlgn="t"/>
                      <a:r>
                        <a:rPr lang="en-US" sz="1100" u="none" strike="noStrike">
                          <a:effectLst/>
                        </a:rPr>
                        <a:t>T1669: Wi-Fi Networks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a:p>
        </p:txBody>
      </p:sp>
      <p:graphicFrame>
        <p:nvGraphicFramePr>
          <p:cNvPr id="4" name="コンテンツ プレースホルダー 3"/>
          <p:cNvGraphicFramePr>
            <a:graphicFrameLocks noGrp="1"/>
          </p:cNvGraphicFramePr>
          <p:nvPr>
            <p:ph idx="1"/>
          </p:nvPr>
        </p:nvGraphicFramePr>
        <p:xfrm>
          <a:off x="-1" y="0"/>
          <a:ext cx="4694402" cy="9825784"/>
        </p:xfrm>
        <a:graphic>
          <a:graphicData uri="http://schemas.openxmlformats.org/drawingml/2006/table">
            <a:tbl>
              <a:tblPr>
                <a:tableStyleId>{5C22544A-7EE6-4342-B048-85BDC9FD1C3A}</a:tableStyleId>
              </a:tblPr>
              <a:tblGrid>
                <a:gridCol w="2347201"/>
                <a:gridCol w="2347201"/>
              </a:tblGrid>
              <a:tr h="176847">
                <a:tc gridSpan="2">
                  <a:txBody>
                    <a:bodyPr/>
                    <a:lstStyle/>
                    <a:p>
                      <a:pPr algn="ctr" fontAlgn="b"/>
                      <a:r>
                        <a:rPr lang="en-US" sz="1000" u="none" strike="noStrike" dirty="0">
                          <a:effectLst/>
                        </a:rPr>
                        <a:t>TA0002: Execution</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76847">
                <a:tc gridSpan="2">
                  <a:txBody>
                    <a:bodyPr/>
                    <a:lstStyle/>
                    <a:p>
                      <a:pPr algn="l" fontAlgn="t"/>
                      <a:r>
                        <a:rPr lang="en-US" sz="1000" u="none" strike="noStrike">
                          <a:effectLst/>
                        </a:rPr>
                        <a:t>T1651: Cloud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lnT w="12700" cap="flat" cmpd="sng" algn="ctr">
                      <a:solidFill>
                        <a:srgbClr val="92D050"/>
                      </a:solidFill>
                      <a:prstDash val="sysDash"/>
                      <a:round/>
                      <a:headEnd type="none" w="med" len="med"/>
                      <a:tailEnd type="none" w="med" len="med"/>
                    </a:lnT>
                  </a:tcPr>
                </a:tc>
                <a:tc hMerge="1">
                  <a:tcPr/>
                </a:tc>
              </a:tr>
              <a:tr h="349188">
                <a:tc rowSpan="13">
                  <a:txBody>
                    <a:bodyPr/>
                    <a:lstStyle/>
                    <a:p>
                      <a:pPr algn="l" fontAlgn="t"/>
                      <a:r>
                        <a:rPr lang="en-US" sz="1000" u="none" strike="noStrike">
                          <a:effectLst/>
                        </a:rPr>
                        <a:t>T1059: Command and Scripting Interpreter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dirty="0">
                          <a:effectLst/>
                        </a:rPr>
                        <a:t>T1059.002: AppleScript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a:effectLst/>
                        </a:rPr>
                        <a:t>T1059.010: AutoHotKey &amp; AutoIT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176847">
                <a:tc vMerge="1">
                  <a:tcPr/>
                </a:tc>
                <a:tc>
                  <a:txBody>
                    <a:bodyPr/>
                    <a:lstStyle/>
                    <a:p>
                      <a:pPr algn="l" fontAlgn="t"/>
                      <a:r>
                        <a:rPr lang="en-US" sz="1000" u="none" strike="noStrike">
                          <a:effectLst/>
                        </a:rPr>
                        <a:t>T1059.009: Cloud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a:effectLst/>
                        </a:rPr>
                        <a:t>T1059.013: Container CLI/API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a:effectLst/>
                        </a:rPr>
                        <a:t>T1059.012: Hypervisor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176847">
                <a:tc vMerge="1">
                  <a:tcPr/>
                </a:tc>
                <a:tc>
                  <a:txBody>
                    <a:bodyPr/>
                    <a:lstStyle/>
                    <a:p>
                      <a:pPr algn="l" fontAlgn="t"/>
                      <a:r>
                        <a:rPr lang="en-US" sz="1000" u="none" strike="noStrike" dirty="0">
                          <a:effectLst/>
                          <a:highlight>
                            <a:srgbClr val="FF0000"/>
                          </a:highlight>
                        </a:rPr>
                        <a:t>T1059.007: JavaScript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r>
              <a:tr h="176847">
                <a:tc vMerge="1">
                  <a:tcPr/>
                </a:tc>
                <a:tc>
                  <a:txBody>
                    <a:bodyPr/>
                    <a:lstStyle/>
                    <a:p>
                      <a:pPr algn="l" fontAlgn="t"/>
                      <a:r>
                        <a:rPr lang="en-US" sz="1000" u="none" strike="noStrike">
                          <a:effectLst/>
                        </a:rPr>
                        <a:t>T1059.011: Lua</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a:effectLst/>
                        </a:rPr>
                        <a:t>T1059.008: Network Device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dirty="0">
                          <a:effectLst/>
                          <a:highlight>
                            <a:srgbClr val="FF0000"/>
                          </a:highlight>
                        </a:rPr>
                        <a:t>T1059.001: PowerShell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r>
              <a:tr h="176847">
                <a:tc vMerge="1">
                  <a:tcPr/>
                </a:tc>
                <a:tc>
                  <a:txBody>
                    <a:bodyPr/>
                    <a:lstStyle/>
                    <a:p>
                      <a:pPr algn="l" fontAlgn="t"/>
                      <a:r>
                        <a:rPr lang="en-US" sz="1000" u="none" strike="noStrike">
                          <a:effectLst/>
                        </a:rPr>
                        <a:t>T1059.006: Python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176847">
                <a:tc vMerge="1">
                  <a:tcPr/>
                </a:tc>
                <a:tc>
                  <a:txBody>
                    <a:bodyPr/>
                    <a:lstStyle/>
                    <a:p>
                      <a:pPr algn="l" fontAlgn="t"/>
                      <a:r>
                        <a:rPr lang="en-US" sz="1000" u="none" strike="noStrike" dirty="0">
                          <a:effectLst/>
                          <a:highlight>
                            <a:srgbClr val="FF0000"/>
                          </a:highlight>
                        </a:rPr>
                        <a:t>T1059.004: Unix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a:effectLst/>
                        </a:rPr>
                        <a:t>T1059.005: Visual Basic</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dirty="0">
                          <a:effectLst/>
                          <a:highlight>
                            <a:srgbClr val="FF0000"/>
                          </a:highlight>
                        </a:rPr>
                        <a:t>T1059.003: Windows Command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r>
              <a:tr h="176847">
                <a:tc gridSpan="2">
                  <a:txBody>
                    <a:bodyPr/>
                    <a:lstStyle/>
                    <a:p>
                      <a:pPr algn="l" fontAlgn="t"/>
                      <a:r>
                        <a:rPr lang="en-US" sz="1000" u="none" strike="noStrike">
                          <a:effectLst/>
                        </a:rPr>
                        <a:t>T1609: Container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cPr/>
                </a:tc>
              </a:tr>
              <a:tr h="349188">
                <a:tc>
                  <a:txBody>
                    <a:bodyPr/>
                    <a:lstStyle/>
                    <a:p>
                      <a:pPr algn="l" fontAlgn="t"/>
                      <a:r>
                        <a:rPr lang="en-US" sz="1000" u="none" strike="noStrike">
                          <a:effectLst/>
                        </a:rPr>
                        <a:t>T1610: Deploy Container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tr>
              <a:tr h="176847">
                <a:tc gridSpan="2">
                  <a:txBody>
                    <a:bodyPr/>
                    <a:lstStyle/>
                    <a:p>
                      <a:pPr algn="l" fontAlgn="t"/>
                      <a:r>
                        <a:rPr lang="en-US" sz="1000" u="none" strike="noStrike">
                          <a:effectLst/>
                        </a:rPr>
                        <a:t>T1675: ESXi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cPr/>
                </a:tc>
              </a:tr>
              <a:tr h="349188">
                <a:tc>
                  <a:txBody>
                    <a:bodyPr/>
                    <a:lstStyle/>
                    <a:p>
                      <a:pPr algn="l" fontAlgn="t"/>
                      <a:r>
                        <a:rPr lang="fr-FR" sz="1000" u="none" strike="noStrike" dirty="0">
                          <a:effectLst/>
                          <a:highlight>
                            <a:srgbClr val="FF0000"/>
                          </a:highlight>
                        </a:rPr>
                        <a:t>T1203: Exploitation for Client Execution</a:t>
                      </a:r>
                      <a:endParaRPr lang="fr-FR"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tr>
              <a:tr h="176847">
                <a:tc>
                  <a:txBody>
                    <a:bodyPr/>
                    <a:lstStyle/>
                    <a:p>
                      <a:pPr algn="l" fontAlgn="t"/>
                      <a:r>
                        <a:rPr lang="en-US" sz="1000" u="none" strike="noStrike">
                          <a:effectLst/>
                        </a:rPr>
                        <a:t>T1674: Input Injection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tr>
              <a:tr h="176847">
                <a:tc gridSpan="2">
                  <a:txBody>
                    <a:bodyPr/>
                    <a:lstStyle/>
                    <a:p>
                      <a:pPr algn="l" fontAlgn="t"/>
                      <a:r>
                        <a:rPr lang="en-US" sz="1000" u="none" strike="noStrike">
                          <a:effectLst/>
                        </a:rPr>
                        <a:t>T1559: Inter-Process Communication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cPr/>
                </a:tc>
              </a:tr>
              <a:tr h="176847">
                <a:tc>
                  <a:txBody>
                    <a:bodyPr/>
                    <a:lstStyle/>
                    <a:p>
                      <a:pPr algn="l" fontAlgn="t"/>
                      <a:r>
                        <a:rPr lang="en-US" sz="1000" u="none" strike="noStrike">
                          <a:effectLst/>
                        </a:rPr>
                        <a:t>T1106: Native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tr>
              <a:tr h="176847">
                <a:tc gridSpan="2">
                  <a:txBody>
                    <a:bodyPr/>
                    <a:lstStyle/>
                    <a:p>
                      <a:pPr algn="l" fontAlgn="t"/>
                      <a:r>
                        <a:rPr lang="en-US" sz="1000" u="none" strike="noStrike">
                          <a:effectLst/>
                        </a:rPr>
                        <a:t>T1677: Poisoned Pipeline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cPr/>
                </a:tc>
              </a:tr>
              <a:tr h="176847">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176847">
                <a:tc vMerge="1">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a:txBody>
                    <a:bodyPr/>
                    <a:lstStyle/>
                    <a:p>
                      <a:pPr algn="l" fontAlgn="t"/>
                      <a:r>
                        <a:rPr lang="en-US" sz="1000" u="none" strike="noStrike">
                          <a:effectLst/>
                        </a:rPr>
                        <a:t>T1648: Serverless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tr>
              <a:tr h="349188">
                <a:tc>
                  <a:txBody>
                    <a:bodyPr/>
                    <a:lstStyle/>
                    <a:p>
                      <a:pPr algn="l" fontAlgn="t"/>
                      <a:r>
                        <a:rPr lang="en-US" sz="1000" u="none" strike="noStrike">
                          <a:effectLst/>
                        </a:rPr>
                        <a:t>T1129: Shared Modules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tr>
              <a:tr h="349188">
                <a:tc>
                  <a:txBody>
                    <a:bodyPr/>
                    <a:lstStyle/>
                    <a:p>
                      <a:pPr algn="l" fontAlgn="t"/>
                      <a:r>
                        <a:rPr lang="en-US" sz="1000" u="none" strike="noStrike">
                          <a:effectLst/>
                        </a:rPr>
                        <a:t>T1072: Software Deployment Tools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tr>
              <a:tr h="176847">
                <a:tc rowSpan="3">
                  <a:txBody>
                    <a:bodyPr/>
                    <a:lstStyle/>
                    <a:p>
                      <a:pPr algn="l" fontAlgn="t"/>
                      <a:r>
                        <a:rPr lang="en-US" sz="1000" u="none" strike="noStrike">
                          <a:effectLst/>
                        </a:rPr>
                        <a:t>T1569: System Services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T1569.001: Launchctl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49188">
                <a:tc vMerge="1">
                  <a:tcPr/>
                </a:tc>
                <a:tc>
                  <a:txBody>
                    <a:bodyPr/>
                    <a:lstStyle/>
                    <a:p>
                      <a:pPr algn="l" fontAlgn="t"/>
                      <a:r>
                        <a:rPr lang="en-US" sz="1000" u="none" strike="noStrike" dirty="0">
                          <a:effectLst/>
                          <a:highlight>
                            <a:srgbClr val="FF0000"/>
                          </a:highlight>
                        </a:rPr>
                        <a:t>T1569.002: Service Execution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r>
              <a:tr h="176847">
                <a:tc vMerge="1">
                  <a:tcPr/>
                </a:tc>
                <a:tc>
                  <a:txBody>
                    <a:bodyPr/>
                    <a:lstStyle/>
                    <a:p>
                      <a:pPr algn="l" fontAlgn="t"/>
                      <a:r>
                        <a:rPr lang="en-US" sz="1000" u="none" strike="noStrike">
                          <a:effectLst/>
                        </a:rPr>
                        <a:t>T1569.003: Systemctl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r>
              <a:tr h="361661">
                <a:tc>
                  <a:txBody>
                    <a:bodyPr/>
                    <a:lstStyle/>
                    <a:p>
                      <a:pPr algn="l" fontAlgn="t"/>
                      <a:r>
                        <a:rPr lang="en-US" sz="1000" u="none" strike="noStrike">
                          <a:effectLst/>
                        </a:rPr>
                        <a:t>T1204: User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tr>
              <a:tr h="521528">
                <a:tc>
                  <a:txBody>
                    <a:bodyPr/>
                    <a:lstStyle/>
                    <a:p>
                      <a:pPr algn="l" fontAlgn="t"/>
                      <a:r>
                        <a:rPr lang="en-US" sz="1000" u="none" strike="noStrike" dirty="0">
                          <a:effectLst/>
                          <a:highlight>
                            <a:srgbClr val="FF0000"/>
                          </a:highlight>
                        </a:rPr>
                        <a:t>T1047: Windows Management Instrumentation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tr>
            </a:tbl>
          </a:graphicData>
        </a:graphic>
      </p:graphicFrame>
      <p:graphicFrame>
        <p:nvGraphicFramePr>
          <p:cNvPr id="5" name="表 4"/>
          <p:cNvGraphicFramePr>
            <a:graphicFrameLocks noGrp="1"/>
          </p:cNvGraphicFramePr>
          <p:nvPr/>
        </p:nvGraphicFramePr>
        <p:xfrm>
          <a:off x="4694401" y="18854"/>
          <a:ext cx="7428470" cy="14140242"/>
        </p:xfrm>
        <a:graphic>
          <a:graphicData uri="http://schemas.openxmlformats.org/drawingml/2006/table">
            <a:tbl>
              <a:tblPr>
                <a:tableStyleId>{5C22544A-7EE6-4342-B048-85BDC9FD1C3A}</a:tableStyleId>
              </a:tblPr>
              <a:tblGrid>
                <a:gridCol w="3714235"/>
                <a:gridCol w="3714235"/>
              </a:tblGrid>
              <a:tr h="155403">
                <a:tc gridSpan="2">
                  <a:txBody>
                    <a:bodyPr/>
                    <a:lstStyle/>
                    <a:p>
                      <a:pPr algn="ctr" fontAlgn="b"/>
                      <a:r>
                        <a:rPr lang="en-US" sz="1000" u="none" strike="noStrike" dirty="0">
                          <a:effectLst/>
                        </a:rPr>
                        <a:t>TA0003: Persistence</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55403">
                <a:tc rowSpan="7">
                  <a:txBody>
                    <a:bodyPr/>
                    <a:lstStyle/>
                    <a:p>
                      <a:pPr algn="l" fontAlgn="t"/>
                      <a:r>
                        <a:rPr lang="en-US" sz="1000" u="none" strike="noStrike" dirty="0">
                          <a:effectLst/>
                        </a:rPr>
                        <a:t>T1098: Account Manipulation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tc>
                  <a:txBody>
                    <a:bodyPr/>
                    <a:lstStyle/>
                    <a:p>
                      <a:pPr algn="l" fontAlgn="t"/>
                      <a:r>
                        <a:rPr lang="en-US" sz="1000" u="none" strike="noStrike">
                          <a:effectLst/>
                        </a:rPr>
                        <a:t>T1098.001: Additional Cloud Credentials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tr>
              <a:tr h="155403">
                <a:tc vMerge="1">
                  <a:tcPr/>
                </a:tc>
                <a:tc>
                  <a:txBody>
                    <a:bodyPr/>
                    <a:lstStyle/>
                    <a:p>
                      <a:pPr algn="l" fontAlgn="t"/>
                      <a:r>
                        <a:rPr lang="en-US" sz="1000" u="none" strike="noStrike">
                          <a:effectLst/>
                        </a:rPr>
                        <a:t>T1098.003: Additional Cloud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T1098.006: Additional Container Cluster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T1098.002: Additional Email Delegate Permissions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highlight>
                            <a:srgbClr val="FF0000"/>
                          </a:highlight>
                        </a:rPr>
                        <a:t>T1098.007: Additional Local or Domain Groups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rPr>
                        <a:t>T1098.005: Device Registration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T1098.004: SSH Authorized Keys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a:txBody>
                    <a:bodyPr/>
                    <a:lstStyle/>
                    <a:p>
                      <a:pPr algn="l" fontAlgn="t"/>
                      <a:r>
                        <a:rPr lang="en-US" sz="1000" u="none" strike="noStrike" dirty="0">
                          <a:effectLst/>
                          <a:highlight>
                            <a:srgbClr val="FF0000"/>
                          </a:highlight>
                        </a:rPr>
                        <a:t>T1197: BITS Jobs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rowSpan="14">
                  <a:txBody>
                    <a:bodyPr/>
                    <a:lstStyle/>
                    <a:p>
                      <a:pPr algn="l" fontAlgn="t"/>
                      <a:r>
                        <a:rPr lang="en-US" sz="1000" u="none" strike="noStrike" dirty="0">
                          <a:effectLst/>
                        </a:rPr>
                        <a:t>T1547: Boot or Logon </a:t>
                      </a:r>
                      <a:r>
                        <a:rPr lang="en-US" sz="1000" u="none" strike="noStrike" dirty="0" err="1">
                          <a:effectLst/>
                        </a:rPr>
                        <a:t>Autostart</a:t>
                      </a:r>
                      <a:r>
                        <a:rPr lang="en-US" sz="1000" u="none" strike="noStrike" dirty="0">
                          <a:effectLst/>
                        </a:rPr>
                        <a:t> Execution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T1547.014: Active Setup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T1547.002: Authentication Package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T1547.006: Kernel Modules and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T1547.015: Login Items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T1547.008: LSASS Driver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T1547.010: Port Monitors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T1547.012: Print Processors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T1547.007: Re-opened Applications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highlight>
                            <a:srgbClr val="FF0000"/>
                          </a:highlight>
                        </a:rPr>
                        <a:t>T1547.001: Registry Run Keys / Startup Folder</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T1547.005: Security Support Provider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T1547.009: Shortcut Modification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T1547.003: Time Providers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T1547.004: Winlogon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T1547.013: XDG Autostart Entries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a:txBody>
                    <a:bodyPr/>
                    <a:lstStyle/>
                    <a:p>
                      <a:pPr algn="l" fontAlgn="t"/>
                      <a:r>
                        <a:rPr lang="en-US" sz="1000" u="none" strike="noStrike" dirty="0">
                          <a:effectLst/>
                          <a:highlight>
                            <a:srgbClr val="FF0000"/>
                          </a:highlight>
                        </a:rPr>
                        <a:t>T1037: Boot or Logon Initialization Scripts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gridSpan="2">
                  <a:txBody>
                    <a:bodyPr/>
                    <a:lstStyle/>
                    <a:p>
                      <a:pPr algn="l" fontAlgn="t"/>
                      <a:r>
                        <a:rPr lang="en-US" sz="1000" u="none" strike="noStrike">
                          <a:effectLst/>
                        </a:rPr>
                        <a:t>T1671: Cloud Application Integration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cPr/>
                </a:tc>
              </a:tr>
              <a:tr h="155403">
                <a:tc gridSpan="2">
                  <a:txBody>
                    <a:bodyPr/>
                    <a:lstStyle/>
                    <a:p>
                      <a:pPr algn="l" fontAlgn="t"/>
                      <a:r>
                        <a:rPr lang="en-US" sz="1000" u="none" strike="noStrike">
                          <a:effectLst/>
                        </a:rPr>
                        <a:t>T1554: Compromise Host Software Binary</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cPr/>
                </a:tc>
              </a:tr>
              <a:tr h="155403">
                <a:tc rowSpan="3">
                  <a:txBody>
                    <a:bodyPr/>
                    <a:lstStyle/>
                    <a:p>
                      <a:pPr algn="l" fontAlgn="t"/>
                      <a:r>
                        <a:rPr lang="en-US" sz="1000" u="none" strike="noStrike">
                          <a:effectLst/>
                        </a:rPr>
                        <a:t>T1136: Create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T1136.003: Cloud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T1136.002: Domain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highlight>
                            <a:srgbClr val="FF0000"/>
                          </a:highlight>
                        </a:rPr>
                        <a:t>T1136.001: Local Account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rowSpan="5">
                  <a:txBody>
                    <a:bodyPr/>
                    <a:lstStyle/>
                    <a:p>
                      <a:pPr algn="l" fontAlgn="t"/>
                      <a:r>
                        <a:rPr lang="en-US" sz="1000" u="none" strike="noStrike">
                          <a:effectLst/>
                        </a:rPr>
                        <a:t>T1543: Create or Modify System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T1543.005: Container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T1543.001: Launch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T1543.004: Launch Daemon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T1543.002: Systemd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highlight>
                            <a:srgbClr val="FF0000"/>
                          </a:highlight>
                        </a:rPr>
                        <a:t>T1543.003: Windows Service</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rowSpan="18">
                  <a:txBody>
                    <a:bodyPr/>
                    <a:lstStyle/>
                    <a:p>
                      <a:pPr algn="l" fontAlgn="t"/>
                      <a:r>
                        <a:rPr lang="en-US" sz="1000" u="none" strike="noStrike">
                          <a:effectLst/>
                        </a:rPr>
                        <a:t>T1546: Event Triggered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T1546.008: Accessibility Features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T1546.009: AppCert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T1546.010: AppInit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T1546.011: Application Shimming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fr-FR" sz="1000" u="none" strike="noStrike">
                          <a:effectLst/>
                        </a:rPr>
                        <a:t>T1546.001: Change Default File Association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T1546.015: Component Object Model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T1546.014: Emond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fr-FR" sz="1000" u="none" strike="noStrike">
                          <a:effectLst/>
                        </a:rPr>
                        <a:t>T1546.012: Image File Execution Options Injection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T1546.016: Installer Packages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T1546.006: LC_LOAD_DYLIB Addition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T1546.007: Netsh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T1546.013: PowerShell Profile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T1546.018: Python Startup Hooks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T1546.002: Screensaver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T1546.005: Trap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T1546.017: Udev Rules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fr-FR" sz="1000" u="none" strike="noStrike">
                          <a:effectLst/>
                        </a:rPr>
                        <a:t>T1546.004: Unix Shell Configuration Modification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309375">
                <a:tc vMerge="1">
                  <a:tcPr/>
                </a:tc>
                <a:tc>
                  <a:txBody>
                    <a:bodyPr/>
                    <a:lstStyle/>
                    <a:p>
                      <a:pPr algn="l" fontAlgn="t"/>
                      <a:r>
                        <a:rPr lang="en-US" sz="1000" u="none" strike="noStrike">
                          <a:effectLst/>
                        </a:rPr>
                        <a:t>T1546.003: Windows Management Instrumentation Event Subscription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a:txBody>
                    <a:bodyPr/>
                    <a:lstStyle/>
                    <a:p>
                      <a:pPr algn="l" fontAlgn="t"/>
                      <a:r>
                        <a:rPr lang="en-US" sz="1000" u="none" strike="noStrike">
                          <a:effectLst/>
                        </a:rPr>
                        <a:t>T1668: Exclusive Control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a:txBody>
                    <a:bodyPr/>
                    <a:lstStyle/>
                    <a:p>
                      <a:pPr algn="l" fontAlgn="t"/>
                      <a:r>
                        <a:rPr lang="en-US" sz="1000" u="none" strike="noStrike">
                          <a:effectLst/>
                          <a:highlight>
                            <a:srgbClr val="FF0000"/>
                          </a:highlight>
                        </a:rPr>
                        <a:t>T1133: External Remote Services</a:t>
                      </a:r>
                      <a:endParaRPr lang="en-US" sz="10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rowSpan="12">
                  <a:txBody>
                    <a:bodyPr/>
                    <a:lstStyle/>
                    <a:p>
                      <a:pPr algn="l" fontAlgn="t"/>
                      <a:r>
                        <a:rPr lang="en-US" sz="1000" u="none" strike="noStrike" dirty="0">
                          <a:effectLst/>
                          <a:highlight>
                            <a:srgbClr val="FF0000"/>
                          </a:highlight>
                        </a:rPr>
                        <a:t>T1574: Hijack Execution Flow</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T1574.014: AppDomainManager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T1574.012: COR_PROFILER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highlight>
                            <a:srgbClr val="FF0000"/>
                          </a:highlight>
                        </a:rPr>
                        <a:t>T1574.001: DLL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T1574.004: Dylib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highlight>
                            <a:srgbClr val="FF0000"/>
                          </a:highlight>
                        </a:rPr>
                        <a:t>T1574.006: Dynamic Linker Hijacking</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T1574.005: Executable Installer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T1574.013: KernelCallbackTable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rPr>
                        <a:t>T1574.007: Path Interception by PATH Environment Variable</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T1574.008: Path Interception by Search Order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T1574.009: Path Interception by Unquoted Path</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T1574.010: Services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T1574.011: Services Registry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a:txBody>
                    <a:bodyPr/>
                    <a:lstStyle/>
                    <a:p>
                      <a:pPr algn="l" fontAlgn="t"/>
                      <a:r>
                        <a:rPr lang="en-US" sz="1000" u="none" strike="noStrike">
                          <a:effectLst/>
                        </a:rPr>
                        <a:t>T1525: Implant Internal Image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gridSpan="2">
                  <a:txBody>
                    <a:bodyPr/>
                    <a:lstStyle/>
                    <a:p>
                      <a:pPr algn="l" fontAlgn="t"/>
                      <a:r>
                        <a:rPr lang="en-US" sz="1000" u="none" strike="noStrike">
                          <a:effectLst/>
                        </a:rPr>
                        <a:t>T1556: Modify Authentication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cPr/>
                </a:tc>
              </a:tr>
              <a:tr h="155403">
                <a:tc>
                  <a:txBody>
                    <a:bodyPr/>
                    <a:lstStyle/>
                    <a:p>
                      <a:pPr algn="l" fontAlgn="t"/>
                      <a:r>
                        <a:rPr lang="en-US" sz="1000" u="none" strike="noStrike" dirty="0">
                          <a:effectLst/>
                          <a:highlight>
                            <a:srgbClr val="FF0000"/>
                          </a:highlight>
                        </a:rPr>
                        <a:t>T1112: Modify Registry</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a:txBody>
                    <a:bodyPr/>
                    <a:lstStyle/>
                    <a:p>
                      <a:pPr algn="l" fontAlgn="t"/>
                      <a:r>
                        <a:rPr lang="en-US" sz="1000" u="none" strike="noStrike" dirty="0">
                          <a:effectLst/>
                        </a:rPr>
                        <a:t>T1137: Office Application Startup</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a:txBody>
                    <a:bodyPr/>
                    <a:lstStyle/>
                    <a:p>
                      <a:pPr algn="l" fontAlgn="t"/>
                      <a:r>
                        <a:rPr lang="en-US" sz="1000" u="none" strike="noStrike">
                          <a:effectLst/>
                        </a:rPr>
                        <a:t>T1653: Power Settings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rowSpan="5">
                  <a:txBody>
                    <a:bodyPr/>
                    <a:lstStyle/>
                    <a:p>
                      <a:pPr algn="l" fontAlgn="t"/>
                      <a:r>
                        <a:rPr lang="en-US" sz="1000" u="none" strike="noStrike">
                          <a:effectLst/>
                        </a:rPr>
                        <a:t>T1542: Pre-OS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T1542.003: </a:t>
                      </a:r>
                      <a:r>
                        <a:rPr lang="en-US" sz="1000" u="none" strike="noStrike" dirty="0" err="1">
                          <a:effectLst/>
                          <a:highlight>
                            <a:srgbClr val="FF0000"/>
                          </a:highlight>
                        </a:rPr>
                        <a:t>Bootkit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T1542.002: Component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T1542.004: ROMMONkit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T1542.001: System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T1542.005: TFTP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rowSpan="6">
                  <a:txBody>
                    <a:bodyPr/>
                    <a:lstStyle/>
                    <a:p>
                      <a:pPr algn="l" fontAlgn="t"/>
                      <a:r>
                        <a:rPr lang="en-US" sz="1000" u="none" strike="noStrike" dirty="0">
                          <a:effectLst/>
                        </a:rPr>
                        <a:t>T1505: Server Software Component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T1505.004: IIS Components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T1505.001: SQL Stored Procedures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T1505.005: Terminal Services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T1505.002: Transport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a:effectLst/>
                        </a:rPr>
                        <a:t>T1505.006: vSphere Installation Bundles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r>
              <a:tr h="155403">
                <a:tc vMerge="1">
                  <a:tcPr/>
                </a:tc>
                <a:tc>
                  <a:txBody>
                    <a:bodyPr/>
                    <a:lstStyle/>
                    <a:p>
                      <a:pPr algn="l" fontAlgn="t"/>
                      <a:r>
                        <a:rPr lang="en-US" sz="1000" u="none" strike="noStrike" dirty="0">
                          <a:effectLst/>
                          <a:highlight>
                            <a:srgbClr val="FF0000"/>
                          </a:highlight>
                        </a:rPr>
                        <a:t>T1505.003: Web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r>
              <a:tr h="155403">
                <a:tc>
                  <a:txBody>
                    <a:bodyPr/>
                    <a:lstStyle/>
                    <a:p>
                      <a:pPr algn="l" fontAlgn="t"/>
                      <a:r>
                        <a:rPr lang="en-US" sz="1000" u="none" strike="noStrike">
                          <a:effectLst/>
                        </a:rPr>
                        <a:t>T1176: Software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a:txBody>
                    <a:bodyPr/>
                    <a:lstStyle/>
                    <a:p>
                      <a:pPr algn="l" fontAlgn="t"/>
                      <a:r>
                        <a:rPr lang="en-US" sz="1000" u="none" strike="noStrike" dirty="0">
                          <a:effectLst/>
                        </a:rPr>
                        <a:t>T1205: Traffic Signaling</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r h="155403">
                <a:tc>
                  <a:txBody>
                    <a:bodyPr/>
                    <a:lstStyle/>
                    <a:p>
                      <a:pPr algn="l" fontAlgn="t"/>
                      <a:r>
                        <a:rPr lang="en-US" sz="1000" u="none" strike="noStrike" dirty="0">
                          <a:effectLst/>
                          <a:highlight>
                            <a:srgbClr val="FF0000"/>
                          </a:highlight>
                        </a:rPr>
                        <a:t>T1078: Valid Accounts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a:p>
        </p:txBody>
      </p:sp>
      <p:graphicFrame>
        <p:nvGraphicFramePr>
          <p:cNvPr id="4" name="コンテンツ プレースホルダー 3"/>
          <p:cNvGraphicFramePr>
            <a:graphicFrameLocks noGrp="1"/>
          </p:cNvGraphicFramePr>
          <p:nvPr>
            <p:ph idx="1"/>
          </p:nvPr>
        </p:nvGraphicFramePr>
        <p:xfrm>
          <a:off x="-2" y="-1"/>
          <a:ext cx="5776914" cy="9048068"/>
        </p:xfrm>
        <a:graphic>
          <a:graphicData uri="http://schemas.openxmlformats.org/drawingml/2006/table">
            <a:tbl>
              <a:tblPr>
                <a:tableStyleId>{5C22544A-7EE6-4342-B048-85BDC9FD1C3A}</a:tableStyleId>
              </a:tblPr>
              <a:tblGrid>
                <a:gridCol w="2888457"/>
                <a:gridCol w="2888457"/>
              </a:tblGrid>
              <a:tr h="152127">
                <a:tc gridSpan="2">
                  <a:txBody>
                    <a:bodyPr/>
                    <a:lstStyle/>
                    <a:p>
                      <a:pPr algn="ctr" fontAlgn="b"/>
                      <a:r>
                        <a:rPr lang="en-US" sz="800" u="none" strike="noStrike" dirty="0">
                          <a:effectLst/>
                        </a:rPr>
                        <a:t>TA0004: Privilege Escalation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23646">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lnT w="12700" cap="flat" cmpd="sng" algn="ctr">
                      <a:solidFill>
                        <a:srgbClr val="92D050"/>
                      </a:solidFill>
                      <a:prstDash val="sysDash"/>
                      <a:round/>
                      <a:headEnd type="none" w="med" len="med"/>
                      <a:tailEnd type="none" w="med" len="med"/>
                    </a:lnT>
                  </a:tcPr>
                </a:tc>
                <a:tc hMerge="1">
                  <a:tcPr/>
                </a:tc>
              </a:tr>
              <a:tr h="125701">
                <a:tc>
                  <a:txBody>
                    <a:bodyPr/>
                    <a:lstStyle/>
                    <a:p>
                      <a:pPr algn="l" fontAlgn="t"/>
                      <a:r>
                        <a:rPr lang="en-US" sz="800" u="none" strike="noStrike" dirty="0">
                          <a:effectLst/>
                          <a:highlight>
                            <a:srgbClr val="FF0000"/>
                          </a:highlight>
                        </a:rPr>
                        <a:t>T1134: Access Token Manipulation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tr>
              <a:tr h="125701">
                <a:tc rowSpan="7">
                  <a:txBody>
                    <a:bodyPr/>
                    <a:lstStyle/>
                    <a:p>
                      <a:pPr algn="l" fontAlgn="t"/>
                      <a:r>
                        <a:rPr lang="en-US" sz="800" u="none" strike="noStrike" dirty="0">
                          <a:effectLst/>
                        </a:rPr>
                        <a:t>T1098: Account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T1098.001: Additional Cloud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T1098.003: Additional Cloud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T1098.006: Additional Container Cluster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T1098.002: Additional Email Delegate Permissions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dirty="0">
                          <a:effectLst/>
                          <a:highlight>
                            <a:srgbClr val="FF0000"/>
                          </a:highlight>
                        </a:rPr>
                        <a:t>T1098.007: Additional Local or Domain Groups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T1098.005: Device Registration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T1098.004: SSH Authorized Keys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rowSpan="14">
                  <a:txBody>
                    <a:bodyPr/>
                    <a:lstStyle/>
                    <a:p>
                      <a:pPr algn="l" fontAlgn="t"/>
                      <a:r>
                        <a:rPr lang="en-US" sz="800" u="none" strike="noStrike" dirty="0">
                          <a:effectLst/>
                        </a:rPr>
                        <a:t>T1547: Boot or Logon </a:t>
                      </a:r>
                      <a:r>
                        <a:rPr lang="en-US" sz="800" u="none" strike="noStrike" dirty="0" err="1">
                          <a:effectLst/>
                        </a:rPr>
                        <a:t>Autostart</a:t>
                      </a:r>
                      <a:r>
                        <a:rPr lang="en-US" sz="800" u="none" strike="noStrike" dirty="0">
                          <a:effectLst/>
                        </a:rPr>
                        <a:t>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T1547.014: Active Setup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T1547.002: Authentication Package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T1547.006: Kernel Modules and Extensions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T1547.015: Login Items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T1547.008: LSASS Driver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T1547.010: Port Monitors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T1547.012: Print Processors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78742">
                <a:tc vMerge="1">
                  <a:tcPr/>
                </a:tc>
                <a:tc>
                  <a:txBody>
                    <a:bodyPr/>
                    <a:lstStyle/>
                    <a:p>
                      <a:pPr algn="l" fontAlgn="t"/>
                      <a:r>
                        <a:rPr lang="en-US" sz="800" u="none" strike="noStrike" dirty="0">
                          <a:effectLst/>
                        </a:rPr>
                        <a:t>T1547.007: Re-opened Applications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0">
                <a:tc vMerge="1">
                  <a:tcPr/>
                </a:tc>
                <a:tc>
                  <a:txBody>
                    <a:bodyPr/>
                    <a:lstStyle/>
                    <a:p>
                      <a:pPr algn="l" fontAlgn="t"/>
                      <a:r>
                        <a:rPr lang="en-US" sz="800" u="none" strike="noStrike" dirty="0">
                          <a:effectLst/>
                          <a:highlight>
                            <a:srgbClr val="FF0000"/>
                          </a:highlight>
                        </a:rPr>
                        <a:t>T1547.001: Registry Run Keys / Startup Folder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dirty="0">
                          <a:effectLst/>
                        </a:rPr>
                        <a:t>T1547.005: Security Support Provider</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T1547.009: Shortcut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T1547.003: Time Providers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T1547.004: Winlogon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T1547.013: XDG Autostart Entries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a:txBody>
                    <a:bodyPr/>
                    <a:lstStyle/>
                    <a:p>
                      <a:pPr algn="l" fontAlgn="t"/>
                      <a:r>
                        <a:rPr lang="en-US" sz="800" u="none" strike="noStrike">
                          <a:effectLst/>
                        </a:rPr>
                        <a:t>T1037: Boot or Logon Initialization Scripts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tr>
              <a:tr h="123646">
                <a:tc rowSpan="5">
                  <a:txBody>
                    <a:bodyPr/>
                    <a:lstStyle/>
                    <a:p>
                      <a:pPr algn="l" fontAlgn="t"/>
                      <a:r>
                        <a:rPr lang="en-US" sz="800" u="none" strike="noStrike">
                          <a:effectLst/>
                        </a:rPr>
                        <a:t>T1543: Create or Modify System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T1543.005: Container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T1543.001: Launch Agent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T1543.004: Launch Daemon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T1543.002: Systemd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dirty="0">
                          <a:effectLst/>
                          <a:highlight>
                            <a:srgbClr val="FF0000"/>
                          </a:highlight>
                        </a:rPr>
                        <a:t>T1543.003: Windows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r>
              <a:tr h="125701">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T1484.002: Trust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a:txBody>
                    <a:bodyPr/>
                    <a:lstStyle/>
                    <a:p>
                      <a:pPr algn="l" fontAlgn="t"/>
                      <a:r>
                        <a:rPr lang="en-US" sz="800" u="none" strike="noStrike">
                          <a:effectLst/>
                        </a:rPr>
                        <a:t>T1611: Escape to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tr>
              <a:tr h="125701">
                <a:tc rowSpan="18">
                  <a:txBody>
                    <a:bodyPr/>
                    <a:lstStyle/>
                    <a:p>
                      <a:pPr algn="l" fontAlgn="t"/>
                      <a:r>
                        <a:rPr lang="en-US" sz="800" u="none" strike="noStrike" dirty="0">
                          <a:effectLst/>
                        </a:rPr>
                        <a:t>T1546: Event Triggered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T1546.008: Accessibility Features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T1546.009: AppCert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T1546.010: AppInit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T1546.011: Application Shimming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fr-FR" sz="800" u="none" strike="noStrike">
                          <a:effectLst/>
                        </a:rPr>
                        <a:t>T1546.001: Change Default File Association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T1546.015: Component Object Model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T1546.014: Emond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fr-FR" sz="800" u="none" strike="noStrike">
                          <a:effectLst/>
                        </a:rPr>
                        <a:t>T1546.012: Image File Execution Options Injection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T1546.016: Installer Packages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T1546.006: LC_LOAD_DYLIB Addition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T1546.007: Netsh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T1546.013: PowerShell Profile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T1546.018: Python Startup Hooks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T1546.002: Screensaver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T1546.005: Trap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T1546.017: Udev Rules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fr-FR" sz="800" u="none" strike="noStrike">
                          <a:effectLst/>
                        </a:rPr>
                        <a:t>T1546.004: Unix Shell Configuration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245587">
                <a:tc vMerge="1">
                  <a:tcPr/>
                </a:tc>
                <a:tc>
                  <a:txBody>
                    <a:bodyPr/>
                    <a:lstStyle/>
                    <a:p>
                      <a:pPr algn="l" fontAlgn="t"/>
                      <a:r>
                        <a:rPr lang="en-US" sz="800" u="none" strike="noStrike">
                          <a:effectLst/>
                        </a:rPr>
                        <a:t>T1546.003: Windows Management Instrumentation Event Subscription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gridSpan="2">
                  <a:txBody>
                    <a:bodyPr/>
                    <a:lstStyle/>
                    <a:p>
                      <a:pPr algn="l" fontAlgn="t"/>
                      <a:r>
                        <a:rPr lang="fr-FR" sz="800" u="none" strike="noStrike">
                          <a:effectLst/>
                        </a:rPr>
                        <a:t>T1068: Exploitation for Privilege Escalation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hMerge="1">
                  <a:tcPr/>
                </a:tc>
              </a:tr>
              <a:tr h="123646">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tr>
              <a:tr h="123646">
                <a:tc rowSpan="5">
                  <a:txBody>
                    <a:bodyPr/>
                    <a:lstStyle/>
                    <a:p>
                      <a:pPr algn="l" fontAlgn="t"/>
                      <a:r>
                        <a:rPr lang="en-US" sz="800" u="none" strike="noStrike">
                          <a:effectLst/>
                        </a:rPr>
                        <a:t>T1053: Scheduled Task/Job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T1053.002: At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5701">
                <a:tc vMerge="1">
                  <a:tcPr/>
                </a:tc>
                <a:tc>
                  <a:txBody>
                    <a:bodyPr/>
                    <a:lstStyle/>
                    <a:p>
                      <a:pPr algn="l" fontAlgn="t"/>
                      <a:r>
                        <a:rPr lang="en-US" sz="800" u="none" strike="noStrike">
                          <a:effectLst/>
                        </a:rPr>
                        <a:t>T1053.007: Container Orchestration 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a:effectLst/>
                        </a:rPr>
                        <a:t>T1053.003: Cron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dirty="0">
                          <a:effectLst/>
                          <a:highlight>
                            <a:srgbClr val="FF0000"/>
                          </a:highlight>
                        </a:rPr>
                        <a:t>T1053.005: Scheduled Task</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r>
              <a:tr h="123646">
                <a:tc vMerge="1">
                  <a:tcPr/>
                </a:tc>
                <a:tc>
                  <a:txBody>
                    <a:bodyPr/>
                    <a:lstStyle/>
                    <a:p>
                      <a:pPr algn="l" fontAlgn="t"/>
                      <a:r>
                        <a:rPr lang="en-US" sz="800" u="none" strike="noStrike" dirty="0">
                          <a:effectLst/>
                        </a:rPr>
                        <a:t>T1053.006: </a:t>
                      </a:r>
                      <a:r>
                        <a:rPr lang="en-US" sz="800" u="none" strike="noStrike" dirty="0" err="1">
                          <a:effectLst/>
                        </a:rPr>
                        <a:t>Systemd</a:t>
                      </a:r>
                      <a:r>
                        <a:rPr lang="en-US" sz="800" u="none" strike="noStrike" dirty="0">
                          <a:effectLst/>
                        </a:rPr>
                        <a:t> Timers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r>
              <a:tr h="123646">
                <a:tc>
                  <a:txBody>
                    <a:bodyPr/>
                    <a:lstStyle/>
                    <a:p>
                      <a:pPr algn="l" fontAlgn="t"/>
                      <a:r>
                        <a:rPr lang="en-US" sz="800" u="none" strike="noStrike">
                          <a:effectLst/>
                        </a:rPr>
                        <a:t>T1078: Valid Accounts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tr>
            </a:tbl>
          </a:graphicData>
        </a:graphic>
      </p:graphicFrame>
      <p:graphicFrame>
        <p:nvGraphicFramePr>
          <p:cNvPr id="5" name="表 4"/>
          <p:cNvGraphicFramePr>
            <a:graphicFrameLocks noGrp="1"/>
          </p:cNvGraphicFramePr>
          <p:nvPr/>
        </p:nvGraphicFramePr>
        <p:xfrm>
          <a:off x="5776912" y="-1"/>
          <a:ext cx="6421373" cy="16344237"/>
        </p:xfrm>
        <a:graphic>
          <a:graphicData uri="http://schemas.openxmlformats.org/drawingml/2006/table">
            <a:tbl>
              <a:tblPr>
                <a:tableStyleId>{5C22544A-7EE6-4342-B048-85BDC9FD1C3A}</a:tableStyleId>
              </a:tblPr>
              <a:tblGrid>
                <a:gridCol w="3207544"/>
                <a:gridCol w="3213829"/>
              </a:tblGrid>
              <a:tr h="122412">
                <a:tc gridSpan="2">
                  <a:txBody>
                    <a:bodyPr/>
                    <a:lstStyle/>
                    <a:p>
                      <a:pPr algn="ctr" fontAlgn="b"/>
                      <a:r>
                        <a:rPr lang="en-US" sz="800" u="none" strike="noStrike" dirty="0">
                          <a:effectLst/>
                        </a:rPr>
                        <a:t>TA0005: Defense Evasion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22412">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lnT w="12700" cap="flat" cmpd="sng" algn="ctr">
                      <a:solidFill>
                        <a:srgbClr val="92D050"/>
                      </a:solidFill>
                      <a:prstDash val="sysDash"/>
                      <a:round/>
                      <a:headEnd type="none" w="med" len="med"/>
                      <a:tailEnd type="none" w="med" len="med"/>
                    </a:lnT>
                  </a:tcPr>
                </a:tc>
                <a:tc hMerge="1">
                  <a:tcPr/>
                </a:tc>
              </a:tr>
              <a:tr h="122412">
                <a:tc>
                  <a:txBody>
                    <a:bodyPr/>
                    <a:lstStyle/>
                    <a:p>
                      <a:pPr algn="l" fontAlgn="t"/>
                      <a:r>
                        <a:rPr lang="en-US" sz="800" u="none" strike="noStrike">
                          <a:effectLst/>
                          <a:highlight>
                            <a:srgbClr val="FF0000"/>
                          </a:highlight>
                        </a:rPr>
                        <a:t>T1134: Access Token Manipulation</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dirty="0">
                          <a:effectLst/>
                          <a:highlight>
                            <a:srgbClr val="FF0000"/>
                          </a:highlight>
                        </a:rPr>
                        <a:t>T1197: BITS Jobs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T1612: Build Image on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T1678: Delay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fr-FR" sz="800" u="none" strike="noStrike" dirty="0">
                          <a:effectLst/>
                          <a:highlight>
                            <a:srgbClr val="FF0000"/>
                          </a:highlight>
                        </a:rPr>
                        <a:t>T1140: Deobfuscate/Decode Files or Information</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T1610: Deploy Container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T1006: Direct Volume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rPr>
                        <a:t>T1484.002: Trust Modification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a:txBody>
                    <a:bodyPr/>
                    <a:lstStyle/>
                    <a:p>
                      <a:pPr algn="l" fontAlgn="t"/>
                      <a:r>
                        <a:rPr lang="en-US" sz="800" u="none" strike="noStrike">
                          <a:effectLst/>
                        </a:rPr>
                        <a:t>T1672: Email Spoofing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rowSpan="2">
                  <a:txBody>
                    <a:bodyPr/>
                    <a:lstStyle/>
                    <a:p>
                      <a:pPr algn="l" fontAlgn="t"/>
                      <a:r>
                        <a:rPr lang="en-US" sz="800" u="none" strike="noStrike">
                          <a:effectLst/>
                        </a:rPr>
                        <a:t>T1480: Execution Guardrails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T1480.001: Environmental Keying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T1480.002: Mutual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gridSpan="2">
                  <a:txBody>
                    <a:bodyPr/>
                    <a:lstStyle/>
                    <a:p>
                      <a:pPr algn="l" fontAlgn="t"/>
                      <a:r>
                        <a:rPr lang="fr-FR" sz="800" u="none" strike="noStrike">
                          <a:effectLst/>
                        </a:rPr>
                        <a:t>T1211: Exploitation for Defense Evasion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gridSpan="2">
                  <a:txBody>
                    <a:bodyPr/>
                    <a:lstStyle/>
                    <a:p>
                      <a:pPr algn="l" fontAlgn="t"/>
                      <a:r>
                        <a:rPr lang="en-US" sz="800" u="none" strike="noStrike">
                          <a:effectLst/>
                        </a:rPr>
                        <a:t>T1222: File and Directory Permissions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a:txBody>
                    <a:bodyPr/>
                    <a:lstStyle/>
                    <a:p>
                      <a:pPr algn="l" fontAlgn="t"/>
                      <a:r>
                        <a:rPr lang="en-US" sz="800" u="none" strike="noStrike">
                          <a:effectLst/>
                        </a:rPr>
                        <a:t>T1564: Hide Artifacts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rowSpan="12">
                  <a:txBody>
                    <a:bodyPr/>
                    <a:lstStyle/>
                    <a:p>
                      <a:pPr algn="l" fontAlgn="t"/>
                      <a:r>
                        <a:rPr lang="en-US" sz="800" u="none" strike="noStrike">
                          <a:effectLst/>
                        </a:rPr>
                        <a:t>T1562: Impair Defenses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T1562.007: Disable or Modify Cloud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T1562.008: Disable or Modify Cloud Logs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T1562.012: Disable or Modify Linux Audit 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T1562.013: Disable or Modify Network Device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T1562.004: Disable or Modify System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T1562.001: Disable or Modify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T1562.002: Disable Windows Event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T1562.010: Downgrade Attack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T1562.003: Impair Command History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T1562.006: Indicator Blocking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T1562.009: Safe Mode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T1562.011: Spoof Security Alerting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a:txBody>
                    <a:bodyPr/>
                    <a:lstStyle/>
                    <a:p>
                      <a:pPr algn="l" fontAlgn="t"/>
                      <a:r>
                        <a:rPr lang="en-US" sz="800" u="none" strike="noStrike" dirty="0">
                          <a:effectLst/>
                          <a:highlight>
                            <a:srgbClr val="FF0000"/>
                          </a:highlight>
                        </a:rPr>
                        <a:t>T1656: Impersonation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rowSpan="10">
                  <a:txBody>
                    <a:bodyPr/>
                    <a:lstStyle/>
                    <a:p>
                      <a:pPr algn="l" fontAlgn="t"/>
                      <a:r>
                        <a:rPr lang="en-US" sz="800" u="none" strike="noStrike">
                          <a:effectLst/>
                        </a:rPr>
                        <a:t>T1070: Indicator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T1070.003: Clear Command History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rPr>
                        <a:t>T1070.002: Clear Linux or Mac System Logs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T1070.008: Clear Mailbox Data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T1070.007: Clear Network Connection History and Configurations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T1070.009: Clear Persistence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T1070.001: Clear Windows Event Logs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T1070.004: File Deletion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T1070.005: Network Share Connection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T1070.010: Relocate Malware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T1070.006: Timestomp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gridSpan="2">
                  <a:txBody>
                    <a:bodyPr/>
                    <a:lstStyle/>
                    <a:p>
                      <a:pPr algn="l" fontAlgn="t"/>
                      <a:r>
                        <a:rPr lang="en-US" sz="800" u="none" strike="noStrike">
                          <a:effectLst/>
                        </a:rPr>
                        <a:t>T1202: Indirect Command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rowSpan="12">
                  <a:txBody>
                    <a:bodyPr/>
                    <a:lstStyle/>
                    <a:p>
                      <a:pPr algn="l" fontAlgn="t"/>
                      <a:r>
                        <a:rPr lang="en-US" sz="800" u="none" strike="noStrike">
                          <a:effectLst/>
                        </a:rPr>
                        <a:t>T1036: Masquerading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T1036.009: Break Process Trees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T1036.012: Browser Fingerprint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T1036.007: Double File Extension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T1036.001: Invalid Code Signature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T1036.010: Masquerade Account 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T1036.008: Masquerade File Type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fr-FR" sz="800" u="none" strike="noStrike">
                          <a:effectLst/>
                          <a:highlight>
                            <a:srgbClr val="FF0000"/>
                          </a:highlight>
                        </a:rPr>
                        <a:t>T1036.004: Masquerade Task or Service</a:t>
                      </a:r>
                      <a:endParaRPr lang="fr-FR"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T1036.005: Match Legitimate Resource Name or Location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T1036.011: Overwrite Process Arguments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T1036.003: Rename Legitimate Utilities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T1036.002: Right-to-Left Override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T1036.006: Space after Filename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gridSpan="2">
                  <a:txBody>
                    <a:bodyPr/>
                    <a:lstStyle/>
                    <a:p>
                      <a:pPr algn="l" fontAlgn="t"/>
                      <a:r>
                        <a:rPr lang="fr-FR" sz="800" u="none" strike="noStrike">
                          <a:effectLst/>
                        </a:rPr>
                        <a:t>T1578: Modify Cloud Compute Infrastructure</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gridSpan="2">
                  <a:txBody>
                    <a:bodyPr/>
                    <a:lstStyle/>
                    <a:p>
                      <a:pPr algn="l" fontAlgn="t"/>
                      <a:r>
                        <a:rPr lang="en-US" sz="800" u="none" strike="noStrike">
                          <a:effectLst/>
                        </a:rPr>
                        <a:t>T1666: Modify Cloud Resource Hierarchy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a:txBody>
                    <a:bodyPr/>
                    <a:lstStyle/>
                    <a:p>
                      <a:pPr algn="l" fontAlgn="t"/>
                      <a:r>
                        <a:rPr lang="en-US" sz="800" u="none" strike="noStrike" dirty="0">
                          <a:effectLst/>
                          <a:highlight>
                            <a:srgbClr val="FF0000"/>
                          </a:highlight>
                        </a:rPr>
                        <a:t>T1112: Modify Registry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T1601: Modify System Image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highlight>
                            <a:srgbClr val="FF0000"/>
                          </a:highlight>
                        </a:rPr>
                        <a:t>T1599: Network Boundary Bridging</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rowSpan="17">
                  <a:txBody>
                    <a:bodyPr/>
                    <a:lstStyle/>
                    <a:p>
                      <a:pPr algn="l" fontAlgn="t"/>
                      <a:r>
                        <a:rPr lang="en-US" sz="800" u="none" strike="noStrike" dirty="0">
                          <a:effectLst/>
                          <a:highlight>
                            <a:srgbClr val="FF0000"/>
                          </a:highlight>
                        </a:rPr>
                        <a:t>T1027: Obfuscated Files or Information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T1027.001: Binary Padding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T1027.010: Command Obfuscation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T1027.004: Compile After Delivery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T1027.015: Compression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T1027.007: Dynamic API Resolution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T1027.009: Embedded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T1027.013: Encrypted/Encoded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rPr>
                        <a:t>T1027.011: </a:t>
                      </a:r>
                      <a:r>
                        <a:rPr lang="en-US" sz="800" u="none" strike="noStrike" dirty="0" err="1">
                          <a:effectLst/>
                        </a:rPr>
                        <a:t>Fileless</a:t>
                      </a:r>
                      <a:r>
                        <a:rPr lang="en-US" sz="800" u="none" strike="noStrike" dirty="0">
                          <a:effectLst/>
                        </a:rPr>
                        <a:t> Storage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T1027.006: HTML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T1027.005: Indicator Removal from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T1027.016: Junk Code Insertion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T1027.012: LNK Icon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T1027.014: Polymorphic Code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T1027.002: Software Packing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T1027.003: Steganography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T1027.008: Stripped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T1027.017: SVG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a:txBody>
                    <a:bodyPr/>
                    <a:lstStyle/>
                    <a:p>
                      <a:pPr algn="l" fontAlgn="t"/>
                      <a:r>
                        <a:rPr lang="en-US" sz="800" u="none" strike="noStrike">
                          <a:effectLst/>
                        </a:rPr>
                        <a:t>T1647: Plist File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rowSpan="5">
                  <a:txBody>
                    <a:bodyPr/>
                    <a:lstStyle/>
                    <a:p>
                      <a:pPr algn="l" fontAlgn="t"/>
                      <a:r>
                        <a:rPr lang="en-US" sz="800" u="none" strike="noStrike">
                          <a:effectLst/>
                        </a:rPr>
                        <a:t>T1542: Pre-OS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T1542.003: </a:t>
                      </a:r>
                      <a:r>
                        <a:rPr lang="en-US" sz="800" u="none" strike="noStrike" dirty="0" err="1">
                          <a:effectLst/>
                          <a:highlight>
                            <a:srgbClr val="FF0000"/>
                          </a:highlight>
                        </a:rPr>
                        <a:t>Bootkit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T1542.002: Component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T1542.004: ROMMONkit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T1542.001: System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T1542.005: TFTP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T1620: Reflective Code Loading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T1207: Rogue Domain Controller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dirty="0">
                          <a:effectLst/>
                          <a:highlight>
                            <a:srgbClr val="FF0000"/>
                          </a:highlight>
                        </a:rPr>
                        <a:t>T1014: Rootkit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T1679: Selective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rowSpan="6">
                  <a:txBody>
                    <a:bodyPr/>
                    <a:lstStyle/>
                    <a:p>
                      <a:pPr algn="l" fontAlgn="t"/>
                      <a:r>
                        <a:rPr lang="en-US" sz="800" u="none" strike="noStrike">
                          <a:effectLst/>
                        </a:rPr>
                        <a:t>T1553: Subvert Trust Controls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T1553.002: Code Signing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fr-FR" sz="800" u="none" strike="noStrike">
                          <a:effectLst/>
                        </a:rPr>
                        <a:t>T1553.006: Code Signing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T1553.001: Gatekeeper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T1553.004: Install Root Certificate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T1553.005: Mark-of-the-Web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T1553.003: SIP and Trust Provider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rowSpan="14">
                  <a:txBody>
                    <a:bodyPr/>
                    <a:lstStyle/>
                    <a:p>
                      <a:pPr algn="l" fontAlgn="t"/>
                      <a:r>
                        <a:rPr lang="en-US" sz="800" u="none" strike="noStrike">
                          <a:effectLst/>
                        </a:rPr>
                        <a:t>T1218: System Binary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T1218.003: CMSTP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T1218.001: Compiled HTML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rPr>
                        <a:t>T1218.002: Control Panel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T1218.015: Electron Applications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T1218.004: InstallUtil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T1218.013: Mavinject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T1218.014: MMC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T1218.005: Mshta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T1218.007: Msiexec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T1218.008: Odbcconf</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T1218.009: Regsvcs/Regasm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T1218.010: Regsvr32</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T1218.011: Rundll32</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rPr>
                        <a:t>T1218.012: </a:t>
                      </a:r>
                      <a:r>
                        <a:rPr lang="en-US" sz="800" u="none" strike="noStrike" dirty="0" err="1">
                          <a:effectLst/>
                        </a:rPr>
                        <a:t>Verclsid</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gridSpan="2">
                  <a:txBody>
                    <a:bodyPr/>
                    <a:lstStyle/>
                    <a:p>
                      <a:pPr algn="l" fontAlgn="t"/>
                      <a:r>
                        <a:rPr lang="en-US" sz="800" u="none" strike="noStrike">
                          <a:effectLst/>
                        </a:rPr>
                        <a:t>T1216: System Script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a:txBody>
                    <a:bodyPr/>
                    <a:lstStyle/>
                    <a:p>
                      <a:pPr algn="l" fontAlgn="t"/>
                      <a:r>
                        <a:rPr lang="en-US" sz="800" u="none" strike="noStrike">
                          <a:effectLst/>
                        </a:rPr>
                        <a:t>T1221: Template Injection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T1205: Traffic Signaling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gridSpan="2">
                  <a:txBody>
                    <a:bodyPr/>
                    <a:lstStyle/>
                    <a:p>
                      <a:pPr algn="l" fontAlgn="t"/>
                      <a:r>
                        <a:rPr lang="en-US" sz="800" u="none" strike="noStrike">
                          <a:effectLst/>
                        </a:rPr>
                        <a:t>T1127: Trusted Developer Utilities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gridSpan="2">
                  <a:txBody>
                    <a:bodyPr/>
                    <a:lstStyle/>
                    <a:p>
                      <a:pPr algn="l" fontAlgn="t"/>
                      <a:r>
                        <a:rPr lang="en-US" sz="800" u="none" strike="noStrike">
                          <a:effectLst/>
                        </a:rPr>
                        <a:t>T1535: Unused/Unsupported Cloud Regions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rowSpan="4">
                  <a:txBody>
                    <a:bodyPr/>
                    <a:lstStyle/>
                    <a:p>
                      <a:pPr algn="l" fontAlgn="t"/>
                      <a:r>
                        <a:rPr lang="en-US" sz="800" u="none" strike="noStrike">
                          <a:effectLst/>
                        </a:rPr>
                        <a:t>T1550: Use Alternate Authentication Material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dirty="0">
                          <a:effectLst/>
                        </a:rPr>
                        <a:t>T1550.003: Pass the Ticket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vMerge="1">
                  <a:tcPr/>
                </a:tc>
                <a:tc>
                  <a:txBody>
                    <a:bodyPr/>
                    <a:lstStyle/>
                    <a:p>
                      <a:pPr algn="l" fontAlgn="t"/>
                      <a:r>
                        <a:rPr lang="en-US" sz="800" u="none" strike="noStrike">
                          <a:effectLst/>
                        </a:rPr>
                        <a:t>T1550.004: Web Session Cookie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r>
              <a:tr h="122412">
                <a:tc>
                  <a:txBody>
                    <a:bodyPr/>
                    <a:lstStyle/>
                    <a:p>
                      <a:pPr algn="l" fontAlgn="t"/>
                      <a:r>
                        <a:rPr lang="en-US" sz="800" u="none" strike="noStrike" dirty="0">
                          <a:effectLst/>
                          <a:highlight>
                            <a:srgbClr val="FF0000"/>
                          </a:highlight>
                        </a:rPr>
                        <a:t>T1078: Valid Accounts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gridSpan="2">
                  <a:txBody>
                    <a:bodyPr/>
                    <a:lstStyle/>
                    <a:p>
                      <a:pPr algn="l" fontAlgn="t"/>
                      <a:r>
                        <a:rPr lang="en-US" sz="800" u="none" strike="noStrike">
                          <a:effectLst/>
                        </a:rPr>
                        <a:t>T1497: Virtualization/Sandbox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cPr/>
                </a:tc>
              </a:tr>
              <a:tr h="122412">
                <a:tc>
                  <a:txBody>
                    <a:bodyPr/>
                    <a:lstStyle/>
                    <a:p>
                      <a:pPr algn="l" fontAlgn="t"/>
                      <a:r>
                        <a:rPr lang="en-US" sz="800" u="none" strike="noStrike">
                          <a:effectLst/>
                        </a:rPr>
                        <a:t>T1600: Weaken Encryption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r h="122412">
                <a:tc>
                  <a:txBody>
                    <a:bodyPr/>
                    <a:lstStyle/>
                    <a:p>
                      <a:pPr algn="l" fontAlgn="t"/>
                      <a:r>
                        <a:rPr lang="en-US" sz="800" u="none" strike="noStrike">
                          <a:effectLst/>
                        </a:rPr>
                        <a:t>T1220: XSL Script Processing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a:p>
        </p:txBody>
      </p:sp>
      <p:graphicFrame>
        <p:nvGraphicFramePr>
          <p:cNvPr id="4" name="コンテンツ プレースホルダー 3"/>
          <p:cNvGraphicFramePr>
            <a:graphicFrameLocks noGrp="1"/>
          </p:cNvGraphicFramePr>
          <p:nvPr>
            <p:ph idx="1"/>
          </p:nvPr>
        </p:nvGraphicFramePr>
        <p:xfrm>
          <a:off x="0" y="0"/>
          <a:ext cx="4176074" cy="6545184"/>
        </p:xfrm>
        <a:graphic>
          <a:graphicData uri="http://schemas.openxmlformats.org/drawingml/2006/table">
            <a:tbl>
              <a:tblPr>
                <a:tableStyleId>{5C22544A-7EE6-4342-B048-85BDC9FD1C3A}</a:tableStyleId>
              </a:tblPr>
              <a:tblGrid>
                <a:gridCol w="2088037"/>
                <a:gridCol w="2088037"/>
              </a:tblGrid>
              <a:tr h="188565">
                <a:tc gridSpan="2">
                  <a:txBody>
                    <a:bodyPr/>
                    <a:lstStyle/>
                    <a:p>
                      <a:pPr algn="ctr" fontAlgn="b"/>
                      <a:r>
                        <a:rPr lang="en-US" sz="800" u="none" strike="noStrike" dirty="0">
                          <a:effectLst/>
                        </a:rPr>
                        <a:t>TA0006: Credential Access</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88565">
                <a:tc>
                  <a:txBody>
                    <a:bodyPr/>
                    <a:lstStyle/>
                    <a:p>
                      <a:pPr algn="l" fontAlgn="t"/>
                      <a:r>
                        <a:rPr lang="en-US" sz="800" u="none" strike="noStrike">
                          <a:effectLst/>
                        </a:rPr>
                        <a:t>T1557: Adversary-in-the-Middle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T w="12700" cap="flat" cmpd="sng" algn="ctr">
                      <a:solidFill>
                        <a:srgbClr val="92D050"/>
                      </a:solidFill>
                      <a:prstDash val="sysDash"/>
                      <a:round/>
                      <a:headEnd type="none" w="med" len="med"/>
                      <a:tailEnd type="none" w="med" len="med"/>
                    </a:lnT>
                  </a:tcPr>
                </a:tc>
              </a:tr>
              <a:tr h="188565">
                <a:tc>
                  <a:txBody>
                    <a:bodyPr/>
                    <a:lstStyle/>
                    <a:p>
                      <a:pPr algn="l" fontAlgn="t"/>
                      <a:r>
                        <a:rPr lang="en-US" sz="800" u="none" strike="noStrike">
                          <a:effectLst/>
                          <a:highlight>
                            <a:srgbClr val="FF0000"/>
                          </a:highlight>
                        </a:rPr>
                        <a:t>T1110: Brute Force</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tr>
              <a:tr h="370247">
                <a:tc rowSpan="6">
                  <a:txBody>
                    <a:bodyPr/>
                    <a:lstStyle/>
                    <a:p>
                      <a:pPr algn="l" fontAlgn="t"/>
                      <a:r>
                        <a:rPr lang="en-US" sz="800" u="none" strike="noStrike" dirty="0">
                          <a:effectLst/>
                          <a:highlight>
                            <a:srgbClr val="FF0000"/>
                          </a:highlight>
                        </a:rPr>
                        <a:t>T1555: Credentials from Password Stores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T1555.006: Cloud Secrets Management Stores</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370247">
                <a:tc vMerge="1">
                  <a:tcPr/>
                </a:tc>
                <a:tc>
                  <a:txBody>
                    <a:bodyPr/>
                    <a:lstStyle/>
                    <a:p>
                      <a:pPr algn="l" fontAlgn="t"/>
                      <a:r>
                        <a:rPr lang="en-US" sz="800" u="none" strike="noStrike" dirty="0">
                          <a:effectLst/>
                          <a:highlight>
                            <a:srgbClr val="FF0000"/>
                          </a:highlight>
                        </a:rPr>
                        <a:t>T1555.003: Credentials from Web Browsers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a:effectLst/>
                        </a:rPr>
                        <a:t>T1555.001: Keychain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a:effectLst/>
                        </a:rPr>
                        <a:t>T1555.005: Password Managers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a:effectLst/>
                        </a:rPr>
                        <a:t>T1555.002: Securityd Memory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370247">
                <a:tc vMerge="1">
                  <a:tcPr/>
                </a:tc>
                <a:tc>
                  <a:txBody>
                    <a:bodyPr/>
                    <a:lstStyle/>
                    <a:p>
                      <a:pPr algn="l" fontAlgn="t"/>
                      <a:r>
                        <a:rPr lang="en-US" sz="800" u="none" strike="noStrike">
                          <a:effectLst/>
                        </a:rPr>
                        <a:t>T1555.004: Windows Credential 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188565">
                <a:tc gridSpan="2">
                  <a:txBody>
                    <a:bodyPr/>
                    <a:lstStyle/>
                    <a:p>
                      <a:pPr algn="l" fontAlgn="t"/>
                      <a:r>
                        <a:rPr lang="en-US" sz="800" u="none" strike="noStrike">
                          <a:effectLst/>
                        </a:rPr>
                        <a:t>T1212: Exploitation for Credential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cPr/>
                </a:tc>
              </a:tr>
              <a:tr h="188565">
                <a:tc>
                  <a:txBody>
                    <a:bodyPr/>
                    <a:lstStyle/>
                    <a:p>
                      <a:pPr algn="l" fontAlgn="t"/>
                      <a:r>
                        <a:rPr lang="en-US" sz="800" u="none" strike="noStrike">
                          <a:effectLst/>
                        </a:rPr>
                        <a:t>T1187: Forced Authentication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tr>
              <a:tr h="188565">
                <a:tc>
                  <a:txBody>
                    <a:bodyPr/>
                    <a:lstStyle/>
                    <a:p>
                      <a:pPr algn="l" fontAlgn="t"/>
                      <a:r>
                        <a:rPr lang="en-US" sz="800" u="none" strike="noStrike">
                          <a:effectLst/>
                        </a:rPr>
                        <a:t>T1606: Forge Web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tr>
              <a:tr h="363837">
                <a:tc rowSpan="4">
                  <a:txBody>
                    <a:bodyPr/>
                    <a:lstStyle/>
                    <a:p>
                      <a:pPr algn="l" fontAlgn="t"/>
                      <a:r>
                        <a:rPr lang="en-US" sz="800" u="none" strike="noStrike">
                          <a:effectLst/>
                        </a:rPr>
                        <a:t>T1056: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en-US" sz="800" u="none" strike="noStrike">
                          <a:effectLst/>
                        </a:rPr>
                        <a:t>T1056.004: Credential API Hooking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a:effectLst/>
                        </a:rPr>
                        <a:t>T1056.002: GUI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dirty="0">
                          <a:effectLst/>
                          <a:highlight>
                            <a:srgbClr val="FF0000"/>
                          </a:highlight>
                        </a:rPr>
                        <a:t>T1056.001: Keylogging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dirty="0">
                          <a:effectLst/>
                        </a:rPr>
                        <a:t>T1056.003: Web Portal Capture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188565">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cPr/>
                </a:tc>
              </a:tr>
              <a:tr h="188565">
                <a:tc gridSpan="2">
                  <a:txBody>
                    <a:bodyPr/>
                    <a:lstStyle/>
                    <a:p>
                      <a:pPr algn="l" fontAlgn="t"/>
                      <a:r>
                        <a:rPr lang="en-US" sz="800" u="none" strike="noStrike">
                          <a:effectLst/>
                        </a:rPr>
                        <a:t>T1111: Multi-Factor Authentication Interception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cPr/>
                </a:tc>
              </a:tr>
              <a:tr h="188565">
                <a:tc gridSpan="2">
                  <a:txBody>
                    <a:bodyPr/>
                    <a:lstStyle/>
                    <a:p>
                      <a:pPr algn="l" fontAlgn="t"/>
                      <a:r>
                        <a:rPr lang="en-US" sz="800" u="none" strike="noStrike">
                          <a:effectLst/>
                        </a:rPr>
                        <a:t>T1621: Multi-Factor Authentication Request Generation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cPr/>
                </a:tc>
              </a:tr>
              <a:tr h="188565">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tr>
              <a:tr h="370247">
                <a:tc rowSpan="8">
                  <a:txBody>
                    <a:bodyPr/>
                    <a:lstStyle/>
                    <a:p>
                      <a:pPr algn="l" fontAlgn="t"/>
                      <a:r>
                        <a:rPr lang="en-US" sz="800" u="none" strike="noStrike" dirty="0">
                          <a:effectLst/>
                        </a:rPr>
                        <a:t>T1003: OS Credential Dumping</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T1003.008: /etc/passwd and /etc/shadow</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370247">
                <a:tc vMerge="1">
                  <a:tcPr/>
                </a:tc>
                <a:tc>
                  <a:txBody>
                    <a:bodyPr/>
                    <a:lstStyle/>
                    <a:p>
                      <a:pPr algn="l" fontAlgn="t"/>
                      <a:r>
                        <a:rPr lang="en-US" sz="800" u="none" strike="noStrike">
                          <a:effectLst/>
                        </a:rPr>
                        <a:t>T1003.005: Cached Domain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a:effectLst/>
                        </a:rPr>
                        <a:t>T1003.006: DCSync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a:effectLst/>
                        </a:rPr>
                        <a:t>T1003.004: LSA Secrets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dirty="0">
                          <a:effectLst/>
                          <a:highlight>
                            <a:srgbClr val="FF0000"/>
                          </a:highlight>
                        </a:rPr>
                        <a:t>T1003.001: LSASS Memory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dirty="0">
                          <a:effectLst/>
                          <a:highlight>
                            <a:srgbClr val="FF0000"/>
                          </a:highlight>
                        </a:rPr>
                        <a:t>T1003.003: NTDS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r>
              <a:tr h="188565">
                <a:tc vMerge="1">
                  <a:tcPr/>
                </a:tc>
                <a:tc>
                  <a:txBody>
                    <a:bodyPr/>
                    <a:lstStyle/>
                    <a:p>
                      <a:pPr algn="l" fontAlgn="t"/>
                      <a:r>
                        <a:rPr lang="en-US" sz="800" u="none" strike="noStrike">
                          <a:effectLst/>
                        </a:rPr>
                        <a:t>T1003.007: Proc Filesystem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r>
              <a:tr h="370247">
                <a:tc vMerge="1">
                  <a:tcPr/>
                </a:tc>
                <a:tc>
                  <a:txBody>
                    <a:bodyPr/>
                    <a:lstStyle/>
                    <a:p>
                      <a:pPr algn="l" fontAlgn="t"/>
                      <a:r>
                        <a:rPr lang="en-US" sz="800" u="none" strike="noStrike" dirty="0">
                          <a:effectLst/>
                          <a:highlight>
                            <a:srgbClr val="FF0000"/>
                          </a:highlight>
                        </a:rPr>
                        <a:t>T1003.002: Security Account Manager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r>
            </a:tbl>
          </a:graphicData>
        </a:graphic>
      </p:graphicFrame>
      <p:graphicFrame>
        <p:nvGraphicFramePr>
          <p:cNvPr id="5" name="表 4"/>
          <p:cNvGraphicFramePr>
            <a:graphicFrameLocks noGrp="1"/>
          </p:cNvGraphicFramePr>
          <p:nvPr/>
        </p:nvGraphicFramePr>
        <p:xfrm>
          <a:off x="4185699" y="1"/>
          <a:ext cx="4176074" cy="6550509"/>
        </p:xfrm>
        <a:graphic>
          <a:graphicData uri="http://schemas.openxmlformats.org/drawingml/2006/table">
            <a:tbl>
              <a:tblPr>
                <a:tableStyleId>{5C22544A-7EE6-4342-B048-85BDC9FD1C3A}</a:tableStyleId>
              </a:tblPr>
              <a:tblGrid>
                <a:gridCol w="2088037"/>
                <a:gridCol w="2088037"/>
              </a:tblGrid>
              <a:tr h="141486">
                <a:tc gridSpan="2">
                  <a:txBody>
                    <a:bodyPr/>
                    <a:lstStyle/>
                    <a:p>
                      <a:pPr algn="ctr" fontAlgn="b"/>
                      <a:r>
                        <a:rPr lang="en-US" sz="800" u="none" strike="noStrike" dirty="0">
                          <a:effectLst/>
                        </a:rPr>
                        <a:t>TA0007: Discovery</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41486">
                <a:tc rowSpan="4">
                  <a:txBody>
                    <a:bodyPr/>
                    <a:lstStyle/>
                    <a:p>
                      <a:pPr algn="l" fontAlgn="t"/>
                      <a:r>
                        <a:rPr lang="en-US" sz="800" u="none" strike="noStrike" dirty="0">
                          <a:effectLst/>
                        </a:rPr>
                        <a:t>T1087: Account Discovery</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tc>
                  <a:txBody>
                    <a:bodyPr/>
                    <a:lstStyle/>
                    <a:p>
                      <a:pPr algn="l" fontAlgn="t"/>
                      <a:r>
                        <a:rPr lang="en-US" sz="800" u="none" strike="noStrike">
                          <a:effectLst/>
                        </a:rPr>
                        <a:t>T1087.004: Cloud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tr>
              <a:tr h="141486">
                <a:tc vMerge="1">
                  <a:tcPr/>
                </a:tc>
                <a:tc>
                  <a:txBody>
                    <a:bodyPr/>
                    <a:lstStyle/>
                    <a:p>
                      <a:pPr algn="l" fontAlgn="t"/>
                      <a:r>
                        <a:rPr lang="en-US" sz="800" u="none" strike="noStrike" dirty="0">
                          <a:effectLst/>
                          <a:highlight>
                            <a:srgbClr val="FF0000"/>
                          </a:highlight>
                        </a:rPr>
                        <a:t>T1087.002: Domain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r>
              <a:tr h="141486">
                <a:tc vMerge="1">
                  <a:tcPr/>
                </a:tc>
                <a:tc>
                  <a:txBody>
                    <a:bodyPr/>
                    <a:lstStyle/>
                    <a:p>
                      <a:pPr algn="l" fontAlgn="t"/>
                      <a:r>
                        <a:rPr lang="en-US" sz="800" u="none" strike="noStrike">
                          <a:effectLst/>
                        </a:rPr>
                        <a:t>T1087.003: Email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r>
              <a:tr h="141486">
                <a:tc vMerge="1">
                  <a:tcPr/>
                </a:tc>
                <a:tc>
                  <a:txBody>
                    <a:bodyPr/>
                    <a:lstStyle/>
                    <a:p>
                      <a:pPr algn="l" fontAlgn="t"/>
                      <a:r>
                        <a:rPr lang="en-US" sz="800" u="none" strike="noStrike" dirty="0">
                          <a:effectLst/>
                          <a:highlight>
                            <a:srgbClr val="FF0000"/>
                          </a:highlight>
                        </a:rPr>
                        <a:t>T1087.001: Local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r>
              <a:tr h="141486">
                <a:tc gridSpan="2">
                  <a:txBody>
                    <a:bodyPr/>
                    <a:lstStyle/>
                    <a:p>
                      <a:pPr algn="l" fontAlgn="t"/>
                      <a:r>
                        <a:rPr lang="en-US" sz="800" u="none" strike="noStrike">
                          <a:effectLst/>
                        </a:rPr>
                        <a:t>T1010: Application Window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cPr/>
                </a:tc>
              </a:tr>
              <a:tr h="141486">
                <a:tc gridSpan="2">
                  <a:txBody>
                    <a:bodyPr/>
                    <a:lstStyle/>
                    <a:p>
                      <a:pPr algn="l" fontAlgn="t"/>
                      <a:r>
                        <a:rPr lang="en-US" sz="800" u="none" strike="noStrike">
                          <a:effectLst/>
                        </a:rPr>
                        <a:t>T1217: Browser Information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cPr/>
                </a:tc>
              </a:tr>
              <a:tr h="141486">
                <a:tc gridSpan="2">
                  <a:txBody>
                    <a:bodyPr/>
                    <a:lstStyle/>
                    <a:p>
                      <a:pPr algn="l" fontAlgn="t"/>
                      <a:r>
                        <a:rPr lang="en-US" sz="800" u="none" strike="noStrike">
                          <a:effectLst/>
                        </a:rPr>
                        <a:t>T1580: Cloud Infrastructure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cPr/>
                </a:tc>
              </a:tr>
              <a:tr h="141486">
                <a:tc>
                  <a:txBody>
                    <a:bodyPr/>
                    <a:lstStyle/>
                    <a:p>
                      <a:pPr algn="l" fontAlgn="t"/>
                      <a:r>
                        <a:rPr lang="en-US" sz="800" u="none" strike="noStrike">
                          <a:effectLst/>
                        </a:rPr>
                        <a:t>T1538: Cloud Service Dashboard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T1526: Cloud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gridSpan="2">
                  <a:txBody>
                    <a:bodyPr/>
                    <a:lstStyle/>
                    <a:p>
                      <a:pPr algn="l" fontAlgn="t"/>
                      <a:r>
                        <a:rPr lang="en-US" sz="800" u="none" strike="noStrike">
                          <a:effectLst/>
                        </a:rPr>
                        <a:t>T1619: Cloud Storage Object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cPr/>
                </a:tc>
              </a:tr>
              <a:tr h="141486">
                <a:tc gridSpan="2">
                  <a:txBody>
                    <a:bodyPr/>
                    <a:lstStyle/>
                    <a:p>
                      <a:pPr algn="l" fontAlgn="t"/>
                      <a:r>
                        <a:rPr lang="en-US" sz="800" u="none" strike="noStrike">
                          <a:effectLst/>
                        </a:rPr>
                        <a:t>T1613: Container and Resource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cPr/>
                </a:tc>
              </a:tr>
              <a:tr h="141486">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T1652: Device Driver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T1482: Domain Trust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277807">
                <a:tc>
                  <a:txBody>
                    <a:bodyPr/>
                    <a:lstStyle/>
                    <a:p>
                      <a:pPr algn="l" fontAlgn="t"/>
                      <a:r>
                        <a:rPr lang="en-US" sz="800" u="none" strike="noStrike" dirty="0">
                          <a:effectLst/>
                          <a:highlight>
                            <a:srgbClr val="FF0000"/>
                          </a:highlight>
                        </a:rPr>
                        <a:t>T1083: File and Directory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T1615: Group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dirty="0">
                          <a:effectLst/>
                          <a:highlight>
                            <a:srgbClr val="FF0000"/>
                          </a:highlight>
                        </a:rPr>
                        <a:t>T1680: Local Storage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T1654: Log Enumeration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265504">
                <a:tc>
                  <a:txBody>
                    <a:bodyPr/>
                    <a:lstStyle/>
                    <a:p>
                      <a:pPr algn="l" fontAlgn="t"/>
                      <a:r>
                        <a:rPr lang="en-US" sz="800" u="none" strike="noStrike" dirty="0">
                          <a:effectLst/>
                          <a:highlight>
                            <a:srgbClr val="FF0000"/>
                          </a:highlight>
                        </a:rPr>
                        <a:t>T1046: Network Service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dirty="0">
                          <a:effectLst/>
                          <a:highlight>
                            <a:srgbClr val="FF0000"/>
                          </a:highlight>
                        </a:rPr>
                        <a:t>T1135: Network Share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265504">
                <a:tc>
                  <a:txBody>
                    <a:bodyPr/>
                    <a:lstStyle/>
                    <a:p>
                      <a:pPr algn="l" fontAlgn="t"/>
                      <a:r>
                        <a:rPr lang="en-US" sz="800" u="none" strike="noStrike">
                          <a:effectLst/>
                        </a:rPr>
                        <a:t>T1201: Password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gridSpan="2">
                  <a:txBody>
                    <a:bodyPr/>
                    <a:lstStyle/>
                    <a:p>
                      <a:pPr algn="l" fontAlgn="t"/>
                      <a:r>
                        <a:rPr lang="en-US" sz="800" u="none" strike="noStrike">
                          <a:effectLst/>
                        </a:rPr>
                        <a:t>T1120: Peripheral Device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cPr/>
                </a:tc>
              </a:tr>
              <a:tr h="277807">
                <a:tc>
                  <a:txBody>
                    <a:bodyPr/>
                    <a:lstStyle/>
                    <a:p>
                      <a:pPr algn="l" fontAlgn="t"/>
                      <a:r>
                        <a:rPr lang="en-US" sz="800" u="none" strike="noStrike" dirty="0">
                          <a:effectLst/>
                          <a:highlight>
                            <a:srgbClr val="FF0000"/>
                          </a:highlight>
                        </a:rPr>
                        <a:t>T1069: Permission Groups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T1057: Process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highlight>
                            <a:srgbClr val="FF0000"/>
                          </a:highlight>
                        </a:rPr>
                        <a:t>T1012: Query Registry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dirty="0">
                          <a:effectLst/>
                          <a:highlight>
                            <a:srgbClr val="FF0000"/>
                          </a:highlight>
                        </a:rPr>
                        <a:t>T1018: Remote System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T1518: Software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277807">
                <a:tc>
                  <a:txBody>
                    <a:bodyPr/>
                    <a:lstStyle/>
                    <a:p>
                      <a:pPr algn="l" fontAlgn="t"/>
                      <a:r>
                        <a:rPr lang="en-US" sz="800" u="none" strike="noStrike" dirty="0">
                          <a:effectLst/>
                          <a:highlight>
                            <a:srgbClr val="FF0000"/>
                          </a:highlight>
                        </a:rPr>
                        <a:t>T1082: System Information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265504">
                <a:tc>
                  <a:txBody>
                    <a:bodyPr/>
                    <a:lstStyle/>
                    <a:p>
                      <a:pPr algn="l" fontAlgn="t"/>
                      <a:r>
                        <a:rPr lang="en-US" sz="800" u="none" strike="noStrike">
                          <a:effectLst/>
                        </a:rPr>
                        <a:t>T1614: System Location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277807">
                <a:tc>
                  <a:txBody>
                    <a:bodyPr/>
                    <a:lstStyle/>
                    <a:p>
                      <a:pPr algn="l" fontAlgn="t"/>
                      <a:r>
                        <a:rPr lang="en-US" sz="800" u="none" strike="noStrike" dirty="0">
                          <a:effectLst/>
                          <a:highlight>
                            <a:srgbClr val="FF0000"/>
                          </a:highlight>
                        </a:rPr>
                        <a:t>T1016: System Network Configuration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277807">
                <a:tc>
                  <a:txBody>
                    <a:bodyPr/>
                    <a:lstStyle/>
                    <a:p>
                      <a:pPr algn="l" fontAlgn="t"/>
                      <a:r>
                        <a:rPr lang="en-US" sz="800" u="none" strike="noStrike">
                          <a:effectLst/>
                          <a:highlight>
                            <a:srgbClr val="FF0000"/>
                          </a:highlight>
                        </a:rPr>
                        <a:t>T1049: System Network Connections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277807">
                <a:tc>
                  <a:txBody>
                    <a:bodyPr/>
                    <a:lstStyle/>
                    <a:p>
                      <a:pPr algn="l" fontAlgn="t"/>
                      <a:r>
                        <a:rPr lang="en-US" sz="800" u="none" strike="noStrike" dirty="0">
                          <a:effectLst/>
                          <a:highlight>
                            <a:srgbClr val="FF0000"/>
                          </a:highlight>
                        </a:rPr>
                        <a:t>T1033: System Owner/User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20210">
                <a:tc>
                  <a:txBody>
                    <a:bodyPr/>
                    <a:lstStyle/>
                    <a:p>
                      <a:pPr algn="l" fontAlgn="t"/>
                      <a:r>
                        <a:rPr lang="en-US" sz="800" u="none" strike="noStrike">
                          <a:effectLst/>
                        </a:rPr>
                        <a:t>T1007: System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T1124: System Time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a:txBody>
                    <a:bodyPr/>
                    <a:lstStyle/>
                    <a:p>
                      <a:pPr algn="l" fontAlgn="t"/>
                      <a:r>
                        <a:rPr lang="en-US" sz="800" u="none" strike="noStrike">
                          <a:effectLst/>
                        </a:rPr>
                        <a:t>T1673: Virtual Machine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tr>
              <a:tr h="141486">
                <a:tc gridSpan="2">
                  <a:txBody>
                    <a:bodyPr/>
                    <a:lstStyle/>
                    <a:p>
                      <a:pPr algn="l" fontAlgn="t"/>
                      <a:r>
                        <a:rPr lang="en-US" sz="800" u="none" strike="noStrike" dirty="0">
                          <a:effectLst/>
                        </a:rPr>
                        <a:t>T1497: Virtualization/Sandbox Evasion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cPr/>
                </a:tc>
              </a:tr>
            </a:tbl>
          </a:graphicData>
        </a:graphic>
      </p:graphicFrame>
      <p:graphicFrame>
        <p:nvGraphicFramePr>
          <p:cNvPr id="6" name="表 5"/>
          <p:cNvGraphicFramePr>
            <a:graphicFrameLocks noGrp="1"/>
          </p:cNvGraphicFramePr>
          <p:nvPr/>
        </p:nvGraphicFramePr>
        <p:xfrm>
          <a:off x="8365556" y="0"/>
          <a:ext cx="3826444" cy="6545174"/>
        </p:xfrm>
        <a:graphic>
          <a:graphicData uri="http://schemas.openxmlformats.org/drawingml/2006/table">
            <a:tbl>
              <a:tblPr>
                <a:tableStyleId>{5C22544A-7EE6-4342-B048-85BDC9FD1C3A}</a:tableStyleId>
              </a:tblPr>
              <a:tblGrid>
                <a:gridCol w="1913222"/>
                <a:gridCol w="1913222"/>
              </a:tblGrid>
              <a:tr h="253876">
                <a:tc gridSpan="2">
                  <a:txBody>
                    <a:bodyPr/>
                    <a:lstStyle/>
                    <a:p>
                      <a:pPr algn="ctr" fontAlgn="b"/>
                      <a:r>
                        <a:rPr lang="en-US" sz="800" u="none" strike="noStrike" dirty="0">
                          <a:effectLst/>
                        </a:rPr>
                        <a:t>TA0008: Lateral Movement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253876">
                <a:tc gridSpan="2">
                  <a:txBody>
                    <a:bodyPr/>
                    <a:lstStyle/>
                    <a:p>
                      <a:pPr algn="l" fontAlgn="t"/>
                      <a:r>
                        <a:rPr lang="en-US" sz="800" u="none" strike="noStrike">
                          <a:effectLst/>
                        </a:rPr>
                        <a:t>T1210: Exploitation of Remote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lnT w="12700" cap="flat" cmpd="sng" algn="ctr">
                      <a:solidFill>
                        <a:srgbClr val="92D050"/>
                      </a:solidFill>
                      <a:prstDash val="sysDash"/>
                      <a:round/>
                      <a:headEnd type="none" w="med" len="med"/>
                      <a:tailEnd type="none" w="med" len="med"/>
                    </a:lnT>
                  </a:tcPr>
                </a:tc>
                <a:tc hMerge="1">
                  <a:tcPr/>
                </a:tc>
              </a:tr>
              <a:tr h="253876">
                <a:tc>
                  <a:txBody>
                    <a:bodyPr/>
                    <a:lstStyle/>
                    <a:p>
                      <a:pPr algn="l" fontAlgn="t"/>
                      <a:r>
                        <a:rPr lang="en-US" sz="800" u="none" strike="noStrike">
                          <a:effectLst/>
                        </a:rPr>
                        <a:t>T1534: Internal Spearphishing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tr>
              <a:tr h="253876">
                <a:tc>
                  <a:txBody>
                    <a:bodyPr/>
                    <a:lstStyle/>
                    <a:p>
                      <a:pPr algn="l" fontAlgn="t"/>
                      <a:r>
                        <a:rPr lang="en-US" sz="800" u="none" strike="noStrike" dirty="0">
                          <a:effectLst/>
                          <a:highlight>
                            <a:srgbClr val="FF0000"/>
                          </a:highlight>
                        </a:rPr>
                        <a:t>T1570: Lateral Tool Transfer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tr>
              <a:tr h="253876">
                <a:tc gridSpan="2">
                  <a:txBody>
                    <a:bodyPr/>
                    <a:lstStyle/>
                    <a:p>
                      <a:pPr algn="l" fontAlgn="t"/>
                      <a:r>
                        <a:rPr lang="en-US" sz="800" u="none" strike="noStrike">
                          <a:effectLst/>
                        </a:rPr>
                        <a:t>T1563: Remote Service Session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cPr/>
                </a:tc>
              </a:tr>
              <a:tr h="253876">
                <a:tc rowSpan="8">
                  <a:txBody>
                    <a:bodyPr/>
                    <a:lstStyle/>
                    <a:p>
                      <a:pPr algn="l" fontAlgn="t"/>
                      <a:r>
                        <a:rPr lang="en-US" sz="800" u="none" strike="noStrike" dirty="0">
                          <a:effectLst/>
                        </a:rPr>
                        <a:t>T1021: Remote Services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T1021.007: Cloud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r>
              <a:tr h="498485">
                <a:tc vMerge="1">
                  <a:tcPr/>
                </a:tc>
                <a:tc>
                  <a:txBody>
                    <a:bodyPr/>
                    <a:lstStyle/>
                    <a:p>
                      <a:pPr algn="l" fontAlgn="t"/>
                      <a:r>
                        <a:rPr lang="en-US" sz="800" u="none" strike="noStrike">
                          <a:effectLst/>
                        </a:rPr>
                        <a:t>T1021.008: Direct Cloud VM Connections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r>
              <a:tr h="498485">
                <a:tc vMerge="1">
                  <a:tcPr/>
                </a:tc>
                <a:tc>
                  <a:txBody>
                    <a:bodyPr/>
                    <a:lstStyle/>
                    <a:p>
                      <a:pPr algn="l" fontAlgn="t"/>
                      <a:r>
                        <a:rPr lang="en-US" sz="800" u="none" strike="noStrike">
                          <a:effectLst/>
                        </a:rPr>
                        <a:t>T1021.003: Distributed Component Object Model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r>
              <a:tr h="498485">
                <a:tc vMerge="1">
                  <a:tcPr/>
                </a:tc>
                <a:tc>
                  <a:txBody>
                    <a:bodyPr/>
                    <a:lstStyle/>
                    <a:p>
                      <a:pPr algn="l" fontAlgn="t"/>
                      <a:r>
                        <a:rPr lang="en-US" sz="800" u="none" strike="noStrike" dirty="0">
                          <a:effectLst/>
                          <a:highlight>
                            <a:srgbClr val="FF0000"/>
                          </a:highlight>
                        </a:rPr>
                        <a:t>T1021.001: Remote Desktop Protocol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tr>
              <a:tr h="498485">
                <a:tc vMerge="1">
                  <a:tcPr/>
                </a:tc>
                <a:tc>
                  <a:txBody>
                    <a:bodyPr/>
                    <a:lstStyle/>
                    <a:p>
                      <a:pPr algn="l" fontAlgn="t"/>
                      <a:r>
                        <a:rPr lang="en-US" sz="800" u="none" strike="noStrike" dirty="0">
                          <a:effectLst/>
                          <a:highlight>
                            <a:srgbClr val="FF0000"/>
                          </a:highlight>
                        </a:rPr>
                        <a:t>T1021.002: SMB/Windows Admin Shares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tr>
              <a:tr h="253876">
                <a:tc vMerge="1">
                  <a:tcPr/>
                </a:tc>
                <a:tc>
                  <a:txBody>
                    <a:bodyPr/>
                    <a:lstStyle/>
                    <a:p>
                      <a:pPr algn="l" fontAlgn="t"/>
                      <a:r>
                        <a:rPr lang="en-US" sz="800" u="none" strike="noStrike">
                          <a:effectLst/>
                        </a:rPr>
                        <a:t>T1021.004: SSH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r>
              <a:tr h="253876">
                <a:tc vMerge="1">
                  <a:tcPr/>
                </a:tc>
                <a:tc>
                  <a:txBody>
                    <a:bodyPr/>
                    <a:lstStyle/>
                    <a:p>
                      <a:pPr algn="l" fontAlgn="t"/>
                      <a:r>
                        <a:rPr lang="en-US" sz="800" u="none" strike="noStrike">
                          <a:effectLst/>
                        </a:rPr>
                        <a:t>T1021.005: VNC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r>
              <a:tr h="498485">
                <a:tc vMerge="1">
                  <a:tcPr/>
                </a:tc>
                <a:tc>
                  <a:txBody>
                    <a:bodyPr/>
                    <a:lstStyle/>
                    <a:p>
                      <a:pPr algn="l" fontAlgn="t"/>
                      <a:r>
                        <a:rPr lang="en-US" sz="800" u="none" strike="noStrike">
                          <a:effectLst/>
                        </a:rPr>
                        <a:t>T1021.006: Windows Remote Management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r>
              <a:tr h="253876">
                <a:tc gridSpan="2">
                  <a:txBody>
                    <a:bodyPr/>
                    <a:lstStyle/>
                    <a:p>
                      <a:pPr algn="l" fontAlgn="t"/>
                      <a:r>
                        <a:rPr lang="en-US" sz="800" u="none" strike="noStrike">
                          <a:effectLst/>
                        </a:rPr>
                        <a:t>T1091: Replication Through Removable Media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cPr/>
                </a:tc>
              </a:tr>
              <a:tr h="253876">
                <a:tc>
                  <a:txBody>
                    <a:bodyPr/>
                    <a:lstStyle/>
                    <a:p>
                      <a:pPr algn="l" fontAlgn="t"/>
                      <a:r>
                        <a:rPr lang="en-US" sz="800" u="none" strike="noStrike">
                          <a:effectLst/>
                        </a:rPr>
                        <a:t>T1072: Software Deployment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tr>
              <a:tr h="253876">
                <a:tc>
                  <a:txBody>
                    <a:bodyPr/>
                    <a:lstStyle/>
                    <a:p>
                      <a:pPr algn="l" fontAlgn="t"/>
                      <a:r>
                        <a:rPr lang="en-US" sz="800" u="none" strike="noStrike">
                          <a:effectLst/>
                        </a:rPr>
                        <a:t>T1080: Taint Shared Content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tr>
              <a:tr h="498485">
                <a:tc rowSpan="4">
                  <a:txBody>
                    <a:bodyPr/>
                    <a:lstStyle/>
                    <a:p>
                      <a:pPr algn="l" fontAlgn="t"/>
                      <a:r>
                        <a:rPr lang="en-US" sz="800" u="none" strike="noStrike" dirty="0">
                          <a:effectLst/>
                        </a:rPr>
                        <a:t>T1550: Use Alternate Authentication Material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r>
              <a:tr h="253876">
                <a:tc vMerge="1">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tr>
              <a:tr h="253876">
                <a:tc vMerge="1">
                  <a:tcPr/>
                </a:tc>
                <a:tc>
                  <a:txBody>
                    <a:bodyPr/>
                    <a:lstStyle/>
                    <a:p>
                      <a:pPr algn="l" fontAlgn="t"/>
                      <a:r>
                        <a:rPr lang="en-US" sz="800" u="none" strike="noStrike">
                          <a:effectLst/>
                        </a:rPr>
                        <a:t>T1550.003: Pass the Ticket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r>
              <a:tr h="253876">
                <a:tc vMerge="1">
                  <a:tcPr/>
                </a:tc>
                <a:tc>
                  <a:txBody>
                    <a:bodyPr/>
                    <a:lstStyle/>
                    <a:p>
                      <a:pPr algn="l" fontAlgn="t"/>
                      <a:r>
                        <a:rPr lang="en-US" sz="800" u="none" strike="noStrike" dirty="0">
                          <a:effectLst/>
                        </a:rPr>
                        <a:t>T1550.004: Web Session Cookie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a:p>
        </p:txBody>
      </p:sp>
      <p:graphicFrame>
        <p:nvGraphicFramePr>
          <p:cNvPr id="4" name="コンテンツ プレースホルダー 3"/>
          <p:cNvGraphicFramePr>
            <a:graphicFrameLocks noGrp="1"/>
          </p:cNvGraphicFramePr>
          <p:nvPr>
            <p:ph idx="1"/>
          </p:nvPr>
        </p:nvGraphicFramePr>
        <p:xfrm>
          <a:off x="-2" y="0"/>
          <a:ext cx="3823374" cy="6565870"/>
        </p:xfrm>
        <a:graphic>
          <a:graphicData uri="http://schemas.openxmlformats.org/drawingml/2006/table">
            <a:tbl>
              <a:tblPr>
                <a:tableStyleId>{5C22544A-7EE6-4342-B048-85BDC9FD1C3A}</a:tableStyleId>
              </a:tblPr>
              <a:tblGrid>
                <a:gridCol w="1911687"/>
                <a:gridCol w="1911687"/>
              </a:tblGrid>
              <a:tr h="184367">
                <a:tc gridSpan="2">
                  <a:txBody>
                    <a:bodyPr/>
                    <a:lstStyle/>
                    <a:p>
                      <a:pPr algn="ctr" fontAlgn="b"/>
                      <a:r>
                        <a:rPr lang="en-US" sz="900" u="none" strike="noStrike" dirty="0">
                          <a:effectLst/>
                        </a:rPr>
                        <a:t>TA0009: Collection</a:t>
                      </a:r>
                      <a:endParaRPr lang="en-US" sz="9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84367">
                <a:tc>
                  <a:txBody>
                    <a:bodyPr/>
                    <a:lstStyle/>
                    <a:p>
                      <a:pPr algn="l" fontAlgn="t"/>
                      <a:r>
                        <a:rPr lang="en-US" sz="900" u="none" strike="noStrike">
                          <a:effectLst/>
                        </a:rPr>
                        <a:t>T1557: Adversary-in-the-Middle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lnT w="12700" cap="flat" cmpd="sng" algn="ctr">
                      <a:solidFill>
                        <a:srgbClr val="92D050"/>
                      </a:solidFill>
                      <a:prstDash val="sysDash"/>
                      <a:round/>
                      <a:headEnd type="none" w="med" len="med"/>
                      <a:tailEnd type="none" w="med" len="med"/>
                    </a:lnT>
                  </a:tcPr>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T w="12700" cap="flat" cmpd="sng" algn="ctr">
                      <a:solidFill>
                        <a:srgbClr val="92D050"/>
                      </a:solidFill>
                      <a:prstDash val="sysDash"/>
                      <a:round/>
                      <a:headEnd type="none" w="med" len="med"/>
                      <a:tailEnd type="none" w="med" len="med"/>
                    </a:lnT>
                  </a:tcPr>
                </a:tc>
              </a:tr>
              <a:tr h="362080">
                <a:tc rowSpan="3">
                  <a:txBody>
                    <a:bodyPr/>
                    <a:lstStyle/>
                    <a:p>
                      <a:pPr algn="l" fontAlgn="t"/>
                      <a:r>
                        <a:rPr lang="en-US" sz="900" u="none" strike="noStrike">
                          <a:effectLst/>
                        </a:rPr>
                        <a:t>T1560: Archive Collected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T1560.003: Archive via Custom Method</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r>
              <a:tr h="184367">
                <a:tc vMerge="1">
                  <a:tcPr/>
                </a:tc>
                <a:tc>
                  <a:txBody>
                    <a:bodyPr/>
                    <a:lstStyle/>
                    <a:p>
                      <a:pPr algn="l" fontAlgn="t"/>
                      <a:r>
                        <a:rPr lang="en-US" sz="900" u="none" strike="noStrike">
                          <a:effectLst/>
                        </a:rPr>
                        <a:t>T1560.002: Archive via Library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r>
              <a:tr h="184367">
                <a:tc vMerge="1">
                  <a:tcPr/>
                </a:tc>
                <a:tc>
                  <a:txBody>
                    <a:bodyPr/>
                    <a:lstStyle/>
                    <a:p>
                      <a:pPr algn="l" fontAlgn="t"/>
                      <a:r>
                        <a:rPr lang="en-US" sz="900" u="none" strike="noStrike" dirty="0">
                          <a:effectLst/>
                          <a:highlight>
                            <a:srgbClr val="FF0000"/>
                          </a:highlight>
                        </a:rPr>
                        <a:t>T1560.001: Archive via Utility</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r>
              <a:tr h="184367">
                <a:tc>
                  <a:txBody>
                    <a:bodyPr/>
                    <a:lstStyle/>
                    <a:p>
                      <a:pPr algn="l" fontAlgn="t"/>
                      <a:r>
                        <a:rPr lang="en-US" sz="900" u="none" strike="noStrike">
                          <a:effectLst/>
                        </a:rPr>
                        <a:t>T1123: Audio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tr>
              <a:tr h="184367">
                <a:tc>
                  <a:txBody>
                    <a:bodyPr/>
                    <a:lstStyle/>
                    <a:p>
                      <a:pPr algn="l" fontAlgn="t"/>
                      <a:r>
                        <a:rPr lang="en-US" sz="900" u="none" strike="noStrike" dirty="0">
                          <a:effectLst/>
                          <a:highlight>
                            <a:srgbClr val="FF0000"/>
                          </a:highlight>
                        </a:rPr>
                        <a:t>T1119: Automated Collection</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tr>
              <a:tr h="362080">
                <a:tc>
                  <a:txBody>
                    <a:bodyPr/>
                    <a:lstStyle/>
                    <a:p>
                      <a:pPr algn="l" fontAlgn="t"/>
                      <a:r>
                        <a:rPr lang="en-US" sz="900" u="none" strike="noStrike">
                          <a:effectLst/>
                        </a:rPr>
                        <a:t>T1185: Browser Session Hijacking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tr>
              <a:tr h="184367">
                <a:tc>
                  <a:txBody>
                    <a:bodyPr/>
                    <a:lstStyle/>
                    <a:p>
                      <a:pPr algn="l" fontAlgn="t"/>
                      <a:r>
                        <a:rPr lang="en-US" sz="900" u="none" strike="noStrike">
                          <a:effectLst/>
                        </a:rPr>
                        <a:t>T1115: Clipboard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tr>
              <a:tr h="184367">
                <a:tc>
                  <a:txBody>
                    <a:bodyPr/>
                    <a:lstStyle/>
                    <a:p>
                      <a:pPr algn="l" fontAlgn="t"/>
                      <a:r>
                        <a:rPr lang="en-US" sz="900" u="none" strike="noStrike">
                          <a:effectLst/>
                        </a:rPr>
                        <a:t>T1530: Data from Cloud Storage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tr>
              <a:tr h="184367">
                <a:tc gridSpan="2">
                  <a:txBody>
                    <a:bodyPr/>
                    <a:lstStyle/>
                    <a:p>
                      <a:pPr algn="l" fontAlgn="t"/>
                      <a:r>
                        <a:rPr lang="en-US" sz="900" u="none" strike="noStrike">
                          <a:effectLst/>
                        </a:rPr>
                        <a:t>T1602: Data from Configuration Repository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cPr/>
                </a:tc>
              </a:tr>
              <a:tr h="184367">
                <a:tc rowSpan="6">
                  <a:txBody>
                    <a:bodyPr/>
                    <a:lstStyle/>
                    <a:p>
                      <a:pPr algn="l" fontAlgn="t"/>
                      <a:r>
                        <a:rPr lang="en-US" sz="900" u="none" strike="noStrike" dirty="0">
                          <a:effectLst/>
                        </a:rPr>
                        <a:t>T1213: Data from Information Repositories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T1213.003: Code Repositories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r>
              <a:tr h="184367">
                <a:tc vMerge="1">
                  <a:tcPr/>
                </a:tc>
                <a:tc>
                  <a:txBody>
                    <a:bodyPr/>
                    <a:lstStyle/>
                    <a:p>
                      <a:pPr algn="l" fontAlgn="t"/>
                      <a:r>
                        <a:rPr lang="en-US" sz="900" u="none" strike="noStrike">
                          <a:effectLst/>
                        </a:rPr>
                        <a:t>T1213.001: Confluence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r>
              <a:tr h="539794">
                <a:tc vMerge="1">
                  <a:tcPr/>
                </a:tc>
                <a:tc>
                  <a:txBody>
                    <a:bodyPr/>
                    <a:lstStyle/>
                    <a:p>
                      <a:pPr algn="l" fontAlgn="t"/>
                      <a:r>
                        <a:rPr lang="en-US" sz="900" u="none" strike="noStrike">
                          <a:effectLst/>
                        </a:rPr>
                        <a:t>T1213.004: Customer Relationship Management Software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r>
              <a:tr h="159602">
                <a:tc vMerge="1">
                  <a:tcPr/>
                </a:tc>
                <a:tc>
                  <a:txBody>
                    <a:bodyPr/>
                    <a:lstStyle/>
                    <a:p>
                      <a:pPr algn="l" fontAlgn="t"/>
                      <a:r>
                        <a:rPr lang="en-US" sz="900" u="none" strike="noStrike" dirty="0">
                          <a:effectLst/>
                          <a:highlight>
                            <a:srgbClr val="FF0000"/>
                          </a:highlight>
                        </a:rPr>
                        <a:t>T1213.006: Databases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r>
              <a:tr h="362080">
                <a:tc vMerge="1">
                  <a:tcPr/>
                </a:tc>
                <a:tc>
                  <a:txBody>
                    <a:bodyPr/>
                    <a:lstStyle/>
                    <a:p>
                      <a:pPr algn="l" fontAlgn="t"/>
                      <a:r>
                        <a:rPr lang="en-US" sz="900" u="none" strike="noStrike" dirty="0">
                          <a:effectLst/>
                        </a:rPr>
                        <a:t>T1213.005: Messaging Applications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r>
              <a:tr h="184367">
                <a:tc vMerge="1">
                  <a:tcPr/>
                </a:tc>
                <a:tc>
                  <a:txBody>
                    <a:bodyPr/>
                    <a:lstStyle/>
                    <a:p>
                      <a:pPr algn="l" fontAlgn="t"/>
                      <a:r>
                        <a:rPr lang="en-US" sz="900" u="none" strike="noStrike">
                          <a:effectLst/>
                        </a:rPr>
                        <a:t>T1213.002: Sharepoint</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r>
              <a:tr h="184367">
                <a:tc>
                  <a:txBody>
                    <a:bodyPr/>
                    <a:lstStyle/>
                    <a:p>
                      <a:pPr algn="l" fontAlgn="t"/>
                      <a:r>
                        <a:rPr lang="en-US" sz="900" u="none" strike="noStrike" dirty="0">
                          <a:effectLst/>
                          <a:highlight>
                            <a:srgbClr val="FF0000"/>
                          </a:highlight>
                        </a:rPr>
                        <a:t>T1005: Data from Local System</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tr>
              <a:tr h="184367">
                <a:tc gridSpan="2">
                  <a:txBody>
                    <a:bodyPr/>
                    <a:lstStyle/>
                    <a:p>
                      <a:pPr algn="l" fontAlgn="t"/>
                      <a:r>
                        <a:rPr lang="en-US" sz="900" u="none" strike="noStrike">
                          <a:effectLst/>
                        </a:rPr>
                        <a:t>T1039: Data from Network Shared Drive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cPr/>
                </a:tc>
              </a:tr>
              <a:tr h="184367">
                <a:tc gridSpan="2">
                  <a:txBody>
                    <a:bodyPr/>
                    <a:lstStyle/>
                    <a:p>
                      <a:pPr algn="l" fontAlgn="t"/>
                      <a:r>
                        <a:rPr lang="en-US" sz="900" u="none" strike="noStrike">
                          <a:effectLst/>
                        </a:rPr>
                        <a:t>T1025: Data from Removable Media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cPr/>
                </a:tc>
              </a:tr>
              <a:tr h="184367">
                <a:tc rowSpan="2">
                  <a:txBody>
                    <a:bodyPr/>
                    <a:lstStyle/>
                    <a:p>
                      <a:pPr algn="l" fontAlgn="t"/>
                      <a:r>
                        <a:rPr lang="en-US" sz="900" u="none" strike="noStrike">
                          <a:effectLst/>
                        </a:rPr>
                        <a:t>T1074: Data Staged</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T1074.001: Local Data Staging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r>
              <a:tr h="362080">
                <a:tc vMerge="1">
                  <a:tcPr/>
                </a:tc>
                <a:tc>
                  <a:txBody>
                    <a:bodyPr/>
                    <a:lstStyle/>
                    <a:p>
                      <a:pPr algn="l" fontAlgn="t"/>
                      <a:r>
                        <a:rPr lang="en-US" sz="900" u="none" strike="noStrike">
                          <a:effectLst/>
                        </a:rPr>
                        <a:t>T1074.002: Remote Data Staging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r>
              <a:tr h="184367">
                <a:tc>
                  <a:txBody>
                    <a:bodyPr/>
                    <a:lstStyle/>
                    <a:p>
                      <a:pPr algn="l" fontAlgn="t"/>
                      <a:r>
                        <a:rPr lang="en-US" sz="900" u="none" strike="noStrike">
                          <a:effectLst/>
                        </a:rPr>
                        <a:t>T1114: Email Collection</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tr>
              <a:tr h="362080">
                <a:tc rowSpan="4">
                  <a:txBody>
                    <a:bodyPr/>
                    <a:lstStyle/>
                    <a:p>
                      <a:pPr algn="l" fontAlgn="t"/>
                      <a:r>
                        <a:rPr lang="en-US" sz="900" u="none" strike="noStrike" dirty="0">
                          <a:effectLst/>
                        </a:rPr>
                        <a:t>T1056: Input Capture</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a:effectLst/>
                        </a:rPr>
                        <a:t>T1056.004: Credential API Hooking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r>
              <a:tr h="184367">
                <a:tc vMerge="1">
                  <a:tcPr/>
                </a:tc>
                <a:tc>
                  <a:txBody>
                    <a:bodyPr/>
                    <a:lstStyle/>
                    <a:p>
                      <a:pPr algn="l" fontAlgn="t"/>
                      <a:r>
                        <a:rPr lang="en-US" sz="900" u="none" strike="noStrike">
                          <a:effectLst/>
                        </a:rPr>
                        <a:t>T1056.002: GUI Input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r>
              <a:tr h="184367">
                <a:tc vMerge="1">
                  <a:tcPr/>
                </a:tc>
                <a:tc>
                  <a:txBody>
                    <a:bodyPr/>
                    <a:lstStyle/>
                    <a:p>
                      <a:pPr algn="l" fontAlgn="t"/>
                      <a:r>
                        <a:rPr lang="en-US" sz="900" u="none" strike="noStrike" dirty="0">
                          <a:effectLst/>
                          <a:highlight>
                            <a:srgbClr val="FF0000"/>
                          </a:highlight>
                        </a:rPr>
                        <a:t>T1056.001: Keylogging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r>
              <a:tr h="184367">
                <a:tc vMerge="1">
                  <a:tcPr/>
                </a:tc>
                <a:tc>
                  <a:txBody>
                    <a:bodyPr/>
                    <a:lstStyle/>
                    <a:p>
                      <a:pPr algn="l" fontAlgn="t"/>
                      <a:r>
                        <a:rPr lang="en-US" sz="900" u="none" strike="noStrike">
                          <a:effectLst/>
                        </a:rPr>
                        <a:t>T1056.003: Web Portal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r>
              <a:tr h="184367">
                <a:tc>
                  <a:txBody>
                    <a:bodyPr/>
                    <a:lstStyle/>
                    <a:p>
                      <a:pPr algn="l" fontAlgn="t"/>
                      <a:r>
                        <a:rPr lang="en-US" sz="900" u="none" strike="noStrike">
                          <a:effectLst/>
                        </a:rPr>
                        <a:t>T1113: Screen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tr>
              <a:tr h="184367">
                <a:tc>
                  <a:txBody>
                    <a:bodyPr/>
                    <a:lstStyle/>
                    <a:p>
                      <a:pPr algn="l" fontAlgn="t"/>
                      <a:r>
                        <a:rPr lang="en-US" sz="900" u="none" strike="noStrike">
                          <a:effectLst/>
                        </a:rPr>
                        <a:t>T1125: Video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tr>
            </a:tbl>
          </a:graphicData>
        </a:graphic>
      </p:graphicFrame>
      <p:graphicFrame>
        <p:nvGraphicFramePr>
          <p:cNvPr id="5" name="表 4"/>
          <p:cNvGraphicFramePr>
            <a:graphicFrameLocks noGrp="1"/>
          </p:cNvGraphicFramePr>
          <p:nvPr/>
        </p:nvGraphicFramePr>
        <p:xfrm>
          <a:off x="3823372" y="-27"/>
          <a:ext cx="4224206" cy="6565897"/>
        </p:xfrm>
        <a:graphic>
          <a:graphicData uri="http://schemas.openxmlformats.org/drawingml/2006/table">
            <a:tbl>
              <a:tblPr>
                <a:tableStyleId>{5C22544A-7EE6-4342-B048-85BDC9FD1C3A}</a:tableStyleId>
              </a:tblPr>
              <a:tblGrid>
                <a:gridCol w="2112103"/>
                <a:gridCol w="2112103"/>
              </a:tblGrid>
              <a:tr h="178690">
                <a:tc gridSpan="2">
                  <a:txBody>
                    <a:bodyPr/>
                    <a:lstStyle/>
                    <a:p>
                      <a:pPr algn="ctr" fontAlgn="b"/>
                      <a:r>
                        <a:rPr lang="en-US" sz="700" u="none" strike="noStrike" dirty="0">
                          <a:effectLst/>
                        </a:rPr>
                        <a:t>TA0011: Command and Control</a:t>
                      </a:r>
                      <a:endParaRPr lang="en-US" sz="7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78690">
                <a:tc rowSpan="5">
                  <a:txBody>
                    <a:bodyPr/>
                    <a:lstStyle/>
                    <a:p>
                      <a:pPr algn="l" fontAlgn="t"/>
                      <a:r>
                        <a:rPr lang="en-US" sz="700" u="none" strike="noStrike" dirty="0">
                          <a:effectLst/>
                        </a:rPr>
                        <a:t>T1071: Application Layer Protocol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tc>
                  <a:txBody>
                    <a:bodyPr/>
                    <a:lstStyle/>
                    <a:p>
                      <a:pPr algn="l" fontAlgn="t"/>
                      <a:r>
                        <a:rPr lang="en-US" sz="700" u="none" strike="noStrike" dirty="0">
                          <a:effectLst/>
                          <a:highlight>
                            <a:srgbClr val="FF0000"/>
                          </a:highlight>
                        </a:rPr>
                        <a:t>T1071.004: DNS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tr>
              <a:tr h="178690">
                <a:tc vMerge="1">
                  <a:tcPr/>
                </a:tc>
                <a:tc>
                  <a:txBody>
                    <a:bodyPr/>
                    <a:lstStyle/>
                    <a:p>
                      <a:pPr algn="l" fontAlgn="t"/>
                      <a:r>
                        <a:rPr lang="en-US" sz="700" u="none" strike="noStrike" dirty="0">
                          <a:effectLst/>
                          <a:highlight>
                            <a:srgbClr val="FF0000"/>
                          </a:highlight>
                        </a:rPr>
                        <a:t>T1071.002: File Transfer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r>
              <a:tr h="178690">
                <a:tc vMerge="1">
                  <a:tcPr/>
                </a:tc>
                <a:tc>
                  <a:txBody>
                    <a:bodyPr/>
                    <a:lstStyle/>
                    <a:p>
                      <a:pPr algn="l" fontAlgn="t"/>
                      <a:r>
                        <a:rPr lang="en-US" sz="700" u="none" strike="noStrike">
                          <a:effectLst/>
                        </a:rPr>
                        <a:t>T1071.003: Mail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r>
              <a:tr h="350861">
                <a:tc vMerge="1">
                  <a:tcPr/>
                </a:tc>
                <a:tc>
                  <a:txBody>
                    <a:bodyPr/>
                    <a:lstStyle/>
                    <a:p>
                      <a:pPr algn="l" fontAlgn="t"/>
                      <a:r>
                        <a:rPr lang="en-US" sz="700" u="none" strike="noStrike">
                          <a:effectLst/>
                        </a:rPr>
                        <a:t>T1071.005: Publish/Subscribe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r>
              <a:tr h="178690">
                <a:tc vMerge="1">
                  <a:tcPr/>
                </a:tc>
                <a:tc>
                  <a:txBody>
                    <a:bodyPr/>
                    <a:lstStyle/>
                    <a:p>
                      <a:pPr algn="l" fontAlgn="t"/>
                      <a:r>
                        <a:rPr lang="en-US" sz="700" u="none" strike="noStrike" dirty="0">
                          <a:effectLst/>
                          <a:highlight>
                            <a:srgbClr val="FF0000"/>
                          </a:highlight>
                        </a:rPr>
                        <a:t>T1071.001: Web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r>
              <a:tr h="178690">
                <a:tc gridSpan="2">
                  <a:txBody>
                    <a:bodyPr/>
                    <a:lstStyle/>
                    <a:p>
                      <a:pPr algn="l" fontAlgn="t"/>
                      <a:r>
                        <a:rPr lang="en-US" sz="700" u="none" strike="noStrike" dirty="0">
                          <a:effectLst/>
                        </a:rPr>
                        <a:t>T1092: Communication Through Removable Media</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cPr/>
                </a:tc>
              </a:tr>
              <a:tr h="178690">
                <a:tc>
                  <a:txBody>
                    <a:bodyPr/>
                    <a:lstStyle/>
                    <a:p>
                      <a:pPr algn="l" fontAlgn="t"/>
                      <a:r>
                        <a:rPr lang="en-US" sz="700" u="none" strike="noStrike">
                          <a:effectLst/>
                        </a:rPr>
                        <a:t>T1659: Content Injection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a:txBody>
                    <a:bodyPr/>
                    <a:lstStyle/>
                    <a:p>
                      <a:pPr algn="l" fontAlgn="t"/>
                      <a:r>
                        <a:rPr lang="en-US" sz="700" u="none" strike="noStrike">
                          <a:effectLst/>
                        </a:rPr>
                        <a:t>T1132: Data Encoding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rowSpan="3">
                  <a:txBody>
                    <a:bodyPr/>
                    <a:lstStyle/>
                    <a:p>
                      <a:pPr algn="l" fontAlgn="t"/>
                      <a:r>
                        <a:rPr lang="en-US" sz="700" u="none" strike="noStrike">
                          <a:effectLst/>
                        </a:rPr>
                        <a:t>T1001: Data Obfuscation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a:effectLst/>
                        </a:rPr>
                        <a:t>T1001.001: Junk Data</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r>
              <a:tr h="350861">
                <a:tc vMerge="1">
                  <a:tcPr/>
                </a:tc>
                <a:tc>
                  <a:txBody>
                    <a:bodyPr/>
                    <a:lstStyle/>
                    <a:p>
                      <a:pPr algn="l" fontAlgn="t"/>
                      <a:r>
                        <a:rPr lang="en-US" sz="700" u="none" strike="noStrike" dirty="0">
                          <a:effectLst/>
                          <a:highlight>
                            <a:srgbClr val="FF0000"/>
                          </a:highlight>
                        </a:rPr>
                        <a:t>T1001.003: Protocol or Service Impersonation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r>
              <a:tr h="178690">
                <a:tc vMerge="1">
                  <a:tcPr/>
                </a:tc>
                <a:tc>
                  <a:txBody>
                    <a:bodyPr/>
                    <a:lstStyle/>
                    <a:p>
                      <a:pPr algn="l" fontAlgn="t"/>
                      <a:r>
                        <a:rPr lang="en-US" sz="700" u="none" strike="noStrike">
                          <a:effectLst/>
                        </a:rPr>
                        <a:t>T1001.002: Steganography</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r>
              <a:tr h="178690">
                <a:tc rowSpan="3">
                  <a:txBody>
                    <a:bodyPr/>
                    <a:lstStyle/>
                    <a:p>
                      <a:pPr algn="l" fontAlgn="t"/>
                      <a:r>
                        <a:rPr lang="en-US" sz="700" u="none" strike="noStrike" dirty="0">
                          <a:effectLst/>
                        </a:rPr>
                        <a:t>T1568: Dynamic Resolution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T1568.003: DNS Calculation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r>
              <a:tr h="350861">
                <a:tc vMerge="1">
                  <a:tcPr/>
                </a:tc>
                <a:tc>
                  <a:txBody>
                    <a:bodyPr/>
                    <a:lstStyle/>
                    <a:p>
                      <a:pPr algn="l" fontAlgn="t"/>
                      <a:r>
                        <a:rPr lang="en-US" sz="700" u="none" strike="noStrike">
                          <a:effectLst/>
                        </a:rPr>
                        <a:t>T1568.002: Domain Generation Algorithms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r>
              <a:tr h="178690">
                <a:tc vMerge="1">
                  <a:tcPr/>
                </a:tc>
                <a:tc>
                  <a:txBody>
                    <a:bodyPr/>
                    <a:lstStyle/>
                    <a:p>
                      <a:pPr algn="l" fontAlgn="t"/>
                      <a:r>
                        <a:rPr lang="en-US" sz="700" u="none" strike="noStrike" dirty="0">
                          <a:effectLst/>
                        </a:rPr>
                        <a:t>T1568.001: Fast Flux DNS</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r>
              <a:tr h="350861">
                <a:tc rowSpan="2">
                  <a:txBody>
                    <a:bodyPr/>
                    <a:lstStyle/>
                    <a:p>
                      <a:pPr algn="l" fontAlgn="t"/>
                      <a:r>
                        <a:rPr lang="en-US" sz="700" u="none" strike="noStrike" dirty="0">
                          <a:effectLst/>
                        </a:rPr>
                        <a:t>T1573: Encrypted Channel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T1573.002: Asymmetric Cryptography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r>
              <a:tr h="350861">
                <a:tc vMerge="1">
                  <a:tcPr/>
                </a:tc>
                <a:tc>
                  <a:txBody>
                    <a:bodyPr/>
                    <a:lstStyle/>
                    <a:p>
                      <a:pPr algn="l" fontAlgn="t"/>
                      <a:r>
                        <a:rPr lang="en-US" sz="700" u="none" strike="noStrike" dirty="0">
                          <a:effectLst/>
                        </a:rPr>
                        <a:t>T1573.001: Symmetric Cryptography</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r>
              <a:tr h="178690">
                <a:tc>
                  <a:txBody>
                    <a:bodyPr/>
                    <a:lstStyle/>
                    <a:p>
                      <a:pPr algn="l" fontAlgn="t"/>
                      <a:r>
                        <a:rPr lang="en-US" sz="700" u="none" strike="noStrike" dirty="0">
                          <a:effectLst/>
                          <a:highlight>
                            <a:srgbClr val="FF0000"/>
                          </a:highlight>
                        </a:rPr>
                        <a:t>T1008: Fallback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a:txBody>
                    <a:bodyPr/>
                    <a:lstStyle/>
                    <a:p>
                      <a:pPr algn="l" fontAlgn="t"/>
                      <a:r>
                        <a:rPr lang="en-US" sz="700" u="none" strike="noStrike">
                          <a:effectLst/>
                        </a:rPr>
                        <a:t>T1665: Hide Infrastructure</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a:txBody>
                    <a:bodyPr/>
                    <a:lstStyle/>
                    <a:p>
                      <a:pPr algn="l" fontAlgn="t"/>
                      <a:r>
                        <a:rPr lang="en-US" sz="700" u="none" strike="noStrike">
                          <a:effectLst/>
                          <a:highlight>
                            <a:srgbClr val="FF0000"/>
                          </a:highlight>
                        </a:rPr>
                        <a:t>T1105: Ingress Tool Transfer</a:t>
                      </a:r>
                      <a:endParaRPr lang="en-US" sz="7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a:txBody>
                    <a:bodyPr/>
                    <a:lstStyle/>
                    <a:p>
                      <a:pPr algn="l" fontAlgn="t"/>
                      <a:r>
                        <a:rPr lang="en-US" sz="700" u="none" strike="noStrike" dirty="0">
                          <a:effectLst/>
                          <a:highlight>
                            <a:srgbClr val="FF0000"/>
                          </a:highlight>
                        </a:rPr>
                        <a:t>T1104: Multi-Stage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gridSpan="2">
                  <a:txBody>
                    <a:bodyPr/>
                    <a:lstStyle/>
                    <a:p>
                      <a:pPr algn="l" fontAlgn="t"/>
                      <a:r>
                        <a:rPr lang="en-US" sz="700" u="none" strike="noStrike" dirty="0">
                          <a:effectLst/>
                        </a:rPr>
                        <a:t>T1095: Non-Application Layer Protocol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cPr/>
                </a:tc>
              </a:tr>
              <a:tr h="178690">
                <a:tc>
                  <a:txBody>
                    <a:bodyPr/>
                    <a:lstStyle/>
                    <a:p>
                      <a:pPr algn="l" fontAlgn="t"/>
                      <a:r>
                        <a:rPr lang="en-US" sz="700" u="none" strike="noStrike">
                          <a:effectLst/>
                        </a:rPr>
                        <a:t>T1571: Non-Standard Port</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a:txBody>
                    <a:bodyPr/>
                    <a:lstStyle/>
                    <a:p>
                      <a:pPr algn="l" fontAlgn="t"/>
                      <a:r>
                        <a:rPr lang="en-US" sz="700" u="none" strike="noStrike">
                          <a:effectLst/>
                        </a:rPr>
                        <a:t>T1572: Protocol Tunneling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a:txBody>
                    <a:bodyPr/>
                    <a:lstStyle/>
                    <a:p>
                      <a:pPr algn="l" fontAlgn="t"/>
                      <a:r>
                        <a:rPr lang="en-US" sz="700" u="none" strike="noStrike" dirty="0">
                          <a:effectLst/>
                          <a:highlight>
                            <a:srgbClr val="FF0000"/>
                          </a:highlight>
                        </a:rPr>
                        <a:t>T1090: Proxy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a:txBody>
                    <a:bodyPr/>
                    <a:lstStyle/>
                    <a:p>
                      <a:pPr algn="l" fontAlgn="t"/>
                      <a:r>
                        <a:rPr lang="en-US" sz="700" u="none" strike="noStrike">
                          <a:effectLst/>
                        </a:rPr>
                        <a:t>T1219: Remote Access Tools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178690">
                <a:tc>
                  <a:txBody>
                    <a:bodyPr/>
                    <a:lstStyle/>
                    <a:p>
                      <a:pPr algn="l" fontAlgn="t"/>
                      <a:r>
                        <a:rPr lang="en-US" sz="700" u="none" strike="noStrike">
                          <a:effectLst/>
                        </a:rPr>
                        <a:t>T1205: Traffic Signaling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tr>
              <a:tr h="350861">
                <a:tc rowSpan="3">
                  <a:txBody>
                    <a:bodyPr/>
                    <a:lstStyle/>
                    <a:p>
                      <a:pPr algn="l" fontAlgn="t"/>
                      <a:r>
                        <a:rPr lang="en-US" sz="700" u="none" strike="noStrike" dirty="0">
                          <a:effectLst/>
                          <a:highlight>
                            <a:srgbClr val="FF0000"/>
                          </a:highlight>
                        </a:rPr>
                        <a:t>T1102: Web Service</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T1102.002: Bidirectional Communication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r>
              <a:tr h="178690">
                <a:tc vMerge="1">
                  <a:tcPr/>
                </a:tc>
                <a:tc>
                  <a:txBody>
                    <a:bodyPr/>
                    <a:lstStyle/>
                    <a:p>
                      <a:pPr algn="l" fontAlgn="t"/>
                      <a:r>
                        <a:rPr lang="en-US" sz="700" u="none" strike="noStrike">
                          <a:effectLst/>
                        </a:rPr>
                        <a:t>T1102.001: Dead Drop Resolver</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r>
              <a:tr h="350861">
                <a:tc vMerge="1">
                  <a:tcPr/>
                </a:tc>
                <a:tc>
                  <a:txBody>
                    <a:bodyPr/>
                    <a:lstStyle/>
                    <a:p>
                      <a:pPr algn="l" fontAlgn="t"/>
                      <a:r>
                        <a:rPr lang="en-US" sz="700" u="none" strike="noStrike" dirty="0">
                          <a:effectLst/>
                        </a:rPr>
                        <a:t>T1102.003: One-Way Communication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r>
            </a:tbl>
          </a:graphicData>
        </a:graphic>
      </p:graphicFrame>
      <p:graphicFrame>
        <p:nvGraphicFramePr>
          <p:cNvPr id="6" name="表 5"/>
          <p:cNvGraphicFramePr>
            <a:graphicFrameLocks noGrp="1"/>
          </p:cNvGraphicFramePr>
          <p:nvPr/>
        </p:nvGraphicFramePr>
        <p:xfrm>
          <a:off x="8047578" y="-15"/>
          <a:ext cx="4144422" cy="3429018"/>
        </p:xfrm>
        <a:graphic>
          <a:graphicData uri="http://schemas.openxmlformats.org/drawingml/2006/table">
            <a:tbl>
              <a:tblPr>
                <a:tableStyleId>{5C22544A-7EE6-4342-B048-85BDC9FD1C3A}</a:tableStyleId>
              </a:tblPr>
              <a:tblGrid>
                <a:gridCol w="2072211"/>
                <a:gridCol w="2072211"/>
              </a:tblGrid>
              <a:tr h="138599">
                <a:tc gridSpan="2">
                  <a:txBody>
                    <a:bodyPr/>
                    <a:lstStyle/>
                    <a:p>
                      <a:pPr algn="ctr" fontAlgn="b"/>
                      <a:r>
                        <a:rPr lang="en-US" sz="800" u="none" strike="noStrike" dirty="0">
                          <a:effectLst/>
                        </a:rPr>
                        <a:t>TA0010: Exfiltration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38599">
                <a:tc>
                  <a:txBody>
                    <a:bodyPr/>
                    <a:lstStyle/>
                    <a:p>
                      <a:pPr algn="l" fontAlgn="t"/>
                      <a:r>
                        <a:rPr lang="en-US" sz="800" u="none" strike="noStrike">
                          <a:effectLst/>
                        </a:rPr>
                        <a:t>T1020: Automated Exfiltration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tr>
              <a:tr h="153232">
                <a:tc>
                  <a:txBody>
                    <a:bodyPr/>
                    <a:lstStyle/>
                    <a:p>
                      <a:pPr algn="l" fontAlgn="t"/>
                      <a:r>
                        <a:rPr lang="en-US" sz="800" u="none" strike="noStrike" dirty="0">
                          <a:effectLst/>
                          <a:highlight>
                            <a:srgbClr val="FF0000"/>
                          </a:highlight>
                        </a:rPr>
                        <a:t>T1030: Data Transfer Size Limits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405679">
                <a:tc rowSpan="3">
                  <a:txBody>
                    <a:bodyPr/>
                    <a:lstStyle/>
                    <a:p>
                      <a:pPr algn="l" fontAlgn="t"/>
                      <a:r>
                        <a:rPr lang="en-US" sz="800" u="none" strike="noStrike" dirty="0">
                          <a:effectLst/>
                        </a:rPr>
                        <a:t>T1048: Exfiltration Over Alternative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T1048.002: Exfiltration Over Asymmetric Encrypted Non-C2 Protocol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405679">
                <a:tc vMerge="1">
                  <a:tcPr/>
                </a:tc>
                <a:tc>
                  <a:txBody>
                    <a:bodyPr/>
                    <a:lstStyle/>
                    <a:p>
                      <a:pPr algn="l" fontAlgn="t"/>
                      <a:r>
                        <a:rPr lang="en-US" sz="800" u="none" strike="noStrike" dirty="0">
                          <a:effectLst/>
                        </a:rPr>
                        <a:t>T1048.001: Exfiltration Over Symmetric Encrypted Non-C2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72139">
                <a:tc vMerge="1">
                  <a:tcPr/>
                </a:tc>
                <a:tc>
                  <a:txBody>
                    <a:bodyPr/>
                    <a:lstStyle/>
                    <a:p>
                      <a:pPr algn="l" fontAlgn="t"/>
                      <a:r>
                        <a:rPr lang="fr-FR" sz="800" u="none" strike="noStrike" dirty="0">
                          <a:effectLst/>
                          <a:highlight>
                            <a:srgbClr val="FF0000"/>
                          </a:highlight>
                        </a:rPr>
                        <a:t>T1048.003: Exfiltration Over Unencrypted Non-C2 Protocol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72139">
                <a:tc>
                  <a:txBody>
                    <a:bodyPr/>
                    <a:lstStyle/>
                    <a:p>
                      <a:pPr algn="l" fontAlgn="t"/>
                      <a:r>
                        <a:rPr lang="fr-FR" sz="800" u="none" strike="noStrike" dirty="0">
                          <a:effectLst/>
                          <a:highlight>
                            <a:srgbClr val="FF0000"/>
                          </a:highlight>
                        </a:rPr>
                        <a:t>T1041: Exfiltration Over C2 Channel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38599">
                <a:tc gridSpan="2">
                  <a:txBody>
                    <a:bodyPr/>
                    <a:lstStyle/>
                    <a:p>
                      <a:pPr algn="l" fontAlgn="t"/>
                      <a:r>
                        <a:rPr lang="en-US" sz="800" u="none" strike="noStrike">
                          <a:effectLst/>
                        </a:rPr>
                        <a:t>T1011: Exfiltration Over Other Network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cPr/>
                </a:tc>
              </a:tr>
              <a:tr h="138599">
                <a:tc gridSpan="2">
                  <a:txBody>
                    <a:bodyPr/>
                    <a:lstStyle/>
                    <a:p>
                      <a:pPr algn="l" fontAlgn="t"/>
                      <a:r>
                        <a:rPr lang="en-US" sz="800" u="none" strike="noStrike">
                          <a:effectLst/>
                        </a:rPr>
                        <a:t>T1052: Exfiltration Over Physical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cPr/>
                </a:tc>
              </a:tr>
              <a:tr h="272139">
                <a:tc rowSpan="4">
                  <a:txBody>
                    <a:bodyPr/>
                    <a:lstStyle/>
                    <a:p>
                      <a:pPr algn="l" fontAlgn="t"/>
                      <a:r>
                        <a:rPr lang="en-US" sz="800" u="none" strike="noStrike" dirty="0">
                          <a:effectLst/>
                          <a:highlight>
                            <a:srgbClr val="FF0000"/>
                          </a:highlight>
                        </a:rPr>
                        <a:t>T1567: Exfiltration Over Web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T1567.004: Exfiltration Over Webhook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72139">
                <a:tc vMerge="1">
                  <a:tcPr/>
                </a:tc>
                <a:tc>
                  <a:txBody>
                    <a:bodyPr/>
                    <a:lstStyle/>
                    <a:p>
                      <a:pPr algn="l" fontAlgn="t"/>
                      <a:r>
                        <a:rPr lang="en-US" sz="800" u="none" strike="noStrike" dirty="0">
                          <a:effectLst/>
                          <a:highlight>
                            <a:srgbClr val="FF0000"/>
                          </a:highlight>
                        </a:rPr>
                        <a:t>T1567.002: Exfiltration to Cloud Storage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272139">
                <a:tc vMerge="1">
                  <a:tcPr/>
                </a:tc>
                <a:tc>
                  <a:txBody>
                    <a:bodyPr/>
                    <a:lstStyle/>
                    <a:p>
                      <a:pPr algn="l" fontAlgn="t"/>
                      <a:r>
                        <a:rPr lang="en-US" sz="800" u="none" strike="noStrike">
                          <a:effectLst/>
                        </a:rPr>
                        <a:t>T1567.001: Exfiltration to Code Repository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272139">
                <a:tc vMerge="1">
                  <a:tcPr/>
                </a:tc>
                <a:tc>
                  <a:txBody>
                    <a:bodyPr/>
                    <a:lstStyle/>
                    <a:p>
                      <a:pPr algn="l" fontAlgn="t"/>
                      <a:r>
                        <a:rPr lang="en-US" sz="800" u="none" strike="noStrike">
                          <a:effectLst/>
                        </a:rPr>
                        <a:t>T1567.003: Exfiltration to Text Storage Sites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138599">
                <a:tc>
                  <a:txBody>
                    <a:bodyPr/>
                    <a:lstStyle/>
                    <a:p>
                      <a:pPr algn="l" fontAlgn="t"/>
                      <a:r>
                        <a:rPr lang="en-US" sz="800" u="none" strike="noStrike">
                          <a:effectLst/>
                        </a:rPr>
                        <a:t>T1029: Scheduled Transfer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38599">
                <a:tc gridSpan="2">
                  <a:txBody>
                    <a:bodyPr/>
                    <a:lstStyle/>
                    <a:p>
                      <a:pPr algn="l" fontAlgn="t"/>
                      <a:r>
                        <a:rPr lang="en-US" sz="800" u="none" strike="noStrike" dirty="0">
                          <a:effectLst/>
                        </a:rPr>
                        <a:t>T1537: Transfer Data to Cloud Account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cPr/>
                </a:tc>
              </a:tr>
            </a:tbl>
          </a:graphicData>
        </a:graphic>
      </p:graphicFrame>
      <p:graphicFrame>
        <p:nvGraphicFramePr>
          <p:cNvPr id="7" name="コンテンツ プレースホルダー 3"/>
          <p:cNvGraphicFramePr/>
          <p:nvPr/>
        </p:nvGraphicFramePr>
        <p:xfrm>
          <a:off x="8047578" y="3428978"/>
          <a:ext cx="4191000" cy="3136900"/>
        </p:xfrm>
        <a:graphic>
          <a:graphicData uri="http://schemas.openxmlformats.org/drawingml/2006/table">
            <a:tbl>
              <a:tblPr>
                <a:tableStyleId>{5C22544A-7EE6-4342-B048-85BDC9FD1C3A}</a:tableStyleId>
              </a:tblPr>
              <a:tblGrid>
                <a:gridCol w="2095500"/>
                <a:gridCol w="2095500"/>
              </a:tblGrid>
              <a:tr h="165100">
                <a:tc gridSpan="2">
                  <a:txBody>
                    <a:bodyPr/>
                    <a:lstStyle/>
                    <a:p>
                      <a:pPr algn="ctr" fontAlgn="b"/>
                      <a:r>
                        <a:rPr lang="en-US" sz="800" u="none" strike="noStrike" dirty="0">
                          <a:effectLst/>
                        </a:rPr>
                        <a:t>TA0040: Impact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cPr/>
                </a:tc>
              </a:tr>
              <a:tr h="165100">
                <a:tc>
                  <a:txBody>
                    <a:bodyPr/>
                    <a:lstStyle/>
                    <a:p>
                      <a:pPr algn="l" fontAlgn="t"/>
                      <a:r>
                        <a:rPr lang="en-US" sz="800" u="none" strike="noStrike">
                          <a:effectLst/>
                        </a:rPr>
                        <a:t>T1531: Account Access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tr>
              <a:tr h="165100">
                <a:tc>
                  <a:txBody>
                    <a:bodyPr/>
                    <a:lstStyle/>
                    <a:p>
                      <a:pPr algn="l" fontAlgn="t"/>
                      <a:r>
                        <a:rPr lang="en-US" sz="800" u="none" strike="noStrike">
                          <a:effectLst/>
                        </a:rPr>
                        <a:t>T1485: Data Destruction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dirty="0">
                          <a:effectLst/>
                          <a:highlight>
                            <a:srgbClr val="FF0000"/>
                          </a:highlight>
                        </a:rPr>
                        <a:t>T1486: Data Encrypted for Impact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dirty="0">
                          <a:effectLst/>
                        </a:rPr>
                        <a:t>T1565: Data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a:effectLst/>
                        </a:rPr>
                        <a:t>T1491: Defacement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a:effectLst/>
                        </a:rPr>
                        <a:t>T1561: Disk Wipe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a:effectLst/>
                        </a:rPr>
                        <a:t>T1667: Email Bombing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a:effectLst/>
                        </a:rPr>
                        <a:t>T1499: Endpoint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a:effectLst/>
                        </a:rPr>
                        <a:t>T1657: Financial Theft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a:effectLst/>
                        </a:rPr>
                        <a:t>T1495: Firmware Corruption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a:effectLst/>
                        </a:rPr>
                        <a:t>T1490: Inhibit System Recovery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a:effectLst/>
                        </a:rPr>
                        <a:t>T1498: Network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rowSpan="4">
                  <a:txBody>
                    <a:bodyPr/>
                    <a:lstStyle/>
                    <a:p>
                      <a:pPr algn="l" fontAlgn="t"/>
                      <a:r>
                        <a:rPr lang="en-US" sz="800" u="none" strike="noStrike">
                          <a:effectLst/>
                        </a:rPr>
                        <a:t>T1496: Resource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T1496.002: Bandwidth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165100">
                <a:tc vMerge="1">
                  <a:tcPr/>
                </a:tc>
                <a:tc>
                  <a:txBody>
                    <a:bodyPr/>
                    <a:lstStyle/>
                    <a:p>
                      <a:pPr algn="l" fontAlgn="t"/>
                      <a:r>
                        <a:rPr lang="en-US" sz="800" u="none" strike="noStrike">
                          <a:effectLst/>
                        </a:rPr>
                        <a:t>T1496.004: Cloud Service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165100">
                <a:tc vMerge="1">
                  <a:tcPr/>
                </a:tc>
                <a:tc>
                  <a:txBody>
                    <a:bodyPr/>
                    <a:lstStyle/>
                    <a:p>
                      <a:pPr algn="l" fontAlgn="t"/>
                      <a:r>
                        <a:rPr lang="en-US" sz="800" u="none" strike="noStrike" dirty="0">
                          <a:effectLst/>
                          <a:highlight>
                            <a:srgbClr val="FF0000"/>
                          </a:highlight>
                        </a:rPr>
                        <a:t>T1496.001: Compute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r>
              <a:tr h="165100">
                <a:tc vMerge="1">
                  <a:tcPr/>
                </a:tc>
                <a:tc>
                  <a:txBody>
                    <a:bodyPr/>
                    <a:lstStyle/>
                    <a:p>
                      <a:pPr algn="l" fontAlgn="t"/>
                      <a:r>
                        <a:rPr lang="en-US" sz="800" u="none" strike="noStrike">
                          <a:effectLst/>
                        </a:rPr>
                        <a:t>T1496.003: SMS Pumping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r>
              <a:tr h="165100">
                <a:tc>
                  <a:txBody>
                    <a:bodyPr/>
                    <a:lstStyle/>
                    <a:p>
                      <a:pPr algn="l" fontAlgn="t"/>
                      <a:r>
                        <a:rPr lang="en-US" sz="800" u="none" strike="noStrike">
                          <a:effectLst/>
                        </a:rPr>
                        <a:t>T1489: Service Stop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r h="165100">
                <a:tc>
                  <a:txBody>
                    <a:bodyPr/>
                    <a:lstStyle/>
                    <a:p>
                      <a:pPr algn="l" fontAlgn="t"/>
                      <a:r>
                        <a:rPr lang="en-US" sz="800" u="none" strike="noStrike">
                          <a:effectLst/>
                        </a:rPr>
                        <a:t>T1529: System Shutdown/Reboot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p:cNvGraphicFramePr>
            <a:graphicFrameLocks noGrp="1"/>
          </p:cNvGraphicFramePr>
          <p:nvPr/>
        </p:nvGraphicFramePr>
        <p:xfrm>
          <a:off x="1065870" y="1024485"/>
          <a:ext cx="10060260" cy="4809029"/>
        </p:xfrm>
        <a:graphic>
          <a:graphicData uri="http://schemas.openxmlformats.org/drawingml/2006/table">
            <a:tbl>
              <a:tblPr firstRow="1" bandRow="1">
                <a:tableStyleId>{5C22544A-7EE6-4342-B048-85BDC9FD1C3A}</a:tableStyleId>
              </a:tblPr>
              <a:tblGrid>
                <a:gridCol w="3104794"/>
                <a:gridCol w="3992147"/>
                <a:gridCol w="2963319"/>
              </a:tblGrid>
              <a:tr h="43827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1400" b="0" dirty="0">
                          <a:latin typeface="ＭＳ 明朝" panose="02020609040205080304" pitchFamily="17" charset="-128"/>
                          <a:ea typeface="ＭＳ 明朝" panose="02020609040205080304" pitchFamily="17" charset="-128"/>
                        </a:rPr>
                        <a:t>機器名</a:t>
                      </a:r>
                      <a:endParaRPr kumimoji="1" lang="ja-JP" altLang="en-US" sz="1400" b="0" dirty="0">
                        <a:latin typeface="ＭＳ 明朝" panose="02020609040205080304" pitchFamily="17" charset="-128"/>
                        <a:ea typeface="ＭＳ 明朝" panose="02020609040205080304" pitchFamily="17"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1400" b="0" dirty="0">
                          <a:latin typeface="ＭＳ 明朝" panose="02020609040205080304" pitchFamily="17" charset="-128"/>
                          <a:ea typeface="ＭＳ 明朝" panose="02020609040205080304" pitchFamily="17" charset="-128"/>
                        </a:rPr>
                        <a:t>型番</a:t>
                      </a:r>
                      <a:endParaRPr kumimoji="1" lang="ja-JP" altLang="en-US" sz="1400" b="0" dirty="0">
                        <a:latin typeface="ＭＳ 明朝" panose="02020609040205080304" pitchFamily="17" charset="-128"/>
                        <a:ea typeface="ＭＳ 明朝" panose="02020609040205080304" pitchFamily="17"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sz="1400" b="0" dirty="0">
                          <a:latin typeface="ＭＳ 明朝" panose="02020609040205080304" pitchFamily="17" charset="-128"/>
                          <a:ea typeface="ＭＳ 明朝" panose="02020609040205080304" pitchFamily="17" charset="-128"/>
                        </a:rPr>
                        <a:t>ＯＳバージョン</a:t>
                      </a:r>
                      <a:endParaRPr kumimoji="1" lang="ja-JP" altLang="en-US" sz="1400" b="0" dirty="0">
                        <a:latin typeface="ＭＳ 明朝" panose="02020609040205080304" pitchFamily="17" charset="-128"/>
                        <a:ea typeface="ＭＳ 明朝" panose="02020609040205080304" pitchFamily="17" charset="-128"/>
                      </a:endParaRPr>
                    </a:p>
                  </a:txBody>
                  <a:tcPr/>
                </a:tc>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ＦＷ</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1400" b="0" dirty="0">
                          <a:solidFill>
                            <a:schemeClr val="tx1"/>
                          </a:solidFill>
                          <a:latin typeface="ＭＳ ゴシック" panose="020B0609070205080204" pitchFamily="49" charset="-128"/>
                          <a:ea typeface="ＭＳ ゴシック" panose="020B0609070205080204" pitchFamily="49" charset="-128"/>
                        </a:rPr>
                        <a:t>Juniper SRX320</a:t>
                      </a:r>
                      <a:endParaRPr kumimoji="1" lang="en-US" altLang="ja-JP"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20.4R3-S3.4</a:t>
                      </a:r>
                      <a:endParaRPr kumimoji="1" lang="ja-JP" altLang="en-US" sz="1400" dirty="0"/>
                    </a:p>
                  </a:txBody>
                  <a:tcPr/>
                </a:tc>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ルーター</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NEC IX2207</a:t>
                      </a:r>
                      <a:endParaRPr kumimoji="1"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10.6.63</a:t>
                      </a:r>
                      <a:endParaRPr kumimoji="1" lang="ja-JP" altLang="en-US" sz="1400" dirty="0"/>
                    </a:p>
                  </a:txBody>
                  <a:tcPr/>
                </a:tc>
              </a:tr>
              <a:tr h="864545">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Ｌ２ＳＷ</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Panasonic</a:t>
                      </a:r>
                      <a:endParaRPr kumimoji="1" lang="en-US" altLang="ja-JP" sz="1400" b="0" dirty="0">
                        <a:solidFill>
                          <a:schemeClr val="tx1"/>
                        </a:solidFill>
                        <a:latin typeface="ＭＳ ゴシック" panose="020B0609070205080204" pitchFamily="49" charset="-128"/>
                        <a:ea typeface="ＭＳ ゴシック" panose="020B0609070205080204" pitchFamily="49" charset="-128"/>
                      </a:endParaRP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Switch-M8eG/</a:t>
                      </a:r>
                      <a:endParaRPr kumimoji="1" lang="en-US" altLang="ja-JP" sz="1400" b="0" dirty="0">
                        <a:solidFill>
                          <a:schemeClr val="tx1"/>
                        </a:solidFill>
                        <a:latin typeface="ＭＳ ゴシック" panose="020B0609070205080204" pitchFamily="49" charset="-128"/>
                        <a:ea typeface="ＭＳ ゴシック" panose="020B0609070205080204" pitchFamily="49" charset="-128"/>
                      </a:endParaRP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Switch-M16eG</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Boot:1.00.22</a:t>
                      </a:r>
                      <a:endParaRPr kumimoji="1" lang="en-US" altLang="ja-JP" sz="1400" b="0" dirty="0">
                        <a:solidFill>
                          <a:schemeClr val="tx1"/>
                        </a:solidFill>
                        <a:latin typeface="ＭＳ ゴシック" panose="020B0609070205080204" pitchFamily="49" charset="-128"/>
                        <a:ea typeface="ＭＳ ゴシック" panose="020B0609070205080204" pitchFamily="49" charset="-128"/>
                      </a:endParaRP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Runtime:3.0.0.03</a:t>
                      </a:r>
                      <a:endParaRPr kumimoji="1"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ＳＲ</a:t>
                      </a:r>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SEIKO SC-8259</a:t>
                      </a:r>
                      <a:endParaRPr kumimoji="1" lang="ja-JP" altLang="en-US" sz="1400" dirty="0"/>
                    </a:p>
                  </a:txBody>
                  <a:tcPr/>
                </a:tc>
                <a:tc>
                  <a:txBody>
                    <a:bodyPr/>
                    <a:lstStyle/>
                    <a:p>
                      <a:pPr algn="l"/>
                      <a:endParaRPr kumimoji="1" lang="ja-JP" altLang="en-US" sz="1400" dirty="0"/>
                    </a:p>
                  </a:txBody>
                  <a:tcPr/>
                </a:tc>
              </a:tr>
              <a:tr h="43827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1400" b="0" dirty="0">
                          <a:solidFill>
                            <a:schemeClr val="tx1"/>
                          </a:solidFill>
                          <a:latin typeface="ＭＳ ゴシック" panose="020B0609070205080204" pitchFamily="49" charset="-128"/>
                          <a:ea typeface="ＭＳ ゴシック" panose="020B0609070205080204" pitchFamily="49" charset="-128"/>
                        </a:rPr>
                        <a:t>仮想化サーバー</a:t>
                      </a:r>
                      <a:endParaRPr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1400" b="0" dirty="0">
                          <a:latin typeface="ＭＳ ゴシック" panose="020B0609070205080204" pitchFamily="49" charset="-128"/>
                          <a:ea typeface="ＭＳ ゴシック" panose="020B0609070205080204" pitchFamily="49" charset="-128"/>
                        </a:rPr>
                        <a:t>Windows Server 2019 Standard</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10.0.17763.3770</a:t>
                      </a:r>
                      <a:endParaRPr kumimoji="1" lang="ja-JP" altLang="en-US" sz="1400" dirty="0"/>
                    </a:p>
                  </a:txBody>
                  <a:tcPr/>
                </a:tc>
              </a:tr>
              <a:tr h="43827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1400" b="0" dirty="0">
                          <a:solidFill>
                            <a:schemeClr val="tx1"/>
                          </a:solidFill>
                          <a:latin typeface="ＭＳ ゴシック" panose="020B0609070205080204" pitchFamily="49" charset="-128"/>
                          <a:ea typeface="ＭＳ ゴシック" panose="020B0609070205080204" pitchFamily="49" charset="-128"/>
                        </a:rPr>
                        <a:t>ＦＡＤＰ端末</a:t>
                      </a:r>
                      <a:endParaRPr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1400" b="0" dirty="0">
                          <a:latin typeface="ＭＳ ゴシック" panose="020B0609070205080204" pitchFamily="49" charset="-128"/>
                          <a:ea typeface="ＭＳ ゴシック" panose="020B0609070205080204" pitchFamily="49" charset="-128"/>
                        </a:rPr>
                        <a:t>Windows 10 Enterprise LTSC</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10.0.17763.3287</a:t>
                      </a:r>
                      <a:endParaRPr kumimoji="1" lang="ja-JP" altLang="en-US" sz="1400" dirty="0"/>
                    </a:p>
                  </a:txBody>
                  <a:tcPr/>
                </a:tc>
              </a:tr>
              <a:tr h="43827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ja-JP" altLang="en-US" sz="1400" b="0" dirty="0">
                          <a:solidFill>
                            <a:schemeClr val="tx1"/>
                          </a:solidFill>
                          <a:latin typeface="ＭＳ ゴシック" panose="020B0609070205080204" pitchFamily="49" charset="-128"/>
                          <a:ea typeface="ＭＳ ゴシック" panose="020B0609070205080204" pitchFamily="49" charset="-128"/>
                        </a:rPr>
                        <a:t>運航情報サーバー</a:t>
                      </a:r>
                      <a:endParaRPr lang="en-US" altLang="ja-JP"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de-DE" altLang="ja-JP" sz="1400" b="0" dirty="0">
                          <a:latin typeface="ＭＳ ゴシック" panose="020B0609070205080204" pitchFamily="49" charset="-128"/>
                          <a:ea typeface="ＭＳ ゴシック" panose="020B0609070205080204" pitchFamily="49" charset="-128"/>
                        </a:rPr>
                        <a:t>Red Hat Enterprise Linux</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de-DE" altLang="ja-JP" sz="1400" b="0" dirty="0">
                          <a:latin typeface="ＭＳ ゴシック" panose="020B0609070205080204" pitchFamily="49" charset="-128"/>
                          <a:ea typeface="ＭＳ ゴシック" panose="020B0609070205080204" pitchFamily="49" charset="-128"/>
                        </a:rPr>
                        <a:t>8.5</a:t>
                      </a:r>
                      <a:endParaRPr kumimoji="1" lang="ja-JP" altLang="en-US" sz="1400" dirty="0"/>
                    </a:p>
                  </a:txBody>
                  <a:tcPr/>
                </a:tc>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ＷＥＢサーバー</a:t>
                      </a:r>
                      <a:endParaRPr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1400" b="0" dirty="0">
                          <a:latin typeface="ＭＳ ゴシック" panose="020B0609070205080204" pitchFamily="49" charset="-128"/>
                          <a:ea typeface="ＭＳ ゴシック" panose="020B0609070205080204" pitchFamily="49" charset="-128"/>
                        </a:rPr>
                        <a:t>Oracle WebLogic Server</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14.1.1</a:t>
                      </a:r>
                      <a:endParaRPr kumimoji="1" lang="ja-JP" altLang="en-US" sz="1400" dirty="0"/>
                    </a:p>
                  </a:txBody>
                  <a:tcPr/>
                </a:tc>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ＤＢサーバー</a:t>
                      </a:r>
                      <a:endParaRPr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sz="1400" b="0" dirty="0">
                          <a:latin typeface="ＭＳ ゴシック" panose="020B0609070205080204" pitchFamily="49" charset="-128"/>
                          <a:ea typeface="ＭＳ ゴシック" panose="020B0609070205080204" pitchFamily="49" charset="-128"/>
                        </a:rPr>
                        <a:t>Oracle Database 19c Standard Edition 2</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19.0.0.0.0</a:t>
                      </a:r>
                      <a:endParaRPr kumimoji="1" lang="ja-JP" altLang="en-US" sz="1400" dirty="0"/>
                    </a:p>
                  </a:txBody>
                  <a:tcPr/>
                </a:tc>
              </a:tr>
            </a:tbl>
          </a:graphicData>
        </a:graphic>
      </p:graphicFrame>
      <p:sp>
        <p:nvSpPr>
          <p:cNvPr id="7" name="正方形/長方形 6"/>
          <p:cNvSpPr/>
          <p:nvPr/>
        </p:nvSpPr>
        <p:spPr>
          <a:xfrm>
            <a:off x="5080337" y="164444"/>
            <a:ext cx="2031326"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各サービスの情報</a:t>
            </a:r>
            <a:endParaRPr lang="ja-JP" altLang="en-US" dirty="0">
              <a:latin typeface="ＭＳ ゴシック" panose="020B0609070205080204" pitchFamily="49" charset="-128"/>
              <a:ea typeface="ＭＳ ゴシック" panose="020B0609070205080204" pitchFamily="49"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017337" y="70701"/>
            <a:ext cx="8339972" cy="577555"/>
          </a:xfrm>
        </p:spPr>
        <p:txBody>
          <a:bodyPr>
            <a:normAutofit/>
          </a:bodyPr>
          <a:lstStyle/>
          <a:p>
            <a:r>
              <a:rPr lang="en-US" altLang="ja-JP" sz="2400" dirty="0">
                <a:latin typeface="メイリオ" panose="020B0604030504040204" pitchFamily="50" charset="-128"/>
                <a:ea typeface="メイリオ" panose="020B0604030504040204" pitchFamily="50" charset="-128"/>
              </a:rPr>
              <a:t>Juniper Networks</a:t>
            </a:r>
            <a:r>
              <a:rPr lang="ja-JP" altLang="en-US"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Junos</a:t>
            </a:r>
            <a:r>
              <a:rPr lang="en-US" altLang="ja-JP" sz="2400" dirty="0">
                <a:latin typeface="メイリオ" panose="020B0604030504040204" pitchFamily="50" charset="-128"/>
                <a:ea typeface="メイリオ" panose="020B0604030504040204" pitchFamily="50" charset="-128"/>
              </a:rPr>
              <a:t> OS 20.4R3-S3.4 </a:t>
            </a:r>
            <a:r>
              <a:rPr lang="ja-JP" altLang="en-US" sz="2400" dirty="0">
                <a:latin typeface="メイリオ" panose="020B0604030504040204" pitchFamily="50" charset="-128"/>
                <a:ea typeface="メイリオ" panose="020B0604030504040204" pitchFamily="50" charset="-128"/>
              </a:rPr>
              <a:t>脆弱性</a:t>
            </a:r>
            <a:endParaRPr kumimoji="1" lang="ja-JP" altLang="en-US" sz="2400" dirty="0">
              <a:latin typeface="メイリオ" panose="020B0604030504040204" pitchFamily="50" charset="-128"/>
              <a:ea typeface="メイリオ" panose="020B0604030504040204" pitchFamily="50" charset="-128"/>
            </a:endParaRPr>
          </a:p>
        </p:txBody>
      </p:sp>
      <p:sp>
        <p:nvSpPr>
          <p:cNvPr id="6" name="コンテンツ プレースホルダー 5"/>
          <p:cNvSpPr>
            <a:spLocks noGrp="1"/>
          </p:cNvSpPr>
          <p:nvPr>
            <p:ph idx="1"/>
          </p:nvPr>
        </p:nvSpPr>
        <p:spPr>
          <a:xfrm>
            <a:off x="838200" y="945453"/>
            <a:ext cx="10515600" cy="4967094"/>
          </a:xfrm>
        </p:spPr>
        <p:txBody>
          <a:bodyPr>
            <a:noAutofit/>
          </a:bodyPr>
          <a:lstStyle/>
          <a:p>
            <a:pPr marL="0" indent="0">
              <a:buNone/>
            </a:pPr>
            <a:r>
              <a:rPr lang="ja-JP" altLang="en-US" sz="900" b="1" dirty="0">
                <a:latin typeface="メイリオ" panose="020B0604030504040204" pitchFamily="50" charset="-128"/>
                <a:ea typeface="メイリオ" panose="020B0604030504040204" pitchFamily="50" charset="-128"/>
              </a:rPr>
              <a:t>主な脆弱性と推奨される対応</a:t>
            </a:r>
            <a:endParaRPr lang="ja-JP" altLang="en-US" sz="900" b="1" dirty="0">
              <a:latin typeface="メイリオ" panose="020B0604030504040204" pitchFamily="50" charset="-128"/>
              <a:ea typeface="メイリオ" panose="020B0604030504040204" pitchFamily="50" charset="-128"/>
            </a:endParaRPr>
          </a:p>
          <a:p>
            <a:pPr marL="0" indent="0">
              <a:buNone/>
            </a:pPr>
            <a:r>
              <a:rPr lang="en-US" altLang="ja-JP" sz="900" b="1" dirty="0">
                <a:latin typeface="メイリオ" panose="020B0604030504040204" pitchFamily="50" charset="-128"/>
                <a:ea typeface="メイリオ" panose="020B0604030504040204" pitchFamily="50" charset="-128"/>
              </a:rPr>
              <a:t>1. 20.4R3-S3.4</a:t>
            </a:r>
            <a:r>
              <a:rPr lang="ja-JP" altLang="en-US" sz="900" b="1" dirty="0">
                <a:latin typeface="メイリオ" panose="020B0604030504040204" pitchFamily="50" charset="-128"/>
                <a:ea typeface="メイリオ" panose="020B0604030504040204" pitchFamily="50" charset="-128"/>
              </a:rPr>
              <a:t>に影響する主な脆弱性</a:t>
            </a:r>
            <a:endParaRPr lang="ja-JP" altLang="en-US" sz="900" b="1" dirty="0">
              <a:latin typeface="メイリオ" panose="020B0604030504040204" pitchFamily="50" charset="-128"/>
              <a:ea typeface="メイリオ" panose="020B0604030504040204" pitchFamily="50" charset="-128"/>
            </a:endParaRP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CVE-2024-21591 (Critical, CVSS: 9.8)</a:t>
            </a:r>
            <a:endParaRPr lang="en-US" altLang="ja-JP" sz="9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SRX/EX</a:t>
            </a:r>
            <a:r>
              <a:rPr lang="ja-JP" altLang="en-US" sz="900" dirty="0">
                <a:latin typeface="メイリオ" panose="020B0604030504040204" pitchFamily="50" charset="-128"/>
                <a:ea typeface="メイリオ" panose="020B0604030504040204" pitchFamily="50" charset="-128"/>
              </a:rPr>
              <a:t>シリーズの</a:t>
            </a: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コンポーネントにおけるスタックベースのバッファオーバーフロー。認証されていないリモートの攻撃者が、細工されたリクエストによりルート権限でのリモートコード実行（</a:t>
            </a:r>
            <a:r>
              <a:rPr lang="en-US" altLang="ja-JP" sz="900" dirty="0">
                <a:latin typeface="メイリオ" panose="020B0604030504040204" pitchFamily="50" charset="-128"/>
                <a:ea typeface="メイリオ" panose="020B0604030504040204" pitchFamily="50" charset="-128"/>
              </a:rPr>
              <a:t>RCE</a:t>
            </a:r>
            <a:r>
              <a:rPr lang="ja-JP" altLang="en-US" sz="900" dirty="0">
                <a:latin typeface="メイリオ" panose="020B0604030504040204" pitchFamily="50" charset="-128"/>
                <a:ea typeface="メイリオ" panose="020B0604030504040204" pitchFamily="50" charset="-128"/>
              </a:rPr>
              <a:t>）や</a:t>
            </a:r>
            <a:r>
              <a:rPr lang="en-US" altLang="ja-JP" sz="900" dirty="0">
                <a:latin typeface="メイリオ" panose="020B0604030504040204" pitchFamily="50" charset="-128"/>
                <a:ea typeface="メイリオ" panose="020B0604030504040204" pitchFamily="50" charset="-128"/>
              </a:rPr>
              <a:t>DoS</a:t>
            </a:r>
            <a:r>
              <a:rPr lang="ja-JP" altLang="en-US" sz="900" dirty="0">
                <a:latin typeface="メイリオ" panose="020B0604030504040204" pitchFamily="50" charset="-128"/>
                <a:ea typeface="メイリオ" panose="020B0604030504040204" pitchFamily="50" charset="-128"/>
              </a:rPr>
              <a:t>攻撃を行う可能性。</a:t>
            </a:r>
            <a:endParaRPr lang="ja-JP" altLang="en-US" sz="900" dirty="0">
              <a:latin typeface="メイリオ" panose="020B0604030504040204" pitchFamily="50" charset="-128"/>
              <a:ea typeface="メイリオ" panose="020B0604030504040204" pitchFamily="50" charset="-128"/>
            </a:endParaRPr>
          </a:p>
          <a:p>
            <a:pPr marL="0" indent="0">
              <a:buNone/>
            </a:pPr>
            <a:r>
              <a:rPr lang="ja-JP" altLang="en-US" sz="900" b="1" dirty="0">
                <a:latin typeface="メイリオ" panose="020B0604030504040204" pitchFamily="50" charset="-128"/>
                <a:ea typeface="メイリオ" panose="020B0604030504040204" pitchFamily="50" charset="-128"/>
              </a:rPr>
              <a:t>影響</a:t>
            </a:r>
            <a:r>
              <a:rPr lang="en-US" altLang="ja-JP" sz="900" dirty="0">
                <a:latin typeface="メイリオ" panose="020B0604030504040204" pitchFamily="50" charset="-128"/>
                <a:ea typeface="メイリオ" panose="020B0604030504040204" pitchFamily="50" charset="-128"/>
              </a:rPr>
              <a:t>: 20.4R3-S3.4</a:t>
            </a:r>
            <a:r>
              <a:rPr lang="ja-JP" altLang="en-US" sz="900" dirty="0">
                <a:latin typeface="メイリオ" panose="020B0604030504040204" pitchFamily="50" charset="-128"/>
                <a:ea typeface="メイリオ" panose="020B0604030504040204" pitchFamily="50" charset="-128"/>
              </a:rPr>
              <a:t>は「</a:t>
            </a:r>
            <a:r>
              <a:rPr lang="en-US" altLang="ja-JP" sz="900" dirty="0">
                <a:latin typeface="メイリオ" panose="020B0604030504040204" pitchFamily="50" charset="-128"/>
                <a:ea typeface="メイリオ" panose="020B0604030504040204" pitchFamily="50" charset="-128"/>
              </a:rPr>
              <a:t>20.4R3-S9</a:t>
            </a:r>
            <a:r>
              <a:rPr lang="ja-JP" altLang="en-US" sz="900" dirty="0">
                <a:latin typeface="メイリオ" panose="020B0604030504040204" pitchFamily="50" charset="-128"/>
                <a:ea typeface="メイリオ" panose="020B0604030504040204" pitchFamily="50" charset="-128"/>
              </a:rPr>
              <a:t>より前のバージョン」に該当するため、影響を受ける可能性。</a:t>
            </a:r>
            <a:endParaRPr lang="ja-JP" altLang="en-US" sz="900" dirty="0">
              <a:latin typeface="メイリオ" panose="020B0604030504040204" pitchFamily="50" charset="-128"/>
              <a:ea typeface="メイリオ" panose="020B0604030504040204" pitchFamily="50" charset="-128"/>
            </a:endParaRP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CVE-2023-44177 (High, CVSS: 7.5)</a:t>
            </a:r>
            <a:endParaRPr lang="en-US" altLang="ja-JP" sz="9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CLI</a:t>
            </a:r>
            <a:r>
              <a:rPr lang="ja-JP" altLang="en-US" sz="900" dirty="0">
                <a:latin typeface="メイリオ" panose="020B0604030504040204" pitchFamily="50" charset="-128"/>
                <a:ea typeface="メイリオ" panose="020B0604030504040204" pitchFamily="50" charset="-128"/>
              </a:rPr>
              <a:t>コマンドのスタックベースのバッファオーバーフロー。低権限のユーザーが特定の</a:t>
            </a:r>
            <a:r>
              <a:rPr lang="en-US" altLang="ja-JP" sz="900" dirty="0">
                <a:latin typeface="メイリオ" panose="020B0604030504040204" pitchFamily="50" charset="-128"/>
                <a:ea typeface="メイリオ" panose="020B0604030504040204" pitchFamily="50" charset="-128"/>
              </a:rPr>
              <a:t>CLI</a:t>
            </a:r>
            <a:r>
              <a:rPr lang="ja-JP" altLang="en-US" sz="900" dirty="0">
                <a:latin typeface="メイリオ" panose="020B0604030504040204" pitchFamily="50" charset="-128"/>
                <a:ea typeface="メイリオ" panose="020B0604030504040204" pitchFamily="50" charset="-128"/>
              </a:rPr>
              <a:t>コマンドを実行し、サービス拒否（</a:t>
            </a:r>
            <a:r>
              <a:rPr lang="en-US" altLang="ja-JP" sz="900" dirty="0">
                <a:latin typeface="メイリオ" panose="020B0604030504040204" pitchFamily="50" charset="-128"/>
                <a:ea typeface="メイリオ" panose="020B0604030504040204" pitchFamily="50" charset="-128"/>
              </a:rPr>
              <a:t>DoS</a:t>
            </a:r>
            <a:r>
              <a:rPr lang="ja-JP" altLang="en-US" sz="900" dirty="0">
                <a:latin typeface="メイリオ" panose="020B0604030504040204" pitchFamily="50" charset="-128"/>
                <a:ea typeface="メイリオ" panose="020B0604030504040204" pitchFamily="50" charset="-128"/>
              </a:rPr>
              <a:t>）を引き起こす可能性。</a:t>
            </a:r>
            <a:endParaRPr lang="ja-JP" altLang="en-US" sz="900" dirty="0">
              <a:latin typeface="メイリオ" panose="020B0604030504040204" pitchFamily="50" charset="-128"/>
              <a:ea typeface="メイリオ" panose="020B0604030504040204" pitchFamily="50" charset="-128"/>
            </a:endParaRP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CVE-2024-21619/21620 (Medium/High)</a:t>
            </a:r>
            <a:endParaRPr lang="en-US" altLang="ja-JP" sz="9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J-Web</a:t>
            </a:r>
            <a:r>
              <a:rPr lang="ja-JP" altLang="en-US" sz="900" dirty="0">
                <a:latin typeface="メイリオ" panose="020B0604030504040204" pitchFamily="50" charset="-128"/>
                <a:ea typeface="メイリオ" panose="020B0604030504040204" pitchFamily="50" charset="-128"/>
              </a:rPr>
              <a:t>における認証の欠如や</a:t>
            </a:r>
            <a:r>
              <a:rPr lang="en-US" altLang="ja-JP" sz="900" dirty="0">
                <a:latin typeface="メイリオ" panose="020B0604030504040204" pitchFamily="50" charset="-128"/>
                <a:ea typeface="メイリオ" panose="020B0604030504040204" pitchFamily="50" charset="-128"/>
              </a:rPr>
              <a:t>XSS</a:t>
            </a:r>
            <a:r>
              <a:rPr lang="ja-JP" altLang="en-US" sz="900" dirty="0">
                <a:latin typeface="メイリオ" panose="020B0604030504040204" pitchFamily="50" charset="-128"/>
                <a:ea typeface="メイリオ" panose="020B0604030504040204" pitchFamily="50" charset="-128"/>
              </a:rPr>
              <a:t>（クロスサイトスクリプティング）。</a:t>
            </a:r>
            <a:r>
              <a:rPr lang="en-US" altLang="ja-JP" sz="900" dirty="0">
                <a:latin typeface="メイリオ" panose="020B0604030504040204" pitchFamily="50" charset="-128"/>
                <a:ea typeface="メイリオ" panose="020B0604030504040204" pitchFamily="50" charset="-128"/>
              </a:rPr>
              <a:t>20.4</a:t>
            </a:r>
            <a:r>
              <a:rPr lang="ja-JP" altLang="en-US" sz="900" dirty="0">
                <a:latin typeface="メイリオ" panose="020B0604030504040204" pitchFamily="50" charset="-128"/>
                <a:ea typeface="メイリオ" panose="020B0604030504040204" pitchFamily="50" charset="-128"/>
              </a:rPr>
              <a:t>系に影響。</a:t>
            </a:r>
            <a:endParaRPr lang="ja-JP" altLang="en-US" sz="900" dirty="0">
              <a:latin typeface="メイリオ" panose="020B0604030504040204" pitchFamily="50" charset="-128"/>
              <a:ea typeface="メイリオ" panose="020B0604030504040204" pitchFamily="50" charset="-128"/>
            </a:endParaRP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OpenSSH</a:t>
            </a:r>
            <a:r>
              <a:rPr lang="ja-JP" altLang="en-US" sz="900" dirty="0">
                <a:highlight>
                  <a:srgbClr val="FFFF00"/>
                </a:highlight>
                <a:latin typeface="メイリオ" panose="020B0604030504040204" pitchFamily="50" charset="-128"/>
                <a:ea typeface="メイリオ" panose="020B0604030504040204" pitchFamily="50" charset="-128"/>
              </a:rPr>
              <a:t>関連の脆弱性 </a:t>
            </a:r>
            <a:r>
              <a:rPr lang="en-US" altLang="ja-JP" sz="900" dirty="0">
                <a:highlight>
                  <a:srgbClr val="FFFF00"/>
                </a:highlight>
                <a:latin typeface="メイリオ" panose="020B0604030504040204" pitchFamily="50" charset="-128"/>
                <a:ea typeface="メイリオ" panose="020B0604030504040204" pitchFamily="50" charset="-128"/>
              </a:rPr>
              <a:t>(2024-05)</a:t>
            </a:r>
            <a:endParaRPr lang="en-US" altLang="ja-JP" sz="9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a:t>
            </a:r>
            <a:r>
              <a:rPr lang="en-US" altLang="ja-JP" sz="900" dirty="0" err="1">
                <a:latin typeface="メイリオ" panose="020B0604030504040204" pitchFamily="50" charset="-128"/>
                <a:ea typeface="メイリオ" panose="020B0604030504040204" pitchFamily="50" charset="-128"/>
              </a:rPr>
              <a:t>ssh</a:t>
            </a:r>
            <a:r>
              <a:rPr lang="en-US" altLang="ja-JP" sz="900" dirty="0">
                <a:latin typeface="メイリオ" panose="020B0604030504040204" pitchFamily="50" charset="-128"/>
                <a:ea typeface="メイリオ" panose="020B0604030504040204" pitchFamily="50" charset="-128"/>
              </a:rPr>
              <a:t> cipher list</a:t>
            </a:r>
            <a:r>
              <a:rPr lang="ja-JP" altLang="en-US" sz="900" dirty="0">
                <a:latin typeface="メイリオ" panose="020B0604030504040204" pitchFamily="50" charset="-128"/>
                <a:ea typeface="メイリオ" panose="020B0604030504040204" pitchFamily="50" charset="-128"/>
              </a:rPr>
              <a:t>に</a:t>
            </a:r>
            <a:r>
              <a:rPr lang="en-US" altLang="ja-JP" sz="900" dirty="0">
                <a:latin typeface="メイリオ" panose="020B0604030504040204" pitchFamily="50" charset="-128"/>
                <a:ea typeface="メイリオ" panose="020B0604030504040204" pitchFamily="50" charset="-128"/>
              </a:rPr>
              <a:t>chacha20-poly1305</a:t>
            </a:r>
            <a:r>
              <a:rPr lang="ja-JP" altLang="en-US" sz="900" dirty="0">
                <a:latin typeface="メイリオ" panose="020B0604030504040204" pitchFamily="50" charset="-128"/>
                <a:ea typeface="メイリオ" panose="020B0604030504040204" pitchFamily="50" charset="-128"/>
              </a:rPr>
              <a:t>が含まれる場合に影響を受ける。 </a:t>
            </a:r>
            <a:endParaRPr lang="ja-JP" altLang="en-US" sz="900" dirty="0">
              <a:latin typeface="メイリオ" panose="020B0604030504040204" pitchFamily="50" charset="-128"/>
              <a:ea typeface="メイリオ" panose="020B0604030504040204" pitchFamily="50" charset="-128"/>
            </a:endParaRPr>
          </a:p>
          <a:p>
            <a:pPr marL="0" indent="0">
              <a:buNone/>
            </a:pPr>
            <a:r>
              <a:rPr lang="en-US" altLang="ja-JP" sz="900" b="1" dirty="0">
                <a:latin typeface="メイリオ" panose="020B0604030504040204" pitchFamily="50" charset="-128"/>
                <a:ea typeface="メイリオ" panose="020B0604030504040204" pitchFamily="50" charset="-128"/>
              </a:rPr>
              <a:t>2. </a:t>
            </a:r>
            <a:r>
              <a:rPr lang="ja-JP" altLang="en-US" sz="900" b="1" dirty="0">
                <a:latin typeface="メイリオ" panose="020B0604030504040204" pitchFamily="50" charset="-128"/>
                <a:ea typeface="メイリオ" panose="020B0604030504040204" pitchFamily="50" charset="-128"/>
              </a:rPr>
              <a:t>推奨される対応策</a:t>
            </a:r>
            <a:endParaRPr lang="ja-JP" altLang="en-US" sz="900" b="1" dirty="0">
              <a:latin typeface="メイリオ" panose="020B0604030504040204" pitchFamily="50" charset="-128"/>
              <a:ea typeface="メイリオ" panose="020B0604030504040204" pitchFamily="50" charset="-128"/>
            </a:endParaRPr>
          </a:p>
          <a:p>
            <a:pPr marL="0" indent="0">
              <a:buNone/>
            </a:pPr>
            <a:r>
              <a:rPr lang="ja-JP" altLang="en-US" sz="900" dirty="0">
                <a:latin typeface="メイリオ" panose="020B0604030504040204" pitchFamily="50" charset="-128"/>
                <a:ea typeface="メイリオ" panose="020B0604030504040204" pitchFamily="50" charset="-128"/>
              </a:rPr>
              <a:t>速やかなアップグレード </a:t>
            </a:r>
            <a:r>
              <a:rPr lang="en-US" altLang="ja-JP" sz="900" dirty="0">
                <a:latin typeface="メイリオ" panose="020B0604030504040204" pitchFamily="50" charset="-128"/>
                <a:ea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rPr>
              <a:t>推奨</a:t>
            </a:r>
            <a:r>
              <a:rPr lang="en-US" altLang="ja-JP" sz="900" dirty="0">
                <a:latin typeface="メイリオ" panose="020B0604030504040204" pitchFamily="50" charset="-128"/>
                <a:ea typeface="メイリオ" panose="020B0604030504040204" pitchFamily="50" charset="-128"/>
              </a:rPr>
              <a:t>)</a:t>
            </a:r>
            <a:endParaRPr lang="en-US" altLang="ja-JP" sz="900" dirty="0">
              <a:latin typeface="メイリオ" panose="020B0604030504040204" pitchFamily="50" charset="-128"/>
              <a:ea typeface="メイリオ" panose="020B0604030504040204" pitchFamily="50" charset="-128"/>
            </a:endParaRPr>
          </a:p>
          <a:p>
            <a:pPr marL="0" indent="0">
              <a:buNone/>
            </a:pPr>
            <a:r>
              <a:rPr lang="en-US" altLang="ja-JP" sz="900" dirty="0">
                <a:latin typeface="メイリオ" panose="020B0604030504040204" pitchFamily="50" charset="-128"/>
                <a:ea typeface="メイリオ" panose="020B0604030504040204" pitchFamily="50" charset="-128"/>
              </a:rPr>
              <a:t>20.4R3-S9 </a:t>
            </a:r>
            <a:r>
              <a:rPr lang="ja-JP" altLang="en-US" sz="900" dirty="0">
                <a:latin typeface="メイリオ" panose="020B0604030504040204" pitchFamily="50" charset="-128"/>
                <a:ea typeface="メイリオ" panose="020B0604030504040204" pitchFamily="50" charset="-128"/>
              </a:rPr>
              <a:t>またはそれ以降のサービスリリース（</a:t>
            </a:r>
            <a:r>
              <a:rPr lang="en-US" altLang="ja-JP" sz="900" dirty="0">
                <a:latin typeface="メイリオ" panose="020B0604030504040204" pitchFamily="50" charset="-128"/>
                <a:ea typeface="メイリオ" panose="020B0604030504040204" pitchFamily="50" charset="-128"/>
              </a:rPr>
              <a:t>20.4R3-S10</a:t>
            </a:r>
            <a:r>
              <a:rPr lang="ja-JP" altLang="en-US" sz="900" dirty="0">
                <a:latin typeface="メイリオ" panose="020B0604030504040204" pitchFamily="50" charset="-128"/>
                <a:ea typeface="メイリオ" panose="020B0604030504040204" pitchFamily="50" charset="-128"/>
              </a:rPr>
              <a:t>以上）へアップグレードする。</a:t>
            </a:r>
            <a:endParaRPr lang="ja-JP" altLang="en-US" sz="900" dirty="0">
              <a:latin typeface="メイリオ" panose="020B0604030504040204" pitchFamily="50" charset="-128"/>
              <a:ea typeface="メイリオ" panose="020B0604030504040204" pitchFamily="50" charset="-128"/>
            </a:endParaRPr>
          </a:p>
          <a:p>
            <a:pPr marL="0" indent="0">
              <a:buNone/>
            </a:pPr>
            <a:r>
              <a:rPr lang="ja-JP" altLang="en-US" sz="900" dirty="0">
                <a:latin typeface="メイリオ" panose="020B0604030504040204" pitchFamily="50" charset="-128"/>
                <a:ea typeface="メイリオ" panose="020B0604030504040204" pitchFamily="50" charset="-128"/>
              </a:rPr>
              <a:t>可能であれば、より新しい長期サポート（</a:t>
            </a:r>
            <a:r>
              <a:rPr lang="en-US" altLang="ja-JP" sz="900" dirty="0">
                <a:latin typeface="メイリオ" panose="020B0604030504040204" pitchFamily="50" charset="-128"/>
                <a:ea typeface="メイリオ" panose="020B0604030504040204" pitchFamily="50" charset="-128"/>
              </a:rPr>
              <a:t>LTS</a:t>
            </a:r>
            <a:r>
              <a:rPr lang="ja-JP" altLang="en-US" sz="900" dirty="0">
                <a:latin typeface="メイリオ" panose="020B0604030504040204" pitchFamily="50" charset="-128"/>
                <a:ea typeface="メイリオ" panose="020B0604030504040204" pitchFamily="50" charset="-128"/>
              </a:rPr>
              <a:t>）バージョン（</a:t>
            </a:r>
            <a:r>
              <a:rPr lang="en-US" altLang="ja-JP" sz="900" dirty="0">
                <a:latin typeface="メイリオ" panose="020B0604030504040204" pitchFamily="50" charset="-128"/>
                <a:ea typeface="メイリオ" panose="020B0604030504040204" pitchFamily="50" charset="-128"/>
              </a:rPr>
              <a:t>21.4R3-S5</a:t>
            </a:r>
            <a:r>
              <a:rPr lang="ja-JP" altLang="en-US" sz="900" dirty="0">
                <a:latin typeface="メイリオ" panose="020B0604030504040204" pitchFamily="50" charset="-128"/>
                <a:ea typeface="メイリオ" panose="020B0604030504040204" pitchFamily="50" charset="-128"/>
              </a:rPr>
              <a:t>以降</a:t>
            </a:r>
            <a:r>
              <a:rPr lang="en-US" altLang="ja-JP" sz="900" dirty="0">
                <a:latin typeface="メイリオ" panose="020B0604030504040204" pitchFamily="50" charset="-128"/>
                <a:ea typeface="メイリオ" panose="020B0604030504040204" pitchFamily="50" charset="-128"/>
              </a:rPr>
              <a:t>, 22.4R3-S2</a:t>
            </a:r>
            <a:r>
              <a:rPr lang="ja-JP" altLang="en-US" sz="900" dirty="0">
                <a:latin typeface="メイリオ" panose="020B0604030504040204" pitchFamily="50" charset="-128"/>
                <a:ea typeface="メイリオ" panose="020B0604030504040204" pitchFamily="50" charset="-128"/>
              </a:rPr>
              <a:t>以降）への更新。</a:t>
            </a:r>
            <a:endParaRPr lang="ja-JP" altLang="en-US" sz="900" dirty="0">
              <a:latin typeface="メイリオ" panose="020B0604030504040204" pitchFamily="50" charset="-128"/>
              <a:ea typeface="メイリオ" panose="020B0604030504040204" pitchFamily="50" charset="-128"/>
            </a:endParaRPr>
          </a:p>
          <a:p>
            <a:pPr marL="0" indent="0">
              <a:buNone/>
            </a:pPr>
            <a:r>
              <a:rPr lang="ja-JP" altLang="en-US" sz="900" dirty="0">
                <a:latin typeface="メイリオ" panose="020B0604030504040204" pitchFamily="50" charset="-128"/>
                <a:ea typeface="メイリオ" panose="020B0604030504040204" pitchFamily="50" charset="-128"/>
              </a:rPr>
              <a:t>回避策（アップグレード不可の場合）</a:t>
            </a:r>
            <a:endParaRPr lang="ja-JP" altLang="en-US" sz="900" dirty="0">
              <a:latin typeface="メイリオ" panose="020B0604030504040204" pitchFamily="50" charset="-128"/>
              <a:ea typeface="メイリオ" panose="020B0604030504040204" pitchFamily="50" charset="-128"/>
            </a:endParaRPr>
          </a:p>
          <a:p>
            <a:pPr marL="0" indent="0">
              <a:buNone/>
            </a:pP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を無効にする</a:t>
            </a:r>
            <a:r>
              <a:rPr lang="en-US" altLang="ja-JP" sz="900" dirty="0">
                <a:latin typeface="メイリオ" panose="020B0604030504040204" pitchFamily="50" charset="-128"/>
                <a:ea typeface="メイリオ" panose="020B0604030504040204" pitchFamily="50" charset="-128"/>
              </a:rPr>
              <a:t>:</a:t>
            </a:r>
            <a:endParaRPr lang="en-US" altLang="ja-JP" sz="900" dirty="0">
              <a:latin typeface="メイリオ" panose="020B0604030504040204" pitchFamily="50" charset="-128"/>
              <a:ea typeface="メイリオ" panose="020B0604030504040204" pitchFamily="50" charset="-128"/>
            </a:endParaRPr>
          </a:p>
          <a:p>
            <a:pPr marL="0" indent="0">
              <a:buNone/>
            </a:pPr>
            <a:r>
              <a:rPr lang="en-US" altLang="ja-JP" sz="900" dirty="0">
                <a:highlight>
                  <a:srgbClr val="C0C0C0"/>
                </a:highlight>
                <a:latin typeface="メイリオ" panose="020B0604030504040204" pitchFamily="50" charset="-128"/>
                <a:ea typeface="メイリオ" panose="020B0604030504040204" pitchFamily="50" charset="-128"/>
              </a:rPr>
              <a:t>delete system services web-management</a:t>
            </a:r>
            <a:endParaRPr lang="en-US" altLang="ja-JP" sz="900" dirty="0">
              <a:highlight>
                <a:srgbClr val="C0C0C0"/>
              </a:highlight>
              <a:latin typeface="メイリオ" panose="020B0604030504040204" pitchFamily="50" charset="-128"/>
              <a:ea typeface="メイリオ" panose="020B0604030504040204" pitchFamily="50" charset="-128"/>
            </a:endParaRPr>
          </a:p>
          <a:p>
            <a:pPr marL="0" indent="0">
              <a:buNone/>
            </a:pP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アクセスを制限する</a:t>
            </a:r>
            <a:r>
              <a:rPr lang="en-US" altLang="ja-JP" sz="900" dirty="0">
                <a:latin typeface="メイリオ" panose="020B0604030504040204" pitchFamily="50" charset="-128"/>
                <a:ea typeface="メイリオ" panose="020B0604030504040204" pitchFamily="50" charset="-128"/>
              </a:rPr>
              <a:t>: </a:t>
            </a:r>
            <a:r>
              <a:rPr lang="ja-JP" altLang="en-US" sz="900" dirty="0">
                <a:latin typeface="メイリオ" panose="020B0604030504040204" pitchFamily="50" charset="-128"/>
                <a:ea typeface="メイリオ" panose="020B0604030504040204" pitchFamily="50" charset="-128"/>
              </a:rPr>
              <a:t>ファイアウォールフィルターを使用して、信頼できる管理</a:t>
            </a:r>
            <a:r>
              <a:rPr lang="en-US" altLang="ja-JP" sz="900" dirty="0">
                <a:latin typeface="メイリオ" panose="020B0604030504040204" pitchFamily="50" charset="-128"/>
                <a:ea typeface="メイリオ" panose="020B0604030504040204" pitchFamily="50" charset="-128"/>
              </a:rPr>
              <a:t>IP</a:t>
            </a:r>
            <a:r>
              <a:rPr lang="ja-JP" altLang="en-US" sz="900" dirty="0">
                <a:latin typeface="メイリオ" panose="020B0604030504040204" pitchFamily="50" charset="-128"/>
                <a:ea typeface="メイリオ" panose="020B0604030504040204" pitchFamily="50" charset="-128"/>
              </a:rPr>
              <a:t>からのみアクセスを許可する。 </a:t>
            </a:r>
            <a:endParaRPr lang="ja-JP" altLang="en-US" sz="900" dirty="0">
              <a:latin typeface="メイリオ" panose="020B0604030504040204" pitchFamily="50" charset="-128"/>
              <a:ea typeface="メイリオ" panose="020B0604030504040204" pitchFamily="50" charset="-128"/>
            </a:endParaRPr>
          </a:p>
        </p:txBody>
      </p:sp>
      <p:pic>
        <p:nvPicPr>
          <p:cNvPr id="3" name="図 2"/>
          <p:cNvPicPr>
            <a:picLocks noChangeAspect="1"/>
          </p:cNvPicPr>
          <p:nvPr/>
        </p:nvPicPr>
        <p:blipFill>
          <a:blip r:embed="rId1"/>
          <a:stretch>
            <a:fillRect/>
          </a:stretch>
        </p:blipFill>
        <p:spPr>
          <a:xfrm>
            <a:off x="7835505" y="4439271"/>
            <a:ext cx="3892750" cy="14732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68499" y="101617"/>
            <a:ext cx="8255002" cy="492066"/>
          </a:xfrm>
        </p:spPr>
        <p:txBody>
          <a:bodyPr>
            <a:normAutofit/>
          </a:bodyPr>
          <a:lstStyle/>
          <a:p>
            <a:r>
              <a:rPr lang="en-US" altLang="ja-JP" dirty="0">
                <a:latin typeface="メイリオ" panose="020B0604030504040204" pitchFamily="50" charset="-128"/>
                <a:ea typeface="メイリオ" panose="020B0604030504040204" pitchFamily="50" charset="-128"/>
              </a:rPr>
              <a:t>NEC UNIVERGE IX2207 OS</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10.6.63 </a:t>
            </a:r>
            <a:r>
              <a:rPr lang="ja-JP" altLang="en-US" dirty="0">
                <a:latin typeface="メイリオ" panose="020B0604030504040204" pitchFamily="50" charset="-128"/>
                <a:ea typeface="メイリオ" panose="020B0604030504040204" pitchFamily="50" charset="-128"/>
              </a:rPr>
              <a:t>の脆弱性</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idx="1"/>
          </p:nvPr>
        </p:nvSpPr>
        <p:spPr>
          <a:xfrm>
            <a:off x="838200" y="662730"/>
            <a:ext cx="10515600" cy="6093653"/>
          </a:xfrm>
        </p:spPr>
        <p:txBody>
          <a:bodyPr>
            <a:normAutofit fontScale="32500" lnSpcReduction="20000"/>
          </a:bodyPr>
          <a:lstStyle/>
          <a:p>
            <a:pPr marL="0" indent="0">
              <a:buNone/>
            </a:pPr>
            <a:r>
              <a:rPr lang="ja-JP" altLang="en-US" dirty="0">
                <a:latin typeface="メイリオ" panose="020B0604030504040204" pitchFamily="50" charset="-128"/>
                <a:ea typeface="メイリオ" panose="020B0604030504040204" pitchFamily="50" charset="-128"/>
              </a:rPr>
              <a:t>主な脆弱性と推奨対応</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b="1" dirty="0">
                <a:latin typeface="メイリオ" panose="020B0604030504040204" pitchFamily="50" charset="-128"/>
                <a:ea typeface="メイリオ" panose="020B0604030504040204" pitchFamily="50" charset="-128"/>
              </a:rPr>
              <a:t>1. 10.6.63</a:t>
            </a:r>
            <a:r>
              <a:rPr lang="ja-JP" altLang="en-US" b="1" dirty="0">
                <a:latin typeface="メイリオ" panose="020B0604030504040204" pitchFamily="50" charset="-128"/>
                <a:ea typeface="メイリオ" panose="020B0604030504040204" pitchFamily="50" charset="-128"/>
              </a:rPr>
              <a:t>に影響する主な最新脆弱性</a:t>
            </a:r>
            <a:endParaRPr lang="ja-JP" altLang="en-US" b="1"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CVE-2024-11013</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7.2</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：コマンドインジェクション</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管理インターフェースにおいて入力検証が不十分なため、認証済みの攻撃者が任意の</a:t>
            </a:r>
            <a:r>
              <a:rPr lang="en-US" altLang="ja-JP" dirty="0">
                <a:latin typeface="メイリオ" panose="020B0604030504040204" pitchFamily="50" charset="-128"/>
                <a:ea typeface="メイリオ" panose="020B0604030504040204" pitchFamily="50" charset="-128"/>
              </a:rPr>
              <a:t>CLI</a:t>
            </a:r>
            <a:r>
              <a:rPr lang="ja-JP" altLang="en-US" dirty="0">
                <a:latin typeface="メイリオ" panose="020B0604030504040204" pitchFamily="50" charset="-128"/>
                <a:ea typeface="メイリオ" panose="020B0604030504040204" pitchFamily="50" charset="-128"/>
              </a:rPr>
              <a:t>コマンドを実行可能</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：ルータの完全乗っ取り、設定変更、</a:t>
            </a:r>
            <a:r>
              <a:rPr lang="en-US" altLang="ja-JP" dirty="0">
                <a:latin typeface="メイリオ" panose="020B0604030504040204" pitchFamily="50" charset="-128"/>
                <a:ea typeface="メイリオ" panose="020B0604030504040204" pitchFamily="50" charset="-128"/>
              </a:rPr>
              <a:t>VPN</a:t>
            </a:r>
            <a:r>
              <a:rPr lang="ja-JP" altLang="en-US" dirty="0">
                <a:latin typeface="メイリオ" panose="020B0604030504040204" pitchFamily="50" charset="-128"/>
                <a:ea typeface="メイリオ" panose="020B0604030504040204" pitchFamily="50" charset="-128"/>
              </a:rPr>
              <a:t>侵入、通信盗聴</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影響バージョン：</a:t>
            </a:r>
            <a:r>
              <a:rPr lang="en-US" altLang="ja-JP" dirty="0">
                <a:latin typeface="メイリオ" panose="020B0604030504040204" pitchFamily="50" charset="-128"/>
                <a:ea typeface="メイリオ" panose="020B0604030504040204" pitchFamily="50" charset="-128"/>
              </a:rPr>
              <a:t>IX</a:t>
            </a:r>
            <a:r>
              <a:rPr lang="ja-JP" altLang="en-US" dirty="0">
                <a:latin typeface="メイリオ" panose="020B0604030504040204" pitchFamily="50" charset="-128"/>
                <a:ea typeface="メイリオ" panose="020B0604030504040204" pitchFamily="50" charset="-128"/>
              </a:rPr>
              <a:t>シリーズ </a:t>
            </a:r>
            <a:r>
              <a:rPr lang="en-US" altLang="ja-JP" dirty="0">
                <a:latin typeface="メイリオ" panose="020B0604030504040204" pitchFamily="50" charset="-128"/>
                <a:ea typeface="メイリオ" panose="020B0604030504040204" pitchFamily="50" charset="-128"/>
              </a:rPr>
              <a:t>Ver.10.2 </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Ver.10.6</a:t>
            </a:r>
            <a:r>
              <a:rPr lang="ja-JP" altLang="en-US" dirty="0">
                <a:latin typeface="メイリオ" panose="020B0604030504040204" pitchFamily="50" charset="-128"/>
                <a:ea typeface="メイリオ" panose="020B0604030504040204" pitchFamily="50" charset="-128"/>
              </a:rPr>
              <a:t>系 → </a:t>
            </a:r>
            <a:r>
              <a:rPr lang="en-US" altLang="ja-JP" dirty="0">
                <a:latin typeface="メイリオ" panose="020B0604030504040204" pitchFamily="50" charset="-128"/>
                <a:ea typeface="メイリオ" panose="020B0604030504040204" pitchFamily="50" charset="-128"/>
              </a:rPr>
              <a:t>10.6.63</a:t>
            </a:r>
            <a:r>
              <a:rPr lang="ja-JP" altLang="en-US" dirty="0">
                <a:latin typeface="メイリオ" panose="020B0604030504040204" pitchFamily="50" charset="-128"/>
                <a:ea typeface="メイリオ" panose="020B0604030504040204" pitchFamily="50" charset="-128"/>
              </a:rPr>
              <a:t>は影響を受ける</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CVE-2024-11014</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Medium, CVSS: 4.3</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CSRF</a:t>
            </a:r>
            <a:r>
              <a:rPr lang="ja-JP" altLang="en-US" dirty="0">
                <a:latin typeface="メイリオ" panose="020B0604030504040204" pitchFamily="50" charset="-128"/>
                <a:ea typeface="メイリオ" panose="020B0604030504040204" pitchFamily="50" charset="-128"/>
              </a:rPr>
              <a:t>（クロスサイトリクエストフォージェリ）</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攻撃者が細工したページを管理者に閲覧させることで、管理者権限で設定変更が可能</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：ルータ設定改ざん、管理者権限悪用</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CVE-2025-8153</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Medium, CVSS: 6.1</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：クロスサイトスクリプティング（</a:t>
            </a:r>
            <a:r>
              <a:rPr lang="en-US" altLang="ja-JP" dirty="0">
                <a:latin typeface="メイリオ" panose="020B0604030504040204" pitchFamily="50" charset="-128"/>
                <a:ea typeface="メイリオ" panose="020B0604030504040204" pitchFamily="50" charset="-128"/>
              </a:rPr>
              <a:t>XSS</a:t>
            </a:r>
            <a:r>
              <a:rPr lang="ja-JP" altLang="en-US"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管理画面において、悪意のあるスクリプトが実行される可能性</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：管理者セッション乗っ取り、不正設定変更</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endParaRPr lang="ja-JP" altLang="en-US" b="1"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ファームウェアアップグレード（最推奨）</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NEC</a:t>
            </a:r>
            <a:r>
              <a:rPr lang="ja-JP" altLang="en-US" dirty="0">
                <a:latin typeface="メイリオ" panose="020B0604030504040204" pitchFamily="50" charset="-128"/>
                <a:ea typeface="メイリオ" panose="020B0604030504040204" pitchFamily="50" charset="-128"/>
              </a:rPr>
              <a:t>の修正版へアップデート</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Ver.10.7</a:t>
            </a:r>
            <a:r>
              <a:rPr lang="ja-JP" altLang="en-US" dirty="0">
                <a:latin typeface="メイリオ" panose="020B0604030504040204" pitchFamily="50" charset="-128"/>
                <a:ea typeface="メイリオ" panose="020B0604030504040204" pitchFamily="50" charset="-128"/>
              </a:rPr>
              <a:t>系以降または最新安定版</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回避策（アップグレード不可の場合）</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管理無効化（最重要）</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no http-server enable</a:t>
            </a:r>
            <a:endParaRPr lang="en-US" altLang="ja-JP" dirty="0">
              <a:highlight>
                <a:srgbClr val="C0C0C0"/>
              </a:highlight>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HTTPS</a:t>
            </a:r>
            <a:r>
              <a:rPr lang="ja-JP" altLang="en-US" dirty="0">
                <a:latin typeface="メイリオ" panose="020B0604030504040204" pitchFamily="50" charset="-128"/>
                <a:ea typeface="メイリオ" panose="020B0604030504040204" pitchFamily="50" charset="-128"/>
              </a:rPr>
              <a:t>アクセス制限</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管理端末のみ許可</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Telnet</a:t>
            </a:r>
            <a:r>
              <a:rPr lang="ja-JP" altLang="en-US" dirty="0">
                <a:latin typeface="メイリオ" panose="020B0604030504040204" pitchFamily="50" charset="-128"/>
                <a:ea typeface="メイリオ" panose="020B0604030504040204" pitchFamily="50" charset="-128"/>
              </a:rPr>
              <a:t>無効化</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no telnet-server enable</a:t>
            </a:r>
            <a:endParaRPr lang="en-US" altLang="ja-JP" dirty="0">
              <a:highlight>
                <a:srgbClr val="C0C0C0"/>
              </a:highlight>
              <a:latin typeface="メイリオ" panose="020B0604030504040204" pitchFamily="50" charset="-128"/>
              <a:ea typeface="メイリオ" panose="020B0604030504040204" pitchFamily="50" charset="-128"/>
            </a:endParaRP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ssh</a:t>
            </a:r>
            <a:r>
              <a:rPr lang="en-US" altLang="ja-JP" dirty="0">
                <a:highlight>
                  <a:srgbClr val="C0C0C0"/>
                </a:highlight>
                <a:latin typeface="メイリオ" panose="020B0604030504040204" pitchFamily="50" charset="-128"/>
                <a:ea typeface="メイリオ" panose="020B0604030504040204" pitchFamily="50" charset="-128"/>
              </a:rPr>
              <a:t>-server enable</a:t>
            </a:r>
            <a:endParaRPr lang="en-US" altLang="ja-JP" dirty="0">
              <a:highlight>
                <a:srgbClr val="C0C0C0"/>
              </a:highlight>
              <a:latin typeface="メイリオ" panose="020B0604030504040204" pitchFamily="50" charset="-128"/>
              <a:ea typeface="メイリオ" panose="020B0604030504040204" pitchFamily="50" charset="-128"/>
            </a:endParaRPr>
          </a:p>
        </p:txBody>
      </p:sp>
      <p:pic>
        <p:nvPicPr>
          <p:cNvPr id="5" name="図 4"/>
          <p:cNvPicPr>
            <a:picLocks noChangeAspect="1"/>
          </p:cNvPicPr>
          <p:nvPr/>
        </p:nvPicPr>
        <p:blipFill>
          <a:blip r:embed="rId1"/>
          <a:stretch>
            <a:fillRect/>
          </a:stretch>
        </p:blipFill>
        <p:spPr>
          <a:xfrm>
            <a:off x="6550598" y="4131413"/>
            <a:ext cx="4766084" cy="22128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Ｌ２ＳＷ　なし</a:t>
            </a:r>
            <a:endParaRPr kumimoji="1" lang="ja-JP" altLang="en-US" dirty="0"/>
          </a:p>
        </p:txBody>
      </p:sp>
      <p:sp>
        <p:nvSpPr>
          <p:cNvPr id="3" name="コンテンツ プレースホルダー 2"/>
          <p:cNvSpPr>
            <a:spLocks noGrp="1"/>
          </p:cNvSpPr>
          <p:nvPr>
            <p:ph idx="1"/>
          </p:nvPr>
        </p:nvSpPr>
        <p:spPr/>
        <p:txBody>
          <a:bodyPr/>
          <a:lstStyle/>
          <a:p>
            <a:endParaRPr kumimoji="1" lang="ja-JP"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ＳＲ　なし</a:t>
            </a:r>
            <a:endParaRPr kumimoji="1" lang="ja-JP" altLang="en-US" dirty="0"/>
          </a:p>
        </p:txBody>
      </p:sp>
      <p:sp>
        <p:nvSpPr>
          <p:cNvPr id="3" name="コンテンツ プレースホルダー 2"/>
          <p:cNvSpPr>
            <a:spLocks noGrp="1"/>
          </p:cNvSpPr>
          <p:nvPr>
            <p:ph idx="1"/>
          </p:nvPr>
        </p:nvSpPr>
        <p:spPr/>
        <p:txBody>
          <a:bodyPr/>
          <a:lstStyle/>
          <a:p>
            <a:endParaRPr kumimoji="1" lang="ja-JP"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sz="2000" dirty="0">
                <a:latin typeface="メイリオ" panose="020B0604030504040204" pitchFamily="50" charset="-128"/>
                <a:ea typeface="メイリオ" panose="020B0604030504040204" pitchFamily="50" charset="-128"/>
              </a:rPr>
              <a:t>Windows Server 2019 Standard</a:t>
            </a:r>
            <a:r>
              <a:rPr lang="ja-JP" altLang="en-US" sz="2000" dirty="0">
                <a:latin typeface="メイリオ" panose="020B0604030504040204" pitchFamily="50" charset="-128"/>
                <a:ea typeface="メイリオ" panose="020B0604030504040204" pitchFamily="50" charset="-128"/>
              </a:rPr>
              <a:t> </a:t>
            </a:r>
            <a:r>
              <a:rPr lang="en-US" altLang="ja-JP" sz="2000" dirty="0">
                <a:latin typeface="メイリオ" panose="020B0604030504040204" pitchFamily="50" charset="-128"/>
                <a:ea typeface="メイリオ" panose="020B0604030504040204" pitchFamily="50" charset="-128"/>
              </a:rPr>
              <a:t>OS 10.0.17763.3770</a:t>
            </a:r>
            <a:r>
              <a:rPr lang="ja-JP" altLang="en-US" sz="2000" dirty="0">
                <a:latin typeface="メイリオ" panose="020B0604030504040204" pitchFamily="50" charset="-128"/>
                <a:ea typeface="メイリオ" panose="020B0604030504040204" pitchFamily="50" charset="-128"/>
              </a:rPr>
              <a:t>の脆弱性</a:t>
            </a:r>
            <a:endParaRPr kumimoji="1" lang="ja-JP" altLang="en-US" sz="2000" dirty="0">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idx="1"/>
          </p:nvPr>
        </p:nvSpPr>
        <p:spPr>
          <a:xfrm>
            <a:off x="838200" y="857839"/>
            <a:ext cx="10515600" cy="5806912"/>
          </a:xfrm>
        </p:spPr>
        <p:txBody>
          <a:bodyPr>
            <a:normAutofit fontScale="25000" lnSpcReduction="20000"/>
          </a:bodyPr>
          <a:lstStyle/>
          <a:p>
            <a:pPr marL="0" indent="0">
              <a:buNone/>
            </a:pPr>
            <a:r>
              <a:rPr lang="ja-JP" altLang="en-US" sz="3600" b="1" dirty="0">
                <a:latin typeface="メイリオ" panose="020B0604030504040204" pitchFamily="50" charset="-128"/>
                <a:ea typeface="メイリオ" panose="020B0604030504040204" pitchFamily="50" charset="-128"/>
              </a:rPr>
              <a:t>主な脆弱性と推奨される対応</a:t>
            </a:r>
            <a:endParaRPr lang="ja-JP" altLang="en-US" sz="3600" b="1" dirty="0">
              <a:latin typeface="メイリオ" panose="020B0604030504040204" pitchFamily="50" charset="-128"/>
              <a:ea typeface="メイリオ" panose="020B0604030504040204" pitchFamily="50" charset="-128"/>
            </a:endParaRPr>
          </a:p>
          <a:p>
            <a:pPr marL="0" indent="0">
              <a:buNone/>
            </a:pPr>
            <a:r>
              <a:rPr lang="en-US" altLang="ja-JP" sz="3600" b="1" dirty="0">
                <a:latin typeface="メイリオ" panose="020B0604030504040204" pitchFamily="50" charset="-128"/>
                <a:ea typeface="メイリオ" panose="020B0604030504040204" pitchFamily="50" charset="-128"/>
              </a:rPr>
              <a:t>1. Windows Server 2019 Standard</a:t>
            </a:r>
            <a:r>
              <a:rPr lang="ja-JP" altLang="en-US" sz="3600" b="1" dirty="0">
                <a:latin typeface="メイリオ" panose="020B0604030504040204" pitchFamily="50" charset="-128"/>
                <a:ea typeface="メイリオ" panose="020B0604030504040204" pitchFamily="50" charset="-128"/>
              </a:rPr>
              <a:t>に影響する主な脆弱性</a:t>
            </a:r>
            <a:endParaRPr lang="en-US" altLang="ja-JP" sz="3600" dirty="0">
              <a:latin typeface="メイリオ" panose="020B0604030504040204" pitchFamily="50" charset="-128"/>
              <a:ea typeface="メイリオ" panose="020B0604030504040204" pitchFamily="50" charset="-128"/>
            </a:endParaRP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CVE-2025-59287</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Critical, CVSS: 9.8</a:t>
            </a:r>
            <a:r>
              <a:rPr lang="ja-JP" altLang="en-US" sz="3600" dirty="0">
                <a:highlight>
                  <a:srgbClr val="FFFF00"/>
                </a:highlight>
                <a:latin typeface="メイリオ" panose="020B0604030504040204" pitchFamily="50" charset="-128"/>
                <a:ea typeface="メイリオ" panose="020B0604030504040204" pitchFamily="50" charset="-128"/>
              </a:rPr>
              <a:t>）</a:t>
            </a:r>
            <a:endParaRPr lang="ja-JP" altLang="en-US" sz="36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Windows Server Update Services</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）のリモートコード実行</a:t>
            </a:r>
            <a:endParaRPr lang="ja-JP" altLang="en-US" sz="3600" dirty="0">
              <a:latin typeface="メイリオ" panose="020B0604030504040204" pitchFamily="50" charset="-128"/>
              <a:ea typeface="メイリオ" panose="020B0604030504040204" pitchFamily="50" charset="-128"/>
            </a:endParaRPr>
          </a:p>
          <a:p>
            <a:pPr marL="0" indent="0">
              <a:buNone/>
            </a:pP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の処理の不備により、認証されていない攻撃者が</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権限でリモートコード実行可能</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b="1" dirty="0">
                <a:latin typeface="メイリオ" panose="020B0604030504040204" pitchFamily="50" charset="-128"/>
                <a:ea typeface="メイリオ" panose="020B0604030504040204" pitchFamily="50" charset="-128"/>
              </a:rPr>
              <a:t>影響</a:t>
            </a:r>
            <a:r>
              <a:rPr lang="ja-JP" altLang="en-US" sz="3600" dirty="0">
                <a:latin typeface="メイリオ" panose="020B0604030504040204" pitchFamily="50" charset="-128"/>
                <a:ea typeface="メイリオ" panose="020B0604030504040204" pitchFamily="50" charset="-128"/>
              </a:rPr>
              <a:t>：サーバー完全乗っ取り、マルウェア実行、ドメイン侵害</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影響条件：</a:t>
            </a: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役割がインストールされている場合 →  仮想化基盤で使用されることが多いため注意</a:t>
            </a:r>
            <a:endParaRPr lang="ja-JP" altLang="en-US" sz="3600" dirty="0">
              <a:latin typeface="メイリオ" panose="020B0604030504040204" pitchFamily="50" charset="-128"/>
              <a:ea typeface="メイリオ" panose="020B0604030504040204" pitchFamily="50" charset="-128"/>
            </a:endParaRP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CVE-2023-28252</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Critical, CVSS: 7.8</a:t>
            </a:r>
            <a:r>
              <a:rPr lang="ja-JP" altLang="en-US" sz="3600" dirty="0">
                <a:highlight>
                  <a:srgbClr val="FFFF00"/>
                </a:highlight>
                <a:latin typeface="メイリオ" panose="020B0604030504040204" pitchFamily="50" charset="-128"/>
                <a:ea typeface="メイリオ" panose="020B0604030504040204" pitchFamily="50" charset="-128"/>
              </a:rPr>
              <a:t>）</a:t>
            </a:r>
            <a:endParaRPr lang="ja-JP" altLang="en-US" sz="36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CLFS</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Common Log File System</a:t>
            </a:r>
            <a:r>
              <a:rPr lang="ja-JP" altLang="en-US" sz="3600" dirty="0">
                <a:latin typeface="メイリオ" panose="020B0604030504040204" pitchFamily="50" charset="-128"/>
                <a:ea typeface="メイリオ" panose="020B0604030504040204" pitchFamily="50" charset="-128"/>
              </a:rPr>
              <a:t>）の権限昇格</a:t>
            </a:r>
            <a:endParaRPr lang="ja-JP" altLang="en-US" sz="3600" dirty="0">
              <a:latin typeface="メイリオ" panose="020B0604030504040204" pitchFamily="50" charset="-128"/>
              <a:ea typeface="メイリオ" panose="020B0604030504040204" pitchFamily="50" charset="-128"/>
            </a:endParaRPr>
          </a:p>
          <a:p>
            <a:pPr marL="0" indent="0">
              <a:buNone/>
            </a:pPr>
            <a:r>
              <a:rPr lang="en-US" altLang="ja-JP" sz="3600" dirty="0">
                <a:latin typeface="メイリオ" panose="020B0604030504040204" pitchFamily="50" charset="-128"/>
                <a:ea typeface="メイリオ" panose="020B0604030504040204" pitchFamily="50" charset="-128"/>
              </a:rPr>
              <a:t>Windows</a:t>
            </a:r>
            <a:r>
              <a:rPr lang="ja-JP" altLang="en-US" sz="3600" dirty="0">
                <a:latin typeface="メイリオ" panose="020B0604030504040204" pitchFamily="50" charset="-128"/>
                <a:ea typeface="メイリオ" panose="020B0604030504040204" pitchFamily="50" charset="-128"/>
              </a:rPr>
              <a:t>のログ処理機能の不備により、攻撃者が</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権限を取得可能</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b="1" dirty="0">
                <a:latin typeface="メイリオ" panose="020B0604030504040204" pitchFamily="50" charset="-128"/>
                <a:ea typeface="メイリオ" panose="020B0604030504040204" pitchFamily="50" charset="-128"/>
              </a:rPr>
              <a:t>影響</a:t>
            </a:r>
            <a:r>
              <a:rPr lang="ja-JP" altLang="en-US" sz="3600" dirty="0">
                <a:latin typeface="メイリオ" panose="020B0604030504040204" pitchFamily="50" charset="-128"/>
                <a:ea typeface="メイリオ" panose="020B0604030504040204" pitchFamily="50" charset="-128"/>
              </a:rPr>
              <a:t>：管理者権限取得、ランサムウェア実行</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影響バージョン：</a:t>
            </a:r>
            <a:r>
              <a:rPr lang="en-US" altLang="ja-JP" sz="3600" dirty="0">
                <a:latin typeface="メイリオ" panose="020B0604030504040204" pitchFamily="50" charset="-128"/>
                <a:ea typeface="メイリオ" panose="020B0604030504040204" pitchFamily="50" charset="-128"/>
              </a:rPr>
              <a:t>Windows Server 2019 → 17763.3770 </a:t>
            </a:r>
            <a:r>
              <a:rPr lang="ja-JP" altLang="en-US" sz="3600" dirty="0">
                <a:latin typeface="メイリオ" panose="020B0604030504040204" pitchFamily="50" charset="-128"/>
                <a:ea typeface="メイリオ" panose="020B0604030504040204" pitchFamily="50" charset="-128"/>
              </a:rPr>
              <a:t>は影響を受ける可能性あり</a:t>
            </a:r>
            <a:endParaRPr lang="ja-JP" altLang="en-US" sz="3600" dirty="0">
              <a:latin typeface="メイリオ" panose="020B0604030504040204" pitchFamily="50" charset="-128"/>
              <a:ea typeface="メイリオ" panose="020B0604030504040204" pitchFamily="50" charset="-128"/>
            </a:endParaRP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CVE-2023-32019</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High, CVSS: 7.8</a:t>
            </a:r>
            <a:r>
              <a:rPr lang="ja-JP" altLang="en-US" sz="3600" dirty="0">
                <a:highlight>
                  <a:srgbClr val="FFFF00"/>
                </a:highlight>
                <a:latin typeface="メイリオ" panose="020B0604030504040204" pitchFamily="50" charset="-128"/>
                <a:ea typeface="メイリオ" panose="020B0604030504040204" pitchFamily="50" charset="-128"/>
              </a:rPr>
              <a:t>）</a:t>
            </a:r>
            <a:endParaRPr lang="ja-JP" altLang="en-US" sz="36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Win32k</a:t>
            </a:r>
            <a:r>
              <a:rPr lang="ja-JP" altLang="en-US" sz="3600" dirty="0">
                <a:latin typeface="メイリオ" panose="020B0604030504040204" pitchFamily="50" charset="-128"/>
                <a:ea typeface="メイリオ" panose="020B0604030504040204" pitchFamily="50" charset="-128"/>
              </a:rPr>
              <a:t>の権限昇格</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ローカルアクセスした攻撃者が、カーネル権限（</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）を取得可能</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影響：完全な</a:t>
            </a:r>
            <a:r>
              <a:rPr lang="en-US" altLang="ja-JP" sz="3600" dirty="0">
                <a:latin typeface="メイリオ" panose="020B0604030504040204" pitchFamily="50" charset="-128"/>
                <a:ea typeface="メイリオ" panose="020B0604030504040204" pitchFamily="50" charset="-128"/>
              </a:rPr>
              <a:t>OS</a:t>
            </a:r>
            <a:r>
              <a:rPr lang="ja-JP" altLang="en-US" sz="3600" dirty="0">
                <a:latin typeface="メイリオ" panose="020B0604030504040204" pitchFamily="50" charset="-128"/>
                <a:ea typeface="メイリオ" panose="020B0604030504040204" pitchFamily="50" charset="-128"/>
              </a:rPr>
              <a:t>制御、セキュリティ機能回避</a:t>
            </a:r>
            <a:endParaRPr lang="ja-JP" altLang="en-US" sz="3600" dirty="0">
              <a:latin typeface="メイリオ" panose="020B0604030504040204" pitchFamily="50" charset="-128"/>
              <a:ea typeface="メイリオ" panose="020B0604030504040204" pitchFamily="50" charset="-128"/>
            </a:endParaRPr>
          </a:p>
          <a:p>
            <a:pPr marL="0" indent="0">
              <a:buNone/>
            </a:pPr>
            <a:r>
              <a:rPr lang="en-US" altLang="ja-JP" sz="3600" b="1" dirty="0">
                <a:latin typeface="メイリオ" panose="020B0604030504040204" pitchFamily="50" charset="-128"/>
                <a:ea typeface="メイリオ" panose="020B0604030504040204" pitchFamily="50" charset="-128"/>
              </a:rPr>
              <a:t>2. </a:t>
            </a:r>
            <a:r>
              <a:rPr lang="ja-JP" altLang="en-US" sz="3600" b="1" dirty="0">
                <a:latin typeface="メイリオ" panose="020B0604030504040204" pitchFamily="50" charset="-128"/>
                <a:ea typeface="メイリオ" panose="020B0604030504040204" pitchFamily="50" charset="-128"/>
              </a:rPr>
              <a:t>推奨される対応策</a:t>
            </a:r>
            <a:endParaRPr lang="ja-JP" altLang="en-US" sz="3600" b="1" dirty="0">
              <a:latin typeface="メイリオ" panose="020B0604030504040204" pitchFamily="50" charset="-128"/>
              <a:ea typeface="メイリオ" panose="020B0604030504040204" pitchFamily="50" charset="-128"/>
            </a:endParaRPr>
          </a:p>
          <a:p>
            <a:pPr marL="0" indent="0">
              <a:buNone/>
            </a:pPr>
            <a:r>
              <a:rPr lang="en-US" altLang="ja-JP" sz="3600" dirty="0">
                <a:latin typeface="メイリオ" panose="020B0604030504040204" pitchFamily="50" charset="-128"/>
                <a:ea typeface="メイリオ" panose="020B0604030504040204" pitchFamily="50" charset="-128"/>
              </a:rPr>
              <a:t>Windows Update</a:t>
            </a:r>
            <a:r>
              <a:rPr lang="ja-JP" altLang="en-US" sz="3600" dirty="0">
                <a:latin typeface="メイリオ" panose="020B0604030504040204" pitchFamily="50" charset="-128"/>
                <a:ea typeface="メイリオ" panose="020B0604030504040204" pitchFamily="50" charset="-128"/>
              </a:rPr>
              <a:t>適用（最推奨）</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最新の累積更新プログラム（</a:t>
            </a:r>
            <a:r>
              <a:rPr lang="en-US" altLang="ja-JP" sz="3600" dirty="0">
                <a:latin typeface="メイリオ" panose="020B0604030504040204" pitchFamily="50" charset="-128"/>
                <a:ea typeface="メイリオ" panose="020B0604030504040204" pitchFamily="50" charset="-128"/>
              </a:rPr>
              <a:t>CU</a:t>
            </a:r>
            <a:r>
              <a:rPr lang="ja-JP" altLang="en-US" sz="3600" dirty="0">
                <a:latin typeface="メイリオ" panose="020B0604030504040204" pitchFamily="50" charset="-128"/>
                <a:ea typeface="メイリオ" panose="020B0604030504040204" pitchFamily="50" charset="-128"/>
              </a:rPr>
              <a:t>）を適用</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推奨：</a:t>
            </a:r>
            <a:r>
              <a:rPr lang="en-US" altLang="ja-JP" sz="3600" dirty="0">
                <a:latin typeface="メイリオ" panose="020B0604030504040204" pitchFamily="50" charset="-128"/>
                <a:ea typeface="メイリオ" panose="020B0604030504040204" pitchFamily="50" charset="-128"/>
              </a:rPr>
              <a:t>Build 17763.5xxx </a:t>
            </a:r>
            <a:r>
              <a:rPr lang="ja-JP" altLang="en-US" sz="3600" dirty="0">
                <a:latin typeface="メイリオ" panose="020B0604030504040204" pitchFamily="50" charset="-128"/>
                <a:ea typeface="メイリオ" panose="020B0604030504040204" pitchFamily="50" charset="-128"/>
              </a:rPr>
              <a:t>以降、回避策</a:t>
            </a:r>
            <a:endParaRPr lang="ja-JP" altLang="en-US" sz="3600" dirty="0">
              <a:latin typeface="メイリオ" panose="020B0604030504040204" pitchFamily="50" charset="-128"/>
              <a:ea typeface="メイリオ" panose="020B0604030504040204" pitchFamily="50" charset="-128"/>
            </a:endParaRPr>
          </a:p>
          <a:p>
            <a:pPr marL="0" indent="0">
              <a:buNone/>
            </a:pP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を使用している場合</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不要なら停止：</a:t>
            </a:r>
            <a:endParaRPr lang="ja-JP" altLang="en-US" sz="3600" dirty="0">
              <a:latin typeface="メイリオ" panose="020B0604030504040204" pitchFamily="50" charset="-128"/>
              <a:ea typeface="メイリオ" panose="020B0604030504040204" pitchFamily="50" charset="-128"/>
            </a:endParaRPr>
          </a:p>
          <a:p>
            <a:pPr marL="0" indent="0">
              <a:buNone/>
            </a:pPr>
            <a:r>
              <a:rPr lang="en-US" altLang="ja-JP" sz="3600" dirty="0">
                <a:highlight>
                  <a:srgbClr val="C0C0C0"/>
                </a:highlight>
                <a:latin typeface="メイリオ" panose="020B0604030504040204" pitchFamily="50" charset="-128"/>
                <a:ea typeface="メイリオ" panose="020B0604030504040204" pitchFamily="50" charset="-128"/>
              </a:rPr>
              <a:t>net stop </a:t>
            </a:r>
            <a:r>
              <a:rPr lang="en-US" altLang="ja-JP" sz="3600" dirty="0" err="1">
                <a:highlight>
                  <a:srgbClr val="C0C0C0"/>
                </a:highlight>
                <a:latin typeface="メイリオ" panose="020B0604030504040204" pitchFamily="50" charset="-128"/>
                <a:ea typeface="メイリオ" panose="020B0604030504040204" pitchFamily="50" charset="-128"/>
              </a:rPr>
              <a:t>wsusservice</a:t>
            </a:r>
            <a:endParaRPr lang="en-US" altLang="ja-JP" sz="3600"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不要なサービス停止</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特に：</a:t>
            </a:r>
            <a:r>
              <a:rPr lang="en-US" altLang="ja-JP" sz="3600" dirty="0">
                <a:latin typeface="メイリオ" panose="020B0604030504040204" pitchFamily="50" charset="-128"/>
                <a:ea typeface="メイリオ" panose="020B0604030504040204" pitchFamily="50" charset="-128"/>
              </a:rPr>
              <a:t>RDP</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3389</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SMB</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445</a:t>
            </a:r>
            <a:r>
              <a:rPr lang="ja-JP" altLang="en-US" sz="3600" dirty="0">
                <a:latin typeface="メイリオ" panose="020B0604030504040204" pitchFamily="50" charset="-128"/>
                <a:ea typeface="メイリオ" panose="020B0604030504040204" pitchFamily="50" charset="-128"/>
              </a:rPr>
              <a:t>）</a:t>
            </a:r>
            <a:endParaRPr lang="ja-JP" altLang="en-US" sz="3600" dirty="0">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外部公開禁止</a:t>
            </a:r>
            <a:endParaRPr lang="ja-JP" altLang="en-US" sz="3600" dirty="0">
              <a:latin typeface="メイリオ" panose="020B0604030504040204" pitchFamily="50" charset="-128"/>
              <a:ea typeface="メイリオ" panose="020B0604030504040204" pitchFamily="50" charset="-128"/>
            </a:endParaRPr>
          </a:p>
          <a:p>
            <a:pPr marL="0" indent="0">
              <a:buNone/>
            </a:pPr>
            <a:endParaRPr kumimoji="1" lang="ja-JP" altLang="en-US" dirty="0"/>
          </a:p>
        </p:txBody>
      </p:sp>
      <p:pic>
        <p:nvPicPr>
          <p:cNvPr id="5" name="図 4"/>
          <p:cNvPicPr>
            <a:picLocks noChangeAspect="1"/>
          </p:cNvPicPr>
          <p:nvPr/>
        </p:nvPicPr>
        <p:blipFill>
          <a:blip r:embed="rId1"/>
          <a:stretch>
            <a:fillRect/>
          </a:stretch>
        </p:blipFill>
        <p:spPr>
          <a:xfrm>
            <a:off x="7750432" y="3761295"/>
            <a:ext cx="3099820" cy="257957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a:latin typeface="メイリオ" panose="020B0604030504040204" pitchFamily="50" charset="-128"/>
                <a:ea typeface="メイリオ" panose="020B0604030504040204" pitchFamily="50" charset="-128"/>
              </a:rPr>
              <a:t>Windows 10 Enterprise LTSC 10.0.17763.3287</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idx="1"/>
          </p:nvPr>
        </p:nvSpPr>
        <p:spPr>
          <a:xfrm>
            <a:off x="838200" y="784782"/>
            <a:ext cx="10515600" cy="5927103"/>
          </a:xfrm>
        </p:spPr>
        <p:txBody>
          <a:bodyPr>
            <a:noAutofit/>
          </a:bodyPr>
          <a:lstStyle/>
          <a:p>
            <a:pPr marL="0" indent="0">
              <a:buNone/>
            </a:pPr>
            <a:r>
              <a:rPr lang="en-US" altLang="ja-JP" sz="800" b="1" dirty="0">
                <a:latin typeface="メイリオ" panose="020B0604030504040204" pitchFamily="50" charset="-128"/>
                <a:ea typeface="メイリオ" panose="020B0604030504040204" pitchFamily="50" charset="-128"/>
              </a:rPr>
              <a:t>1. 17763.3287</a:t>
            </a:r>
            <a:r>
              <a:rPr lang="ja-JP" altLang="en-US" sz="800" b="1" dirty="0">
                <a:latin typeface="メイリオ" panose="020B0604030504040204" pitchFamily="50" charset="-128"/>
                <a:ea typeface="メイリオ" panose="020B0604030504040204" pitchFamily="50" charset="-128"/>
              </a:rPr>
              <a:t>に影響する主な脆弱性</a:t>
            </a:r>
            <a:endParaRPr lang="ja-JP" altLang="en-US" sz="800" b="1" dirty="0">
              <a:latin typeface="メイリオ" panose="020B0604030504040204" pitchFamily="50" charset="-128"/>
              <a:ea typeface="メイリオ" panose="020B0604030504040204" pitchFamily="50" charset="-128"/>
            </a:endParaRP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CVE-2025-59287</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9.8</a:t>
            </a:r>
            <a:r>
              <a:rPr lang="ja-JP" altLang="en-US" sz="800" dirty="0">
                <a:highlight>
                  <a:srgbClr val="FFFF00"/>
                </a:highlight>
                <a:latin typeface="メイリオ" panose="020B0604030504040204" pitchFamily="50" charset="-128"/>
                <a:ea typeface="メイリオ" panose="020B0604030504040204" pitchFamily="50" charset="-128"/>
              </a:rPr>
              <a:t>）</a:t>
            </a:r>
            <a:endParaRPr lang="ja-JP" altLang="en-US" sz="8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Windows Update Services</a:t>
            </a:r>
            <a:r>
              <a:rPr lang="ja-JP" altLang="en-US" sz="800" dirty="0">
                <a:latin typeface="メイリオ" panose="020B0604030504040204" pitchFamily="50" charset="-128"/>
                <a:ea typeface="メイリオ" panose="020B0604030504040204" pitchFamily="50" charset="-128"/>
              </a:rPr>
              <a:t>関連のリモートコード実行</a:t>
            </a:r>
            <a:endParaRPr lang="ja-JP" altLang="en-US" sz="800" dirty="0">
              <a:latin typeface="メイリオ" panose="020B0604030504040204" pitchFamily="50" charset="-128"/>
              <a:ea typeface="メイリオ" panose="020B0604030504040204" pitchFamily="50" charset="-128"/>
            </a:endParaRPr>
          </a:p>
          <a:p>
            <a:pPr marL="0" indent="0">
              <a:buNone/>
            </a:pPr>
            <a:r>
              <a:rPr lang="en-US" altLang="ja-JP" sz="800" dirty="0">
                <a:latin typeface="メイリオ" panose="020B0604030504040204" pitchFamily="50" charset="-128"/>
                <a:ea typeface="メイリオ" panose="020B0604030504040204" pitchFamily="50" charset="-128"/>
              </a:rPr>
              <a:t>Windows Update</a:t>
            </a:r>
            <a:r>
              <a:rPr lang="ja-JP" altLang="en-US" sz="800" dirty="0">
                <a:latin typeface="メイリオ" panose="020B0604030504040204" pitchFamily="50" charset="-128"/>
                <a:ea typeface="メイリオ" panose="020B0604030504040204" pitchFamily="50" charset="-128"/>
              </a:rPr>
              <a:t>関連コンポーネントの不備により、攻撃者が</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権限でコード実行可能</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：端末完全乗っ取り、マルウェア感染、ドメイン侵害</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dirty="0">
                <a:latin typeface="メイリオ" panose="020B0604030504040204" pitchFamily="50" charset="-128"/>
                <a:ea typeface="メイリオ" panose="020B0604030504040204" pitchFamily="50" charset="-128"/>
              </a:rPr>
              <a:t>影響バージョン：</a:t>
            </a:r>
            <a:r>
              <a:rPr lang="en-US" altLang="ja-JP" sz="800" dirty="0">
                <a:latin typeface="メイリオ" panose="020B0604030504040204" pitchFamily="50" charset="-128"/>
                <a:ea typeface="メイリオ" panose="020B0604030504040204" pitchFamily="50" charset="-128"/>
              </a:rPr>
              <a:t>Windows 10 Enterprise LTSC 2019 </a:t>
            </a:r>
            <a:r>
              <a:rPr lang="ja-JP" altLang="en-US" sz="800" dirty="0">
                <a:latin typeface="メイリオ" panose="020B0604030504040204" pitchFamily="50" charset="-128"/>
                <a:ea typeface="メイリオ" panose="020B0604030504040204" pitchFamily="50" charset="-128"/>
              </a:rPr>
              <a:t>含む → </a:t>
            </a:r>
            <a:r>
              <a:rPr lang="en-US" altLang="ja-JP" sz="800" dirty="0">
                <a:latin typeface="メイリオ" panose="020B0604030504040204" pitchFamily="50" charset="-128"/>
                <a:ea typeface="メイリオ" panose="020B0604030504040204" pitchFamily="50" charset="-128"/>
              </a:rPr>
              <a:t>17763.3287 </a:t>
            </a:r>
            <a:r>
              <a:rPr lang="ja-JP" altLang="en-US" sz="800" dirty="0">
                <a:latin typeface="メイリオ" panose="020B0604030504040204" pitchFamily="50" charset="-128"/>
                <a:ea typeface="メイリオ" panose="020B0604030504040204" pitchFamily="50" charset="-128"/>
              </a:rPr>
              <a:t>は影響を受ける可能性あり</a:t>
            </a:r>
            <a:endParaRPr lang="ja-JP" altLang="en-US" sz="800" dirty="0">
              <a:latin typeface="メイリオ" panose="020B0604030504040204" pitchFamily="50" charset="-128"/>
              <a:ea typeface="メイリオ" panose="020B0604030504040204" pitchFamily="50" charset="-128"/>
            </a:endParaRP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CVE-2023-28252</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7.8</a:t>
            </a:r>
            <a:r>
              <a:rPr lang="ja-JP" altLang="en-US" sz="800" dirty="0">
                <a:highlight>
                  <a:srgbClr val="FFFF00"/>
                </a:highlight>
                <a:latin typeface="メイリオ" panose="020B0604030504040204" pitchFamily="50" charset="-128"/>
                <a:ea typeface="メイリオ" panose="020B0604030504040204" pitchFamily="50" charset="-128"/>
              </a:rPr>
              <a:t>）</a:t>
            </a:r>
            <a:endParaRPr lang="ja-JP" altLang="en-US" sz="8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CLFS</a:t>
            </a:r>
            <a:r>
              <a:rPr lang="ja-JP" altLang="en-US" sz="800" dirty="0">
                <a:latin typeface="メイリオ" panose="020B0604030504040204" pitchFamily="50" charset="-128"/>
                <a:ea typeface="メイリオ" panose="020B0604030504040204" pitchFamily="50" charset="-128"/>
              </a:rPr>
              <a:t>（ログシステム）の権限昇格</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dirty="0">
                <a:latin typeface="メイリオ" panose="020B0604030504040204" pitchFamily="50" charset="-128"/>
                <a:ea typeface="メイリオ" panose="020B0604030504040204" pitchFamily="50" charset="-128"/>
              </a:rPr>
              <a:t>攻撃者がローカルアクセス後、</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権限取得可能</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：ランサムウェア実行、セキュリティ回避</a:t>
            </a:r>
            <a:endParaRPr lang="ja-JP" altLang="en-US" sz="800" dirty="0">
              <a:latin typeface="メイリオ" panose="020B0604030504040204" pitchFamily="50" charset="-128"/>
              <a:ea typeface="メイリオ" panose="020B0604030504040204" pitchFamily="50" charset="-128"/>
            </a:endParaRP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CVE-2023-32019</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High, CVSS: 7.8</a:t>
            </a:r>
            <a:r>
              <a:rPr lang="ja-JP" altLang="en-US" sz="800" dirty="0">
                <a:highlight>
                  <a:srgbClr val="FFFF00"/>
                </a:highlight>
                <a:latin typeface="メイリオ" panose="020B0604030504040204" pitchFamily="50" charset="-128"/>
                <a:ea typeface="メイリオ" panose="020B0604030504040204" pitchFamily="50" charset="-128"/>
              </a:rPr>
              <a:t>）</a:t>
            </a:r>
            <a:endParaRPr lang="ja-JP" altLang="en-US" sz="8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Win32k</a:t>
            </a:r>
            <a:r>
              <a:rPr lang="ja-JP" altLang="en-US" sz="800" dirty="0">
                <a:latin typeface="メイリオ" panose="020B0604030504040204" pitchFamily="50" charset="-128"/>
                <a:ea typeface="メイリオ" panose="020B0604030504040204" pitchFamily="50" charset="-128"/>
              </a:rPr>
              <a:t>権限昇格</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dirty="0">
                <a:latin typeface="メイリオ" panose="020B0604030504040204" pitchFamily="50" charset="-128"/>
                <a:ea typeface="メイリオ" panose="020B0604030504040204" pitchFamily="50" charset="-128"/>
              </a:rPr>
              <a:t>ローカル攻撃者がカーネル権限取得可能</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：完全な端末制御</a:t>
            </a:r>
            <a:endParaRPr lang="en-US" altLang="ja-JP" sz="800" dirty="0">
              <a:latin typeface="メイリオ" panose="020B0604030504040204" pitchFamily="50" charset="-128"/>
              <a:ea typeface="メイリオ" panose="020B0604030504040204" pitchFamily="50" charset="-128"/>
            </a:endParaRP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CVE-2024-21338 </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7.8</a:t>
            </a:r>
            <a:r>
              <a:rPr lang="ja-JP" altLang="en-US" sz="800" dirty="0">
                <a:highlight>
                  <a:srgbClr val="FFFF00"/>
                </a:highlight>
                <a:latin typeface="メイリオ" panose="020B0604030504040204" pitchFamily="50" charset="-128"/>
                <a:ea typeface="メイリオ" panose="020B0604030504040204" pitchFamily="50" charset="-128"/>
              </a:rPr>
              <a:t>）</a:t>
            </a:r>
            <a:endParaRPr lang="en-US" altLang="ja-JP" sz="8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概要</a:t>
            </a:r>
            <a:r>
              <a:rPr lang="en-US" altLang="ja-JP" sz="800" dirty="0">
                <a:latin typeface="メイリオ" panose="020B0604030504040204" pitchFamily="50" charset="-128"/>
                <a:ea typeface="メイリオ" panose="020B0604030504040204" pitchFamily="50" charset="-128"/>
              </a:rPr>
              <a:t>:Windows</a:t>
            </a:r>
            <a:r>
              <a:rPr lang="ja-JP" altLang="en-US" sz="800" dirty="0">
                <a:latin typeface="メイリオ" panose="020B0604030504040204" pitchFamily="50" charset="-128"/>
                <a:ea typeface="メイリオ" panose="020B0604030504040204" pitchFamily="50" charset="-128"/>
              </a:rPr>
              <a:t>のカーネルドライバの権限昇格（</a:t>
            </a:r>
            <a:r>
              <a:rPr lang="en-US" altLang="ja-JP" sz="800" dirty="0">
                <a:latin typeface="メイリオ" panose="020B0604030504040204" pitchFamily="50" charset="-128"/>
                <a:ea typeface="メイリオ" panose="020B0604030504040204" pitchFamily="50" charset="-128"/>
              </a:rPr>
              <a:t>Privilege Escalation</a:t>
            </a:r>
            <a:r>
              <a:rPr lang="ja-JP" altLang="en-US" sz="800" dirty="0">
                <a:latin typeface="メイリオ" panose="020B0604030504040204" pitchFamily="50" charset="-128"/>
                <a:ea typeface="メイリオ" panose="020B0604030504040204" pitchFamily="50" charset="-128"/>
              </a:rPr>
              <a:t>）脆弱性</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dirty="0">
                <a:latin typeface="メイリオ" panose="020B0604030504040204" pitchFamily="50" charset="-128"/>
                <a:ea typeface="メイリオ" panose="020B0604030504040204" pitchFamily="50" charset="-128"/>
              </a:rPr>
              <a:t>ローカル攻撃者が悪用すると、</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権限取得、カーネルレベルアクセス、セキュリティソフト無効化が可能になる。</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影響</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攻撃成功時に管理者権限取得、完全な端末乗っ取り、永続化（</a:t>
            </a:r>
            <a:r>
              <a:rPr lang="en-US" altLang="ja-JP" sz="800" dirty="0">
                <a:latin typeface="メイリオ" panose="020B0604030504040204" pitchFamily="50" charset="-128"/>
                <a:ea typeface="メイリオ" panose="020B0604030504040204" pitchFamily="50" charset="-128"/>
              </a:rPr>
              <a:t>rootkit</a:t>
            </a:r>
            <a:r>
              <a:rPr lang="ja-JP" altLang="en-US" sz="800" dirty="0">
                <a:latin typeface="メイリオ" panose="020B0604030504040204" pitchFamily="50" charset="-128"/>
                <a:ea typeface="メイリオ" panose="020B0604030504040204" pitchFamily="50" charset="-128"/>
              </a:rPr>
              <a:t>）、横展開（</a:t>
            </a:r>
            <a:r>
              <a:rPr lang="en-US" altLang="ja-JP" sz="800" dirty="0">
                <a:latin typeface="メイリオ" panose="020B0604030504040204" pitchFamily="50" charset="-128"/>
                <a:ea typeface="メイリオ" panose="020B0604030504040204" pitchFamily="50" charset="-128"/>
              </a:rPr>
              <a:t>Lateral Movement</a:t>
            </a:r>
            <a:r>
              <a:rPr lang="ja-JP" altLang="en-US" sz="800" dirty="0">
                <a:latin typeface="メイリオ" panose="020B0604030504040204" pitchFamily="50" charset="-128"/>
                <a:ea typeface="メイリオ" panose="020B0604030504040204" pitchFamily="50" charset="-128"/>
              </a:rPr>
              <a:t>）</a:t>
            </a:r>
            <a:endParaRPr lang="ja-JP" altLang="en-US" sz="800" dirty="0">
              <a:latin typeface="メイリオ" panose="020B0604030504040204" pitchFamily="50" charset="-128"/>
              <a:ea typeface="メイリオ" panose="020B0604030504040204" pitchFamily="50" charset="-128"/>
            </a:endParaRPr>
          </a:p>
          <a:p>
            <a:pPr marL="0" indent="0">
              <a:buNone/>
            </a:pPr>
            <a:r>
              <a:rPr lang="en-US" altLang="ja-JP" sz="800" b="1" dirty="0">
                <a:latin typeface="メイリオ" panose="020B0604030504040204" pitchFamily="50" charset="-128"/>
                <a:ea typeface="メイリオ" panose="020B0604030504040204" pitchFamily="50" charset="-128"/>
              </a:rPr>
              <a:t>2. </a:t>
            </a:r>
            <a:r>
              <a:rPr lang="ja-JP" altLang="en-US" sz="800" b="1" dirty="0">
                <a:latin typeface="メイリオ" panose="020B0604030504040204" pitchFamily="50" charset="-128"/>
                <a:ea typeface="メイリオ" panose="020B0604030504040204" pitchFamily="50" charset="-128"/>
              </a:rPr>
              <a:t>推奨される対応策</a:t>
            </a:r>
            <a:endParaRPr lang="ja-JP" altLang="en-US" sz="800" b="1" dirty="0">
              <a:latin typeface="メイリオ" panose="020B0604030504040204" pitchFamily="50" charset="-128"/>
              <a:ea typeface="メイリオ" panose="020B0604030504040204" pitchFamily="50" charset="-128"/>
            </a:endParaRPr>
          </a:p>
          <a:p>
            <a:pPr marL="0" indent="0">
              <a:buNone/>
            </a:pPr>
            <a:r>
              <a:rPr lang="en-US" altLang="ja-JP" sz="800" dirty="0">
                <a:latin typeface="メイリオ" panose="020B0604030504040204" pitchFamily="50" charset="-128"/>
                <a:ea typeface="メイリオ" panose="020B0604030504040204" pitchFamily="50" charset="-128"/>
              </a:rPr>
              <a:t>Windows Update</a:t>
            </a:r>
            <a:r>
              <a:rPr lang="ja-JP" altLang="en-US" sz="800" dirty="0">
                <a:latin typeface="メイリオ" panose="020B0604030504040204" pitchFamily="50" charset="-128"/>
                <a:ea typeface="メイリオ" panose="020B0604030504040204" pitchFamily="50" charset="-128"/>
              </a:rPr>
              <a:t>適用（最優先）</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dirty="0">
                <a:latin typeface="メイリオ" panose="020B0604030504040204" pitchFamily="50" charset="-128"/>
                <a:ea typeface="メイリオ" panose="020B0604030504040204" pitchFamily="50" charset="-128"/>
              </a:rPr>
              <a:t>推奨：最新</a:t>
            </a:r>
            <a:r>
              <a:rPr lang="en-US" altLang="ja-JP" sz="800" dirty="0">
                <a:latin typeface="メイリオ" panose="020B0604030504040204" pitchFamily="50" charset="-128"/>
                <a:ea typeface="メイリオ" panose="020B0604030504040204" pitchFamily="50" charset="-128"/>
              </a:rPr>
              <a:t>Build</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17763.5xxx</a:t>
            </a:r>
            <a:r>
              <a:rPr lang="ja-JP" altLang="en-US" sz="800" dirty="0">
                <a:latin typeface="メイリオ" panose="020B0604030504040204" pitchFamily="50" charset="-128"/>
                <a:ea typeface="メイリオ" panose="020B0604030504040204" pitchFamily="50" charset="-128"/>
              </a:rPr>
              <a:t>以降）へ更新、回避策（アップデート不可の場合）</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dirty="0">
                <a:latin typeface="メイリオ" panose="020B0604030504040204" pitchFamily="50" charset="-128"/>
                <a:ea typeface="メイリオ" panose="020B0604030504040204" pitchFamily="50" charset="-128"/>
              </a:rPr>
              <a:t>不審ファイル実行防止（メール添付、</a:t>
            </a:r>
            <a:r>
              <a:rPr lang="en-US" altLang="ja-JP" sz="800" dirty="0">
                <a:latin typeface="メイリオ" panose="020B0604030504040204" pitchFamily="50" charset="-128"/>
                <a:ea typeface="メイリオ" panose="020B0604030504040204" pitchFamily="50" charset="-128"/>
              </a:rPr>
              <a:t>USB</a:t>
            </a:r>
            <a:r>
              <a:rPr lang="ja-JP" altLang="en-US" sz="800" dirty="0">
                <a:latin typeface="メイリオ" panose="020B0604030504040204" pitchFamily="50" charset="-128"/>
                <a:ea typeface="メイリオ" panose="020B0604030504040204" pitchFamily="50" charset="-128"/>
              </a:rPr>
              <a:t>）</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dirty="0">
                <a:latin typeface="メイリオ" panose="020B0604030504040204" pitchFamily="50" charset="-128"/>
                <a:ea typeface="メイリオ" panose="020B0604030504040204" pitchFamily="50" charset="-128"/>
              </a:rPr>
              <a:t>管理者権限使用制限</a:t>
            </a:r>
            <a:endParaRPr lang="ja-JP" altLang="en-US" sz="800" dirty="0">
              <a:latin typeface="メイリオ" panose="020B0604030504040204" pitchFamily="50" charset="-128"/>
              <a:ea typeface="メイリオ" panose="020B0604030504040204" pitchFamily="50" charset="-128"/>
            </a:endParaRPr>
          </a:p>
          <a:p>
            <a:pPr marL="0" indent="0">
              <a:buNone/>
            </a:pPr>
            <a:r>
              <a:rPr lang="en-US" altLang="ja-JP" sz="800" dirty="0">
                <a:latin typeface="メイリオ" panose="020B0604030504040204" pitchFamily="50" charset="-128"/>
                <a:ea typeface="メイリオ" panose="020B0604030504040204" pitchFamily="50" charset="-128"/>
              </a:rPr>
              <a:t>RDP</a:t>
            </a:r>
            <a:r>
              <a:rPr lang="ja-JP" altLang="en-US" sz="800" dirty="0">
                <a:latin typeface="メイリオ" panose="020B0604030504040204" pitchFamily="50" charset="-128"/>
                <a:ea typeface="メイリオ" panose="020B0604030504040204" pitchFamily="50" charset="-128"/>
              </a:rPr>
              <a:t>制限</a:t>
            </a:r>
            <a:endParaRPr lang="ja-JP" altLang="en-US" sz="800" dirty="0">
              <a:latin typeface="メイリオ" panose="020B0604030504040204" pitchFamily="50" charset="-128"/>
              <a:ea typeface="メイリオ" panose="020B0604030504040204" pitchFamily="50" charset="-128"/>
            </a:endParaRPr>
          </a:p>
          <a:p>
            <a:pPr marL="0" indent="0">
              <a:buNone/>
            </a:pPr>
            <a:r>
              <a:rPr lang="ja-JP" altLang="en-US" sz="800" dirty="0">
                <a:latin typeface="メイリオ" panose="020B0604030504040204" pitchFamily="50" charset="-128"/>
                <a:ea typeface="メイリオ" panose="020B0604030504040204" pitchFamily="50" charset="-128"/>
              </a:rPr>
              <a:t>外部公開禁止</a:t>
            </a:r>
            <a:endParaRPr lang="ja-JP" altLang="en-US" sz="800" dirty="0">
              <a:latin typeface="メイリオ" panose="020B0604030504040204" pitchFamily="50" charset="-128"/>
              <a:ea typeface="メイリオ" panose="020B0604030504040204" pitchFamily="50" charset="-128"/>
            </a:endParaRPr>
          </a:p>
        </p:txBody>
      </p:sp>
      <p:pic>
        <p:nvPicPr>
          <p:cNvPr id="4" name="図 3"/>
          <p:cNvPicPr>
            <a:picLocks noChangeAspect="1"/>
          </p:cNvPicPr>
          <p:nvPr/>
        </p:nvPicPr>
        <p:blipFill>
          <a:blip r:embed="rId1"/>
          <a:stretch>
            <a:fillRect/>
          </a:stretch>
        </p:blipFill>
        <p:spPr>
          <a:xfrm>
            <a:off x="7098300" y="3572759"/>
            <a:ext cx="4541574" cy="267504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de-DE" altLang="ja-JP" dirty="0"/>
              <a:t>Red Hat Enterprise Linux 8.5</a:t>
            </a:r>
            <a:endParaRPr kumimoji="1" lang="ja-JP" altLang="en-US" dirty="0"/>
          </a:p>
        </p:txBody>
      </p:sp>
      <p:sp>
        <p:nvSpPr>
          <p:cNvPr id="3" name="コンテンツ プレースホルダー 2"/>
          <p:cNvSpPr>
            <a:spLocks noGrp="1"/>
          </p:cNvSpPr>
          <p:nvPr>
            <p:ph idx="1"/>
          </p:nvPr>
        </p:nvSpPr>
        <p:spPr>
          <a:xfrm>
            <a:off x="838200" y="810708"/>
            <a:ext cx="10515600" cy="5863470"/>
          </a:xfrm>
        </p:spPr>
        <p:txBody>
          <a:bodyPr>
            <a:normAutofit fontScale="25000" lnSpcReduction="20000"/>
          </a:bodyPr>
          <a:lstStyle/>
          <a:p>
            <a:pPr marL="0" indent="0">
              <a:buNone/>
            </a:pPr>
            <a:r>
              <a:rPr lang="en-US" altLang="ja-JP" b="1" dirty="0">
                <a:latin typeface="メイリオ" panose="020B0604030504040204" pitchFamily="50" charset="-128"/>
                <a:ea typeface="メイリオ" panose="020B0604030504040204" pitchFamily="50" charset="-128"/>
              </a:rPr>
              <a:t>1. RHEL 8.5 </a:t>
            </a:r>
            <a:r>
              <a:rPr lang="ja-JP" altLang="en-US" b="1" dirty="0">
                <a:latin typeface="メイリオ" panose="020B0604030504040204" pitchFamily="50" charset="-128"/>
                <a:ea typeface="メイリオ" panose="020B0604030504040204" pitchFamily="50" charset="-128"/>
              </a:rPr>
              <a:t>に影響する主な脆弱性</a:t>
            </a:r>
            <a:endParaRPr lang="ja-JP" altLang="en-US" b="1"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CVE-2024-1086</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7.8</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Linux</a:t>
            </a:r>
            <a:r>
              <a:rPr lang="ja-JP" altLang="en-US" dirty="0">
                <a:latin typeface="メイリオ" panose="020B0604030504040204" pitchFamily="50" charset="-128"/>
                <a:ea typeface="メイリオ" panose="020B0604030504040204" pitchFamily="50" charset="-128"/>
              </a:rPr>
              <a:t>カーネルの権限昇格（</a:t>
            </a:r>
            <a:r>
              <a:rPr lang="en-US" altLang="ja-JP" dirty="0" err="1">
                <a:latin typeface="メイリオ" panose="020B0604030504040204" pitchFamily="50" charset="-128"/>
                <a:ea typeface="メイリオ" panose="020B0604030504040204" pitchFamily="50" charset="-128"/>
              </a:rPr>
              <a:t>nf_tables</a:t>
            </a:r>
            <a:r>
              <a:rPr lang="ja-JP" altLang="en-US"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Linux</a:t>
            </a:r>
            <a:r>
              <a:rPr lang="ja-JP" altLang="en-US" dirty="0">
                <a:latin typeface="メイリオ" panose="020B0604030504040204" pitchFamily="50" charset="-128"/>
                <a:ea typeface="メイリオ" panose="020B0604030504040204" pitchFamily="50" charset="-128"/>
              </a:rPr>
              <a:t>カーネルのパケット処理の不備により、ローカルユーザーが</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権限を取得可能</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権限取得、サーバー完全制御、コンテナ脱出</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影響対象：</a:t>
            </a:r>
            <a:r>
              <a:rPr lang="en-US" altLang="ja-JP" dirty="0">
                <a:latin typeface="メイリオ" panose="020B0604030504040204" pitchFamily="50" charset="-128"/>
                <a:ea typeface="メイリオ" panose="020B0604030504040204" pitchFamily="50" charset="-128"/>
              </a:rPr>
              <a:t>RHEL 8</a:t>
            </a:r>
            <a:r>
              <a:rPr lang="ja-JP" altLang="en-US" dirty="0">
                <a:latin typeface="メイリオ" panose="020B0604030504040204" pitchFamily="50" charset="-128"/>
                <a:ea typeface="メイリオ" panose="020B0604030504040204" pitchFamily="50" charset="-128"/>
              </a:rPr>
              <a:t>系 含む→ </a:t>
            </a:r>
            <a:r>
              <a:rPr lang="en-US" altLang="ja-JP" dirty="0">
                <a:latin typeface="メイリオ" panose="020B0604030504040204" pitchFamily="50" charset="-128"/>
                <a:ea typeface="メイリオ" panose="020B0604030504040204" pitchFamily="50" charset="-128"/>
              </a:rPr>
              <a:t>RHEL 8.5 </a:t>
            </a:r>
            <a:r>
              <a:rPr lang="ja-JP" altLang="en-US" dirty="0">
                <a:latin typeface="メイリオ" panose="020B0604030504040204" pitchFamily="50" charset="-128"/>
                <a:ea typeface="メイリオ" panose="020B0604030504040204" pitchFamily="50" charset="-128"/>
              </a:rPr>
              <a:t>は該当</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CVE-2024-6387</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8.1</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OpenSSH “</a:t>
            </a:r>
            <a:r>
              <a:rPr lang="en-US" altLang="ja-JP" dirty="0" err="1">
                <a:latin typeface="メイリオ" panose="020B0604030504040204" pitchFamily="50" charset="-128"/>
                <a:ea typeface="メイリオ" panose="020B0604030504040204" pitchFamily="50" charset="-128"/>
              </a:rPr>
              <a:t>regreSSHion</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リモートコード実行</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サービスの欠陥により、認証前にリモートコード実行の可能性</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経由侵入、サーバー乗っ取り</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影響条件：</a:t>
            </a: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サービス有効（通常は有効）</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CVE-2023-4911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7.8</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Looney </a:t>
            </a:r>
            <a:r>
              <a:rPr lang="en-US" altLang="ja-JP" dirty="0" err="1">
                <a:latin typeface="メイリオ" panose="020B0604030504040204" pitchFamily="50" charset="-128"/>
                <a:ea typeface="メイリオ" panose="020B0604030504040204" pitchFamily="50" charset="-128"/>
              </a:rPr>
              <a:t>Tunables</a:t>
            </a:r>
            <a:r>
              <a:rPr lang="ja-JP" altLang="en-US" dirty="0">
                <a:latin typeface="メイリオ" panose="020B0604030504040204" pitchFamily="50" charset="-128"/>
                <a:ea typeface="メイリオ" panose="020B0604030504040204" pitchFamily="50" charset="-128"/>
              </a:rPr>
              <a:t>（</a:t>
            </a:r>
            <a:r>
              <a:rPr lang="en-US" altLang="ja-JP" dirty="0" err="1">
                <a:latin typeface="メイリオ" panose="020B0604030504040204" pitchFamily="50" charset="-128"/>
                <a:ea typeface="メイリオ" panose="020B0604030504040204" pitchFamily="50" charset="-128"/>
              </a:rPr>
              <a:t>glibc</a:t>
            </a:r>
            <a:r>
              <a:rPr lang="ja-JP" altLang="en-US"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環境変数処理の不備により、ローカルユーザーが</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権限取得、システム完全侵害</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CVE-2024-3094</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10.0</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XZ </a:t>
            </a:r>
            <a:r>
              <a:rPr lang="en-US" altLang="ja-JP" dirty="0" err="1">
                <a:latin typeface="メイリオ" panose="020B0604030504040204" pitchFamily="50" charset="-128"/>
                <a:ea typeface="メイリオ" panose="020B0604030504040204" pitchFamily="50" charset="-128"/>
              </a:rPr>
              <a:t>Utils</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バックドア</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認証を悪用し、外部から完全侵害可能　</a:t>
            </a:r>
            <a:r>
              <a:rPr lang="en-US" altLang="ja-JP" dirty="0">
                <a:latin typeface="メイリオ" panose="020B0604030504040204" pitchFamily="50" charset="-128"/>
                <a:ea typeface="メイリオ" panose="020B0604030504040204" pitchFamily="50" charset="-128"/>
              </a:rPr>
              <a:t>※RHEL 8.5 </a:t>
            </a:r>
            <a:r>
              <a:rPr lang="ja-JP" altLang="en-US" dirty="0">
                <a:latin typeface="メイリオ" panose="020B0604030504040204" pitchFamily="50" charset="-128"/>
                <a:ea typeface="メイリオ" panose="020B0604030504040204" pitchFamily="50" charset="-128"/>
              </a:rPr>
              <a:t>標準は通常非該当（手動更新している場合は影響あり）</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endParaRPr lang="ja-JP" altLang="en-US" b="1"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最優先：</a:t>
            </a:r>
            <a:r>
              <a:rPr lang="en-US" altLang="ja-JP" dirty="0">
                <a:latin typeface="メイリオ" panose="020B0604030504040204" pitchFamily="50" charset="-128"/>
                <a:ea typeface="メイリオ" panose="020B0604030504040204" pitchFamily="50" charset="-128"/>
              </a:rPr>
              <a:t>RHEL</a:t>
            </a:r>
            <a:r>
              <a:rPr lang="ja-JP" altLang="en-US" dirty="0">
                <a:latin typeface="メイリオ" panose="020B0604030504040204" pitchFamily="50" charset="-128"/>
                <a:ea typeface="メイリオ" panose="020B0604030504040204" pitchFamily="50" charset="-128"/>
              </a:rPr>
              <a:t>アップデート</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dnf</a:t>
            </a:r>
            <a:r>
              <a:rPr lang="en-US" altLang="ja-JP" dirty="0">
                <a:highlight>
                  <a:srgbClr val="C0C0C0"/>
                </a:highlight>
                <a:latin typeface="メイリオ" panose="020B0604030504040204" pitchFamily="50" charset="-128"/>
                <a:ea typeface="メイリオ" panose="020B0604030504040204" pitchFamily="50" charset="-128"/>
              </a:rPr>
              <a:t> update -y</a:t>
            </a:r>
            <a:endParaRPr lang="en-US" altLang="ja-JP"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RHEL 8.10 </a:t>
            </a:r>
            <a:r>
              <a:rPr lang="ja-JP" altLang="en-US" dirty="0">
                <a:latin typeface="メイリオ" panose="020B0604030504040204" pitchFamily="50" charset="-128"/>
                <a:ea typeface="メイリオ" panose="020B0604030504040204" pitchFamily="50" charset="-128"/>
              </a:rPr>
              <a:t>以降または</a:t>
            </a:r>
            <a:r>
              <a:rPr lang="en-US" altLang="ja-JP" dirty="0">
                <a:latin typeface="メイリオ" panose="020B0604030504040204" pitchFamily="50" charset="-128"/>
                <a:ea typeface="メイリオ" panose="020B0604030504040204" pitchFamily="50" charset="-128"/>
              </a:rPr>
              <a:t>RHEL 9</a:t>
            </a:r>
            <a:r>
              <a:rPr lang="ja-JP" altLang="en-US" dirty="0">
                <a:latin typeface="メイリオ" panose="020B0604030504040204" pitchFamily="50" charset="-128"/>
                <a:ea typeface="メイリオ" panose="020B0604030504040204" pitchFamily="50" charset="-128"/>
              </a:rPr>
              <a:t>系</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回避策（アップデート不可の場合）</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アクセス制限</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etc</a:t>
            </a: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ssh</a:t>
            </a: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sshd_config</a:t>
            </a:r>
            <a:endParaRPr lang="en-US" altLang="ja-JP"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変更：</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PermitRootLogin</a:t>
            </a:r>
            <a:r>
              <a:rPr lang="en-US" altLang="ja-JP" dirty="0">
                <a:highlight>
                  <a:srgbClr val="C0C0C0"/>
                </a:highlight>
                <a:latin typeface="メイリオ" panose="020B0604030504040204" pitchFamily="50" charset="-128"/>
                <a:ea typeface="メイリオ" panose="020B0604030504040204" pitchFamily="50" charset="-128"/>
              </a:rPr>
              <a:t> no</a:t>
            </a:r>
            <a:endParaRPr lang="en-US" altLang="ja-JP"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不要サービス停止</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systemctl</a:t>
            </a:r>
            <a:r>
              <a:rPr lang="en-US" altLang="ja-JP" dirty="0">
                <a:highlight>
                  <a:srgbClr val="C0C0C0"/>
                </a:highlight>
                <a:latin typeface="メイリオ" panose="020B0604030504040204" pitchFamily="50" charset="-128"/>
                <a:ea typeface="メイリオ" panose="020B0604030504040204" pitchFamily="50" charset="-128"/>
              </a:rPr>
              <a:t> disable telnet</a:t>
            </a:r>
            <a:endParaRPr lang="en-US" altLang="ja-JP" dirty="0">
              <a:highlight>
                <a:srgbClr val="C0C0C0"/>
              </a:highlight>
              <a:latin typeface="メイリオ" panose="020B0604030504040204" pitchFamily="50" charset="-128"/>
              <a:ea typeface="メイリオ" panose="020B0604030504040204" pitchFamily="50" charset="-128"/>
            </a:endParaRPr>
          </a:p>
        </p:txBody>
      </p:sp>
      <p:pic>
        <p:nvPicPr>
          <p:cNvPr id="4" name="図 3"/>
          <p:cNvPicPr>
            <a:picLocks noChangeAspect="1"/>
          </p:cNvPicPr>
          <p:nvPr/>
        </p:nvPicPr>
        <p:blipFill rotWithShape="1">
          <a:blip r:embed="rId1"/>
          <a:srcRect t="6879"/>
          <a:stretch>
            <a:fillRect/>
          </a:stretch>
        </p:blipFill>
        <p:spPr>
          <a:xfrm>
            <a:off x="7296482" y="3723588"/>
            <a:ext cx="3613336" cy="270245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latin typeface="メイリオ" panose="020B0604030504040204" pitchFamily="50" charset="-128"/>
                <a:ea typeface="メイリオ" panose="020B0604030504040204" pitchFamily="50" charset="-128"/>
              </a:rPr>
              <a:t>Oracle WebLogic Server 14.1.1</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idx="1"/>
          </p:nvPr>
        </p:nvSpPr>
        <p:spPr>
          <a:xfrm>
            <a:off x="696798" y="835809"/>
            <a:ext cx="10515600" cy="5920573"/>
          </a:xfrm>
        </p:spPr>
        <p:txBody>
          <a:bodyPr>
            <a:normAutofit fontScale="25000" lnSpcReduction="20000"/>
          </a:bodyPr>
          <a:lstStyle/>
          <a:p>
            <a:pPr marL="0" indent="0">
              <a:buNone/>
            </a:pPr>
            <a:r>
              <a:rPr lang="en-US" altLang="ja-JP" b="1" dirty="0">
                <a:latin typeface="メイリオ" panose="020B0604030504040204" pitchFamily="50" charset="-128"/>
                <a:ea typeface="メイリオ" panose="020B0604030504040204" pitchFamily="50" charset="-128"/>
              </a:rPr>
              <a:t>1. 14.1.1 </a:t>
            </a:r>
            <a:r>
              <a:rPr lang="ja-JP" altLang="en-US" b="1" dirty="0">
                <a:latin typeface="メイリオ" panose="020B0604030504040204" pitchFamily="50" charset="-128"/>
                <a:ea typeface="メイリオ" panose="020B0604030504040204" pitchFamily="50" charset="-128"/>
              </a:rPr>
              <a:t>に影響する主な最新脆弱性</a:t>
            </a:r>
            <a:endParaRPr lang="en-US" altLang="ja-JP" b="1"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CVE-2024-20931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9.8</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：未認証リモートコード実行（</a:t>
            </a:r>
            <a:r>
              <a:rPr lang="en-US" altLang="ja-JP" dirty="0">
                <a:latin typeface="メイリオ" panose="020B0604030504040204" pitchFamily="50" charset="-128"/>
                <a:ea typeface="メイリオ" panose="020B0604030504040204" pitchFamily="50" charset="-128"/>
              </a:rPr>
              <a:t>RCE</a:t>
            </a:r>
            <a:r>
              <a:rPr lang="ja-JP" altLang="en-US"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IIOP / T3</a:t>
            </a:r>
            <a:r>
              <a:rPr lang="ja-JP" altLang="en-US" dirty="0">
                <a:latin typeface="メイリオ" panose="020B0604030504040204" pitchFamily="50" charset="-128"/>
                <a:ea typeface="メイリオ" panose="020B0604030504040204" pitchFamily="50" charset="-128"/>
              </a:rPr>
              <a:t>プロトコル処理の不備により、認証不要でリモートコード実行可能</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サーバー完全乗っ取り、</a:t>
            </a:r>
            <a:r>
              <a:rPr lang="en-US" altLang="ja-JP" dirty="0" err="1">
                <a:latin typeface="メイリオ" panose="020B0604030504040204" pitchFamily="50" charset="-128"/>
                <a:ea typeface="メイリオ" panose="020B0604030504040204" pitchFamily="50" charset="-128"/>
              </a:rPr>
              <a:t>WebShell</a:t>
            </a:r>
            <a:r>
              <a:rPr lang="ja-JP" altLang="en-US" dirty="0">
                <a:latin typeface="メイリオ" panose="020B0604030504040204" pitchFamily="50" charset="-128"/>
                <a:ea typeface="メイリオ" panose="020B0604030504040204" pitchFamily="50" charset="-128"/>
              </a:rPr>
              <a:t>設置、マルウェア感染</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影響バージョン：</a:t>
            </a:r>
            <a:r>
              <a:rPr lang="en-US" altLang="ja-JP" dirty="0">
                <a:latin typeface="メイリオ" panose="020B0604030504040204" pitchFamily="50" charset="-128"/>
                <a:ea typeface="メイリオ" panose="020B0604030504040204" pitchFamily="50" charset="-128"/>
              </a:rPr>
              <a:t>WebLogic Server 14.1.1 → </a:t>
            </a:r>
            <a:r>
              <a:rPr lang="ja-JP" altLang="en-US" dirty="0">
                <a:latin typeface="メイリオ" panose="020B0604030504040204" pitchFamily="50" charset="-128"/>
                <a:ea typeface="メイリオ" panose="020B0604030504040204" pitchFamily="50" charset="-128"/>
              </a:rPr>
              <a:t>該当</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CVE-2023-21839</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9.8</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T3/IIOP</a:t>
            </a:r>
            <a:r>
              <a:rPr lang="ja-JP" altLang="en-US" dirty="0">
                <a:latin typeface="メイリオ" panose="020B0604030504040204" pitchFamily="50" charset="-128"/>
                <a:ea typeface="メイリオ" panose="020B0604030504040204" pitchFamily="50" charset="-128"/>
              </a:rPr>
              <a:t>経由の</a:t>
            </a:r>
            <a:r>
              <a:rPr lang="en-US" altLang="ja-JP" dirty="0">
                <a:latin typeface="メイリオ" panose="020B0604030504040204" pitchFamily="50" charset="-128"/>
                <a:ea typeface="メイリオ" panose="020B0604030504040204" pitchFamily="50" charset="-128"/>
              </a:rPr>
              <a:t>RCE</a:t>
            </a:r>
            <a:endParaRPr lang="en-US" altLang="ja-JP"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外部から細工した通信を送ることで、サーバー上で任意コード実行可能</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：完全侵害、データベース侵入、</a:t>
            </a:r>
            <a:r>
              <a:rPr lang="en-US" altLang="ja-JP" dirty="0" err="1">
                <a:latin typeface="メイリオ" panose="020B0604030504040204" pitchFamily="50" charset="-128"/>
                <a:ea typeface="メイリオ" panose="020B0604030504040204" pitchFamily="50" charset="-128"/>
              </a:rPr>
              <a:t>WebShell</a:t>
            </a:r>
            <a:r>
              <a:rPr lang="ja-JP" altLang="en-US" dirty="0">
                <a:latin typeface="メイリオ" panose="020B0604030504040204" pitchFamily="50" charset="-128"/>
                <a:ea typeface="メイリオ" panose="020B0604030504040204" pitchFamily="50" charset="-128"/>
              </a:rPr>
              <a:t>設置</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CVE-2024-21006</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8.1</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：管理コンソール関連の脆弱性</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攻撃者が管理機能を悪用</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：設定変更、不正アクセス</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CVE-2023-21931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7.5</a:t>
            </a:r>
            <a:r>
              <a:rPr lang="ja-JP" altLang="en-US" dirty="0">
                <a:highlight>
                  <a:srgbClr val="FFFF00"/>
                </a:highlight>
                <a:latin typeface="メイリオ" panose="020B0604030504040204" pitchFamily="50" charset="-128"/>
                <a:ea typeface="メイリオ" panose="020B0604030504040204" pitchFamily="50" charset="-128"/>
              </a:rPr>
              <a:t>）</a:t>
            </a:r>
            <a:endParaRPr lang="ja-JP" altLang="en-US"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DoS</a:t>
            </a:r>
            <a:r>
              <a:rPr lang="ja-JP" altLang="en-US" dirty="0">
                <a:latin typeface="メイリオ" panose="020B0604030504040204" pitchFamily="50" charset="-128"/>
                <a:ea typeface="メイリオ" panose="020B0604030504040204" pitchFamily="50" charset="-128"/>
              </a:rPr>
              <a:t>攻撃</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攻撃者が細工したリクエストを送信</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サービス停止</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endParaRPr lang="ja-JP" altLang="en-US" b="1"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最優先：</a:t>
            </a:r>
            <a:r>
              <a:rPr lang="en-US" altLang="ja-JP" dirty="0">
                <a:latin typeface="メイリオ" panose="020B0604030504040204" pitchFamily="50" charset="-128"/>
                <a:ea typeface="メイリオ" panose="020B0604030504040204" pitchFamily="50" charset="-128"/>
              </a:rPr>
              <a:t>Oracle Critical Patch Update</a:t>
            </a:r>
            <a:r>
              <a:rPr lang="ja-JP" altLang="en-US" dirty="0">
                <a:latin typeface="メイリオ" panose="020B0604030504040204" pitchFamily="50" charset="-128"/>
                <a:ea typeface="メイリオ" panose="020B0604030504040204" pitchFamily="50" charset="-128"/>
              </a:rPr>
              <a:t>適用</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Oracle</a:t>
            </a:r>
            <a:r>
              <a:rPr lang="ja-JP" altLang="en-US" dirty="0">
                <a:latin typeface="メイリオ" panose="020B0604030504040204" pitchFamily="50" charset="-128"/>
                <a:ea typeface="メイリオ" panose="020B0604030504040204" pitchFamily="50" charset="-128"/>
              </a:rPr>
              <a:t>公式：最新</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Critical Patch Update</a:t>
            </a:r>
            <a:r>
              <a:rPr lang="ja-JP" altLang="en-US" dirty="0">
                <a:latin typeface="メイリオ" panose="020B0604030504040204" pitchFamily="50" charset="-128"/>
                <a:ea typeface="メイリオ" panose="020B0604030504040204" pitchFamily="50" charset="-128"/>
              </a:rPr>
              <a:t>）適用</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2025</a:t>
            </a:r>
            <a:r>
              <a:rPr lang="ja-JP" altLang="en-US" dirty="0">
                <a:latin typeface="メイリオ" panose="020B0604030504040204" pitchFamily="50" charset="-128"/>
                <a:ea typeface="メイリオ" panose="020B0604030504040204" pitchFamily="50" charset="-128"/>
              </a:rPr>
              <a:t>年</a:t>
            </a:r>
            <a:r>
              <a:rPr lang="en-US" altLang="ja-JP" dirty="0">
                <a:latin typeface="メイリオ" panose="020B0604030504040204" pitchFamily="50" charset="-128"/>
                <a:ea typeface="メイリオ" panose="020B0604030504040204" pitchFamily="50" charset="-128"/>
              </a:rPr>
              <a:t>CPU</a:t>
            </a:r>
            <a:endParaRPr lang="en-US" altLang="ja-JP"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回避策（アップデート不可の場合）</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T3</a:t>
            </a:r>
            <a:r>
              <a:rPr lang="ja-JP" altLang="en-US" dirty="0">
                <a:latin typeface="メイリオ" panose="020B0604030504040204" pitchFamily="50" charset="-128"/>
                <a:ea typeface="メイリオ" panose="020B0604030504040204" pitchFamily="50" charset="-128"/>
              </a:rPr>
              <a:t>プロトコル無効化</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config.xml</a:t>
            </a:r>
            <a:r>
              <a:rPr lang="ja-JP" altLang="en-US" dirty="0">
                <a:highlight>
                  <a:srgbClr val="C0C0C0"/>
                </a:highlight>
                <a:latin typeface="メイリオ" panose="020B0604030504040204" pitchFamily="50" charset="-128"/>
                <a:ea typeface="メイリオ" panose="020B0604030504040204" pitchFamily="50" charset="-128"/>
              </a:rPr>
              <a:t>：</a:t>
            </a:r>
            <a:r>
              <a:rPr lang="en-US" altLang="ja-JP" dirty="0">
                <a:highlight>
                  <a:srgbClr val="C0C0C0"/>
                </a:highlight>
                <a:latin typeface="メイリオ" panose="020B0604030504040204" pitchFamily="50" charset="-128"/>
                <a:ea typeface="メイリオ" panose="020B0604030504040204" pitchFamily="50" charset="-128"/>
              </a:rPr>
              <a:t>&lt;t3-enabled&gt;false&lt;/t3-enabled&gt;</a:t>
            </a:r>
            <a:endParaRPr lang="en-US" altLang="ja-JP"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管理コンソール外部公開禁止</a:t>
            </a:r>
            <a:endParaRPr lang="ja-JP" altLang="en-US"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ポート：</a:t>
            </a:r>
            <a:r>
              <a:rPr lang="en-US" altLang="ja-JP" dirty="0">
                <a:latin typeface="メイリオ" panose="020B0604030504040204" pitchFamily="50" charset="-128"/>
                <a:ea typeface="メイリオ" panose="020B0604030504040204" pitchFamily="50" charset="-128"/>
              </a:rPr>
              <a:t>7001</a:t>
            </a:r>
            <a:r>
              <a:rPr lang="ja-JP" altLang="en-US" dirty="0" err="1">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7002</a:t>
            </a:r>
            <a:endParaRPr lang="en-US" altLang="ja-JP"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外部アクセス禁止</a:t>
            </a:r>
            <a:endParaRPr lang="ja-JP" altLang="en-US" dirty="0">
              <a:latin typeface="メイリオ" panose="020B0604030504040204" pitchFamily="50" charset="-128"/>
              <a:ea typeface="メイリオ" panose="020B0604030504040204" pitchFamily="50" charset="-128"/>
            </a:endParaRPr>
          </a:p>
          <a:p>
            <a:pPr marL="0" indent="0">
              <a:buNone/>
            </a:pPr>
            <a:r>
              <a:rPr lang="en-US" altLang="ja-JP" dirty="0">
                <a:latin typeface="メイリオ" panose="020B0604030504040204" pitchFamily="50" charset="-128"/>
                <a:ea typeface="メイリオ" panose="020B0604030504040204" pitchFamily="50" charset="-128"/>
              </a:rPr>
              <a:t>Web Application Firewall</a:t>
            </a:r>
            <a:r>
              <a:rPr lang="ja-JP" altLang="en-US" dirty="0">
                <a:latin typeface="メイリオ" panose="020B0604030504040204" pitchFamily="50" charset="-128"/>
                <a:ea typeface="メイリオ" panose="020B0604030504040204" pitchFamily="50" charset="-128"/>
              </a:rPr>
              <a:t>導入</a:t>
            </a:r>
            <a:endParaRPr kumimoji="1" lang="ja-JP" altLang="en-US" dirty="0">
              <a:latin typeface="メイリオ" panose="020B0604030504040204" pitchFamily="50" charset="-128"/>
              <a:ea typeface="メイリオ" panose="020B0604030504040204" pitchFamily="50" charset="-128"/>
            </a:endParaRPr>
          </a:p>
        </p:txBody>
      </p:sp>
      <p:pic>
        <p:nvPicPr>
          <p:cNvPr id="4" name="図 3"/>
          <p:cNvPicPr>
            <a:picLocks noChangeAspect="1"/>
          </p:cNvPicPr>
          <p:nvPr/>
        </p:nvPicPr>
        <p:blipFill>
          <a:blip r:embed="rId1"/>
          <a:stretch>
            <a:fillRect/>
          </a:stretch>
        </p:blipFill>
        <p:spPr>
          <a:xfrm>
            <a:off x="5703215" y="3598110"/>
            <a:ext cx="5878187" cy="284955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a:latin typeface="メイリオ" panose="020B0604030504040204" pitchFamily="50" charset="-128"/>
                <a:ea typeface="メイリオ" panose="020B0604030504040204" pitchFamily="50" charset="-128"/>
              </a:rPr>
              <a:t>Oracle Database 19c Standard Edition 2</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19.0.0.0.0</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idx="1"/>
          </p:nvPr>
        </p:nvSpPr>
        <p:spPr>
          <a:xfrm>
            <a:off x="838200" y="787141"/>
            <a:ext cx="10515600" cy="5924744"/>
          </a:xfrm>
        </p:spPr>
        <p:txBody>
          <a:bodyPr>
            <a:normAutofit fontScale="25000" lnSpcReduction="20000"/>
          </a:bodyPr>
          <a:lstStyle/>
          <a:p>
            <a:pPr marL="0" indent="0">
              <a:buNone/>
            </a:pPr>
            <a:r>
              <a:rPr lang="en-US" altLang="ja-JP" sz="3200" b="1" dirty="0">
                <a:latin typeface="メイリオ" panose="020B0604030504040204" pitchFamily="50" charset="-128"/>
                <a:ea typeface="メイリオ" panose="020B0604030504040204" pitchFamily="50" charset="-128"/>
              </a:rPr>
              <a:t>Oracle Database 19c Standard Edition 2</a:t>
            </a:r>
            <a:r>
              <a:rPr lang="ja-JP" altLang="en-US" sz="3200" b="1" dirty="0">
                <a:latin typeface="メイリオ" panose="020B0604030504040204" pitchFamily="50" charset="-128"/>
                <a:ea typeface="メイリオ" panose="020B0604030504040204" pitchFamily="50" charset="-128"/>
              </a:rPr>
              <a:t>（</a:t>
            </a:r>
            <a:r>
              <a:rPr lang="en-US" altLang="ja-JP" sz="3200" b="1" dirty="0">
                <a:latin typeface="メイリオ" panose="020B0604030504040204" pitchFamily="50" charset="-128"/>
                <a:ea typeface="メイリオ" panose="020B0604030504040204" pitchFamily="50" charset="-128"/>
              </a:rPr>
              <a:t>19.0.0.0.0</a:t>
            </a:r>
            <a:r>
              <a:rPr lang="ja-JP" altLang="en-US" sz="3200" b="1" dirty="0">
                <a:latin typeface="メイリオ" panose="020B0604030504040204" pitchFamily="50" charset="-128"/>
                <a:ea typeface="メイリオ" panose="020B0604030504040204" pitchFamily="50" charset="-128"/>
              </a:rPr>
              <a:t>）の脆弱性</a:t>
            </a:r>
            <a:endParaRPr lang="ja-JP" altLang="en-US" sz="3200" b="1" dirty="0">
              <a:latin typeface="メイリオ" panose="020B0604030504040204" pitchFamily="50" charset="-128"/>
              <a:ea typeface="メイリオ" panose="020B0604030504040204" pitchFamily="50" charset="-128"/>
            </a:endParaRPr>
          </a:p>
          <a:p>
            <a:pPr marL="0" indent="0">
              <a:buNone/>
            </a:pPr>
            <a:r>
              <a:rPr lang="en-US" altLang="ja-JP" sz="3200" b="1" dirty="0">
                <a:latin typeface="メイリオ" panose="020B0604030504040204" pitchFamily="50" charset="-128"/>
                <a:ea typeface="メイリオ" panose="020B0604030504040204" pitchFamily="50" charset="-128"/>
              </a:rPr>
              <a:t>1. </a:t>
            </a:r>
            <a:r>
              <a:rPr lang="ja-JP" altLang="en-US" sz="3200" b="1" dirty="0">
                <a:latin typeface="メイリオ" panose="020B0604030504040204" pitchFamily="50" charset="-128"/>
                <a:ea typeface="メイリオ" panose="020B0604030504040204" pitchFamily="50" charset="-128"/>
              </a:rPr>
              <a:t>該当する主な脆弱性</a:t>
            </a:r>
            <a:endParaRPr lang="ja-JP" altLang="en-US" sz="3200" b="1" dirty="0">
              <a:latin typeface="メイリオ" panose="020B0604030504040204" pitchFamily="50" charset="-128"/>
              <a:ea typeface="メイリオ" panose="020B0604030504040204" pitchFamily="50" charset="-128"/>
            </a:endParaRP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CVE-2025-21181</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endParaRPr lang="ja-JP" altLang="en-US" sz="32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Database Server </a:t>
            </a:r>
            <a:r>
              <a:rPr lang="ja-JP" altLang="en-US" sz="3200" dirty="0">
                <a:latin typeface="メイリオ" panose="020B0604030504040204" pitchFamily="50" charset="-128"/>
                <a:ea typeface="メイリオ" panose="020B0604030504040204" pitchFamily="50" charset="-128"/>
              </a:rPr>
              <a:t>の脆弱性により、ネットワーク経由でサービス拒否（</a:t>
            </a:r>
            <a:r>
              <a:rPr lang="en-US" altLang="ja-JP" sz="3200" dirty="0">
                <a:latin typeface="メイリオ" panose="020B0604030504040204" pitchFamily="50" charset="-128"/>
                <a:ea typeface="メイリオ" panose="020B0604030504040204" pitchFamily="50" charset="-128"/>
              </a:rPr>
              <a:t>DoS</a:t>
            </a:r>
            <a:r>
              <a:rPr lang="ja-JP" altLang="en-US" sz="3200" dirty="0">
                <a:latin typeface="メイリオ" panose="020B0604030504040204" pitchFamily="50" charset="-128"/>
                <a:ea typeface="メイリオ" panose="020B0604030504040204" pitchFamily="50" charset="-128"/>
              </a:rPr>
              <a:t>）が発生する可能性</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データベース停止、業務停止</a:t>
            </a:r>
            <a:endParaRPr lang="ja-JP" altLang="en-US" sz="3200" dirty="0">
              <a:latin typeface="メイリオ" panose="020B0604030504040204" pitchFamily="50" charset="-128"/>
              <a:ea typeface="メイリオ" panose="020B0604030504040204" pitchFamily="50" charset="-128"/>
            </a:endParaRP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CVE-2024-21120</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endParaRPr lang="ja-JP" altLang="en-US" sz="32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Net Services </a:t>
            </a:r>
            <a:r>
              <a:rPr lang="ja-JP" altLang="en-US" sz="3200" dirty="0">
                <a:latin typeface="メイリオ" panose="020B0604030504040204" pitchFamily="50" charset="-128"/>
                <a:ea typeface="メイリオ" panose="020B0604030504040204" pitchFamily="50" charset="-128"/>
              </a:rPr>
              <a:t>の脆弱性により、認証済ユーザーが権限昇格やサービス妨害を行う可能性</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権限昇格、不正操作、</a:t>
            </a:r>
            <a:r>
              <a:rPr lang="en-US" altLang="ja-JP" sz="3200" dirty="0">
                <a:latin typeface="メイリオ" panose="020B0604030504040204" pitchFamily="50" charset="-128"/>
                <a:ea typeface="メイリオ" panose="020B0604030504040204" pitchFamily="50" charset="-128"/>
              </a:rPr>
              <a:t>DoS</a:t>
            </a:r>
            <a:endParaRPr lang="en-US" altLang="ja-JP" sz="3200" dirty="0">
              <a:latin typeface="メイリオ" panose="020B0604030504040204" pitchFamily="50" charset="-128"/>
              <a:ea typeface="メイリオ" panose="020B0604030504040204" pitchFamily="50" charset="-128"/>
            </a:endParaRP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CVE-2023-22081</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endParaRPr lang="ja-JP" altLang="en-US" sz="32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Database Server </a:t>
            </a:r>
            <a:r>
              <a:rPr lang="ja-JP" altLang="en-US" sz="3200" dirty="0">
                <a:latin typeface="メイリオ" panose="020B0604030504040204" pitchFamily="50" charset="-128"/>
                <a:ea typeface="メイリオ" panose="020B0604030504040204" pitchFamily="50" charset="-128"/>
              </a:rPr>
              <a:t>の脆弱性により、不正アクセスやサービス拒否が発生する可能性</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不正アクセス、</a:t>
            </a:r>
            <a:r>
              <a:rPr lang="en-US" altLang="ja-JP" sz="3200" dirty="0">
                <a:latin typeface="メイリオ" panose="020B0604030504040204" pitchFamily="50" charset="-128"/>
                <a:ea typeface="メイリオ" panose="020B0604030504040204" pitchFamily="50" charset="-128"/>
              </a:rPr>
              <a:t>DoS</a:t>
            </a:r>
            <a:endParaRPr lang="en-US" altLang="ja-JP" sz="3200" dirty="0">
              <a:latin typeface="メイリオ" panose="020B0604030504040204" pitchFamily="50" charset="-128"/>
              <a:ea typeface="メイリオ" panose="020B0604030504040204" pitchFamily="50" charset="-128"/>
            </a:endParaRPr>
          </a:p>
          <a:p>
            <a:pPr marL="0" indent="0">
              <a:buNone/>
            </a:pPr>
            <a:r>
              <a:rPr lang="en-US" altLang="ja-JP" sz="3200" b="1" dirty="0">
                <a:latin typeface="メイリオ" panose="020B0604030504040204" pitchFamily="50" charset="-128"/>
                <a:ea typeface="メイリオ" panose="020B0604030504040204" pitchFamily="50" charset="-128"/>
              </a:rPr>
              <a:t>2. </a:t>
            </a:r>
            <a:r>
              <a:rPr lang="ja-JP" altLang="en-US" sz="3200" b="1" dirty="0">
                <a:latin typeface="メイリオ" panose="020B0604030504040204" pitchFamily="50" charset="-128"/>
                <a:ea typeface="メイリオ" panose="020B0604030504040204" pitchFamily="50" charset="-128"/>
              </a:rPr>
              <a:t>推奨される対応策</a:t>
            </a:r>
            <a:endParaRPr lang="ja-JP" altLang="en-US" sz="3200" b="1" dirty="0">
              <a:latin typeface="メイリオ" panose="020B0604030504040204" pitchFamily="50" charset="-128"/>
              <a:ea typeface="メイリオ" panose="020B0604030504040204" pitchFamily="50" charset="-128"/>
            </a:endParaRPr>
          </a:p>
          <a:p>
            <a:pPr marL="0" indent="0">
              <a:buNone/>
            </a:pPr>
            <a:r>
              <a:rPr lang="en-US" altLang="ja-JP" sz="3200" dirty="0">
                <a:latin typeface="メイリオ" panose="020B0604030504040204" pitchFamily="50" charset="-128"/>
                <a:ea typeface="メイリオ" panose="020B0604030504040204" pitchFamily="50" charset="-128"/>
              </a:rPr>
              <a:t>Oracle Database 19c </a:t>
            </a:r>
            <a:r>
              <a:rPr lang="ja-JP" altLang="en-US" sz="3200" dirty="0">
                <a:latin typeface="メイリオ" panose="020B0604030504040204" pitchFamily="50" charset="-128"/>
                <a:ea typeface="メイリオ" panose="020B0604030504040204" pitchFamily="50" charset="-128"/>
              </a:rPr>
              <a:t>を最新のパッチレベルへ更新</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推奨：</a:t>
            </a:r>
            <a:r>
              <a:rPr lang="en-US" altLang="ja-JP" sz="3200" dirty="0">
                <a:latin typeface="メイリオ" panose="020B0604030504040204" pitchFamily="50" charset="-128"/>
                <a:ea typeface="メイリオ" panose="020B0604030504040204" pitchFamily="50" charset="-128"/>
              </a:rPr>
              <a:t>Critical Patch Update</a:t>
            </a:r>
            <a:r>
              <a:rPr lang="ja-JP" altLang="en-US" sz="3200" dirty="0">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CPU</a:t>
            </a:r>
            <a:r>
              <a:rPr lang="ja-JP" altLang="en-US" sz="3200" dirty="0">
                <a:latin typeface="メイリオ" panose="020B0604030504040204" pitchFamily="50" charset="-128"/>
                <a:ea typeface="メイリオ" panose="020B0604030504040204" pitchFamily="50" charset="-128"/>
              </a:rPr>
              <a:t>）を適用</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可能であれば</a:t>
            </a:r>
            <a:r>
              <a:rPr lang="en-US" altLang="ja-JP" sz="3200" dirty="0">
                <a:latin typeface="メイリオ" panose="020B0604030504040204" pitchFamily="50" charset="-128"/>
                <a:ea typeface="メイリオ" panose="020B0604030504040204" pitchFamily="50" charset="-128"/>
              </a:rPr>
              <a:t>Oracle Database 19c </a:t>
            </a:r>
            <a:r>
              <a:rPr lang="ja-JP" altLang="en-US" sz="3200" dirty="0">
                <a:latin typeface="メイリオ" panose="020B0604030504040204" pitchFamily="50" charset="-128"/>
                <a:ea typeface="メイリオ" panose="020B0604030504040204" pitchFamily="50" charset="-128"/>
              </a:rPr>
              <a:t>最新</a:t>
            </a:r>
            <a:r>
              <a:rPr lang="en-US" altLang="ja-JP" sz="3200" dirty="0">
                <a:latin typeface="メイリオ" panose="020B0604030504040204" pitchFamily="50" charset="-128"/>
                <a:ea typeface="メイリオ" panose="020B0604030504040204" pitchFamily="50" charset="-128"/>
              </a:rPr>
              <a:t>RU</a:t>
            </a:r>
            <a:r>
              <a:rPr lang="ja-JP" altLang="en-US" sz="3200" dirty="0">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Release Update</a:t>
            </a:r>
            <a:r>
              <a:rPr lang="ja-JP" altLang="en-US" sz="3200" dirty="0">
                <a:latin typeface="メイリオ" panose="020B0604030504040204" pitchFamily="50" charset="-128"/>
                <a:ea typeface="メイリオ" panose="020B0604030504040204" pitchFamily="50" charset="-128"/>
              </a:rPr>
              <a:t>）</a:t>
            </a:r>
            <a:endParaRPr lang="ja-JP" altLang="en-US" sz="3200" dirty="0">
              <a:latin typeface="メイリオ" panose="020B0604030504040204" pitchFamily="50" charset="-128"/>
              <a:ea typeface="メイリオ" panose="020B0604030504040204" pitchFamily="50" charset="-128"/>
            </a:endParaRPr>
          </a:p>
          <a:p>
            <a:pPr marL="0" indent="0">
              <a:buNone/>
            </a:pPr>
            <a:r>
              <a:rPr lang="en-US" altLang="ja-JP" sz="3200" dirty="0">
                <a:latin typeface="メイリオ" panose="020B0604030504040204" pitchFamily="50" charset="-128"/>
                <a:ea typeface="メイリオ" panose="020B0604030504040204" pitchFamily="50" charset="-128"/>
              </a:rPr>
              <a:t>(19.22 </a:t>
            </a:r>
            <a:r>
              <a:rPr lang="ja-JP" altLang="en-US" sz="3200" dirty="0">
                <a:latin typeface="メイリオ" panose="020B0604030504040204" pitchFamily="50" charset="-128"/>
                <a:ea typeface="メイリオ" panose="020B0604030504040204" pitchFamily="50" charset="-128"/>
              </a:rPr>
              <a:t>以降、</a:t>
            </a:r>
            <a:r>
              <a:rPr lang="en-US" altLang="ja-JP" sz="3200" dirty="0">
                <a:latin typeface="メイリオ" panose="020B0604030504040204" pitchFamily="50" charset="-128"/>
                <a:ea typeface="メイリオ" panose="020B0604030504040204" pitchFamily="50" charset="-128"/>
              </a:rPr>
              <a:t>19.23 </a:t>
            </a:r>
            <a:r>
              <a:rPr lang="ja-JP" altLang="en-US" sz="3200" dirty="0">
                <a:latin typeface="メイリオ" panose="020B0604030504040204" pitchFamily="50" charset="-128"/>
                <a:ea typeface="メイリオ" panose="020B0604030504040204" pitchFamily="50" charset="-128"/>
              </a:rPr>
              <a:t>以降（推奨）</a:t>
            </a:r>
            <a:r>
              <a:rPr lang="en-US" altLang="ja-JP" sz="3200" dirty="0">
                <a:latin typeface="メイリオ" panose="020B0604030504040204" pitchFamily="50" charset="-128"/>
                <a:ea typeface="メイリオ" panose="020B0604030504040204" pitchFamily="50" charset="-128"/>
              </a:rPr>
              <a:t>)</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回避策（アップデート不可の場合）</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アップデートができない場合は、以下の対策を実施</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① 外部からの接続制限（最重要）</a:t>
            </a:r>
            <a:endParaRPr lang="ja-JP" altLang="en-US" sz="3200" dirty="0">
              <a:latin typeface="メイリオ" panose="020B0604030504040204" pitchFamily="50" charset="-128"/>
              <a:ea typeface="メイリオ" panose="020B0604030504040204" pitchFamily="50" charset="-128"/>
            </a:endParaRPr>
          </a:p>
          <a:p>
            <a:pPr marL="0" indent="0">
              <a:buNone/>
            </a:pPr>
            <a:r>
              <a:rPr lang="en-US" altLang="ja-JP" sz="3200" dirty="0">
                <a:latin typeface="メイリオ" panose="020B0604030504040204" pitchFamily="50" charset="-128"/>
                <a:ea typeface="メイリオ" panose="020B0604030504040204" pitchFamily="50" charset="-128"/>
              </a:rPr>
              <a:t>Oracle</a:t>
            </a:r>
            <a:r>
              <a:rPr lang="ja-JP" altLang="en-US" sz="3200" dirty="0">
                <a:latin typeface="メイリオ" panose="020B0604030504040204" pitchFamily="50" charset="-128"/>
                <a:ea typeface="メイリオ" panose="020B0604030504040204" pitchFamily="50" charset="-128"/>
              </a:rPr>
              <a:t>ポート：</a:t>
            </a:r>
            <a:r>
              <a:rPr lang="en-US" altLang="ja-JP" sz="3200" dirty="0">
                <a:latin typeface="メイリオ" panose="020B0604030504040204" pitchFamily="50" charset="-128"/>
                <a:ea typeface="メイリオ" panose="020B0604030504040204" pitchFamily="50" charset="-128"/>
              </a:rPr>
              <a:t>1521/TCP</a:t>
            </a:r>
            <a:r>
              <a:rPr lang="ja-JP" altLang="en-US" sz="3200" dirty="0">
                <a:latin typeface="メイリオ" panose="020B0604030504040204" pitchFamily="50" charset="-128"/>
                <a:ea typeface="メイリオ" panose="020B0604030504040204" pitchFamily="50" charset="-128"/>
              </a:rPr>
              <a:t>を</a:t>
            </a:r>
            <a:r>
              <a:rPr lang="en-US" altLang="ja-JP" sz="3200" dirty="0">
                <a:latin typeface="メイリオ" panose="020B0604030504040204" pitchFamily="50" charset="-128"/>
                <a:ea typeface="メイリオ" panose="020B0604030504040204" pitchFamily="50" charset="-128"/>
              </a:rPr>
              <a:t>FW</a:t>
            </a:r>
            <a:r>
              <a:rPr lang="ja-JP" altLang="en-US" sz="3200" dirty="0">
                <a:latin typeface="メイリオ" panose="020B0604030504040204" pitchFamily="50" charset="-128"/>
                <a:ea typeface="メイリオ" panose="020B0604030504040204" pitchFamily="50" charset="-128"/>
              </a:rPr>
              <a:t>で制限、管理ネットワークのみ許可</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許可：</a:t>
            </a:r>
            <a:r>
              <a:rPr lang="en-US" altLang="ja-JP" sz="3200" dirty="0">
                <a:latin typeface="メイリオ" panose="020B0604030504040204" pitchFamily="50" charset="-128"/>
                <a:ea typeface="メイリオ" panose="020B0604030504040204" pitchFamily="50" charset="-128"/>
              </a:rPr>
              <a:t>DB</a:t>
            </a:r>
            <a:r>
              <a:rPr lang="ja-JP" altLang="en-US" sz="3200" dirty="0">
                <a:latin typeface="メイリオ" panose="020B0604030504040204" pitchFamily="50" charset="-128"/>
                <a:ea typeface="メイリオ" panose="020B0604030504040204" pitchFamily="50" charset="-128"/>
              </a:rPr>
              <a:t>サーバー、アプリサーバー</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拒否：インターネット、一般端末</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② 不要な</a:t>
            </a:r>
            <a:r>
              <a:rPr lang="en-US" altLang="ja-JP" sz="3200" dirty="0">
                <a:latin typeface="メイリオ" panose="020B0604030504040204" pitchFamily="50" charset="-128"/>
                <a:ea typeface="メイリオ" panose="020B0604030504040204" pitchFamily="50" charset="-128"/>
              </a:rPr>
              <a:t>Oracle</a:t>
            </a:r>
            <a:r>
              <a:rPr lang="ja-JP" altLang="en-US" sz="3200" dirty="0">
                <a:latin typeface="メイリオ" panose="020B0604030504040204" pitchFamily="50" charset="-128"/>
                <a:ea typeface="メイリオ" panose="020B0604030504040204" pitchFamily="50" charset="-128"/>
              </a:rPr>
              <a:t>サービス停止：</a:t>
            </a:r>
            <a:r>
              <a:rPr lang="en-US" altLang="ja-JP" sz="3200" dirty="0">
                <a:latin typeface="メイリオ" panose="020B0604030504040204" pitchFamily="50" charset="-128"/>
                <a:ea typeface="メイリオ" panose="020B0604030504040204" pitchFamily="50" charset="-128"/>
              </a:rPr>
              <a:t>Oracle XML DB</a:t>
            </a:r>
            <a:r>
              <a:rPr lang="ja-JP" altLang="en-US" sz="3200" dirty="0" err="1">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Oracle HTTP Server</a:t>
            </a:r>
            <a:r>
              <a:rPr lang="ja-JP" altLang="en-US" sz="3200" dirty="0" err="1">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外部プロシージャ</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③ 権限管理の強化：</a:t>
            </a:r>
            <a:r>
              <a:rPr lang="en-US" altLang="ja-JP" sz="3200" dirty="0">
                <a:latin typeface="メイリオ" panose="020B0604030504040204" pitchFamily="50" charset="-128"/>
                <a:ea typeface="メイリオ" panose="020B0604030504040204" pitchFamily="50" charset="-128"/>
              </a:rPr>
              <a:t>DBA</a:t>
            </a:r>
            <a:r>
              <a:rPr lang="ja-JP" altLang="en-US" sz="3200" dirty="0">
                <a:latin typeface="メイリオ" panose="020B0604030504040204" pitchFamily="50" charset="-128"/>
                <a:ea typeface="メイリオ" panose="020B0604030504040204" pitchFamily="50" charset="-128"/>
              </a:rPr>
              <a:t>権限の最小化、不要なユーザー削除、強力なパスワード設定</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④ </a:t>
            </a:r>
            <a:r>
              <a:rPr lang="en-US" altLang="ja-JP" sz="3200" dirty="0">
                <a:latin typeface="メイリオ" panose="020B0604030504040204" pitchFamily="50" charset="-128"/>
                <a:ea typeface="メイリオ" panose="020B0604030504040204" pitchFamily="50" charset="-128"/>
              </a:rPr>
              <a:t>Oracle Listener</a:t>
            </a:r>
            <a:r>
              <a:rPr lang="ja-JP" altLang="en-US" sz="3200" dirty="0">
                <a:latin typeface="メイリオ" panose="020B0604030504040204" pitchFamily="50" charset="-128"/>
                <a:ea typeface="メイリオ" panose="020B0604030504040204" pitchFamily="50" charset="-128"/>
              </a:rPr>
              <a:t>制限</a:t>
            </a:r>
            <a:endParaRPr lang="ja-JP" altLang="en-US" sz="3200" dirty="0">
              <a:latin typeface="メイリオ" panose="020B0604030504040204" pitchFamily="50" charset="-128"/>
              <a:ea typeface="メイリオ" panose="020B0604030504040204" pitchFamily="50" charset="-128"/>
            </a:endParaRPr>
          </a:p>
          <a:p>
            <a:pPr marL="0" indent="0">
              <a:buNone/>
            </a:pPr>
            <a:r>
              <a:rPr lang="en-US" altLang="ja-JP" sz="3200" dirty="0" err="1">
                <a:latin typeface="メイリオ" panose="020B0604030504040204" pitchFamily="50" charset="-128"/>
                <a:ea typeface="メイリオ" panose="020B0604030504040204" pitchFamily="50" charset="-128"/>
              </a:rPr>
              <a:t>listener.ora</a:t>
            </a:r>
            <a:r>
              <a:rPr lang="en-US" altLang="ja-JP" sz="3200" dirty="0">
                <a:latin typeface="メイリオ" panose="020B0604030504040204" pitchFamily="50" charset="-128"/>
                <a:ea typeface="メイリオ" panose="020B0604030504040204" pitchFamily="50" charset="-128"/>
              </a:rPr>
              <a:t> </a:t>
            </a:r>
            <a:r>
              <a:rPr lang="ja-JP" altLang="en-US" sz="3200" dirty="0" err="1">
                <a:latin typeface="メイリオ" panose="020B0604030504040204" pitchFamily="50" charset="-128"/>
                <a:ea typeface="メイリオ" panose="020B0604030504040204" pitchFamily="50" charset="-128"/>
              </a:rPr>
              <a:t>にて</a:t>
            </a:r>
            <a:r>
              <a:rPr lang="ja-JP" altLang="en-US" sz="3200" dirty="0">
                <a:latin typeface="メイリオ" panose="020B0604030504040204" pitchFamily="50" charset="-128"/>
                <a:ea typeface="メイリオ" panose="020B0604030504040204" pitchFamily="50" charset="-128"/>
              </a:rPr>
              <a:t>制限：</a:t>
            </a:r>
            <a:endParaRPr lang="ja-JP" altLang="en-US" sz="3200" dirty="0">
              <a:latin typeface="メイリオ" panose="020B0604030504040204" pitchFamily="50" charset="-128"/>
              <a:ea typeface="メイリオ" panose="020B0604030504040204" pitchFamily="50" charset="-128"/>
            </a:endParaRPr>
          </a:p>
          <a:p>
            <a:pPr marL="0" indent="0">
              <a:buNone/>
            </a:pPr>
            <a:r>
              <a:rPr lang="en-US" altLang="ja-JP" sz="3200" dirty="0">
                <a:highlight>
                  <a:srgbClr val="C0C0C0"/>
                </a:highlight>
                <a:latin typeface="メイリオ" panose="020B0604030504040204" pitchFamily="50" charset="-128"/>
                <a:ea typeface="メイリオ" panose="020B0604030504040204" pitchFamily="50" charset="-128"/>
              </a:rPr>
              <a:t>ADMIN_RESTRICTIONS_LISTENER=ON</a:t>
            </a:r>
            <a:endParaRPr lang="en-US" altLang="ja-JP" sz="3200" dirty="0">
              <a:highlight>
                <a:srgbClr val="C0C0C0"/>
              </a:highlight>
              <a:latin typeface="メイリオ" panose="020B0604030504040204" pitchFamily="50" charset="-128"/>
              <a:ea typeface="メイリオ" panose="020B0604030504040204" pitchFamily="50" charset="-128"/>
            </a:endParaRPr>
          </a:p>
          <a:p>
            <a:pPr marL="0" indent="0">
              <a:buNone/>
            </a:pPr>
            <a:r>
              <a:rPr lang="en-US" altLang="ja-JP" sz="3200" dirty="0">
                <a:highlight>
                  <a:srgbClr val="C0C0C0"/>
                </a:highlight>
                <a:latin typeface="メイリオ" panose="020B0604030504040204" pitchFamily="50" charset="-128"/>
                <a:ea typeface="メイリオ" panose="020B0604030504040204" pitchFamily="50" charset="-128"/>
              </a:rPr>
              <a:t>VALID_NODE_CHECKING_REGISTRATION=ON</a:t>
            </a:r>
            <a:endParaRPr lang="en-US" altLang="ja-JP" sz="3200" dirty="0">
              <a:highlight>
                <a:srgbClr val="C0C0C0"/>
              </a:highlight>
              <a:latin typeface="メイリオ" panose="020B0604030504040204" pitchFamily="50" charset="-128"/>
              <a:ea typeface="メイリオ" panose="020B0604030504040204" pitchFamily="50" charset="-128"/>
            </a:endParaRPr>
          </a:p>
          <a:p>
            <a:pPr marL="0" indent="0">
              <a:buNone/>
            </a:pPr>
            <a:endParaRPr kumimoji="1" lang="ja-JP" altLang="en-US" dirty="0"/>
          </a:p>
        </p:txBody>
      </p:sp>
      <p:pic>
        <p:nvPicPr>
          <p:cNvPr id="4" name="図 3"/>
          <p:cNvPicPr>
            <a:picLocks noChangeAspect="1"/>
          </p:cNvPicPr>
          <p:nvPr/>
        </p:nvPicPr>
        <p:blipFill>
          <a:blip r:embed="rId1"/>
          <a:stretch>
            <a:fillRect/>
          </a:stretch>
        </p:blipFill>
        <p:spPr>
          <a:xfrm>
            <a:off x="8932631" y="2857237"/>
            <a:ext cx="1981302" cy="385464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rotWithShape="1">
          <a:blip r:embed="rId1">
            <a:extLst>
              <a:ext uri="{28A0092B-C50C-407E-A947-70E740481C1C}">
                <a14:useLocalDpi xmlns:a14="http://schemas.microsoft.com/office/drawing/2010/main" val="0"/>
              </a:ext>
            </a:extLst>
          </a:blip>
          <a:srcRect b="3086"/>
          <a:stretch>
            <a:fillRect/>
          </a:stretch>
        </p:blipFill>
        <p:spPr>
          <a:xfrm>
            <a:off x="1748672" y="724107"/>
            <a:ext cx="9059158" cy="5969449"/>
          </a:xfrm>
          <a:prstGeom prst="rect">
            <a:avLst/>
          </a:prstGeom>
          <a:ln>
            <a:solidFill>
              <a:srgbClr val="00B0F0"/>
            </a:solidFill>
          </a:ln>
        </p:spPr>
      </p:pic>
      <p:cxnSp>
        <p:nvCxnSpPr>
          <p:cNvPr id="8" name="直線コネクタ 7"/>
          <p:cNvCxnSpPr/>
          <p:nvPr/>
        </p:nvCxnSpPr>
        <p:spPr>
          <a:xfrm flipH="1">
            <a:off x="8898903" y="1509860"/>
            <a:ext cx="2" cy="50904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 name="直線コネクタ 10"/>
          <p:cNvCxnSpPr/>
          <p:nvPr/>
        </p:nvCxnSpPr>
        <p:spPr>
          <a:xfrm flipH="1">
            <a:off x="5330358" y="2406977"/>
            <a:ext cx="4662054"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直線コネクタ 12"/>
          <p:cNvCxnSpPr/>
          <p:nvPr/>
        </p:nvCxnSpPr>
        <p:spPr>
          <a:xfrm>
            <a:off x="5314316" y="2432115"/>
            <a:ext cx="0" cy="11104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3" name="正方形/長方形 2"/>
          <p:cNvSpPr/>
          <p:nvPr/>
        </p:nvSpPr>
        <p:spPr>
          <a:xfrm>
            <a:off x="5234226" y="164444"/>
            <a:ext cx="1723549" cy="461665"/>
          </a:xfrm>
          <a:prstGeom prst="rect">
            <a:avLst/>
          </a:prstGeom>
        </p:spPr>
        <p:txBody>
          <a:bodyPr wrap="none">
            <a:spAutoFit/>
          </a:bodyPr>
          <a:lstStyle/>
          <a:p>
            <a:pPr algn="ctr"/>
            <a:r>
              <a:rPr lang="ja-JP" altLang="en-US" sz="2400" dirty="0">
                <a:latin typeface="メイリオ" panose="020B0604030504040204" pitchFamily="50" charset="-128"/>
                <a:ea typeface="メイリオ" panose="020B0604030504040204" pitchFamily="50" charset="-128"/>
              </a:rPr>
              <a:t>攻撃経路１</a:t>
            </a:r>
            <a:endParaRPr lang="ja-JP" altLang="en-US" sz="2400" dirty="0">
              <a:latin typeface="メイリオ" panose="020B0604030504040204" pitchFamily="50" charset="-128"/>
              <a:ea typeface="メイリオ" panose="020B0604030504040204" pitchFamily="50" charset="-128"/>
            </a:endParaRPr>
          </a:p>
        </p:txBody>
      </p:sp>
      <p:cxnSp>
        <p:nvCxnSpPr>
          <p:cNvPr id="19" name="直線コネクタ 18"/>
          <p:cNvCxnSpPr/>
          <p:nvPr/>
        </p:nvCxnSpPr>
        <p:spPr>
          <a:xfrm>
            <a:off x="8898903" y="2011051"/>
            <a:ext cx="1093509" cy="785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直線コネクタ 20"/>
          <p:cNvCxnSpPr/>
          <p:nvPr/>
        </p:nvCxnSpPr>
        <p:spPr>
          <a:xfrm>
            <a:off x="9992412" y="2018907"/>
            <a:ext cx="1" cy="38807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5" name="直線矢印コネクタ 4"/>
          <p:cNvCxnSpPr/>
          <p:nvPr/>
        </p:nvCxnSpPr>
        <p:spPr>
          <a:xfrm flipH="1">
            <a:off x="5001768" y="3542515"/>
            <a:ext cx="312548" cy="0"/>
          </a:xfrm>
          <a:prstGeom prst="straightConnector1">
            <a:avLst/>
          </a:prstGeom>
          <a:ln>
            <a:solidFill>
              <a:srgbClr val="FF0000"/>
            </a:solidFill>
            <a:headEnd type="none" w="med" len="med"/>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2400" dirty="0">
                <a:latin typeface="メイリオ" panose="020B0604030504040204" pitchFamily="50" charset="-128"/>
                <a:ea typeface="メイリオ" panose="020B0604030504040204" pitchFamily="50" charset="-128"/>
              </a:rPr>
              <a:t>攻撃</a:t>
            </a:r>
            <a:r>
              <a:rPr lang="ja-JP" altLang="en-US" sz="2400" dirty="0">
                <a:latin typeface="メイリオ" panose="020B0604030504040204" pitchFamily="50" charset="-128"/>
                <a:ea typeface="メイリオ" panose="020B0604030504040204" pitchFamily="50" charset="-128"/>
              </a:rPr>
              <a:t>手法</a:t>
            </a:r>
            <a:endParaRPr kumimoji="1" lang="ja-JP" altLang="en-US" sz="2400" dirty="0">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idx="1"/>
          </p:nvPr>
        </p:nvSpPr>
        <p:spPr>
          <a:xfrm>
            <a:off x="838200" y="867266"/>
            <a:ext cx="10515600" cy="5797485"/>
          </a:xfrm>
        </p:spPr>
        <p:txBody>
          <a:bodyPr>
            <a:normAutofit fontScale="77500" lnSpcReduction="20000"/>
          </a:bodyPr>
          <a:lstStyle/>
          <a:p>
            <a:pPr marL="0" indent="0">
              <a:buNone/>
            </a:pPr>
            <a:r>
              <a:rPr lang="ja-JP" altLang="en-US" sz="2400" b="1" dirty="0">
                <a:latin typeface="メイリオ" panose="020B0604030504040204" pitchFamily="50" charset="-128"/>
                <a:ea typeface="メイリオ" panose="020B0604030504040204" pitchFamily="50" charset="-128"/>
              </a:rPr>
              <a:t>運行情報等</a:t>
            </a:r>
            <a:r>
              <a:rPr lang="en-US" altLang="ja-JP" sz="2400" b="1" dirty="0">
                <a:latin typeface="メイリオ" panose="020B0604030504040204" pitchFamily="50" charset="-128"/>
                <a:ea typeface="メイリオ" panose="020B0604030504040204" pitchFamily="50" charset="-128"/>
              </a:rPr>
              <a:t>DB</a:t>
            </a:r>
            <a:r>
              <a:rPr lang="ja-JP" altLang="en-US" sz="2400" b="1" dirty="0">
                <a:latin typeface="メイリオ" panose="020B0604030504040204" pitchFamily="50" charset="-128"/>
                <a:ea typeface="メイリオ" panose="020B0604030504040204" pitchFamily="50" charset="-128"/>
              </a:rPr>
              <a:t>サーバーの情報入手を目的とする</a:t>
            </a:r>
            <a:endParaRPr lang="en-US" altLang="ja-JP" sz="2400" b="1"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Reconnaissance</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T1595: Active Scanning</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T1592.002:</a:t>
            </a:r>
            <a:r>
              <a:rPr lang="ja-JP" altLang="en-US" sz="2400" dirty="0">
                <a:latin typeface="メイリオ" panose="020B0604030504040204" pitchFamily="50" charset="-128"/>
                <a:ea typeface="メイリオ" panose="020B0604030504040204" pitchFamily="50" charset="-128"/>
              </a:rPr>
              <a:t>ソフトウェア調査</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T1592.003:</a:t>
            </a:r>
            <a:r>
              <a:rPr lang="ja-JP" altLang="en-US" sz="2400" dirty="0">
                <a:latin typeface="メイリオ" panose="020B0604030504040204" pitchFamily="50" charset="-128"/>
                <a:ea typeface="メイリオ" panose="020B0604030504040204" pitchFamily="50" charset="-128"/>
              </a:rPr>
              <a:t>ファームウェア調査</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・不正にアカウントを使用（</a:t>
            </a:r>
            <a:r>
              <a:rPr lang="en-US" altLang="ja-JP" sz="2400" dirty="0">
                <a:latin typeface="メイリオ" panose="020B0604030504040204" pitchFamily="50" charset="-128"/>
                <a:ea typeface="メイリオ" panose="020B0604030504040204" pitchFamily="50" charset="-128"/>
              </a:rPr>
              <a:t>FACE</a:t>
            </a:r>
            <a:r>
              <a:rPr lang="ja-JP" altLang="en-US" sz="2400" dirty="0">
                <a:latin typeface="メイリオ" panose="020B0604030504040204" pitchFamily="50" charset="-128"/>
                <a:ea typeface="メイリオ" panose="020B0604030504040204" pitchFamily="50" charset="-128"/>
              </a:rPr>
              <a:t>対抗用端末へ）</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初期侵入（</a:t>
            </a:r>
            <a:r>
              <a:rPr lang="en-US" altLang="ja-JP" sz="2400" dirty="0">
                <a:latin typeface="メイリオ" panose="020B0604030504040204" pitchFamily="50" charset="-128"/>
                <a:ea typeface="メイリオ" panose="020B0604030504040204" pitchFamily="50" charset="-128"/>
              </a:rPr>
              <a:t>T1078: Valid Accounts</a:t>
            </a:r>
            <a:r>
              <a:rPr lang="ja-JP" altLang="en-US" sz="2400" dirty="0">
                <a:latin typeface="メイリオ" panose="020B0604030504040204" pitchFamily="50" charset="-128"/>
                <a:ea typeface="メイリオ" panose="020B0604030504040204" pitchFamily="50" charset="-128"/>
              </a:rPr>
              <a:t>）→権限昇格（</a:t>
            </a:r>
            <a:r>
              <a:rPr lang="en-US" altLang="ja-JP" sz="2400" dirty="0">
                <a:latin typeface="メイリオ" panose="020B0604030504040204" pitchFamily="50" charset="-128"/>
                <a:ea typeface="メイリオ" panose="020B0604030504040204" pitchFamily="50" charset="-128"/>
              </a:rPr>
              <a:t> CVE-2024-21338</a:t>
            </a:r>
            <a:r>
              <a:rPr lang="ja-JP" altLang="en-US" sz="2400" dirty="0">
                <a:latin typeface="メイリオ" panose="020B0604030504040204" pitchFamily="50" charset="-128"/>
                <a:ea typeface="メイリオ" panose="020B0604030504040204" pitchFamily="50" charset="-128"/>
              </a:rPr>
              <a:t>の脆弱性を利用</a:t>
            </a:r>
            <a:r>
              <a:rPr lang="en-US" altLang="ja-JP" sz="2400" dirty="0">
                <a:latin typeface="メイリオ" panose="020B0604030504040204" pitchFamily="50" charset="-128"/>
                <a:ea typeface="メイリオ" panose="020B0604030504040204" pitchFamily="50" charset="-128"/>
              </a:rPr>
              <a:t> </a:t>
            </a:r>
            <a:r>
              <a:rPr lang="ja-JP" altLang="en-US" sz="2400" dirty="0">
                <a:latin typeface="メイリオ" panose="020B0604030504040204" pitchFamily="50" charset="-128"/>
                <a:ea typeface="メイリオ" panose="020B0604030504040204" pitchFamily="50" charset="-128"/>
              </a:rPr>
              <a:t>）→永続化（</a:t>
            </a:r>
            <a:r>
              <a:rPr lang="en-US" altLang="ja-JP" sz="2400" dirty="0">
                <a:latin typeface="メイリオ" panose="020B0604030504040204" pitchFamily="50" charset="-128"/>
                <a:ea typeface="メイリオ" panose="020B0604030504040204" pitchFamily="50" charset="-128"/>
              </a:rPr>
              <a:t>T1197: BITS Jobs</a:t>
            </a:r>
            <a:r>
              <a:rPr lang="ja-JP" altLang="en-US" sz="2400" dirty="0" err="1">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T1547: Boot or Logon </a:t>
            </a:r>
            <a:r>
              <a:rPr lang="en-US" altLang="ja-JP" sz="2400" dirty="0" err="1">
                <a:latin typeface="メイリオ" panose="020B0604030504040204" pitchFamily="50" charset="-128"/>
                <a:ea typeface="メイリオ" panose="020B0604030504040204" pitchFamily="50" charset="-128"/>
              </a:rPr>
              <a:t>Autostart</a:t>
            </a:r>
            <a:r>
              <a:rPr lang="en-US" altLang="ja-JP" sz="2400" dirty="0">
                <a:latin typeface="メイリオ" panose="020B0604030504040204" pitchFamily="50" charset="-128"/>
                <a:ea typeface="メイリオ" panose="020B0604030504040204" pitchFamily="50" charset="-128"/>
              </a:rPr>
              <a:t> Execution</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C2</a:t>
            </a:r>
            <a:r>
              <a:rPr lang="ja-JP" altLang="en-US" sz="2400" dirty="0">
                <a:latin typeface="メイリオ" panose="020B0604030504040204" pitchFamily="50" charset="-128"/>
                <a:ea typeface="メイリオ" panose="020B0604030504040204" pitchFamily="50" charset="-128"/>
              </a:rPr>
              <a:t>通信（</a:t>
            </a:r>
            <a:r>
              <a:rPr lang="en-US" altLang="ja-JP" sz="2400" dirty="0">
                <a:latin typeface="メイリオ" panose="020B0604030504040204" pitchFamily="50" charset="-128"/>
                <a:ea typeface="メイリオ" panose="020B0604030504040204" pitchFamily="50" charset="-128"/>
              </a:rPr>
              <a:t>T1071.004: DNS</a:t>
            </a:r>
            <a:r>
              <a:rPr lang="ja-JP" altLang="en-US" sz="2400" dirty="0" err="1">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T1071.001: Web Protocols</a:t>
            </a:r>
            <a:r>
              <a:rPr lang="ja-JP" altLang="en-US" sz="2400" dirty="0">
                <a:latin typeface="メイリオ" panose="020B0604030504040204" pitchFamily="50" charset="-128"/>
                <a:ea typeface="メイリオ" panose="020B0604030504040204" pitchFamily="50" charset="-128"/>
              </a:rPr>
              <a:t>）</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・認証情報窃取（端末内のドメイン管理者認証情報を取得）</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T1003.001:LSASS Memory </a:t>
            </a:r>
            <a:r>
              <a:rPr lang="ja-JP" altLang="en-US" sz="2400" dirty="0">
                <a:latin typeface="メイリオ" panose="020B0604030504040204" pitchFamily="50" charset="-128"/>
                <a:ea typeface="メイリオ" panose="020B0604030504040204" pitchFamily="50" charset="-128"/>
              </a:rPr>
              <a:t>）</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・内部ネットワーク調査</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T1016: System Network Configuration Discovery</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T1046: Network Service Discovery</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T1018: Remote System Discovery</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T1087.002: Domain Account</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DB</a:t>
            </a:r>
            <a:r>
              <a:rPr lang="ja-JP" altLang="en-US" sz="2400" dirty="0">
                <a:latin typeface="メイリオ" panose="020B0604030504040204" pitchFamily="50" charset="-128"/>
                <a:ea typeface="メイリオ" panose="020B0604030504040204" pitchFamily="50" charset="-128"/>
              </a:rPr>
              <a:t>サーバーの情報窃取</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T1213.006 :</a:t>
            </a:r>
            <a:r>
              <a:rPr lang="en-US" altLang="ja-JP" sz="2400" dirty="0"/>
              <a:t> Data from Information Repositories: Databases</a:t>
            </a:r>
            <a:endParaRPr lang="en-US" altLang="ja-JP" sz="2400" dirty="0">
              <a:latin typeface="メイリオ" panose="020B0604030504040204" pitchFamily="50" charset="-128"/>
              <a:ea typeface="メイリオ" panose="020B0604030504040204" pitchFamily="50" charset="-128"/>
            </a:endParaRPr>
          </a:p>
          <a:p>
            <a:pPr marL="0" indent="0">
              <a:buNone/>
            </a:pPr>
            <a:endParaRPr kumimoji="1" lang="ja-JP"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検知・緩和策</a:t>
            </a:r>
            <a:endParaRPr kumimoji="1" lang="ja-JP" altLang="en-US" dirty="0"/>
          </a:p>
        </p:txBody>
      </p:sp>
      <p:sp>
        <p:nvSpPr>
          <p:cNvPr id="3" name="コンテンツ プレースホルダー 2"/>
          <p:cNvSpPr>
            <a:spLocks noGrp="1"/>
          </p:cNvSpPr>
          <p:nvPr>
            <p:ph idx="1"/>
          </p:nvPr>
        </p:nvSpPr>
        <p:spPr>
          <a:xfrm>
            <a:off x="838200" y="832485"/>
            <a:ext cx="10515600" cy="5344795"/>
          </a:xfrm>
        </p:spPr>
        <p:txBody>
          <a:bodyPr>
            <a:normAutofit fontScale="25000"/>
          </a:bodyPr>
          <a:lstStyle/>
          <a:p>
            <a:pPr marL="0" indent="0">
              <a:buNone/>
            </a:pPr>
            <a:r>
              <a:rPr kumimoji="1" lang="ja-JP" altLang="en-US" dirty="0"/>
              <a:t>攻撃経路１</a:t>
            </a:r>
            <a:endParaRPr kumimoji="1" lang="ja-JP" altLang="en-US" dirty="0"/>
          </a:p>
          <a:p>
            <a:pPr marL="0" indent="0">
              <a:buNone/>
            </a:pPr>
            <a:r>
              <a:rPr kumimoji="1" lang="ja-JP" altLang="en-US" dirty="0"/>
              <a:t>検知手段</a:t>
            </a:r>
            <a:endParaRPr kumimoji="1" lang="ja-JP" altLang="en-US" dirty="0"/>
          </a:p>
          <a:p>
            <a:pPr marL="0" indent="0">
              <a:buNone/>
            </a:pPr>
            <a:r>
              <a:rPr kumimoji="1" lang="en-US" altLang="en-US" dirty="0"/>
              <a:t>①</a:t>
            </a:r>
            <a:r>
              <a:rPr kumimoji="1" lang="en-US" altLang="ja-JP" dirty="0"/>
              <a:t> FACE</a:t>
            </a:r>
            <a:r>
              <a:rPr kumimoji="1" lang="ja-JP" altLang="en-US" dirty="0"/>
              <a:t>対向用端末の監視</a:t>
            </a:r>
            <a:endParaRPr kumimoji="1" lang="en-US" altLang="ja-JP" dirty="0"/>
          </a:p>
          <a:p>
            <a:pPr marL="0" indent="0">
              <a:buNone/>
            </a:pPr>
            <a:r>
              <a:rPr kumimoji="1" lang="en-US" altLang="ja-JP" dirty="0"/>
              <a:t>Security</a:t>
            </a:r>
            <a:r>
              <a:rPr kumimoji="1" lang="ja-JP" altLang="en-US" dirty="0"/>
              <a:t>ログを確認し、不審なログインの有無を監視する</a:t>
            </a:r>
            <a:endParaRPr kumimoji="1" lang="ja-JP" altLang="en-US" dirty="0"/>
          </a:p>
          <a:p>
            <a:pPr marL="0" indent="0">
              <a:buNone/>
            </a:pPr>
            <a:r>
              <a:rPr kumimoji="1" lang="ja-JP" altLang="en-US" dirty="0"/>
              <a:t>（</a:t>
            </a:r>
            <a:r>
              <a:rPr kumimoji="1" lang="en-US" altLang="ja-JP" dirty="0"/>
              <a:t>Event ID</a:t>
            </a:r>
            <a:r>
              <a:rPr kumimoji="1" lang="ja-JP" altLang="en-US" dirty="0"/>
              <a:t>：</a:t>
            </a:r>
            <a:r>
              <a:rPr kumimoji="1" lang="en-US" altLang="ja-JP" dirty="0"/>
              <a:t>4624</a:t>
            </a:r>
            <a:r>
              <a:rPr kumimoji="1" lang="ja-JP" altLang="en-US" dirty="0"/>
              <a:t>［ログイン成功］、</a:t>
            </a:r>
            <a:r>
              <a:rPr kumimoji="1" lang="en-US" altLang="ja-JP" dirty="0"/>
              <a:t>4625</a:t>
            </a:r>
            <a:r>
              <a:rPr kumimoji="1" lang="ja-JP" altLang="en-US" dirty="0"/>
              <a:t>［ログイン失敗］、</a:t>
            </a:r>
            <a:r>
              <a:rPr kumimoji="1" lang="en-US" altLang="ja-JP" dirty="0"/>
              <a:t>4672</a:t>
            </a:r>
            <a:r>
              <a:rPr kumimoji="1" lang="ja-JP" altLang="en-US" dirty="0"/>
              <a:t>［特権ログイン］）</a:t>
            </a:r>
            <a:endParaRPr kumimoji="1" lang="en-US" altLang="ja-JP" dirty="0"/>
          </a:p>
          <a:p>
            <a:pPr marL="0" indent="0">
              <a:buNone/>
            </a:pPr>
            <a:r>
              <a:rPr kumimoji="1" lang="en-US" altLang="ja-JP" dirty="0"/>
              <a:t>Security</a:t>
            </a:r>
            <a:r>
              <a:rPr kumimoji="1" lang="ja-JP" altLang="en-US" dirty="0"/>
              <a:t>ログおよび</a:t>
            </a:r>
            <a:r>
              <a:rPr kumimoji="1" lang="en-US" altLang="ja-JP" dirty="0"/>
              <a:t>System</a:t>
            </a:r>
            <a:r>
              <a:rPr kumimoji="1" lang="ja-JP" altLang="en-US" dirty="0"/>
              <a:t>ログを確認し、不審なサービスおよびタスク登録を監視する</a:t>
            </a:r>
            <a:endParaRPr kumimoji="1" lang="ja-JP" altLang="en-US" dirty="0"/>
          </a:p>
          <a:p>
            <a:pPr marL="0" indent="0">
              <a:buNone/>
            </a:pPr>
            <a:r>
              <a:rPr kumimoji="1" lang="ja-JP" altLang="en-US" dirty="0"/>
              <a:t>（</a:t>
            </a:r>
            <a:r>
              <a:rPr kumimoji="1" lang="en-US" altLang="ja-JP" dirty="0"/>
              <a:t>Event ID</a:t>
            </a:r>
            <a:r>
              <a:rPr kumimoji="1" lang="ja-JP" altLang="en-US" dirty="0"/>
              <a:t>：</a:t>
            </a:r>
            <a:r>
              <a:rPr kumimoji="1" lang="en-US" altLang="ja-JP" dirty="0"/>
              <a:t>7045</a:t>
            </a:r>
            <a:r>
              <a:rPr kumimoji="1" lang="ja-JP" altLang="en-US" dirty="0"/>
              <a:t>［サービス作成］、</a:t>
            </a:r>
            <a:r>
              <a:rPr kumimoji="1" lang="en-US" altLang="ja-JP" dirty="0"/>
              <a:t>4698</a:t>
            </a:r>
            <a:r>
              <a:rPr kumimoji="1" lang="ja-JP" altLang="en-US" dirty="0"/>
              <a:t>［スケジュールタスク作成］）</a:t>
            </a:r>
            <a:endParaRPr kumimoji="1" lang="en-US" altLang="ja-JP" dirty="0"/>
          </a:p>
          <a:p>
            <a:pPr marL="0" indent="0">
              <a:buNone/>
            </a:pPr>
            <a:r>
              <a:rPr kumimoji="1" lang="en-US" altLang="ja-JP" dirty="0"/>
              <a:t>Security</a:t>
            </a:r>
            <a:r>
              <a:rPr kumimoji="1" lang="ja-JP" altLang="en-US" dirty="0"/>
              <a:t>ログおよび</a:t>
            </a:r>
            <a:r>
              <a:rPr kumimoji="1" lang="en-US" altLang="ja-JP" dirty="0"/>
              <a:t>Sysmon</a:t>
            </a:r>
            <a:r>
              <a:rPr kumimoji="1" lang="ja-JP" altLang="en-US" dirty="0"/>
              <a:t>ログを確認し、不審なプロセス実行を監視する</a:t>
            </a:r>
            <a:endParaRPr kumimoji="1" lang="ja-JP" altLang="en-US" dirty="0"/>
          </a:p>
          <a:p>
            <a:pPr marL="0" indent="0">
              <a:buNone/>
            </a:pPr>
            <a:r>
              <a:rPr kumimoji="1" lang="ja-JP" altLang="en-US" dirty="0"/>
              <a:t>（</a:t>
            </a:r>
            <a:r>
              <a:rPr kumimoji="1" lang="en-US" altLang="ja-JP" dirty="0"/>
              <a:t>Event ID</a:t>
            </a:r>
            <a:r>
              <a:rPr kumimoji="1" lang="ja-JP" altLang="en-US" dirty="0"/>
              <a:t>：</a:t>
            </a:r>
            <a:r>
              <a:rPr kumimoji="1" lang="en-US" altLang="ja-JP" dirty="0"/>
              <a:t>4688</a:t>
            </a:r>
            <a:r>
              <a:rPr kumimoji="1" lang="ja-JP" altLang="en-US" dirty="0"/>
              <a:t>［プロセス作成］）</a:t>
            </a:r>
            <a:endParaRPr kumimoji="1" lang="ja-JP" altLang="en-US" dirty="0"/>
          </a:p>
          <a:p>
            <a:pPr marL="0" indent="0">
              <a:buNone/>
            </a:pPr>
            <a:r>
              <a:rPr kumimoji="1" lang="ja-JP" altLang="en-US" dirty="0"/>
              <a:t>例：</a:t>
            </a:r>
            <a:r>
              <a:rPr kumimoji="1" lang="en-US" altLang="ja-JP" dirty="0"/>
              <a:t>powershell.exe</a:t>
            </a:r>
            <a:r>
              <a:rPr kumimoji="1" lang="ja-JP" altLang="en-US" dirty="0"/>
              <a:t>、認証情報窃取ツール等</a:t>
            </a:r>
            <a:endParaRPr kumimoji="1" lang="en-US" altLang="ja-JP" dirty="0"/>
          </a:p>
          <a:p>
            <a:pPr marL="0" indent="0">
              <a:buNone/>
            </a:pPr>
            <a:r>
              <a:rPr kumimoji="1" lang="ja-JP" altLang="en-US" dirty="0"/>
              <a:t>不審な外部通信の有無を確認する</a:t>
            </a:r>
            <a:endParaRPr kumimoji="1" lang="ja-JP" altLang="en-US" dirty="0"/>
          </a:p>
          <a:p>
            <a:pPr marL="0" indent="0">
              <a:buNone/>
            </a:pPr>
            <a:r>
              <a:rPr kumimoji="1" lang="ja-JP" altLang="en-US" dirty="0"/>
              <a:t>（</a:t>
            </a:r>
            <a:r>
              <a:rPr kumimoji="1" lang="en-US" altLang="ja-JP" dirty="0"/>
              <a:t>netstat -ano </a:t>
            </a:r>
            <a:r>
              <a:rPr kumimoji="1" lang="ja-JP" altLang="en-US" dirty="0"/>
              <a:t>等による通信状況確認）</a:t>
            </a:r>
            <a:endParaRPr kumimoji="1" lang="ja-JP" altLang="en-US" dirty="0"/>
          </a:p>
          <a:p>
            <a:pPr marL="0" indent="0">
              <a:buNone/>
            </a:pPr>
            <a:r>
              <a:rPr kumimoji="1" lang="en-US" altLang="en-US" dirty="0"/>
              <a:t>→</a:t>
            </a:r>
            <a:r>
              <a:rPr kumimoji="1" lang="en-US" altLang="ja-JP" dirty="0"/>
              <a:t> C2</a:t>
            </a:r>
            <a:r>
              <a:rPr kumimoji="1" lang="ja-JP" altLang="en-US" dirty="0"/>
              <a:t>通信の検知</a:t>
            </a:r>
            <a:endParaRPr kumimoji="1" lang="en-US" altLang="ja-JP" dirty="0"/>
          </a:p>
          <a:p>
            <a:pPr marL="0" indent="0">
              <a:buNone/>
            </a:pPr>
            <a:r>
              <a:rPr kumimoji="1" lang="ja-JP" altLang="en-US" dirty="0"/>
              <a:t>実行中プロセスを確認し、不審なプログラムの存在を確認する</a:t>
            </a:r>
            <a:endParaRPr kumimoji="1" lang="ja-JP" altLang="en-US" dirty="0"/>
          </a:p>
          <a:p>
            <a:pPr marL="0" indent="0">
              <a:buNone/>
            </a:pPr>
            <a:r>
              <a:rPr kumimoji="1" lang="ja-JP" altLang="en-US" dirty="0"/>
              <a:t>（</a:t>
            </a:r>
            <a:r>
              <a:rPr kumimoji="1" lang="en-US" altLang="ja-JP" dirty="0"/>
              <a:t>tasklist / tasklist /v</a:t>
            </a:r>
            <a:r>
              <a:rPr kumimoji="1" lang="ja-JP" altLang="en-US" dirty="0"/>
              <a:t>）</a:t>
            </a:r>
            <a:endParaRPr kumimoji="1" lang="en-US" altLang="ja-JP" dirty="0"/>
          </a:p>
          <a:p>
            <a:pPr marL="0" indent="0">
              <a:buNone/>
            </a:pPr>
            <a:r>
              <a:rPr kumimoji="1" lang="en-US" altLang="en-US" dirty="0"/>
              <a:t>②</a:t>
            </a:r>
            <a:r>
              <a:rPr kumimoji="1" lang="en-US" altLang="ja-JP" dirty="0"/>
              <a:t> </a:t>
            </a:r>
            <a:r>
              <a:rPr kumimoji="1" lang="ja-JP" altLang="en-US" dirty="0"/>
              <a:t>データベースサーバの監視</a:t>
            </a:r>
            <a:endParaRPr kumimoji="1" lang="en-US" altLang="ja-JP" dirty="0"/>
          </a:p>
          <a:p>
            <a:pPr marL="0" indent="0">
              <a:buNone/>
            </a:pPr>
            <a:r>
              <a:rPr kumimoji="1" lang="en-US" altLang="ja-JP" dirty="0"/>
              <a:t>Oracle Database</a:t>
            </a:r>
            <a:r>
              <a:rPr kumimoji="1" lang="ja-JP" altLang="en-US" dirty="0"/>
              <a:t>監査ログを確認し、不審なアクセスを検知する</a:t>
            </a:r>
            <a:endParaRPr kumimoji="1" lang="en-US" altLang="ja-JP" dirty="0"/>
          </a:p>
          <a:p>
            <a:pPr marL="0" indent="0">
              <a:buNone/>
            </a:pPr>
            <a:r>
              <a:rPr kumimoji="1" lang="ja-JP" altLang="en-US" dirty="0"/>
              <a:t>例：</a:t>
            </a:r>
            <a:endParaRPr kumimoji="1" lang="en-US" altLang="ja-JP" dirty="0"/>
          </a:p>
          <a:p>
            <a:pPr marL="0" indent="0">
              <a:buNone/>
            </a:pPr>
            <a:r>
              <a:rPr kumimoji="1" lang="ja-JP" altLang="en-US" dirty="0"/>
              <a:t>深夜帯のアクセス</a:t>
            </a:r>
            <a:endParaRPr kumimoji="1" lang="en-US" altLang="ja-JP" dirty="0"/>
          </a:p>
          <a:p>
            <a:pPr marL="0" indent="0">
              <a:buNone/>
            </a:pPr>
            <a:r>
              <a:rPr kumimoji="1" lang="ja-JP" altLang="en-US" dirty="0"/>
              <a:t>通常使用しないアカウントによる接続</a:t>
            </a:r>
            <a:endParaRPr kumimoji="1" lang="en-US" altLang="ja-JP" dirty="0"/>
          </a:p>
          <a:p>
            <a:pPr marL="0" indent="0">
              <a:buNone/>
            </a:pPr>
            <a:r>
              <a:rPr kumimoji="1" lang="ja-JP" altLang="en-US" dirty="0"/>
              <a:t>大量</a:t>
            </a:r>
            <a:r>
              <a:rPr kumimoji="1" lang="en-US" altLang="ja-JP" dirty="0"/>
              <a:t>SELECT</a:t>
            </a:r>
            <a:r>
              <a:rPr kumimoji="1" lang="ja-JP" altLang="en-US" dirty="0"/>
              <a:t>文の実行</a:t>
            </a:r>
            <a:endParaRPr kumimoji="1" lang="en-US" altLang="ja-JP" dirty="0"/>
          </a:p>
          <a:p>
            <a:pPr marL="0" indent="0">
              <a:buNone/>
            </a:pPr>
            <a:r>
              <a:rPr kumimoji="1" lang="ja-JP" altLang="en-US" dirty="0"/>
              <a:t>緩和策</a:t>
            </a:r>
            <a:endParaRPr kumimoji="1" lang="ja-JP" altLang="en-US" dirty="0"/>
          </a:p>
          <a:p>
            <a:pPr marL="0" indent="0">
              <a:buNone/>
            </a:pPr>
            <a:r>
              <a:rPr kumimoji="1" lang="en-US" altLang="en-US" dirty="0"/>
              <a:t>■</a:t>
            </a:r>
            <a:r>
              <a:rPr kumimoji="1" lang="en-US" altLang="ja-JP" dirty="0"/>
              <a:t> </a:t>
            </a:r>
            <a:r>
              <a:rPr kumimoji="1" lang="ja-JP" altLang="en-US" dirty="0"/>
              <a:t>認証情報対策</a:t>
            </a:r>
            <a:endParaRPr kumimoji="1" lang="en-US" altLang="ja-JP" dirty="0"/>
          </a:p>
          <a:p>
            <a:pPr marL="0" indent="0">
              <a:buNone/>
            </a:pPr>
            <a:r>
              <a:rPr kumimoji="1" lang="ja-JP" altLang="en-US" dirty="0"/>
              <a:t>強力なパスワードポリシーの適用（</a:t>
            </a:r>
            <a:r>
              <a:rPr kumimoji="1" lang="en-US" altLang="ja-JP" dirty="0"/>
              <a:t>12</a:t>
            </a:r>
            <a:r>
              <a:rPr kumimoji="1" lang="ja-JP" altLang="en-US" dirty="0"/>
              <a:t>文字以上・英数字記号を含む）</a:t>
            </a:r>
            <a:endParaRPr kumimoji="1" lang="en-US" altLang="ja-JP" dirty="0"/>
          </a:p>
          <a:p>
            <a:pPr marL="0" indent="0">
              <a:buNone/>
            </a:pPr>
            <a:r>
              <a:rPr kumimoji="1" lang="ja-JP" altLang="en-US" dirty="0"/>
              <a:t>多要素認証（</a:t>
            </a:r>
            <a:r>
              <a:rPr kumimoji="1" lang="en-US" altLang="ja-JP" dirty="0"/>
              <a:t>MFA</a:t>
            </a:r>
            <a:r>
              <a:rPr kumimoji="1" lang="ja-JP" altLang="en-US" dirty="0"/>
              <a:t>）の導入</a:t>
            </a:r>
            <a:endParaRPr kumimoji="1" lang="en-US" altLang="ja-JP" dirty="0"/>
          </a:p>
          <a:p>
            <a:pPr marL="0" indent="0">
              <a:buNone/>
            </a:pPr>
            <a:r>
              <a:rPr kumimoji="1" lang="ja-JP" altLang="en-US" dirty="0"/>
              <a:t>認証情報の端末内保存禁止</a:t>
            </a:r>
            <a:endParaRPr kumimoji="1" lang="en-US" altLang="ja-JP" dirty="0"/>
          </a:p>
          <a:p>
            <a:pPr marL="0" indent="0">
              <a:buNone/>
            </a:pPr>
            <a:r>
              <a:rPr kumimoji="1" lang="ja-JP" altLang="en-US" dirty="0"/>
              <a:t>管理者アカウントの使用制限および分離</a:t>
            </a:r>
            <a:endParaRPr kumimoji="1" lang="en-US" altLang="ja-JP" dirty="0"/>
          </a:p>
          <a:p>
            <a:pPr marL="0" indent="0">
              <a:buNone/>
            </a:pPr>
            <a:r>
              <a:rPr kumimoji="1" lang="en-US" altLang="en-US" dirty="0"/>
              <a:t>■</a:t>
            </a:r>
            <a:r>
              <a:rPr kumimoji="1" lang="en-US" altLang="ja-JP" dirty="0"/>
              <a:t> </a:t>
            </a:r>
            <a:r>
              <a:rPr kumimoji="1" lang="ja-JP" altLang="en-US" dirty="0"/>
              <a:t>端末対策</a:t>
            </a:r>
            <a:endParaRPr kumimoji="1" lang="en-US" altLang="ja-JP" dirty="0"/>
          </a:p>
          <a:p>
            <a:pPr marL="0" indent="0">
              <a:buNone/>
            </a:pPr>
            <a:r>
              <a:rPr kumimoji="1" lang="ja-JP" altLang="en-US" dirty="0"/>
              <a:t>不要サービスの停止</a:t>
            </a:r>
            <a:endParaRPr kumimoji="1" lang="en-US" altLang="ja-JP" dirty="0"/>
          </a:p>
          <a:p>
            <a:pPr marL="0" indent="0">
              <a:buNone/>
            </a:pPr>
            <a:r>
              <a:rPr kumimoji="1" lang="ja-JP" altLang="en-US" dirty="0"/>
              <a:t>不要ポートの閉鎖</a:t>
            </a:r>
            <a:endParaRPr kumimoji="1" lang="en-US" altLang="ja-JP" dirty="0"/>
          </a:p>
          <a:p>
            <a:pPr marL="0" indent="0">
              <a:buNone/>
            </a:pPr>
            <a:r>
              <a:rPr kumimoji="1" lang="ja-JP" altLang="en-US" dirty="0"/>
              <a:t>最新セキュリティパッチの適用</a:t>
            </a:r>
            <a:endParaRPr kumimoji="1" lang="ja-JP" altLang="en-US" dirty="0"/>
          </a:p>
          <a:p>
            <a:pPr marL="0" indent="0">
              <a:buNone/>
            </a:pPr>
            <a:r>
              <a:rPr kumimoji="1" lang="ja-JP" altLang="en-US" dirty="0"/>
              <a:t>ウイルス対策ソフトの導入</a:t>
            </a:r>
            <a:endParaRPr kumimoji="1" lang="en-US" altLang="ja-JP" dirty="0"/>
          </a:p>
          <a:p>
            <a:pPr marL="0" indent="0">
              <a:buNone/>
            </a:pPr>
            <a:r>
              <a:rPr kumimoji="1" lang="en-US" altLang="en-US" dirty="0"/>
              <a:t>■</a:t>
            </a:r>
            <a:r>
              <a:rPr kumimoji="1" lang="en-US" altLang="ja-JP" dirty="0"/>
              <a:t> </a:t>
            </a:r>
            <a:r>
              <a:rPr kumimoji="1" lang="ja-JP" altLang="en-US" dirty="0"/>
              <a:t>ネットワーク対策</a:t>
            </a:r>
            <a:endParaRPr kumimoji="1" lang="en-US" altLang="ja-JP" dirty="0"/>
          </a:p>
          <a:p>
            <a:pPr marL="0" indent="0">
              <a:buNone/>
            </a:pPr>
            <a:r>
              <a:rPr kumimoji="1" lang="ja-JP" altLang="en-US" dirty="0"/>
              <a:t>ファイアウォールによる不要通信の遮断</a:t>
            </a:r>
            <a:endParaRPr kumimoji="1" lang="en-US" altLang="ja-JP" dirty="0"/>
          </a:p>
          <a:p>
            <a:pPr marL="0" indent="0">
              <a:buNone/>
            </a:pPr>
            <a:r>
              <a:rPr kumimoji="1" lang="ja-JP" altLang="en-US" dirty="0"/>
              <a:t>内部ネットワークのアクセス制御強化</a:t>
            </a:r>
            <a:endParaRPr kumimoji="1" lang="en-US" altLang="ja-JP" dirty="0"/>
          </a:p>
          <a:p>
            <a:pPr marL="0" indent="0">
              <a:buNone/>
            </a:pPr>
            <a:r>
              <a:rPr kumimoji="1" lang="ja-JP" altLang="en-US" dirty="0"/>
              <a:t>外部通信の継続的監視</a:t>
            </a:r>
            <a:endParaRPr kumimoji="1" lang="en-US" altLang="ja-JP" dirty="0"/>
          </a:p>
          <a:p>
            <a:pPr marL="0" indent="0">
              <a:buNone/>
            </a:pPr>
            <a:r>
              <a:rPr kumimoji="1" lang="en-US" altLang="en-US" dirty="0"/>
              <a:t>■</a:t>
            </a:r>
            <a:r>
              <a:rPr kumimoji="1" lang="en-US" altLang="ja-JP" dirty="0"/>
              <a:t> </a:t>
            </a:r>
            <a:r>
              <a:rPr kumimoji="1" lang="ja-JP" altLang="en-US" dirty="0"/>
              <a:t>まとめ</a:t>
            </a:r>
            <a:endParaRPr kumimoji="1" lang="en-US" altLang="ja-JP" dirty="0"/>
          </a:p>
          <a:p>
            <a:pPr marL="0" indent="0">
              <a:buNone/>
            </a:pPr>
            <a:r>
              <a:rPr kumimoji="1" lang="ja-JP" altLang="en-US" dirty="0"/>
              <a:t>これらの監視および対策を実施することで、不正ログイン、認証情報窃取、内部ネットワークへの横展開、およびデータベースからの情報窃取を早期に検知・防止することが可能となる。</a:t>
            </a:r>
            <a:endParaRPr kumimoji="1" lang="ja-JP"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rotWithShape="1">
          <a:blip r:embed="rId1">
            <a:extLst>
              <a:ext uri="{28A0092B-C50C-407E-A947-70E740481C1C}">
                <a14:useLocalDpi xmlns:a14="http://schemas.microsoft.com/office/drawing/2010/main" val="0"/>
              </a:ext>
            </a:extLst>
          </a:blip>
          <a:srcRect b="3086"/>
          <a:stretch>
            <a:fillRect/>
          </a:stretch>
        </p:blipFill>
        <p:spPr>
          <a:xfrm>
            <a:off x="1748672" y="724107"/>
            <a:ext cx="9059158" cy="5969449"/>
          </a:xfrm>
          <a:prstGeom prst="rect">
            <a:avLst/>
          </a:prstGeom>
          <a:ln>
            <a:solidFill>
              <a:srgbClr val="00B0F0"/>
            </a:solidFill>
          </a:ln>
        </p:spPr>
      </p:pic>
      <p:cxnSp>
        <p:nvCxnSpPr>
          <p:cNvPr id="8" name="直線コネクタ 7"/>
          <p:cNvCxnSpPr/>
          <p:nvPr/>
        </p:nvCxnSpPr>
        <p:spPr>
          <a:xfrm flipH="1">
            <a:off x="8898903" y="1509860"/>
            <a:ext cx="2" cy="50904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 name="直線コネクタ 10"/>
          <p:cNvCxnSpPr/>
          <p:nvPr/>
        </p:nvCxnSpPr>
        <p:spPr>
          <a:xfrm flipH="1">
            <a:off x="5330358" y="2406977"/>
            <a:ext cx="4662054"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直線コネクタ 12"/>
          <p:cNvCxnSpPr/>
          <p:nvPr/>
        </p:nvCxnSpPr>
        <p:spPr>
          <a:xfrm>
            <a:off x="5314316" y="2432115"/>
            <a:ext cx="0" cy="11104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5" name="直線コネクタ 14"/>
          <p:cNvCxnSpPr/>
          <p:nvPr/>
        </p:nvCxnSpPr>
        <p:spPr>
          <a:xfrm flipH="1" flipV="1">
            <a:off x="4984576" y="3557835"/>
            <a:ext cx="345781" cy="54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直線矢印コネクタ 23"/>
          <p:cNvCxnSpPr/>
          <p:nvPr/>
        </p:nvCxnSpPr>
        <p:spPr>
          <a:xfrm flipH="1" flipV="1">
            <a:off x="4984576" y="977115"/>
            <a:ext cx="1" cy="2560688"/>
          </a:xfrm>
          <a:prstGeom prst="straightConnector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3" name="正方形/長方形 2"/>
          <p:cNvSpPr/>
          <p:nvPr/>
        </p:nvSpPr>
        <p:spPr>
          <a:xfrm>
            <a:off x="5426586" y="164444"/>
            <a:ext cx="1338829"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攻撃経路２</a:t>
            </a:r>
            <a:endParaRPr lang="ja-JP" altLang="en-US" dirty="0">
              <a:latin typeface="ＭＳ ゴシック" panose="020B0609070205080204" pitchFamily="49" charset="-128"/>
              <a:ea typeface="ＭＳ ゴシック" panose="020B0609070205080204" pitchFamily="49" charset="-128"/>
            </a:endParaRPr>
          </a:p>
        </p:txBody>
      </p:sp>
      <p:cxnSp>
        <p:nvCxnSpPr>
          <p:cNvPr id="19" name="直線コネクタ 18"/>
          <p:cNvCxnSpPr/>
          <p:nvPr/>
        </p:nvCxnSpPr>
        <p:spPr>
          <a:xfrm>
            <a:off x="8898903" y="2011051"/>
            <a:ext cx="1093509" cy="785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直線コネクタ 20"/>
          <p:cNvCxnSpPr/>
          <p:nvPr/>
        </p:nvCxnSpPr>
        <p:spPr>
          <a:xfrm>
            <a:off x="9992412" y="2018907"/>
            <a:ext cx="1" cy="38807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2400" dirty="0">
                <a:latin typeface="メイリオ" panose="020B0604030504040204" pitchFamily="50" charset="-128"/>
                <a:ea typeface="メイリオ" panose="020B0604030504040204" pitchFamily="50" charset="-128"/>
              </a:rPr>
              <a:t>攻撃経路２</a:t>
            </a:r>
            <a:endParaRPr kumimoji="1" lang="ja-JP" altLang="en-US" sz="2400" dirty="0">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idx="1"/>
          </p:nvPr>
        </p:nvSpPr>
        <p:spPr>
          <a:xfrm>
            <a:off x="1027325" y="762393"/>
            <a:ext cx="10137350" cy="5911784"/>
          </a:xfrm>
        </p:spPr>
        <p:txBody>
          <a:bodyPr>
            <a:noAutofit/>
          </a:bodyPr>
          <a:lstStyle/>
          <a:p>
            <a:pPr marL="0" indent="0">
              <a:buNone/>
            </a:pPr>
            <a:r>
              <a:rPr lang="en-US" altLang="ja-JP" sz="2000" b="1" dirty="0">
                <a:latin typeface="メイリオ" panose="020B0604030504040204" pitchFamily="50" charset="-128"/>
                <a:ea typeface="メイリオ" panose="020B0604030504040204" pitchFamily="50" charset="-128"/>
              </a:rPr>
              <a:t>FACE</a:t>
            </a:r>
            <a:r>
              <a:rPr lang="ja-JP" altLang="en-US" sz="2000" b="1" dirty="0">
                <a:latin typeface="メイリオ" panose="020B0604030504040204" pitchFamily="50" charset="-128"/>
                <a:ea typeface="メイリオ" panose="020B0604030504040204" pitchFamily="50" charset="-128"/>
              </a:rPr>
              <a:t>ネットワークから</a:t>
            </a:r>
            <a:r>
              <a:rPr lang="en-US" altLang="ja-JP" sz="2000" b="1" dirty="0">
                <a:latin typeface="メイリオ" panose="020B0604030504040204" pitchFamily="50" charset="-128"/>
                <a:ea typeface="メイリオ" panose="020B0604030504040204" pitchFamily="50" charset="-128"/>
              </a:rPr>
              <a:t>DII</a:t>
            </a:r>
            <a:r>
              <a:rPr kumimoji="1" lang="ja-JP" altLang="en-US" sz="2000" b="1" dirty="0">
                <a:latin typeface="メイリオ" panose="020B0604030504040204" pitchFamily="50" charset="-128"/>
                <a:ea typeface="メイリオ" panose="020B0604030504040204" pitchFamily="50" charset="-128"/>
              </a:rPr>
              <a:t>へ侵入することを目的とする</a:t>
            </a:r>
            <a:endParaRPr kumimoji="1" lang="en-US" altLang="ja-JP" sz="2000" b="1" dirty="0">
              <a:latin typeface="メイリオ" panose="020B0604030504040204" pitchFamily="50" charset="-128"/>
              <a:ea typeface="メイリオ" panose="020B0604030504040204" pitchFamily="50" charset="-128"/>
            </a:endParaRPr>
          </a:p>
          <a:p>
            <a:pPr marL="0" indent="0">
              <a:buNone/>
            </a:pPr>
            <a:r>
              <a:rPr kumimoji="1"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 Reconnaissance</a:t>
            </a:r>
            <a:endParaRPr kumimoji="1" lang="en-US" altLang="ja-JP" sz="2000" dirty="0">
              <a:latin typeface="メイリオ" panose="020B0604030504040204" pitchFamily="50" charset="-128"/>
              <a:ea typeface="メイリオ" panose="020B0604030504040204" pitchFamily="50" charset="-128"/>
            </a:endParaRPr>
          </a:p>
          <a:p>
            <a:pPr marL="0" indent="0">
              <a:buNone/>
            </a:pPr>
            <a:r>
              <a:rPr lang="en-US" altLang="ja-JP" sz="2000" dirty="0">
                <a:latin typeface="メイリオ" panose="020B0604030504040204" pitchFamily="50" charset="-128"/>
                <a:ea typeface="メイリオ" panose="020B0604030504040204" pitchFamily="50" charset="-128"/>
              </a:rPr>
              <a:t>T1595: Active Scanning</a:t>
            </a:r>
            <a:endParaRPr lang="en-US" altLang="ja-JP" sz="2000" dirty="0">
              <a:latin typeface="メイリオ" panose="020B0604030504040204" pitchFamily="50" charset="-128"/>
              <a:ea typeface="メイリオ" panose="020B0604030504040204" pitchFamily="50" charset="-128"/>
            </a:endParaRPr>
          </a:p>
          <a:p>
            <a:pPr marL="0" indent="0">
              <a:buNone/>
            </a:pPr>
            <a:r>
              <a:rPr kumimoji="1" lang="en-US" altLang="ja-JP" sz="2000" dirty="0">
                <a:latin typeface="メイリオ" panose="020B0604030504040204" pitchFamily="50" charset="-128"/>
                <a:ea typeface="メイリオ" panose="020B0604030504040204" pitchFamily="50" charset="-128"/>
              </a:rPr>
              <a:t>T1592.</a:t>
            </a:r>
            <a:r>
              <a:rPr lang="en-US" altLang="ja-JP" sz="2000" dirty="0">
                <a:latin typeface="メイリオ" panose="020B0604030504040204" pitchFamily="50" charset="-128"/>
                <a:ea typeface="メイリオ" panose="020B0604030504040204" pitchFamily="50" charset="-128"/>
              </a:rPr>
              <a:t>002:</a:t>
            </a:r>
            <a:r>
              <a:rPr lang="ja-JP" altLang="en-US" sz="2000" dirty="0">
                <a:latin typeface="メイリオ" panose="020B0604030504040204" pitchFamily="50" charset="-128"/>
                <a:ea typeface="メイリオ" panose="020B0604030504040204" pitchFamily="50" charset="-128"/>
              </a:rPr>
              <a:t>ソフトウェア情報収集</a:t>
            </a:r>
            <a:endParaRPr lang="en-US" altLang="ja-JP" sz="2000" dirty="0">
              <a:latin typeface="メイリオ" panose="020B0604030504040204" pitchFamily="50" charset="-128"/>
              <a:ea typeface="メイリオ" panose="020B0604030504040204" pitchFamily="50" charset="-128"/>
            </a:endParaRPr>
          </a:p>
          <a:p>
            <a:pPr marL="0" indent="0">
              <a:buNone/>
            </a:pPr>
            <a:r>
              <a:rPr lang="en-US" altLang="ja-JP" sz="2000" dirty="0">
                <a:latin typeface="メイリオ" panose="020B0604030504040204" pitchFamily="50" charset="-128"/>
                <a:ea typeface="メイリオ" panose="020B0604030504040204" pitchFamily="50" charset="-128"/>
              </a:rPr>
              <a:t>T1592.003:</a:t>
            </a:r>
            <a:r>
              <a:rPr lang="ja-JP" altLang="en-US" sz="2000" dirty="0">
                <a:latin typeface="メイリオ" panose="020B0604030504040204" pitchFamily="50" charset="-128"/>
                <a:ea typeface="メイリオ" panose="020B0604030504040204" pitchFamily="50" charset="-128"/>
              </a:rPr>
              <a:t>フォームウェア情報収集</a:t>
            </a:r>
            <a:r>
              <a:rPr kumimoji="1" lang="ja-JP" altLang="en-US" sz="2000" dirty="0">
                <a:latin typeface="メイリオ" panose="020B0604030504040204" pitchFamily="50" charset="-128"/>
                <a:ea typeface="メイリオ" panose="020B0604030504040204" pitchFamily="50" charset="-128"/>
              </a:rPr>
              <a:t>）</a:t>
            </a:r>
            <a:endParaRPr kumimoji="1" lang="en-US" altLang="ja-JP" sz="2000" dirty="0">
              <a:latin typeface="メイリオ" panose="020B0604030504040204" pitchFamily="50" charset="-128"/>
              <a:ea typeface="メイリオ" panose="020B0604030504040204" pitchFamily="50" charset="-128"/>
            </a:endParaRPr>
          </a:p>
          <a:p>
            <a:pPr marL="0" indent="0">
              <a:buNone/>
            </a:pPr>
            <a:r>
              <a:rPr lang="ja-JP" altLang="en-US" sz="2000" dirty="0">
                <a:latin typeface="メイリオ" panose="020B0604030504040204" pitchFamily="50" charset="-128"/>
                <a:ea typeface="メイリオ" panose="020B0604030504040204" pitchFamily="50" charset="-128"/>
              </a:rPr>
              <a:t>・不正にアカウントを使用（</a:t>
            </a:r>
            <a:r>
              <a:rPr lang="en-US" altLang="ja-JP" sz="2000" dirty="0">
                <a:latin typeface="メイリオ" panose="020B0604030504040204" pitchFamily="50" charset="-128"/>
                <a:ea typeface="メイリオ" panose="020B0604030504040204" pitchFamily="50" charset="-128"/>
              </a:rPr>
              <a:t>FACE</a:t>
            </a:r>
            <a:r>
              <a:rPr lang="ja-JP" altLang="en-US" sz="2000" dirty="0">
                <a:latin typeface="メイリオ" panose="020B0604030504040204" pitchFamily="50" charset="-128"/>
                <a:ea typeface="メイリオ" panose="020B0604030504040204" pitchFamily="50" charset="-128"/>
              </a:rPr>
              <a:t>対抗用端末へ）</a:t>
            </a:r>
            <a:endParaRPr lang="en-US" altLang="ja-JP" sz="2000" dirty="0">
              <a:latin typeface="メイリオ" panose="020B0604030504040204" pitchFamily="50" charset="-128"/>
              <a:ea typeface="メイリオ" panose="020B0604030504040204" pitchFamily="50" charset="-128"/>
            </a:endParaRPr>
          </a:p>
          <a:p>
            <a:pPr marL="0" indent="0">
              <a:buNone/>
            </a:pPr>
            <a:r>
              <a:rPr lang="ja-JP" altLang="en-US" sz="2000" dirty="0">
                <a:latin typeface="メイリオ" panose="020B0604030504040204" pitchFamily="50" charset="-128"/>
                <a:ea typeface="メイリオ" panose="020B0604030504040204" pitchFamily="50" charset="-128"/>
              </a:rPr>
              <a:t>初期侵入（</a:t>
            </a:r>
            <a:r>
              <a:rPr lang="en-US" altLang="ja-JP" sz="2000" dirty="0">
                <a:latin typeface="メイリオ" panose="020B0604030504040204" pitchFamily="50" charset="-128"/>
                <a:ea typeface="メイリオ" panose="020B0604030504040204" pitchFamily="50" charset="-128"/>
              </a:rPr>
              <a:t>T1078: Valid Accounts</a:t>
            </a:r>
            <a:r>
              <a:rPr lang="ja-JP" altLang="en-US" sz="2000" dirty="0">
                <a:latin typeface="メイリオ" panose="020B0604030504040204" pitchFamily="50" charset="-128"/>
                <a:ea typeface="メイリオ" panose="020B0604030504040204" pitchFamily="50" charset="-128"/>
              </a:rPr>
              <a:t>）→権限昇格（</a:t>
            </a:r>
            <a:r>
              <a:rPr lang="fr-FR" altLang="ja-JP" sz="2000" dirty="0">
                <a:latin typeface="メイリオ" panose="020B0604030504040204" pitchFamily="50" charset="-128"/>
                <a:ea typeface="メイリオ" panose="020B0604030504040204" pitchFamily="50" charset="-128"/>
              </a:rPr>
              <a:t>T1203: Exploitation for Client Execution</a:t>
            </a:r>
            <a:r>
              <a:rPr lang="ja-JP" altLang="en-US" sz="2000" dirty="0">
                <a:latin typeface="メイリオ" panose="020B0604030504040204" pitchFamily="50" charset="-128"/>
                <a:ea typeface="メイリオ" panose="020B0604030504040204" pitchFamily="50" charset="-128"/>
              </a:rPr>
              <a:t>）→永続化（</a:t>
            </a:r>
            <a:r>
              <a:rPr lang="en-US" altLang="ja-JP" sz="2000" dirty="0">
                <a:latin typeface="メイリオ" panose="020B0604030504040204" pitchFamily="50" charset="-128"/>
                <a:ea typeface="メイリオ" panose="020B0604030504040204" pitchFamily="50" charset="-128"/>
              </a:rPr>
              <a:t>T1197: BITS Jobs</a:t>
            </a:r>
            <a:r>
              <a:rPr lang="ja-JP" altLang="en-US" sz="2000" dirty="0" err="1">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T1547: Boot or Logon </a:t>
            </a:r>
            <a:r>
              <a:rPr lang="en-US" altLang="ja-JP" sz="2000" dirty="0" err="1">
                <a:latin typeface="メイリオ" panose="020B0604030504040204" pitchFamily="50" charset="-128"/>
                <a:ea typeface="メイリオ" panose="020B0604030504040204" pitchFamily="50" charset="-128"/>
              </a:rPr>
              <a:t>Autostart</a:t>
            </a:r>
            <a:r>
              <a:rPr lang="en-US" altLang="ja-JP" sz="2000" dirty="0">
                <a:latin typeface="メイリオ" panose="020B0604030504040204" pitchFamily="50" charset="-128"/>
                <a:ea typeface="メイリオ" panose="020B0604030504040204" pitchFamily="50" charset="-128"/>
              </a:rPr>
              <a:t> Execution</a:t>
            </a: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C2</a:t>
            </a:r>
            <a:r>
              <a:rPr lang="ja-JP" altLang="en-US" sz="2000" dirty="0">
                <a:latin typeface="メイリオ" panose="020B0604030504040204" pitchFamily="50" charset="-128"/>
                <a:ea typeface="メイリオ" panose="020B0604030504040204" pitchFamily="50" charset="-128"/>
              </a:rPr>
              <a:t>通信（</a:t>
            </a:r>
            <a:r>
              <a:rPr lang="en-US" altLang="ja-JP" sz="2000" dirty="0">
                <a:latin typeface="メイリオ" panose="020B0604030504040204" pitchFamily="50" charset="-128"/>
                <a:ea typeface="メイリオ" panose="020B0604030504040204" pitchFamily="50" charset="-128"/>
              </a:rPr>
              <a:t>T1071.004: DNS</a:t>
            </a:r>
            <a:r>
              <a:rPr lang="ja-JP" altLang="en-US" sz="2000" dirty="0" err="1">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T1071.001: Web Protocols</a:t>
            </a:r>
            <a:r>
              <a:rPr lang="ja-JP" altLang="en-US" sz="2000" dirty="0">
                <a:latin typeface="メイリオ" panose="020B0604030504040204" pitchFamily="50" charset="-128"/>
                <a:ea typeface="メイリオ" panose="020B0604030504040204" pitchFamily="50" charset="-128"/>
              </a:rPr>
              <a:t>）</a:t>
            </a:r>
            <a:endParaRPr lang="en-US" altLang="ja-JP" sz="2000" dirty="0">
              <a:latin typeface="メイリオ" panose="020B0604030504040204" pitchFamily="50" charset="-128"/>
              <a:ea typeface="メイリオ" panose="020B0604030504040204" pitchFamily="50" charset="-128"/>
            </a:endParaRPr>
          </a:p>
          <a:p>
            <a:pPr marL="0" indent="0">
              <a:buNone/>
            </a:pPr>
            <a:r>
              <a:rPr kumimoji="1" lang="ja-JP" altLang="en-US" sz="2000" dirty="0">
                <a:latin typeface="メイリオ" panose="020B0604030504040204" pitchFamily="50" charset="-128"/>
                <a:ea typeface="メイリオ" panose="020B0604030504040204" pitchFamily="50" charset="-128"/>
              </a:rPr>
              <a:t>・仮想化サーバーへ横展開</a:t>
            </a:r>
            <a:endParaRPr lang="en-US" altLang="ja-JP" sz="2000" dirty="0">
              <a:latin typeface="メイリオ" panose="020B0604030504040204" pitchFamily="50" charset="-128"/>
              <a:ea typeface="メイリオ" panose="020B0604030504040204" pitchFamily="50" charset="-128"/>
            </a:endParaRPr>
          </a:p>
          <a:p>
            <a:pPr marL="0" indent="0">
              <a:buNone/>
            </a:pPr>
            <a:r>
              <a:rPr lang="ja-JP" altLang="en-US" sz="2000" dirty="0">
                <a:latin typeface="メイリオ" panose="020B0604030504040204" pitchFamily="50" charset="-128"/>
                <a:ea typeface="メイリオ" panose="020B0604030504040204" pitchFamily="50" charset="-128"/>
              </a:rPr>
              <a:t>認証情報窃取（</a:t>
            </a:r>
            <a:r>
              <a:rPr lang="en-US" altLang="ja-JP" sz="2000" dirty="0">
                <a:latin typeface="メイリオ" panose="020B0604030504040204" pitchFamily="50" charset="-128"/>
                <a:ea typeface="メイリオ" panose="020B0604030504040204" pitchFamily="50" charset="-128"/>
              </a:rPr>
              <a:t>T1003.001:LSASS Memory </a:t>
            </a: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T1550.002:Pass the Hash </a:t>
            </a:r>
            <a:r>
              <a:rPr lang="ja-JP" altLang="en-US" sz="2000" dirty="0">
                <a:latin typeface="メイリオ" panose="020B0604030504040204" pitchFamily="50" charset="-128"/>
                <a:ea typeface="メイリオ" panose="020B0604030504040204" pitchFamily="50" charset="-128"/>
              </a:rPr>
              <a:t>）→情報窃取（</a:t>
            </a:r>
            <a:r>
              <a:rPr lang="en-US" altLang="ja-JP" sz="2000" dirty="0">
                <a:latin typeface="メイリオ" panose="020B0604030504040204" pitchFamily="50" charset="-128"/>
                <a:ea typeface="メイリオ" panose="020B0604030504040204" pitchFamily="50" charset="-128"/>
              </a:rPr>
              <a:t>T1213.006:Databases</a:t>
            </a: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C2</a:t>
            </a:r>
            <a:r>
              <a:rPr lang="ja-JP" altLang="en-US" sz="2000" dirty="0">
                <a:latin typeface="メイリオ" panose="020B0604030504040204" pitchFamily="50" charset="-128"/>
                <a:ea typeface="メイリオ" panose="020B0604030504040204" pitchFamily="50" charset="-128"/>
              </a:rPr>
              <a:t>通信（</a:t>
            </a:r>
            <a:r>
              <a:rPr lang="en-US" altLang="ja-JP" sz="2000" dirty="0">
                <a:latin typeface="メイリオ" panose="020B0604030504040204" pitchFamily="50" charset="-128"/>
                <a:ea typeface="メイリオ" panose="020B0604030504040204" pitchFamily="50" charset="-128"/>
              </a:rPr>
              <a:t>T1071.004:DNS</a:t>
            </a:r>
            <a:r>
              <a:rPr lang="ja-JP" altLang="en-US" sz="2000" dirty="0" err="1">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T1071.001:Web Protocols</a:t>
            </a:r>
            <a:r>
              <a:rPr lang="ja-JP" altLang="en-US" sz="2000" dirty="0">
                <a:latin typeface="メイリオ" panose="020B0604030504040204" pitchFamily="50" charset="-128"/>
                <a:ea typeface="メイリオ" panose="020B0604030504040204" pitchFamily="50" charset="-128"/>
              </a:rPr>
              <a:t>）</a:t>
            </a:r>
            <a:endParaRPr kumimoji="1" lang="en-US" altLang="ja-JP" sz="2000" dirty="0">
              <a:latin typeface="メイリオ" panose="020B0604030504040204" pitchFamily="50" charset="-128"/>
              <a:ea typeface="メイリオ" panose="020B0604030504040204" pitchFamily="50" charset="-128"/>
            </a:endParaRPr>
          </a:p>
          <a:p>
            <a:pPr marL="0" indent="0">
              <a:buNone/>
            </a:pP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DII</a:t>
            </a:r>
            <a:r>
              <a:rPr lang="ja-JP" altLang="en-US" sz="2000" dirty="0">
                <a:latin typeface="メイリオ" panose="020B0604030504040204" pitchFamily="50" charset="-128"/>
                <a:ea typeface="メイリオ" panose="020B0604030504040204" pitchFamily="50" charset="-128"/>
              </a:rPr>
              <a:t>から他基地</a:t>
            </a:r>
            <a:r>
              <a:rPr lang="ja-JP" altLang="en-US" sz="2000" dirty="0">
                <a:latin typeface="メイリオ" panose="020B0604030504040204" pitchFamily="50" charset="-128"/>
                <a:ea typeface="メイリオ" panose="020B0604030504040204" pitchFamily="50" charset="-128"/>
              </a:rPr>
              <a:t>、他システムへ侵入</a:t>
            </a:r>
            <a:endParaRPr lang="en-US" altLang="ja-JP" sz="2000" dirty="0">
              <a:latin typeface="メイリオ" panose="020B0604030504040204" pitchFamily="50" charset="-128"/>
              <a:ea typeface="メイリオ" panose="020B0604030504040204" pitchFamily="50" charset="-128"/>
            </a:endParaRPr>
          </a:p>
          <a:p>
            <a:pPr marL="0" indent="0">
              <a:buNone/>
            </a:pPr>
            <a:r>
              <a:rPr lang="en-US" altLang="ja-JP" sz="2000" dirty="0">
                <a:latin typeface="メイリオ" panose="020B0604030504040204" pitchFamily="50" charset="-128"/>
                <a:ea typeface="メイリオ" panose="020B0604030504040204" pitchFamily="50" charset="-128"/>
              </a:rPr>
              <a:t>T1021.001: Remote Desktop Protocol</a:t>
            </a:r>
            <a:endParaRPr lang="en-US" altLang="ja-JP" sz="2000" dirty="0">
              <a:latin typeface="メイリオ" panose="020B0604030504040204" pitchFamily="50" charset="-128"/>
              <a:ea typeface="メイリオ" panose="020B0604030504040204" pitchFamily="50" charset="-128"/>
            </a:endParaRPr>
          </a:p>
          <a:p>
            <a:pPr marL="0" indent="0">
              <a:buNone/>
            </a:pPr>
            <a:r>
              <a:rPr lang="en-US" altLang="ja-JP" sz="2000" dirty="0">
                <a:latin typeface="メイリオ" panose="020B0604030504040204" pitchFamily="50" charset="-128"/>
                <a:ea typeface="メイリオ" panose="020B0604030504040204" pitchFamily="50" charset="-128"/>
              </a:rPr>
              <a:t>T1021.002: SMB/Windows Admin Shares</a:t>
            </a:r>
            <a:endParaRPr lang="en-US" altLang="ja-JP" sz="20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検知・緩和策</a:t>
            </a:r>
            <a:endParaRPr kumimoji="1" lang="ja-JP" altLang="en-US" dirty="0"/>
          </a:p>
        </p:txBody>
      </p:sp>
      <p:sp>
        <p:nvSpPr>
          <p:cNvPr id="3" name="コンテンツ プレースホルダー 2"/>
          <p:cNvSpPr>
            <a:spLocks noGrp="1"/>
          </p:cNvSpPr>
          <p:nvPr>
            <p:ph idx="1"/>
          </p:nvPr>
        </p:nvSpPr>
        <p:spPr>
          <a:xfrm>
            <a:off x="838200" y="785495"/>
            <a:ext cx="10515600" cy="5745480"/>
          </a:xfrm>
        </p:spPr>
        <p:txBody>
          <a:bodyPr>
            <a:normAutofit fontScale="25000"/>
          </a:bodyPr>
          <a:lstStyle/>
          <a:p>
            <a:pPr marL="0" indent="0">
              <a:buNone/>
            </a:pPr>
            <a:r>
              <a:rPr kumimoji="1" lang="ja-JP" altLang="en-US" dirty="0"/>
              <a:t>攻撃経路２</a:t>
            </a:r>
            <a:endParaRPr kumimoji="1" lang="ja-JP" altLang="en-US" dirty="0"/>
          </a:p>
          <a:p>
            <a:pPr marL="0" indent="0">
              <a:buNone/>
            </a:pPr>
            <a:r>
              <a:rPr kumimoji="1" lang="ja-JP" altLang="en-US" dirty="0"/>
              <a:t>検知手段</a:t>
            </a:r>
            <a:endParaRPr kumimoji="1" lang="ja-JP" altLang="en-US" dirty="0"/>
          </a:p>
          <a:p>
            <a:pPr marL="0" indent="0">
              <a:buNone/>
            </a:pPr>
            <a:r>
              <a:rPr kumimoji="1" lang="en-US" altLang="en-US" dirty="0"/>
              <a:t>①</a:t>
            </a:r>
            <a:r>
              <a:rPr kumimoji="1" lang="en-US" altLang="ja-JP" dirty="0"/>
              <a:t> FACE</a:t>
            </a:r>
            <a:r>
              <a:rPr kumimoji="1" lang="ja-JP" altLang="en-US" dirty="0"/>
              <a:t>対向用端末の監視</a:t>
            </a:r>
            <a:endParaRPr kumimoji="1" lang="en-US" altLang="ja-JP" dirty="0"/>
          </a:p>
          <a:p>
            <a:pPr marL="0" indent="0">
              <a:buNone/>
            </a:pPr>
            <a:r>
              <a:rPr kumimoji="1" lang="en-US" altLang="ja-JP" dirty="0"/>
              <a:t>Security</a:t>
            </a:r>
            <a:r>
              <a:rPr kumimoji="1" lang="ja-JP" altLang="en-US" dirty="0"/>
              <a:t>ログによるログイン監視</a:t>
            </a:r>
            <a:endParaRPr kumimoji="1" lang="ja-JP" altLang="en-US" dirty="0"/>
          </a:p>
          <a:p>
            <a:pPr marL="0" indent="0">
              <a:buNone/>
            </a:pPr>
            <a:r>
              <a:rPr kumimoji="1" lang="ja-JP" altLang="en-US" dirty="0"/>
              <a:t>（</a:t>
            </a:r>
            <a:r>
              <a:rPr kumimoji="1" lang="en-US" altLang="ja-JP" dirty="0"/>
              <a:t>Event ID</a:t>
            </a:r>
            <a:r>
              <a:rPr kumimoji="1" lang="ja-JP" altLang="en-US" dirty="0"/>
              <a:t>：</a:t>
            </a:r>
            <a:r>
              <a:rPr kumimoji="1" lang="en-US" altLang="ja-JP" dirty="0"/>
              <a:t>4624</a:t>
            </a:r>
            <a:r>
              <a:rPr kumimoji="1" lang="ja-JP" altLang="en-US" dirty="0"/>
              <a:t>、</a:t>
            </a:r>
            <a:r>
              <a:rPr kumimoji="1" lang="en-US" altLang="ja-JP" dirty="0"/>
              <a:t>4625</a:t>
            </a:r>
            <a:r>
              <a:rPr kumimoji="1" lang="ja-JP" altLang="en-US" dirty="0"/>
              <a:t>、</a:t>
            </a:r>
            <a:r>
              <a:rPr kumimoji="1" lang="en-US" altLang="ja-JP" dirty="0"/>
              <a:t>4672</a:t>
            </a:r>
            <a:r>
              <a:rPr kumimoji="1" lang="ja-JP" altLang="en-US" dirty="0"/>
              <a:t>）</a:t>
            </a:r>
            <a:endParaRPr kumimoji="1" lang="en-US" altLang="ja-JP" dirty="0"/>
          </a:p>
          <a:p>
            <a:pPr marL="0" indent="0">
              <a:buNone/>
            </a:pPr>
            <a:r>
              <a:rPr kumimoji="1" lang="ja-JP" altLang="en-US" dirty="0"/>
              <a:t>サービスおよびタスクの不正登録監視</a:t>
            </a:r>
            <a:endParaRPr kumimoji="1" lang="ja-JP" altLang="en-US" dirty="0"/>
          </a:p>
          <a:p>
            <a:pPr marL="0" indent="0">
              <a:buNone/>
            </a:pPr>
            <a:r>
              <a:rPr kumimoji="1" lang="ja-JP" altLang="en-US" dirty="0"/>
              <a:t>（</a:t>
            </a:r>
            <a:r>
              <a:rPr kumimoji="1" lang="en-US" altLang="ja-JP" dirty="0"/>
              <a:t>Event ID</a:t>
            </a:r>
            <a:r>
              <a:rPr kumimoji="1" lang="ja-JP" altLang="en-US" dirty="0"/>
              <a:t>：</a:t>
            </a:r>
            <a:r>
              <a:rPr kumimoji="1" lang="en-US" altLang="ja-JP" dirty="0"/>
              <a:t>7045</a:t>
            </a:r>
            <a:r>
              <a:rPr kumimoji="1" lang="ja-JP" altLang="en-US" dirty="0"/>
              <a:t>、</a:t>
            </a:r>
            <a:r>
              <a:rPr kumimoji="1" lang="en-US" altLang="ja-JP" dirty="0"/>
              <a:t>4698</a:t>
            </a:r>
            <a:r>
              <a:rPr kumimoji="1" lang="ja-JP" altLang="en-US" dirty="0"/>
              <a:t>）</a:t>
            </a:r>
            <a:endParaRPr kumimoji="1" lang="en-US" altLang="ja-JP" dirty="0"/>
          </a:p>
          <a:p>
            <a:pPr marL="0" indent="0">
              <a:buNone/>
            </a:pPr>
            <a:r>
              <a:rPr kumimoji="1" lang="ja-JP" altLang="en-US" dirty="0"/>
              <a:t>不審なプロセス実行の監視</a:t>
            </a:r>
            <a:endParaRPr kumimoji="1" lang="ja-JP" altLang="en-US" dirty="0"/>
          </a:p>
          <a:p>
            <a:pPr marL="0" indent="0">
              <a:buNone/>
            </a:pPr>
            <a:r>
              <a:rPr kumimoji="1" lang="ja-JP" altLang="en-US" dirty="0"/>
              <a:t>（</a:t>
            </a:r>
            <a:r>
              <a:rPr kumimoji="1" lang="en-US" altLang="ja-JP" dirty="0"/>
              <a:t>Event ID</a:t>
            </a:r>
            <a:r>
              <a:rPr kumimoji="1" lang="ja-JP" altLang="en-US" dirty="0"/>
              <a:t>：</a:t>
            </a:r>
            <a:r>
              <a:rPr kumimoji="1" lang="en-US" altLang="ja-JP" dirty="0"/>
              <a:t>4688</a:t>
            </a:r>
            <a:r>
              <a:rPr kumimoji="1" lang="ja-JP" altLang="en-US" dirty="0"/>
              <a:t>）</a:t>
            </a:r>
            <a:endParaRPr kumimoji="1" lang="ja-JP" altLang="en-US" dirty="0"/>
          </a:p>
          <a:p>
            <a:pPr marL="0" indent="0">
              <a:buNone/>
            </a:pPr>
            <a:r>
              <a:rPr kumimoji="1" lang="ja-JP" altLang="en-US" dirty="0"/>
              <a:t>例：</a:t>
            </a:r>
            <a:r>
              <a:rPr kumimoji="1" lang="en-US" altLang="ja-JP" dirty="0"/>
              <a:t>powershell.exe</a:t>
            </a:r>
            <a:r>
              <a:rPr kumimoji="1" lang="ja-JP" altLang="en-US" dirty="0"/>
              <a:t>、認証情報取得ツール</a:t>
            </a:r>
            <a:endParaRPr kumimoji="1" lang="en-US" altLang="ja-JP" dirty="0"/>
          </a:p>
          <a:p>
            <a:pPr marL="0" indent="0">
              <a:buNone/>
            </a:pPr>
            <a:r>
              <a:rPr kumimoji="1" lang="ja-JP" altLang="en-US" dirty="0"/>
              <a:t>外部通信の監視（</a:t>
            </a:r>
            <a:r>
              <a:rPr kumimoji="1" lang="en-US" altLang="ja-JP" dirty="0"/>
              <a:t>netstat </a:t>
            </a:r>
            <a:r>
              <a:rPr kumimoji="1" lang="ja-JP" altLang="en-US" dirty="0"/>
              <a:t>等）</a:t>
            </a:r>
            <a:endParaRPr kumimoji="1" lang="ja-JP" altLang="en-US" dirty="0"/>
          </a:p>
          <a:p>
            <a:pPr marL="0" indent="0">
              <a:buNone/>
            </a:pPr>
            <a:r>
              <a:rPr kumimoji="1" lang="en-US" altLang="en-US" dirty="0"/>
              <a:t>→</a:t>
            </a:r>
            <a:r>
              <a:rPr kumimoji="1" lang="en-US" altLang="ja-JP" dirty="0"/>
              <a:t> C2</a:t>
            </a:r>
            <a:r>
              <a:rPr kumimoji="1" lang="ja-JP" altLang="en-US" dirty="0"/>
              <a:t>通信検知</a:t>
            </a:r>
            <a:endParaRPr kumimoji="1" lang="en-US" altLang="ja-JP" dirty="0"/>
          </a:p>
          <a:p>
            <a:pPr marL="0" indent="0">
              <a:buNone/>
            </a:pPr>
            <a:r>
              <a:rPr kumimoji="1" lang="en-US" altLang="en-US" dirty="0"/>
              <a:t>②</a:t>
            </a:r>
            <a:r>
              <a:rPr kumimoji="1" lang="en-US" altLang="ja-JP" dirty="0"/>
              <a:t> </a:t>
            </a:r>
            <a:r>
              <a:rPr kumimoji="1" lang="ja-JP" altLang="en-US" dirty="0"/>
              <a:t>仮想化サーバの監視</a:t>
            </a:r>
            <a:endParaRPr kumimoji="1" lang="en-US" altLang="ja-JP" dirty="0"/>
          </a:p>
          <a:p>
            <a:pPr marL="0" indent="0">
              <a:buNone/>
            </a:pPr>
            <a:r>
              <a:rPr kumimoji="1" lang="ja-JP" altLang="en-US" dirty="0"/>
              <a:t>不審なログインの監視（特に</a:t>
            </a:r>
            <a:r>
              <a:rPr kumimoji="1" lang="en-US" altLang="ja-JP" dirty="0"/>
              <a:t> Logon Type 10</a:t>
            </a:r>
            <a:r>
              <a:rPr kumimoji="1" lang="ja-JP" altLang="en-US" dirty="0"/>
              <a:t>：</a:t>
            </a:r>
            <a:r>
              <a:rPr kumimoji="1" lang="en-US" altLang="ja-JP" dirty="0"/>
              <a:t>RDP</a:t>
            </a:r>
            <a:r>
              <a:rPr kumimoji="1" lang="ja-JP" altLang="en-US" dirty="0"/>
              <a:t>接続）</a:t>
            </a:r>
            <a:endParaRPr kumimoji="1" lang="en-US" altLang="ja-JP" dirty="0"/>
          </a:p>
          <a:p>
            <a:pPr marL="0" indent="0">
              <a:buNone/>
            </a:pPr>
            <a:r>
              <a:rPr kumimoji="1" lang="ja-JP" altLang="en-US" dirty="0"/>
              <a:t>管理共有アクセスログの確認</a:t>
            </a:r>
            <a:endParaRPr kumimoji="1" lang="ja-JP" altLang="en-US" dirty="0"/>
          </a:p>
          <a:p>
            <a:pPr marL="0" indent="0">
              <a:buNone/>
            </a:pPr>
            <a:r>
              <a:rPr kumimoji="1" lang="ja-JP" altLang="en-US" dirty="0"/>
              <a:t>（</a:t>
            </a:r>
            <a:r>
              <a:rPr kumimoji="1" lang="en-US" altLang="ja-JP" dirty="0"/>
              <a:t>Event ID</a:t>
            </a:r>
            <a:r>
              <a:rPr kumimoji="1" lang="ja-JP" altLang="en-US" dirty="0"/>
              <a:t>：</a:t>
            </a:r>
            <a:r>
              <a:rPr kumimoji="1" lang="en-US" altLang="ja-JP" dirty="0"/>
              <a:t>5140</a:t>
            </a:r>
            <a:r>
              <a:rPr kumimoji="1" lang="ja-JP" altLang="en-US" dirty="0"/>
              <a:t>）</a:t>
            </a:r>
            <a:endParaRPr kumimoji="1" lang="ja-JP" altLang="en-US" dirty="0"/>
          </a:p>
          <a:p>
            <a:pPr marL="0" indent="0">
              <a:buNone/>
            </a:pPr>
            <a:r>
              <a:rPr kumimoji="1" lang="en-US" altLang="en-US" dirty="0"/>
              <a:t>→</a:t>
            </a:r>
            <a:r>
              <a:rPr kumimoji="1" lang="en-US" altLang="ja-JP" dirty="0"/>
              <a:t> Pass-the-Hash </a:t>
            </a:r>
            <a:r>
              <a:rPr kumimoji="1" lang="ja-JP" altLang="en-US" dirty="0"/>
              <a:t>等の横展開検知</a:t>
            </a:r>
            <a:endParaRPr kumimoji="1" lang="en-US" altLang="ja-JP" dirty="0"/>
          </a:p>
          <a:p>
            <a:pPr marL="0" indent="0">
              <a:buNone/>
            </a:pPr>
            <a:r>
              <a:rPr kumimoji="1" lang="en-US" altLang="en-US" dirty="0"/>
              <a:t>③</a:t>
            </a:r>
            <a:r>
              <a:rPr kumimoji="1" lang="en-US" altLang="ja-JP" dirty="0"/>
              <a:t> </a:t>
            </a:r>
            <a:r>
              <a:rPr kumimoji="1" lang="ja-JP" altLang="en-US" dirty="0"/>
              <a:t>データベースサーバの監視</a:t>
            </a:r>
            <a:endParaRPr kumimoji="1" lang="en-US" altLang="ja-JP" dirty="0"/>
          </a:p>
          <a:p>
            <a:pPr marL="0" indent="0">
              <a:buNone/>
            </a:pPr>
            <a:r>
              <a:rPr kumimoji="1" lang="en-US" altLang="ja-JP" dirty="0"/>
              <a:t>Oracle Database</a:t>
            </a:r>
            <a:r>
              <a:rPr kumimoji="1" lang="ja-JP" altLang="en-US" dirty="0"/>
              <a:t>監査ログの確認</a:t>
            </a:r>
            <a:endParaRPr kumimoji="1" lang="en-US" altLang="ja-JP" dirty="0"/>
          </a:p>
          <a:p>
            <a:pPr marL="0" indent="0">
              <a:buNone/>
            </a:pPr>
            <a:r>
              <a:rPr kumimoji="1" lang="ja-JP" altLang="en-US" dirty="0"/>
              <a:t>深夜アクセス</a:t>
            </a:r>
            <a:endParaRPr kumimoji="1" lang="en-US" altLang="ja-JP" dirty="0"/>
          </a:p>
          <a:p>
            <a:pPr marL="0" indent="0">
              <a:buNone/>
            </a:pPr>
            <a:r>
              <a:rPr kumimoji="1" lang="ja-JP" altLang="en-US" dirty="0"/>
              <a:t>未使用アカウント</a:t>
            </a:r>
            <a:endParaRPr kumimoji="1" lang="en-US" altLang="ja-JP" dirty="0"/>
          </a:p>
          <a:p>
            <a:pPr marL="0" indent="0">
              <a:buNone/>
            </a:pPr>
            <a:r>
              <a:rPr kumimoji="1" lang="ja-JP" altLang="en-US" dirty="0"/>
              <a:t>大量データ取得</a:t>
            </a:r>
            <a:endParaRPr kumimoji="1" lang="en-US" altLang="ja-JP" dirty="0"/>
          </a:p>
          <a:p>
            <a:pPr marL="0" indent="0">
              <a:buNone/>
            </a:pPr>
            <a:r>
              <a:rPr kumimoji="1" lang="en-US" altLang="en-US" dirty="0"/>
              <a:t>④</a:t>
            </a:r>
            <a:r>
              <a:rPr kumimoji="1" lang="en-US" altLang="ja-JP" dirty="0"/>
              <a:t> </a:t>
            </a:r>
            <a:r>
              <a:rPr kumimoji="1" lang="ja-JP" altLang="en-US" dirty="0"/>
              <a:t>ネットワーク機器（</a:t>
            </a:r>
            <a:r>
              <a:rPr kumimoji="1" lang="en-US" altLang="ja-JP" dirty="0"/>
              <a:t>FW</a:t>
            </a:r>
            <a:r>
              <a:rPr kumimoji="1" lang="ja-JP" altLang="en-US" dirty="0"/>
              <a:t>）の監視</a:t>
            </a:r>
            <a:endParaRPr kumimoji="1" lang="en-US" altLang="ja-JP" dirty="0"/>
          </a:p>
          <a:p>
            <a:pPr marL="0" indent="0">
              <a:buNone/>
            </a:pPr>
            <a:r>
              <a:rPr kumimoji="1" lang="en-US" altLang="ja-JP" dirty="0"/>
              <a:t>FACE</a:t>
            </a:r>
            <a:r>
              <a:rPr kumimoji="1" lang="ja-JP" altLang="en-US" dirty="0"/>
              <a:t>ネットワークから</a:t>
            </a:r>
            <a:r>
              <a:rPr kumimoji="1" lang="en-US" altLang="ja-JP" dirty="0"/>
              <a:t>DII</a:t>
            </a:r>
            <a:r>
              <a:rPr kumimoji="1" lang="ja-JP" altLang="en-US" dirty="0"/>
              <a:t>方向への通信ログ監視</a:t>
            </a:r>
            <a:endParaRPr kumimoji="1" lang="en-US" altLang="ja-JP" dirty="0"/>
          </a:p>
          <a:p>
            <a:pPr marL="0" indent="0">
              <a:buNone/>
            </a:pPr>
            <a:r>
              <a:rPr kumimoji="1" lang="ja-JP" altLang="en-US" dirty="0"/>
              <a:t>例：</a:t>
            </a:r>
            <a:endParaRPr kumimoji="1" lang="en-US" altLang="ja-JP" dirty="0"/>
          </a:p>
          <a:p>
            <a:pPr marL="0" indent="0">
              <a:buNone/>
            </a:pPr>
            <a:r>
              <a:rPr kumimoji="1" lang="en-US" altLang="ja-JP" dirty="0"/>
              <a:t>RDP</a:t>
            </a:r>
            <a:r>
              <a:rPr kumimoji="1" lang="ja-JP" altLang="en-US" dirty="0"/>
              <a:t>通信（</a:t>
            </a:r>
            <a:r>
              <a:rPr kumimoji="1" lang="en-US" altLang="ja-JP" dirty="0"/>
              <a:t>TCP 3389</a:t>
            </a:r>
            <a:r>
              <a:rPr kumimoji="1" lang="ja-JP" altLang="en-US" dirty="0"/>
              <a:t>）</a:t>
            </a:r>
            <a:endParaRPr kumimoji="1" lang="en-US" altLang="ja-JP" dirty="0"/>
          </a:p>
          <a:p>
            <a:pPr marL="0" indent="0">
              <a:buNone/>
            </a:pPr>
            <a:r>
              <a:rPr kumimoji="1" lang="en-US" altLang="ja-JP" dirty="0"/>
              <a:t>SMB</a:t>
            </a:r>
            <a:r>
              <a:rPr kumimoji="1" lang="ja-JP" altLang="en-US" dirty="0"/>
              <a:t>通信（</a:t>
            </a:r>
            <a:r>
              <a:rPr kumimoji="1" lang="en-US" altLang="ja-JP" dirty="0"/>
              <a:t>TCP 445</a:t>
            </a:r>
            <a:r>
              <a:rPr kumimoji="1" lang="ja-JP" altLang="en-US" dirty="0"/>
              <a:t>）</a:t>
            </a:r>
            <a:endParaRPr kumimoji="1" lang="en-US" altLang="ja-JP" dirty="0"/>
          </a:p>
          <a:p>
            <a:pPr marL="0" indent="0">
              <a:buNone/>
            </a:pPr>
            <a:r>
              <a:rPr kumimoji="1" lang="en-US" altLang="ja-JP" dirty="0"/>
              <a:t>DNS</a:t>
            </a:r>
            <a:r>
              <a:rPr kumimoji="1" lang="ja-JP" altLang="en-US" dirty="0"/>
              <a:t>通信量の異常増加</a:t>
            </a:r>
            <a:endParaRPr kumimoji="1" lang="en-US" altLang="ja-JP" dirty="0"/>
          </a:p>
          <a:p>
            <a:pPr marL="0" indent="0">
              <a:buNone/>
            </a:pPr>
            <a:r>
              <a:rPr kumimoji="1" lang="en-US" altLang="en-US" dirty="0"/>
              <a:t>→</a:t>
            </a:r>
            <a:r>
              <a:rPr kumimoji="1" lang="en-US" altLang="ja-JP" dirty="0"/>
              <a:t> </a:t>
            </a:r>
            <a:r>
              <a:rPr kumimoji="1" lang="ja-JP" altLang="en-US" dirty="0"/>
              <a:t>横展開および外部通信の兆候を検知</a:t>
            </a:r>
            <a:endParaRPr kumimoji="1" lang="en-US" altLang="ja-JP" dirty="0"/>
          </a:p>
          <a:p>
            <a:pPr marL="0" indent="0">
              <a:buNone/>
            </a:pPr>
            <a:r>
              <a:rPr kumimoji="1" lang="ja-JP" altLang="en-US" dirty="0"/>
              <a:t>緩和策</a:t>
            </a:r>
            <a:endParaRPr kumimoji="1" lang="ja-JP" altLang="en-US" dirty="0"/>
          </a:p>
          <a:p>
            <a:pPr marL="0" indent="0">
              <a:buNone/>
            </a:pPr>
            <a:r>
              <a:rPr kumimoji="1" lang="en-US" altLang="en-US" dirty="0"/>
              <a:t>■</a:t>
            </a:r>
            <a:r>
              <a:rPr kumimoji="1" lang="en-US" altLang="ja-JP" dirty="0"/>
              <a:t> </a:t>
            </a:r>
            <a:r>
              <a:rPr kumimoji="1" lang="ja-JP" altLang="en-US" dirty="0"/>
              <a:t>認証情報対策</a:t>
            </a:r>
            <a:endParaRPr kumimoji="1" lang="en-US" altLang="ja-JP" dirty="0"/>
          </a:p>
          <a:p>
            <a:pPr marL="0" indent="0">
              <a:buNone/>
            </a:pPr>
            <a:r>
              <a:rPr kumimoji="1" lang="ja-JP" altLang="en-US" dirty="0"/>
              <a:t>強固なパスワード設定</a:t>
            </a:r>
            <a:endParaRPr kumimoji="1" lang="en-US" altLang="ja-JP" dirty="0"/>
          </a:p>
          <a:p>
            <a:pPr marL="0" indent="0">
              <a:buNone/>
            </a:pPr>
            <a:r>
              <a:rPr kumimoji="1" lang="ja-JP" altLang="en-US" dirty="0"/>
              <a:t>多要素認証（</a:t>
            </a:r>
            <a:r>
              <a:rPr kumimoji="1" lang="en-US" altLang="ja-JP" dirty="0"/>
              <a:t>MFA</a:t>
            </a:r>
            <a:r>
              <a:rPr kumimoji="1" lang="ja-JP" altLang="en-US" dirty="0"/>
              <a:t>）導入</a:t>
            </a:r>
            <a:endParaRPr kumimoji="1" lang="ja-JP" altLang="en-US" dirty="0"/>
          </a:p>
          <a:p>
            <a:pPr marL="0" indent="0">
              <a:buNone/>
            </a:pPr>
            <a:r>
              <a:rPr kumimoji="1" lang="ja-JP" altLang="en-US" dirty="0"/>
              <a:t>認証情報の端末保存禁止</a:t>
            </a:r>
            <a:endParaRPr kumimoji="1" lang="ja-JP" altLang="en-US" dirty="0"/>
          </a:p>
          <a:p>
            <a:pPr marL="0" indent="0">
              <a:buNone/>
            </a:pPr>
            <a:r>
              <a:rPr kumimoji="1" lang="ja-JP" altLang="en-US" dirty="0"/>
              <a:t>特権アカウント管理の強化</a:t>
            </a:r>
            <a:endParaRPr kumimoji="1" lang="en-US" altLang="ja-JP" dirty="0"/>
          </a:p>
          <a:p>
            <a:pPr marL="0" indent="0">
              <a:buNone/>
            </a:pPr>
            <a:r>
              <a:rPr kumimoji="1" lang="en-US" altLang="en-US" dirty="0"/>
              <a:t>■</a:t>
            </a:r>
            <a:r>
              <a:rPr kumimoji="1" lang="en-US" altLang="ja-JP" dirty="0"/>
              <a:t> </a:t>
            </a:r>
            <a:r>
              <a:rPr kumimoji="1" lang="ja-JP" altLang="en-US" dirty="0"/>
              <a:t>端末・サーバ対策</a:t>
            </a:r>
            <a:endParaRPr kumimoji="1" lang="en-US" altLang="ja-JP" dirty="0"/>
          </a:p>
          <a:p>
            <a:pPr marL="0" indent="0">
              <a:buNone/>
            </a:pPr>
            <a:r>
              <a:rPr kumimoji="1" lang="ja-JP" altLang="en-US" dirty="0"/>
              <a:t>不要サービス停止</a:t>
            </a:r>
            <a:endParaRPr kumimoji="1" lang="en-US" altLang="ja-JP" dirty="0"/>
          </a:p>
          <a:p>
            <a:pPr marL="0" indent="0">
              <a:buNone/>
            </a:pPr>
            <a:r>
              <a:rPr kumimoji="1" lang="ja-JP" altLang="en-US" dirty="0"/>
              <a:t>不要ポート閉鎖</a:t>
            </a:r>
            <a:endParaRPr kumimoji="1" lang="en-US" altLang="ja-JP" dirty="0"/>
          </a:p>
          <a:p>
            <a:pPr marL="0" indent="0">
              <a:buNone/>
            </a:pPr>
            <a:r>
              <a:rPr kumimoji="1" lang="ja-JP" altLang="en-US" dirty="0"/>
              <a:t>最新パッチ適用</a:t>
            </a:r>
            <a:endParaRPr kumimoji="1" lang="en-US" altLang="ja-JP" dirty="0"/>
          </a:p>
          <a:p>
            <a:pPr marL="0" indent="0">
              <a:buNone/>
            </a:pPr>
            <a:r>
              <a:rPr kumimoji="1" lang="ja-JP" altLang="en-US" dirty="0"/>
              <a:t>管理共有アクセス制限</a:t>
            </a:r>
            <a:endParaRPr kumimoji="1" lang="en-US" altLang="ja-JP" dirty="0"/>
          </a:p>
          <a:p>
            <a:pPr marL="0" indent="0">
              <a:buNone/>
            </a:pPr>
            <a:r>
              <a:rPr kumimoji="1" lang="en-US" altLang="ja-JP" dirty="0"/>
              <a:t>RDP</a:t>
            </a:r>
            <a:r>
              <a:rPr kumimoji="1" lang="ja-JP" altLang="en-US" dirty="0"/>
              <a:t>アクセス制限</a:t>
            </a:r>
            <a:endParaRPr kumimoji="1" lang="en-US" altLang="ja-JP" dirty="0"/>
          </a:p>
          <a:p>
            <a:pPr marL="0" indent="0">
              <a:buNone/>
            </a:pPr>
            <a:r>
              <a:rPr kumimoji="1" lang="en-US" altLang="en-US" dirty="0"/>
              <a:t>■</a:t>
            </a:r>
            <a:r>
              <a:rPr kumimoji="1" lang="en-US" altLang="ja-JP" dirty="0"/>
              <a:t> </a:t>
            </a:r>
            <a:r>
              <a:rPr kumimoji="1" lang="ja-JP" altLang="en-US" dirty="0"/>
              <a:t>ネットワーク対策</a:t>
            </a:r>
            <a:endParaRPr kumimoji="1" lang="en-US" altLang="ja-JP" dirty="0"/>
          </a:p>
          <a:p>
            <a:pPr marL="0" indent="0">
              <a:buNone/>
            </a:pPr>
            <a:r>
              <a:rPr kumimoji="1" lang="en-US" altLang="ja-JP" dirty="0"/>
              <a:t>FACE</a:t>
            </a:r>
            <a:r>
              <a:rPr kumimoji="1" lang="ja-JP" altLang="en-US" dirty="0"/>
              <a:t>ネットワークと</a:t>
            </a:r>
            <a:r>
              <a:rPr kumimoji="1" lang="en-US" altLang="ja-JP" dirty="0"/>
              <a:t>DII</a:t>
            </a:r>
            <a:r>
              <a:rPr kumimoji="1" lang="ja-JP" altLang="en-US" dirty="0"/>
              <a:t>ネットワーク間のアクセス制御強化</a:t>
            </a:r>
            <a:endParaRPr kumimoji="1" lang="en-US" altLang="ja-JP" dirty="0"/>
          </a:p>
          <a:p>
            <a:pPr marL="0" indent="0">
              <a:buNone/>
            </a:pPr>
            <a:r>
              <a:rPr kumimoji="1" lang="ja-JP" altLang="en-US" dirty="0"/>
              <a:t>内部通信の監視</a:t>
            </a:r>
            <a:endParaRPr kumimoji="1" lang="en-US" altLang="ja-JP" dirty="0"/>
          </a:p>
          <a:p>
            <a:pPr marL="0" indent="0">
              <a:buNone/>
            </a:pPr>
            <a:r>
              <a:rPr kumimoji="1" lang="ja-JP" altLang="en-US" dirty="0"/>
              <a:t>ネットワークセグメント分離</a:t>
            </a:r>
            <a:endParaRPr kumimoji="1" lang="ja-JP" altLang="en-US" dirty="0"/>
          </a:p>
          <a:p>
            <a:pPr marL="0" indent="0">
              <a:buNone/>
            </a:pPr>
            <a:r>
              <a:rPr kumimoji="1" lang="ja-JP" altLang="en-US" dirty="0"/>
              <a:t>不要通信の遮断</a:t>
            </a:r>
            <a:endParaRPr kumimoji="1" lang="ja-JP" altLang="en-US" dirty="0"/>
          </a:p>
        </p:txBody>
      </p:sp>
    </p:spTree>
  </p:cSld>
  <p:clrMapOvr>
    <a:masterClrMapping/>
  </p:clrMapOvr>
</p:sld>
</file>

<file path=ppt/theme/theme1.xml><?xml version="1.0" encoding="utf-8"?>
<a:theme xmlns:a="http://schemas.openxmlformats.org/drawingml/2006/main" name="1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headEnd type="none" w="med" len="med"/>
          <a:tailEnd type="arrow" w="med" len="med"/>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triangle"/>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1">
      <a:majorFont>
        <a:latin typeface="ＭＳ ゴシック"/>
        <a:ea typeface="ＭＳ ゴシック"/>
        <a:cs typeface=""/>
      </a:majorFont>
      <a:minorFont>
        <a:latin typeface="ＭＳ ゴシック"/>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t"/>
      <a:lstStyle>
        <a:defPPr algn="l">
          <a:defRPr kumimoji="1" sz="12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none" rtlCol="0">
        <a:spAutoFit/>
      </a:bodyPr>
      <a:lstStyle>
        <a:defPPr algn="l">
          <a:defRPr kumimoji="1" sz="105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42026</Words>
  <Application>WPS Slides</Application>
  <PresentationFormat>ワイド画面</PresentationFormat>
  <Paragraphs>3046</Paragraphs>
  <Slides>25</Slides>
  <Notes>0</Notes>
  <HiddenSlides>0</HiddenSlides>
  <MMClips>0</MMClips>
  <ScaleCrop>false</ScaleCrop>
  <HeadingPairs>
    <vt:vector size="6" baseType="variant">
      <vt:variant>
        <vt:lpstr>已用的字体</vt:lpstr>
      </vt:variant>
      <vt:variant>
        <vt:i4>16</vt:i4>
      </vt:variant>
      <vt:variant>
        <vt:lpstr>主题</vt:lpstr>
      </vt:variant>
      <vt:variant>
        <vt:i4>8</vt:i4>
      </vt:variant>
      <vt:variant>
        <vt:lpstr>幻灯片标题</vt:lpstr>
      </vt:variant>
      <vt:variant>
        <vt:i4>25</vt:i4>
      </vt:variant>
    </vt:vector>
  </HeadingPairs>
  <TitlesOfParts>
    <vt:vector size="49" baseType="lpstr">
      <vt:lpstr>Arial</vt:lpstr>
      <vt:lpstr>ＭＳ Ｐゴシック</vt:lpstr>
      <vt:lpstr>Wingdings</vt:lpstr>
      <vt:lpstr>ＭＳ ゴシック</vt:lpstr>
      <vt:lpstr>游ゴシック</vt:lpstr>
      <vt:lpstr>ＭＳ Ｐゴシック</vt:lpstr>
      <vt:lpstr>Century</vt:lpstr>
      <vt:lpstr>Times New Roman</vt:lpstr>
      <vt:lpstr>HGｺﾞｼｯｸM</vt:lpstr>
      <vt:lpstr>ＭＳ 明朝</vt:lpstr>
      <vt:lpstr>遊ゴシック</vt:lpstr>
      <vt:lpstr>Segoe Print</vt:lpstr>
      <vt:lpstr>メイリオ</vt:lpstr>
      <vt:lpstr>Microsoft YaHei</vt:lpstr>
      <vt:lpstr>Arial Unicode MS</vt:lpstr>
      <vt:lpstr>Arial Black</vt:lpstr>
      <vt:lpstr>1_デザインの設定</vt:lpstr>
      <vt:lpstr>デザインの設定</vt:lpstr>
      <vt:lpstr>2_デザインの設定</vt:lpstr>
      <vt:lpstr>3_デザインの設定</vt:lpstr>
      <vt:lpstr>4_デザインの設定</vt:lpstr>
      <vt:lpstr>5_デザインの設定</vt:lpstr>
      <vt:lpstr>3_Office テーマ</vt:lpstr>
      <vt:lpstr>6_デザインの設定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Juniper Networks Junos OS 20.4R3-S3.4 脆弱性</vt:lpstr>
      <vt:lpstr>NEC UNIVERGE IX2207 OS 10.6.63 の脆弱性</vt:lpstr>
      <vt:lpstr>Ｌ２ＳＷ　なし</vt:lpstr>
      <vt:lpstr>ＳＲ　なし</vt:lpstr>
      <vt:lpstr>Windows Server 2019 Standard OS 10.0.17763.3770の脆弱性</vt:lpstr>
      <vt:lpstr>Windows 10 Enterprise LTSC 10.0.17763.3287</vt:lpstr>
      <vt:lpstr>Red Hat Enterprise Linux 8.5</vt:lpstr>
      <vt:lpstr>Oracle WebLogic Server 14.1.1</vt:lpstr>
      <vt:lpstr>Oracle Database 19c Standard Edition 2 19.0.0.0.0</vt:lpstr>
      <vt:lpstr>PowerPoint 演示文稿</vt:lpstr>
      <vt:lpstr>攻撃手法</vt:lpstr>
      <vt:lpstr>検知・緩和策</vt:lpstr>
      <vt:lpstr>PowerPoint 演示文稿</vt:lpstr>
      <vt:lpstr>攻撃経路２</vt:lpstr>
      <vt:lpstr>検知・緩和策</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A1253250</dc:creator>
  <cp:lastModifiedBy>吉澤瑞季</cp:lastModifiedBy>
  <cp:revision>397</cp:revision>
  <cp:lastPrinted>2025-09-22T07:38:00Z</cp:lastPrinted>
  <dcterms:created xsi:type="dcterms:W3CDTF">2025-07-06T05:53:00Z</dcterms:created>
  <dcterms:modified xsi:type="dcterms:W3CDTF">2026-02-18T15:14:16Z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A7ABA9FF80DA473B988BD9B96C13F09B_12</vt:lpwstr>
  </property>
  <property fmtid="{D5CDD505-2E9C-101B-9397-08002B2CF9AE}" pid="3" name="KSOProductBuildVer">
    <vt:lpwstr>1041-12.2.0.23196</vt:lpwstr>
  </property>
</Properties>
</file>