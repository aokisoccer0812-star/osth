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handoutMasterIdLst>
    <p:handoutMasterId r:id="rId88"/>
  </p:handoutMasterIdLst>
  <p:sldIdLst>
    <p:sldId id="264" r:id="rId2"/>
    <p:sldId id="265" r:id="rId3"/>
    <p:sldId id="372" r:id="rId4"/>
    <p:sldId id="373" r:id="rId5"/>
    <p:sldId id="256" r:id="rId6"/>
    <p:sldId id="542" r:id="rId7"/>
    <p:sldId id="543" r:id="rId8"/>
    <p:sldId id="544" r:id="rId9"/>
    <p:sldId id="545" r:id="rId10"/>
    <p:sldId id="546" r:id="rId11"/>
    <p:sldId id="547" r:id="rId12"/>
    <p:sldId id="548" r:id="rId13"/>
    <p:sldId id="549" r:id="rId14"/>
    <p:sldId id="550" r:id="rId15"/>
    <p:sldId id="551" r:id="rId16"/>
    <p:sldId id="552" r:id="rId17"/>
    <p:sldId id="553" r:id="rId18"/>
    <p:sldId id="554" r:id="rId19"/>
    <p:sldId id="555" r:id="rId20"/>
    <p:sldId id="556" r:id="rId21"/>
    <p:sldId id="557" r:id="rId22"/>
    <p:sldId id="558" r:id="rId23"/>
    <p:sldId id="560" r:id="rId24"/>
    <p:sldId id="561" r:id="rId25"/>
    <p:sldId id="562" r:id="rId26"/>
    <p:sldId id="563" r:id="rId27"/>
    <p:sldId id="564" r:id="rId28"/>
    <p:sldId id="565" r:id="rId29"/>
    <p:sldId id="566" r:id="rId30"/>
    <p:sldId id="567" r:id="rId31"/>
    <p:sldId id="568" r:id="rId32"/>
    <p:sldId id="569" r:id="rId33"/>
    <p:sldId id="570" r:id="rId34"/>
    <p:sldId id="571" r:id="rId35"/>
    <p:sldId id="572" r:id="rId36"/>
    <p:sldId id="573" r:id="rId37"/>
    <p:sldId id="574" r:id="rId38"/>
    <p:sldId id="575" r:id="rId39"/>
    <p:sldId id="576" r:id="rId40"/>
    <p:sldId id="577" r:id="rId41"/>
    <p:sldId id="578" r:id="rId42"/>
    <p:sldId id="579" r:id="rId43"/>
    <p:sldId id="581" r:id="rId44"/>
    <p:sldId id="582" r:id="rId45"/>
    <p:sldId id="583" r:id="rId46"/>
    <p:sldId id="584" r:id="rId47"/>
    <p:sldId id="585" r:id="rId48"/>
    <p:sldId id="586" r:id="rId49"/>
    <p:sldId id="587" r:id="rId50"/>
    <p:sldId id="588" r:id="rId51"/>
    <p:sldId id="589" r:id="rId52"/>
    <p:sldId id="590" r:id="rId53"/>
    <p:sldId id="591" r:id="rId54"/>
    <p:sldId id="592" r:id="rId55"/>
    <p:sldId id="593" r:id="rId56"/>
    <p:sldId id="594" r:id="rId57"/>
    <p:sldId id="595" r:id="rId58"/>
    <p:sldId id="596" r:id="rId59"/>
    <p:sldId id="597" r:id="rId60"/>
    <p:sldId id="598" r:id="rId61"/>
    <p:sldId id="599" r:id="rId62"/>
    <p:sldId id="600" r:id="rId63"/>
    <p:sldId id="601" r:id="rId64"/>
    <p:sldId id="602" r:id="rId65"/>
    <p:sldId id="603" r:id="rId66"/>
    <p:sldId id="604" r:id="rId67"/>
    <p:sldId id="605" r:id="rId68"/>
    <p:sldId id="606" r:id="rId69"/>
    <p:sldId id="607" r:id="rId70"/>
    <p:sldId id="608" r:id="rId71"/>
    <p:sldId id="609" r:id="rId72"/>
    <p:sldId id="610" r:id="rId73"/>
    <p:sldId id="611" r:id="rId74"/>
    <p:sldId id="612" r:id="rId75"/>
    <p:sldId id="613" r:id="rId76"/>
    <p:sldId id="614" r:id="rId77"/>
    <p:sldId id="615" r:id="rId78"/>
    <p:sldId id="616" r:id="rId79"/>
    <p:sldId id="617" r:id="rId80"/>
    <p:sldId id="618" r:id="rId81"/>
    <p:sldId id="620" r:id="rId82"/>
    <p:sldId id="621" r:id="rId83"/>
    <p:sldId id="622" r:id="rId84"/>
    <p:sldId id="623" r:id="rId85"/>
    <p:sldId id="624" r:id="rId86"/>
  </p:sldIdLst>
  <p:sldSz cx="6858000" cy="12192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autoAdjust="0"/>
  </p:normalViewPr>
  <p:slideViewPr>
    <p:cSldViewPr snapToGrid="0">
      <p:cViewPr varScale="1">
        <p:scale>
          <a:sx n="38" d="100"/>
          <a:sy n="38" d="100"/>
        </p:scale>
        <p:origin x="2356"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61A3E-AC6E-4B60-95A4-C1B3371851F9}" type="datetimeFigureOut">
              <a:rPr kumimoji="1" lang="ja-JP" altLang="en-US" smtClean="0"/>
              <a:t>2026/3/5</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90A3E0-14E8-4BE6-85AB-5C5385A62A44}"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34F6E-DEEE-400C-92A1-19923C75B907}" type="datetimeFigureOut">
              <a:rPr kumimoji="1" lang="ja-JP" altLang="en-US" smtClean="0"/>
              <a:t>2026/3/5</a:t>
            </a:fld>
            <a:endParaRPr kumimoji="1" lang="ja-JP" altLang="en-US"/>
          </a:p>
        </p:txBody>
      </p:sp>
      <p:sp>
        <p:nvSpPr>
          <p:cNvPr id="4" name="スライド イメージ プレースホルダー 3"/>
          <p:cNvSpPr>
            <a:spLocks noGrp="1" noRot="1" noChangeAspect="1"/>
          </p:cNvSpPr>
          <p:nvPr>
            <p:ph type="sldImg" idx="2"/>
          </p:nvPr>
        </p:nvSpPr>
        <p:spPr>
          <a:xfrm>
            <a:off x="2561120" y="1143000"/>
            <a:ext cx="173576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3A1E1-D89E-4D9F-ACC7-724568FAD56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857250" y="1995508"/>
            <a:ext cx="5143500" cy="4245040"/>
          </a:xfrm>
        </p:spPr>
        <p:txBody>
          <a:bodyPr anchor="b"/>
          <a:lstStyle>
            <a:lvl1pPr algn="ctr">
              <a:defRPr sz="4500"/>
            </a:lvl1pPr>
          </a:lstStyle>
          <a:p>
            <a:r>
              <a:rPr kumimoji="1" lang="ja-JP" altLang="en-US"/>
              <a:t>マスター タイトルの書式設定</a:t>
            </a:r>
          </a:p>
        </p:txBody>
      </p:sp>
      <p:sp>
        <p:nvSpPr>
          <p:cNvPr id="3" name="サブタイトル 2"/>
          <p:cNvSpPr>
            <a:spLocks noGrp="1"/>
          </p:cNvSpPr>
          <p:nvPr>
            <p:ph type="subTitle" idx="1"/>
          </p:nvPr>
        </p:nvSpPr>
        <p:spPr>
          <a:xfrm>
            <a:off x="857250" y="6404254"/>
            <a:ext cx="5143500" cy="294386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467916" y="3039834"/>
            <a:ext cx="5915025" cy="5072032"/>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67916" y="8159849"/>
            <a:ext cx="5915025" cy="266726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1488"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3471863"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649175"/>
            <a:ext cx="5915025" cy="2356788"/>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2381" y="2989029"/>
            <a:ext cx="2901255"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72381" y="4453905"/>
            <a:ext cx="2901255"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3471863" y="2989029"/>
            <a:ext cx="2915543"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3471863" y="4453905"/>
            <a:ext cx="2915543"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812880"/>
            <a:ext cx="2211883" cy="2845080"/>
          </a:xfrm>
        </p:spPr>
        <p:txBody>
          <a:bodyPr anchor="b"/>
          <a:lstStyle>
            <a:lvl1pPr>
              <a:defRPr sz="2400"/>
            </a:lvl1pPr>
          </a:lstStyle>
          <a:p>
            <a:r>
              <a:rPr kumimoji="1" lang="ja-JP" altLang="en-US"/>
              <a:t>マスター タイトルの書式設定</a:t>
            </a:r>
          </a:p>
        </p:txBody>
      </p:sp>
      <p:sp>
        <p:nvSpPr>
          <p:cNvPr id="3" name="図プレースホルダー 2"/>
          <p:cNvSpPr>
            <a:spLocks noGrp="1"/>
          </p:cNvSpPr>
          <p:nvPr>
            <p:ph type="pic" idx="1"/>
          </p:nvPr>
        </p:nvSpPr>
        <p:spPr>
          <a:xfrm>
            <a:off x="2915543" y="1755595"/>
            <a:ext cx="3471863" cy="86650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472381" y="3657960"/>
            <a:ext cx="2211883" cy="677682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orient="vert"/>
          </p:nvPr>
        </p:nvSpPr>
        <p:spPr>
          <a:xfrm>
            <a:off x="5526272" y="649175"/>
            <a:ext cx="860240" cy="10333174"/>
          </a:xfrm>
        </p:spPr>
        <p:txBody>
          <a:bodyPr vert="eaVert">
            <a:normAutofit/>
          </a:bodyPr>
          <a:lstStyle>
            <a:lvl1pPr>
              <a:defRPr sz="3300"/>
            </a:lvl1pPr>
          </a:lstStyle>
          <a:p>
            <a:r>
              <a:rPr lang="ja-JP"/>
              <a:t>マスター タイトルの書式設定</a:t>
            </a:r>
          </a:p>
        </p:txBody>
      </p:sp>
      <p:sp>
        <p:nvSpPr>
          <p:cNvPr id="3" name="縦書きテキスト プレースホルダー 2"/>
          <p:cNvSpPr>
            <a:spLocks noGrp="1"/>
          </p:cNvSpPr>
          <p:nvPr>
            <p:ph type="body" orient="vert" idx="1"/>
          </p:nvPr>
        </p:nvSpPr>
        <p:spPr>
          <a:xfrm>
            <a:off x="471488" y="649175"/>
            <a:ext cx="4994976" cy="10333174"/>
          </a:xfrm>
        </p:spPr>
        <p:txBody>
          <a:bodyPr vert="eaVert"/>
          <a:lstStyle>
            <a:lvl1pPr marL="171450" indent="-171450">
              <a:defRPr kumimoji="1" lang="ja-JP" altLang="en-US" sz="2100" kern="1200" dirty="0" smtClean="0">
                <a:solidFill>
                  <a:schemeClr val="tx1"/>
                </a:solidFill>
                <a:latin typeface="+mn-lt"/>
                <a:ea typeface="+mn-ea"/>
                <a:cs typeface="+mn-cs"/>
              </a:defRPr>
            </a:lvl1pPr>
            <a:lvl2pPr marL="514350" indent="-171450">
              <a:defRPr kumimoji="1" lang="ja-JP" altLang="en-US" sz="1800" kern="1200" dirty="0" smtClean="0">
                <a:solidFill>
                  <a:schemeClr val="tx1"/>
                </a:solidFill>
                <a:latin typeface="+mn-lt"/>
                <a:ea typeface="+mn-ea"/>
                <a:cs typeface="+mn-cs"/>
              </a:defRPr>
            </a:lvl2pPr>
            <a:lvl3pPr marL="857250" indent="-171450">
              <a:defRPr kumimoji="1" lang="ja-JP" altLang="en-US" sz="1500" kern="1200" dirty="0" smtClean="0">
                <a:solidFill>
                  <a:schemeClr val="tx1"/>
                </a:solidFill>
                <a:latin typeface="+mn-lt"/>
                <a:ea typeface="+mn-ea"/>
                <a:cs typeface="+mn-cs"/>
              </a:defRPr>
            </a:lvl3pPr>
            <a:lvl4pPr marL="1200150" indent="-171450">
              <a:defRPr kumimoji="1" lang="ja-JP" altLang="en-US" sz="1350" kern="1200" dirty="0" smtClean="0">
                <a:solidFill>
                  <a:schemeClr val="tx1"/>
                </a:solidFill>
                <a:latin typeface="+mn-lt"/>
                <a:ea typeface="+mn-ea"/>
                <a:cs typeface="+mn-cs"/>
              </a:defRPr>
            </a:lvl4pPr>
            <a:lvl5pPr marL="1543050" indent="-171450">
              <a:defRPr kumimoji="1" lang="ja-JP" altLang="en-US" sz="1350" kern="1200" dirty="0">
                <a:solidFill>
                  <a:schemeClr val="tx1"/>
                </a:solidFill>
                <a:latin typeface="+mn-lt"/>
                <a:ea typeface="+mn-ea"/>
                <a:cs typeface="+mn-cs"/>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kumimoji="1" lang="ja-JP" altLang="en-US" dirty="0"/>
              <a:t>マスター テキストの書式設定</a:t>
            </a:r>
          </a:p>
          <a:p>
            <a:pPr marL="685800" lvl="1" indent="-228600" algn="l" defTabSz="914400" rtl="0" eaLnBrk="1" latinLnBrk="0" hangingPunct="1">
              <a:lnSpc>
                <a:spcPct val="90000"/>
              </a:lnSpc>
              <a:spcBef>
                <a:spcPts val="500"/>
              </a:spcBef>
              <a:buFont typeface="Arial" panose="020B0604020202020204" pitchFamily="34" charset="0"/>
              <a:buChar char="•"/>
            </a:pPr>
            <a:r>
              <a:rPr kumimoji="1" lang="ja-JP" altLang="en-US" dirty="0"/>
              <a:t>第 2 レベル</a:t>
            </a:r>
          </a:p>
          <a:p>
            <a:pPr marL="1143000" lvl="2"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3 </a:t>
            </a:r>
            <a:r>
              <a:rPr kumimoji="1" lang="ja-JP" altLang="en-US" dirty="0"/>
              <a:t>レベル</a:t>
            </a:r>
          </a:p>
          <a:p>
            <a:pPr marL="1600200" lvl="3"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4 </a:t>
            </a:r>
            <a:r>
              <a:rPr kumimoji="1" lang="ja-JP" altLang="en-US" dirty="0"/>
              <a:t>レベル</a:t>
            </a:r>
          </a:p>
          <a:p>
            <a:pPr marL="2057400" lvl="4"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5 </a:t>
            </a:r>
            <a:r>
              <a:rPr kumimoji="1" lang="ja-JP" altLang="en-US" dirty="0"/>
              <a:t>レベル</a:t>
            </a:r>
          </a:p>
        </p:txBody>
      </p:sp>
      <p:sp>
        <p:nvSpPr>
          <p:cNvPr id="4" name="Date Placeholder 3"/>
          <p:cNvSpPr>
            <a:spLocks noGrp="1"/>
          </p:cNvSpPr>
          <p:nvPr>
            <p:ph type="dt" sz="half" idx="10"/>
          </p:nvPr>
        </p:nvSpPr>
        <p:spPr/>
        <p:txBody>
          <a:bodyPr/>
          <a:lstStyle/>
          <a:p>
            <a:fld id="{760FBDFE-C587-4B4C-A407-44438C67B59E}" type="datetimeFigureOut">
              <a:rPr lang="en-US" altLang="ja-JP" smtClean="0"/>
              <a:t>3/5/2026</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49AE70B2-8BF9-45C0-BB95-33D1B9D3A854}" type="slidenum">
              <a:rPr lang="en-US" altLang="ja-JP" smtClean="0"/>
              <a:t>‹#›</a:t>
            </a:fld>
            <a:endParaRPr 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760FBDFE-C587-4B4C-A407-44438C67B59E}" type="datetimeFigureOut">
              <a:rPr lang="en-US" smtClean="0"/>
              <a:t>3/5/2026</a:t>
            </a:fld>
            <a:endParaRPr lang="en-US"/>
          </a:p>
        </p:txBody>
      </p:sp>
      <p:sp>
        <p:nvSpPr>
          <p:cNvPr id="4" name="フッター プレースホルダー 3"/>
          <p:cNvSpPr>
            <a:spLocks noGrp="1"/>
          </p:cNvSpPr>
          <p:nvPr>
            <p:ph type="ftr" sz="quarter" idx="11"/>
          </p:nvPr>
        </p:nvSpPr>
        <p:spPr/>
        <p:txBody>
          <a:bodyPr/>
          <a:lstStyle/>
          <a:p>
            <a:r>
              <a:rPr lang="en-US"/>
              <a:t>フッター</a:t>
            </a:r>
          </a:p>
        </p:txBody>
      </p:sp>
      <p:sp>
        <p:nvSpPr>
          <p:cNvPr id="5" name="スライド番号プレースホルダー 4"/>
          <p:cNvSpPr>
            <a:spLocks noGrp="1"/>
          </p:cNvSpPr>
          <p:nvPr>
            <p:ph type="sldNum" sz="quarter" idx="12"/>
          </p:nvPr>
        </p:nvSpPr>
        <p:spPr/>
        <p:txBody>
          <a:bodyPr/>
          <a:lstStyle/>
          <a:p>
            <a:fld id="{49AE70B2-8BF9-45C0-BB95-33D1B9D3A854}" type="slidenum">
              <a:rPr lang="en-US" smtClean="0"/>
              <a:t>‹#›</a:t>
            </a:fld>
            <a:endParaRPr lang="en-US"/>
          </a:p>
        </p:txBody>
      </p:sp>
      <p:sp>
        <p:nvSpPr>
          <p:cNvPr id="7" name="コンテンツ プレースホルダー 6"/>
          <p:cNvSpPr>
            <a:spLocks noGrp="1"/>
          </p:cNvSpPr>
          <p:nvPr>
            <p:ph sz="quarter" idx="13"/>
          </p:nvPr>
        </p:nvSpPr>
        <p:spPr>
          <a:xfrm>
            <a:off x="471488" y="980617"/>
            <a:ext cx="5915025" cy="9883588"/>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71488" y="649175"/>
            <a:ext cx="5915025" cy="2356788"/>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1488" y="3245875"/>
            <a:ext cx="5915025" cy="77364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71488" y="11301291"/>
            <a:ext cx="1543050" cy="649175"/>
          </a:xfrm>
          <a:prstGeom prst="rect">
            <a:avLst/>
          </a:prstGeom>
        </p:spPr>
        <p:txBody>
          <a:bodyPr vert="horz" lIns="91440" tIns="45720" rIns="91440" bIns="45720" rtlCol="0" anchor="ctr"/>
          <a:lstStyle>
            <a:lvl1pPr algn="l">
              <a:defRPr sz="900">
                <a:solidFill>
                  <a:schemeClr val="tx1">
                    <a:tint val="75000"/>
                  </a:schemeClr>
                </a:solidFill>
              </a:defRPr>
            </a:lvl1pPr>
          </a:lstStyle>
          <a:p>
            <a:fld id="{14C5B98E-B881-44C6-965E-C4CBF4BD5DE0}" type="datetimeFigureOut">
              <a:rPr kumimoji="1" lang="ja-JP" altLang="en-US" smtClean="0"/>
              <a:t>2026/3/5</a:t>
            </a:fld>
            <a:endParaRPr kumimoji="1" lang="ja-JP" altLang="en-US"/>
          </a:p>
        </p:txBody>
      </p:sp>
      <p:sp>
        <p:nvSpPr>
          <p:cNvPr id="5" name="フッター プレースホルダー 4"/>
          <p:cNvSpPr>
            <a:spLocks noGrp="1"/>
          </p:cNvSpPr>
          <p:nvPr>
            <p:ph type="ftr" sz="quarter" idx="3"/>
          </p:nvPr>
        </p:nvSpPr>
        <p:spPr>
          <a:xfrm>
            <a:off x="2271713" y="11301291"/>
            <a:ext cx="2314575" cy="64917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4843463" y="11301291"/>
            <a:ext cx="1543050" cy="649175"/>
          </a:xfrm>
          <a:prstGeom prst="rect">
            <a:avLst/>
          </a:prstGeom>
        </p:spPr>
        <p:txBody>
          <a:bodyPr vert="horz" lIns="91440" tIns="45720" rIns="91440" bIns="45720" rtlCol="0" anchor="ctr"/>
          <a:lstStyle>
            <a:lvl1pPr algn="r">
              <a:defRPr sz="900">
                <a:solidFill>
                  <a:schemeClr val="tx1">
                    <a:tint val="75000"/>
                  </a:schemeClr>
                </a:solidFill>
              </a:defRPr>
            </a:lvl1pPr>
          </a:lstStyle>
          <a:p>
            <a:fld id="{B261B85B-3F11-4807-BF0A-089ABAB91E6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80670" y="116205"/>
            <a:ext cx="6297930" cy="35775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455526"/>
            <a:ext cx="5915025" cy="7736474"/>
          </a:xfrm>
        </p:spPr>
        <p:txBody>
          <a:bodyPr/>
          <a:lstStyle/>
          <a:p>
            <a:pPr marL="0" indent="0">
              <a:buNone/>
            </a:pPr>
            <a:r>
              <a:rPr lang="ja-JP" altLang="en-US"/>
              <a:t>空</a:t>
            </a:r>
          </a:p>
        </p:txBody>
      </p:sp>
      <p:pic>
        <p:nvPicPr>
          <p:cNvPr id="4" name="図 3">
            <a:extLst>
              <a:ext uri="{FF2B5EF4-FFF2-40B4-BE49-F238E27FC236}">
                <a16:creationId xmlns:a16="http://schemas.microsoft.com/office/drawing/2014/main" id="{A5B3FBA4-4445-49DE-8042-4E0D4F0002A7}"/>
              </a:ext>
            </a:extLst>
          </p:cNvPr>
          <p:cNvPicPr>
            <a:picLocks noChangeAspect="1"/>
          </p:cNvPicPr>
          <p:nvPr/>
        </p:nvPicPr>
        <p:blipFill>
          <a:blip r:embed="rId2"/>
          <a:stretch>
            <a:fillRect/>
          </a:stretch>
        </p:blipFill>
        <p:spPr>
          <a:xfrm>
            <a:off x="235744" y="227242"/>
            <a:ext cx="6386512" cy="36335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8" y="4455526"/>
            <a:ext cx="5915025" cy="7736474"/>
          </a:xfrm>
        </p:spPr>
        <p:txBody>
          <a:bodyPr/>
          <a:lstStyle/>
          <a:p>
            <a:pPr marL="0" indent="0">
              <a:buNone/>
            </a:pPr>
            <a:r>
              <a:rPr lang="ja-JP" altLang="en-US" dirty="0"/>
              <a:t>空</a:t>
            </a:r>
          </a:p>
        </p:txBody>
      </p:sp>
      <p:pic>
        <p:nvPicPr>
          <p:cNvPr id="4" name="図 3">
            <a:extLst>
              <a:ext uri="{FF2B5EF4-FFF2-40B4-BE49-F238E27FC236}">
                <a16:creationId xmlns:a16="http://schemas.microsoft.com/office/drawing/2014/main" id="{9C79FB07-3EDA-4CD6-86BC-3455D953BCEF}"/>
              </a:ext>
            </a:extLst>
          </p:cNvPr>
          <p:cNvPicPr>
            <a:picLocks noChangeAspect="1"/>
          </p:cNvPicPr>
          <p:nvPr/>
        </p:nvPicPr>
        <p:blipFill>
          <a:blip r:embed="rId2"/>
          <a:stretch>
            <a:fillRect/>
          </a:stretch>
        </p:blipFill>
        <p:spPr>
          <a:xfrm>
            <a:off x="235743" y="184992"/>
            <a:ext cx="6386514" cy="36250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278808"/>
            <a:ext cx="5915025" cy="7736474"/>
          </a:xfrm>
        </p:spPr>
        <p:txBody>
          <a:bodyPr/>
          <a:lstStyle/>
          <a:p>
            <a:pPr marL="0" indent="0">
              <a:buNone/>
            </a:pPr>
            <a:r>
              <a:rPr lang="ja-JP" altLang="en-US" dirty="0"/>
              <a:t>空</a:t>
            </a:r>
          </a:p>
        </p:txBody>
      </p:sp>
      <p:pic>
        <p:nvPicPr>
          <p:cNvPr id="4" name="図 3">
            <a:extLst>
              <a:ext uri="{FF2B5EF4-FFF2-40B4-BE49-F238E27FC236}">
                <a16:creationId xmlns:a16="http://schemas.microsoft.com/office/drawing/2014/main" id="{8D88A2CF-DD9E-44B9-9A23-BB79521149AF}"/>
              </a:ext>
            </a:extLst>
          </p:cNvPr>
          <p:cNvPicPr>
            <a:picLocks noChangeAspect="1"/>
          </p:cNvPicPr>
          <p:nvPr/>
        </p:nvPicPr>
        <p:blipFill>
          <a:blip r:embed="rId2"/>
          <a:stretch>
            <a:fillRect/>
          </a:stretch>
        </p:blipFill>
        <p:spPr>
          <a:xfrm>
            <a:off x="235744" y="176718"/>
            <a:ext cx="6386512" cy="36142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776135"/>
            <a:ext cx="6852285" cy="8331200"/>
          </a:xfrm>
        </p:spPr>
        <p:txBody>
          <a:bodyPr>
            <a:normAutofit fontScale="75000" lnSpcReduction="20000"/>
          </a:bodyPr>
          <a:lstStyle/>
          <a:p>
            <a:pPr algn="l"/>
            <a:r>
              <a:rPr lang="ja-JP" altLang="en-US" sz="1400" dirty="0"/>
              <a:t>ICS のサーバやワークステーションは、</a:t>
            </a:r>
          </a:p>
          <a:p>
            <a:pPr algn="l"/>
            <a:r>
              <a:rPr lang="ja-JP" altLang="en-US" sz="1400" dirty="0"/>
              <a:t>制御ネットワーク内のあらゆる場所に存在し得ます。</a:t>
            </a:r>
          </a:p>
          <a:p>
            <a:pPr algn="l"/>
            <a:r>
              <a:rPr lang="ja-JP" altLang="en-US" sz="1400" dirty="0"/>
              <a:t>管理サーバの多くは、通常は 中央の拠点に集約 されていますが、</a:t>
            </a:r>
          </a:p>
          <a:p>
            <a:pPr algn="l"/>
            <a:r>
              <a:rPr lang="ja-JP" altLang="en-US" sz="1400" dirty="0"/>
              <a:t>フィールドネットワークの遠隔ステーションには</a:t>
            </a:r>
          </a:p>
          <a:p>
            <a:pPr algn="l"/>
            <a:r>
              <a:rPr lang="ja-JP" altLang="en-US" sz="1400" dirty="0"/>
              <a:t>中間サーバ（intermediary servers） が配置されていることもよくあります。</a:t>
            </a:r>
          </a:p>
          <a:p>
            <a:pPr algn="l"/>
            <a:r>
              <a:rPr lang="ja-JP" altLang="en-US" sz="1400" dirty="0"/>
              <a:t>これらすべてのシステムは攻撃対象となり得るため、</a:t>
            </a:r>
          </a:p>
          <a:p>
            <a:pPr algn="l"/>
            <a:r>
              <a:rPr lang="ja-JP" altLang="en-US" sz="1400" dirty="0"/>
              <a:t>セキュリティ防御を考える際には 全てを考慮する必要があります。</a:t>
            </a:r>
          </a:p>
          <a:p>
            <a:pPr algn="l"/>
            <a:endParaRPr lang="ja-JP" altLang="en-US" sz="1400" dirty="0"/>
          </a:p>
          <a:p>
            <a:pPr algn="l"/>
            <a:r>
              <a:rPr lang="ja-JP" altLang="en-US" sz="1400" dirty="0"/>
              <a:t>サーバのリスク</a:t>
            </a:r>
          </a:p>
          <a:p>
            <a:pPr algn="l"/>
            <a:r>
              <a:rPr lang="ja-JP" altLang="en-US" sz="1400" dirty="0"/>
              <a:t>• 	中央管理サーバ</a:t>
            </a:r>
          </a:p>
          <a:p>
            <a:pPr algn="l"/>
            <a:r>
              <a:rPr lang="ja-JP" altLang="en-US" sz="1400" dirty="0"/>
              <a:t>• 	最も多くのデバイスやプロセスを制御しているため</a:t>
            </a:r>
          </a:p>
          <a:p>
            <a:pPr algn="l"/>
            <a:r>
              <a:rPr lang="ja-JP" altLang="en-US" sz="1400" dirty="0"/>
              <a:t>→ 組織にとって 最大のリスク となる</a:t>
            </a:r>
          </a:p>
          <a:p>
            <a:pPr algn="l"/>
            <a:r>
              <a:rPr lang="ja-JP" altLang="en-US" sz="1400" dirty="0"/>
              <a:t>• 	中間サーバ</a:t>
            </a:r>
          </a:p>
          <a:p>
            <a:pPr algn="l"/>
            <a:r>
              <a:rPr lang="ja-JP" altLang="en-US" sz="1400" dirty="0"/>
              <a:t>• 	単一のフィールドデバイスよりも</a:t>
            </a:r>
          </a:p>
          <a:p>
            <a:pPr algn="l"/>
            <a:r>
              <a:rPr lang="ja-JP" altLang="en-US" sz="1400" dirty="0"/>
              <a:t>→ はるかに大きな影響範囲を持つリスク となる</a:t>
            </a:r>
          </a:p>
          <a:p>
            <a:pPr algn="l"/>
            <a:r>
              <a:rPr lang="ja-JP" altLang="en-US" sz="1400" dirty="0"/>
              <a:t>つまり、中央サーバだけでなく、</a:t>
            </a:r>
          </a:p>
          <a:p>
            <a:pPr algn="l"/>
            <a:r>
              <a:rPr lang="ja-JP" altLang="en-US" sz="1400" dirty="0"/>
              <a:t>遠隔地にある中間サーバも重大な攻撃対象となります。</a:t>
            </a:r>
          </a:p>
          <a:p>
            <a:pPr algn="l"/>
            <a:endParaRPr lang="ja-JP" altLang="en-US" sz="1400" dirty="0"/>
          </a:p>
          <a:p>
            <a:pPr algn="l"/>
            <a:r>
              <a:rPr lang="ja-JP" altLang="en-US" sz="1400" dirty="0"/>
              <a:t>ワークステーションの配置</a:t>
            </a:r>
          </a:p>
          <a:p>
            <a:pPr algn="l"/>
            <a:r>
              <a:rPr lang="ja-JP" altLang="en-US" sz="1400" dirty="0"/>
              <a:t>ワークステーションは制御ネットワーク全体に 均等に分散 して存在します。</a:t>
            </a:r>
          </a:p>
          <a:p>
            <a:pPr algn="l"/>
            <a:r>
              <a:rPr lang="ja-JP" altLang="en-US" sz="1400" dirty="0"/>
              <a:t>例：</a:t>
            </a:r>
          </a:p>
          <a:p>
            <a:pPr algn="l"/>
            <a:r>
              <a:rPr lang="ja-JP" altLang="en-US" sz="1400" dirty="0"/>
              <a:t>• 	制御センター</a:t>
            </a:r>
          </a:p>
          <a:p>
            <a:pPr algn="l"/>
            <a:r>
              <a:rPr lang="ja-JP" altLang="en-US" sz="1400" dirty="0"/>
              <a:t>• 	分散オフィス</a:t>
            </a:r>
          </a:p>
          <a:p>
            <a:pPr algn="l"/>
            <a:r>
              <a:rPr lang="ja-JP" altLang="en-US" sz="1400" dirty="0"/>
              <a:t>• 	フィールド技術者が使用する端末</a:t>
            </a:r>
          </a:p>
          <a:p>
            <a:pPr algn="l"/>
            <a:r>
              <a:rPr lang="ja-JP" altLang="en-US" sz="1400" dirty="0"/>
              <a:t>• 	遠隔ステーション内の端末</a:t>
            </a:r>
          </a:p>
          <a:p>
            <a:pPr algn="l"/>
            <a:r>
              <a:rPr lang="ja-JP" altLang="en-US" sz="1400" dirty="0"/>
              <a:t>ここでいう「ワークステーション」とは、</a:t>
            </a:r>
          </a:p>
          <a:p>
            <a:pPr algn="l"/>
            <a:r>
              <a:rPr lang="ja-JP" altLang="en-US" sz="1400" dirty="0"/>
              <a:t>Windows や Linux などの汎用 OS を実行し、</a:t>
            </a:r>
          </a:p>
          <a:p>
            <a:pPr algn="l"/>
            <a:r>
              <a:rPr lang="ja-JP" altLang="en-US" sz="1400" dirty="0"/>
              <a:t>1 人のユーザーがアプリケーションを利用するためのコンピュータ を指します。</a:t>
            </a:r>
          </a:p>
          <a:p>
            <a:pPr algn="l"/>
            <a:r>
              <a:rPr lang="ja-JP" altLang="en-US" sz="1400" dirty="0"/>
              <a:t>含まれるもの：</a:t>
            </a:r>
          </a:p>
          <a:p>
            <a:pPr algn="l"/>
            <a:r>
              <a:rPr lang="ja-JP" altLang="en-US" sz="1400" dirty="0"/>
              <a:t>• 	デスクトップ</a:t>
            </a:r>
          </a:p>
          <a:p>
            <a:pPr algn="l"/>
            <a:r>
              <a:rPr lang="ja-JP" altLang="en-US" sz="1400" dirty="0"/>
              <a:t>• 	ノート PC</a:t>
            </a:r>
          </a:p>
          <a:p>
            <a:pPr algn="l"/>
            <a:r>
              <a:rPr lang="ja-JP" altLang="en-US" sz="1400" dirty="0"/>
              <a:t>• 	シンクライアント</a:t>
            </a:r>
          </a:p>
          <a:p>
            <a:pPr algn="l"/>
            <a:r>
              <a:rPr lang="ja-JP" altLang="en-US" sz="1400" dirty="0"/>
              <a:t>• 	一部のモバイルデバイス</a:t>
            </a:r>
          </a:p>
          <a:p>
            <a:pPr algn="l"/>
            <a:r>
              <a:rPr lang="ja-JP" altLang="en-US" sz="1400" dirty="0"/>
              <a:t>• 	そして 多くの現代的な HMI（ヒューマンマシンインターフェース）</a:t>
            </a:r>
          </a:p>
          <a:p>
            <a:pPr algn="l"/>
            <a:endParaRPr lang="ja-JP" altLang="en-US" sz="1400" dirty="0"/>
          </a:p>
          <a:p>
            <a:pPr algn="l"/>
            <a:r>
              <a:rPr lang="ja-JP" altLang="en-US" sz="1400" dirty="0"/>
              <a:t>ICS の世界では、</a:t>
            </a:r>
          </a:p>
          <a:p>
            <a:pPr algn="l"/>
            <a:r>
              <a:rPr lang="ja-JP" altLang="en-US" sz="1400" dirty="0"/>
              <a:t>「サーバ＝中央にあるもの」「HMI＝専用端末」という固定観念は通用しません。</a:t>
            </a:r>
          </a:p>
          <a:p>
            <a:pPr algn="l"/>
            <a:r>
              <a:rPr lang="ja-JP" altLang="en-US" sz="1400" dirty="0"/>
              <a:t>実際には、どこにでも存在し、どれも攻撃対象になり得る のが現実です。</a:t>
            </a:r>
          </a:p>
        </p:txBody>
      </p:sp>
      <p:pic>
        <p:nvPicPr>
          <p:cNvPr id="4" name="図 3">
            <a:extLst>
              <a:ext uri="{FF2B5EF4-FFF2-40B4-BE49-F238E27FC236}">
                <a16:creationId xmlns:a16="http://schemas.microsoft.com/office/drawing/2014/main" id="{078B4FED-0DF1-4921-AB93-70CEAD7241E2}"/>
              </a:ext>
            </a:extLst>
          </p:cNvPr>
          <p:cNvPicPr>
            <a:picLocks noChangeAspect="1"/>
          </p:cNvPicPr>
          <p:nvPr/>
        </p:nvPicPr>
        <p:blipFill>
          <a:blip r:embed="rId2"/>
          <a:stretch>
            <a:fillRect/>
          </a:stretch>
        </p:blipFill>
        <p:spPr>
          <a:xfrm>
            <a:off x="279398" y="83287"/>
            <a:ext cx="6299201" cy="35743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833" y="3776135"/>
            <a:ext cx="6852285" cy="8009467"/>
          </a:xfrm>
        </p:spPr>
        <p:txBody>
          <a:bodyPr>
            <a:normAutofit fontScale="97500" lnSpcReduction="10000"/>
          </a:bodyPr>
          <a:lstStyle/>
          <a:p>
            <a:pPr algn="l"/>
            <a:r>
              <a:rPr lang="ja-JP" altLang="en-US" sz="1400" dirty="0"/>
              <a:t>攻撃者が ICS のサーバやワークステーションを好んで狙う理由はいくつかあります。</a:t>
            </a:r>
          </a:p>
          <a:p>
            <a:pPr algn="l"/>
            <a:r>
              <a:rPr lang="ja-JP" altLang="en-US" sz="1400" dirty="0"/>
              <a:t>まず、これらのシステムは ICS プロセスを直接監視・制御しているため、</a:t>
            </a:r>
          </a:p>
          <a:p>
            <a:pPr algn="l"/>
            <a:r>
              <a:rPr lang="ja-JP" altLang="en-US" sz="1400" dirty="0"/>
              <a:t>遠隔ステーションや単一のフィールドデバイスよりも攻撃価値が高い からです。</a:t>
            </a:r>
          </a:p>
          <a:p>
            <a:pPr algn="l"/>
            <a:r>
              <a:rPr lang="ja-JP" altLang="en-US" sz="1400" dirty="0"/>
              <a:t>特に HMI を含むワークステーションやサーバは、</a:t>
            </a:r>
          </a:p>
          <a:p>
            <a:pPr algn="l"/>
            <a:r>
              <a:rPr lang="ja-JP" altLang="en-US" sz="1400" dirty="0"/>
              <a:t>攻撃者に対して以下のような利点を提供します：</a:t>
            </a:r>
          </a:p>
          <a:p>
            <a:pPr algn="l"/>
            <a:r>
              <a:rPr lang="ja-JP" altLang="en-US" sz="1400" dirty="0"/>
              <a:t>- ICS プロセスの 詳細な状況把握（context）</a:t>
            </a:r>
          </a:p>
          <a:p>
            <a:pPr algn="l"/>
            <a:r>
              <a:rPr lang="ja-JP" altLang="en-US" sz="1400" dirty="0"/>
              <a:t>- プロセスに対する 高レベルの制御権限</a:t>
            </a:r>
          </a:p>
          <a:p>
            <a:pPr algn="l"/>
            <a:r>
              <a:rPr lang="ja-JP" altLang="en-US" sz="1400" dirty="0"/>
              <a:t>- TCP/IP ネットワークに接続されているため、攻撃者にとって扱いやすい</a:t>
            </a:r>
          </a:p>
          <a:p>
            <a:pPr algn="l"/>
            <a:r>
              <a:rPr lang="ja-JP" altLang="en-US" sz="1400" dirty="0"/>
              <a:t>- Windows や Linux などの 汎用 OS が動作しているため、</a:t>
            </a:r>
          </a:p>
          <a:p>
            <a:pPr algn="l"/>
            <a:r>
              <a:rPr lang="ja-JP" altLang="en-US" sz="1400" dirty="0"/>
              <a:t>既存の攻撃ツールをそのまま利用できる</a:t>
            </a:r>
          </a:p>
          <a:p>
            <a:pPr algn="l"/>
            <a:endParaRPr lang="ja-JP" altLang="en-US" sz="1400" dirty="0"/>
          </a:p>
          <a:p>
            <a:pPr algn="l"/>
            <a:r>
              <a:rPr lang="ja-JP" altLang="en-US" sz="1400" dirty="0"/>
              <a:t>インターネット境界からの侵入が可能</a:t>
            </a:r>
          </a:p>
          <a:p>
            <a:pPr algn="l"/>
            <a:r>
              <a:rPr lang="ja-JP" altLang="en-US" sz="1400" dirty="0"/>
              <a:t>攻撃者は企業の インターネット境界（perimeter） を突破して</a:t>
            </a:r>
          </a:p>
          <a:p>
            <a:pPr algn="l"/>
            <a:r>
              <a:rPr lang="ja-JP" altLang="en-US" sz="1400" dirty="0"/>
              <a:t>ICS サーバやワークステーションに到達できることがあります。</a:t>
            </a:r>
          </a:p>
          <a:p>
            <a:pPr algn="l"/>
            <a:r>
              <a:rPr lang="ja-JP" altLang="en-US" sz="1400" dirty="0"/>
              <a:t>これに成功すると、攻撃者は 物理的リスクを負うことなく</a:t>
            </a:r>
          </a:p>
          <a:p>
            <a:pPr algn="l"/>
            <a:r>
              <a:rPr lang="ja-JP" altLang="en-US" sz="1400" dirty="0"/>
              <a:t>遠隔から ICS プロセスを操作できてしまいます。</a:t>
            </a:r>
          </a:p>
          <a:p>
            <a:pPr algn="l"/>
            <a:r>
              <a:rPr lang="ja-JP" altLang="en-US" sz="1400" dirty="0"/>
              <a:t>これは、攻撃者が複数の内部ネットワークを横断し、</a:t>
            </a:r>
          </a:p>
          <a:p>
            <a:pPr algn="l"/>
            <a:r>
              <a:rPr lang="ja-JP" altLang="en-US" sz="1400" dirty="0"/>
              <a:t>最終的に制御ネットワークの境界を越える必要がある場合でも同じです。</a:t>
            </a:r>
          </a:p>
          <a:p>
            <a:pPr algn="l"/>
            <a:endParaRPr lang="ja-JP" altLang="en-US" sz="1400" dirty="0"/>
          </a:p>
          <a:p>
            <a:pPr algn="l"/>
            <a:r>
              <a:rPr lang="ja-JP" altLang="en-US" sz="1400" dirty="0"/>
              <a:t>ICS 内部の“信頼関係”を悪用する</a:t>
            </a:r>
          </a:p>
          <a:p>
            <a:pPr algn="l"/>
            <a:r>
              <a:rPr lang="ja-JP" altLang="en-US" sz="1400" dirty="0"/>
              <a:t>ICS 環境では、さまざまなデータベースやアプリケーション間に</a:t>
            </a:r>
          </a:p>
          <a:p>
            <a:pPr algn="l"/>
            <a:r>
              <a:rPr lang="ja-JP" altLang="en-US" sz="1400" dirty="0"/>
              <a:t>信頼関係（trust relationships） が存在します。</a:t>
            </a:r>
          </a:p>
          <a:p>
            <a:pPr algn="l"/>
            <a:r>
              <a:rPr lang="ja-JP" altLang="en-US" sz="1400" dirty="0"/>
              <a:t>攻撃者はこの信頼関係を悪用し、</a:t>
            </a:r>
          </a:p>
          <a:p>
            <a:pPr algn="l"/>
            <a:r>
              <a:rPr lang="ja-JP" altLang="en-US" sz="1400" dirty="0"/>
              <a:t>横移動（lateral movement）や権限昇格を行うことで</a:t>
            </a:r>
          </a:p>
          <a:p>
            <a:pPr algn="l"/>
            <a:r>
              <a:rPr lang="ja-JP" altLang="en-US" sz="1400" dirty="0"/>
              <a:t>より重要な ICS サーバやワークステーションへ到達できます。</a:t>
            </a:r>
          </a:p>
          <a:p>
            <a:pPr algn="l"/>
            <a:endParaRPr lang="ja-JP" altLang="en-US" sz="1400" dirty="0"/>
          </a:p>
          <a:p>
            <a:pPr algn="l"/>
            <a:r>
              <a:rPr lang="ja-JP" altLang="en-US" sz="1400" dirty="0"/>
              <a:t>ICS の世界では、</a:t>
            </a:r>
          </a:p>
          <a:p>
            <a:pPr algn="l"/>
            <a:r>
              <a:rPr lang="ja-JP" altLang="en-US" sz="1400" dirty="0"/>
              <a:t>「サーバ／ワークステーションは最も価値が高く、最も危険な攻撃対象」</a:t>
            </a:r>
          </a:p>
          <a:p>
            <a:pPr algn="l"/>
            <a:r>
              <a:rPr lang="ja-JP" altLang="en-US" sz="1400" dirty="0"/>
              <a:t>という前提で防御設計を行う必要があります。</a:t>
            </a:r>
          </a:p>
        </p:txBody>
      </p:sp>
      <p:pic>
        <p:nvPicPr>
          <p:cNvPr id="4" name="図 3">
            <a:extLst>
              <a:ext uri="{FF2B5EF4-FFF2-40B4-BE49-F238E27FC236}">
                <a16:creationId xmlns:a16="http://schemas.microsoft.com/office/drawing/2014/main" id="{04244DFB-AD76-4438-A827-F0B6EA290D64}"/>
              </a:ext>
            </a:extLst>
          </p:cNvPr>
          <p:cNvPicPr>
            <a:picLocks noChangeAspect="1"/>
          </p:cNvPicPr>
          <p:nvPr/>
        </p:nvPicPr>
        <p:blipFill>
          <a:blip r:embed="rId2"/>
          <a:stretch>
            <a:fillRect/>
          </a:stretch>
        </p:blipFill>
        <p:spPr>
          <a:xfrm>
            <a:off x="237066" y="84665"/>
            <a:ext cx="6383867" cy="36186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12528"/>
            <a:ext cx="6852285" cy="8231082"/>
          </a:xfrm>
        </p:spPr>
        <p:txBody>
          <a:bodyPr>
            <a:normAutofit fontScale="97500"/>
          </a:bodyPr>
          <a:lstStyle/>
          <a:p>
            <a:pPr algn="l"/>
            <a:r>
              <a:rPr lang="ja-JP" altLang="en-US" sz="1400" dirty="0"/>
              <a:t>ICS 環境では、攻撃者が最も狙うのは</a:t>
            </a:r>
          </a:p>
          <a:p>
            <a:pPr algn="l"/>
            <a:r>
              <a:rPr lang="ja-JP" altLang="en-US" sz="1400" dirty="0"/>
              <a:t>各ワークステーションやサーバ上で動作している制御ソフトウェア です。</a:t>
            </a:r>
          </a:p>
          <a:p>
            <a:pPr algn="l"/>
            <a:r>
              <a:rPr lang="ja-JP" altLang="en-US" sz="1400" dirty="0"/>
              <a:t>これこそが攻撃者に 制御システムへのアクセス と</a:t>
            </a:r>
          </a:p>
          <a:p>
            <a:pPr algn="l"/>
            <a:r>
              <a:rPr lang="ja-JP" altLang="en-US" sz="1400" dirty="0"/>
              <a:t>プロセスそのものの操作権限 を与えるためです。</a:t>
            </a:r>
          </a:p>
          <a:p>
            <a:pPr algn="l"/>
            <a:r>
              <a:rPr lang="ja-JP" altLang="en-US" sz="1400" dirty="0"/>
              <a:t>そのため、各 ICS ベンダーが提供するソフトウェアは</a:t>
            </a:r>
          </a:p>
          <a:p>
            <a:pPr algn="l"/>
            <a:r>
              <a:rPr lang="ja-JP" altLang="en-US" sz="1400" dirty="0"/>
              <a:t>適切に設定し、堅牢化（ハードニング） する必要があります。</a:t>
            </a:r>
          </a:p>
          <a:p>
            <a:pPr algn="l"/>
            <a:r>
              <a:rPr lang="ja-JP" altLang="en-US" sz="1400" dirty="0"/>
              <a:t>最初の防御ラインとなるのは、</a:t>
            </a:r>
          </a:p>
          <a:p>
            <a:pPr algn="l"/>
            <a:r>
              <a:rPr lang="ja-JP" altLang="en-US" sz="1400" dirty="0"/>
              <a:t>ソフトウェア自身が提供するセキュリティ設定 です。</a:t>
            </a:r>
          </a:p>
          <a:p>
            <a:pPr algn="l"/>
            <a:r>
              <a:rPr lang="ja-JP" altLang="en-US" sz="1400" dirty="0"/>
              <a:t>ICS ソフトウェアはベンダーごとにセキュリティ機能が異なるため、</a:t>
            </a:r>
          </a:p>
          <a:p>
            <a:pPr algn="l"/>
            <a:r>
              <a:rPr lang="ja-JP" altLang="en-US" sz="1400" dirty="0"/>
              <a:t>ベンダーのガイダンスに従って適切に設定することが不可欠です。</a:t>
            </a:r>
          </a:p>
          <a:p>
            <a:pPr algn="l"/>
            <a:endParaRPr lang="ja-JP" altLang="en-US" sz="1400" dirty="0"/>
          </a:p>
          <a:p>
            <a:pPr algn="l"/>
            <a:r>
              <a:rPr lang="ja-JP" altLang="en-US" sz="1400" dirty="0"/>
              <a:t>ICS ソフトウェアのセキュリティが不十分な場合</a:t>
            </a:r>
          </a:p>
          <a:p>
            <a:pPr algn="l"/>
            <a:r>
              <a:rPr lang="ja-JP" altLang="en-US" sz="1400" dirty="0"/>
              <a:t>現実には、多くの ICS ソフトウェアには</a:t>
            </a:r>
          </a:p>
          <a:p>
            <a:pPr algn="l"/>
            <a:r>
              <a:rPr lang="ja-JP" altLang="en-US" sz="1400" dirty="0"/>
              <a:t>十分なセキュリティ機能が備わっていない ことがあります。</a:t>
            </a:r>
          </a:p>
          <a:p>
            <a:pPr algn="l"/>
            <a:r>
              <a:rPr lang="ja-JP" altLang="en-US" sz="1400" dirty="0"/>
              <a:t>そのような場合は、</a:t>
            </a:r>
          </a:p>
          <a:p>
            <a:pPr algn="l"/>
            <a:r>
              <a:rPr lang="ja-JP" altLang="en-US" sz="1400" dirty="0"/>
              <a:t>ソフトウェア自身では対処できない弱点を補うために</a:t>
            </a:r>
          </a:p>
          <a:p>
            <a:pPr algn="l"/>
            <a:r>
              <a:rPr lang="ja-JP" altLang="en-US" sz="1400" dirty="0"/>
              <a:t>サードパーティ製のセキュリティソリューション を導入する必要があります。</a:t>
            </a:r>
          </a:p>
          <a:p>
            <a:pPr algn="l"/>
            <a:r>
              <a:rPr lang="ja-JP" altLang="en-US" sz="1400" dirty="0"/>
              <a:t>例：</a:t>
            </a:r>
          </a:p>
          <a:p>
            <a:pPr algn="l"/>
            <a:r>
              <a:rPr lang="ja-JP" altLang="en-US" sz="1400" dirty="0"/>
              <a:t>- VPN ゲートウェイ</a:t>
            </a:r>
          </a:p>
          <a:p>
            <a:pPr algn="l"/>
            <a:r>
              <a:rPr lang="ja-JP" altLang="en-US" sz="1400" dirty="0"/>
              <a:t>- Bump-in-the-wire 型セキュリティ装置（通信経路に挟み込むタイプ）</a:t>
            </a:r>
          </a:p>
          <a:p>
            <a:pPr algn="l"/>
            <a:r>
              <a:rPr lang="ja-JP" altLang="en-US" sz="1400" dirty="0"/>
              <a:t>- 集中認証＋ログ機能を備えたセキュアプロキシ</a:t>
            </a:r>
          </a:p>
          <a:p>
            <a:pPr algn="l"/>
            <a:r>
              <a:rPr lang="ja-JP" altLang="en-US" sz="1400" dirty="0"/>
              <a:t>- アプリケーション実行制御（Application Whitelisting）</a:t>
            </a:r>
          </a:p>
          <a:p>
            <a:pPr algn="l"/>
            <a:r>
              <a:rPr lang="ja-JP" altLang="en-US" sz="1400" dirty="0"/>
              <a:t>- アプリケーションサンドボックス</a:t>
            </a:r>
          </a:p>
          <a:p>
            <a:pPr algn="l"/>
            <a:r>
              <a:rPr lang="ja-JP" altLang="en-US" sz="1400" dirty="0"/>
              <a:t>これらのソリューションは、</a:t>
            </a:r>
          </a:p>
          <a:p>
            <a:pPr algn="l"/>
            <a:r>
              <a:rPr lang="ja-JP" altLang="en-US" sz="1400" dirty="0"/>
              <a:t>ICS ソフトウェアに欠けているセキュリティ機能を補完するだけでなく、</a:t>
            </a:r>
          </a:p>
          <a:p>
            <a:pPr algn="l"/>
            <a:r>
              <a:rPr lang="ja-JP" altLang="en-US" sz="1400" dirty="0"/>
              <a:t>ソフトウェア側に類似機能があっても 第二の防御層（Defense in Depth） として機能します。</a:t>
            </a:r>
          </a:p>
        </p:txBody>
      </p:sp>
      <p:pic>
        <p:nvPicPr>
          <p:cNvPr id="4" name="図 3">
            <a:extLst>
              <a:ext uri="{FF2B5EF4-FFF2-40B4-BE49-F238E27FC236}">
                <a16:creationId xmlns:a16="http://schemas.microsoft.com/office/drawing/2014/main" id="{2287D846-CEE9-4D82-A62B-CCC64AD0F9FE}"/>
              </a:ext>
            </a:extLst>
          </p:cNvPr>
          <p:cNvPicPr>
            <a:picLocks noChangeAspect="1"/>
          </p:cNvPicPr>
          <p:nvPr/>
        </p:nvPicPr>
        <p:blipFill>
          <a:blip r:embed="rId2"/>
          <a:stretch>
            <a:fillRect/>
          </a:stretch>
        </p:blipFill>
        <p:spPr>
          <a:xfrm>
            <a:off x="203200" y="100117"/>
            <a:ext cx="6451600" cy="36446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26933"/>
            <a:ext cx="6852285" cy="8144933"/>
          </a:xfrm>
        </p:spPr>
        <p:txBody>
          <a:bodyPr>
            <a:normAutofit fontScale="95000" lnSpcReduction="10000"/>
          </a:bodyPr>
          <a:lstStyle/>
          <a:p>
            <a:pPr algn="l"/>
            <a:r>
              <a:rPr lang="ja-JP" altLang="en-US" sz="1400" dirty="0"/>
              <a:t>ほとんどの ICS サーバやワークステーションは、</a:t>
            </a:r>
          </a:p>
          <a:p>
            <a:pPr algn="l"/>
            <a:r>
              <a:rPr lang="ja-JP" altLang="en-US" sz="1400" dirty="0"/>
              <a:t>場所や用途に関係なく Windows や Linux/UNIX といった汎用 OS を実行しています。</a:t>
            </a:r>
          </a:p>
          <a:p>
            <a:pPr algn="l"/>
            <a:r>
              <a:rPr lang="ja-JP" altLang="en-US" sz="1400" dirty="0"/>
              <a:t>これは、ICS 全体に共通する 攻撃面（attack surface） を生み出します。</a:t>
            </a:r>
          </a:p>
          <a:p>
            <a:pPr algn="l"/>
            <a:r>
              <a:rPr lang="ja-JP" altLang="en-US" sz="1400" dirty="0"/>
              <a:t>ある ICS システムの OS に脆弱性があれば、</a:t>
            </a:r>
          </a:p>
          <a:p>
            <a:pPr algn="l"/>
            <a:r>
              <a:rPr lang="ja-JP" altLang="en-US" sz="1400" dirty="0"/>
              <a:t>別の ICS システムでも 同じ OS の脆弱性がそのまま存在する可能性が高い のです。</a:t>
            </a:r>
          </a:p>
          <a:p>
            <a:pPr algn="l"/>
            <a:r>
              <a:rPr lang="ja-JP" altLang="en-US" sz="1400" dirty="0"/>
              <a:t>たとえ動作している ICS ソフトウェアが異なり、</a:t>
            </a:r>
          </a:p>
          <a:p>
            <a:pPr algn="l"/>
            <a:r>
              <a:rPr lang="ja-JP" altLang="en-US" sz="1400" dirty="0"/>
              <a:t>役割が違い、制御ネットワーク内の別の場所にあっても同じです。</a:t>
            </a:r>
          </a:p>
          <a:p>
            <a:pPr algn="l"/>
            <a:endParaRPr lang="ja-JP" altLang="en-US" sz="1400" dirty="0"/>
          </a:p>
          <a:p>
            <a:pPr algn="l"/>
            <a:r>
              <a:rPr lang="ja-JP" altLang="en-US" sz="1400" dirty="0"/>
              <a:t>OS が ICS の“最初の攻撃ポイント”になる理由</a:t>
            </a:r>
          </a:p>
          <a:p>
            <a:pPr algn="l"/>
            <a:r>
              <a:rPr lang="ja-JP" altLang="en-US" sz="1400" dirty="0"/>
              <a:t>ビジネス上の利便性のため、</a:t>
            </a:r>
          </a:p>
          <a:p>
            <a:pPr algn="l"/>
            <a:r>
              <a:rPr lang="ja-JP" altLang="en-US" sz="1400" dirty="0"/>
              <a:t>ほとんどの OS は以下をネットワークに公開しています：</a:t>
            </a:r>
          </a:p>
          <a:p>
            <a:pPr algn="l"/>
            <a:r>
              <a:rPr lang="ja-JP" altLang="en-US" sz="1400" dirty="0"/>
              <a:t>- TCP/IP スタック</a:t>
            </a:r>
          </a:p>
          <a:p>
            <a:pPr algn="l"/>
            <a:r>
              <a:rPr lang="ja-JP" altLang="en-US" sz="1400" dirty="0"/>
              <a:t>- ネットワークサービス</a:t>
            </a:r>
          </a:p>
          <a:p>
            <a:pPr algn="l"/>
            <a:r>
              <a:rPr lang="ja-JP" altLang="en-US" sz="1400" dirty="0"/>
              <a:t>- クライアントアプリケーション</a:t>
            </a:r>
          </a:p>
          <a:p>
            <a:pPr algn="l"/>
            <a:r>
              <a:rPr lang="ja-JP" altLang="en-US" sz="1400" dirty="0"/>
              <a:t>これらが OS の 初期攻撃面 を構成します。</a:t>
            </a:r>
          </a:p>
          <a:p>
            <a:pPr algn="l"/>
            <a:r>
              <a:rPr lang="ja-JP" altLang="en-US" sz="1400" dirty="0"/>
              <a:t>そして、これらの OS コンポーネントに脆弱性が見つかると、</a:t>
            </a:r>
          </a:p>
          <a:p>
            <a:pPr algn="l"/>
            <a:r>
              <a:rPr lang="ja-JP" altLang="en-US" sz="1400" dirty="0"/>
              <a:t>それらは 最も文書化され、最も悪用されやすい脆弱性 になります。</a:t>
            </a:r>
          </a:p>
          <a:p>
            <a:pPr algn="l"/>
            <a:r>
              <a:rPr lang="ja-JP" altLang="en-US" sz="1400" dirty="0"/>
              <a:t>その結果：</a:t>
            </a:r>
          </a:p>
          <a:p>
            <a:pPr algn="l"/>
            <a:r>
              <a:rPr lang="ja-JP" altLang="en-US" sz="1400" dirty="0"/>
              <a:t>- OS が ICS システムへの 初期侵入点 となり</a:t>
            </a:r>
          </a:p>
          <a:p>
            <a:pPr algn="l"/>
            <a:r>
              <a:rPr lang="ja-JP" altLang="en-US" sz="1400" dirty="0"/>
              <a:t>- 1 </a:t>
            </a:r>
            <a:r>
              <a:rPr lang="ja-JP" altLang="en-US" sz="1400" dirty="0" err="1"/>
              <a:t>つの</a:t>
            </a:r>
            <a:r>
              <a:rPr lang="ja-JP" altLang="en-US" sz="1400" dirty="0"/>
              <a:t>プロセスやアプリケーションから</a:t>
            </a:r>
          </a:p>
          <a:p>
            <a:pPr algn="l"/>
            <a:r>
              <a:rPr lang="ja-JP" altLang="en-US" sz="1400" dirty="0"/>
              <a:t>→ 別のプロセスやアプリケーションへ横移動するための足がかりになる</a:t>
            </a:r>
          </a:p>
          <a:p>
            <a:pPr algn="l"/>
            <a:r>
              <a:rPr lang="ja-JP" altLang="en-US" sz="1400" dirty="0"/>
              <a:t>- その中には ICS ソフトウェアも含まれる</a:t>
            </a:r>
          </a:p>
          <a:p>
            <a:pPr algn="l"/>
            <a:r>
              <a:rPr lang="ja-JP" altLang="en-US" sz="1400" dirty="0"/>
              <a:t>という状況が生まれます。</a:t>
            </a:r>
          </a:p>
          <a:p>
            <a:pPr algn="l"/>
            <a:endParaRPr lang="ja-JP" altLang="en-US" sz="1400" dirty="0"/>
          </a:p>
          <a:p>
            <a:pPr algn="l"/>
            <a:r>
              <a:rPr lang="ja-JP" altLang="en-US" sz="1400" dirty="0"/>
              <a:t>OS を支配されるということは、ICS を支配されるということ</a:t>
            </a:r>
          </a:p>
          <a:p>
            <a:pPr algn="l"/>
            <a:r>
              <a:rPr lang="ja-JP" altLang="en-US" sz="1400" dirty="0"/>
              <a:t>攻撃者が OS を制御できるようになると、</a:t>
            </a:r>
          </a:p>
          <a:p>
            <a:pPr algn="l"/>
            <a:r>
              <a:rPr lang="ja-JP" altLang="en-US" sz="1400" dirty="0"/>
              <a:t>そのシステム上で動作する ICS ソフトウェアに対しても：</a:t>
            </a:r>
          </a:p>
          <a:p>
            <a:pPr algn="l"/>
            <a:r>
              <a:rPr lang="ja-JP" altLang="en-US" sz="1400" dirty="0"/>
              <a:t>- 部分的、あるいは完全な制御</a:t>
            </a:r>
          </a:p>
          <a:p>
            <a:pPr algn="l"/>
            <a:r>
              <a:rPr lang="ja-JP" altLang="en-US" sz="1400" dirty="0"/>
              <a:t>- ICS 通信の 盗聴・改ざん・操作</a:t>
            </a:r>
          </a:p>
          <a:p>
            <a:pPr algn="l"/>
            <a:r>
              <a:rPr lang="ja-JP" altLang="en-US" sz="1400" dirty="0"/>
              <a:t>が可能になります。</a:t>
            </a:r>
          </a:p>
          <a:p>
            <a:pPr algn="l"/>
            <a:r>
              <a:rPr lang="ja-JP" altLang="en-US" sz="1400" dirty="0"/>
              <a:t>つまり、OS の侵害は ICS プロセスそのものの侵害 に直結します。</a:t>
            </a:r>
          </a:p>
        </p:txBody>
      </p:sp>
      <p:pic>
        <p:nvPicPr>
          <p:cNvPr id="4" name="図 3">
            <a:extLst>
              <a:ext uri="{FF2B5EF4-FFF2-40B4-BE49-F238E27FC236}">
                <a16:creationId xmlns:a16="http://schemas.microsoft.com/office/drawing/2014/main" id="{C670A17E-B567-413F-99C7-B5CED4E5ADFE}"/>
              </a:ext>
            </a:extLst>
          </p:cNvPr>
          <p:cNvPicPr>
            <a:picLocks noChangeAspect="1"/>
          </p:cNvPicPr>
          <p:nvPr/>
        </p:nvPicPr>
        <p:blipFill>
          <a:blip r:embed="rId2"/>
          <a:stretch>
            <a:fillRect/>
          </a:stretch>
        </p:blipFill>
        <p:spPr>
          <a:xfrm>
            <a:off x="203200" y="100988"/>
            <a:ext cx="6451600" cy="36582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26932"/>
            <a:ext cx="6852285" cy="8365068"/>
          </a:xfrm>
        </p:spPr>
        <p:txBody>
          <a:bodyPr>
            <a:normAutofit fontScale="97500"/>
          </a:bodyPr>
          <a:lstStyle/>
          <a:p>
            <a:pPr algn="l"/>
            <a:r>
              <a:rPr lang="ja-JP" altLang="en-US" sz="1400" dirty="0"/>
              <a:t>攻撃者がよく利用する手法のひとつが ソーシャルエンジニアリング攻撃 です。</a:t>
            </a:r>
          </a:p>
          <a:p>
            <a:pPr algn="l"/>
            <a:r>
              <a:rPr lang="ja-JP" altLang="en-US" sz="1400" dirty="0"/>
              <a:t>「システムに脆弱性が見つからないなら、ユーザーに攻撃を実行させればいい」</a:t>
            </a:r>
          </a:p>
          <a:p>
            <a:pPr algn="l"/>
            <a:r>
              <a:rPr lang="ja-JP" altLang="en-US" sz="1400" dirty="0"/>
              <a:t>という言葉があるほど、強力で効果的な攻撃手法です。</a:t>
            </a:r>
          </a:p>
          <a:p>
            <a:pPr algn="l"/>
            <a:r>
              <a:rPr lang="ja-JP" altLang="en-US" sz="1400" dirty="0"/>
              <a:t>ソーシャルエンジニアリングは、</a:t>
            </a:r>
          </a:p>
          <a:p>
            <a:pPr algn="l"/>
            <a:r>
              <a:rPr lang="ja-JP" altLang="en-US" sz="1400" dirty="0"/>
              <a:t>論理（もっともらしい理由付け） と 感情（不安・信頼・焦り） を組み合わせて</a:t>
            </a:r>
          </a:p>
          <a:p>
            <a:pPr algn="l"/>
            <a:r>
              <a:rPr lang="ja-JP" altLang="en-US" sz="1400" dirty="0"/>
              <a:t>人間に行動を起こさせます。</a:t>
            </a:r>
          </a:p>
          <a:p>
            <a:pPr algn="l"/>
            <a:r>
              <a:rPr lang="ja-JP" altLang="en-US" sz="1400" dirty="0"/>
              <a:t>例としては：</a:t>
            </a:r>
          </a:p>
          <a:p>
            <a:pPr algn="l"/>
            <a:r>
              <a:rPr lang="ja-JP" altLang="en-US" sz="1400" dirty="0"/>
              <a:t>- ヘルプデスク担当者をだまして、他人のパスワードをリセットさせる</a:t>
            </a:r>
          </a:p>
          <a:p>
            <a:pPr algn="l"/>
            <a:r>
              <a:rPr lang="ja-JP" altLang="en-US" sz="1400" dirty="0"/>
              <a:t>- フィールド技術者に、悪意ある USB をフィールド用ノート PC に挿させる</a:t>
            </a:r>
          </a:p>
          <a:p>
            <a:pPr algn="l"/>
            <a:r>
              <a:rPr lang="ja-JP" altLang="en-US" sz="1400" dirty="0"/>
              <a:t>- 守衛をだまして物理的に制限されたエリアに侵入する</a:t>
            </a:r>
          </a:p>
          <a:p>
            <a:pPr algn="l"/>
            <a:r>
              <a:rPr lang="ja-JP" altLang="en-US" sz="1400" dirty="0"/>
              <a:t>- マネージャーや上級エンジニアに、ウイルス付きメールを開かせる</a:t>
            </a:r>
          </a:p>
          <a:p>
            <a:pPr algn="l"/>
            <a:r>
              <a:rPr lang="ja-JP" altLang="en-US" sz="1400" dirty="0"/>
              <a:t>などがあります。</a:t>
            </a:r>
          </a:p>
          <a:p>
            <a:pPr algn="l"/>
            <a:endParaRPr lang="ja-JP" altLang="en-US" sz="1400" dirty="0"/>
          </a:p>
          <a:p>
            <a:pPr algn="l"/>
            <a:r>
              <a:rPr lang="ja-JP" altLang="en-US" sz="1400" dirty="0"/>
              <a:t>ソーシャルエンジニアリングは単独でも、他の攻撃と組み合わせても使われる</a:t>
            </a:r>
          </a:p>
          <a:p>
            <a:pPr algn="l"/>
            <a:r>
              <a:rPr lang="ja-JP" altLang="en-US" sz="1400" dirty="0"/>
              <a:t>ソーシャルエンジニアリングは単体で攻撃を成立させることもできますが、</a:t>
            </a:r>
          </a:p>
          <a:p>
            <a:pPr algn="l"/>
            <a:r>
              <a:rPr lang="ja-JP" altLang="en-US" sz="1400" dirty="0"/>
              <a:t>他のデジタル攻撃と組み合わせることで 攻撃全体の効果を大幅に高める こともできます。</a:t>
            </a:r>
          </a:p>
          <a:p>
            <a:pPr algn="l"/>
            <a:endParaRPr lang="ja-JP" altLang="en-US" sz="1400" dirty="0"/>
          </a:p>
          <a:p>
            <a:pPr algn="l"/>
            <a:r>
              <a:rPr lang="ja-JP" altLang="en-US" sz="1400" dirty="0"/>
              <a:t>防御のために必要な対策</a:t>
            </a:r>
          </a:p>
          <a:p>
            <a:pPr algn="l"/>
            <a:r>
              <a:rPr lang="ja-JP" altLang="en-US" sz="1400" dirty="0"/>
              <a:t>ソーシャルエンジニアリングを防ぐには、</a:t>
            </a:r>
          </a:p>
          <a:p>
            <a:pPr algn="l"/>
            <a:r>
              <a:rPr lang="ja-JP" altLang="en-US" sz="1400" dirty="0"/>
              <a:t>技術的対策と人的対策の両方 が必要です。</a:t>
            </a:r>
          </a:p>
          <a:p>
            <a:pPr algn="l"/>
            <a:r>
              <a:rPr lang="ja-JP" altLang="en-US" sz="1400" dirty="0"/>
              <a:t>効果的な防御策：</a:t>
            </a:r>
          </a:p>
          <a:p>
            <a:pPr algn="l"/>
            <a:r>
              <a:rPr lang="ja-JP" altLang="en-US" sz="1400" dirty="0"/>
              <a:t>- メールフィルタリング（スパム・マルウェア・フィッシング対策）</a:t>
            </a:r>
          </a:p>
          <a:p>
            <a:pPr algn="l"/>
            <a:r>
              <a:rPr lang="ja-JP" altLang="en-US" sz="1400" dirty="0"/>
              <a:t>- Web コンテンツフィルタリング（悪意あるサイトへのアクセス防止）</a:t>
            </a:r>
          </a:p>
          <a:p>
            <a:pPr algn="l"/>
            <a:r>
              <a:rPr lang="ja-JP" altLang="en-US" sz="1400" dirty="0"/>
              <a:t>- セキュリティ教育（Security Awareness Training）</a:t>
            </a:r>
          </a:p>
          <a:p>
            <a:pPr algn="l"/>
            <a:r>
              <a:rPr lang="ja-JP" altLang="en-US" sz="1400" dirty="0"/>
              <a:t>- ソーシャルエンジニアリングの手口を理解させる</a:t>
            </a:r>
          </a:p>
          <a:p>
            <a:pPr algn="l"/>
            <a:r>
              <a:rPr lang="ja-JP" altLang="en-US" sz="1400" dirty="0"/>
              <a:t>- URL リダイレクトや偽サイトの見分け方を教える</a:t>
            </a:r>
          </a:p>
          <a:p>
            <a:pPr algn="l"/>
            <a:r>
              <a:rPr lang="ja-JP" altLang="en-US" sz="1400" dirty="0"/>
              <a:t>これらを組み合わせることで、</a:t>
            </a:r>
          </a:p>
          <a:p>
            <a:pPr algn="l"/>
            <a:r>
              <a:rPr lang="ja-JP" altLang="en-US" sz="1400" dirty="0"/>
              <a:t>ユーザーが攻撃者の誘導に乗ってしまうリスクを大幅に減らせます。</a:t>
            </a:r>
          </a:p>
        </p:txBody>
      </p:sp>
      <p:pic>
        <p:nvPicPr>
          <p:cNvPr id="4" name="図 3">
            <a:extLst>
              <a:ext uri="{FF2B5EF4-FFF2-40B4-BE49-F238E27FC236}">
                <a16:creationId xmlns:a16="http://schemas.microsoft.com/office/drawing/2014/main" id="{157CACFA-1341-417E-A1EB-F0746021EDD5}"/>
              </a:ext>
            </a:extLst>
          </p:cNvPr>
          <p:cNvPicPr>
            <a:picLocks noChangeAspect="1"/>
          </p:cNvPicPr>
          <p:nvPr/>
        </p:nvPicPr>
        <p:blipFill>
          <a:blip r:embed="rId2"/>
          <a:stretch>
            <a:fillRect/>
          </a:stretch>
        </p:blipFill>
        <p:spPr>
          <a:xfrm>
            <a:off x="251142" y="134358"/>
            <a:ext cx="6350000" cy="35909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520651"/>
            <a:ext cx="6852285" cy="6774815"/>
          </a:xfrm>
        </p:spPr>
        <p:txBody>
          <a:bodyPr>
            <a:normAutofit/>
          </a:bodyPr>
          <a:lstStyle/>
          <a:p>
            <a:pPr algn="l"/>
            <a:r>
              <a:rPr lang="ja-JP" altLang="en-US" sz="1600" dirty="0"/>
              <a:t>フィッシング（Phishing） は、多数の人に一斉に送られる攻撃です。</a:t>
            </a:r>
          </a:p>
          <a:p>
            <a:pPr algn="l"/>
            <a:r>
              <a:rPr lang="ja-JP" altLang="en-US" sz="1600" dirty="0"/>
              <a:t>攻撃者は「そのうち何％かが引っかかればよい」という考えで実行します。</a:t>
            </a:r>
          </a:p>
          <a:p>
            <a:pPr algn="l"/>
            <a:r>
              <a:rPr lang="ja-JP" altLang="en-US" sz="1600" dirty="0"/>
              <a:t>典型的な手口：</a:t>
            </a:r>
          </a:p>
          <a:p>
            <a:pPr algn="l"/>
            <a:r>
              <a:rPr lang="ja-JP" altLang="en-US" sz="1600" dirty="0"/>
              <a:t>- ウイルス付きのメール添付を開かせる</a:t>
            </a:r>
          </a:p>
          <a:p>
            <a:pPr algn="l"/>
            <a:r>
              <a:rPr lang="ja-JP" altLang="en-US" sz="1600" dirty="0"/>
              <a:t>- 悪意ある Web サイトへのリンクをクリックさせ、ブラウザを悪用する</a:t>
            </a:r>
          </a:p>
          <a:p>
            <a:pPr algn="l"/>
            <a:r>
              <a:rPr lang="ja-JP" altLang="en-US" sz="1600" dirty="0"/>
              <a:t>フィッシングは 広範囲にばらまくタイプの攻撃 であり、</a:t>
            </a:r>
          </a:p>
          <a:p>
            <a:pPr algn="l"/>
            <a:r>
              <a:rPr lang="ja-JP" altLang="en-US" sz="1600" dirty="0"/>
              <a:t>送信対象が多ければ多いほど、被害者の数も増えます。</a:t>
            </a:r>
          </a:p>
          <a:p>
            <a:pPr algn="l"/>
            <a:endParaRPr lang="ja-JP" altLang="en-US" sz="1600" dirty="0"/>
          </a:p>
          <a:p>
            <a:pPr algn="l"/>
            <a:r>
              <a:rPr lang="ja-JP" altLang="en-US" sz="1600" dirty="0"/>
              <a:t>スピアフィッシング（Spear Phishing）</a:t>
            </a:r>
          </a:p>
          <a:p>
            <a:pPr algn="l"/>
            <a:r>
              <a:rPr lang="ja-JP" altLang="en-US" sz="1600" dirty="0"/>
              <a:t>スピアフィッシングはフィッシングと似ていますが、</a:t>
            </a:r>
          </a:p>
          <a:p>
            <a:pPr algn="l"/>
            <a:r>
              <a:rPr lang="ja-JP" altLang="en-US" sz="1600" dirty="0"/>
              <a:t>特定の少人数を狙う点が大きく異なります。</a:t>
            </a:r>
          </a:p>
          <a:p>
            <a:pPr algn="l"/>
            <a:r>
              <a:rPr lang="ja-JP" altLang="en-US" sz="1600" dirty="0"/>
              <a:t>特徴：</a:t>
            </a:r>
          </a:p>
          <a:p>
            <a:pPr algn="l"/>
            <a:r>
              <a:rPr lang="ja-JP" altLang="en-US" sz="1600" dirty="0"/>
              <a:t>- ターゲットが非常に限定されている</a:t>
            </a:r>
          </a:p>
          <a:p>
            <a:pPr algn="l"/>
            <a:r>
              <a:rPr lang="ja-JP" altLang="en-US" sz="1600" dirty="0"/>
              <a:t>- 内容がターゲットに合わせて作り込まれているため、はるかに説得力が高い</a:t>
            </a:r>
          </a:p>
          <a:p>
            <a:pPr algn="l"/>
            <a:r>
              <a:rPr lang="ja-JP" altLang="en-US" sz="1600" dirty="0"/>
              <a:t>- 攻撃者は個人や部署ごとに内容を変えることも多い</a:t>
            </a:r>
          </a:p>
          <a:p>
            <a:pPr algn="l"/>
            <a:r>
              <a:rPr lang="ja-JP" altLang="en-US" sz="1600" dirty="0"/>
              <a:t>最低でも：</a:t>
            </a:r>
          </a:p>
          <a:p>
            <a:pPr algn="l"/>
            <a:r>
              <a:rPr lang="ja-JP" altLang="en-US" sz="1600" dirty="0"/>
              <a:t>- 1 </a:t>
            </a:r>
            <a:r>
              <a:rPr lang="ja-JP" altLang="en-US" sz="1600" dirty="0" err="1"/>
              <a:t>つの</a:t>
            </a:r>
            <a:r>
              <a:rPr lang="ja-JP" altLang="en-US" sz="1600" dirty="0"/>
              <a:t>企業</a:t>
            </a:r>
          </a:p>
          <a:p>
            <a:pPr algn="l"/>
            <a:r>
              <a:rPr lang="ja-JP" altLang="en-US" sz="1600" dirty="0"/>
              <a:t>- 共通の活動をしている特定グループ</a:t>
            </a:r>
          </a:p>
          <a:p>
            <a:pPr algn="l"/>
            <a:r>
              <a:rPr lang="ja-JP" altLang="en-US" sz="1600" dirty="0"/>
              <a:t>といった単位で狙われます。</a:t>
            </a:r>
          </a:p>
          <a:p>
            <a:pPr algn="l"/>
            <a:r>
              <a:rPr lang="ja-JP" altLang="en-US" sz="1600" dirty="0"/>
              <a:t>攻撃者は時間と労力をかけてメール内容を精巧に作り込み、</a:t>
            </a:r>
          </a:p>
          <a:p>
            <a:pPr algn="l"/>
            <a:r>
              <a:rPr lang="ja-JP" altLang="en-US" sz="1600" dirty="0"/>
              <a:t>その分 ターゲットが引っかかる確率を高める ことを狙います。</a:t>
            </a:r>
          </a:p>
        </p:txBody>
      </p:sp>
      <p:pic>
        <p:nvPicPr>
          <p:cNvPr id="4" name="図形 3"/>
          <p:cNvPicPr>
            <a:picLocks noChangeAspect="1"/>
          </p:cNvPicPr>
          <p:nvPr/>
        </p:nvPicPr>
        <p:blipFill>
          <a:blip r:embed="rId2"/>
          <a:stretch>
            <a:fillRect/>
          </a:stretch>
        </p:blipFill>
        <p:spPr>
          <a:xfrm>
            <a:off x="437406" y="10363198"/>
            <a:ext cx="5977467" cy="1644240"/>
          </a:xfrm>
          <a:prstGeom prst="rect">
            <a:avLst/>
          </a:prstGeom>
        </p:spPr>
      </p:pic>
      <p:pic>
        <p:nvPicPr>
          <p:cNvPr id="5" name="図 4">
            <a:extLst>
              <a:ext uri="{FF2B5EF4-FFF2-40B4-BE49-F238E27FC236}">
                <a16:creationId xmlns:a16="http://schemas.microsoft.com/office/drawing/2014/main" id="{0F053325-2FE2-4A90-8C7C-5E8518F35648}"/>
              </a:ext>
            </a:extLst>
          </p:cNvPr>
          <p:cNvPicPr>
            <a:picLocks noChangeAspect="1"/>
          </p:cNvPicPr>
          <p:nvPr/>
        </p:nvPicPr>
        <p:blipFill>
          <a:blip r:embed="rId3"/>
          <a:stretch>
            <a:fillRect/>
          </a:stretch>
        </p:blipFill>
        <p:spPr>
          <a:xfrm>
            <a:off x="426616" y="47837"/>
            <a:ext cx="5999049" cy="34050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07207"/>
            <a:ext cx="6852285" cy="8298815"/>
          </a:xfrm>
        </p:spPr>
        <p:txBody>
          <a:bodyPr>
            <a:normAutofit fontScale="97500"/>
          </a:bodyPr>
          <a:lstStyle/>
          <a:p>
            <a:pPr algn="l"/>
            <a:r>
              <a:rPr lang="ja-JP" altLang="en-US" sz="1400" dirty="0"/>
              <a:t>電力セクターのサイバーインシデント報告によると、</a:t>
            </a:r>
          </a:p>
          <a:p>
            <a:pPr algn="l"/>
            <a:r>
              <a:rPr lang="ja-JP" altLang="en-US" sz="1400" dirty="0"/>
              <a:t>Conficker（コンフィッカー）ワームが ICS に侵入した事例が複数確認 されています。</a:t>
            </a:r>
          </a:p>
          <a:p>
            <a:pPr algn="l"/>
            <a:r>
              <a:rPr lang="ja-JP" altLang="en-US" sz="1400" dirty="0"/>
              <a:t>Conficker は MS08-067（DCOM/RPC の脆弱性） を悪用するよう設計されたワームで、</a:t>
            </a:r>
          </a:p>
          <a:p>
            <a:pPr algn="l"/>
            <a:r>
              <a:rPr lang="ja-JP" altLang="en-US" sz="1400" dirty="0"/>
              <a:t>プラントの DCS（Distributed Control System）にまで侵入し、</a:t>
            </a:r>
          </a:p>
          <a:p>
            <a:pPr algn="l"/>
            <a:r>
              <a:rPr lang="ja-JP" altLang="en-US" sz="1400" dirty="0"/>
              <a:t>駆除が非常に困難 だったケースも報告されています。</a:t>
            </a:r>
          </a:p>
          <a:p>
            <a:pPr algn="l"/>
            <a:r>
              <a:rPr lang="ja-JP" altLang="en-US" sz="1400" dirty="0"/>
              <a:t>このような感染は、</a:t>
            </a:r>
          </a:p>
          <a:p>
            <a:pPr algn="l"/>
            <a:r>
              <a:rPr lang="ja-JP" altLang="en-US" sz="1400" dirty="0"/>
              <a:t>ICS アーキテクチャの弱さ や</a:t>
            </a:r>
          </a:p>
          <a:p>
            <a:pPr algn="l"/>
            <a:r>
              <a:rPr lang="ja-JP" altLang="en-US" sz="1400" dirty="0"/>
              <a:t>ホスト間の感染経路が存在すること を示しています。</a:t>
            </a:r>
          </a:p>
          <a:p>
            <a:pPr algn="l"/>
            <a:endParaRPr lang="ja-JP" altLang="en-US" sz="1400" dirty="0"/>
          </a:p>
          <a:p>
            <a:pPr algn="l"/>
            <a:r>
              <a:rPr lang="ja-JP" altLang="en-US" sz="1400" dirty="0"/>
              <a:t>ICS におけるマルウェア感染は依然として最大のインシデント要因</a:t>
            </a:r>
          </a:p>
          <a:p>
            <a:pPr algn="l"/>
            <a:r>
              <a:rPr lang="ja-JP" altLang="en-US" sz="1400" dirty="0"/>
              <a:t>ICS 環境では、</a:t>
            </a:r>
          </a:p>
          <a:p>
            <a:pPr algn="l"/>
            <a:r>
              <a:rPr lang="ja-JP" altLang="en-US" sz="1400" dirty="0"/>
              <a:t>マルウェア感染が 最も多いサイバーインシデント原因 であり続けています。</a:t>
            </a:r>
          </a:p>
          <a:p>
            <a:pPr algn="l"/>
            <a:r>
              <a:rPr lang="ja-JP" altLang="en-US" sz="1400" dirty="0"/>
              <a:t>多くの場合、これらの感染は：</a:t>
            </a:r>
          </a:p>
          <a:p>
            <a:pPr algn="l"/>
            <a:r>
              <a:rPr lang="ja-JP" altLang="en-US" sz="1400" dirty="0"/>
              <a:t>- ICS を狙ったものではない</a:t>
            </a:r>
          </a:p>
          <a:p>
            <a:pPr algn="l"/>
            <a:r>
              <a:rPr lang="ja-JP" altLang="en-US" sz="1400" dirty="0"/>
              <a:t>- カスタマイズされた攻撃でもない</a:t>
            </a:r>
          </a:p>
          <a:p>
            <a:pPr algn="l"/>
            <a:r>
              <a:rPr lang="ja-JP" altLang="en-US" sz="1400" dirty="0"/>
              <a:t>- USB ドライブやモバイルノート PC を介して偶然入り込む</a:t>
            </a:r>
          </a:p>
          <a:p>
            <a:pPr algn="l"/>
            <a:r>
              <a:rPr lang="ja-JP" altLang="en-US" sz="1400" dirty="0"/>
              <a:t>といった “非標的型” の感染です。</a:t>
            </a:r>
          </a:p>
          <a:p>
            <a:pPr algn="l"/>
            <a:endParaRPr lang="ja-JP" altLang="en-US" sz="1400" dirty="0"/>
          </a:p>
          <a:p>
            <a:pPr algn="l"/>
            <a:r>
              <a:rPr lang="ja-JP" altLang="en-US" sz="1400" dirty="0"/>
              <a:t>感染が発覚するタイミングの特徴</a:t>
            </a:r>
          </a:p>
          <a:p>
            <a:pPr algn="l"/>
            <a:r>
              <a:rPr lang="ja-JP" altLang="en-US" sz="1400" dirty="0"/>
              <a:t>興味深いのは、</a:t>
            </a:r>
          </a:p>
          <a:p>
            <a:pPr algn="l"/>
            <a:r>
              <a:rPr lang="ja-JP" altLang="en-US" sz="1400" dirty="0"/>
              <a:t>感染が ICS 内部ではなく、外部に出たときに発覚する ことが多い点です。</a:t>
            </a:r>
          </a:p>
          <a:p>
            <a:pPr algn="l"/>
            <a:r>
              <a:rPr lang="ja-JP" altLang="en-US" sz="1400" dirty="0"/>
              <a:t>典型的な流れ：</a:t>
            </a:r>
          </a:p>
          <a:p>
            <a:pPr algn="l"/>
            <a:r>
              <a:rPr lang="ja-JP" altLang="en-US" sz="1400" dirty="0"/>
              <a:t>- USB やノート PC が ICS 内で感染</a:t>
            </a:r>
          </a:p>
          <a:p>
            <a:pPr algn="l"/>
            <a:r>
              <a:rPr lang="ja-JP" altLang="en-US" sz="1400" dirty="0"/>
              <a:t>- そのデバイスが ICS を離れ、企業ネットワークに接続される</a:t>
            </a:r>
          </a:p>
          <a:p>
            <a:pPr algn="l"/>
            <a:r>
              <a:rPr lang="ja-JP" altLang="en-US" sz="1400" dirty="0"/>
              <a:t>- 企業ネットワーク側の 最新ウイルス定義ファイル によって感染が検知される</a:t>
            </a:r>
          </a:p>
          <a:p>
            <a:pPr algn="l"/>
            <a:r>
              <a:rPr lang="ja-JP" altLang="en-US" sz="1400" dirty="0"/>
              <a:t>ICS 内部はネットワーク分離や更新制限のため</a:t>
            </a:r>
          </a:p>
          <a:p>
            <a:pPr algn="l"/>
            <a:r>
              <a:rPr lang="ja-JP" altLang="en-US" sz="1400" dirty="0"/>
              <a:t>アンチウイルスが古いまま のことが多く、</a:t>
            </a:r>
          </a:p>
          <a:p>
            <a:pPr algn="l"/>
            <a:r>
              <a:rPr lang="ja-JP" altLang="en-US" sz="1400" dirty="0"/>
              <a:t>結果として ICS 内では感染が見逃されやすい構造になっています。</a:t>
            </a:r>
          </a:p>
        </p:txBody>
      </p:sp>
      <p:pic>
        <p:nvPicPr>
          <p:cNvPr id="4" name="図 3">
            <a:extLst>
              <a:ext uri="{FF2B5EF4-FFF2-40B4-BE49-F238E27FC236}">
                <a16:creationId xmlns:a16="http://schemas.microsoft.com/office/drawing/2014/main" id="{BADAE0ED-991A-4DE8-A1FD-02D215F4B7E4}"/>
              </a:ext>
            </a:extLst>
          </p:cNvPr>
          <p:cNvPicPr>
            <a:picLocks noChangeAspect="1"/>
          </p:cNvPicPr>
          <p:nvPr/>
        </p:nvPicPr>
        <p:blipFill>
          <a:blip r:embed="rId2"/>
          <a:stretch>
            <a:fillRect/>
          </a:stretch>
        </p:blipFill>
        <p:spPr>
          <a:xfrm>
            <a:off x="423333" y="118533"/>
            <a:ext cx="6011334" cy="34040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 y="3556001"/>
            <a:ext cx="6852285" cy="8551334"/>
          </a:xfrm>
        </p:spPr>
        <p:txBody>
          <a:bodyPr>
            <a:normAutofit/>
          </a:bodyPr>
          <a:lstStyle/>
          <a:p>
            <a:pPr algn="l"/>
            <a:r>
              <a:rPr lang="ja-JP" altLang="en-US" sz="1400" dirty="0"/>
              <a:t>Stuxnet は 2010 年 6 月に発見されたコンピュータウイルスで、</a:t>
            </a:r>
          </a:p>
          <a:p>
            <a:pPr algn="l"/>
            <a:r>
              <a:rPr lang="ja-JP" altLang="en-US" sz="1400" dirty="0"/>
              <a:t>世界中の多くのコンピュータに感染しました。</a:t>
            </a:r>
          </a:p>
          <a:p>
            <a:pPr algn="l"/>
            <a:r>
              <a:rPr lang="ja-JP" altLang="en-US" sz="1400" dirty="0"/>
              <a:t>その後の調査により、Stuxnet は イランの核施設で稼働していた</a:t>
            </a:r>
          </a:p>
          <a:p>
            <a:pPr algn="l"/>
            <a:r>
              <a:rPr lang="ja-JP" altLang="en-US" sz="1400" dirty="0"/>
              <a:t>特定の Siemens システムを標的に設計されていた ことが判明しました。</a:t>
            </a:r>
          </a:p>
          <a:p>
            <a:pPr algn="l"/>
            <a:r>
              <a:rPr lang="ja-JP" altLang="en-US" sz="1400" dirty="0"/>
              <a:t>Stuxnet の動作は次のような流れでした：</a:t>
            </a:r>
          </a:p>
          <a:p>
            <a:pPr algn="l"/>
            <a:r>
              <a:rPr lang="ja-JP" altLang="en-US" sz="1400" dirty="0"/>
              <a:t>- ターゲットシステムに感染する</a:t>
            </a:r>
          </a:p>
          <a:p>
            <a:pPr algn="l"/>
            <a:r>
              <a:rPr lang="ja-JP" altLang="en-US" sz="1400" dirty="0"/>
              <a:t>- システム内に Siemens Step7 ソフトウェア が存在するかを確認する</a:t>
            </a:r>
          </a:p>
          <a:p>
            <a:pPr algn="l"/>
            <a:r>
              <a:rPr lang="ja-JP" altLang="en-US" sz="1400" dirty="0"/>
              <a:t>- Step7 は Siemens の制御機器を設定するためのソフトウェア</a:t>
            </a:r>
          </a:p>
          <a:p>
            <a:pPr algn="l"/>
            <a:r>
              <a:rPr lang="ja-JP" altLang="en-US" sz="1400" dirty="0"/>
              <a:t>- Step7 が見つかった場合、</a:t>
            </a:r>
          </a:p>
          <a:p>
            <a:pPr algn="l"/>
            <a:r>
              <a:rPr lang="ja-JP" altLang="en-US" sz="1400" dirty="0"/>
              <a:t>Step7 プロジェクトファイルを解析し、</a:t>
            </a:r>
          </a:p>
          <a:p>
            <a:pPr algn="l"/>
            <a:r>
              <a:rPr lang="ja-JP" altLang="en-US" sz="1400" dirty="0"/>
              <a:t>そのシステムがイラン核施設のものかどうかを判定する</a:t>
            </a:r>
          </a:p>
          <a:p>
            <a:pPr algn="l"/>
            <a:r>
              <a:rPr lang="ja-JP" altLang="en-US" sz="1400" dirty="0"/>
              <a:t>- もしターゲットと一致すれば、</a:t>
            </a:r>
          </a:p>
          <a:p>
            <a:pPr algn="l"/>
            <a:r>
              <a:rPr lang="ja-JP" altLang="en-US" sz="1400" dirty="0"/>
              <a:t>制御システムを改変し、施設を無力化する動作を実行する</a:t>
            </a:r>
          </a:p>
          <a:p>
            <a:pPr algn="l"/>
            <a:r>
              <a:rPr lang="ja-JP" altLang="en-US" sz="1400" dirty="0"/>
              <a:t>- ターゲットでなければ、</a:t>
            </a:r>
          </a:p>
          <a:p>
            <a:pPr algn="l"/>
            <a:r>
              <a:rPr lang="ja-JP" altLang="en-US" sz="1400" dirty="0"/>
              <a:t>他のシステムへ感染を広げ、標的を探し続ける</a:t>
            </a:r>
          </a:p>
          <a:p>
            <a:pPr algn="l"/>
            <a:r>
              <a:rPr lang="ja-JP" altLang="en-US" sz="1400" dirty="0"/>
              <a:t>つまり Stuxnet は、</a:t>
            </a:r>
          </a:p>
          <a:p>
            <a:pPr algn="l"/>
            <a:r>
              <a:rPr lang="ja-JP" altLang="en-US" sz="1400" dirty="0"/>
              <a:t>「特定の ICS ソフトウェアを探し、さらにそのプロジェクト内容を解析し、</a:t>
            </a:r>
          </a:p>
          <a:p>
            <a:pPr algn="l"/>
            <a:r>
              <a:rPr lang="ja-JP" altLang="en-US" sz="1400" dirty="0"/>
              <a:t>一致した場合のみ破壊的動作を行う」という</a:t>
            </a:r>
          </a:p>
          <a:p>
            <a:pPr algn="l"/>
            <a:r>
              <a:rPr lang="ja-JP" altLang="en-US" sz="1400" dirty="0"/>
              <a:t>極めて高度で精密な標的型マルウェア でした。</a:t>
            </a:r>
          </a:p>
          <a:p>
            <a:pPr algn="l"/>
            <a:endParaRPr lang="ja-JP" altLang="en-US" sz="1400" dirty="0"/>
          </a:p>
          <a:p>
            <a:pPr algn="l"/>
            <a:r>
              <a:rPr lang="ja-JP" altLang="en-US" sz="1400" dirty="0"/>
              <a:t>参考資料</a:t>
            </a:r>
          </a:p>
          <a:p>
            <a:pPr algn="l"/>
            <a:r>
              <a:rPr lang="ja-JP" altLang="en-US" sz="1400" dirty="0"/>
              <a:t>Symantec（現 Broadcom）による詳細な分析レポート：</a:t>
            </a:r>
          </a:p>
          <a:p>
            <a:pPr algn="l"/>
            <a:r>
              <a:rPr lang="ja-JP" altLang="en-US" sz="1400" dirty="0"/>
              <a:t>https://docs.broadcom.com/doc/stuxnet-missing-link-13-en</a:t>
            </a:r>
          </a:p>
        </p:txBody>
      </p:sp>
      <p:pic>
        <p:nvPicPr>
          <p:cNvPr id="4" name="図 3">
            <a:extLst>
              <a:ext uri="{FF2B5EF4-FFF2-40B4-BE49-F238E27FC236}">
                <a16:creationId xmlns:a16="http://schemas.microsoft.com/office/drawing/2014/main" id="{D638BBF4-046C-42BC-9403-E0ABD001A18E}"/>
              </a:ext>
            </a:extLst>
          </p:cNvPr>
          <p:cNvPicPr>
            <a:picLocks noChangeAspect="1"/>
          </p:cNvPicPr>
          <p:nvPr/>
        </p:nvPicPr>
        <p:blipFill>
          <a:blip r:embed="rId2"/>
          <a:stretch>
            <a:fillRect/>
          </a:stretch>
        </p:blipFill>
        <p:spPr>
          <a:xfrm>
            <a:off x="477614" y="84665"/>
            <a:ext cx="5897055" cy="33358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369734"/>
            <a:ext cx="6852285" cy="8771467"/>
          </a:xfrm>
        </p:spPr>
        <p:txBody>
          <a:bodyPr>
            <a:normAutofit/>
          </a:bodyPr>
          <a:lstStyle/>
          <a:p>
            <a:pPr algn="l"/>
            <a:r>
              <a:rPr lang="ja-JP" altLang="en-US" sz="1400" dirty="0"/>
              <a:t>セキュリティ研究者たちは、Stuxnet の複数の異なるバージョンを入手することに成功しました。</a:t>
            </a:r>
          </a:p>
          <a:p>
            <a:pPr algn="l"/>
            <a:r>
              <a:rPr lang="ja-JP" altLang="en-US" sz="1400" dirty="0"/>
              <a:t>これらのバージョンに加え、C&amp;C（Command and Control）サーバの情報や、</a:t>
            </a:r>
          </a:p>
          <a:p>
            <a:pPr algn="l"/>
            <a:r>
              <a:rPr lang="ja-JP" altLang="en-US" sz="1400" dirty="0"/>
              <a:t>各バージョンのリバースエンジニアリング結果を組み合わせることで、</a:t>
            </a:r>
          </a:p>
          <a:p>
            <a:pPr algn="l"/>
            <a:r>
              <a:rPr lang="ja-JP" altLang="en-US" sz="1400" dirty="0"/>
              <a:t>Stuxnet がどのようなタイムラインで開発・展開されたのか を推定できるようになりました。</a:t>
            </a:r>
          </a:p>
          <a:p>
            <a:pPr algn="l"/>
            <a:r>
              <a:rPr lang="ja-JP" altLang="en-US" sz="1400" dirty="0"/>
              <a:t>Stuxnet の計画は、ウイルスが発見されるよりも はるか以前から始まっていた と考えられています。</a:t>
            </a:r>
          </a:p>
          <a:p>
            <a:pPr algn="l"/>
            <a:r>
              <a:rPr lang="ja-JP" altLang="en-US" sz="1400" dirty="0"/>
              <a:t>その根拠として、C&amp;C サーバのドメイン登録が 2005 年 にまで遡ることが挙げられます。</a:t>
            </a:r>
          </a:p>
          <a:p>
            <a:pPr algn="l"/>
            <a:r>
              <a:rPr lang="ja-JP" altLang="en-US" sz="1400" dirty="0"/>
              <a:t>リバースエンジニアリングによって、</a:t>
            </a:r>
          </a:p>
          <a:p>
            <a:pPr algn="l"/>
            <a:r>
              <a:rPr lang="ja-JP" altLang="en-US" sz="1400" dirty="0"/>
              <a:t>バージョン 1.0 のコンパイルタイムスタンプが 2009 年 に存在することが判明しました。</a:t>
            </a:r>
          </a:p>
          <a:p>
            <a:pPr algn="l"/>
            <a:r>
              <a:rPr lang="ja-JP" altLang="en-US" sz="1400" dirty="0"/>
              <a:t>これは、Stuxnet が初めて発見された 2010 年より 1 年も前 です。</a:t>
            </a:r>
          </a:p>
          <a:p>
            <a:pPr algn="l"/>
            <a:r>
              <a:rPr lang="ja-JP" altLang="en-US" sz="1400" dirty="0"/>
              <a:t>さらに驚くべきことに、バージョン 0.5 は 2007 年にすでに存在 していました。</a:t>
            </a:r>
          </a:p>
          <a:p>
            <a:pPr algn="l"/>
            <a:r>
              <a:rPr lang="ja-JP" altLang="en-US" sz="1400" dirty="0"/>
              <a:t>しかし当時、研究者たちはこのウイルスの本当の目的を理解できておらず、</a:t>
            </a:r>
          </a:p>
          <a:p>
            <a:pPr algn="l"/>
            <a:r>
              <a:rPr lang="ja-JP" altLang="en-US" sz="1400" dirty="0"/>
              <a:t>Stuxnet の全貌が明らかになったのは、</a:t>
            </a:r>
          </a:p>
          <a:p>
            <a:pPr algn="l"/>
            <a:r>
              <a:rPr lang="ja-JP" altLang="en-US" sz="1400" dirty="0"/>
              <a:t>2010 年にバージョン 1.1 が再発見されたときでした。</a:t>
            </a:r>
          </a:p>
          <a:p>
            <a:pPr algn="l"/>
            <a:endParaRPr lang="ja-JP" altLang="en-US" sz="1400" dirty="0"/>
          </a:p>
          <a:p>
            <a:pPr algn="l"/>
            <a:r>
              <a:rPr lang="ja-JP" altLang="en-US" sz="1400" dirty="0"/>
              <a:t>Stuxnet の拡散停止機能（タイムアウト）</a:t>
            </a:r>
          </a:p>
          <a:p>
            <a:pPr algn="l"/>
            <a:r>
              <a:rPr lang="ja-JP" altLang="en-US" sz="1400" dirty="0"/>
              <a:t>すべての Stuxnet バージョンには、</a:t>
            </a:r>
          </a:p>
          <a:p>
            <a:pPr algn="l"/>
            <a:r>
              <a:rPr lang="ja-JP" altLang="en-US" sz="1400" dirty="0"/>
              <a:t>自己拡散機能にタイムアウト（期限） が設定されていました。</a:t>
            </a:r>
          </a:p>
          <a:p>
            <a:pPr algn="l"/>
            <a:r>
              <a:rPr lang="ja-JP" altLang="en-US" sz="1400" dirty="0"/>
              <a:t>最新バージョンは、</a:t>
            </a:r>
          </a:p>
          <a:p>
            <a:pPr algn="l"/>
            <a:r>
              <a:rPr lang="ja-JP" altLang="en-US" sz="1400" dirty="0"/>
              <a:t>2012 年 6 月 24 日をもって拡散を停止 するよう設計されていました。</a:t>
            </a:r>
          </a:p>
          <a:p>
            <a:pPr algn="l"/>
            <a:endParaRPr lang="ja-JP" altLang="en-US" sz="1400" dirty="0"/>
          </a:p>
          <a:p>
            <a:pPr algn="l"/>
            <a:endParaRPr lang="ja-JP" altLang="en-US" sz="1400" dirty="0"/>
          </a:p>
        </p:txBody>
      </p:sp>
      <p:pic>
        <p:nvPicPr>
          <p:cNvPr id="4" name="図 3">
            <a:extLst>
              <a:ext uri="{FF2B5EF4-FFF2-40B4-BE49-F238E27FC236}">
                <a16:creationId xmlns:a16="http://schemas.microsoft.com/office/drawing/2014/main" id="{7F462C19-6122-4E62-9978-F79332C5EDAA}"/>
              </a:ext>
            </a:extLst>
          </p:cNvPr>
          <p:cNvPicPr>
            <a:picLocks noChangeAspect="1"/>
          </p:cNvPicPr>
          <p:nvPr/>
        </p:nvPicPr>
        <p:blipFill>
          <a:blip r:embed="rId2"/>
          <a:stretch>
            <a:fillRect/>
          </a:stretch>
        </p:blipFill>
        <p:spPr>
          <a:xfrm>
            <a:off x="649902" y="84665"/>
            <a:ext cx="5558195" cy="31665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32774"/>
            <a:ext cx="3429000" cy="8488292"/>
          </a:xfrm>
        </p:spPr>
        <p:txBody>
          <a:bodyPr>
            <a:normAutofit/>
          </a:bodyPr>
          <a:lstStyle/>
          <a:p>
            <a:pPr algn="l"/>
            <a:r>
              <a:rPr lang="ja-JP" altLang="en-US" sz="1400" dirty="0"/>
              <a:t>State 0（待機 / Wait）</a:t>
            </a:r>
          </a:p>
          <a:p>
            <a:pPr algn="l"/>
            <a:r>
              <a:rPr lang="ja-JP" altLang="en-US" sz="1400" dirty="0"/>
              <a:t>- システムの識別を行う</a:t>
            </a:r>
          </a:p>
          <a:p>
            <a:pPr algn="l"/>
            <a:r>
              <a:rPr lang="ja-JP" altLang="en-US" sz="1400" dirty="0"/>
              <a:t>- 濃縮プロセスが安定状態（steady state）に達するまで待機</a:t>
            </a:r>
          </a:p>
          <a:p>
            <a:pPr algn="l"/>
            <a:r>
              <a:rPr lang="ja-JP" altLang="en-US" sz="1400" dirty="0"/>
              <a:t>- この待機期間は 約 30 日 に及ぶこともある</a:t>
            </a:r>
          </a:p>
          <a:p>
            <a:pPr algn="l"/>
            <a:r>
              <a:rPr lang="ja-JP" altLang="en-US" sz="1400" dirty="0"/>
              <a:t>→ 攻撃を急がず、プロセスが正常稼働しているタイミングを狙う高度な設計</a:t>
            </a:r>
          </a:p>
          <a:p>
            <a:pPr algn="l"/>
            <a:endParaRPr lang="ja-JP" altLang="en-US" sz="1400" dirty="0"/>
          </a:p>
          <a:p>
            <a:pPr algn="l"/>
            <a:r>
              <a:rPr lang="ja-JP" altLang="en-US" sz="1400" dirty="0"/>
              <a:t>State 1（記録 / Record）</a:t>
            </a:r>
          </a:p>
          <a:p>
            <a:pPr algn="l"/>
            <a:r>
              <a:rPr lang="ja-JP" altLang="en-US" sz="1400" dirty="0"/>
              <a:t>- 周辺機器のスナップショットを取得</a:t>
            </a:r>
          </a:p>
          <a:p>
            <a:pPr algn="l"/>
            <a:r>
              <a:rPr lang="ja-JP" altLang="en-US" sz="1400" dirty="0"/>
              <a:t>- 後で再生するための 偽の入力データブロック を作成</a:t>
            </a:r>
          </a:p>
          <a:p>
            <a:pPr algn="l"/>
            <a:r>
              <a:rPr lang="ja-JP" altLang="en-US" sz="1400" dirty="0"/>
              <a:t>→ HMI や PLC に「正常なデータ」を見せ続けるための準備段階</a:t>
            </a:r>
          </a:p>
          <a:p>
            <a:pPr algn="l"/>
            <a:endParaRPr lang="ja-JP" altLang="en-US" sz="1400" dirty="0"/>
          </a:p>
          <a:p>
            <a:pPr algn="l"/>
            <a:r>
              <a:rPr lang="ja-JP" altLang="en-US" sz="1400" dirty="0"/>
              <a:t>State 2（遠心分離機バルブ攻撃 / Attack centrifuge valves）</a:t>
            </a:r>
          </a:p>
          <a:p>
            <a:pPr algn="l"/>
            <a:r>
              <a:rPr lang="ja-JP" altLang="en-US" sz="1400" dirty="0"/>
              <a:t>- 偽の入力信号の再生を開始</a:t>
            </a:r>
          </a:p>
          <a:p>
            <a:pPr algn="l"/>
            <a:r>
              <a:rPr lang="ja-JP" altLang="en-US" sz="1400" dirty="0"/>
              <a:t>- 多くの遠心分離機のバルブを閉じる</a:t>
            </a:r>
          </a:p>
          <a:p>
            <a:pPr algn="l"/>
            <a:r>
              <a:rPr lang="ja-JP" altLang="en-US" sz="1400" dirty="0"/>
              <a:t>→ 物理プロセスを破壊しつつ、オペレーターには異常を見せない</a:t>
            </a:r>
          </a:p>
          <a:p>
            <a:pPr algn="l"/>
            <a:endParaRPr lang="ja-JP" altLang="en-US" sz="1400" dirty="0"/>
          </a:p>
          <a:p>
            <a:pPr algn="l"/>
            <a:r>
              <a:rPr lang="ja-JP" altLang="en-US" sz="1400" dirty="0"/>
              <a:t>State 3（二次圧力読み取り / Secondary pressure reading）</a:t>
            </a:r>
          </a:p>
          <a:p>
            <a:pPr algn="l"/>
            <a:r>
              <a:rPr lang="ja-JP" altLang="en-US" sz="1400" dirty="0"/>
              <a:t>- 最終段階のカスケードにおいて</a:t>
            </a:r>
          </a:p>
          <a:p>
            <a:pPr algn="l"/>
            <a:r>
              <a:rPr lang="ja-JP" altLang="en-US" sz="1400" dirty="0"/>
              <a:t>- 遠心分離機バルブ</a:t>
            </a:r>
          </a:p>
          <a:p>
            <a:pPr algn="l"/>
            <a:r>
              <a:rPr lang="ja-JP" altLang="en-US" sz="1400" dirty="0"/>
              <a:t>- フィードステージバルブ</a:t>
            </a:r>
          </a:p>
          <a:p>
            <a:pPr algn="l"/>
            <a:r>
              <a:rPr lang="ja-JP" altLang="en-US" sz="1400" dirty="0"/>
              <a:t>を同時に開く</a:t>
            </a:r>
          </a:p>
          <a:p>
            <a:pPr algn="l"/>
            <a:r>
              <a:rPr lang="ja-JP" altLang="en-US" sz="1400" dirty="0"/>
              <a:t>- 低圧状態を意図的に作り出す</a:t>
            </a:r>
          </a:p>
          <a:p>
            <a:pPr algn="l"/>
            <a:r>
              <a:rPr lang="ja-JP" altLang="en-US" sz="1400" dirty="0"/>
              <a:t>→ プロセス異常を誘発するための圧力操作</a:t>
            </a:r>
          </a:p>
        </p:txBody>
      </p:sp>
      <p:pic>
        <p:nvPicPr>
          <p:cNvPr id="4" name="図 3">
            <a:extLst>
              <a:ext uri="{FF2B5EF4-FFF2-40B4-BE49-F238E27FC236}">
                <a16:creationId xmlns:a16="http://schemas.microsoft.com/office/drawing/2014/main" id="{EFC324E6-9895-4FCF-A6F4-1545FFBB8DD1}"/>
              </a:ext>
            </a:extLst>
          </p:cNvPr>
          <p:cNvPicPr>
            <a:picLocks noChangeAspect="1"/>
          </p:cNvPicPr>
          <p:nvPr/>
        </p:nvPicPr>
        <p:blipFill>
          <a:blip r:embed="rId2"/>
          <a:stretch>
            <a:fillRect/>
          </a:stretch>
        </p:blipFill>
        <p:spPr>
          <a:xfrm>
            <a:off x="513607" y="50799"/>
            <a:ext cx="5825068" cy="3298532"/>
          </a:xfrm>
          <a:prstGeom prst="rect">
            <a:avLst/>
          </a:prstGeom>
        </p:spPr>
      </p:pic>
      <p:sp>
        <p:nvSpPr>
          <p:cNvPr id="5" name="サブタイトル 2">
            <a:extLst>
              <a:ext uri="{FF2B5EF4-FFF2-40B4-BE49-F238E27FC236}">
                <a16:creationId xmlns:a16="http://schemas.microsoft.com/office/drawing/2014/main" id="{FDD4CA08-C2EA-43FE-9AF7-A228A7B2EC5C}"/>
              </a:ext>
            </a:extLst>
          </p:cNvPr>
          <p:cNvSpPr txBox="1">
            <a:spLocks/>
          </p:cNvSpPr>
          <p:nvPr/>
        </p:nvSpPr>
        <p:spPr>
          <a:xfrm>
            <a:off x="3426141" y="3432774"/>
            <a:ext cx="3429001" cy="713362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State 4（圧力変化待ち / Wait for pressure change）</a:t>
            </a:r>
          </a:p>
          <a:p>
            <a:pPr algn="l"/>
            <a:r>
              <a:rPr lang="ja-JP" altLang="en-US" sz="1400" dirty="0"/>
              <a:t>- 望ましい圧力変化が起きるまで待機</a:t>
            </a:r>
          </a:p>
          <a:p>
            <a:pPr algn="l"/>
            <a:r>
              <a:rPr lang="ja-JP" altLang="en-US" sz="1400" dirty="0"/>
              <a:t>- またはタイムアウトまで待つ</a:t>
            </a:r>
          </a:p>
          <a:p>
            <a:pPr algn="l"/>
            <a:r>
              <a:rPr lang="ja-JP" altLang="en-US" sz="1400" dirty="0"/>
              <a:t>- 最大 約 2 時間</a:t>
            </a:r>
          </a:p>
          <a:p>
            <a:pPr algn="l"/>
            <a:r>
              <a:rPr lang="ja-JP" altLang="en-US" sz="1400" dirty="0"/>
              <a:t>→ プロセスの物理挙動を利用した精密な攻撃</a:t>
            </a:r>
          </a:p>
          <a:p>
            <a:pPr algn="l"/>
            <a:endParaRPr lang="ja-JP" altLang="en-US" sz="1400" dirty="0"/>
          </a:p>
          <a:p>
            <a:pPr algn="l"/>
            <a:r>
              <a:rPr lang="ja-JP" altLang="en-US" sz="1400" dirty="0"/>
              <a:t>State 5（補助バルブ攻撃 / Attack auxiliary valves）</a:t>
            </a:r>
          </a:p>
          <a:p>
            <a:pPr algn="l"/>
            <a:r>
              <a:rPr lang="ja-JP" altLang="en-US" sz="1400" dirty="0"/>
              <a:t>- 第 1 フィードステージ（ステージ 10）付近と推定されるバルブを除き</a:t>
            </a:r>
          </a:p>
          <a:p>
            <a:pPr algn="l"/>
            <a:r>
              <a:rPr lang="ja-JP" altLang="en-US" sz="1400" dirty="0"/>
              <a:t>すべての補助バルブを開く</a:t>
            </a:r>
          </a:p>
          <a:p>
            <a:pPr algn="l"/>
            <a:r>
              <a:rPr lang="ja-JP" altLang="en-US" sz="1400" dirty="0"/>
              <a:t>- この状態を 3 分間維持</a:t>
            </a:r>
          </a:p>
          <a:p>
            <a:pPr algn="l"/>
            <a:r>
              <a:rPr lang="ja-JP" altLang="en-US" sz="1400" dirty="0"/>
              <a:t>→ プロセスのさらなる不安定化を狙う</a:t>
            </a:r>
          </a:p>
          <a:p>
            <a:pPr algn="l"/>
            <a:endParaRPr lang="ja-JP" altLang="en-US" sz="1400" dirty="0"/>
          </a:p>
          <a:p>
            <a:pPr algn="l"/>
            <a:r>
              <a:rPr lang="ja-JP" altLang="en-US" sz="1400" dirty="0"/>
              <a:t>State 6（攻撃完了待ち / Wait for attack completion）</a:t>
            </a:r>
          </a:p>
          <a:p>
            <a:pPr algn="l"/>
            <a:r>
              <a:rPr lang="ja-JP" altLang="en-US" sz="1400" dirty="0"/>
              <a:t>- 6 分間、状態変化を防ぎつつ待機</a:t>
            </a:r>
          </a:p>
          <a:p>
            <a:pPr algn="l"/>
            <a:r>
              <a:rPr lang="ja-JP" altLang="en-US" sz="1400" dirty="0"/>
              <a:t>→ 攻撃の影響が確実にプロセスへ反映されるようにする</a:t>
            </a:r>
          </a:p>
          <a:p>
            <a:pPr algn="l"/>
            <a:endParaRPr lang="ja-JP" altLang="en-US" sz="1400" dirty="0"/>
          </a:p>
          <a:p>
            <a:pPr algn="l"/>
            <a:r>
              <a:rPr lang="ja-JP" altLang="en-US" sz="1400" dirty="0"/>
              <a:t>State 7（終了 / Finish）</a:t>
            </a:r>
          </a:p>
          <a:p>
            <a:pPr algn="l"/>
            <a:r>
              <a:rPr lang="ja-JP" altLang="en-US" sz="1400" dirty="0"/>
              <a:t>- 状態をリセット</a:t>
            </a:r>
          </a:p>
          <a:p>
            <a:pPr algn="l"/>
            <a:r>
              <a:rPr lang="ja-JP" altLang="en-US" sz="1400" dirty="0"/>
              <a:t>- State 0 に戻る</a:t>
            </a:r>
          </a:p>
          <a:p>
            <a:pPr algn="l"/>
            <a:r>
              <a:rPr lang="ja-JP" altLang="en-US" sz="1400" dirty="0"/>
              <a:t>→ 攻撃サイクルを繰り返す準備に入る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145829"/>
            <a:ext cx="6852285" cy="8873068"/>
          </a:xfrm>
        </p:spPr>
        <p:txBody>
          <a:bodyPr>
            <a:normAutofit/>
          </a:bodyPr>
          <a:lstStyle/>
          <a:p>
            <a:pPr algn="l"/>
            <a:r>
              <a:rPr lang="ja-JP" altLang="en-US" sz="1400" dirty="0"/>
              <a:t>Stuxnet の 0.5 バージョン では、</a:t>
            </a:r>
          </a:p>
          <a:p>
            <a:pPr algn="l"/>
            <a:r>
              <a:rPr lang="ja-JP" altLang="en-US" sz="1400" dirty="0"/>
              <a:t>Insecure Library Loading（安全でないライブラリ読み込み）脆弱性 を悪用し、</a:t>
            </a:r>
          </a:p>
          <a:p>
            <a:pPr algn="l"/>
            <a:r>
              <a:rPr lang="ja-JP" altLang="en-US" sz="1400" dirty="0"/>
              <a:t>Siemens Step7 の プロジェクトファイルそのものに感染 する能力を持っていました。</a:t>
            </a:r>
          </a:p>
          <a:p>
            <a:pPr algn="l"/>
            <a:r>
              <a:rPr lang="ja-JP" altLang="en-US" sz="1400" dirty="0"/>
              <a:t>これは、Step7 のプロジェクトを開いたエンジニアの PC や</a:t>
            </a:r>
          </a:p>
          <a:p>
            <a:pPr algn="l"/>
            <a:r>
              <a:rPr lang="ja-JP" altLang="en-US" sz="1400" dirty="0"/>
              <a:t>PLC に関わる構成ファイルへ感染を広げるための、</a:t>
            </a:r>
          </a:p>
          <a:p>
            <a:pPr algn="l"/>
            <a:r>
              <a:rPr lang="ja-JP" altLang="en-US" sz="1400" dirty="0"/>
              <a:t>非常に ICS 特化型の攻撃手法でした。</a:t>
            </a:r>
          </a:p>
          <a:p>
            <a:pPr algn="l"/>
            <a:r>
              <a:rPr lang="ja-JP" altLang="en-US" sz="1400" dirty="0"/>
              <a:t>その後のバージョンでは、</a:t>
            </a:r>
          </a:p>
          <a:p>
            <a:pPr algn="l"/>
            <a:r>
              <a:rPr lang="ja-JP" altLang="en-US" sz="1400" dirty="0"/>
              <a:t>Microsoft Windows の脆弱性を利用した拡散能力が強化 されていきます。</a:t>
            </a:r>
          </a:p>
          <a:p>
            <a:pPr algn="l"/>
            <a:r>
              <a:rPr lang="ja-JP" altLang="en-US" sz="1400" dirty="0"/>
              <a:t>表に示されているように、後期バージョンでは：</a:t>
            </a:r>
          </a:p>
          <a:p>
            <a:pPr algn="l"/>
            <a:r>
              <a:rPr lang="ja-JP" altLang="en-US" sz="1400" dirty="0"/>
              <a:t>- Windows のゼロデイ脆弱性</a:t>
            </a:r>
          </a:p>
          <a:p>
            <a:pPr algn="l"/>
            <a:r>
              <a:rPr lang="ja-JP" altLang="en-US" sz="1400" dirty="0"/>
              <a:t>- LNK 脆弱性</a:t>
            </a:r>
          </a:p>
          <a:p>
            <a:pPr algn="l"/>
            <a:r>
              <a:rPr lang="ja-JP" altLang="en-US" sz="1400" dirty="0"/>
              <a:t>- Print Spooler 脆弱性</a:t>
            </a:r>
          </a:p>
          <a:p>
            <a:pPr algn="l"/>
            <a:r>
              <a:rPr lang="ja-JP" altLang="en-US" sz="1400" dirty="0"/>
              <a:t>- SMB 関連の脆弱性</a:t>
            </a:r>
          </a:p>
          <a:p>
            <a:pPr algn="l"/>
            <a:r>
              <a:rPr lang="ja-JP" altLang="en-US" sz="1400" dirty="0"/>
              <a:t>などを利用して、</a:t>
            </a:r>
          </a:p>
          <a:p>
            <a:pPr algn="l"/>
            <a:r>
              <a:rPr lang="ja-JP" altLang="en-US" sz="1400" dirty="0"/>
              <a:t>より広範囲に、より高速に、より自動的に拡散できるよう進化 しました。</a:t>
            </a:r>
          </a:p>
          <a:p>
            <a:pPr algn="l"/>
            <a:endParaRPr lang="ja-JP" altLang="en-US" sz="1400" dirty="0"/>
          </a:p>
          <a:p>
            <a:pPr algn="l"/>
            <a:r>
              <a:rPr lang="ja-JP" altLang="en-US" sz="1400" dirty="0"/>
              <a:t>まとめ</a:t>
            </a:r>
          </a:p>
          <a:p>
            <a:pPr algn="l"/>
            <a:r>
              <a:rPr lang="ja-JP" altLang="en-US" sz="1400" dirty="0"/>
              <a:t>- 0.5：ICS 特化型（Step7 プロジェクト感染）</a:t>
            </a:r>
          </a:p>
          <a:p>
            <a:pPr algn="l"/>
            <a:r>
              <a:rPr lang="ja-JP" altLang="en-US" sz="1400" dirty="0"/>
              <a:t>- 1.x：Windows 脆弱性を利用した大規模拡散能力を追加</a:t>
            </a:r>
          </a:p>
          <a:p>
            <a:pPr algn="l"/>
            <a:r>
              <a:rPr lang="ja-JP" altLang="en-US" sz="1400" dirty="0"/>
              <a:t>Stuxnet は、初期は ICS に特化した静かな攻撃だったものが、</a:t>
            </a:r>
          </a:p>
          <a:p>
            <a:pPr algn="l"/>
            <a:r>
              <a:rPr lang="ja-JP" altLang="en-US" sz="1400" dirty="0"/>
              <a:t>後期バージョンでは IT → OT へ広範囲に感染を広げるワーム型 に進化したと言えます。</a:t>
            </a:r>
          </a:p>
        </p:txBody>
      </p:sp>
      <p:pic>
        <p:nvPicPr>
          <p:cNvPr id="4" name="図 3">
            <a:extLst>
              <a:ext uri="{FF2B5EF4-FFF2-40B4-BE49-F238E27FC236}">
                <a16:creationId xmlns:a16="http://schemas.microsoft.com/office/drawing/2014/main" id="{DCE0BEB6-F921-4A4C-A32D-497401E7022E}"/>
              </a:ext>
            </a:extLst>
          </p:cNvPr>
          <p:cNvPicPr>
            <a:picLocks noChangeAspect="1"/>
          </p:cNvPicPr>
          <p:nvPr/>
        </p:nvPicPr>
        <p:blipFill>
          <a:blip r:embed="rId2"/>
          <a:stretch>
            <a:fillRect/>
          </a:stretch>
        </p:blipFill>
        <p:spPr>
          <a:xfrm>
            <a:off x="804333" y="84665"/>
            <a:ext cx="5249333" cy="29764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20531"/>
            <a:ext cx="6852285" cy="8632254"/>
          </a:xfrm>
        </p:spPr>
        <p:txBody>
          <a:bodyPr>
            <a:normAutofit fontScale="97500" lnSpcReduction="10000"/>
          </a:bodyPr>
          <a:lstStyle/>
          <a:p>
            <a:pPr algn="l"/>
            <a:r>
              <a:rPr lang="ja-JP" altLang="en-US" sz="1400" dirty="0"/>
              <a:t>Stuxnet は、システムからシステムへ 自己複製（拡散） するために</a:t>
            </a:r>
          </a:p>
          <a:p>
            <a:pPr algn="l"/>
            <a:r>
              <a:rPr lang="ja-JP" altLang="en-US" sz="1400" dirty="0"/>
              <a:t>複数の手法を組み合わせていました。</a:t>
            </a:r>
          </a:p>
          <a:p>
            <a:pPr algn="l"/>
            <a:r>
              <a:rPr lang="ja-JP" altLang="en-US" sz="1400" dirty="0"/>
              <a:t>最初の感染は USB ドライブ経由 で行われたと考えられています。</a:t>
            </a:r>
          </a:p>
          <a:p>
            <a:pPr algn="l"/>
            <a:r>
              <a:rPr lang="ja-JP" altLang="en-US" sz="1400" dirty="0"/>
              <a:t>初期感染が成立すると、Stuxnet は次のような手段で</a:t>
            </a:r>
          </a:p>
          <a:p>
            <a:pPr algn="l"/>
            <a:r>
              <a:rPr lang="ja-JP" altLang="en-US" sz="1400" dirty="0"/>
              <a:t>さらに他のシステムへ拡散しようとしました：</a:t>
            </a:r>
          </a:p>
          <a:p>
            <a:pPr algn="l"/>
            <a:r>
              <a:rPr lang="ja-JP" altLang="en-US" sz="1400" dirty="0"/>
              <a:t>- USB ドライブ（新たに挿入された USB に自動感染）</a:t>
            </a:r>
          </a:p>
          <a:p>
            <a:pPr algn="l"/>
            <a:r>
              <a:rPr lang="ja-JP" altLang="en-US" sz="1400" dirty="0"/>
              <a:t>- ファイル共有（SMB）</a:t>
            </a:r>
          </a:p>
          <a:p>
            <a:pPr algn="l"/>
            <a:r>
              <a:rPr lang="ja-JP" altLang="en-US" sz="1400" dirty="0"/>
              <a:t>- Windows RPC サービス</a:t>
            </a:r>
          </a:p>
          <a:p>
            <a:pPr algn="l"/>
            <a:r>
              <a:rPr lang="ja-JP" altLang="en-US" sz="1400" dirty="0"/>
              <a:t>- Print Spooler（印刷スプーラー）サービス</a:t>
            </a:r>
          </a:p>
          <a:p>
            <a:pPr algn="l"/>
            <a:r>
              <a:rPr lang="ja-JP" altLang="en-US" sz="1400" dirty="0"/>
              <a:t>- Siemens SIMATIC WinCC Web サーバ</a:t>
            </a:r>
          </a:p>
          <a:p>
            <a:pPr algn="l"/>
            <a:r>
              <a:rPr lang="ja-JP" altLang="en-US" sz="1400" dirty="0"/>
              <a:t>- ピアツーピア（P2P）通信</a:t>
            </a:r>
          </a:p>
          <a:p>
            <a:pPr algn="l"/>
            <a:r>
              <a:rPr lang="ja-JP" altLang="en-US" sz="1400" dirty="0"/>
              <a:t>これらは、IT と OT の境界を越えて感染を広げるための</a:t>
            </a:r>
          </a:p>
          <a:p>
            <a:pPr algn="l"/>
            <a:r>
              <a:rPr lang="ja-JP" altLang="en-US" sz="1400" dirty="0"/>
              <a:t>非常に多層的な拡散手法でした。</a:t>
            </a:r>
          </a:p>
          <a:p>
            <a:pPr algn="l"/>
            <a:endParaRPr lang="ja-JP" altLang="en-US" sz="1400" dirty="0"/>
          </a:p>
          <a:p>
            <a:pPr algn="l"/>
            <a:r>
              <a:rPr lang="ja-JP" altLang="en-US" sz="1400" dirty="0"/>
              <a:t>バージョンごとに設定された「拡散期限」</a:t>
            </a:r>
          </a:p>
          <a:p>
            <a:pPr algn="l"/>
            <a:r>
              <a:rPr lang="ja-JP" altLang="en-US" sz="1400" dirty="0"/>
              <a:t>Stuxnet には、自己拡散を続ける期間に ハードコードされた期限（replication deadline） がありました。</a:t>
            </a:r>
          </a:p>
          <a:p>
            <a:pPr algn="l"/>
            <a:r>
              <a:rPr lang="ja-JP" altLang="en-US" sz="1400" dirty="0"/>
              <a:t>- 一部のバージョンは 2009 年 に拡散を停止</a:t>
            </a:r>
          </a:p>
          <a:p>
            <a:pPr algn="l"/>
            <a:r>
              <a:rPr lang="ja-JP" altLang="en-US" sz="1400" dirty="0"/>
              <a:t>- 後期バージョンは 2012 年 に拡散を停止</a:t>
            </a:r>
          </a:p>
          <a:p>
            <a:pPr algn="l"/>
            <a:r>
              <a:rPr lang="ja-JP" altLang="en-US" sz="1400" dirty="0"/>
              <a:t>これは、Stuxnet が無制限に広がり続けることを防ぎ、</a:t>
            </a:r>
          </a:p>
          <a:p>
            <a:pPr algn="l"/>
            <a:r>
              <a:rPr lang="ja-JP" altLang="en-US" sz="1400" dirty="0"/>
              <a:t>特定の期間だけ活動するよう設計されていたことを示しています。</a:t>
            </a:r>
          </a:p>
          <a:p>
            <a:pPr algn="l"/>
            <a:endParaRPr lang="ja-JP" altLang="en-US" sz="1400" dirty="0"/>
          </a:p>
          <a:p>
            <a:pPr algn="l"/>
            <a:r>
              <a:rPr lang="ja-JP" altLang="en-US" sz="1400" dirty="0"/>
              <a:t>まとめ</a:t>
            </a:r>
          </a:p>
          <a:p>
            <a:pPr algn="l"/>
            <a:r>
              <a:rPr lang="ja-JP" altLang="en-US" sz="1400" dirty="0"/>
              <a:t>Stuxnet の拡散戦略は：</a:t>
            </a:r>
          </a:p>
          <a:p>
            <a:pPr algn="l"/>
            <a:r>
              <a:rPr lang="ja-JP" altLang="en-US" sz="1400" dirty="0"/>
              <a:t>- USB → 初期感染</a:t>
            </a:r>
          </a:p>
          <a:p>
            <a:pPr algn="l"/>
            <a:r>
              <a:rPr lang="ja-JP" altLang="en-US" sz="1400" dirty="0"/>
              <a:t>- Windows の複数プロトコル → 横展開</a:t>
            </a:r>
          </a:p>
          <a:p>
            <a:pPr algn="l"/>
            <a:r>
              <a:rPr lang="ja-JP" altLang="en-US" sz="1400" dirty="0"/>
              <a:t>- ICS 特有の WinCC → OT への侵入</a:t>
            </a:r>
          </a:p>
          <a:p>
            <a:pPr algn="l"/>
            <a:r>
              <a:rPr lang="ja-JP" altLang="en-US" sz="1400" dirty="0"/>
              <a:t>- P2P → ネットワーク分離環境でも感染継続</a:t>
            </a:r>
          </a:p>
          <a:p>
            <a:pPr algn="l"/>
            <a:r>
              <a:rPr lang="ja-JP" altLang="en-US" sz="1400" dirty="0"/>
              <a:t>- 拡散期限 → 制御された活動期間</a:t>
            </a:r>
          </a:p>
          <a:p>
            <a:pPr algn="l"/>
            <a:r>
              <a:rPr lang="ja-JP" altLang="en-US" sz="1400" dirty="0"/>
              <a:t>という、極めて高度で計画的な構造を持っていました。</a:t>
            </a:r>
          </a:p>
        </p:txBody>
      </p:sp>
      <p:pic>
        <p:nvPicPr>
          <p:cNvPr id="4" name="図 3">
            <a:extLst>
              <a:ext uri="{FF2B5EF4-FFF2-40B4-BE49-F238E27FC236}">
                <a16:creationId xmlns:a16="http://schemas.microsoft.com/office/drawing/2014/main" id="{C3FB1037-0A77-44F4-9F16-C66CF6725DB5}"/>
              </a:ext>
            </a:extLst>
          </p:cNvPr>
          <p:cNvPicPr>
            <a:picLocks noChangeAspect="1"/>
          </p:cNvPicPr>
          <p:nvPr/>
        </p:nvPicPr>
        <p:blipFill>
          <a:blip r:embed="rId2"/>
          <a:stretch>
            <a:fillRect/>
          </a:stretch>
        </p:blipFill>
        <p:spPr>
          <a:xfrm>
            <a:off x="543013" y="67732"/>
            <a:ext cx="5766258" cy="32850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420533"/>
            <a:ext cx="6852285" cy="8771467"/>
          </a:xfrm>
        </p:spPr>
        <p:txBody>
          <a:bodyPr>
            <a:normAutofit fontScale="92500" lnSpcReduction="10000"/>
          </a:bodyPr>
          <a:lstStyle/>
          <a:p>
            <a:pPr algn="l"/>
            <a:r>
              <a:rPr lang="ja-JP" altLang="en-US" sz="1400" dirty="0"/>
              <a:t>2014 年、世界は ICS を標的とした複数の攻撃キャンペーンの存在を認識するようになりました。</a:t>
            </a:r>
          </a:p>
          <a:p>
            <a:pPr algn="l"/>
            <a:r>
              <a:rPr lang="ja-JP" altLang="en-US" sz="1400" dirty="0"/>
              <a:t>特に有名なのが Havex と BlackEnergy2（BE2） です。</a:t>
            </a:r>
          </a:p>
          <a:p>
            <a:pPr algn="l"/>
            <a:r>
              <a:rPr lang="ja-JP" altLang="en-US" sz="1400" dirty="0"/>
              <a:t>Havex では OPC 関連モジュール が使われていたことから、</a:t>
            </a:r>
          </a:p>
          <a:p>
            <a:pPr algn="l"/>
            <a:r>
              <a:rPr lang="ja-JP" altLang="en-US" sz="1400" dirty="0"/>
              <a:t>このマルウェアが ICS を狙っていたことが明らかになりました。</a:t>
            </a:r>
          </a:p>
          <a:p>
            <a:pPr algn="l"/>
            <a:r>
              <a:rPr lang="ja-JP" altLang="en-US" sz="1400" dirty="0"/>
              <a:t>Havex と BE2 の両方に共通するのは、</a:t>
            </a:r>
          </a:p>
          <a:p>
            <a:pPr algn="l"/>
            <a:r>
              <a:rPr lang="ja-JP" altLang="en-US" sz="1400" dirty="0"/>
              <a:t>ICS のサプライチェーンに対する信頼 や</a:t>
            </a:r>
          </a:p>
          <a:p>
            <a:pPr algn="l"/>
            <a:r>
              <a:rPr lang="ja-JP" altLang="en-US" sz="1400" dirty="0"/>
              <a:t>現場の作業習慣（work habits） を悪用して成功していた点です。</a:t>
            </a:r>
          </a:p>
          <a:p>
            <a:pPr algn="l"/>
            <a:r>
              <a:rPr lang="ja-JP" altLang="en-US" sz="1400" dirty="0"/>
              <a:t>さらに BE2 は、</a:t>
            </a:r>
          </a:p>
          <a:p>
            <a:pPr algn="l"/>
            <a:r>
              <a:rPr lang="ja-JP" altLang="en-US" sz="1400" dirty="0"/>
              <a:t>インターネットに直接公開されていた ICS コンポーネントを攻撃 することにも成功しました。</a:t>
            </a:r>
          </a:p>
          <a:p>
            <a:pPr algn="l"/>
            <a:endParaRPr lang="ja-JP" altLang="en-US" sz="1400" dirty="0"/>
          </a:p>
          <a:p>
            <a:pPr algn="l"/>
            <a:r>
              <a:rPr lang="ja-JP" altLang="en-US" sz="1400" dirty="0"/>
              <a:t>攻撃経路を理解することが防御の第一歩</a:t>
            </a:r>
          </a:p>
          <a:p>
            <a:pPr algn="l"/>
            <a:r>
              <a:rPr lang="ja-JP" altLang="en-US" sz="1400" dirty="0"/>
              <a:t>どの攻撃経路が ICS を攻撃にさらしているのかを理解できれば、</a:t>
            </a:r>
          </a:p>
          <a:p>
            <a:pPr algn="l"/>
            <a:r>
              <a:rPr lang="ja-JP" altLang="en-US" sz="1400" dirty="0"/>
              <a:t>防御側は 優先順位をつけて対策 を進めることができます。</a:t>
            </a:r>
          </a:p>
          <a:p>
            <a:pPr algn="l"/>
            <a:r>
              <a:rPr lang="ja-JP" altLang="en-US" sz="1400" dirty="0"/>
              <a:t>組織内の 悪用可能な脆弱性を管理し、攻撃経路を減らす ことで、</a:t>
            </a:r>
          </a:p>
          <a:p>
            <a:pPr algn="l"/>
            <a:r>
              <a:rPr lang="ja-JP" altLang="en-US" sz="1400" dirty="0"/>
              <a:t>全体的なリスクを大幅に下げることができます。</a:t>
            </a:r>
          </a:p>
          <a:p>
            <a:pPr algn="l"/>
            <a:r>
              <a:rPr lang="ja-JP" altLang="en-US" sz="1400" dirty="0"/>
              <a:t>攻撃者が利用できる「安価な攻撃手段」が減れば減るほど、</a:t>
            </a:r>
          </a:p>
          <a:p>
            <a:pPr algn="l"/>
            <a:r>
              <a:rPr lang="ja-JP" altLang="en-US" sz="1400" dirty="0"/>
              <a:t>防御側が有利になる という考え方です。</a:t>
            </a:r>
          </a:p>
          <a:p>
            <a:pPr algn="l"/>
            <a:endParaRPr lang="ja-JP" altLang="en-US" sz="1400" dirty="0"/>
          </a:p>
          <a:p>
            <a:pPr algn="l"/>
            <a:r>
              <a:rPr lang="ja-JP" altLang="en-US" sz="1400" dirty="0"/>
              <a:t>重要なポイント</a:t>
            </a:r>
          </a:p>
          <a:p>
            <a:pPr algn="l"/>
            <a:r>
              <a:rPr lang="ja-JP" altLang="en-US" sz="1400" dirty="0"/>
              <a:t>- ICS のサイバーインシデントの大半は、依然として 非標的型マルウェア が原因</a:t>
            </a:r>
          </a:p>
          <a:p>
            <a:pPr algn="l"/>
            <a:r>
              <a:rPr lang="ja-JP" altLang="en-US" sz="1400" dirty="0"/>
              <a:t>- しかし、標的型 ICS 攻撃 が登場し始めている</a:t>
            </a:r>
          </a:p>
          <a:p>
            <a:pPr algn="l"/>
            <a:r>
              <a:rPr lang="ja-JP" altLang="en-US" sz="1400" dirty="0"/>
              <a:t>- ICS 専用にカスタマイズされた 独自のエクスプロイトや機能 が使われるようになった</a:t>
            </a:r>
          </a:p>
          <a:p>
            <a:pPr algn="l"/>
            <a:r>
              <a:rPr lang="ja-JP" altLang="en-US" sz="1400" dirty="0"/>
              <a:t>- ICS ネットワークには 分断の不備（segmentation gaps） が残っている</a:t>
            </a:r>
          </a:p>
          <a:p>
            <a:pPr algn="l"/>
            <a:r>
              <a:rPr lang="ja-JP" altLang="en-US" sz="1400" dirty="0"/>
              <a:t>- 攻撃者は 信頼された ICS 関係性（trusted relationships） を狙う傾向が強い</a:t>
            </a:r>
          </a:p>
          <a:p>
            <a:pPr algn="l"/>
            <a:endParaRPr lang="ja-JP" altLang="en-US" sz="1400" dirty="0"/>
          </a:p>
          <a:p>
            <a:pPr algn="l"/>
            <a:r>
              <a:rPr lang="ja-JP" altLang="en-US" sz="1400" dirty="0"/>
              <a:t>ICS セキュリティの時代は変わった</a:t>
            </a:r>
          </a:p>
          <a:p>
            <a:pPr algn="l"/>
            <a:r>
              <a:rPr lang="ja-JP" altLang="en-US" sz="1400" dirty="0"/>
              <a:t>多くの専門家は、</a:t>
            </a:r>
          </a:p>
          <a:p>
            <a:pPr algn="l"/>
            <a:r>
              <a:rPr lang="ja-JP" altLang="en-US" sz="1400" dirty="0"/>
              <a:t>Stuxnet、Havex、BE2 の登場によって、</a:t>
            </a:r>
          </a:p>
          <a:p>
            <a:pPr algn="l"/>
            <a:r>
              <a:rPr lang="ja-JP" altLang="en-US" sz="1400" dirty="0"/>
              <a:t>ICS は「偶発的感染や内部不正の時代」から</a:t>
            </a:r>
          </a:p>
          <a:p>
            <a:pPr algn="l"/>
            <a:r>
              <a:rPr lang="ja-JP" altLang="en-US" sz="1400" dirty="0"/>
              <a:t>「標的型・ICS 特化型攻撃の時代」へ移行した</a:t>
            </a:r>
          </a:p>
          <a:p>
            <a:pPr algn="l"/>
            <a:r>
              <a:rPr lang="ja-JP" altLang="en-US" sz="1400" dirty="0"/>
              <a:t>と考えています。</a:t>
            </a:r>
          </a:p>
          <a:p>
            <a:pPr algn="l"/>
            <a:r>
              <a:rPr lang="ja-JP" altLang="en-US" sz="1400" dirty="0"/>
              <a:t>これは ICS/OT セキュリティにおける大きな転換点であり、</a:t>
            </a:r>
          </a:p>
          <a:p>
            <a:pPr algn="l"/>
            <a:r>
              <a:rPr lang="ja-JP" altLang="en-US" sz="1400" dirty="0"/>
              <a:t>以降の攻撃（Industroyer、Triton など）につながる流れの始まりでもあります。</a:t>
            </a:r>
          </a:p>
        </p:txBody>
      </p:sp>
      <p:pic>
        <p:nvPicPr>
          <p:cNvPr id="4" name="図 3">
            <a:extLst>
              <a:ext uri="{FF2B5EF4-FFF2-40B4-BE49-F238E27FC236}">
                <a16:creationId xmlns:a16="http://schemas.microsoft.com/office/drawing/2014/main" id="{FA14BE1B-8994-4372-814F-6F36450CEC41}"/>
              </a:ext>
            </a:extLst>
          </p:cNvPr>
          <p:cNvPicPr>
            <a:picLocks noChangeAspect="1"/>
          </p:cNvPicPr>
          <p:nvPr/>
        </p:nvPicPr>
        <p:blipFill>
          <a:blip r:embed="rId2"/>
          <a:stretch>
            <a:fillRect/>
          </a:stretch>
        </p:blipFill>
        <p:spPr>
          <a:xfrm>
            <a:off x="597747" y="67732"/>
            <a:ext cx="5662505" cy="321733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D662111-3592-406E-A7D9-A5B9D7A1CBA2}"/>
              </a:ext>
            </a:extLst>
          </p:cNvPr>
          <p:cNvPicPr>
            <a:picLocks noChangeAspect="1"/>
          </p:cNvPicPr>
          <p:nvPr/>
        </p:nvPicPr>
        <p:blipFill>
          <a:blip r:embed="rId2"/>
          <a:stretch>
            <a:fillRect/>
          </a:stretch>
        </p:blipFill>
        <p:spPr>
          <a:xfrm>
            <a:off x="-1" y="-1"/>
            <a:ext cx="6857079" cy="387773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4DF566BB-B8C8-4F73-AEF0-5564808A2B87}"/>
              </a:ext>
            </a:extLst>
          </p:cNvPr>
          <p:cNvPicPr>
            <a:picLocks noChangeAspect="1"/>
          </p:cNvPicPr>
          <p:nvPr/>
        </p:nvPicPr>
        <p:blipFill>
          <a:blip r:embed="rId2"/>
          <a:stretch>
            <a:fillRect/>
          </a:stretch>
        </p:blipFill>
        <p:spPr>
          <a:xfrm>
            <a:off x="0" y="-1"/>
            <a:ext cx="6831762" cy="38777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4184491D-29D0-46FA-82F2-AFD9C449FBD4}"/>
              </a:ext>
            </a:extLst>
          </p:cNvPr>
          <p:cNvPicPr>
            <a:picLocks noChangeAspect="1"/>
          </p:cNvPicPr>
          <p:nvPr/>
        </p:nvPicPr>
        <p:blipFill>
          <a:blip r:embed="rId2"/>
          <a:stretch>
            <a:fillRect/>
          </a:stretch>
        </p:blipFill>
        <p:spPr>
          <a:xfrm>
            <a:off x="0" y="0"/>
            <a:ext cx="6815686" cy="38777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20532"/>
            <a:ext cx="6852285" cy="8703736"/>
          </a:xfrm>
        </p:spPr>
        <p:txBody>
          <a:bodyPr>
            <a:normAutofit fontScale="62500" lnSpcReduction="20000"/>
          </a:bodyPr>
          <a:lstStyle/>
          <a:p>
            <a:pPr algn="l"/>
            <a:r>
              <a:rPr lang="ja-JP" altLang="en-US" sz="1400" dirty="0"/>
              <a:t>ICS の「リアルタイム」運用を支える多くのデータベースは、</a:t>
            </a:r>
          </a:p>
          <a:p>
            <a:pPr algn="l"/>
            <a:r>
              <a:rPr lang="ja-JP" altLang="en-US" sz="1400" dirty="0"/>
              <a:t>クリティカル（重要）またはエッセンシャル（必須）なアプリケーション／サーバ とみなされます。</a:t>
            </a:r>
          </a:p>
          <a:p>
            <a:pPr algn="l"/>
            <a:r>
              <a:rPr lang="ja-JP" altLang="en-US" sz="1400" dirty="0"/>
              <a:t>これらは通常：</a:t>
            </a:r>
          </a:p>
          <a:p>
            <a:pPr algn="l"/>
            <a:r>
              <a:rPr lang="ja-JP" altLang="en-US" sz="1400" dirty="0"/>
              <a:t>• 	高可用性（HA）構成</a:t>
            </a:r>
          </a:p>
          <a:p>
            <a:pPr algn="l"/>
            <a:r>
              <a:rPr lang="ja-JP" altLang="en-US" sz="1400" dirty="0"/>
              <a:t>• 	高い冗長性</a:t>
            </a:r>
          </a:p>
          <a:p>
            <a:pPr algn="l"/>
            <a:r>
              <a:rPr lang="ja-JP" altLang="en-US" sz="1400" dirty="0"/>
              <a:t>• 	自動フェイルオーバー</a:t>
            </a:r>
          </a:p>
          <a:p>
            <a:pPr algn="l"/>
            <a:r>
              <a:rPr lang="ja-JP" altLang="en-US" sz="1400" dirty="0"/>
              <a:t>といった仕組みで構築されています。</a:t>
            </a:r>
          </a:p>
          <a:p>
            <a:pPr algn="l"/>
            <a:endParaRPr lang="ja-JP" altLang="en-US" sz="1400" dirty="0"/>
          </a:p>
          <a:p>
            <a:pPr algn="l"/>
            <a:r>
              <a:rPr lang="ja-JP" altLang="en-US" sz="1400" dirty="0"/>
              <a:t>ヒストリアンの役割</a:t>
            </a:r>
          </a:p>
          <a:p>
            <a:pPr algn="l"/>
            <a:r>
              <a:rPr lang="ja-JP" altLang="en-US" sz="1400" dirty="0"/>
              <a:t>ヒストリアンは、プロセスデータを収集・蓄積し、</a:t>
            </a:r>
          </a:p>
          <a:p>
            <a:pPr algn="l"/>
            <a:r>
              <a:rPr lang="ja-JP" altLang="en-US" sz="1400" dirty="0"/>
              <a:t>時間軸でのデータ閲覧を可能にするシステムです。</a:t>
            </a:r>
          </a:p>
          <a:p>
            <a:pPr algn="l"/>
            <a:r>
              <a:rPr lang="ja-JP" altLang="en-US" sz="1400" dirty="0"/>
              <a:t>典型的には：</a:t>
            </a:r>
          </a:p>
          <a:p>
            <a:pPr algn="l"/>
            <a:r>
              <a:rPr lang="ja-JP" altLang="en-US" sz="1400" dirty="0"/>
              <a:t>• 	Purdue レベル 3・4（OT/IT 境界）へデータを提供</a:t>
            </a:r>
          </a:p>
          <a:p>
            <a:pPr algn="l"/>
            <a:r>
              <a:rPr lang="ja-JP" altLang="en-US" sz="1400" dirty="0"/>
              <a:t>• 	Purdue レベル 1・2 の機器からデータを受け取る際は</a:t>
            </a:r>
          </a:p>
          <a:p>
            <a:pPr algn="l"/>
            <a:r>
              <a:rPr lang="ja-JP" altLang="en-US" sz="1400" dirty="0"/>
              <a:t>OPC サーバなどのサードパーティ製データ変換コンポーネントに依存</a:t>
            </a:r>
          </a:p>
          <a:p>
            <a:pPr algn="l"/>
            <a:r>
              <a:rPr lang="ja-JP" altLang="en-US" sz="1400" dirty="0"/>
              <a:t>という構造になっています。</a:t>
            </a:r>
          </a:p>
          <a:p>
            <a:pPr algn="l"/>
            <a:endParaRPr lang="ja-JP" altLang="en-US" sz="1400" dirty="0"/>
          </a:p>
          <a:p>
            <a:pPr algn="l"/>
            <a:r>
              <a:rPr lang="ja-JP" altLang="en-US" sz="1400" dirty="0"/>
              <a:t>ヒストリアンを DMZ に置く理由</a:t>
            </a:r>
          </a:p>
          <a:p>
            <a:pPr algn="l"/>
            <a:r>
              <a:rPr lang="ja-JP" altLang="en-US" sz="1400" dirty="0"/>
              <a:t>ヒストリアンを DMZ（非武装地帯） に配置するのは一般的です。</a:t>
            </a:r>
          </a:p>
          <a:p>
            <a:pPr algn="l"/>
            <a:r>
              <a:rPr lang="ja-JP" altLang="en-US" sz="1400" dirty="0"/>
              <a:t>理由は：</a:t>
            </a:r>
          </a:p>
          <a:p>
            <a:pPr algn="l"/>
            <a:r>
              <a:rPr lang="ja-JP" altLang="en-US" sz="1400" dirty="0"/>
              <a:t>• 	OT（制御ネットワーク）と</a:t>
            </a:r>
          </a:p>
          <a:p>
            <a:pPr algn="l"/>
            <a:r>
              <a:rPr lang="ja-JP" altLang="en-US" sz="1400" dirty="0"/>
              <a:t>• 	IT（ビジネス／エンタープライズネットワーク）</a:t>
            </a:r>
          </a:p>
          <a:p>
            <a:pPr algn="l"/>
            <a:r>
              <a:rPr lang="ja-JP" altLang="en-US" sz="1400" dirty="0"/>
              <a:t>の間でデータを安全にやり取りするためです。</a:t>
            </a:r>
          </a:p>
          <a:p>
            <a:pPr algn="l"/>
            <a:r>
              <a:rPr lang="ja-JP" altLang="en-US" sz="1400" dirty="0"/>
              <a:t>また、ベンダー提供のデータベースやヒストリアンは</a:t>
            </a:r>
          </a:p>
          <a:p>
            <a:pPr algn="l"/>
            <a:r>
              <a:rPr lang="ja-JP" altLang="en-US" sz="1400" dirty="0"/>
              <a:t>リモートアクセスによるサポートやトラブルシュート を必要とすることが多く、</a:t>
            </a:r>
          </a:p>
          <a:p>
            <a:pPr algn="l"/>
            <a:r>
              <a:rPr lang="ja-JP" altLang="en-US" sz="1400" dirty="0"/>
              <a:t>DMZ 配置はその点でも都合が良い構成です。</a:t>
            </a:r>
          </a:p>
          <a:p>
            <a:pPr algn="l"/>
            <a:r>
              <a:rPr lang="ja-JP" altLang="en-US" sz="1400" dirty="0"/>
              <a:t>DMZ の境界防御には：</a:t>
            </a:r>
          </a:p>
          <a:p>
            <a:pPr algn="l"/>
            <a:r>
              <a:rPr lang="ja-JP" altLang="en-US" sz="1400" dirty="0"/>
              <a:t>• 	ファイアウォール</a:t>
            </a:r>
          </a:p>
          <a:p>
            <a:pPr algn="l"/>
            <a:r>
              <a:rPr lang="ja-JP" altLang="en-US" sz="1400" dirty="0"/>
              <a:t>• 	制限付き ACL</a:t>
            </a:r>
          </a:p>
          <a:p>
            <a:pPr algn="l"/>
            <a:r>
              <a:rPr lang="ja-JP" altLang="en-US" sz="1400" dirty="0"/>
              <a:t>• 	データダイオード（一方向通信装置）</a:t>
            </a:r>
          </a:p>
          <a:p>
            <a:pPr algn="l"/>
            <a:r>
              <a:rPr lang="ja-JP" altLang="en-US" sz="1400" dirty="0"/>
              <a:t>などが利用されます。</a:t>
            </a:r>
          </a:p>
          <a:p>
            <a:pPr algn="l"/>
            <a:endParaRPr lang="ja-JP" altLang="en-US" sz="1400" dirty="0"/>
          </a:p>
          <a:p>
            <a:pPr algn="l"/>
            <a:r>
              <a:rPr lang="ja-JP" altLang="en-US" sz="1400" dirty="0"/>
              <a:t>重要な注意点：レプリケーションは“本当に一方向か？”</a:t>
            </a:r>
          </a:p>
          <a:p>
            <a:pPr algn="l"/>
            <a:r>
              <a:rPr lang="ja-JP" altLang="en-US" sz="1400" dirty="0"/>
              <a:t>文書上「メイン DB → レプリカ DB は一方向」と書かれていても、</a:t>
            </a:r>
          </a:p>
          <a:p>
            <a:pPr algn="l"/>
            <a:r>
              <a:rPr lang="ja-JP" altLang="en-US" sz="1400" dirty="0"/>
              <a:t>実際には 一方向データフローの前に双方向のハンドシェイクが必要 な場合があります。</a:t>
            </a:r>
          </a:p>
          <a:p>
            <a:pPr algn="l"/>
            <a:r>
              <a:rPr lang="ja-JP" altLang="en-US" sz="1400" dirty="0"/>
              <a:t>つまり：</a:t>
            </a:r>
          </a:p>
          <a:p>
            <a:pPr algn="l"/>
            <a:r>
              <a:rPr lang="ja-JP" altLang="en-US" sz="1400" dirty="0"/>
              <a:t>• 	表面的には「一方向」でも</a:t>
            </a:r>
          </a:p>
          <a:p>
            <a:pPr algn="l"/>
            <a:r>
              <a:rPr lang="ja-JP" altLang="en-US" sz="1400" dirty="0"/>
              <a:t>• 	実際には「接続確立のための双方向通信」が発生している可能性がある</a:t>
            </a:r>
          </a:p>
          <a:p>
            <a:pPr algn="l"/>
            <a:r>
              <a:rPr lang="ja-JP" altLang="en-US" sz="1400" dirty="0"/>
              <a:t>ということです。</a:t>
            </a:r>
          </a:p>
          <a:p>
            <a:pPr algn="l"/>
            <a:r>
              <a:rPr lang="ja-JP" altLang="en-US" sz="1400" dirty="0"/>
              <a:t>そのため、レプリケーション構成では：</a:t>
            </a:r>
          </a:p>
          <a:p>
            <a:pPr algn="l"/>
            <a:r>
              <a:rPr lang="ja-JP" altLang="en-US" sz="1400" dirty="0"/>
              <a:t>• 	送信側（メイン）だけでなく</a:t>
            </a:r>
          </a:p>
          <a:p>
            <a:pPr algn="l"/>
            <a:r>
              <a:rPr lang="ja-JP" altLang="en-US" sz="1400" dirty="0"/>
              <a:t>• 	受信側（レプリカ）も同等にセキュリティを確保する必要がある</a:t>
            </a:r>
          </a:p>
          <a:p>
            <a:pPr algn="l"/>
            <a:r>
              <a:rPr lang="ja-JP" altLang="en-US" sz="1400" dirty="0"/>
              <a:t>という点が非常に重要です。</a:t>
            </a:r>
          </a:p>
        </p:txBody>
      </p:sp>
      <p:pic>
        <p:nvPicPr>
          <p:cNvPr id="4" name="図 3">
            <a:extLst>
              <a:ext uri="{FF2B5EF4-FFF2-40B4-BE49-F238E27FC236}">
                <a16:creationId xmlns:a16="http://schemas.microsoft.com/office/drawing/2014/main" id="{1C8C20BC-BDB0-4BD8-915D-4984F826585A}"/>
              </a:ext>
            </a:extLst>
          </p:cNvPr>
          <p:cNvPicPr>
            <a:picLocks noChangeAspect="1"/>
          </p:cNvPicPr>
          <p:nvPr/>
        </p:nvPicPr>
        <p:blipFill>
          <a:blip r:embed="rId2"/>
          <a:stretch>
            <a:fillRect/>
          </a:stretch>
        </p:blipFill>
        <p:spPr>
          <a:xfrm>
            <a:off x="490606" y="67732"/>
            <a:ext cx="5876788" cy="33189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2837191"/>
            <a:ext cx="3429000" cy="6967207"/>
          </a:xfrm>
        </p:spPr>
        <p:txBody>
          <a:bodyPr>
            <a:normAutofit fontScale="85000" lnSpcReduction="20000"/>
          </a:bodyPr>
          <a:lstStyle/>
          <a:p>
            <a:pPr algn="l"/>
            <a:r>
              <a:rPr lang="ja-JP" altLang="en-US" sz="1400" dirty="0"/>
              <a:t>ICS を考える際、データベースは大きく 4 </a:t>
            </a:r>
            <a:r>
              <a:rPr lang="ja-JP" altLang="en-US" sz="1400" dirty="0" err="1"/>
              <a:t>つの</a:t>
            </a:r>
            <a:r>
              <a:rPr lang="ja-JP" altLang="en-US" sz="1400" dirty="0"/>
              <a:t>機能カテゴリ に分類できます。</a:t>
            </a:r>
          </a:p>
          <a:p>
            <a:pPr algn="l"/>
            <a:r>
              <a:rPr lang="ja-JP" altLang="en-US" sz="1400" dirty="0"/>
              <a:t>多くの ICS 実装では、ICS ベンダーが提供する ランタイムデータベース に依存しています。</a:t>
            </a:r>
          </a:p>
          <a:p>
            <a:pPr algn="l"/>
            <a:endParaRPr lang="ja-JP" altLang="en-US" sz="1400" dirty="0"/>
          </a:p>
          <a:p>
            <a:pPr algn="l"/>
            <a:r>
              <a:rPr lang="ja-JP" altLang="en-US" sz="1400" dirty="0"/>
              <a:t>1. ランタイムデータベース（Runtime Database）</a:t>
            </a:r>
          </a:p>
          <a:p>
            <a:pPr algn="l"/>
            <a:r>
              <a:rPr lang="ja-JP" altLang="en-US" sz="1400" dirty="0"/>
              <a:t>ランタイム DB は、ICS がリアルタイムで参照する必要がある情報を保持します。</a:t>
            </a:r>
          </a:p>
          <a:p>
            <a:pPr algn="l"/>
            <a:r>
              <a:rPr lang="ja-JP" altLang="en-US" sz="1400" dirty="0"/>
              <a:t>例：</a:t>
            </a:r>
          </a:p>
          <a:p>
            <a:pPr algn="l"/>
            <a:r>
              <a:rPr lang="ja-JP" altLang="en-US" sz="1400" dirty="0"/>
              <a:t>• 	セットポイント</a:t>
            </a:r>
          </a:p>
          <a:p>
            <a:pPr algn="l"/>
            <a:r>
              <a:rPr lang="ja-JP" altLang="en-US" sz="1400" dirty="0"/>
              <a:t>• 	タグ</a:t>
            </a:r>
          </a:p>
          <a:p>
            <a:pPr algn="l"/>
            <a:r>
              <a:rPr lang="ja-JP" altLang="en-US" sz="1400" dirty="0"/>
              <a:t>• 	プロセス変数</a:t>
            </a:r>
          </a:p>
          <a:p>
            <a:pPr algn="l"/>
            <a:r>
              <a:rPr lang="ja-JP" altLang="en-US" sz="1400" dirty="0"/>
              <a:t>• 	制御ロジックに必要な構成情報</a:t>
            </a:r>
          </a:p>
          <a:p>
            <a:pPr algn="l"/>
            <a:r>
              <a:rPr lang="ja-JP" altLang="en-US" sz="1400" dirty="0"/>
              <a:t>このデータベースが変更されると、</a:t>
            </a:r>
          </a:p>
          <a:p>
            <a:pPr algn="l"/>
            <a:r>
              <a:rPr lang="ja-JP" altLang="en-US" sz="1400" dirty="0"/>
              <a:t>監視・制御しているプロセスそのものに影響が出ます。</a:t>
            </a:r>
          </a:p>
          <a:p>
            <a:pPr algn="l"/>
            <a:r>
              <a:rPr lang="ja-JP" altLang="en-US" sz="1400" dirty="0"/>
              <a:t>そのため、この DB のセキュリティは：</a:t>
            </a:r>
          </a:p>
          <a:p>
            <a:pPr algn="l"/>
            <a:r>
              <a:rPr lang="ja-JP" altLang="en-US" sz="1400" dirty="0"/>
              <a:t>• 	ICS ベンダーがどのように DB を設計し</a:t>
            </a:r>
          </a:p>
          <a:p>
            <a:pPr algn="l"/>
            <a:r>
              <a:rPr lang="ja-JP" altLang="en-US" sz="1400" dirty="0"/>
              <a:t>• 	ICS ソリューションにどう統合しているか</a:t>
            </a:r>
          </a:p>
          <a:p>
            <a:pPr algn="l"/>
            <a:r>
              <a:rPr lang="ja-JP" altLang="en-US" sz="1400" dirty="0"/>
              <a:t>に大きく左右されます。</a:t>
            </a:r>
          </a:p>
          <a:p>
            <a:pPr algn="l"/>
            <a:endParaRPr lang="ja-JP" altLang="en-US" sz="1400" dirty="0"/>
          </a:p>
          <a:p>
            <a:pPr algn="l"/>
            <a:r>
              <a:rPr lang="ja-JP" altLang="en-US" sz="1400" dirty="0"/>
              <a:t>2. ヒストリアン／イベント集約データベース（Historian &amp; Aggregation DB）</a:t>
            </a:r>
          </a:p>
          <a:p>
            <a:pPr algn="l"/>
            <a:r>
              <a:rPr lang="ja-JP" altLang="en-US" sz="1400" dirty="0"/>
              <a:t>最も他システムと連携するタイプの DB です。</a:t>
            </a:r>
          </a:p>
          <a:p>
            <a:pPr algn="l"/>
            <a:r>
              <a:rPr lang="ja-JP" altLang="en-US" sz="1400" dirty="0"/>
              <a:t>役割：</a:t>
            </a:r>
          </a:p>
          <a:p>
            <a:pPr algn="l"/>
            <a:r>
              <a:rPr lang="ja-JP" altLang="en-US" sz="1400" dirty="0"/>
              <a:t>• 	プロセスデータの長期蓄積（ヒストリアン）</a:t>
            </a:r>
          </a:p>
          <a:p>
            <a:pPr algn="l"/>
            <a:r>
              <a:rPr lang="ja-JP" altLang="en-US" sz="1400" dirty="0"/>
              <a:t>• 	イベントログやアラームの集約</a:t>
            </a:r>
          </a:p>
          <a:p>
            <a:pPr algn="l"/>
            <a:r>
              <a:rPr lang="ja-JP" altLang="en-US" sz="1400" dirty="0"/>
              <a:t>• 	ICS や周辺システムからデータを収集</a:t>
            </a:r>
          </a:p>
          <a:p>
            <a:pPr algn="l"/>
            <a:r>
              <a:rPr lang="ja-JP" altLang="en-US" sz="1400" dirty="0"/>
              <a:t>• 	ICS の外（Purdue L3/L4）へデータ提供</a:t>
            </a:r>
          </a:p>
          <a:p>
            <a:pPr algn="l"/>
            <a:r>
              <a:rPr lang="ja-JP" altLang="en-US" sz="1400" dirty="0"/>
              <a:t>これらは ICS ベンダー製の場合もあれば、</a:t>
            </a:r>
          </a:p>
          <a:p>
            <a:pPr algn="l"/>
            <a:r>
              <a:rPr lang="ja-JP" altLang="en-US" sz="1400" dirty="0"/>
              <a:t>サードパーティ製のヒストリアンが使われることもあります。</a:t>
            </a:r>
          </a:p>
        </p:txBody>
      </p:sp>
      <p:pic>
        <p:nvPicPr>
          <p:cNvPr id="4" name="図形 3"/>
          <p:cNvPicPr>
            <a:picLocks noChangeAspect="1"/>
          </p:cNvPicPr>
          <p:nvPr/>
        </p:nvPicPr>
        <p:blipFill>
          <a:blip r:embed="rId2"/>
          <a:stretch>
            <a:fillRect/>
          </a:stretch>
        </p:blipFill>
        <p:spPr>
          <a:xfrm>
            <a:off x="815214" y="9838264"/>
            <a:ext cx="5227570" cy="2296349"/>
          </a:xfrm>
          <a:prstGeom prst="rect">
            <a:avLst/>
          </a:prstGeom>
        </p:spPr>
      </p:pic>
      <p:pic>
        <p:nvPicPr>
          <p:cNvPr id="5" name="図 4">
            <a:extLst>
              <a:ext uri="{FF2B5EF4-FFF2-40B4-BE49-F238E27FC236}">
                <a16:creationId xmlns:a16="http://schemas.microsoft.com/office/drawing/2014/main" id="{029F0EBE-8A01-4AF7-9782-E54EE984A00B}"/>
              </a:ext>
            </a:extLst>
          </p:cNvPr>
          <p:cNvPicPr>
            <a:picLocks noChangeAspect="1"/>
          </p:cNvPicPr>
          <p:nvPr/>
        </p:nvPicPr>
        <p:blipFill>
          <a:blip r:embed="rId3"/>
          <a:stretch>
            <a:fillRect/>
          </a:stretch>
        </p:blipFill>
        <p:spPr>
          <a:xfrm>
            <a:off x="1015999" y="50799"/>
            <a:ext cx="4826000" cy="2735593"/>
          </a:xfrm>
          <a:prstGeom prst="rect">
            <a:avLst/>
          </a:prstGeom>
        </p:spPr>
      </p:pic>
      <p:sp>
        <p:nvSpPr>
          <p:cNvPr id="6" name="サブタイトル 2">
            <a:extLst>
              <a:ext uri="{FF2B5EF4-FFF2-40B4-BE49-F238E27FC236}">
                <a16:creationId xmlns:a16="http://schemas.microsoft.com/office/drawing/2014/main" id="{D8BC57C7-8591-4AEC-A4A7-B344C435ABB0}"/>
              </a:ext>
            </a:extLst>
          </p:cNvPr>
          <p:cNvSpPr txBox="1">
            <a:spLocks/>
          </p:cNvSpPr>
          <p:nvPr/>
        </p:nvSpPr>
        <p:spPr>
          <a:xfrm>
            <a:off x="3428999" y="2837191"/>
            <a:ext cx="3429000" cy="673014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3. プロジェクトデータベース（Project Database）</a:t>
            </a:r>
          </a:p>
          <a:p>
            <a:pPr algn="l"/>
            <a:r>
              <a:rPr lang="ja-JP" altLang="en-US" sz="1200" dirty="0"/>
              <a:t>ICS ベンダーが提供する、プロジェクト構築・デバイス設定用 DB です。</a:t>
            </a:r>
          </a:p>
          <a:p>
            <a:pPr algn="l"/>
            <a:r>
              <a:rPr lang="ja-JP" altLang="en-US" sz="1200" dirty="0"/>
              <a:t>主に エンジニアリングワークステーション（EWS） に存在し、以下を管理します：</a:t>
            </a:r>
          </a:p>
          <a:p>
            <a:pPr algn="l"/>
            <a:r>
              <a:rPr lang="ja-JP" altLang="en-US" sz="1200" dirty="0"/>
              <a:t>• 	PLC や RTU の設定</a:t>
            </a:r>
          </a:p>
          <a:p>
            <a:pPr algn="l"/>
            <a:r>
              <a:rPr lang="ja-JP" altLang="en-US" sz="1200" dirty="0"/>
              <a:t>• 	デバイスのソフトウェア／ファームウェア管理</a:t>
            </a:r>
          </a:p>
          <a:p>
            <a:pPr algn="l"/>
            <a:r>
              <a:rPr lang="ja-JP" altLang="en-US" sz="1200" dirty="0"/>
              <a:t>• 	マッピング（タグ・ポイントの関連付け）</a:t>
            </a:r>
          </a:p>
          <a:p>
            <a:pPr algn="l"/>
            <a:r>
              <a:rPr lang="ja-JP" altLang="en-US" sz="1200" dirty="0"/>
              <a:t>• 	ICS 構成ファイルの生成</a:t>
            </a:r>
          </a:p>
          <a:p>
            <a:pPr algn="l"/>
            <a:r>
              <a:rPr lang="ja-JP" altLang="en-US" sz="1200" dirty="0"/>
              <a:t>これらは「オフラインツール」とみなされますが、</a:t>
            </a:r>
          </a:p>
          <a:p>
            <a:pPr algn="l"/>
            <a:r>
              <a:rPr lang="ja-JP" altLang="en-US" sz="1200" dirty="0"/>
              <a:t>生成されるファイルは オンラインの ICS 動作に直接影響 します。</a:t>
            </a:r>
          </a:p>
          <a:p>
            <a:pPr algn="l"/>
            <a:endParaRPr lang="ja-JP" altLang="en-US" sz="1200" dirty="0"/>
          </a:p>
          <a:p>
            <a:pPr algn="l"/>
            <a:r>
              <a:rPr lang="ja-JP" altLang="en-US" sz="1200" dirty="0"/>
              <a:t>4. 支援アプリケーション用データベース（Supporting Application DB）</a:t>
            </a:r>
          </a:p>
          <a:p>
            <a:pPr algn="l"/>
            <a:r>
              <a:rPr lang="ja-JP" altLang="en-US" sz="1200" dirty="0"/>
              <a:t>制御室や運用支援アプリケーションが利用する DB です。</a:t>
            </a:r>
          </a:p>
          <a:p>
            <a:pPr algn="l"/>
            <a:r>
              <a:rPr lang="ja-JP" altLang="en-US" sz="1200" dirty="0"/>
              <a:t>例：</a:t>
            </a:r>
          </a:p>
          <a:p>
            <a:pPr algn="l"/>
            <a:r>
              <a:rPr lang="ja-JP" altLang="en-US" sz="1200" dirty="0"/>
              <a:t>• 	電力システムの資産や設備を地図上に表示する GIS DB</a:t>
            </a:r>
          </a:p>
          <a:p>
            <a:pPr algn="l"/>
            <a:r>
              <a:rPr lang="ja-JP" altLang="en-US" sz="1200" dirty="0"/>
              <a:t>• 	HMI 的な論理ビューを提供するアプリケーション</a:t>
            </a:r>
          </a:p>
          <a:p>
            <a:pPr algn="l"/>
            <a:r>
              <a:rPr lang="ja-JP" altLang="en-US" sz="1200" dirty="0"/>
              <a:t>• 	停電管理（Outage Management System）</a:t>
            </a:r>
          </a:p>
          <a:p>
            <a:pPr algn="l"/>
            <a:r>
              <a:rPr lang="ja-JP" altLang="en-US" sz="1200" dirty="0"/>
              <a:t>• 	設備管理・資産管理システム（EAM/CMMS）</a:t>
            </a:r>
          </a:p>
          <a:p>
            <a:pPr algn="l"/>
            <a:r>
              <a:rPr lang="ja-JP" altLang="en-US" sz="1200" dirty="0"/>
              <a:t>これらは ICS の補助的役割を果たし、</a:t>
            </a:r>
          </a:p>
          <a:p>
            <a:pPr algn="l"/>
            <a:r>
              <a:rPr lang="ja-JP" altLang="en-US" sz="1200" dirty="0"/>
              <a:t>運用の可視化や意思決定を支援します。</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518462"/>
            <a:ext cx="3429000" cy="8673538"/>
          </a:xfrm>
        </p:spPr>
        <p:txBody>
          <a:bodyPr>
            <a:normAutofit/>
          </a:bodyPr>
          <a:lstStyle/>
          <a:p>
            <a:pPr algn="l"/>
            <a:r>
              <a:rPr lang="ja-JP" altLang="en-US" sz="1000" dirty="0"/>
              <a:t>OSIsoft のこの優れた図は、</a:t>
            </a:r>
          </a:p>
          <a:p>
            <a:pPr algn="l"/>
            <a:r>
              <a:rPr lang="ja-JP" altLang="en-US" sz="1000" dirty="0"/>
              <a:t>ICS 内部から企業ネットワーク、さらには外部組織まで、</a:t>
            </a:r>
          </a:p>
          <a:p>
            <a:pPr algn="l"/>
            <a:r>
              <a:rPr lang="ja-JP" altLang="en-US" sz="1000" dirty="0"/>
              <a:t>データベースがどのように利用されているか を示しています。</a:t>
            </a:r>
          </a:p>
          <a:p>
            <a:pPr algn="l"/>
            <a:r>
              <a:rPr lang="ja-JP" altLang="en-US" sz="1000" dirty="0"/>
              <a:t>図は、情報がどのように収集され、どこへ流れていくのかを</a:t>
            </a:r>
          </a:p>
          <a:p>
            <a:pPr algn="l"/>
            <a:r>
              <a:rPr lang="ja-JP" altLang="en-US" sz="1000" dirty="0"/>
              <a:t>左側（プラントフロア／フィールド）から</a:t>
            </a:r>
          </a:p>
          <a:p>
            <a:pPr algn="l"/>
            <a:r>
              <a:rPr lang="ja-JP" altLang="en-US" sz="1000" dirty="0"/>
              <a:t>右側（制御室 → 上位制御アプリケーション → ビジネスネットワーク）へ</a:t>
            </a:r>
          </a:p>
          <a:p>
            <a:pPr algn="l"/>
            <a:r>
              <a:rPr lang="ja-JP" altLang="en-US" sz="1000" dirty="0"/>
              <a:t>段階的に描いています。</a:t>
            </a:r>
          </a:p>
          <a:p>
            <a:pPr algn="l"/>
            <a:endParaRPr lang="ja-JP" altLang="en-US" sz="1000" dirty="0"/>
          </a:p>
          <a:p>
            <a:pPr algn="l"/>
            <a:r>
              <a:rPr lang="ja-JP" altLang="en-US" sz="1000" dirty="0"/>
              <a:t>データの出発点：フィールド機器</a:t>
            </a:r>
          </a:p>
          <a:p>
            <a:pPr algn="l"/>
            <a:r>
              <a:rPr lang="ja-JP" altLang="en-US" sz="1000" dirty="0"/>
              <a:t>データソースには以下が含まれます：</a:t>
            </a:r>
          </a:p>
          <a:p>
            <a:pPr algn="l"/>
            <a:r>
              <a:rPr lang="ja-JP" altLang="en-US" sz="1000" dirty="0"/>
              <a:t>• 	ポンプ</a:t>
            </a:r>
          </a:p>
          <a:p>
            <a:pPr algn="l"/>
            <a:r>
              <a:rPr lang="ja-JP" altLang="en-US" sz="1000" dirty="0"/>
              <a:t>• 	バルブ</a:t>
            </a:r>
          </a:p>
          <a:p>
            <a:pPr algn="l"/>
            <a:r>
              <a:rPr lang="ja-JP" altLang="en-US" sz="1000" dirty="0"/>
              <a:t>• 	センサー</a:t>
            </a:r>
          </a:p>
          <a:p>
            <a:pPr algn="l"/>
            <a:r>
              <a:rPr lang="ja-JP" altLang="en-US" sz="1000" dirty="0"/>
              <a:t>• 	アクチュエータ</a:t>
            </a:r>
          </a:p>
          <a:p>
            <a:pPr algn="l"/>
            <a:r>
              <a:rPr lang="ja-JP" altLang="en-US" sz="1000" dirty="0"/>
              <a:t>これらは I/O を通じて ICS に接続され、</a:t>
            </a:r>
          </a:p>
          <a:p>
            <a:pPr algn="l"/>
            <a:r>
              <a:rPr lang="ja-JP" altLang="en-US" sz="1000" dirty="0"/>
              <a:t>制御ネットワーク内のデバイスやアプリケーションがデータを収集・処理 します。</a:t>
            </a:r>
          </a:p>
          <a:p>
            <a:pPr algn="l"/>
            <a:r>
              <a:rPr lang="ja-JP" altLang="en-US" sz="1000" dirty="0"/>
              <a:t>特定の装置やサブプロセス専用に、</a:t>
            </a:r>
          </a:p>
          <a:p>
            <a:pPr algn="l"/>
            <a:r>
              <a:rPr lang="ja-JP" altLang="en-US" sz="1000" dirty="0"/>
              <a:t>サードパーティ製ヒストリアン が動作している場合もあります。</a:t>
            </a:r>
          </a:p>
          <a:p>
            <a:pPr algn="l"/>
            <a:endParaRPr lang="ja-JP" altLang="en-US" sz="1000" dirty="0"/>
          </a:p>
          <a:p>
            <a:pPr algn="l"/>
            <a:r>
              <a:rPr lang="ja-JP" altLang="en-US" sz="1000" dirty="0"/>
              <a:t>データの流れ：DMZ へ、そして ICS の外へ</a:t>
            </a:r>
          </a:p>
          <a:p>
            <a:pPr algn="l"/>
            <a:r>
              <a:rPr lang="ja-JP" altLang="en-US" sz="1000" dirty="0"/>
              <a:t>収集されたデータは通常、</a:t>
            </a:r>
          </a:p>
          <a:p>
            <a:pPr algn="l"/>
            <a:r>
              <a:rPr lang="ja-JP" altLang="en-US" sz="1000" dirty="0"/>
              <a:t>DMZ（ICS DMZ）へ流れ込み、アーカイブされ、</a:t>
            </a:r>
          </a:p>
          <a:p>
            <a:pPr algn="l"/>
            <a:r>
              <a:rPr lang="ja-JP" altLang="en-US" sz="1000" dirty="0"/>
              <a:t>ICS 内外のアプリケーションへ共有 されます。</a:t>
            </a:r>
          </a:p>
          <a:p>
            <a:pPr algn="l"/>
            <a:r>
              <a:rPr lang="ja-JP" altLang="en-US" sz="1000" dirty="0"/>
              <a:t>データは最終的に以下のようなネットワークへ提供されます：</a:t>
            </a:r>
          </a:p>
          <a:p>
            <a:pPr algn="l"/>
            <a:r>
              <a:rPr lang="ja-JP" altLang="en-US" sz="1000" dirty="0"/>
              <a:t>• 	生産支援ネットワーク（Purdue L3/L4）</a:t>
            </a:r>
          </a:p>
          <a:p>
            <a:pPr algn="l"/>
            <a:r>
              <a:rPr lang="ja-JP" altLang="en-US" sz="1000" dirty="0"/>
              <a:t>• 	企業ネットワーク（ビジネスネットワーク）</a:t>
            </a:r>
          </a:p>
          <a:p>
            <a:pPr algn="l"/>
            <a:r>
              <a:rPr lang="ja-JP" altLang="en-US" sz="1000" dirty="0"/>
              <a:t>そこでの用途は多岐にわたります：</a:t>
            </a:r>
          </a:p>
          <a:p>
            <a:pPr algn="l"/>
            <a:r>
              <a:rPr lang="ja-JP" altLang="en-US" sz="1000" dirty="0"/>
              <a:t>• 	生産スケジューリング</a:t>
            </a:r>
          </a:p>
          <a:p>
            <a:pPr algn="l"/>
            <a:r>
              <a:rPr lang="ja-JP" altLang="en-US" sz="1000" dirty="0"/>
              <a:t>• 	サプライチェーン管理</a:t>
            </a:r>
          </a:p>
          <a:p>
            <a:pPr algn="l"/>
            <a:r>
              <a:rPr lang="ja-JP" altLang="en-US" sz="1000" dirty="0"/>
              <a:t>• 	請求処理</a:t>
            </a:r>
          </a:p>
          <a:p>
            <a:pPr algn="l"/>
            <a:r>
              <a:rPr lang="ja-JP" altLang="en-US" sz="1000" dirty="0"/>
              <a:t>• 	会計処理</a:t>
            </a:r>
          </a:p>
          <a:p>
            <a:pPr algn="l"/>
            <a:endParaRPr lang="ja-JP" altLang="en-US" sz="1000" dirty="0"/>
          </a:p>
        </p:txBody>
      </p:sp>
      <p:pic>
        <p:nvPicPr>
          <p:cNvPr id="4" name="図 3">
            <a:extLst>
              <a:ext uri="{FF2B5EF4-FFF2-40B4-BE49-F238E27FC236}">
                <a16:creationId xmlns:a16="http://schemas.microsoft.com/office/drawing/2014/main" id="{D299C0E9-A3F3-4002-99AD-1CC395D8F07C}"/>
              </a:ext>
            </a:extLst>
          </p:cNvPr>
          <p:cNvPicPr>
            <a:picLocks noChangeAspect="1"/>
          </p:cNvPicPr>
          <p:nvPr/>
        </p:nvPicPr>
        <p:blipFill>
          <a:blip r:embed="rId2"/>
          <a:stretch>
            <a:fillRect/>
          </a:stretch>
        </p:blipFill>
        <p:spPr>
          <a:xfrm>
            <a:off x="543308" y="123328"/>
            <a:ext cx="5771384" cy="3268133"/>
          </a:xfrm>
          <a:prstGeom prst="rect">
            <a:avLst/>
          </a:prstGeom>
        </p:spPr>
      </p:pic>
      <p:sp>
        <p:nvSpPr>
          <p:cNvPr id="5" name="サブタイトル 2">
            <a:extLst>
              <a:ext uri="{FF2B5EF4-FFF2-40B4-BE49-F238E27FC236}">
                <a16:creationId xmlns:a16="http://schemas.microsoft.com/office/drawing/2014/main" id="{15217A32-CA8C-47B3-B124-2BE8A6BEB8F4}"/>
              </a:ext>
            </a:extLst>
          </p:cNvPr>
          <p:cNvSpPr txBox="1">
            <a:spLocks/>
          </p:cNvSpPr>
          <p:nvPr/>
        </p:nvSpPr>
        <p:spPr>
          <a:xfrm>
            <a:off x="3428999" y="3518462"/>
            <a:ext cx="3428999" cy="613353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ヒストリアン（例：OSIsoft PI）の配置に関する重要な注意点</a:t>
            </a:r>
          </a:p>
          <a:p>
            <a:pPr algn="l"/>
            <a:r>
              <a:rPr lang="ja-JP" altLang="en-US" sz="1000" dirty="0"/>
              <a:t>一般的には、</a:t>
            </a:r>
          </a:p>
          <a:p>
            <a:pPr algn="l"/>
            <a:r>
              <a:rPr lang="ja-JP" altLang="en-US" sz="1000" dirty="0"/>
              <a:t>トップレベルの集約ヒストリアン（例：PI）は ICS DMZ に置くのが最適</a:t>
            </a:r>
          </a:p>
          <a:p>
            <a:pPr algn="l"/>
            <a:r>
              <a:rPr lang="ja-JP" altLang="en-US" sz="1000" dirty="0"/>
              <a:t>とされています。</a:t>
            </a:r>
          </a:p>
          <a:p>
            <a:pPr algn="l"/>
            <a:r>
              <a:rPr lang="ja-JP" altLang="en-US" sz="1000" dirty="0"/>
              <a:t>しかし、例外もあります。</a:t>
            </a:r>
          </a:p>
          <a:p>
            <a:pPr algn="l"/>
            <a:r>
              <a:rPr lang="ja-JP" altLang="en-US" sz="1000" dirty="0"/>
              <a:t>以下のような場合は DMZ ではなく Purdue レベル 3 に配置すべき です：</a:t>
            </a:r>
          </a:p>
          <a:p>
            <a:pPr algn="l"/>
            <a:r>
              <a:rPr lang="ja-JP" altLang="en-US" sz="1000" dirty="0"/>
              <a:t>• 	ヒストリアンのデータが 制御プロセスへフィードバックされる 場合</a:t>
            </a:r>
          </a:p>
          <a:p>
            <a:pPr algn="l"/>
            <a:r>
              <a:rPr lang="ja-JP" altLang="en-US" sz="1000" dirty="0"/>
              <a:t>• 	データの主な利用者が ビジネス部門ではなくエンジニア の場合</a:t>
            </a:r>
          </a:p>
          <a:p>
            <a:pPr algn="l"/>
            <a:r>
              <a:rPr lang="ja-JP" altLang="en-US" sz="1000" dirty="0"/>
              <a:t>この場合：</a:t>
            </a:r>
          </a:p>
          <a:p>
            <a:pPr algn="l"/>
            <a:r>
              <a:rPr lang="ja-JP" altLang="en-US" sz="1000" dirty="0"/>
              <a:t>• 	Purdue L3 にメインヒストリアンを置く</a:t>
            </a:r>
          </a:p>
          <a:p>
            <a:pPr algn="l"/>
            <a:r>
              <a:rPr lang="ja-JP" altLang="en-US" sz="1000" dirty="0"/>
              <a:t>• 	ビジネス側が必要とするデータだけを DMZ のレプリカヒストリアンへ複製する</a:t>
            </a:r>
          </a:p>
          <a:p>
            <a:pPr algn="l"/>
            <a:r>
              <a:rPr lang="ja-JP" altLang="en-US" sz="1000" dirty="0"/>
              <a:t>という構成が推奨されます。</a:t>
            </a:r>
          </a:p>
          <a:p>
            <a:pPr algn="l"/>
            <a:endParaRPr lang="ja-JP" altLang="en-US" sz="1000" dirty="0"/>
          </a:p>
          <a:p>
            <a:pPr algn="l"/>
            <a:r>
              <a:rPr lang="ja-JP" altLang="en-US" sz="1000" dirty="0"/>
              <a:t>まとめ</a:t>
            </a:r>
          </a:p>
          <a:p>
            <a:pPr algn="l"/>
            <a:r>
              <a:rPr lang="ja-JP" altLang="en-US" sz="1000" dirty="0"/>
              <a:t>OSIsoft の図が示す ICS データフローは以下のように整理できます：</a:t>
            </a:r>
          </a:p>
          <a:p>
            <a:pPr algn="l"/>
            <a:r>
              <a:rPr lang="ja-JP" altLang="en-US" sz="1000" dirty="0"/>
              <a:t>1. 	フィールド機器 → 制御ネットワーク → ヒストリアン／DB</a:t>
            </a:r>
          </a:p>
          <a:p>
            <a:pPr algn="l"/>
            <a:r>
              <a:rPr lang="ja-JP" altLang="en-US" sz="1000" dirty="0"/>
              <a:t>2. 	DMZ でアーカイブ・共有</a:t>
            </a:r>
          </a:p>
          <a:p>
            <a:pPr algn="l"/>
            <a:r>
              <a:rPr lang="ja-JP" altLang="en-US" sz="1000" dirty="0"/>
              <a:t>3. 	ビジネスネットワークへ提供（スケジューリング、SCM、会計など）</a:t>
            </a:r>
          </a:p>
          <a:p>
            <a:pPr algn="l"/>
            <a:r>
              <a:rPr lang="ja-JP" altLang="en-US" sz="1000" dirty="0"/>
              <a:t>4. 	ヒストリアンの配置は用途に応じて DMZ か Purdue L3 を選択</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37464"/>
            <a:ext cx="3429000" cy="8636005"/>
          </a:xfrm>
        </p:spPr>
        <p:txBody>
          <a:bodyPr>
            <a:noAutofit/>
          </a:bodyPr>
          <a:lstStyle/>
          <a:p>
            <a:pPr algn="l"/>
            <a:r>
              <a:rPr lang="ja-JP" altLang="en-US" sz="1300" dirty="0"/>
              <a:t>ヒストリアンは、攻撃面分析の観点から特に注意すべき存在です。</a:t>
            </a:r>
          </a:p>
          <a:p>
            <a:pPr algn="l"/>
            <a:r>
              <a:rPr lang="ja-JP" altLang="en-US" sz="1300" dirty="0"/>
              <a:t>理由は、ヒストリアンが ネットワークの信頼境界をまたいで配置されることが多い ためです。</a:t>
            </a:r>
          </a:p>
          <a:p>
            <a:pPr algn="l"/>
            <a:r>
              <a:rPr lang="ja-JP" altLang="en-US" sz="1300" dirty="0"/>
              <a:t>典型的には：</a:t>
            </a:r>
          </a:p>
          <a:p>
            <a:pPr algn="l"/>
            <a:r>
              <a:rPr lang="ja-JP" altLang="en-US" sz="1300" dirty="0"/>
              <a:t>• 	ICS DMZ にあるメインデータベースから</a:t>
            </a:r>
          </a:p>
          <a:p>
            <a:pPr algn="l"/>
            <a:r>
              <a:rPr lang="ja-JP" altLang="en-US" sz="1300" dirty="0"/>
              <a:t>• 	企業ネットワーク側のレプリカヒストリアンへデータが複製される</a:t>
            </a:r>
          </a:p>
          <a:p>
            <a:pPr algn="l"/>
            <a:r>
              <a:rPr lang="ja-JP" altLang="en-US" sz="1300" dirty="0"/>
              <a:t>という構成になっています。</a:t>
            </a:r>
          </a:p>
          <a:p>
            <a:pPr algn="l"/>
            <a:r>
              <a:rPr lang="ja-JP" altLang="en-US" sz="1300" dirty="0"/>
              <a:t>この構造は、</a:t>
            </a:r>
          </a:p>
          <a:p>
            <a:pPr algn="l"/>
            <a:r>
              <a:rPr lang="ja-JP" altLang="en-US" sz="1300" dirty="0"/>
              <a:t>企業ネットワーク → ICS への侵入経路 を攻撃者に提供してしまう可能性があります。</a:t>
            </a:r>
          </a:p>
          <a:p>
            <a:pPr algn="l"/>
            <a:endParaRPr lang="ja-JP" altLang="en-US" sz="1300" dirty="0"/>
          </a:p>
          <a:p>
            <a:pPr algn="l"/>
            <a:r>
              <a:rPr lang="ja-JP" altLang="en-US" sz="1300" dirty="0"/>
              <a:t>特に懸念されるのは SQL インジェクション</a:t>
            </a:r>
          </a:p>
          <a:p>
            <a:pPr algn="l"/>
            <a:r>
              <a:rPr lang="ja-JP" altLang="en-US" sz="1300" dirty="0"/>
              <a:t>ヒストリアンや ICS 関連データベースでは、</a:t>
            </a:r>
          </a:p>
          <a:p>
            <a:pPr algn="l"/>
            <a:r>
              <a:rPr lang="ja-JP" altLang="en-US" sz="1300" dirty="0"/>
              <a:t>SQL インジェクション脆弱性 が大きな懸念点です。</a:t>
            </a:r>
          </a:p>
          <a:p>
            <a:pPr algn="l"/>
            <a:r>
              <a:rPr lang="ja-JP" altLang="en-US" sz="1300" dirty="0"/>
              <a:t>ICS における DB のセキュリティ問題の多くは：</a:t>
            </a:r>
          </a:p>
          <a:p>
            <a:pPr algn="l"/>
            <a:r>
              <a:rPr lang="ja-JP" altLang="en-US" sz="1300" dirty="0"/>
              <a:t>• 	設定ミス（misconfiguration）</a:t>
            </a:r>
          </a:p>
          <a:p>
            <a:pPr algn="l"/>
            <a:r>
              <a:rPr lang="ja-JP" altLang="en-US" sz="1300" dirty="0"/>
              <a:t>• 	アーキテクチャ上の見落とし（oversight）</a:t>
            </a:r>
          </a:p>
          <a:p>
            <a:pPr algn="l"/>
            <a:r>
              <a:rPr lang="ja-JP" altLang="en-US" sz="1300" dirty="0"/>
              <a:t>から発生しています。</a:t>
            </a:r>
          </a:p>
          <a:p>
            <a:pPr algn="l"/>
            <a:r>
              <a:rPr lang="ja-JP" altLang="en-US" sz="1300" dirty="0"/>
              <a:t>また、ICS の現場や研究において、</a:t>
            </a:r>
          </a:p>
          <a:p>
            <a:pPr algn="l"/>
            <a:r>
              <a:rPr lang="ja-JP" altLang="en-US" sz="1300" dirty="0"/>
              <a:t>データベースが十分に研究されてこなかった という背景もあります。</a:t>
            </a:r>
          </a:p>
          <a:p>
            <a:pPr algn="l"/>
            <a:endParaRPr lang="ja-JP" altLang="en-US" sz="1300" dirty="0"/>
          </a:p>
          <a:p>
            <a:pPr algn="l"/>
            <a:r>
              <a:rPr lang="ja-JP" altLang="en-US" sz="1300" dirty="0"/>
              <a:t>データベースにも“ハウスキーピング”が必要</a:t>
            </a:r>
          </a:p>
          <a:p>
            <a:pPr algn="l"/>
            <a:r>
              <a:rPr lang="ja-JP" altLang="en-US" sz="1300" dirty="0"/>
              <a:t>ベンダーはバグ修正やセキュリティ修正のために</a:t>
            </a:r>
          </a:p>
          <a:p>
            <a:pPr algn="l"/>
            <a:r>
              <a:rPr lang="ja-JP" altLang="en-US" sz="1300" dirty="0"/>
              <a:t>パッチを提供する ことがあります。</a:t>
            </a:r>
          </a:p>
          <a:p>
            <a:pPr algn="l"/>
            <a:r>
              <a:rPr lang="ja-JP" altLang="en-US" sz="1300" dirty="0"/>
              <a:t>そのため、DB も OS やアプリケーションと同様に</a:t>
            </a:r>
          </a:p>
          <a:p>
            <a:pPr algn="l"/>
            <a:r>
              <a:rPr lang="ja-JP" altLang="en-US" sz="1300" dirty="0"/>
              <a:t>定期的なメンテナンス（ハウスキーピング）が必須 です。</a:t>
            </a:r>
          </a:p>
        </p:txBody>
      </p:sp>
      <p:pic>
        <p:nvPicPr>
          <p:cNvPr id="4" name="図 3">
            <a:extLst>
              <a:ext uri="{FF2B5EF4-FFF2-40B4-BE49-F238E27FC236}">
                <a16:creationId xmlns:a16="http://schemas.microsoft.com/office/drawing/2014/main" id="{2DA55B49-F924-40D7-89B0-2876D5EFD73F}"/>
              </a:ext>
            </a:extLst>
          </p:cNvPr>
          <p:cNvPicPr>
            <a:picLocks noChangeAspect="1"/>
          </p:cNvPicPr>
          <p:nvPr/>
        </p:nvPicPr>
        <p:blipFill>
          <a:blip r:embed="rId2"/>
          <a:stretch>
            <a:fillRect/>
          </a:stretch>
        </p:blipFill>
        <p:spPr>
          <a:xfrm>
            <a:off x="497536" y="118531"/>
            <a:ext cx="5862927" cy="3318933"/>
          </a:xfrm>
          <a:prstGeom prst="rect">
            <a:avLst/>
          </a:prstGeom>
        </p:spPr>
      </p:pic>
      <p:sp>
        <p:nvSpPr>
          <p:cNvPr id="5" name="サブタイトル 2">
            <a:extLst>
              <a:ext uri="{FF2B5EF4-FFF2-40B4-BE49-F238E27FC236}">
                <a16:creationId xmlns:a16="http://schemas.microsoft.com/office/drawing/2014/main" id="{9E11F073-B595-4D76-BCDD-CCCAFB76CD8B}"/>
              </a:ext>
            </a:extLst>
          </p:cNvPr>
          <p:cNvSpPr txBox="1">
            <a:spLocks/>
          </p:cNvSpPr>
          <p:nvPr/>
        </p:nvSpPr>
        <p:spPr>
          <a:xfrm>
            <a:off x="3428999" y="3437464"/>
            <a:ext cx="3429000" cy="8873068"/>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300" dirty="0"/>
              <a:t>ICS データベースの基本的なセキュリティ対策（To Do リスト）</a:t>
            </a:r>
          </a:p>
          <a:p>
            <a:pPr algn="l"/>
            <a:r>
              <a:rPr lang="ja-JP" altLang="en-US" sz="1300" dirty="0"/>
              <a:t>• ヒストリアン DBA をセキュリティ活動に積極的に関与させる</a:t>
            </a:r>
          </a:p>
          <a:p>
            <a:pPr algn="l"/>
            <a:r>
              <a:rPr lang="ja-JP" altLang="en-US" sz="1300" dirty="0"/>
              <a:t>ヒストリアンの管理者は、DB セキュリティの中心的役割を担うべきです。</a:t>
            </a:r>
          </a:p>
          <a:p>
            <a:pPr algn="l"/>
            <a:r>
              <a:rPr lang="ja-JP" altLang="en-US" sz="1300" dirty="0"/>
              <a:t>• 職務分離（Separation of Duties）を徹底する</a:t>
            </a:r>
          </a:p>
          <a:p>
            <a:pPr algn="l"/>
            <a:r>
              <a:rPr lang="ja-JP" altLang="en-US" sz="1300" dirty="0"/>
              <a:t>DBA が勝手に本番環境を変更できないよう、</a:t>
            </a:r>
          </a:p>
          <a:p>
            <a:pPr algn="l"/>
            <a:r>
              <a:rPr lang="ja-JP" altLang="en-US" sz="1300" dirty="0"/>
              <a:t>承認プロセスを含む適切な権限管理が必要です。</a:t>
            </a:r>
          </a:p>
          <a:p>
            <a:pPr algn="l"/>
            <a:r>
              <a:rPr lang="ja-JP" altLang="en-US" sz="1300" dirty="0"/>
              <a:t>• サーバと DB アプリケーションのパッチ適用戦略を持つ</a:t>
            </a:r>
          </a:p>
          <a:p>
            <a:pPr algn="l"/>
            <a:r>
              <a:rPr lang="ja-JP" altLang="en-US" sz="1300" dirty="0"/>
              <a:t>OS と DB の両方を定期的に更新する仕組みを作る。</a:t>
            </a:r>
          </a:p>
          <a:p>
            <a:pPr algn="l"/>
            <a:r>
              <a:rPr lang="ja-JP" altLang="en-US" sz="1300" dirty="0"/>
              <a:t>• DB プロセスを監査し、ハードコードされたパスワードを探す</a:t>
            </a:r>
          </a:p>
          <a:p>
            <a:pPr algn="l"/>
            <a:r>
              <a:rPr lang="ja-JP" altLang="en-US" sz="1300" dirty="0"/>
              <a:t>ICS ではアプリケーション内部にパスワードが埋め込まれているケースが多く、</a:t>
            </a:r>
          </a:p>
          <a:p>
            <a:pPr algn="l"/>
            <a:r>
              <a:rPr lang="ja-JP" altLang="en-US" sz="1300" dirty="0"/>
              <a:t>重大なリスクになります。</a:t>
            </a:r>
          </a:p>
          <a:p>
            <a:pPr algn="l"/>
            <a:r>
              <a:rPr lang="ja-JP" altLang="en-US" sz="1300" dirty="0"/>
              <a:t>• データベースのセキュリティテストを実施する</a:t>
            </a:r>
          </a:p>
          <a:p>
            <a:pPr algn="l"/>
            <a:r>
              <a:rPr lang="ja-JP" altLang="en-US" sz="1300" dirty="0"/>
              <a:t>以下を対象にテストすること：</a:t>
            </a:r>
          </a:p>
          <a:p>
            <a:pPr algn="l"/>
            <a:r>
              <a:rPr lang="ja-JP" altLang="en-US" sz="1300" dirty="0"/>
              <a:t>• 	ネットワーク接続</a:t>
            </a:r>
          </a:p>
          <a:p>
            <a:pPr algn="l"/>
            <a:r>
              <a:rPr lang="ja-JP" altLang="en-US" sz="1300" dirty="0"/>
              <a:t>• 	DB が使用するプロトコル</a:t>
            </a:r>
          </a:p>
          <a:p>
            <a:pPr algn="l"/>
            <a:r>
              <a:rPr lang="ja-JP" altLang="en-US" sz="1300" dirty="0"/>
              <a:t>• 	ホストサーバ</a:t>
            </a:r>
          </a:p>
          <a:p>
            <a:pPr algn="l"/>
            <a:r>
              <a:rPr lang="ja-JP" altLang="en-US" sz="1300" dirty="0"/>
              <a:t>• 	Web インターフェース</a:t>
            </a:r>
          </a:p>
          <a:p>
            <a:pPr algn="l"/>
            <a:r>
              <a:rPr lang="ja-JP" altLang="en-US" sz="1300" dirty="0"/>
              <a:t>• 	SQL インジェクション耐性</a:t>
            </a:r>
          </a:p>
          <a:p>
            <a:pPr algn="l"/>
            <a:r>
              <a:rPr lang="ja-JP" altLang="en-US" sz="1300" dirty="0"/>
              <a:t>• 	DB アカウント</a:t>
            </a:r>
          </a:p>
          <a:p>
            <a:pPr algn="l"/>
            <a:r>
              <a:rPr lang="ja-JP" altLang="en-US" sz="1300" dirty="0"/>
              <a:t>• 	証明書の設定</a:t>
            </a:r>
          </a:p>
          <a:p>
            <a:pPr algn="l"/>
            <a:r>
              <a:rPr lang="ja-JP" altLang="en-US" sz="1300" dirty="0"/>
              <a:t>• クライアントとサーバで同じ証明書を使わない</a:t>
            </a:r>
          </a:p>
          <a:p>
            <a:pPr algn="l"/>
            <a:r>
              <a:rPr lang="ja-JP" altLang="en-US" sz="1300" dirty="0"/>
              <a:t>暗号化・認証に同一証明書を使うのは危険で、</a:t>
            </a:r>
          </a:p>
          <a:p>
            <a:pPr algn="l"/>
            <a:r>
              <a:rPr lang="ja-JP" altLang="en-US" sz="1300" dirty="0"/>
              <a:t>証明書の分離が必須です。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BCECF4F-4F8E-4624-867A-153548B8D7BA}"/>
              </a:ext>
            </a:extLst>
          </p:cNvPr>
          <p:cNvPicPr>
            <a:picLocks noChangeAspect="1"/>
          </p:cNvPicPr>
          <p:nvPr/>
        </p:nvPicPr>
        <p:blipFill>
          <a:blip r:embed="rId2"/>
          <a:stretch>
            <a:fillRect/>
          </a:stretch>
        </p:blipFill>
        <p:spPr>
          <a:xfrm>
            <a:off x="279399" y="118531"/>
            <a:ext cx="6299201" cy="357909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4EBEA6C5-E4A2-4A8E-991B-AD0AA63D9679}"/>
              </a:ext>
            </a:extLst>
          </p:cNvPr>
          <p:cNvPicPr>
            <a:picLocks noChangeAspect="1"/>
          </p:cNvPicPr>
          <p:nvPr/>
        </p:nvPicPr>
        <p:blipFill>
          <a:blip r:embed="rId2"/>
          <a:stretch>
            <a:fillRect/>
          </a:stretch>
        </p:blipFill>
        <p:spPr>
          <a:xfrm>
            <a:off x="203200" y="126205"/>
            <a:ext cx="6451600" cy="366686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526B43B9-ADF1-4F4C-BDA0-527AE309373F}"/>
              </a:ext>
            </a:extLst>
          </p:cNvPr>
          <p:cNvPicPr>
            <a:picLocks noChangeAspect="1"/>
          </p:cNvPicPr>
          <p:nvPr/>
        </p:nvPicPr>
        <p:blipFill>
          <a:blip r:embed="rId2"/>
          <a:stretch>
            <a:fillRect/>
          </a:stretch>
        </p:blipFill>
        <p:spPr>
          <a:xfrm>
            <a:off x="169333" y="129769"/>
            <a:ext cx="6519333" cy="371409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B570A54C-DBE3-467F-8EDE-47DED11CCDD7}"/>
              </a:ext>
            </a:extLst>
          </p:cNvPr>
          <p:cNvPicPr>
            <a:picLocks noChangeAspect="1"/>
          </p:cNvPicPr>
          <p:nvPr/>
        </p:nvPicPr>
        <p:blipFill>
          <a:blip r:embed="rId2"/>
          <a:stretch>
            <a:fillRect/>
          </a:stretch>
        </p:blipFill>
        <p:spPr>
          <a:xfrm>
            <a:off x="245533" y="221561"/>
            <a:ext cx="6366933" cy="36053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9256" y="3877732"/>
            <a:ext cx="6852285" cy="8314268"/>
          </a:xfrm>
        </p:spPr>
        <p:txBody>
          <a:bodyPr>
            <a:normAutofit/>
          </a:bodyPr>
          <a:lstStyle/>
          <a:p>
            <a:pPr algn="l"/>
            <a:r>
              <a:rPr lang="ja-JP" altLang="en-US" sz="1600" dirty="0"/>
              <a:t>ヒューマン・マシン・インターフェース（HMI）は、さまざまな形態を取ります。</a:t>
            </a:r>
          </a:p>
          <a:p>
            <a:pPr algn="l"/>
            <a:r>
              <a:rPr lang="ja-JP" altLang="en-US" sz="1600" dirty="0"/>
              <a:t>例：</a:t>
            </a:r>
          </a:p>
          <a:p>
            <a:pPr algn="l"/>
            <a:r>
              <a:rPr lang="ja-JP" altLang="en-US" sz="1600" dirty="0"/>
              <a:t>- 伝統的な インジケータランプやスイッチパネル</a:t>
            </a:r>
          </a:p>
          <a:p>
            <a:pPr algn="l"/>
            <a:r>
              <a:rPr lang="ja-JP" altLang="en-US" sz="1600" dirty="0"/>
              <a:t>- シリアル接続された 表示パネル</a:t>
            </a:r>
          </a:p>
          <a:p>
            <a:pPr algn="l"/>
            <a:r>
              <a:rPr lang="ja-JP" altLang="en-US" sz="1600" dirty="0"/>
              <a:t>- RPC ベースの OPC や HTTP などを利用する ネットワーク型 HMI</a:t>
            </a:r>
          </a:p>
          <a:p>
            <a:pPr algn="l"/>
            <a:r>
              <a:rPr lang="ja-JP" altLang="en-US" sz="1600" dirty="0"/>
              <a:t>これらの HMI は、制御システムの状態を表示するだけでなく、</a:t>
            </a:r>
          </a:p>
          <a:p>
            <a:pPr algn="l"/>
            <a:r>
              <a:rPr lang="ja-JP" altLang="en-US" sz="1600" dirty="0"/>
              <a:t>システムの動作を変更したり、手動で介入（override）するための手段 を提供します。</a:t>
            </a:r>
          </a:p>
          <a:p>
            <a:pPr algn="l"/>
            <a:r>
              <a:rPr lang="ja-JP" altLang="en-US" sz="1600" dirty="0"/>
              <a:t>そのため、HMI は攻撃者にとって 最優先の標的 になります。</a:t>
            </a:r>
          </a:p>
          <a:p>
            <a:pPr algn="l"/>
            <a:endParaRPr lang="ja-JP" altLang="en-US" sz="1600" dirty="0"/>
          </a:p>
          <a:p>
            <a:pPr algn="l"/>
            <a:r>
              <a:rPr lang="ja-JP" altLang="en-US" sz="1600" dirty="0"/>
              <a:t>なぜ HMI が狙われるのか</a:t>
            </a:r>
          </a:p>
          <a:p>
            <a:pPr algn="l"/>
            <a:r>
              <a:rPr lang="ja-JP" altLang="en-US" sz="1600" dirty="0"/>
              <a:t>- 制御プロセスの“見える化”と“操作”の中心点</a:t>
            </a:r>
          </a:p>
          <a:p>
            <a:pPr algn="l"/>
            <a:r>
              <a:rPr lang="ja-JP" altLang="en-US" sz="1600" dirty="0"/>
              <a:t>- オペレーターが見る情報を偽装すれば、異常を隠せる</a:t>
            </a:r>
          </a:p>
          <a:p>
            <a:pPr algn="l"/>
            <a:r>
              <a:rPr lang="ja-JP" altLang="en-US" sz="1600" dirty="0"/>
              <a:t>- HMI を乗っ取れば、プロセスを直接操作できる</a:t>
            </a:r>
          </a:p>
          <a:p>
            <a:pPr algn="l"/>
            <a:r>
              <a:rPr lang="ja-JP" altLang="en-US" sz="1600" dirty="0"/>
              <a:t>- 多くが Windows ベースで、攻撃者にとって扱いやすい</a:t>
            </a:r>
          </a:p>
          <a:p>
            <a:pPr algn="l"/>
            <a:r>
              <a:rPr lang="ja-JP" altLang="en-US" sz="1600" dirty="0"/>
              <a:t>つまり、HMI は ICS の「目」と「手」に相当するため、</a:t>
            </a:r>
          </a:p>
          <a:p>
            <a:pPr algn="l"/>
            <a:r>
              <a:rPr lang="ja-JP" altLang="en-US" sz="1600" dirty="0"/>
              <a:t>攻撃者にとって非常に価値の高いターゲットです。</a:t>
            </a:r>
          </a:p>
        </p:txBody>
      </p:sp>
      <p:pic>
        <p:nvPicPr>
          <p:cNvPr id="4" name="図 3">
            <a:extLst>
              <a:ext uri="{FF2B5EF4-FFF2-40B4-BE49-F238E27FC236}">
                <a16:creationId xmlns:a16="http://schemas.microsoft.com/office/drawing/2014/main" id="{59C117D0-56ED-4967-9314-827BB84EF48F}"/>
              </a:ext>
            </a:extLst>
          </p:cNvPr>
          <p:cNvPicPr>
            <a:picLocks noChangeAspect="1"/>
          </p:cNvPicPr>
          <p:nvPr/>
        </p:nvPicPr>
        <p:blipFill>
          <a:blip r:embed="rId2"/>
          <a:stretch>
            <a:fillRect/>
          </a:stretch>
        </p:blipFill>
        <p:spPr>
          <a:xfrm>
            <a:off x="244998" y="163659"/>
            <a:ext cx="6400800" cy="362940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911600"/>
            <a:ext cx="6852285" cy="6312535"/>
          </a:xfrm>
        </p:spPr>
        <p:txBody>
          <a:bodyPr>
            <a:normAutofit/>
          </a:bodyPr>
          <a:lstStyle/>
          <a:p>
            <a:pPr algn="l"/>
            <a:r>
              <a:rPr lang="ja-JP" altLang="en-US" sz="1400" dirty="0"/>
              <a:t>ウクライナ電力網への攻撃について、より詳細な解説と分析を確認したい場合は、</a:t>
            </a:r>
          </a:p>
          <a:p>
            <a:pPr algn="l"/>
            <a:r>
              <a:rPr lang="ja-JP" altLang="en-US" sz="1400" dirty="0"/>
              <a:t>コースのメディアファイルに含まれている Defense Use Case（DUC） を参照してください。</a:t>
            </a:r>
          </a:p>
          <a:p>
            <a:pPr algn="l"/>
            <a:r>
              <a:rPr lang="ja-JP" altLang="en-US" sz="1400" dirty="0"/>
              <a:t>この DUC は、コースメディアに収録されている多数の DUC や研究論文のうちのひとつです。</a:t>
            </a:r>
          </a:p>
        </p:txBody>
      </p:sp>
      <p:pic>
        <p:nvPicPr>
          <p:cNvPr id="4" name="図 3">
            <a:extLst>
              <a:ext uri="{FF2B5EF4-FFF2-40B4-BE49-F238E27FC236}">
                <a16:creationId xmlns:a16="http://schemas.microsoft.com/office/drawing/2014/main" id="{240DFC2F-2E89-422E-B8ED-D416A66A8F18}"/>
              </a:ext>
            </a:extLst>
          </p:cNvPr>
          <p:cNvPicPr>
            <a:picLocks noChangeAspect="1"/>
          </p:cNvPicPr>
          <p:nvPr/>
        </p:nvPicPr>
        <p:blipFill>
          <a:blip r:embed="rId2"/>
          <a:stretch>
            <a:fillRect/>
          </a:stretch>
        </p:blipFill>
        <p:spPr>
          <a:xfrm>
            <a:off x="242674" y="154821"/>
            <a:ext cx="6366934" cy="362608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623729"/>
            <a:ext cx="6852285" cy="7230534"/>
          </a:xfrm>
        </p:spPr>
        <p:txBody>
          <a:bodyPr>
            <a:normAutofit fontScale="97500"/>
          </a:bodyPr>
          <a:lstStyle/>
          <a:p>
            <a:pPr algn="l"/>
            <a:r>
              <a:rPr lang="ja-JP" altLang="en-US" sz="1400" dirty="0"/>
              <a:t>近年、多くの HMI（Human Machine Interface）は Web ベースのインターフェース を備えるようになっています。</a:t>
            </a:r>
          </a:p>
          <a:p>
            <a:pPr algn="l"/>
            <a:r>
              <a:rPr lang="ja-JP" altLang="en-US" sz="1400" dirty="0"/>
              <a:t>これにより、HMI ステーションの展開が容易になり、</a:t>
            </a:r>
          </a:p>
          <a:p>
            <a:pPr algn="l"/>
            <a:r>
              <a:rPr lang="ja-JP" altLang="en-US" sz="1400" dirty="0"/>
              <a:t>ブラウザを正しい URL に向けるだけで、どんなワークステーションやノート PC でも HMI として利用できるようになりました。</a:t>
            </a:r>
          </a:p>
          <a:p>
            <a:pPr algn="l"/>
            <a:r>
              <a:rPr lang="ja-JP" altLang="en-US" sz="1400" dirty="0"/>
              <a:t>しかし、Web ベースの HMI には、</a:t>
            </a:r>
          </a:p>
          <a:p>
            <a:pPr algn="l"/>
            <a:r>
              <a:rPr lang="ja-JP" altLang="en-US" sz="1400" dirty="0"/>
              <a:t>現代の Web アプリケーションが抱える多くの脆弱性がそのまま存在する可能性 があります。</a:t>
            </a:r>
          </a:p>
          <a:p>
            <a:pPr algn="l"/>
            <a:endParaRPr lang="ja-JP" altLang="en-US" sz="1400" dirty="0"/>
          </a:p>
          <a:p>
            <a:pPr algn="l"/>
            <a:r>
              <a:rPr lang="ja-JP" altLang="en-US" sz="1400" dirty="0"/>
              <a:t>これから説明する、Web ベース HMI に影響する代表的な脆弱性</a:t>
            </a:r>
          </a:p>
          <a:p>
            <a:pPr algn="l"/>
            <a:r>
              <a:rPr lang="ja-JP" altLang="en-US" sz="1400" dirty="0"/>
              <a:t>以下の脆弱性は Web HMI に限らず、</a:t>
            </a:r>
          </a:p>
          <a:p>
            <a:pPr algn="l"/>
            <a:r>
              <a:rPr lang="ja-JP" altLang="en-US" sz="1400" dirty="0"/>
              <a:t>非 Web 型の HMI や ICS のユーザーインターフェースにも影響する場合があります。</a:t>
            </a:r>
          </a:p>
          <a:p>
            <a:pPr algn="l"/>
            <a:r>
              <a:rPr lang="ja-JP" altLang="en-US" sz="1400" dirty="0"/>
              <a:t>• 	認証バイパス（Authentication Bypass）</a:t>
            </a:r>
          </a:p>
          <a:p>
            <a:pPr algn="l"/>
            <a:r>
              <a:rPr lang="ja-JP" altLang="en-US" sz="1400" dirty="0"/>
              <a:t>• 	弱いセッション管理（Weak Session Management）</a:t>
            </a:r>
          </a:p>
          <a:p>
            <a:pPr algn="l"/>
            <a:r>
              <a:rPr lang="ja-JP" altLang="en-US" sz="1400" dirty="0"/>
              <a:t>• 	SQL インジェクション（SQLi）</a:t>
            </a:r>
          </a:p>
          <a:p>
            <a:pPr algn="l"/>
            <a:r>
              <a:rPr lang="ja-JP" altLang="en-US" sz="1400" dirty="0"/>
              <a:t>• 	クロスサイトスクリプティング（XSS）</a:t>
            </a:r>
          </a:p>
          <a:p>
            <a:pPr algn="l"/>
            <a:r>
              <a:rPr lang="ja-JP" altLang="en-US" sz="1400" dirty="0"/>
              <a:t>• 	クロスサイトリクエストフォージェリ（CSRF/XSRF）</a:t>
            </a:r>
          </a:p>
          <a:p>
            <a:pPr algn="l"/>
            <a:r>
              <a:rPr lang="ja-JP" altLang="en-US" sz="1400" dirty="0"/>
              <a:t>• 	ローカル／リモートファイルインクルージョン（LFI / RFI）</a:t>
            </a:r>
          </a:p>
          <a:p>
            <a:pPr algn="l"/>
            <a:r>
              <a:rPr lang="ja-JP" altLang="en-US" sz="1400" dirty="0"/>
              <a:t>これらはすべて、一般的な Web アプリケーションの脆弱性として知られていますが、</a:t>
            </a:r>
          </a:p>
          <a:p>
            <a:pPr algn="l"/>
            <a:r>
              <a:rPr lang="ja-JP" altLang="en-US" sz="1400" dirty="0"/>
              <a:t>Web 化が進む ICS/HMI においても 同じ攻撃が成立する という点が重要です。</a:t>
            </a:r>
          </a:p>
          <a:p>
            <a:pPr algn="l"/>
            <a:endParaRPr lang="ja-JP" altLang="en-US" sz="1400" dirty="0"/>
          </a:p>
          <a:p>
            <a:pPr algn="l"/>
            <a:r>
              <a:rPr lang="ja-JP" altLang="en-US" sz="1400" dirty="0"/>
              <a:t>参考資料</a:t>
            </a:r>
          </a:p>
          <a:p>
            <a:pPr algn="l"/>
            <a:r>
              <a:rPr lang="ja-JP" altLang="en-US" sz="1400" dirty="0"/>
              <a:t>OWASP Top 10（Web アプリケーション脆弱性の代表的な分類）</a:t>
            </a:r>
          </a:p>
          <a:p>
            <a:pPr algn="l"/>
            <a:r>
              <a:rPr lang="ja-JP" altLang="en-US" sz="1400" dirty="0"/>
              <a:t>https://owasp.org/www-project-top-ten/</a:t>
            </a:r>
          </a:p>
        </p:txBody>
      </p:sp>
      <p:pic>
        <p:nvPicPr>
          <p:cNvPr id="4" name="図 3">
            <a:extLst>
              <a:ext uri="{FF2B5EF4-FFF2-40B4-BE49-F238E27FC236}">
                <a16:creationId xmlns:a16="http://schemas.microsoft.com/office/drawing/2014/main" id="{4660AEC7-B784-4D9F-B4A7-298B923BBA95}"/>
              </a:ext>
            </a:extLst>
          </p:cNvPr>
          <p:cNvPicPr>
            <a:picLocks noChangeAspect="1"/>
          </p:cNvPicPr>
          <p:nvPr/>
        </p:nvPicPr>
        <p:blipFill>
          <a:blip r:embed="rId2"/>
          <a:stretch>
            <a:fillRect/>
          </a:stretch>
        </p:blipFill>
        <p:spPr>
          <a:xfrm>
            <a:off x="394035" y="118530"/>
            <a:ext cx="6064211" cy="343746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74529"/>
            <a:ext cx="6852285" cy="7433735"/>
          </a:xfrm>
        </p:spPr>
        <p:txBody>
          <a:bodyPr>
            <a:normAutofit fontScale="95000"/>
          </a:bodyPr>
          <a:lstStyle/>
          <a:p>
            <a:pPr algn="l"/>
            <a:r>
              <a:rPr lang="ja-JP" altLang="en-US" sz="1400" dirty="0"/>
              <a:t>ほとんどのアプリケーションには、ユーザー名とパスワードでユーザーを保護する機能があります。</a:t>
            </a:r>
          </a:p>
          <a:p>
            <a:pPr algn="l"/>
            <a:r>
              <a:rPr lang="ja-JP" altLang="en-US" sz="1400" dirty="0"/>
              <a:t>これが 認証（Authentication） です。</a:t>
            </a:r>
          </a:p>
          <a:p>
            <a:pPr algn="l"/>
            <a:r>
              <a:rPr lang="ja-JP" altLang="en-US" sz="1400" dirty="0"/>
              <a:t>しかし、開発者が認証機能を正しく実装していない場合、攻撃者に 認証をバイパスされてしまう ことがあります。</a:t>
            </a:r>
          </a:p>
          <a:p>
            <a:pPr algn="l"/>
            <a:r>
              <a:rPr lang="ja-JP" altLang="en-US" sz="1400" dirty="0"/>
              <a:t>これはさまざまな形で発生します。</a:t>
            </a:r>
          </a:p>
          <a:p>
            <a:pPr algn="l"/>
            <a:endParaRPr lang="ja-JP" altLang="en-US" sz="1400" dirty="0"/>
          </a:p>
          <a:p>
            <a:pPr algn="l"/>
            <a:r>
              <a:rPr lang="ja-JP" altLang="en-US" sz="1400" dirty="0"/>
              <a:t>よくある認証バイパスの原因：ページごとの認証チェック漏れ</a:t>
            </a:r>
          </a:p>
          <a:p>
            <a:pPr algn="l"/>
            <a:r>
              <a:rPr lang="ja-JP" altLang="en-US" sz="1400" dirty="0"/>
              <a:t>Web アプリケーションでは、各ページが別々のコードで生成されることが多いため、すべてのページが「ユーザーがログインしているか」を確認しなければなりません。</a:t>
            </a:r>
          </a:p>
          <a:p>
            <a:pPr algn="l"/>
            <a:r>
              <a:rPr lang="ja-JP" altLang="en-US" sz="1400" dirty="0"/>
              <a:t>しかし、開発者がこれを忘れると：</a:t>
            </a:r>
          </a:p>
          <a:p>
            <a:pPr algn="l"/>
            <a:r>
              <a:rPr lang="ja-JP" altLang="en-US" sz="1400" dirty="0"/>
              <a:t>- 攻撃者が特定のリクエストを直接送信する</a:t>
            </a:r>
          </a:p>
          <a:p>
            <a:pPr algn="l"/>
            <a:r>
              <a:rPr lang="ja-JP" altLang="en-US" sz="1400" dirty="0"/>
              <a:t>- そのページが「ログイン済みかどうか」を確認しない</a:t>
            </a:r>
          </a:p>
          <a:p>
            <a:pPr algn="l"/>
            <a:r>
              <a:rPr lang="ja-JP" altLang="en-US" sz="1400" dirty="0"/>
              <a:t>- 結果として 認証なしで操作が成功してしまう</a:t>
            </a:r>
          </a:p>
          <a:p>
            <a:pPr algn="l"/>
            <a:r>
              <a:rPr lang="ja-JP" altLang="en-US" sz="1400" dirty="0"/>
              <a:t>という状況が発生します。</a:t>
            </a:r>
          </a:p>
          <a:p>
            <a:pPr algn="l"/>
            <a:r>
              <a:rPr lang="ja-JP" altLang="en-US" sz="1400" dirty="0"/>
              <a:t>これは軽微なページで起きることもありますが、制御信号の送信など、極めて重要な操作で起きる可能性もあります。</a:t>
            </a:r>
          </a:p>
          <a:p>
            <a:pPr algn="l"/>
            <a:endParaRPr lang="ja-JP" altLang="en-US" sz="1400" dirty="0"/>
          </a:p>
          <a:p>
            <a:pPr algn="l"/>
            <a:r>
              <a:rPr lang="ja-JP" altLang="en-US" sz="1400" dirty="0"/>
              <a:t>典型的な失敗例</a:t>
            </a:r>
          </a:p>
          <a:p>
            <a:pPr algn="l"/>
            <a:r>
              <a:rPr lang="ja-JP" altLang="en-US" sz="1400" dirty="0"/>
              <a:t>セキュリティ初心者の開発者がやりがちな誤りとして：</a:t>
            </a:r>
          </a:p>
          <a:p>
            <a:pPr algn="l"/>
            <a:r>
              <a:rPr lang="ja-JP" altLang="en-US" sz="1400" dirty="0"/>
              <a:t>- ログインページだけ 認証チェックを実装</a:t>
            </a:r>
          </a:p>
          <a:p>
            <a:pPr algn="l"/>
            <a:r>
              <a:rPr lang="ja-JP" altLang="en-US" sz="1400" dirty="0"/>
              <a:t>- それ以外のページは 認証チェックなしでアクセス可能</a:t>
            </a:r>
          </a:p>
          <a:p>
            <a:pPr algn="l"/>
            <a:r>
              <a:rPr lang="ja-JP" altLang="en-US" sz="1400" dirty="0"/>
              <a:t>というケースがあります。</a:t>
            </a:r>
          </a:p>
          <a:p>
            <a:pPr algn="l"/>
            <a:r>
              <a:rPr lang="ja-JP" altLang="en-US" sz="1400" dirty="0"/>
              <a:t>この場合、攻撃者は：</a:t>
            </a:r>
          </a:p>
          <a:p>
            <a:pPr algn="l"/>
            <a:r>
              <a:rPr lang="ja-JP" altLang="en-US" sz="1400" dirty="0"/>
              <a:t>- そのページがどんなリクエストを受け付けるか</a:t>
            </a:r>
          </a:p>
          <a:p>
            <a:pPr algn="l"/>
            <a:r>
              <a:rPr lang="ja-JP" altLang="en-US" sz="1400" dirty="0"/>
              <a:t>- あるいはログイン後のメニュー画面の URL</a:t>
            </a:r>
          </a:p>
          <a:p>
            <a:pPr algn="l"/>
            <a:r>
              <a:rPr lang="ja-JP" altLang="en-US" sz="1400" dirty="0"/>
              <a:t>さえ知っていれば、ログインせずに操作を実行できてしまう ことになります。</a:t>
            </a:r>
          </a:p>
        </p:txBody>
      </p:sp>
      <p:pic>
        <p:nvPicPr>
          <p:cNvPr id="4" name="図 3">
            <a:extLst>
              <a:ext uri="{FF2B5EF4-FFF2-40B4-BE49-F238E27FC236}">
                <a16:creationId xmlns:a16="http://schemas.microsoft.com/office/drawing/2014/main" id="{D3A76583-D9EF-49E0-B33E-172B927AB5A6}"/>
              </a:ext>
            </a:extLst>
          </p:cNvPr>
          <p:cNvPicPr>
            <a:picLocks noChangeAspect="1"/>
          </p:cNvPicPr>
          <p:nvPr/>
        </p:nvPicPr>
        <p:blipFill>
          <a:blip r:embed="rId2"/>
          <a:stretch>
            <a:fillRect/>
          </a:stretch>
        </p:blipFill>
        <p:spPr>
          <a:xfrm>
            <a:off x="326366" y="67731"/>
            <a:ext cx="6205268" cy="352213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74528"/>
            <a:ext cx="6852285" cy="8331201"/>
          </a:xfrm>
        </p:spPr>
        <p:txBody>
          <a:bodyPr>
            <a:normAutofit fontScale="97500" lnSpcReduction="10000"/>
          </a:bodyPr>
          <a:lstStyle/>
          <a:p>
            <a:pPr algn="l"/>
            <a:r>
              <a:rPr lang="ja-JP" altLang="en-US" sz="1400" dirty="0"/>
              <a:t>アプリケーションにユーザー名とパスワードを入力してログインすると、</a:t>
            </a:r>
          </a:p>
          <a:p>
            <a:pPr algn="l"/>
            <a:r>
              <a:rPr lang="ja-JP" altLang="en-US" sz="1400" dirty="0"/>
              <a:t>アプリケーションは通常、セッショントークンを含む安全なクッキー を発行します。</a:t>
            </a:r>
          </a:p>
          <a:p>
            <a:pPr algn="l"/>
            <a:r>
              <a:rPr lang="ja-JP" altLang="en-US" sz="1400" dirty="0"/>
              <a:t>これは、HTTP が セッションレス（状態を保持しない）プロトコル であり、</a:t>
            </a:r>
          </a:p>
          <a:p>
            <a:pPr algn="l"/>
            <a:r>
              <a:rPr lang="ja-JP" altLang="en-US" sz="1400" dirty="0"/>
              <a:t>同じブラウザからの後続リクエストが「同じユーザー」であることを</a:t>
            </a:r>
          </a:p>
          <a:p>
            <a:pPr algn="l"/>
            <a:r>
              <a:rPr lang="ja-JP" altLang="en-US" sz="1400" dirty="0"/>
              <a:t>自動的に識別する仕組みを持っていないためです。</a:t>
            </a:r>
          </a:p>
          <a:p>
            <a:pPr algn="l"/>
            <a:r>
              <a:rPr lang="ja-JP" altLang="en-US" sz="1400" dirty="0"/>
              <a:t>クッキーには、例えば次のような値が入ります：</a:t>
            </a:r>
          </a:p>
          <a:p>
            <a:pPr algn="l"/>
            <a:r>
              <a:rPr lang="ja-JP" altLang="en-US" sz="1400" dirty="0"/>
              <a:t>jsessionid=a1d0c6e83f027327d8461063f4ac58a6</a:t>
            </a:r>
          </a:p>
          <a:p>
            <a:pPr algn="l"/>
            <a:endParaRPr lang="ja-JP" altLang="en-US" sz="1400" dirty="0"/>
          </a:p>
          <a:p>
            <a:pPr algn="l"/>
            <a:r>
              <a:rPr lang="ja-JP" altLang="en-US" sz="1400" dirty="0"/>
              <a:t>ブラウザは、以降のすべてのリクエストでこのクッキーをサーバに送り返し、</a:t>
            </a:r>
          </a:p>
          <a:p>
            <a:pPr algn="l"/>
            <a:r>
              <a:rPr lang="ja-JP" altLang="en-US" sz="1400" dirty="0"/>
              <a:t>サーバはそれを使って「誰が操作しているか」を判断します。</a:t>
            </a:r>
          </a:p>
          <a:p>
            <a:pPr algn="l"/>
            <a:endParaRPr lang="ja-JP" altLang="en-US" sz="1400" dirty="0"/>
          </a:p>
          <a:p>
            <a:pPr algn="l"/>
            <a:r>
              <a:rPr lang="ja-JP" altLang="en-US" sz="1400" dirty="0"/>
              <a:t>弱いセッション ID が攻撃者に悪用される</a:t>
            </a:r>
          </a:p>
          <a:p>
            <a:pPr algn="l"/>
            <a:r>
              <a:rPr lang="ja-JP" altLang="en-US" sz="1400" dirty="0"/>
              <a:t>もしセッション ID が次のように 単純な値 だった場合：</a:t>
            </a:r>
          </a:p>
          <a:p>
            <a:pPr algn="l"/>
            <a:r>
              <a:rPr lang="ja-JP" altLang="en-US" sz="1400" dirty="0"/>
              <a:t>userid=42</a:t>
            </a:r>
          </a:p>
          <a:p>
            <a:pPr algn="l"/>
            <a:endParaRPr lang="ja-JP" altLang="en-US" sz="1400" dirty="0"/>
          </a:p>
          <a:p>
            <a:pPr algn="l"/>
            <a:r>
              <a:rPr lang="ja-JP" altLang="en-US" sz="1400" dirty="0"/>
              <a:t>攻撃者がユーザー ID を推測できれば、</a:t>
            </a:r>
          </a:p>
          <a:p>
            <a:pPr algn="l"/>
            <a:r>
              <a:rPr lang="ja-JP" altLang="en-US" sz="1400" dirty="0"/>
              <a:t>セッションを乗っ取る（Session Hijacking） ことが可能になります。</a:t>
            </a:r>
          </a:p>
          <a:p>
            <a:pPr algn="l"/>
            <a:r>
              <a:rPr lang="ja-JP" altLang="en-US" sz="1400" dirty="0"/>
              <a:t>つまり攻撃者はサーバを騙し、</a:t>
            </a:r>
          </a:p>
          <a:p>
            <a:pPr algn="l"/>
            <a:r>
              <a:rPr lang="ja-JP" altLang="en-US" sz="1400" dirty="0"/>
              <a:t>「攻撃者のブラウザからの通信も、あなたの通信である」と思わせることができます。</a:t>
            </a:r>
          </a:p>
          <a:p>
            <a:pPr algn="l"/>
            <a:r>
              <a:rPr lang="ja-JP" altLang="en-US" sz="1400" dirty="0"/>
              <a:t>その結果、攻撃者はあなたがアプリケーションで実行できる操作を</a:t>
            </a:r>
          </a:p>
          <a:p>
            <a:pPr algn="l"/>
            <a:r>
              <a:rPr lang="ja-JP" altLang="en-US" sz="1400" dirty="0"/>
              <a:t>すべて実行できてしまう ことになります。</a:t>
            </a:r>
          </a:p>
          <a:p>
            <a:pPr algn="l"/>
            <a:endParaRPr lang="ja-JP" altLang="en-US" sz="1400" dirty="0"/>
          </a:p>
          <a:p>
            <a:pPr algn="l"/>
            <a:r>
              <a:rPr lang="ja-JP" altLang="en-US" sz="1400" dirty="0"/>
              <a:t>攻撃者がよく行う行動：パスワード変更</a:t>
            </a:r>
          </a:p>
          <a:p>
            <a:pPr algn="l"/>
            <a:r>
              <a:rPr lang="ja-JP" altLang="en-US" sz="1400" dirty="0"/>
              <a:t>セッションを乗っ取った攻撃者がよく行うのは：</a:t>
            </a:r>
          </a:p>
          <a:p>
            <a:pPr algn="l"/>
            <a:r>
              <a:rPr lang="ja-JP" altLang="en-US" sz="1400" dirty="0"/>
              <a:t>- すぐにあなたのパスワードを変更する</a:t>
            </a:r>
          </a:p>
          <a:p>
            <a:pPr algn="l"/>
            <a:r>
              <a:rPr lang="ja-JP" altLang="en-US" sz="1400" dirty="0"/>
              <a:t>という行為です。</a:t>
            </a:r>
          </a:p>
          <a:p>
            <a:pPr algn="l"/>
            <a:r>
              <a:rPr lang="ja-JP" altLang="en-US" sz="1400" dirty="0"/>
              <a:t>これにより：</a:t>
            </a:r>
          </a:p>
          <a:p>
            <a:pPr algn="l"/>
            <a:r>
              <a:rPr lang="ja-JP" altLang="en-US" sz="1400" dirty="0"/>
              <a:t>- 攻撃者は継続してログインできる</a:t>
            </a:r>
          </a:p>
          <a:p>
            <a:pPr algn="l"/>
            <a:r>
              <a:rPr lang="ja-JP" altLang="en-US" sz="1400" dirty="0"/>
              <a:t>- あなたはログインできなくなる</a:t>
            </a:r>
          </a:p>
          <a:p>
            <a:pPr algn="l"/>
            <a:r>
              <a:rPr lang="ja-JP" altLang="en-US" sz="1400" dirty="0"/>
              <a:t>という状況が作られます。</a:t>
            </a:r>
          </a:p>
          <a:p>
            <a:pPr algn="l"/>
            <a:endParaRPr lang="ja-JP" altLang="en-US" sz="1400" dirty="0"/>
          </a:p>
          <a:p>
            <a:pPr algn="l"/>
            <a:endParaRPr lang="ja-JP" altLang="en-US" sz="1400" dirty="0"/>
          </a:p>
        </p:txBody>
      </p:sp>
      <p:pic>
        <p:nvPicPr>
          <p:cNvPr id="4" name="図 3">
            <a:extLst>
              <a:ext uri="{FF2B5EF4-FFF2-40B4-BE49-F238E27FC236}">
                <a16:creationId xmlns:a16="http://schemas.microsoft.com/office/drawing/2014/main" id="{7DECEBF6-385A-486C-BAC1-BFF2680C25C9}"/>
              </a:ext>
            </a:extLst>
          </p:cNvPr>
          <p:cNvPicPr>
            <a:picLocks noChangeAspect="1"/>
          </p:cNvPicPr>
          <p:nvPr/>
        </p:nvPicPr>
        <p:blipFill>
          <a:blip r:embed="rId2"/>
          <a:stretch>
            <a:fillRect/>
          </a:stretch>
        </p:blipFill>
        <p:spPr>
          <a:xfrm>
            <a:off x="394995" y="135463"/>
            <a:ext cx="6062294" cy="343746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74178"/>
            <a:ext cx="3429000" cy="8569748"/>
          </a:xfrm>
        </p:spPr>
        <p:txBody>
          <a:bodyPr>
            <a:normAutofit fontScale="92500" lnSpcReduction="10000"/>
          </a:bodyPr>
          <a:lstStyle/>
          <a:p>
            <a:pPr algn="l"/>
            <a:r>
              <a:rPr lang="ja-JP" altLang="en-US" sz="1400" dirty="0"/>
              <a:t>多くのアプリケーションでは、ユーザーが入力した値が バックエンドのデータベースクエリ に利用されます。</a:t>
            </a:r>
          </a:p>
          <a:p>
            <a:pPr algn="l"/>
            <a:r>
              <a:rPr lang="ja-JP" altLang="en-US" sz="1400" dirty="0"/>
              <a:t>例：</a:t>
            </a:r>
          </a:p>
          <a:p>
            <a:pPr algn="l"/>
            <a:r>
              <a:rPr lang="ja-JP" altLang="en-US" sz="1400" dirty="0"/>
              <a:t>• 	ログイン時に入力する ユーザー名とパスワード</a:t>
            </a:r>
          </a:p>
          <a:p>
            <a:pPr algn="l"/>
            <a:r>
              <a:rPr lang="ja-JP" altLang="en-US" sz="1400" dirty="0"/>
              <a:t>→ DB に対して「このユーザー名とパスワードの組み合わせは存在するか？」という検索クエリが実行される</a:t>
            </a:r>
          </a:p>
          <a:p>
            <a:pPr algn="l"/>
            <a:r>
              <a:rPr lang="ja-JP" altLang="en-US" sz="1400" dirty="0"/>
              <a:t>• 	アプリケーション内の 検索フィールド</a:t>
            </a:r>
          </a:p>
          <a:p>
            <a:pPr algn="l"/>
            <a:r>
              <a:rPr lang="ja-JP" altLang="en-US" sz="1400" dirty="0"/>
              <a:t>→ 例えばフィールドデバイス名を検索すると、</a:t>
            </a:r>
          </a:p>
          <a:p>
            <a:pPr algn="l"/>
            <a:r>
              <a:rPr lang="ja-JP" altLang="en-US" sz="1400" dirty="0"/>
              <a:t>アプリケーションはその名前を SQL クエリに組み込み、</a:t>
            </a:r>
          </a:p>
          <a:p>
            <a:pPr algn="l"/>
            <a:r>
              <a:rPr lang="ja-JP" altLang="en-US" sz="1400" dirty="0"/>
              <a:t>「そのデバイスが存在するか」を DB に問い合わせる</a:t>
            </a:r>
          </a:p>
          <a:p>
            <a:pPr algn="l"/>
            <a:endParaRPr lang="ja-JP" altLang="en-US" sz="1400" dirty="0"/>
          </a:p>
          <a:p>
            <a:pPr algn="l"/>
            <a:r>
              <a:rPr lang="ja-JP" altLang="en-US" sz="1400" dirty="0"/>
              <a:t>入力値を適切に処理しないと SQL インジェクションが発生する</a:t>
            </a:r>
          </a:p>
          <a:p>
            <a:pPr algn="l"/>
            <a:r>
              <a:rPr lang="ja-JP" altLang="en-US" sz="1400" dirty="0"/>
              <a:t>開発者がユーザー入力を適切に処理せず、</a:t>
            </a:r>
          </a:p>
          <a:p>
            <a:pPr algn="l"/>
            <a:r>
              <a:rPr lang="ja-JP" altLang="en-US" sz="1400" dirty="0"/>
              <a:t>パラメータ化クエリ（Prepared Statements）を使わない 場合、</a:t>
            </a:r>
          </a:p>
          <a:p>
            <a:pPr algn="l"/>
            <a:r>
              <a:rPr lang="ja-JP" altLang="en-US" sz="1400" dirty="0"/>
              <a:t>攻撃者は入力欄に 自分の SQL コマンドを混ぜ込む ことができます。</a:t>
            </a:r>
          </a:p>
          <a:p>
            <a:pPr algn="l"/>
            <a:r>
              <a:rPr lang="ja-JP" altLang="en-US" sz="1400" dirty="0"/>
              <a:t>その結果、アプリケーションは攻撃者の SQL をそのまま実行してしまいます。</a:t>
            </a:r>
          </a:p>
          <a:p>
            <a:pPr algn="l"/>
            <a:endParaRPr lang="ja-JP" altLang="en-US" sz="1400" dirty="0"/>
          </a:p>
          <a:p>
            <a:pPr algn="l"/>
            <a:r>
              <a:rPr lang="ja-JP" altLang="en-US" sz="1400" dirty="0"/>
              <a:t>SQL インジェクションが可能にする攻撃</a:t>
            </a:r>
          </a:p>
          <a:p>
            <a:pPr algn="l"/>
            <a:r>
              <a:rPr lang="ja-JP" altLang="en-US" sz="1400" dirty="0"/>
              <a:t>SQL インジェクションが成立すると、攻撃者は以下のようなことが可能になります：</a:t>
            </a:r>
          </a:p>
          <a:p>
            <a:pPr algn="l"/>
            <a:r>
              <a:rPr lang="ja-JP" altLang="en-US" sz="1400" dirty="0"/>
              <a:t>1. データベースの読み取り・書き込み</a:t>
            </a:r>
          </a:p>
          <a:p>
            <a:pPr algn="l"/>
            <a:r>
              <a:rPr lang="ja-JP" altLang="en-US" sz="1400" dirty="0"/>
              <a:t>• 	ユーザー情報の窃取</a:t>
            </a:r>
          </a:p>
          <a:p>
            <a:pPr algn="l"/>
            <a:r>
              <a:rPr lang="ja-JP" altLang="en-US" sz="1400" dirty="0"/>
              <a:t>• 	設定値の改ざん</a:t>
            </a:r>
          </a:p>
          <a:p>
            <a:pPr algn="l"/>
            <a:r>
              <a:rPr lang="ja-JP" altLang="en-US" sz="1400" dirty="0"/>
              <a:t>• 	ログの削除 など</a:t>
            </a:r>
          </a:p>
          <a:p>
            <a:pPr algn="l"/>
            <a:r>
              <a:rPr lang="ja-JP" altLang="en-US" sz="1400" dirty="0"/>
              <a:t>2. OS やファイルシステムへのアクセス</a:t>
            </a:r>
          </a:p>
          <a:p>
            <a:pPr algn="l"/>
            <a:r>
              <a:rPr lang="ja-JP" altLang="en-US" sz="1400" dirty="0"/>
              <a:t>多くの DB には OS コマンド実行機能やファイル操作機能があるため、</a:t>
            </a:r>
          </a:p>
          <a:p>
            <a:pPr algn="l"/>
            <a:r>
              <a:rPr lang="ja-JP" altLang="en-US" sz="1400" dirty="0"/>
              <a:t>攻撃者は システムシェルを取得 できる場合があります。</a:t>
            </a:r>
          </a:p>
        </p:txBody>
      </p:sp>
      <p:pic>
        <p:nvPicPr>
          <p:cNvPr id="4" name="図 3">
            <a:extLst>
              <a:ext uri="{FF2B5EF4-FFF2-40B4-BE49-F238E27FC236}">
                <a16:creationId xmlns:a16="http://schemas.microsoft.com/office/drawing/2014/main" id="{C9EE06DA-4307-4F0F-8B8F-4FBACCD7CEF0}"/>
              </a:ext>
            </a:extLst>
          </p:cNvPr>
          <p:cNvPicPr>
            <a:picLocks noChangeAspect="1"/>
          </p:cNvPicPr>
          <p:nvPr/>
        </p:nvPicPr>
        <p:blipFill>
          <a:blip r:embed="rId2"/>
          <a:stretch>
            <a:fillRect/>
          </a:stretch>
        </p:blipFill>
        <p:spPr>
          <a:xfrm>
            <a:off x="516466" y="83184"/>
            <a:ext cx="5825067" cy="3306329"/>
          </a:xfrm>
          <a:prstGeom prst="rect">
            <a:avLst/>
          </a:prstGeom>
        </p:spPr>
      </p:pic>
      <p:sp>
        <p:nvSpPr>
          <p:cNvPr id="5" name="サブタイトル 2">
            <a:extLst>
              <a:ext uri="{FF2B5EF4-FFF2-40B4-BE49-F238E27FC236}">
                <a16:creationId xmlns:a16="http://schemas.microsoft.com/office/drawing/2014/main" id="{E14F8C91-36D1-4F81-BEEE-FC72B91A83DF}"/>
              </a:ext>
            </a:extLst>
          </p:cNvPr>
          <p:cNvSpPr txBox="1">
            <a:spLocks/>
          </p:cNvSpPr>
          <p:nvPr/>
        </p:nvSpPr>
        <p:spPr>
          <a:xfrm>
            <a:off x="3429000" y="3474178"/>
            <a:ext cx="3429000" cy="7363154"/>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3. アプリケーション設定の改ざん</a:t>
            </a:r>
          </a:p>
          <a:p>
            <a:pPr algn="l"/>
            <a:r>
              <a:rPr lang="ja-JP" altLang="en-US" sz="1400" dirty="0"/>
              <a:t>DB 内の生データを書き換えることで、</a:t>
            </a:r>
          </a:p>
          <a:p>
            <a:pPr algn="l"/>
            <a:r>
              <a:rPr lang="ja-JP" altLang="en-US" sz="1400" dirty="0"/>
              <a:t>アプリケーションの動作を直接変更できます。</a:t>
            </a:r>
          </a:p>
          <a:p>
            <a:pPr algn="l"/>
            <a:r>
              <a:rPr lang="ja-JP" altLang="en-US" sz="1400" dirty="0"/>
              <a:t>4. 権限昇格や横移動（Lateral Movement）</a:t>
            </a:r>
          </a:p>
          <a:p>
            <a:pPr algn="l"/>
            <a:r>
              <a:rPr lang="ja-JP" altLang="en-US" sz="1400" dirty="0"/>
              <a:t>DB サーバ上の脆弱性を探し、</a:t>
            </a:r>
          </a:p>
          <a:p>
            <a:pPr algn="l"/>
            <a:r>
              <a:rPr lang="ja-JP" altLang="en-US" sz="1400" dirty="0"/>
              <a:t>• 	管理者権限の取得</a:t>
            </a:r>
          </a:p>
          <a:p>
            <a:pPr algn="l"/>
            <a:r>
              <a:rPr lang="ja-JP" altLang="en-US" sz="1400" dirty="0"/>
              <a:t>• 	他のシステムへの侵入</a:t>
            </a:r>
          </a:p>
          <a:p>
            <a:pPr algn="l"/>
            <a:r>
              <a:rPr lang="ja-JP" altLang="en-US" sz="1400" dirty="0"/>
              <a:t>といった攻撃に発展することがあります。</a:t>
            </a:r>
          </a:p>
          <a:p>
            <a:pPr algn="l"/>
            <a:endParaRPr lang="ja-JP" altLang="en-US" sz="1400" dirty="0"/>
          </a:p>
          <a:p>
            <a:pPr algn="l"/>
            <a:r>
              <a:rPr lang="ja-JP" altLang="en-US" sz="1400" dirty="0"/>
              <a:t>ICS/OT における SQL インジェクションの危険性</a:t>
            </a:r>
          </a:p>
          <a:p>
            <a:pPr algn="l"/>
            <a:r>
              <a:rPr lang="ja-JP" altLang="en-US" sz="1400" dirty="0"/>
              <a:t>ICS の世界では、SQL インジェクションは特に危険です。</a:t>
            </a:r>
          </a:p>
          <a:p>
            <a:pPr algn="l"/>
            <a:r>
              <a:rPr lang="ja-JP" altLang="en-US" sz="1400" dirty="0"/>
              <a:t>理由：</a:t>
            </a:r>
          </a:p>
          <a:p>
            <a:pPr algn="l"/>
            <a:r>
              <a:rPr lang="ja-JP" altLang="en-US" sz="1400" dirty="0"/>
              <a:t>• 	HMI やヒストリアンが DB に依存している</a:t>
            </a:r>
          </a:p>
          <a:p>
            <a:pPr algn="l"/>
            <a:r>
              <a:rPr lang="ja-JP" altLang="en-US" sz="1400" dirty="0"/>
              <a:t>• 	DB の値が 制御ロジックやプロセス動作に直結 する</a:t>
            </a:r>
          </a:p>
          <a:p>
            <a:pPr algn="l"/>
            <a:r>
              <a:rPr lang="ja-JP" altLang="en-US" sz="1400" dirty="0"/>
              <a:t>• 	DB サーバが OT と IT の境界に位置することが多い</a:t>
            </a:r>
          </a:p>
          <a:p>
            <a:pPr algn="l"/>
            <a:r>
              <a:rPr lang="ja-JP" altLang="en-US" sz="1400" dirty="0"/>
              <a:t>• 	DB 侵害 → ICS 侵害につながる可能性が高い</a:t>
            </a:r>
          </a:p>
          <a:p>
            <a:pPr algn="l"/>
            <a:r>
              <a:rPr lang="ja-JP" altLang="en-US" sz="1400" dirty="0"/>
              <a:t>つまり、SQL インジェクションは</a:t>
            </a:r>
          </a:p>
          <a:p>
            <a:pPr algn="l"/>
            <a:r>
              <a:rPr lang="ja-JP" altLang="en-US" sz="1400" dirty="0"/>
              <a:t>「データベースの問題」ではなく「制御システムの安全性の問題」</a:t>
            </a:r>
          </a:p>
          <a:p>
            <a:pPr algn="l"/>
            <a:r>
              <a:rPr lang="ja-JP" altLang="en-US" sz="1400" dirty="0"/>
              <a:t>に直結します。</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05196"/>
            <a:ext cx="6852285" cy="8382001"/>
          </a:xfrm>
        </p:spPr>
        <p:txBody>
          <a:bodyPr>
            <a:normAutofit fontScale="97500" lnSpcReduction="10000"/>
          </a:bodyPr>
          <a:lstStyle/>
          <a:p>
            <a:pPr algn="l"/>
            <a:r>
              <a:rPr lang="ja-JP" altLang="en-US" sz="1400" dirty="0"/>
              <a:t>Web アプリケーションでは、ユーザーから入力を受け取り、</a:t>
            </a:r>
          </a:p>
          <a:p>
            <a:pPr algn="l"/>
            <a:r>
              <a:rPr lang="ja-JP" altLang="en-US" sz="1400" dirty="0"/>
              <a:t>その入力内容をページ上に そのまま表示するタイプの入力欄 がよくあります。</a:t>
            </a:r>
          </a:p>
          <a:p>
            <a:pPr algn="l"/>
            <a:r>
              <a:rPr lang="ja-JP" altLang="en-US" sz="1400" dirty="0"/>
              <a:t>例：</a:t>
            </a:r>
          </a:p>
          <a:p>
            <a:pPr algn="l"/>
            <a:r>
              <a:rPr lang="ja-JP" altLang="en-US" sz="1400" dirty="0"/>
              <a:t>• 	検索欄に  と入力すると</a:t>
            </a:r>
          </a:p>
          <a:p>
            <a:pPr algn="l"/>
            <a:r>
              <a:rPr lang="ja-JP" altLang="en-US" sz="1400" dirty="0"/>
              <a:t>「plc53 の検索結果はこちらです」</a:t>
            </a:r>
          </a:p>
          <a:p>
            <a:pPr algn="l"/>
            <a:r>
              <a:rPr lang="ja-JP" altLang="en-US" sz="1400" dirty="0"/>
              <a:t>のように、入力内容をそのまま画面に表示する</a:t>
            </a:r>
          </a:p>
          <a:p>
            <a:pPr algn="l"/>
            <a:r>
              <a:rPr lang="ja-JP" altLang="en-US" sz="1400" dirty="0"/>
              <a:t>しかし、開発者がこの入力を適切に処理せず、</a:t>
            </a:r>
          </a:p>
          <a:p>
            <a:pPr algn="l"/>
            <a:r>
              <a:rPr lang="ja-JP" altLang="en-US" sz="1400" dirty="0"/>
              <a:t>• 	使用できる文字を制限しない</a:t>
            </a:r>
          </a:p>
          <a:p>
            <a:pPr algn="l"/>
            <a:r>
              <a:rPr lang="ja-JP" altLang="en-US" sz="1400" dirty="0"/>
              <a:t>• 	出力時にエンコードしない</a:t>
            </a:r>
          </a:p>
          <a:p>
            <a:pPr algn="l"/>
            <a:r>
              <a:rPr lang="ja-JP" altLang="en-US" sz="1400" dirty="0"/>
              <a:t>といった問題があると、攻撃者は入力欄に JavaScript を埋め込む ことができます。</a:t>
            </a:r>
          </a:p>
          <a:p>
            <a:pPr algn="l"/>
            <a:endParaRPr lang="ja-JP" altLang="en-US" sz="1400" dirty="0"/>
          </a:p>
          <a:p>
            <a:pPr algn="l"/>
            <a:r>
              <a:rPr lang="ja-JP" altLang="en-US" sz="1400" dirty="0"/>
              <a:t>典型例：XSS のテスト用スクリプト</a:t>
            </a:r>
          </a:p>
          <a:p>
            <a:pPr algn="l"/>
            <a:r>
              <a:rPr lang="ja-JP" altLang="en-US" sz="1400" dirty="0"/>
              <a:t>攻撃者は、 の代わりに次のような文字列を入力します：</a:t>
            </a:r>
          </a:p>
          <a:p>
            <a:pPr algn="l"/>
            <a:endParaRPr lang="ja-JP" altLang="en-US" sz="1400" dirty="0"/>
          </a:p>
          <a:p>
            <a:pPr algn="l"/>
            <a:r>
              <a:rPr lang="ja-JP" altLang="en-US" sz="1400" dirty="0"/>
              <a:t>もしブラウザにアラートが表示されれば、</a:t>
            </a:r>
          </a:p>
          <a:p>
            <a:pPr algn="l"/>
            <a:r>
              <a:rPr lang="ja-JP" altLang="en-US" sz="1400" dirty="0"/>
              <a:t>その入力欄は XSS 脆弱性がある ということです。</a:t>
            </a:r>
          </a:p>
          <a:p>
            <a:pPr algn="l"/>
            <a:r>
              <a:rPr lang="ja-JP" altLang="en-US" sz="1400" dirty="0"/>
              <a:t>これは攻撃ではなく、XSS を検出するための一般的なテストです。</a:t>
            </a:r>
          </a:p>
          <a:p>
            <a:pPr algn="l"/>
            <a:endParaRPr lang="ja-JP" altLang="en-US" sz="1400" dirty="0"/>
          </a:p>
          <a:p>
            <a:pPr algn="l"/>
            <a:r>
              <a:rPr lang="ja-JP" altLang="en-US" sz="1400" dirty="0"/>
              <a:t>XSS が成立すると何が起きるか</a:t>
            </a:r>
          </a:p>
          <a:p>
            <a:pPr algn="l"/>
            <a:r>
              <a:rPr lang="ja-JP" altLang="en-US" sz="1400" dirty="0"/>
              <a:t>XSS が成立すると、攻撃者は アプリケーションがユーザーのブラウザで実行できることをすべて実行できます。</a:t>
            </a:r>
          </a:p>
          <a:p>
            <a:pPr algn="l"/>
            <a:r>
              <a:rPr lang="ja-JP" altLang="en-US" sz="1400" dirty="0"/>
              <a:t>HMI の場合、これは非常に危険です。</a:t>
            </a:r>
          </a:p>
          <a:p>
            <a:pPr algn="l"/>
            <a:r>
              <a:rPr lang="ja-JP" altLang="en-US" sz="1400" dirty="0"/>
              <a:t>HMI で「制御エンジニアができる最悪の操作」を考えてみてください。</a:t>
            </a:r>
          </a:p>
          <a:p>
            <a:pPr algn="l"/>
            <a:r>
              <a:rPr lang="ja-JP" altLang="en-US" sz="1400" dirty="0"/>
              <a:t>例：</a:t>
            </a:r>
          </a:p>
          <a:p>
            <a:pPr algn="l"/>
            <a:r>
              <a:rPr lang="ja-JP" altLang="en-US" sz="1400" dirty="0"/>
              <a:t>• 	重要な制御信号を送信する（しかも大量に）</a:t>
            </a:r>
          </a:p>
          <a:p>
            <a:pPr algn="l"/>
            <a:r>
              <a:rPr lang="ja-JP" altLang="en-US" sz="1400" dirty="0"/>
              <a:t>• 	プロセス設定を変更する</a:t>
            </a:r>
          </a:p>
          <a:p>
            <a:pPr algn="l"/>
            <a:r>
              <a:rPr lang="ja-JP" altLang="en-US" sz="1400" dirty="0"/>
              <a:t>• 	アラームや表示を偽装する</a:t>
            </a:r>
          </a:p>
          <a:p>
            <a:pPr algn="l"/>
            <a:r>
              <a:rPr lang="ja-JP" altLang="en-US" sz="1400" dirty="0"/>
              <a:t>XSS は、これらを ユーザーのブラウザを乗っ取って実行 できてしまいます。</a:t>
            </a:r>
          </a:p>
          <a:p>
            <a:pPr algn="l"/>
            <a:r>
              <a:rPr lang="ja-JP" altLang="en-US" sz="1400" dirty="0"/>
              <a:t>さらに XSS は、ユーザーに別のサーバへアクセスさせ、</a:t>
            </a:r>
          </a:p>
          <a:p>
            <a:pPr algn="l"/>
            <a:r>
              <a:rPr lang="ja-JP" altLang="en-US" sz="1400" dirty="0"/>
              <a:t>CSRF（クロスサイトリクエストフォージェリ） のような別の脆弱性を悪用する足がかりにもなります。</a:t>
            </a:r>
          </a:p>
        </p:txBody>
      </p:sp>
      <p:pic>
        <p:nvPicPr>
          <p:cNvPr id="4" name="図 3">
            <a:extLst>
              <a:ext uri="{FF2B5EF4-FFF2-40B4-BE49-F238E27FC236}">
                <a16:creationId xmlns:a16="http://schemas.microsoft.com/office/drawing/2014/main" id="{1A8FF0CA-1BCD-4BB9-A466-12573ABAD10F}"/>
              </a:ext>
            </a:extLst>
          </p:cNvPr>
          <p:cNvPicPr>
            <a:picLocks noChangeAspect="1"/>
          </p:cNvPicPr>
          <p:nvPr/>
        </p:nvPicPr>
        <p:blipFill>
          <a:blip r:embed="rId2"/>
          <a:stretch>
            <a:fillRect/>
          </a:stretch>
        </p:blipFill>
        <p:spPr>
          <a:xfrm>
            <a:off x="502376" y="84665"/>
            <a:ext cx="5853248" cy="331893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39064"/>
            <a:ext cx="6852285" cy="8585200"/>
          </a:xfrm>
        </p:spPr>
        <p:txBody>
          <a:bodyPr>
            <a:normAutofit fontScale="82500" lnSpcReduction="20000"/>
          </a:bodyPr>
          <a:lstStyle/>
          <a:p>
            <a:pPr algn="l"/>
            <a:r>
              <a:rPr lang="ja-JP" altLang="en-US" sz="1400" dirty="0"/>
              <a:t>誰かが次のようなリンクを送ってきて、あなたがそれをクリックしたとします。</a:t>
            </a:r>
          </a:p>
          <a:p>
            <a:pPr algn="l"/>
            <a:endParaRPr lang="ja-JP" altLang="en-US" sz="1400" dirty="0"/>
          </a:p>
          <a:p>
            <a:pPr algn="l"/>
            <a:r>
              <a:rPr lang="ja-JP" altLang="en-US" sz="1400" dirty="0"/>
              <a:t>普通なら、ブラウザは「ControlThings」という語で Google 検索を実行し、結果を表示するはずです。</a:t>
            </a:r>
          </a:p>
          <a:p>
            <a:pPr algn="l"/>
            <a:r>
              <a:rPr lang="ja-JP" altLang="en-US" sz="1400" dirty="0"/>
              <a:t>では、次のようなリンクを送られてきたらどうでしょう。</a:t>
            </a:r>
          </a:p>
          <a:p>
            <a:pPr algn="l"/>
            <a:r>
              <a:rPr lang="ja-JP" altLang="en-US" sz="1400" dirty="0"/>
              <a:t>これはスマートメーターの HMI アプリケーションの正規の URL だとします（※以下は架空の例）。</a:t>
            </a:r>
          </a:p>
          <a:p>
            <a:pPr algn="l"/>
            <a:endParaRPr lang="ja-JP" altLang="en-US" sz="1400" dirty="0"/>
          </a:p>
          <a:p>
            <a:pPr algn="l"/>
            <a:r>
              <a:rPr lang="ja-JP" altLang="en-US" sz="1400" dirty="0"/>
              <a:t>あなたがその HMI にログイン済みであれば、</a:t>
            </a:r>
          </a:p>
          <a:p>
            <a:pPr algn="l"/>
            <a:r>
              <a:rPr lang="ja-JP" altLang="en-US" sz="1400" dirty="0"/>
              <a:t>たとえ別タブでログインしていたとしても、</a:t>
            </a:r>
          </a:p>
          <a:p>
            <a:pPr algn="l"/>
            <a:r>
              <a:rPr lang="ja-JP" altLang="en-US" sz="1400" dirty="0"/>
              <a:t>ブラウザは セッション Cookie を自動的に送信 し、</a:t>
            </a:r>
          </a:p>
          <a:p>
            <a:pPr algn="l"/>
            <a:r>
              <a:rPr lang="ja-JP" altLang="en-US" sz="1400" dirty="0"/>
              <a:t>メーター 35499 に対して disconnect（切断）コマンド を実行してしまいます。</a:t>
            </a:r>
          </a:p>
          <a:p>
            <a:pPr algn="l"/>
            <a:endParaRPr lang="ja-JP" altLang="en-US" sz="1400" dirty="0"/>
          </a:p>
          <a:p>
            <a:pPr algn="l"/>
            <a:r>
              <a:rPr lang="ja-JP" altLang="en-US" sz="1400" dirty="0"/>
              <a:t>攻撃者がこのリンクを隠してクリックさせたら？</a:t>
            </a:r>
          </a:p>
          <a:p>
            <a:pPr algn="l"/>
            <a:r>
              <a:rPr lang="ja-JP" altLang="en-US" sz="1400" dirty="0"/>
              <a:t>攻撃者がこのリンクを：</a:t>
            </a:r>
          </a:p>
          <a:p>
            <a:pPr algn="l"/>
            <a:r>
              <a:rPr lang="ja-JP" altLang="en-US" sz="1400" dirty="0"/>
              <a:t>• 	画面に見えない形で埋め込む</a:t>
            </a:r>
          </a:p>
          <a:p>
            <a:pPr algn="l"/>
            <a:r>
              <a:rPr lang="ja-JP" altLang="en-US" sz="1400" dirty="0"/>
              <a:t>• 	JavaScript で自動クリックさせる</a:t>
            </a:r>
          </a:p>
          <a:p>
            <a:pPr algn="l"/>
            <a:r>
              <a:rPr lang="ja-JP" altLang="en-US" sz="1400" dirty="0"/>
              <a:t>• 	背景でこっそり実行させる</a:t>
            </a:r>
          </a:p>
          <a:p>
            <a:pPr algn="l"/>
            <a:r>
              <a:rPr lang="ja-JP" altLang="en-US" sz="1400" dirty="0"/>
              <a:t>といった方法で、あなたに気づかれずにクリックさせた場合、</a:t>
            </a:r>
          </a:p>
          <a:p>
            <a:pPr algn="l"/>
            <a:r>
              <a:rPr lang="ja-JP" altLang="en-US" sz="1400" dirty="0"/>
              <a:t>あなたのブラウザは 勝手にスマートメーターを切断 してしまいます。</a:t>
            </a:r>
          </a:p>
          <a:p>
            <a:pPr algn="l"/>
            <a:r>
              <a:rPr lang="ja-JP" altLang="en-US" sz="1400" dirty="0"/>
              <a:t>さらに攻撃者は、あなたがそのページに長く滞在するよう仕向ければ、</a:t>
            </a:r>
          </a:p>
          <a:p>
            <a:pPr algn="l"/>
            <a:r>
              <a:rPr lang="ja-JP" altLang="en-US" sz="1400" dirty="0"/>
              <a:t>例えば：</a:t>
            </a:r>
          </a:p>
          <a:p>
            <a:pPr algn="l"/>
            <a:r>
              <a:rPr lang="ja-JP" altLang="en-US" sz="1400" dirty="0"/>
              <a:t>• 	メーター 1〜10,000,000 を次々に切断するスクリプト</a:t>
            </a:r>
          </a:p>
          <a:p>
            <a:pPr algn="l"/>
            <a:r>
              <a:rPr lang="ja-JP" altLang="en-US" sz="1400" dirty="0"/>
              <a:t>をバックグラウンドで実行させることすら可能です。</a:t>
            </a:r>
          </a:p>
          <a:p>
            <a:pPr algn="l"/>
            <a:r>
              <a:rPr lang="ja-JP" altLang="en-US" sz="1400" dirty="0"/>
              <a:t>（例えば「1 時間の Stuxnet 解説動画」を見せて滞在させる、など。）</a:t>
            </a:r>
          </a:p>
          <a:p>
            <a:pPr algn="l"/>
            <a:endParaRPr lang="ja-JP" altLang="en-US" sz="1400" dirty="0"/>
          </a:p>
          <a:p>
            <a:pPr algn="l"/>
            <a:r>
              <a:rPr lang="ja-JP" altLang="en-US" sz="1400" dirty="0"/>
              <a:t>これが Cross-Site Request Forgery（CSRF）攻撃</a:t>
            </a:r>
          </a:p>
          <a:p>
            <a:pPr algn="l"/>
            <a:r>
              <a:rPr lang="ja-JP" altLang="en-US" sz="1400" dirty="0"/>
              <a:t>CSRF は、HTTP の「ブラウザが自動的に Cookie を送る」という</a:t>
            </a:r>
          </a:p>
          <a:p>
            <a:pPr algn="l"/>
            <a:r>
              <a:rPr lang="ja-JP" altLang="en-US" sz="1400" dirty="0"/>
              <a:t>本来の仕様を悪用した攻撃 です。</a:t>
            </a:r>
          </a:p>
          <a:p>
            <a:pPr algn="l"/>
            <a:r>
              <a:rPr lang="ja-JP" altLang="en-US" sz="1400" dirty="0"/>
              <a:t>しかし、スマートメーターのような重要な操作では、</a:t>
            </a:r>
          </a:p>
          <a:p>
            <a:pPr algn="l"/>
            <a:r>
              <a:rPr lang="ja-JP" altLang="en-US" sz="1400" dirty="0"/>
              <a:t>この仕様が 重大なセキュリティリスク になります。</a:t>
            </a:r>
          </a:p>
          <a:p>
            <a:pPr algn="l"/>
            <a:endParaRPr lang="ja-JP" altLang="en-US" sz="1400" dirty="0"/>
          </a:p>
          <a:p>
            <a:pPr algn="l"/>
            <a:r>
              <a:rPr lang="ja-JP" altLang="en-US" sz="1400" dirty="0"/>
              <a:t>CSRF を防ぐには：CSRF トークンが必須</a:t>
            </a:r>
          </a:p>
          <a:p>
            <a:pPr algn="l"/>
            <a:r>
              <a:rPr lang="ja-JP" altLang="en-US" sz="1400" dirty="0"/>
              <a:t>開発者は、攻撃者が推測できないランダム値を含む</a:t>
            </a:r>
          </a:p>
          <a:p>
            <a:pPr algn="l"/>
            <a:r>
              <a:rPr lang="ja-JP" altLang="en-US" sz="1400" dirty="0"/>
              <a:t>CSRF トークン（hidden フィールド） を使用しなければなりません。</a:t>
            </a:r>
          </a:p>
          <a:p>
            <a:pPr algn="l"/>
            <a:r>
              <a:rPr lang="ja-JP" altLang="en-US" sz="1400" dirty="0"/>
              <a:t>これにより：</a:t>
            </a:r>
          </a:p>
          <a:p>
            <a:pPr algn="l"/>
            <a:r>
              <a:rPr lang="ja-JP" altLang="en-US" sz="1400" dirty="0"/>
              <a:t>• 	正規ユーザーのフォーム送信</a:t>
            </a:r>
          </a:p>
          <a:p>
            <a:pPr algn="l"/>
            <a:r>
              <a:rPr lang="ja-JP" altLang="en-US" sz="1400" dirty="0"/>
              <a:t>• 	攻撃者が仕込んだ偽リクエスト</a:t>
            </a:r>
          </a:p>
          <a:p>
            <a:pPr algn="l"/>
            <a:r>
              <a:rPr lang="ja-JP" altLang="en-US" sz="1400" dirty="0"/>
              <a:t>を区別できるようになります。</a:t>
            </a:r>
          </a:p>
        </p:txBody>
      </p:sp>
      <p:pic>
        <p:nvPicPr>
          <p:cNvPr id="4" name="図 3">
            <a:extLst>
              <a:ext uri="{FF2B5EF4-FFF2-40B4-BE49-F238E27FC236}">
                <a16:creationId xmlns:a16="http://schemas.microsoft.com/office/drawing/2014/main" id="{7DA698E5-6DBB-4888-8958-0BF70EB1EEFD}"/>
              </a:ext>
            </a:extLst>
          </p:cNvPr>
          <p:cNvPicPr>
            <a:picLocks noChangeAspect="1"/>
          </p:cNvPicPr>
          <p:nvPr/>
        </p:nvPicPr>
        <p:blipFill>
          <a:blip r:embed="rId2"/>
          <a:stretch>
            <a:fillRect/>
          </a:stretch>
        </p:blipFill>
        <p:spPr>
          <a:xfrm>
            <a:off x="539070" y="118533"/>
            <a:ext cx="5779859" cy="328506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89866"/>
            <a:ext cx="6852285" cy="8297333"/>
          </a:xfrm>
        </p:spPr>
        <p:txBody>
          <a:bodyPr>
            <a:normAutofit fontScale="97500" lnSpcReduction="10000"/>
          </a:bodyPr>
          <a:lstStyle/>
          <a:p>
            <a:pPr algn="l"/>
            <a:r>
              <a:rPr lang="ja-JP" altLang="en-US" sz="1400" dirty="0"/>
              <a:t>アプリケーションで扱われる入力の最後のカテゴリは、</a:t>
            </a:r>
          </a:p>
          <a:p>
            <a:pPr algn="l"/>
            <a:r>
              <a:rPr lang="ja-JP" altLang="en-US" sz="1400" dirty="0"/>
              <a:t>ファイルシステム上のファイルを識別するために使われる入力 です。</a:t>
            </a:r>
          </a:p>
          <a:p>
            <a:pPr algn="l"/>
            <a:r>
              <a:rPr lang="ja-JP" altLang="en-US" sz="1400" dirty="0"/>
              <a:t>例として、1976-06-30（私の誕生日）のログファイルを見たい場合、</a:t>
            </a:r>
          </a:p>
          <a:p>
            <a:pPr algn="l"/>
            <a:r>
              <a:rPr lang="ja-JP" altLang="en-US" sz="1400" dirty="0"/>
              <a:t>アプリケーションのカレンダーウィジェットでその日付を選ぶと、</a:t>
            </a:r>
          </a:p>
          <a:p>
            <a:pPr algn="l"/>
            <a:r>
              <a:rPr lang="ja-JP" altLang="en-US" sz="1400" dirty="0"/>
              <a:t>ヒストリアンからその日のログファイルが表示される、といった仕組みです。</a:t>
            </a:r>
          </a:p>
          <a:p>
            <a:pPr algn="l"/>
            <a:endParaRPr lang="ja-JP" altLang="en-US" sz="1400" dirty="0"/>
          </a:p>
          <a:p>
            <a:pPr algn="l"/>
            <a:r>
              <a:rPr lang="ja-JP" altLang="en-US" sz="1400" dirty="0"/>
              <a:t>入力値をそのままファイル名に使うと何が起きるか</a:t>
            </a:r>
          </a:p>
          <a:p>
            <a:pPr algn="l"/>
            <a:r>
              <a:rPr lang="ja-JP" altLang="en-US" sz="1400" dirty="0"/>
              <a:t>もし開発者が、ユーザーが入力した日付を そのままファイル名として使用 して</a:t>
            </a:r>
          </a:p>
          <a:p>
            <a:pPr algn="l"/>
            <a:r>
              <a:rPr lang="ja-JP" altLang="en-US" sz="1400" dirty="0"/>
              <a:t>ハードディスクからファイルを読み込むように実装していた場合、</a:t>
            </a:r>
          </a:p>
          <a:p>
            <a:pPr algn="l"/>
            <a:r>
              <a:rPr lang="ja-JP" altLang="en-US" sz="1400" dirty="0"/>
              <a:t>攻撃者はログファイル以外のファイルを要求し、</a:t>
            </a:r>
          </a:p>
          <a:p>
            <a:pPr algn="l"/>
            <a:r>
              <a:rPr lang="ja-JP" altLang="en-US" sz="1400" dirty="0"/>
              <a:t>アプリケーションにそれを返させることができます。</a:t>
            </a:r>
          </a:p>
          <a:p>
            <a:pPr algn="l"/>
            <a:r>
              <a:rPr lang="ja-JP" altLang="en-US" sz="1400" dirty="0"/>
              <a:t>開発者が：</a:t>
            </a:r>
          </a:p>
          <a:p>
            <a:pPr algn="l"/>
            <a:r>
              <a:rPr lang="ja-JP" altLang="en-US" sz="1400" dirty="0"/>
              <a:t>• 	ファイル名を内部的に別名で管理する</a:t>
            </a:r>
          </a:p>
          <a:p>
            <a:pPr algn="l"/>
            <a:r>
              <a:rPr lang="ja-JP" altLang="en-US" sz="1400" dirty="0"/>
              <a:t>• 	データベースでファイルパスをマッピングする</a:t>
            </a:r>
          </a:p>
          <a:p>
            <a:pPr algn="l"/>
            <a:r>
              <a:rPr lang="ja-JP" altLang="en-US" sz="1400" dirty="0"/>
              <a:t>といった対策をしていない場合、</a:t>
            </a:r>
          </a:p>
          <a:p>
            <a:pPr algn="l"/>
            <a:r>
              <a:rPr lang="ja-JP" altLang="en-US" sz="1400" dirty="0"/>
              <a:t>攻撃者はファイルシステム上の 機密ファイルにアクセス できてしまいます。</a:t>
            </a:r>
          </a:p>
          <a:p>
            <a:pPr algn="l"/>
            <a:endParaRPr lang="ja-JP" altLang="en-US" sz="1400" dirty="0"/>
          </a:p>
          <a:p>
            <a:pPr algn="l"/>
            <a:r>
              <a:rPr lang="ja-JP" altLang="en-US" sz="1400" dirty="0"/>
              <a:t>攻撃者が狙う代表的なファイル</a:t>
            </a:r>
          </a:p>
          <a:p>
            <a:pPr algn="l"/>
            <a:r>
              <a:rPr lang="ja-JP" altLang="en-US" sz="1400" dirty="0"/>
              <a:t>攻撃者は、LFI/RFI 脆弱性を利用して次のようなファイルを狙います：</a:t>
            </a:r>
          </a:p>
          <a:p>
            <a:pPr algn="l"/>
            <a:r>
              <a:rPr lang="ja-JP" altLang="en-US" sz="1400" dirty="0"/>
              <a:t>• システムユーザー情報・パスワードファイル</a:t>
            </a:r>
          </a:p>
          <a:p>
            <a:pPr algn="l"/>
            <a:r>
              <a:rPr lang="ja-JP" altLang="en-US" sz="1400" dirty="0"/>
              <a:t>例：</a:t>
            </a:r>
          </a:p>
          <a:p>
            <a:pPr algn="l"/>
            <a:r>
              <a:rPr lang="ja-JP" altLang="en-US" sz="1400" dirty="0"/>
              <a:t>（Linux/UNIX 系 OS）</a:t>
            </a:r>
          </a:p>
          <a:p>
            <a:pPr algn="l"/>
            <a:r>
              <a:rPr lang="ja-JP" altLang="en-US" sz="1400" dirty="0"/>
              <a:t>• ヒストリアンやデータベースの認証情報</a:t>
            </a:r>
          </a:p>
          <a:p>
            <a:pPr algn="l"/>
            <a:r>
              <a:rPr lang="ja-JP" altLang="en-US" sz="1400" dirty="0"/>
              <a:t>多くの場合、アプリケーションの設定ファイルに</a:t>
            </a:r>
          </a:p>
          <a:p>
            <a:pPr algn="l"/>
            <a:r>
              <a:rPr lang="ja-JP" altLang="en-US" sz="1400" dirty="0"/>
              <a:t>DB 接続用のユーザー名・パスワードが平文で保存されています。</a:t>
            </a:r>
          </a:p>
          <a:p>
            <a:pPr algn="l"/>
            <a:r>
              <a:rPr lang="ja-JP" altLang="en-US" sz="1400" dirty="0"/>
              <a:t>• 制御システムの設定ファイルやバックアップファイル</a:t>
            </a:r>
          </a:p>
          <a:p>
            <a:pPr algn="l"/>
            <a:r>
              <a:rPr lang="ja-JP" altLang="en-US" sz="1400" dirty="0"/>
              <a:t>これらを盗まれると、攻撃者は ICS の構成を深く理解できます。</a:t>
            </a:r>
          </a:p>
          <a:p>
            <a:pPr algn="l"/>
            <a:r>
              <a:rPr lang="ja-JP" altLang="en-US" sz="1400" dirty="0"/>
              <a:t>• 攻撃者がアップロードした悪意ある実行ファイル</a:t>
            </a:r>
          </a:p>
          <a:p>
            <a:pPr algn="l"/>
            <a:r>
              <a:rPr lang="ja-JP" altLang="en-US" sz="1400" dirty="0"/>
              <a:t>RFI/LFI を利用して、攻撃者がアップロードしたファイルを</a:t>
            </a:r>
          </a:p>
          <a:p>
            <a:pPr algn="l"/>
            <a:r>
              <a:rPr lang="ja-JP" altLang="en-US" sz="1400" dirty="0"/>
              <a:t>アプリケーションに実行させる ことも可能です。</a:t>
            </a:r>
          </a:p>
        </p:txBody>
      </p:sp>
      <p:pic>
        <p:nvPicPr>
          <p:cNvPr id="4" name="図 3">
            <a:extLst>
              <a:ext uri="{FF2B5EF4-FFF2-40B4-BE49-F238E27FC236}">
                <a16:creationId xmlns:a16="http://schemas.microsoft.com/office/drawing/2014/main" id="{12976E51-BA70-4795-99CE-4A9EDD175515}"/>
              </a:ext>
            </a:extLst>
          </p:cNvPr>
          <p:cNvPicPr>
            <a:picLocks noChangeAspect="1"/>
          </p:cNvPicPr>
          <p:nvPr/>
        </p:nvPicPr>
        <p:blipFill>
          <a:blip r:embed="rId2"/>
          <a:stretch>
            <a:fillRect/>
          </a:stretch>
        </p:blipFill>
        <p:spPr>
          <a:xfrm>
            <a:off x="468548" y="118531"/>
            <a:ext cx="5920903" cy="3352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234264"/>
            <a:ext cx="6852285" cy="8636001"/>
          </a:xfrm>
        </p:spPr>
        <p:txBody>
          <a:bodyPr>
            <a:normAutofit fontScale="82500" lnSpcReduction="20000"/>
          </a:bodyPr>
          <a:lstStyle/>
          <a:p>
            <a:pPr algn="l"/>
            <a:r>
              <a:rPr lang="ja-JP" altLang="en-US" sz="1400" dirty="0"/>
              <a:t>HMI システムのもう一つの弱点は パスワード管理 です。</a:t>
            </a:r>
          </a:p>
          <a:p>
            <a:pPr algn="l"/>
            <a:r>
              <a:rPr lang="ja-JP" altLang="en-US" sz="1400" dirty="0"/>
              <a:t>多くの HMI システムでは、パスワードが設定されていないことがあります。</a:t>
            </a:r>
          </a:p>
          <a:p>
            <a:pPr algn="l"/>
            <a:r>
              <a:rPr lang="ja-JP" altLang="en-US" sz="1400" dirty="0"/>
              <a:t>理由は、特に緊急時において、パスワードが 制御エンジニアの作業を妨げる と考えられているためです。</a:t>
            </a:r>
          </a:p>
          <a:p>
            <a:pPr algn="l"/>
            <a:r>
              <a:rPr lang="ja-JP" altLang="en-US" sz="1400" dirty="0"/>
              <a:t>パスワードが設定されている場合でも、以下のような問題がよく見られます：</a:t>
            </a:r>
          </a:p>
          <a:p>
            <a:pPr algn="l"/>
            <a:r>
              <a:rPr lang="ja-JP" altLang="en-US" sz="1400" dirty="0"/>
              <a:t>• 	ベンダー出荷時のデフォルトパスワードのまま</a:t>
            </a:r>
          </a:p>
          <a:p>
            <a:pPr algn="l"/>
            <a:r>
              <a:rPr lang="ja-JP" altLang="en-US" sz="1400" dirty="0"/>
              <a:t>• 	複数ユーザーで共有される単純なパスワード</a:t>
            </a:r>
          </a:p>
          <a:p>
            <a:pPr algn="l"/>
            <a:r>
              <a:rPr lang="ja-JP" altLang="en-US" sz="1400" dirty="0"/>
              <a:t>攻撃者はベンダーのマニュアルからデフォルトパスワードを簡単に入手できますし、</a:t>
            </a:r>
          </a:p>
          <a:p>
            <a:pPr algn="l"/>
            <a:r>
              <a:rPr lang="ja-JP" altLang="en-US" sz="1400" dirty="0"/>
              <a:t>共有パスワードは会社名など覚えやすい単語に設定されがちです。</a:t>
            </a:r>
          </a:p>
          <a:p>
            <a:pPr algn="l"/>
            <a:r>
              <a:rPr lang="ja-JP" altLang="en-US" sz="1400" dirty="0"/>
              <a:t>こうした単純なパスワードは、</a:t>
            </a:r>
          </a:p>
          <a:p>
            <a:pPr algn="l"/>
            <a:r>
              <a:rPr lang="ja-JP" altLang="en-US" sz="1400" dirty="0"/>
              <a:t>ファジング（＝ブルートフォース攻撃や辞書攻撃） によって容易に推測されます。</a:t>
            </a:r>
          </a:p>
          <a:p>
            <a:pPr algn="l"/>
            <a:r>
              <a:rPr lang="ja-JP" altLang="en-US" sz="1400" dirty="0"/>
              <a:t>攻撃者は専用ツールを使い、短時間で数千〜数万のパスワードを試すことができます。</a:t>
            </a:r>
          </a:p>
          <a:p>
            <a:pPr algn="l"/>
            <a:endParaRPr lang="ja-JP" altLang="en-US" sz="1400" dirty="0"/>
          </a:p>
          <a:p>
            <a:pPr algn="l"/>
            <a:r>
              <a:rPr lang="ja-JP" altLang="en-US" sz="1400" dirty="0"/>
              <a:t>ICS 環境に特有のパスワード利用の特徴</a:t>
            </a:r>
          </a:p>
          <a:p>
            <a:pPr algn="l"/>
            <a:r>
              <a:rPr lang="ja-JP" altLang="en-US" sz="1400" dirty="0"/>
              <a:t>ICS では、エンタープライズアプリケーションと同様に</a:t>
            </a:r>
          </a:p>
          <a:p>
            <a:pPr algn="l"/>
            <a:r>
              <a:rPr lang="ja-JP" altLang="en-US" sz="1400" dirty="0"/>
              <a:t>アプリケーションレベルのパスワードを使いますが、</a:t>
            </a:r>
          </a:p>
          <a:p>
            <a:pPr algn="l"/>
            <a:r>
              <a:rPr lang="ja-JP" altLang="en-US" sz="1400" dirty="0"/>
              <a:t>パスワードが使われる場所や種類に ICS 特有の事情があります。</a:t>
            </a:r>
          </a:p>
          <a:p>
            <a:pPr algn="l"/>
            <a:r>
              <a:rPr lang="ja-JP" altLang="en-US" sz="1400" dirty="0"/>
              <a:t>例：</a:t>
            </a:r>
          </a:p>
          <a:p>
            <a:pPr algn="l"/>
            <a:r>
              <a:rPr lang="ja-JP" altLang="en-US" sz="1400" dirty="0"/>
              <a:t>• 小型 LCD とボタンを備えた現場パネル</a:t>
            </a:r>
          </a:p>
          <a:p>
            <a:pPr algn="l"/>
            <a:r>
              <a:rPr lang="ja-JP" altLang="en-US" sz="1400" dirty="0"/>
              <a:t>• 	設定、監視、操作のための物理パネル</a:t>
            </a:r>
          </a:p>
          <a:p>
            <a:pPr algn="l"/>
            <a:r>
              <a:rPr lang="ja-JP" altLang="en-US" sz="1400" dirty="0"/>
              <a:t>• 	QWERTY キーボードがある場合もあれば、数字キーだけの場合もある</a:t>
            </a:r>
          </a:p>
          <a:p>
            <a:pPr algn="l"/>
            <a:r>
              <a:rPr lang="ja-JP" altLang="en-US" sz="1400" dirty="0"/>
              <a:t>→ 入力が制限されるため、複雑なパスワードを設定しづらい</a:t>
            </a:r>
          </a:p>
          <a:p>
            <a:pPr algn="l"/>
            <a:r>
              <a:rPr lang="ja-JP" altLang="en-US" sz="1400" dirty="0"/>
              <a:t>• ICS デバイスに内蔵された Web サーバや診断インターフェース</a:t>
            </a:r>
          </a:p>
          <a:p>
            <a:pPr algn="l"/>
            <a:r>
              <a:rPr lang="ja-JP" altLang="en-US" sz="1400" dirty="0"/>
              <a:t>• 	ドキュメントが不十分なことが多い</a:t>
            </a:r>
          </a:p>
          <a:p>
            <a:pPr algn="l"/>
            <a:r>
              <a:rPr lang="ja-JP" altLang="en-US" sz="1400" dirty="0"/>
              <a:t>• 	ハードコードされたパスワードが変更できない 場合もある</a:t>
            </a:r>
          </a:p>
          <a:p>
            <a:pPr algn="l"/>
            <a:r>
              <a:rPr lang="ja-JP" altLang="en-US" sz="1400" dirty="0"/>
              <a:t>→ 攻撃者にとって格好の標的</a:t>
            </a:r>
          </a:p>
          <a:p>
            <a:pPr algn="l"/>
            <a:endParaRPr lang="ja-JP" altLang="en-US" sz="1400" dirty="0"/>
          </a:p>
          <a:p>
            <a:pPr algn="l"/>
            <a:r>
              <a:rPr lang="ja-JP" altLang="en-US" sz="1400" dirty="0"/>
              <a:t>推奨される対策：ICS 環境の定期的なパスワード監査</a:t>
            </a:r>
          </a:p>
          <a:p>
            <a:pPr algn="l"/>
            <a:r>
              <a:rPr lang="ja-JP" altLang="en-US" sz="1400" dirty="0"/>
              <a:t>ICS を運用する組織は、</a:t>
            </a:r>
          </a:p>
          <a:p>
            <a:pPr algn="l"/>
            <a:r>
              <a:rPr lang="ja-JP" altLang="en-US" sz="1400" dirty="0"/>
              <a:t>新しい機器やソフトウェアを導入する際に 定期的な監査 を行うべきです。</a:t>
            </a:r>
          </a:p>
          <a:p>
            <a:pPr algn="l"/>
            <a:r>
              <a:rPr lang="ja-JP" altLang="en-US" sz="1400" dirty="0"/>
              <a:t>監査では以下を確認します：</a:t>
            </a:r>
          </a:p>
          <a:p>
            <a:pPr algn="l"/>
            <a:r>
              <a:rPr lang="ja-JP" altLang="en-US" sz="1400" dirty="0"/>
              <a:t>• 	パスワードや資格情報がどこで使われているか</a:t>
            </a:r>
          </a:p>
          <a:p>
            <a:pPr algn="l"/>
            <a:r>
              <a:rPr lang="ja-JP" altLang="en-US" sz="1400" dirty="0"/>
              <a:t>• 	デフォルトパスワードが残っていないか</a:t>
            </a:r>
          </a:p>
          <a:p>
            <a:pPr algn="l"/>
            <a:r>
              <a:rPr lang="ja-JP" altLang="en-US" sz="1400" dirty="0"/>
              <a:t>• 	ハードコードされたパスワードが存在しないか</a:t>
            </a:r>
          </a:p>
          <a:p>
            <a:pPr algn="l"/>
            <a:r>
              <a:rPr lang="ja-JP" altLang="en-US" sz="1400" dirty="0"/>
              <a:t>• 	設定変更が必要な箇所がないか</a:t>
            </a:r>
          </a:p>
          <a:p>
            <a:pPr algn="l"/>
            <a:r>
              <a:rPr lang="ja-JP" altLang="en-US" sz="1400" dirty="0"/>
              <a:t>• 	全体としてセキュリティ要件に適合しているか</a:t>
            </a:r>
          </a:p>
          <a:p>
            <a:pPr algn="l"/>
            <a:r>
              <a:rPr lang="ja-JP" altLang="en-US" sz="1400" dirty="0"/>
              <a:t>これにより、ICS 環境の攻撃面（attack surface）を把握し、</a:t>
            </a:r>
          </a:p>
          <a:p>
            <a:pPr algn="l"/>
            <a:r>
              <a:rPr lang="ja-JP" altLang="en-US" sz="1400" dirty="0"/>
              <a:t>必要な対策を講じることができます。</a:t>
            </a:r>
          </a:p>
        </p:txBody>
      </p:sp>
      <p:pic>
        <p:nvPicPr>
          <p:cNvPr id="4" name="図 3">
            <a:extLst>
              <a:ext uri="{FF2B5EF4-FFF2-40B4-BE49-F238E27FC236}">
                <a16:creationId xmlns:a16="http://schemas.microsoft.com/office/drawing/2014/main" id="{2DF37AFA-04D4-4D0C-A8B4-544B243583B0}"/>
              </a:ext>
            </a:extLst>
          </p:cNvPr>
          <p:cNvPicPr>
            <a:picLocks noChangeAspect="1"/>
          </p:cNvPicPr>
          <p:nvPr/>
        </p:nvPicPr>
        <p:blipFill>
          <a:blip r:embed="rId2"/>
          <a:stretch>
            <a:fillRect/>
          </a:stretch>
        </p:blipFill>
        <p:spPr>
          <a:xfrm>
            <a:off x="628410" y="-1"/>
            <a:ext cx="5601180" cy="316653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742261"/>
            <a:ext cx="6852285" cy="7247467"/>
          </a:xfrm>
        </p:spPr>
        <p:txBody>
          <a:bodyPr>
            <a:normAutofit/>
          </a:bodyPr>
          <a:lstStyle/>
          <a:p>
            <a:pPr algn="l"/>
            <a:r>
              <a:rPr lang="ja-JP" altLang="en-US" sz="1400" dirty="0"/>
              <a:t>最新の IT システムでは、組織ごとに細かいパスワードポリシーを設定できる</a:t>
            </a:r>
          </a:p>
          <a:p>
            <a:pPr algn="l"/>
            <a:r>
              <a:rPr lang="ja-JP" altLang="en-US" sz="1400" dirty="0"/>
              <a:t>成熟したパスワード管理機能 が備わっているのが一般的です。</a:t>
            </a:r>
          </a:p>
          <a:p>
            <a:pPr algn="l"/>
            <a:r>
              <a:rPr lang="ja-JP" altLang="en-US" sz="1400" dirty="0"/>
              <a:t>しかし残念ながら、</a:t>
            </a:r>
          </a:p>
          <a:p>
            <a:pPr algn="l"/>
            <a:r>
              <a:rPr lang="ja-JP" altLang="en-US" sz="1400" dirty="0"/>
              <a:t>多くの ICS にはまだそのような機能が存在しません。</a:t>
            </a:r>
          </a:p>
          <a:p>
            <a:pPr algn="l"/>
            <a:endParaRPr lang="ja-JP" altLang="en-US" sz="1400" dirty="0"/>
          </a:p>
          <a:p>
            <a:pPr algn="l"/>
            <a:r>
              <a:rPr lang="ja-JP" altLang="en-US" sz="1400" dirty="0"/>
              <a:t>ICS パスワード機能の典型的な問題</a:t>
            </a:r>
          </a:p>
          <a:p>
            <a:pPr algn="l"/>
            <a:r>
              <a:rPr lang="ja-JP" altLang="en-US" sz="1400" dirty="0"/>
              <a:t>1. パスワードの複雑さをサポートしていない</a:t>
            </a:r>
          </a:p>
          <a:p>
            <a:pPr algn="l"/>
            <a:r>
              <a:rPr lang="ja-JP" altLang="en-US" sz="1400" dirty="0"/>
              <a:t>多くの ICS 製品では：</a:t>
            </a:r>
          </a:p>
          <a:p>
            <a:pPr algn="l"/>
            <a:r>
              <a:rPr lang="ja-JP" altLang="en-US" sz="1400" dirty="0"/>
              <a:t>• 	特殊文字を含むパスワードが使えない</a:t>
            </a:r>
          </a:p>
          <a:p>
            <a:pPr algn="l"/>
            <a:r>
              <a:rPr lang="ja-JP" altLang="en-US" sz="1400" dirty="0"/>
              <a:t>• 	パスワード長が 8 文字など非常に短い制限がある</a:t>
            </a:r>
          </a:p>
          <a:p>
            <a:pPr algn="l"/>
            <a:r>
              <a:rPr lang="ja-JP" altLang="en-US" sz="1400" dirty="0"/>
              <a:t>といった制約があります。</a:t>
            </a:r>
          </a:p>
          <a:p>
            <a:pPr algn="l"/>
            <a:r>
              <a:rPr lang="ja-JP" altLang="en-US" sz="1400" dirty="0"/>
              <a:t>2. ハードコードされたパスワードの存在</a:t>
            </a:r>
          </a:p>
          <a:p>
            <a:pPr algn="l"/>
            <a:r>
              <a:rPr lang="ja-JP" altLang="en-US" sz="1400" dirty="0"/>
              <a:t>さらに深刻なのは、</a:t>
            </a:r>
          </a:p>
          <a:p>
            <a:pPr algn="l"/>
            <a:r>
              <a:rPr lang="ja-JP" altLang="en-US" sz="1400" dirty="0"/>
              <a:t>独立したセキュリティ研究者の分析により、多くの ICS 製品に：</a:t>
            </a:r>
          </a:p>
          <a:p>
            <a:pPr algn="l"/>
            <a:r>
              <a:rPr lang="ja-JP" altLang="en-US" sz="1400" dirty="0"/>
              <a:t>• 	ドキュメントに記載されていないハードコードパスワード</a:t>
            </a:r>
          </a:p>
          <a:p>
            <a:pPr algn="l"/>
            <a:r>
              <a:rPr lang="ja-JP" altLang="en-US" sz="1400" dirty="0"/>
              <a:t>• 	変更も無効化もできないパスワード</a:t>
            </a:r>
          </a:p>
          <a:p>
            <a:pPr algn="l"/>
            <a:r>
              <a:rPr lang="ja-JP" altLang="en-US" sz="1400" dirty="0"/>
              <a:t>が存在することが判明している点です。</a:t>
            </a:r>
          </a:p>
          <a:p>
            <a:pPr algn="l"/>
            <a:r>
              <a:rPr lang="ja-JP" altLang="en-US" sz="1400" dirty="0"/>
              <a:t>これは ICS のセキュリティにおける最も危険な問題の一つです。</a:t>
            </a:r>
          </a:p>
          <a:p>
            <a:pPr algn="l"/>
            <a:endParaRPr lang="ja-JP" altLang="en-US" sz="1400" dirty="0"/>
          </a:p>
          <a:p>
            <a:pPr algn="l"/>
            <a:r>
              <a:rPr lang="ja-JP" altLang="en-US" sz="1400" dirty="0"/>
              <a:t>一部の ICS では改善の兆しもある</a:t>
            </a:r>
          </a:p>
          <a:p>
            <a:pPr algn="l"/>
            <a:r>
              <a:rPr lang="ja-JP" altLang="en-US" sz="1400" dirty="0"/>
              <a:t>良いニュースとして、</a:t>
            </a:r>
          </a:p>
          <a:p>
            <a:pPr algn="l"/>
            <a:r>
              <a:rPr lang="ja-JP" altLang="en-US" sz="1400" dirty="0"/>
              <a:t>一部の ICS デバイスでは RADIUS などの外部認証との連携 といった</a:t>
            </a:r>
          </a:p>
          <a:p>
            <a:pPr algn="l"/>
            <a:r>
              <a:rPr lang="ja-JP" altLang="en-US" sz="1400" dirty="0"/>
              <a:t>基本的なパスワード統合機能が導入され始めています。</a:t>
            </a:r>
          </a:p>
          <a:p>
            <a:pPr algn="l"/>
            <a:r>
              <a:rPr lang="ja-JP" altLang="en-US" sz="1400" dirty="0"/>
              <a:t>これは ICS の認証強化に向けた前向きな一歩と言えます。</a:t>
            </a:r>
          </a:p>
        </p:txBody>
      </p:sp>
      <p:pic>
        <p:nvPicPr>
          <p:cNvPr id="4" name="図 3">
            <a:extLst>
              <a:ext uri="{FF2B5EF4-FFF2-40B4-BE49-F238E27FC236}">
                <a16:creationId xmlns:a16="http://schemas.microsoft.com/office/drawing/2014/main" id="{9603278C-C8C4-4E69-BAB2-8C2470BB7586}"/>
              </a:ext>
            </a:extLst>
          </p:cNvPr>
          <p:cNvPicPr>
            <a:picLocks noChangeAspect="1"/>
          </p:cNvPicPr>
          <p:nvPr/>
        </p:nvPicPr>
        <p:blipFill>
          <a:blip r:embed="rId2"/>
          <a:stretch>
            <a:fillRect/>
          </a:stretch>
        </p:blipFill>
        <p:spPr>
          <a:xfrm>
            <a:off x="375453" y="118531"/>
            <a:ext cx="6101378" cy="347133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40663"/>
            <a:ext cx="3429000" cy="8432800"/>
          </a:xfrm>
        </p:spPr>
        <p:txBody>
          <a:bodyPr>
            <a:noAutofit/>
          </a:bodyPr>
          <a:lstStyle/>
          <a:p>
            <a:pPr algn="l"/>
            <a:r>
              <a:rPr lang="ja-JP" altLang="en-US" sz="1100" dirty="0"/>
              <a:t>パスワードクラッキングとは、</a:t>
            </a:r>
          </a:p>
          <a:p>
            <a:pPr algn="l"/>
            <a:r>
              <a:rPr lang="ja-JP" altLang="en-US" sz="1100" dirty="0"/>
              <a:t>パスワードファイルの情報をもとに、パスワードを推測する“オフライン攻撃” のことです。</a:t>
            </a:r>
          </a:p>
          <a:p>
            <a:pPr algn="l"/>
            <a:r>
              <a:rPr lang="ja-JP" altLang="en-US" sz="1100" dirty="0"/>
              <a:t>ここでは、パスワードクラッキングとは何か、</a:t>
            </a:r>
          </a:p>
          <a:p>
            <a:pPr algn="l"/>
            <a:r>
              <a:rPr lang="ja-JP" altLang="en-US" sz="1100" dirty="0"/>
              <a:t>なぜ重要なのか、どのような手法があるのかを説明します。</a:t>
            </a:r>
          </a:p>
          <a:p>
            <a:pPr algn="l"/>
            <a:endParaRPr lang="ja-JP" altLang="en-US" sz="1100" dirty="0"/>
          </a:p>
          <a:p>
            <a:pPr algn="l"/>
            <a:r>
              <a:rPr lang="ja-JP" altLang="en-US" sz="1100" dirty="0"/>
              <a:t>なぜパスワードは重要なのか</a:t>
            </a:r>
          </a:p>
          <a:p>
            <a:pPr algn="l"/>
            <a:r>
              <a:rPr lang="ja-JP" altLang="en-US" sz="1100" dirty="0"/>
              <a:t>パスワードは、多くの場合 システムへの対話型攻撃に対する最初の防御線 です。</a:t>
            </a:r>
          </a:p>
          <a:p>
            <a:pPr algn="l"/>
            <a:r>
              <a:rPr lang="ja-JP" altLang="en-US" sz="1100" dirty="0"/>
              <a:t>ユーザー ID は簡単に推測できるため、</a:t>
            </a:r>
          </a:p>
          <a:p>
            <a:pPr algn="l"/>
            <a:r>
              <a:rPr lang="ja-JP" altLang="en-US" sz="1100" dirty="0"/>
              <a:t>ユーザーアカウントを守っている唯一の要素が パスワード になります。</a:t>
            </a:r>
          </a:p>
          <a:p>
            <a:pPr algn="l"/>
            <a:r>
              <a:rPr lang="ja-JP" altLang="en-US" sz="1100" dirty="0"/>
              <a:t>攻撃者が役立つ情報（パスワードファイルやネットワーク上のパスワード漏えい）を得られない場合、</a:t>
            </a:r>
          </a:p>
          <a:p>
            <a:pPr algn="l"/>
            <a:r>
              <a:rPr lang="ja-JP" altLang="en-US" sz="1100" dirty="0"/>
              <a:t>攻撃者は 創造的な推測 か 総当たり（ブルートフォース） に頼るしかありません。</a:t>
            </a:r>
          </a:p>
          <a:p>
            <a:pPr algn="l"/>
            <a:endParaRPr lang="ja-JP" altLang="en-US" sz="1100" dirty="0"/>
          </a:p>
          <a:p>
            <a:pPr algn="l"/>
            <a:r>
              <a:rPr lang="ja-JP" altLang="en-US" sz="1100" dirty="0"/>
              <a:t>パスワードファイルを読めると攻撃成功率は急上昇する</a:t>
            </a:r>
          </a:p>
          <a:p>
            <a:pPr algn="l"/>
            <a:r>
              <a:rPr lang="ja-JP" altLang="en-US" sz="1100" dirty="0"/>
              <a:t>もし攻撃者がパスワードファイルを読めたりコピーできたりすると、</a:t>
            </a:r>
          </a:p>
          <a:p>
            <a:pPr algn="l"/>
            <a:r>
              <a:rPr lang="ja-JP" altLang="en-US" sz="1100" dirty="0"/>
              <a:t>実際のパスワードを割り出せる可能性が大幅に高まります。</a:t>
            </a:r>
          </a:p>
          <a:p>
            <a:pPr algn="l"/>
            <a:r>
              <a:rPr lang="ja-JP" altLang="en-US" sz="1100" dirty="0"/>
              <a:t>たとえ低権限のユーザーパスワードであっても、</a:t>
            </a:r>
          </a:p>
          <a:p>
            <a:pPr algn="l"/>
            <a:r>
              <a:rPr lang="ja-JP" altLang="en-US" sz="1100" dirty="0"/>
              <a:t>攻撃者はそのユーザーとしてログインし、</a:t>
            </a:r>
          </a:p>
          <a:p>
            <a:pPr algn="l"/>
            <a:r>
              <a:rPr lang="ja-JP" altLang="en-US" sz="1100" dirty="0"/>
              <a:t>ローカル脆弱性を悪用して root 権限を奪取 しようとします。</a:t>
            </a:r>
          </a:p>
          <a:p>
            <a:pPr algn="l"/>
            <a:endParaRPr lang="ja-JP" altLang="en-US" sz="1100" dirty="0"/>
          </a:p>
          <a:p>
            <a:pPr algn="l"/>
            <a:r>
              <a:rPr lang="ja-JP" altLang="en-US" sz="1100" dirty="0"/>
              <a:t>多くの企業ではパスワードが“唯一の防御”になっている</a:t>
            </a:r>
          </a:p>
          <a:p>
            <a:pPr algn="l"/>
            <a:r>
              <a:rPr lang="ja-JP" altLang="en-US" sz="1100" dirty="0"/>
              <a:t>多くの企業では、パスワードが最初の防御線どころか、</a:t>
            </a:r>
          </a:p>
          <a:p>
            <a:pPr algn="l"/>
            <a:r>
              <a:rPr lang="ja-JP" altLang="en-US" sz="1100" dirty="0"/>
              <a:t>唯一のセキュリティ対策 になっていることがあります。</a:t>
            </a:r>
          </a:p>
          <a:p>
            <a:pPr algn="l"/>
            <a:r>
              <a:rPr lang="ja-JP" altLang="en-US" sz="1100" dirty="0"/>
              <a:t>ユーザー ID は社員の「名前＋イニシャル」など単純な形式であることが多く、</a:t>
            </a:r>
          </a:p>
          <a:p>
            <a:pPr algn="l"/>
            <a:r>
              <a:rPr lang="ja-JP" altLang="en-US" sz="1100" dirty="0"/>
              <a:t>簡単に推測できます。</a:t>
            </a:r>
          </a:p>
          <a:p>
            <a:pPr algn="l"/>
            <a:r>
              <a:rPr lang="ja-JP" altLang="en-US" sz="1100" dirty="0"/>
              <a:t>そのため、攻撃者が必要なのは パスワードだけ です。</a:t>
            </a:r>
          </a:p>
          <a:p>
            <a:pPr algn="l"/>
            <a:r>
              <a:rPr lang="ja-JP" altLang="en-US" sz="1100" dirty="0"/>
              <a:t>だからこそ、パスワードは保護され、推測されにくいものでなければなりません。</a:t>
            </a:r>
          </a:p>
          <a:p>
            <a:pPr algn="l"/>
            <a:endParaRPr lang="ja-JP" altLang="en-US" sz="1100" dirty="0"/>
          </a:p>
        </p:txBody>
      </p:sp>
      <p:pic>
        <p:nvPicPr>
          <p:cNvPr id="5" name="図 4">
            <a:extLst>
              <a:ext uri="{FF2B5EF4-FFF2-40B4-BE49-F238E27FC236}">
                <a16:creationId xmlns:a16="http://schemas.microsoft.com/office/drawing/2014/main" id="{AA00C348-87B4-4243-B93F-52DFE8539BB8}"/>
              </a:ext>
            </a:extLst>
          </p:cNvPr>
          <p:cNvPicPr>
            <a:picLocks noChangeAspect="1"/>
          </p:cNvPicPr>
          <p:nvPr/>
        </p:nvPicPr>
        <p:blipFill>
          <a:blip r:embed="rId2"/>
          <a:stretch>
            <a:fillRect/>
          </a:stretch>
        </p:blipFill>
        <p:spPr>
          <a:xfrm>
            <a:off x="390930" y="101598"/>
            <a:ext cx="6070421" cy="3437467"/>
          </a:xfrm>
          <a:prstGeom prst="rect">
            <a:avLst/>
          </a:prstGeom>
        </p:spPr>
      </p:pic>
      <p:sp>
        <p:nvSpPr>
          <p:cNvPr id="4" name="サブタイトル 2">
            <a:extLst>
              <a:ext uri="{FF2B5EF4-FFF2-40B4-BE49-F238E27FC236}">
                <a16:creationId xmlns:a16="http://schemas.microsoft.com/office/drawing/2014/main" id="{9CE8DD1D-D497-4FDF-8885-54364CB19C31}"/>
              </a:ext>
            </a:extLst>
          </p:cNvPr>
          <p:cNvSpPr txBox="1">
            <a:spLocks/>
          </p:cNvSpPr>
          <p:nvPr/>
        </p:nvSpPr>
        <p:spPr>
          <a:xfrm>
            <a:off x="3423281" y="3640663"/>
            <a:ext cx="3429000" cy="487680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パスワードの“完全性”を脅かす 3 </a:t>
            </a:r>
            <a:r>
              <a:rPr lang="ja-JP" altLang="en-US" sz="1100" dirty="0" err="1"/>
              <a:t>つの</a:t>
            </a:r>
            <a:r>
              <a:rPr lang="ja-JP" altLang="en-US" sz="1100" dirty="0"/>
              <a:t>リスク</a:t>
            </a:r>
          </a:p>
          <a:p>
            <a:pPr algn="l"/>
            <a:r>
              <a:rPr lang="ja-JP" altLang="en-US" sz="1100" dirty="0"/>
              <a:t>パスワードの安全性には、以下の 3 </a:t>
            </a:r>
            <a:r>
              <a:rPr lang="ja-JP" altLang="en-US" sz="1100" dirty="0" err="1"/>
              <a:t>つの</a:t>
            </a:r>
            <a:r>
              <a:rPr lang="ja-JP" altLang="en-US" sz="1100" dirty="0"/>
              <a:t>脅威があります：</a:t>
            </a:r>
          </a:p>
          <a:p>
            <a:pPr algn="l"/>
            <a:r>
              <a:rPr lang="ja-JP" altLang="en-US" sz="1100" dirty="0"/>
              <a:t>1. 不正な開示（Unauthorized Disclosure）</a:t>
            </a:r>
          </a:p>
          <a:p>
            <a:pPr algn="l"/>
            <a:r>
              <a:rPr lang="ja-JP" altLang="en-US" sz="1100" dirty="0"/>
              <a:t>• 	メモに書く</a:t>
            </a:r>
          </a:p>
          <a:p>
            <a:pPr algn="l"/>
            <a:r>
              <a:rPr lang="ja-JP" altLang="en-US" sz="1100" dirty="0"/>
              <a:t>• 	他人と共有する</a:t>
            </a:r>
          </a:p>
          <a:p>
            <a:pPr algn="l"/>
            <a:r>
              <a:rPr lang="ja-JP" altLang="en-US" sz="1100" dirty="0"/>
              <a:t>• 	誤って漏らす</a:t>
            </a:r>
          </a:p>
          <a:p>
            <a:pPr algn="l"/>
            <a:r>
              <a:rPr lang="ja-JP" altLang="en-US" sz="1100" dirty="0"/>
              <a:t>→ 攻撃者に渡る可能性がある</a:t>
            </a:r>
          </a:p>
          <a:p>
            <a:pPr algn="l"/>
            <a:r>
              <a:rPr lang="ja-JP" altLang="en-US" sz="1100" dirty="0"/>
              <a:t>2. 不正な変更（Unauthorized Modification）</a:t>
            </a:r>
          </a:p>
          <a:p>
            <a:pPr algn="l"/>
            <a:r>
              <a:rPr lang="ja-JP" altLang="en-US" sz="1100" dirty="0"/>
              <a:t>攻撃者がパスワードデータを直接変更できる場合、</a:t>
            </a:r>
          </a:p>
          <a:p>
            <a:pPr algn="l"/>
            <a:r>
              <a:rPr lang="ja-JP" altLang="en-US" sz="1100" dirty="0"/>
              <a:t>元のパスワードを知らなくても書き換えが可能 になります。</a:t>
            </a:r>
          </a:p>
          <a:p>
            <a:pPr algn="l"/>
            <a:r>
              <a:rPr lang="ja-JP" altLang="en-US" sz="1100" dirty="0"/>
              <a:t>3. 不正な削除（Unauthorized Removal）</a:t>
            </a:r>
          </a:p>
          <a:p>
            <a:pPr algn="l"/>
            <a:r>
              <a:rPr lang="ja-JP" altLang="en-US" sz="1100" dirty="0"/>
              <a:t>パスワードデータが削除されると、</a:t>
            </a:r>
          </a:p>
          <a:p>
            <a:pPr algn="l"/>
            <a:r>
              <a:rPr lang="ja-JP" altLang="en-US" sz="1100" dirty="0"/>
              <a:t>アカウントが乗っ取られたり、ユーザーがログインできなくなったりします。</a:t>
            </a:r>
          </a:p>
          <a:p>
            <a:pPr algn="l"/>
            <a:r>
              <a:rPr lang="ja-JP" altLang="en-US" sz="1100" dirty="0"/>
              <a:t>攻撃者がパスワードを変更すると、</a:t>
            </a:r>
          </a:p>
          <a:p>
            <a:pPr algn="l"/>
            <a:r>
              <a:rPr lang="ja-JP" altLang="en-US" sz="1100" dirty="0"/>
              <a:t>ユーザーがログインできなくなるため気づかれやすいですが、</a:t>
            </a:r>
          </a:p>
          <a:p>
            <a:pPr algn="l"/>
            <a:r>
              <a:rPr lang="ja-JP" altLang="en-US" sz="1100" dirty="0"/>
              <a:t>それでも攻撃者にとっては有効な手段です。</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994080"/>
            <a:ext cx="3429000" cy="9144001"/>
          </a:xfrm>
        </p:spPr>
        <p:txBody>
          <a:bodyPr>
            <a:normAutofit/>
          </a:bodyPr>
          <a:lstStyle/>
          <a:p>
            <a:pPr algn="l"/>
            <a:r>
              <a:rPr lang="ja-JP" altLang="en-US" sz="1000" dirty="0"/>
              <a:t>2FA（多要素認証）の最も一般的な方法は、SecurID のようなトークンデバイス を使う方式です。</a:t>
            </a:r>
          </a:p>
          <a:p>
            <a:pPr algn="l"/>
            <a:r>
              <a:rPr lang="ja-JP" altLang="en-US" sz="1000" dirty="0"/>
              <a:t>ユーザーはログイン時にこのデバイスを手元に持っている必要があります。</a:t>
            </a:r>
          </a:p>
          <a:p>
            <a:pPr algn="l"/>
            <a:r>
              <a:rPr lang="ja-JP" altLang="en-US" sz="1000" dirty="0"/>
              <a:t>トークンは時刻に基づいて動作し、</a:t>
            </a:r>
          </a:p>
          <a:p>
            <a:pPr algn="l"/>
            <a:r>
              <a:rPr lang="ja-JP" altLang="en-US" sz="1000" dirty="0"/>
              <a:t>1 分ごとにパスワードが変わります。</a:t>
            </a:r>
          </a:p>
          <a:p>
            <a:pPr algn="l"/>
            <a:r>
              <a:rPr lang="ja-JP" altLang="en-US" sz="1000" dirty="0"/>
              <a:t>ログインする際、ユーザーはトークンに表示された現在のパスワードを読み取り、</a:t>
            </a:r>
          </a:p>
          <a:p>
            <a:pPr algn="l"/>
            <a:r>
              <a:rPr lang="ja-JP" altLang="en-US" sz="1000" dirty="0"/>
              <a:t>ログイン画面に入力します。</a:t>
            </a:r>
          </a:p>
          <a:p>
            <a:pPr algn="l"/>
            <a:endParaRPr lang="ja-JP" altLang="en-US" sz="1000" dirty="0"/>
          </a:p>
          <a:p>
            <a:pPr algn="l"/>
            <a:r>
              <a:rPr lang="ja-JP" altLang="en-US" sz="1000" dirty="0"/>
              <a:t>ソフトウェア型ワンタイムパスワード（OTP）</a:t>
            </a:r>
          </a:p>
          <a:p>
            <a:pPr algn="l"/>
            <a:r>
              <a:rPr lang="ja-JP" altLang="en-US" sz="1000" dirty="0"/>
              <a:t>ハードウェアトークンより安価な ソフトウェア型 OTP も存在します。</a:t>
            </a:r>
          </a:p>
          <a:p>
            <a:pPr algn="l"/>
            <a:r>
              <a:rPr lang="ja-JP" altLang="en-US" sz="1000" dirty="0"/>
              <a:t>• 	多くの場合、ソフトウェア自体は無料</a:t>
            </a:r>
          </a:p>
          <a:p>
            <a:pPr algn="l"/>
            <a:r>
              <a:rPr lang="ja-JP" altLang="en-US" sz="1000" dirty="0"/>
              <a:t>• 	カードやデバイスを購入する必要がない</a:t>
            </a:r>
          </a:p>
          <a:p>
            <a:pPr algn="l"/>
            <a:r>
              <a:rPr lang="ja-JP" altLang="en-US" sz="1000" dirty="0"/>
              <a:t>• 	初期設定をユーザー自身で行える</a:t>
            </a:r>
          </a:p>
          <a:p>
            <a:pPr algn="l"/>
            <a:r>
              <a:rPr lang="ja-JP" altLang="en-US" sz="1000" dirty="0"/>
              <a:t>• 	一方、ハードウェアトークンは専門スタッフによる設定が必要なことが多い</a:t>
            </a:r>
          </a:p>
          <a:p>
            <a:pPr algn="l"/>
            <a:r>
              <a:rPr lang="ja-JP" altLang="en-US" sz="1000" dirty="0"/>
              <a:t>代表的な方式として S/KEY があります。</a:t>
            </a:r>
          </a:p>
          <a:p>
            <a:pPr algn="l"/>
            <a:r>
              <a:rPr lang="ja-JP" altLang="en-US" sz="1000" dirty="0"/>
              <a:t>S/KEY はシステム設定時にワンタイムパスワードをまとめて計算し、</a:t>
            </a:r>
          </a:p>
          <a:p>
            <a:pPr algn="l"/>
            <a:r>
              <a:rPr lang="ja-JP" altLang="en-US" sz="1000" dirty="0"/>
              <a:t>ユーザーに 事前計算されたパスワードリスト を配布します。</a:t>
            </a:r>
          </a:p>
          <a:p>
            <a:pPr algn="l"/>
            <a:r>
              <a:rPr lang="ja-JP" altLang="en-US" sz="1000" dirty="0"/>
              <a:t>ログインのたびに異なるパスワードを使用します。</a:t>
            </a:r>
          </a:p>
          <a:p>
            <a:pPr algn="l"/>
            <a:endParaRPr lang="ja-JP" altLang="en-US" sz="1000" dirty="0"/>
          </a:p>
          <a:p>
            <a:pPr algn="l"/>
            <a:r>
              <a:rPr lang="ja-JP" altLang="en-US" sz="1000" dirty="0"/>
              <a:t>バイオメトリクス（生体認証）</a:t>
            </a:r>
          </a:p>
          <a:p>
            <a:pPr algn="l"/>
            <a:r>
              <a:rPr lang="ja-JP" altLang="en-US" sz="1000" dirty="0"/>
              <a:t>生体認証は、人の身体的特徴を使って本人確認を行う方式です。</a:t>
            </a:r>
          </a:p>
          <a:p>
            <a:pPr algn="l"/>
            <a:r>
              <a:rPr lang="ja-JP" altLang="en-US" sz="1000" dirty="0"/>
              <a:t>一般的には 指紋認証 がよく使われます。</a:t>
            </a:r>
          </a:p>
          <a:p>
            <a:pPr algn="l"/>
            <a:r>
              <a:rPr lang="ja-JP" altLang="en-US" sz="1000" dirty="0"/>
              <a:t>ICS での導入は当初ゆっくりでした。</a:t>
            </a:r>
          </a:p>
          <a:p>
            <a:pPr algn="l"/>
            <a:r>
              <a:rPr lang="ja-JP" altLang="en-US" sz="1000" dirty="0"/>
              <a:t>理由は：</a:t>
            </a:r>
          </a:p>
          <a:p>
            <a:pPr algn="l"/>
            <a:r>
              <a:rPr lang="ja-JP" altLang="en-US" sz="1000" dirty="0"/>
              <a:t>• 	技術が新しかった</a:t>
            </a:r>
          </a:p>
          <a:p>
            <a:pPr algn="l"/>
            <a:r>
              <a:rPr lang="ja-JP" altLang="en-US" sz="1000" dirty="0"/>
              <a:t>• 	初期の実装では遅延が発生した</a:t>
            </a:r>
          </a:p>
          <a:p>
            <a:pPr algn="l"/>
            <a:r>
              <a:rPr lang="ja-JP" altLang="en-US" sz="1000" dirty="0"/>
              <a:t>しかし技術の進歩により、これらの懸念は大きく改善されました。</a:t>
            </a:r>
          </a:p>
          <a:p>
            <a:pPr algn="l"/>
            <a:r>
              <a:rPr lang="ja-JP" altLang="en-US" sz="1000" dirty="0"/>
              <a:t>実際、一部の ICS ベンダーは、生体認証を導入することで：</a:t>
            </a:r>
          </a:p>
          <a:p>
            <a:pPr algn="l"/>
            <a:r>
              <a:rPr lang="ja-JP" altLang="en-US" sz="1000" dirty="0"/>
              <a:t>• 	パスワード入力ミスの減少</a:t>
            </a:r>
          </a:p>
          <a:p>
            <a:pPr algn="l"/>
            <a:r>
              <a:rPr lang="ja-JP" altLang="en-US" sz="1000" dirty="0"/>
              <a:t>• 	オペレーターの疲労軽減</a:t>
            </a:r>
          </a:p>
          <a:p>
            <a:pPr algn="l"/>
            <a:r>
              <a:rPr lang="ja-JP" altLang="en-US" sz="1000" dirty="0"/>
              <a:t>• 	長期休暇後のパスワード忘れ問題の解消</a:t>
            </a:r>
          </a:p>
          <a:p>
            <a:pPr algn="l"/>
            <a:r>
              <a:rPr lang="ja-JP" altLang="en-US" sz="1000" dirty="0"/>
              <a:t>といったメリットを報告しています。</a:t>
            </a:r>
          </a:p>
          <a:p>
            <a:pPr algn="l"/>
            <a:r>
              <a:rPr lang="ja-JP" altLang="en-US" sz="1000" dirty="0"/>
              <a:t>特に ICS のオペレーターは、</a:t>
            </a:r>
          </a:p>
          <a:p>
            <a:pPr algn="l"/>
            <a:r>
              <a:rPr lang="ja-JP" altLang="en-US" sz="1000" dirty="0"/>
              <a:t>7〜10 日の休暇後に複雑なパスワードを思い出すのが難しい という課題があります。</a:t>
            </a:r>
          </a:p>
          <a:p>
            <a:pPr algn="l"/>
            <a:endParaRPr lang="ja-JP" altLang="en-US" sz="1000" dirty="0"/>
          </a:p>
        </p:txBody>
      </p:sp>
      <p:pic>
        <p:nvPicPr>
          <p:cNvPr id="4" name="図 3">
            <a:extLst>
              <a:ext uri="{FF2B5EF4-FFF2-40B4-BE49-F238E27FC236}">
                <a16:creationId xmlns:a16="http://schemas.microsoft.com/office/drawing/2014/main" id="{DC98CD0A-C284-4500-8232-ED7D78FEB18A}"/>
              </a:ext>
            </a:extLst>
          </p:cNvPr>
          <p:cNvPicPr>
            <a:picLocks noChangeAspect="1"/>
          </p:cNvPicPr>
          <p:nvPr/>
        </p:nvPicPr>
        <p:blipFill>
          <a:blip r:embed="rId2"/>
          <a:stretch>
            <a:fillRect/>
          </a:stretch>
        </p:blipFill>
        <p:spPr>
          <a:xfrm>
            <a:off x="960965" y="98966"/>
            <a:ext cx="4953002" cy="2810449"/>
          </a:xfrm>
          <a:prstGeom prst="rect">
            <a:avLst/>
          </a:prstGeom>
        </p:spPr>
      </p:pic>
      <p:sp>
        <p:nvSpPr>
          <p:cNvPr id="5" name="サブタイトル 2">
            <a:extLst>
              <a:ext uri="{FF2B5EF4-FFF2-40B4-BE49-F238E27FC236}">
                <a16:creationId xmlns:a16="http://schemas.microsoft.com/office/drawing/2014/main" id="{582B832A-B40A-409C-B694-E57BE694D929}"/>
              </a:ext>
            </a:extLst>
          </p:cNvPr>
          <p:cNvSpPr txBox="1">
            <a:spLocks/>
          </p:cNvSpPr>
          <p:nvPr/>
        </p:nvSpPr>
        <p:spPr>
          <a:xfrm>
            <a:off x="3437466" y="2994080"/>
            <a:ext cx="3429000" cy="618378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ICS における生体認証導入の注意点</a:t>
            </a:r>
          </a:p>
          <a:p>
            <a:pPr algn="l"/>
            <a:r>
              <a:rPr lang="ja-JP" altLang="en-US" sz="1400" dirty="0"/>
              <a:t>多くの ICS ベンダーが生体認証を提供し始めていますが、</a:t>
            </a:r>
          </a:p>
          <a:p>
            <a:pPr algn="l"/>
            <a:r>
              <a:rPr lang="ja-JP" altLang="en-US" sz="1400" dirty="0"/>
              <a:t>導入には以下の点が重要です：</a:t>
            </a:r>
          </a:p>
          <a:p>
            <a:pPr algn="l"/>
            <a:r>
              <a:rPr lang="ja-JP" altLang="en-US" sz="1400" dirty="0"/>
              <a:t>• 現場の運用要件を理解していること</a:t>
            </a:r>
          </a:p>
          <a:p>
            <a:pPr algn="l"/>
            <a:r>
              <a:rPr lang="ja-JP" altLang="en-US" sz="1400" dirty="0"/>
              <a:t>エンジニアやオペレーターの作業フローに合う必要があります。</a:t>
            </a:r>
          </a:p>
          <a:p>
            <a:pPr algn="l"/>
            <a:r>
              <a:rPr lang="ja-JP" altLang="en-US" sz="1400" dirty="0"/>
              <a:t>• ICS のソフトウェア／ハードウェアと適切に統合できること</a:t>
            </a:r>
          </a:p>
          <a:p>
            <a:pPr algn="l"/>
            <a:r>
              <a:rPr lang="ja-JP" altLang="en-US" sz="1400" dirty="0"/>
              <a:t>• 導入前のテストと運用者トレーニングが必須</a:t>
            </a:r>
          </a:p>
          <a:p>
            <a:pPr algn="l"/>
            <a:r>
              <a:rPr lang="ja-JP" altLang="en-US" sz="1400" dirty="0"/>
              <a:t>• 現場特有の課題への対応</a:t>
            </a:r>
          </a:p>
          <a:p>
            <a:pPr algn="l"/>
            <a:r>
              <a:rPr lang="ja-JP" altLang="en-US" sz="1400" dirty="0"/>
              <a:t>• 	外部業者（契約者、技術者）をどう扱うか</a:t>
            </a:r>
          </a:p>
          <a:p>
            <a:pPr algn="l"/>
            <a:r>
              <a:rPr lang="ja-JP" altLang="en-US" sz="1400" dirty="0"/>
              <a:t>• 	緊急時や災害復旧時に、初めて現場に来る人をどう認証するか</a:t>
            </a:r>
          </a:p>
          <a:p>
            <a:pPr algn="l"/>
            <a:r>
              <a:rPr lang="ja-JP" altLang="en-US" sz="1400" dirty="0"/>
              <a:t>• 	電力など重要インフラの復旧時には、迅速なアクセスが必要</a:t>
            </a:r>
          </a:p>
          <a:p>
            <a:pPr algn="l"/>
            <a:r>
              <a:rPr lang="ja-JP" altLang="en-US" sz="1400" dirty="0"/>
              <a:t>ICS の現場デバイスは、</a:t>
            </a:r>
          </a:p>
          <a:p>
            <a:pPr algn="l"/>
            <a:r>
              <a:rPr lang="ja-JP" altLang="en-US" sz="1400" dirty="0"/>
              <a:t>新しい人でもすぐにアクセスできなければならない状況 があるため、</a:t>
            </a:r>
          </a:p>
          <a:p>
            <a:pPr algn="l"/>
            <a:r>
              <a:rPr lang="ja-JP" altLang="en-US" sz="1400" dirty="0"/>
              <a:t>生体認証の導入には慎重な設計が求められます。</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5063067"/>
          </a:xfrm>
        </p:spPr>
        <p:txBody>
          <a:bodyPr>
            <a:normAutofit/>
          </a:bodyPr>
          <a:lstStyle/>
          <a:p>
            <a:pPr algn="l"/>
            <a:r>
              <a:rPr lang="ja-JP" altLang="en-US" sz="1400" dirty="0"/>
              <a:t>電力会社（Power Utilities）は、相互支援（MOU: Memorandum of Understanding）に基づき、</a:t>
            </a:r>
          </a:p>
          <a:p>
            <a:pPr algn="l"/>
            <a:r>
              <a:rPr lang="ja-JP" altLang="en-US" sz="1400" dirty="0"/>
              <a:t>大規模な嵐や災害の後に ライン作業員や技術者が互いに応援に入る仕組み を持っています。</a:t>
            </a:r>
          </a:p>
          <a:p>
            <a:pPr algn="l"/>
            <a:r>
              <a:rPr lang="ja-JP" altLang="en-US" sz="1400" dirty="0"/>
              <a:t>これは業界標準に沿って行われるもので、復旧作業を迅速に進めるための重要な取り組みです。</a:t>
            </a:r>
          </a:p>
          <a:p>
            <a:pPr algn="l"/>
            <a:r>
              <a:rPr lang="ja-JP" altLang="en-US" sz="1400" dirty="0"/>
              <a:t>しかし、このように外部から応援に来る新しい作業員や技術者は、</a:t>
            </a:r>
          </a:p>
          <a:p>
            <a:pPr algn="l"/>
            <a:r>
              <a:rPr lang="ja-JP" altLang="en-US" sz="1400" dirty="0"/>
              <a:t>システムへのアクセスを必要とする場合があります。</a:t>
            </a:r>
          </a:p>
          <a:p>
            <a:pPr algn="l"/>
            <a:endParaRPr lang="ja-JP" altLang="en-US" sz="1400" dirty="0"/>
          </a:p>
          <a:p>
            <a:pPr algn="l"/>
            <a:r>
              <a:rPr lang="ja-JP" altLang="en-US" sz="1400" dirty="0"/>
              <a:t>意味するところ</a:t>
            </a:r>
          </a:p>
          <a:p>
            <a:pPr algn="l"/>
            <a:r>
              <a:rPr lang="ja-JP" altLang="en-US" sz="1400" dirty="0"/>
              <a:t>つまり、災害復旧時には：</a:t>
            </a:r>
          </a:p>
          <a:p>
            <a:pPr algn="l"/>
            <a:r>
              <a:rPr lang="ja-JP" altLang="en-US" sz="1400" dirty="0"/>
              <a:t>• 	通常は所属していない外部の作業員が現場に入る</a:t>
            </a:r>
          </a:p>
          <a:p>
            <a:pPr algn="l"/>
            <a:r>
              <a:rPr lang="ja-JP" altLang="en-US" sz="1400" dirty="0"/>
              <a:t>• 	彼らが ICS や OT システムにアクセスする必要が生じる</a:t>
            </a:r>
          </a:p>
          <a:p>
            <a:pPr algn="l"/>
            <a:r>
              <a:rPr lang="ja-JP" altLang="en-US" sz="1400" dirty="0"/>
              <a:t>• 	そのため、アクセス管理・認証・権限付与の仕組みが非常に重要になる</a:t>
            </a:r>
          </a:p>
          <a:p>
            <a:pPr algn="l"/>
            <a:r>
              <a:rPr lang="ja-JP" altLang="en-US" sz="1400" dirty="0"/>
              <a:t>ということです。</a:t>
            </a:r>
          </a:p>
          <a:p>
            <a:pPr algn="l"/>
            <a:r>
              <a:rPr lang="ja-JP" altLang="en-US" sz="1400" dirty="0"/>
              <a:t>ICS の世界では、</a:t>
            </a:r>
          </a:p>
          <a:p>
            <a:pPr algn="l"/>
            <a:r>
              <a:rPr lang="ja-JP" altLang="en-US" sz="1400" dirty="0"/>
              <a:t>「緊急時に誰がどのシステムにアクセスできるべきか」</a:t>
            </a:r>
          </a:p>
          <a:p>
            <a:pPr algn="l"/>
            <a:r>
              <a:rPr lang="ja-JP" altLang="en-US" sz="1400" dirty="0"/>
              <a:t>という問題は、セキュリティと運用継続性の両面で大きな課題になります。</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9789" y="2965960"/>
            <a:ext cx="3383812" cy="7234165"/>
          </a:xfrm>
        </p:spPr>
        <p:txBody>
          <a:bodyPr>
            <a:normAutofit/>
          </a:bodyPr>
          <a:lstStyle/>
          <a:p>
            <a:pPr algn="l"/>
            <a:r>
              <a:rPr lang="ja-JP" altLang="en-US" sz="1200" dirty="0"/>
              <a:t>Single Sign-On（SSO）は長年期待されてきた技術ですが、</a:t>
            </a:r>
          </a:p>
          <a:p>
            <a:pPr algn="l"/>
            <a:r>
              <a:rPr lang="ja-JP" altLang="en-US" sz="1200" dirty="0"/>
              <a:t>現実にはまだ複数の認証情報を使い分ける必要がある場面が多く残っています。</a:t>
            </a:r>
          </a:p>
          <a:p>
            <a:pPr algn="l"/>
            <a:r>
              <a:rPr lang="ja-JP" altLang="en-US" sz="1200" dirty="0"/>
              <a:t>SSO を使うと、ユーザーは朝に一度ログインするだけで、</a:t>
            </a:r>
          </a:p>
          <a:p>
            <a:pPr algn="l"/>
            <a:r>
              <a:rPr lang="ja-JP" altLang="en-US" sz="1200" dirty="0"/>
              <a:t>自分に権限があるすべてのリソースへ追加のログインなしでアクセス できます。</a:t>
            </a:r>
          </a:p>
          <a:p>
            <a:pPr algn="l"/>
            <a:endParaRPr lang="ja-JP" altLang="en-US" sz="1200" dirty="0"/>
          </a:p>
          <a:p>
            <a:pPr algn="l"/>
            <a:r>
              <a:rPr lang="ja-JP" altLang="en-US" sz="1200" dirty="0"/>
              <a:t>SSO の実装方法</a:t>
            </a:r>
          </a:p>
          <a:p>
            <a:pPr algn="l"/>
            <a:r>
              <a:rPr lang="ja-JP" altLang="en-US" sz="1200" dirty="0"/>
              <a:t>SSO にはいくつかの実装方式があります。</a:t>
            </a:r>
          </a:p>
          <a:p>
            <a:pPr algn="l"/>
            <a:endParaRPr lang="ja-JP" altLang="en-US" sz="1200" dirty="0"/>
          </a:p>
          <a:p>
            <a:pPr algn="l"/>
            <a:r>
              <a:rPr lang="ja-JP" altLang="en-US" sz="1200" dirty="0"/>
              <a:t>1. スクリプトによるログイン模倣（古典的だが今も使われる方式）</a:t>
            </a:r>
          </a:p>
          <a:p>
            <a:pPr algn="l"/>
            <a:r>
              <a:rPr lang="ja-JP" altLang="en-US" sz="1200" dirty="0"/>
              <a:t>複数のサーバ間でログイン処理を自動化するために、</a:t>
            </a:r>
          </a:p>
          <a:p>
            <a:pPr algn="l"/>
            <a:r>
              <a:rPr lang="ja-JP" altLang="en-US" sz="1200" dirty="0"/>
              <a:t>ログイン手順を模倣するスクリプト を使う方式です。</a:t>
            </a:r>
          </a:p>
          <a:p>
            <a:pPr algn="l"/>
            <a:r>
              <a:rPr lang="ja-JP" altLang="en-US" sz="1200" dirty="0"/>
              <a:t>• 	実装が簡単</a:t>
            </a:r>
          </a:p>
          <a:p>
            <a:pPr algn="l"/>
            <a:r>
              <a:rPr lang="ja-JP" altLang="en-US" sz="1200" dirty="0"/>
              <a:t>• 	しかし 平文の認証情報をファイルに保存する ため、重大なセキュリティリスクがある</a:t>
            </a:r>
          </a:p>
          <a:p>
            <a:pPr algn="l"/>
            <a:endParaRPr lang="ja-JP" altLang="en-US" sz="1200" dirty="0"/>
          </a:p>
          <a:p>
            <a:pPr algn="l"/>
            <a:r>
              <a:rPr lang="ja-JP" altLang="en-US" sz="1200" dirty="0"/>
              <a:t>2. 中央ディレクトリサービス（LDAP / Active Directory）</a:t>
            </a:r>
          </a:p>
          <a:p>
            <a:pPr algn="l"/>
            <a:r>
              <a:rPr lang="ja-JP" altLang="en-US" sz="1200" dirty="0"/>
              <a:t>より一般的で安全な方式です。</a:t>
            </a:r>
          </a:p>
          <a:p>
            <a:pPr algn="l"/>
            <a:r>
              <a:rPr lang="ja-JP" altLang="en-US" sz="1200" dirty="0"/>
              <a:t>• 	LDAP や Microsoft Active Directory を利用</a:t>
            </a:r>
          </a:p>
          <a:p>
            <a:pPr algn="l"/>
            <a:r>
              <a:rPr lang="ja-JP" altLang="en-US" sz="1200" dirty="0"/>
              <a:t>• 	ユーザーアカウントを 一度だけ作成</a:t>
            </a:r>
          </a:p>
          <a:p>
            <a:pPr algn="l"/>
            <a:r>
              <a:rPr lang="ja-JP" altLang="en-US" sz="1200" dirty="0"/>
              <a:t>• 	そのアカウントで複数のサービスやプラットフォームにアクセス可能</a:t>
            </a:r>
          </a:p>
          <a:p>
            <a:pPr algn="l"/>
            <a:r>
              <a:rPr lang="ja-JP" altLang="en-US" sz="1200" dirty="0"/>
              <a:t>企業環境では最も広く使われている SSO 方式です。</a:t>
            </a:r>
          </a:p>
        </p:txBody>
      </p:sp>
      <p:pic>
        <p:nvPicPr>
          <p:cNvPr id="4" name="図形 3"/>
          <p:cNvPicPr>
            <a:picLocks noChangeAspect="1"/>
          </p:cNvPicPr>
          <p:nvPr/>
        </p:nvPicPr>
        <p:blipFill>
          <a:blip r:embed="rId2"/>
          <a:stretch>
            <a:fillRect/>
          </a:stretch>
        </p:blipFill>
        <p:spPr>
          <a:xfrm>
            <a:off x="520277" y="10166259"/>
            <a:ext cx="5766647" cy="1941076"/>
          </a:xfrm>
          <a:prstGeom prst="rect">
            <a:avLst/>
          </a:prstGeom>
        </p:spPr>
      </p:pic>
      <p:pic>
        <p:nvPicPr>
          <p:cNvPr id="5" name="図 4">
            <a:extLst>
              <a:ext uri="{FF2B5EF4-FFF2-40B4-BE49-F238E27FC236}">
                <a16:creationId xmlns:a16="http://schemas.microsoft.com/office/drawing/2014/main" id="{AEB8A58D-917D-4F38-810C-DC35706D07D1}"/>
              </a:ext>
            </a:extLst>
          </p:cNvPr>
          <p:cNvPicPr>
            <a:picLocks noChangeAspect="1"/>
          </p:cNvPicPr>
          <p:nvPr/>
        </p:nvPicPr>
        <p:blipFill>
          <a:blip r:embed="rId3"/>
          <a:stretch>
            <a:fillRect/>
          </a:stretch>
        </p:blipFill>
        <p:spPr>
          <a:xfrm>
            <a:off x="950705" y="67732"/>
            <a:ext cx="4979247" cy="2822461"/>
          </a:xfrm>
          <a:prstGeom prst="rect">
            <a:avLst/>
          </a:prstGeom>
        </p:spPr>
      </p:pic>
      <p:sp>
        <p:nvSpPr>
          <p:cNvPr id="6" name="サブタイトル 2">
            <a:extLst>
              <a:ext uri="{FF2B5EF4-FFF2-40B4-BE49-F238E27FC236}">
                <a16:creationId xmlns:a16="http://schemas.microsoft.com/office/drawing/2014/main" id="{2025EB89-42E0-4239-87D8-A60AE6A9C9B2}"/>
              </a:ext>
            </a:extLst>
          </p:cNvPr>
          <p:cNvSpPr txBox="1">
            <a:spLocks/>
          </p:cNvSpPr>
          <p:nvPr/>
        </p:nvSpPr>
        <p:spPr>
          <a:xfrm>
            <a:off x="3440329" y="2965959"/>
            <a:ext cx="3383812" cy="723416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3. Kerberos（Windows 2000 以降で標準搭載）</a:t>
            </a:r>
          </a:p>
          <a:p>
            <a:pPr algn="l"/>
            <a:r>
              <a:rPr lang="ja-JP" altLang="en-US" sz="1200" dirty="0"/>
              <a:t>Kerberos は チケット を使って認証を行う方式で、</a:t>
            </a:r>
          </a:p>
          <a:p>
            <a:pPr algn="l"/>
            <a:r>
              <a:rPr lang="ja-JP" altLang="en-US" sz="1200" dirty="0"/>
              <a:t>Windows 環境では SSO を実現する主要技術です。</a:t>
            </a:r>
          </a:p>
          <a:p>
            <a:pPr algn="l"/>
            <a:r>
              <a:rPr lang="ja-JP" altLang="en-US" sz="1200" dirty="0"/>
              <a:t>ただし：</a:t>
            </a:r>
          </a:p>
          <a:p>
            <a:pPr algn="l"/>
            <a:r>
              <a:rPr lang="ja-JP" altLang="en-US" sz="1200" dirty="0"/>
              <a:t>• 	すべての OS が Kerberos に対応しているわけではない</a:t>
            </a:r>
          </a:p>
          <a:p>
            <a:pPr algn="l"/>
            <a:r>
              <a:rPr lang="ja-JP" altLang="en-US" sz="1200" dirty="0"/>
              <a:t>• 	サードパーティ製ソフトの導入が必要な場合がある</a:t>
            </a:r>
          </a:p>
          <a:p>
            <a:pPr algn="l"/>
            <a:r>
              <a:rPr lang="ja-JP" altLang="en-US" sz="1200" dirty="0"/>
              <a:t>• 	Kerberos のバージョン間で互換性問題が起きることもある</a:t>
            </a:r>
          </a:p>
          <a:p>
            <a:pPr algn="l"/>
            <a:endParaRPr lang="ja-JP" altLang="en-US" sz="1200" dirty="0"/>
          </a:p>
          <a:p>
            <a:pPr algn="l"/>
            <a:r>
              <a:rPr lang="ja-JP" altLang="en-US" sz="1200" dirty="0"/>
              <a:t>SSO のメリットと導入時の注意点</a:t>
            </a:r>
          </a:p>
          <a:p>
            <a:pPr algn="l"/>
            <a:r>
              <a:rPr lang="ja-JP" altLang="en-US" sz="1200" dirty="0"/>
              <a:t>SSO は管理者の作業時間を大幅に削減できますが、</a:t>
            </a:r>
          </a:p>
          <a:p>
            <a:pPr algn="l"/>
            <a:r>
              <a:rPr lang="ja-JP" altLang="en-US" sz="1200" dirty="0"/>
              <a:t>導入には 初期投資（コスト・人員） が必要です。</a:t>
            </a:r>
          </a:p>
          <a:p>
            <a:pPr algn="l"/>
            <a:r>
              <a:rPr lang="ja-JP" altLang="en-US" sz="1200" dirty="0"/>
              <a:t>また、選定時には：</a:t>
            </a:r>
          </a:p>
          <a:p>
            <a:pPr algn="l"/>
            <a:r>
              <a:rPr lang="ja-JP" altLang="en-US" sz="1200" dirty="0"/>
              <a:t>• 	既存のプラットフォーム</a:t>
            </a:r>
          </a:p>
          <a:p>
            <a:pPr algn="l"/>
            <a:r>
              <a:rPr lang="ja-JP" altLang="en-US" sz="1200" dirty="0"/>
              <a:t>• 	レガシーアプリケーション</a:t>
            </a:r>
          </a:p>
          <a:p>
            <a:pPr algn="l"/>
            <a:r>
              <a:rPr lang="ja-JP" altLang="en-US" sz="1200" dirty="0"/>
              <a:t>• 	ICS 固有の制約</a:t>
            </a:r>
          </a:p>
          <a:p>
            <a:pPr algn="l"/>
            <a:r>
              <a:rPr lang="ja-JP" altLang="en-US" sz="1200" dirty="0"/>
              <a:t>をすべてサポートできる方式を選ぶ必要があります。</a:t>
            </a:r>
          </a:p>
          <a:p>
            <a:pPr algn="l"/>
            <a:endParaRPr lang="ja-JP" altLang="en-US" sz="1200" dirty="0"/>
          </a:p>
          <a:p>
            <a:pPr algn="l"/>
            <a:r>
              <a:rPr lang="ja-JP" altLang="en-US" sz="1200" dirty="0"/>
              <a:t>RADIUS について</a:t>
            </a:r>
          </a:p>
          <a:p>
            <a:pPr algn="l"/>
            <a:r>
              <a:rPr lang="ja-JP" altLang="en-US" sz="1200" dirty="0"/>
              <a:t>RADIUS（Remote Authentication Dial-In User Service）は、</a:t>
            </a:r>
          </a:p>
          <a:p>
            <a:pPr algn="l"/>
            <a:r>
              <a:rPr lang="ja-JP" altLang="en-US" sz="1200" dirty="0"/>
              <a:t>アクセス要求者を ユーザー名とパスワードで認証 するために広く使われています。</a:t>
            </a:r>
          </a:p>
          <a:p>
            <a:pPr algn="l"/>
            <a:r>
              <a:rPr lang="ja-JP" altLang="en-US" sz="1200" dirty="0"/>
              <a:t>SSO とは別の技術ですが、</a:t>
            </a:r>
          </a:p>
          <a:p>
            <a:pPr algn="l"/>
            <a:r>
              <a:rPr lang="ja-JP" altLang="en-US" sz="1200" dirty="0"/>
              <a:t>ネットワーク機器や ICS デバイスの認証基盤としてよく利用されます。</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B2B172B5-BD44-40CF-A4E0-83CD1CDCD5B0}"/>
              </a:ext>
            </a:extLst>
          </p:cNvPr>
          <p:cNvPicPr>
            <a:picLocks noChangeAspect="1"/>
          </p:cNvPicPr>
          <p:nvPr/>
        </p:nvPicPr>
        <p:blipFill>
          <a:blip r:embed="rId2"/>
          <a:stretch>
            <a:fillRect/>
          </a:stretch>
        </p:blipFill>
        <p:spPr>
          <a:xfrm>
            <a:off x="169333" y="257041"/>
            <a:ext cx="6519333" cy="370535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F34DF8F1-98D5-4984-BAF0-87E8884C4996}"/>
              </a:ext>
            </a:extLst>
          </p:cNvPr>
          <p:cNvPicPr>
            <a:picLocks noChangeAspect="1"/>
          </p:cNvPicPr>
          <p:nvPr/>
        </p:nvPicPr>
        <p:blipFill>
          <a:blip r:embed="rId2"/>
          <a:stretch>
            <a:fillRect/>
          </a:stretch>
        </p:blipFill>
        <p:spPr>
          <a:xfrm>
            <a:off x="228600" y="180590"/>
            <a:ext cx="6400800" cy="362940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66E5A340-D336-4C73-B025-C219BCF2C072}"/>
              </a:ext>
            </a:extLst>
          </p:cNvPr>
          <p:cNvPicPr>
            <a:picLocks noChangeAspect="1"/>
          </p:cNvPicPr>
          <p:nvPr/>
        </p:nvPicPr>
        <p:blipFill>
          <a:blip r:embed="rId2"/>
          <a:stretch>
            <a:fillRect/>
          </a:stretch>
        </p:blipFill>
        <p:spPr>
          <a:xfrm>
            <a:off x="228600" y="163657"/>
            <a:ext cx="6400800" cy="362940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338061FE-F1BB-4670-8C35-744B4C4FF4B9}"/>
              </a:ext>
            </a:extLst>
          </p:cNvPr>
          <p:cNvPicPr>
            <a:picLocks noChangeAspect="1"/>
          </p:cNvPicPr>
          <p:nvPr/>
        </p:nvPicPr>
        <p:blipFill>
          <a:blip r:embed="rId2"/>
          <a:stretch>
            <a:fillRect/>
          </a:stretch>
        </p:blipFill>
        <p:spPr>
          <a:xfrm>
            <a:off x="338666" y="149429"/>
            <a:ext cx="6180668" cy="350817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200397"/>
            <a:ext cx="3429000" cy="7230534"/>
          </a:xfrm>
        </p:spPr>
        <p:txBody>
          <a:bodyPr>
            <a:normAutofit/>
          </a:bodyPr>
          <a:lstStyle/>
          <a:p>
            <a:pPr algn="l"/>
            <a:r>
              <a:rPr lang="ja-JP" altLang="en-US" sz="1400" dirty="0"/>
              <a:t>Microsoft には、DOS、Windows for Workgroups、Windows 95 など、非常に多くのクライアント OS が存在します（スライドに収まりきらないほどです）。</a:t>
            </a:r>
          </a:p>
          <a:p>
            <a:pPr algn="l"/>
            <a:r>
              <a:rPr lang="ja-JP" altLang="en-US" sz="1400" dirty="0"/>
              <a:t>Microsoft はしばしば、新しいカーネルや GUI を 新 OS として実験的にリリースし、その次のバージョンで改善して安定化させる というサイクルを繰り返してきました。</a:t>
            </a:r>
          </a:p>
          <a:p>
            <a:pPr algn="l"/>
            <a:r>
              <a:rPr lang="ja-JP" altLang="en-US" sz="1400" dirty="0"/>
              <a:t>例：</a:t>
            </a:r>
          </a:p>
          <a:p>
            <a:pPr algn="l"/>
            <a:r>
              <a:rPr lang="ja-JP" altLang="en-US" sz="1400" dirty="0"/>
              <a:t>• 	Windows Vista は失敗作と見なされましたが、その後の改善で</a:t>
            </a:r>
          </a:p>
          <a:p>
            <a:pPr algn="l"/>
            <a:r>
              <a:rPr lang="ja-JP" altLang="en-US" sz="1400" dirty="0"/>
              <a:t>• 	Windows 7 が成功</a:t>
            </a:r>
          </a:p>
          <a:p>
            <a:pPr algn="l"/>
            <a:r>
              <a:rPr lang="ja-JP" altLang="en-US" sz="1400" dirty="0"/>
              <a:t>• 	Windows 8 はさらに不評</a:t>
            </a:r>
          </a:p>
          <a:p>
            <a:pPr algn="l"/>
            <a:r>
              <a:rPr lang="ja-JP" altLang="en-US" sz="1400" dirty="0"/>
              <a:t>• 	そして Windows 10 が登場した</a:t>
            </a:r>
          </a:p>
          <a:p>
            <a:pPr algn="l"/>
            <a:r>
              <a:rPr lang="ja-JP" altLang="en-US" sz="1400" dirty="0"/>
              <a:t>では、今の私たちはこのサイクルのどの段階にいるのでしょうか。</a:t>
            </a:r>
          </a:p>
          <a:p>
            <a:pPr algn="l"/>
            <a:endParaRPr lang="ja-JP" altLang="en-US" sz="1400" dirty="0"/>
          </a:p>
          <a:p>
            <a:pPr algn="l"/>
            <a:r>
              <a:rPr lang="ja-JP" altLang="en-US" sz="1400" dirty="0"/>
              <a:t>Windows クライアント OS は複数のエディションで提供される</a:t>
            </a:r>
          </a:p>
          <a:p>
            <a:pPr algn="l"/>
            <a:r>
              <a:rPr lang="ja-JP" altLang="en-US" sz="1400" dirty="0"/>
              <a:t>各クライアント OS には複数のエディションがあり、</a:t>
            </a:r>
          </a:p>
          <a:p>
            <a:pPr algn="l"/>
            <a:r>
              <a:rPr lang="ja-JP" altLang="en-US" sz="1400" dirty="0"/>
              <a:t>セキュリティ、管理性、ライセンスの観点から正しいエディションを選ぶことが重要 です。</a:t>
            </a:r>
          </a:p>
          <a:p>
            <a:pPr algn="l"/>
            <a:r>
              <a:rPr lang="ja-JP" altLang="en-US" sz="1400" dirty="0"/>
              <a:t>しかし Microsoft はこれを非常に分かりにくくしており、</a:t>
            </a:r>
          </a:p>
          <a:p>
            <a:pPr algn="l"/>
            <a:r>
              <a:rPr lang="ja-JP" altLang="en-US" sz="1400" dirty="0"/>
              <a:t>エディション名は OS バージョンごとに変わるため、</a:t>
            </a:r>
          </a:p>
          <a:p>
            <a:pPr algn="l"/>
            <a:r>
              <a:rPr lang="ja-JP" altLang="en-US" sz="1400" dirty="0"/>
              <a:t>新しい OS が出るたびに調査が必要になります。</a:t>
            </a:r>
          </a:p>
        </p:txBody>
      </p:sp>
      <p:pic>
        <p:nvPicPr>
          <p:cNvPr id="4" name="図 3">
            <a:extLst>
              <a:ext uri="{FF2B5EF4-FFF2-40B4-BE49-F238E27FC236}">
                <a16:creationId xmlns:a16="http://schemas.microsoft.com/office/drawing/2014/main" id="{2E11AD40-58BB-4AF7-8A65-89F4621CF763}"/>
              </a:ext>
            </a:extLst>
          </p:cNvPr>
          <p:cNvPicPr>
            <a:picLocks noChangeAspect="1"/>
          </p:cNvPicPr>
          <p:nvPr/>
        </p:nvPicPr>
        <p:blipFill>
          <a:blip r:embed="rId2"/>
          <a:stretch>
            <a:fillRect/>
          </a:stretch>
        </p:blipFill>
        <p:spPr>
          <a:xfrm>
            <a:off x="698846" y="50799"/>
            <a:ext cx="5387070" cy="3064933"/>
          </a:xfrm>
          <a:prstGeom prst="rect">
            <a:avLst/>
          </a:prstGeom>
        </p:spPr>
      </p:pic>
      <p:sp>
        <p:nvSpPr>
          <p:cNvPr id="5" name="サブタイトル 2">
            <a:extLst>
              <a:ext uri="{FF2B5EF4-FFF2-40B4-BE49-F238E27FC236}">
                <a16:creationId xmlns:a16="http://schemas.microsoft.com/office/drawing/2014/main" id="{4D32491F-56B8-432F-9F15-82250316657C}"/>
              </a:ext>
            </a:extLst>
          </p:cNvPr>
          <p:cNvSpPr txBox="1">
            <a:spLocks/>
          </p:cNvSpPr>
          <p:nvPr/>
        </p:nvSpPr>
        <p:spPr>
          <a:xfrm>
            <a:off x="3392381" y="3200397"/>
            <a:ext cx="3429000" cy="8923867"/>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エディション名の一般的な意味</a:t>
            </a:r>
          </a:p>
          <a:p>
            <a:pPr algn="l"/>
            <a:r>
              <a:rPr lang="ja-JP" altLang="en-US" sz="1400" dirty="0"/>
              <a:t>Starter / Home</a:t>
            </a:r>
          </a:p>
          <a:p>
            <a:pPr algn="l"/>
            <a:r>
              <a:rPr lang="ja-JP" altLang="en-US" sz="1400" dirty="0"/>
              <a:t>• 	個人向け</a:t>
            </a:r>
          </a:p>
          <a:p>
            <a:pPr algn="l"/>
            <a:r>
              <a:rPr lang="ja-JP" altLang="en-US" sz="1400" dirty="0"/>
              <a:t>• 	機能が少ない</a:t>
            </a:r>
          </a:p>
          <a:p>
            <a:pPr algn="l"/>
            <a:r>
              <a:rPr lang="ja-JP" altLang="en-US" sz="1400" dirty="0"/>
              <a:t>• 	Active Directory ドメインに参加できない</a:t>
            </a:r>
          </a:p>
          <a:p>
            <a:pPr algn="l"/>
            <a:r>
              <a:rPr lang="ja-JP" altLang="en-US" sz="1400" dirty="0"/>
              <a:t>• 	価格が安い</a:t>
            </a:r>
          </a:p>
          <a:p>
            <a:pPr algn="l"/>
            <a:r>
              <a:rPr lang="ja-JP" altLang="en-US" sz="1400" dirty="0"/>
              <a:t>Business / Professional / Enterprise</a:t>
            </a:r>
          </a:p>
          <a:p>
            <a:pPr algn="l"/>
            <a:r>
              <a:rPr lang="ja-JP" altLang="en-US" sz="1400" dirty="0"/>
              <a:t>• 	企業向け</a:t>
            </a:r>
          </a:p>
          <a:p>
            <a:pPr algn="l"/>
            <a:r>
              <a:rPr lang="ja-JP" altLang="en-US" sz="1400" dirty="0"/>
              <a:t>• 	機能が多い</a:t>
            </a:r>
          </a:p>
          <a:p>
            <a:pPr algn="l"/>
            <a:r>
              <a:rPr lang="ja-JP" altLang="en-US" sz="1400" dirty="0"/>
              <a:t>• 	ドメイン参加が可能</a:t>
            </a:r>
          </a:p>
          <a:p>
            <a:pPr algn="l"/>
            <a:r>
              <a:rPr lang="ja-JP" altLang="en-US" sz="1400" dirty="0"/>
              <a:t>• 	価格が高い</a:t>
            </a:r>
          </a:p>
          <a:p>
            <a:pPr algn="l"/>
            <a:r>
              <a:rPr lang="ja-JP" altLang="en-US" sz="1400" dirty="0"/>
              <a:t>Ultimate</a:t>
            </a:r>
          </a:p>
          <a:p>
            <a:pPr algn="l"/>
            <a:r>
              <a:rPr lang="ja-JP" altLang="en-US" sz="1400" dirty="0"/>
              <a:t>• 	エンスージアスト向け</a:t>
            </a:r>
          </a:p>
          <a:p>
            <a:pPr algn="l"/>
            <a:r>
              <a:rPr lang="ja-JP" altLang="en-US" sz="1400" dirty="0"/>
              <a:t>• 	Home より多機能</a:t>
            </a:r>
          </a:p>
          <a:p>
            <a:pPr algn="l"/>
            <a:r>
              <a:rPr lang="ja-JP" altLang="en-US" sz="1400" dirty="0"/>
              <a:t>• 	ドメイン参加可能</a:t>
            </a:r>
          </a:p>
          <a:p>
            <a:pPr algn="l"/>
            <a:r>
              <a:rPr lang="ja-JP" altLang="en-US" sz="1400" dirty="0"/>
              <a:t>• 	価格は最も高いことが多い</a:t>
            </a:r>
          </a:p>
          <a:p>
            <a:pPr algn="l"/>
            <a:endParaRPr lang="ja-JP" altLang="en-US" sz="1400" dirty="0"/>
          </a:p>
          <a:p>
            <a:pPr algn="l"/>
            <a:r>
              <a:rPr lang="ja-JP" altLang="en-US" sz="1400" dirty="0"/>
              <a:t>Home エディションでは使えない機能の例</a:t>
            </a:r>
          </a:p>
          <a:p>
            <a:pPr algn="l"/>
            <a:r>
              <a:rPr lang="ja-JP" altLang="en-US" sz="1400" dirty="0"/>
              <a:t>以下のような高度なセキュリティ・管理機能を使いたい場合、</a:t>
            </a:r>
          </a:p>
          <a:p>
            <a:pPr algn="l"/>
            <a:r>
              <a:rPr lang="ja-JP" altLang="en-US" sz="1400" dirty="0"/>
              <a:t>Home エディションは選べません。</a:t>
            </a:r>
          </a:p>
          <a:p>
            <a:pPr algn="l"/>
            <a:r>
              <a:rPr lang="ja-JP" altLang="en-US" sz="1400" dirty="0"/>
              <a:t>• 	BitLocker</a:t>
            </a:r>
          </a:p>
          <a:p>
            <a:pPr algn="l"/>
            <a:r>
              <a:rPr lang="ja-JP" altLang="en-US" sz="1400" dirty="0"/>
              <a:t>• 	AppLocker</a:t>
            </a:r>
          </a:p>
          <a:p>
            <a:pPr algn="l"/>
            <a:r>
              <a:rPr lang="ja-JP" altLang="en-US" sz="1400" dirty="0"/>
              <a:t>• 	Kerberos 認証</a:t>
            </a:r>
          </a:p>
          <a:p>
            <a:pPr algn="l"/>
            <a:r>
              <a:rPr lang="ja-JP" altLang="en-US" sz="1400" dirty="0"/>
              <a:t>• 	Group Policy</a:t>
            </a:r>
          </a:p>
          <a:p>
            <a:pPr algn="l"/>
            <a:r>
              <a:rPr lang="ja-JP" altLang="en-US" sz="1400" dirty="0"/>
              <a:t>• 	Encrypting File System (EFS)</a:t>
            </a:r>
          </a:p>
          <a:p>
            <a:pPr algn="l"/>
            <a:r>
              <a:rPr lang="ja-JP" altLang="en-US" sz="1400" dirty="0"/>
              <a:t>• 	Active Directory ドメイン参加</a:t>
            </a:r>
          </a:p>
          <a:p>
            <a:pPr algn="l"/>
            <a:r>
              <a:rPr lang="ja-JP" altLang="en-US" sz="1400" dirty="0"/>
              <a:t>さらに厄介なのは、</a:t>
            </a:r>
          </a:p>
          <a:p>
            <a:pPr algn="l"/>
            <a:r>
              <a:rPr lang="ja-JP" altLang="en-US" sz="1400" dirty="0"/>
              <a:t>「Business や Professional にあると思っていた機能（例：AppLocker）が、実は Enterprise や Ultimate にしかない」</a:t>
            </a:r>
          </a:p>
          <a:p>
            <a:pPr algn="l"/>
            <a:r>
              <a:rPr lang="ja-JP" altLang="en-US" sz="1400" dirty="0"/>
              <a:t>というケースがあることです。</a:t>
            </a:r>
          </a:p>
          <a:p>
            <a:pPr algn="l"/>
            <a:r>
              <a:rPr lang="ja-JP" altLang="en-US" sz="1400" dirty="0"/>
              <a:t>これは非常に困る“サプライズ”です。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8467" y="3132664"/>
            <a:ext cx="3429000" cy="8873067"/>
          </a:xfrm>
        </p:spPr>
        <p:txBody>
          <a:bodyPr>
            <a:noAutofit/>
          </a:bodyPr>
          <a:lstStyle/>
          <a:p>
            <a:pPr algn="l"/>
            <a:r>
              <a:rPr lang="ja-JP" altLang="en-US" sz="1050" dirty="0"/>
              <a:t>Windows Server は、デスクトップ、ノート PC、タブレット向けに設計された OS ではありません（技術的にはインストール可能ですが）。</a:t>
            </a:r>
          </a:p>
          <a:p>
            <a:pPr algn="l"/>
            <a:r>
              <a:rPr lang="ja-JP" altLang="en-US" sz="1050" dirty="0"/>
              <a:t>通常は、以下のような高性能なサーバーマシン上の 仮想マシン（VM） にインストールされます。</a:t>
            </a:r>
          </a:p>
          <a:p>
            <a:pPr algn="l"/>
            <a:r>
              <a:rPr lang="ja-JP" altLang="en-US" sz="1050" dirty="0"/>
              <a:t>• 	複数の CPU</a:t>
            </a:r>
          </a:p>
          <a:p>
            <a:pPr algn="l"/>
            <a:r>
              <a:rPr lang="ja-JP" altLang="en-US" sz="1050" dirty="0"/>
              <a:t>• 	複数のストレージデバイス</a:t>
            </a:r>
          </a:p>
          <a:p>
            <a:pPr algn="l"/>
            <a:r>
              <a:rPr lang="ja-JP" altLang="en-US" sz="1050" dirty="0"/>
              <a:t>• 	複数の NIC</a:t>
            </a:r>
          </a:p>
          <a:p>
            <a:pPr algn="l"/>
            <a:r>
              <a:rPr lang="ja-JP" altLang="en-US" sz="1050" dirty="0"/>
              <a:t>• 	大容量メモリ</a:t>
            </a:r>
          </a:p>
          <a:p>
            <a:pPr algn="l"/>
            <a:r>
              <a:rPr lang="ja-JP" altLang="en-US" sz="1050" dirty="0"/>
              <a:t>• 	モニターすら接続されていない場合もある</a:t>
            </a:r>
          </a:p>
          <a:p>
            <a:pPr algn="l"/>
            <a:r>
              <a:rPr lang="ja-JP" altLang="en-US" sz="1050" dirty="0"/>
              <a:t>これらのサーバーは、専用の部屋やコンテナにラックやブレードとして高密度に配置され、</a:t>
            </a:r>
          </a:p>
          <a:p>
            <a:pPr algn="l"/>
            <a:r>
              <a:rPr lang="ja-JP" altLang="en-US" sz="1050" dirty="0"/>
              <a:t>空調・除湿・冗長電源などが整備されています。</a:t>
            </a:r>
          </a:p>
          <a:p>
            <a:pPr algn="l"/>
            <a:r>
              <a:rPr lang="ja-JP" altLang="en-US" sz="1050" dirty="0"/>
              <a:t>一方で、最近では SoC（System-on-a-Chip） とフラッシュストレージを搭載した、</a:t>
            </a:r>
          </a:p>
          <a:p>
            <a:pPr algn="l"/>
            <a:r>
              <a:rPr lang="ja-JP" altLang="en-US" sz="1050" dirty="0"/>
              <a:t>文庫本サイズの Windows Server アプライアンスも存在します。</a:t>
            </a:r>
          </a:p>
          <a:p>
            <a:pPr algn="l"/>
            <a:r>
              <a:rPr lang="ja-JP" altLang="en-US" sz="1050" dirty="0"/>
              <a:t>いずれにせよ、Windows Server は主に DNS や HTTP などのネットワークサービスを提供するための OS であり、</a:t>
            </a:r>
          </a:p>
          <a:p>
            <a:pPr algn="l"/>
            <a:r>
              <a:rPr lang="ja-JP" altLang="en-US" sz="1050" dirty="0"/>
              <a:t>モニター・キーボード・マウスを接続して GUI アプリを動かす用途ではありません。</a:t>
            </a:r>
          </a:p>
          <a:p>
            <a:pPr algn="l"/>
            <a:endParaRPr lang="ja-JP" altLang="en-US" sz="1050" dirty="0"/>
          </a:p>
          <a:p>
            <a:pPr algn="l"/>
            <a:r>
              <a:rPr lang="ja-JP" altLang="en-US" sz="1050" dirty="0"/>
              <a:t>Windows Server の主要エディション</a:t>
            </a:r>
          </a:p>
          <a:p>
            <a:pPr algn="l"/>
            <a:r>
              <a:rPr lang="ja-JP" altLang="en-US" sz="1050" dirty="0"/>
              <a:t>Windows Server には主に以下の 3 </a:t>
            </a:r>
            <a:r>
              <a:rPr lang="ja-JP" altLang="en-US" sz="1050" dirty="0" err="1"/>
              <a:t>つの</a:t>
            </a:r>
            <a:r>
              <a:rPr lang="ja-JP" altLang="en-US" sz="1050" dirty="0"/>
              <a:t>エディションがあります：</a:t>
            </a:r>
          </a:p>
          <a:p>
            <a:pPr algn="l"/>
            <a:r>
              <a:rPr lang="ja-JP" altLang="en-US" sz="1050" dirty="0"/>
              <a:t>• 	Datacenter</a:t>
            </a:r>
          </a:p>
          <a:p>
            <a:pPr algn="l"/>
            <a:r>
              <a:rPr lang="ja-JP" altLang="en-US" sz="1050" dirty="0"/>
              <a:t>• 	Enterprise（※Server 2012 以降は廃止）</a:t>
            </a:r>
          </a:p>
          <a:p>
            <a:pPr algn="l"/>
            <a:r>
              <a:rPr lang="ja-JP" altLang="en-US" sz="1050" dirty="0"/>
              <a:t>• 	Standard</a:t>
            </a:r>
          </a:p>
          <a:p>
            <a:pPr algn="l"/>
            <a:r>
              <a:rPr lang="ja-JP" altLang="en-US" sz="1050" dirty="0"/>
              <a:t>エディションごとに、以下のようなスケーラビリティや耐障害性が異なります：</a:t>
            </a:r>
          </a:p>
          <a:p>
            <a:pPr algn="l"/>
            <a:r>
              <a:rPr lang="ja-JP" altLang="en-US" sz="1050" dirty="0"/>
              <a:t>• 	クラスタリング</a:t>
            </a:r>
          </a:p>
          <a:p>
            <a:pPr algn="l"/>
            <a:r>
              <a:rPr lang="ja-JP" altLang="en-US" sz="1050" dirty="0"/>
              <a:t>• 	Network Load Balancing (NLB)</a:t>
            </a:r>
          </a:p>
          <a:p>
            <a:pPr algn="l"/>
            <a:r>
              <a:rPr lang="ja-JP" altLang="en-US" sz="1050" dirty="0"/>
              <a:t>• 	CPU / メモリの最大サポート量</a:t>
            </a:r>
          </a:p>
          <a:p>
            <a:pPr algn="l"/>
            <a:r>
              <a:rPr lang="ja-JP" altLang="en-US" sz="1050" dirty="0"/>
              <a:t>Server 2012 以降は Enterprise が廃止され、</a:t>
            </a:r>
          </a:p>
          <a:p>
            <a:pPr algn="l"/>
            <a:r>
              <a:rPr lang="ja-JP" altLang="en-US" sz="1050" dirty="0"/>
              <a:t>Enterprise の機能は Standard に統合されました。</a:t>
            </a:r>
          </a:p>
          <a:p>
            <a:pPr algn="l"/>
            <a:r>
              <a:rPr lang="ja-JP" altLang="en-US" sz="1050" dirty="0"/>
              <a:t>• 	Datacenter：最大の CPU、メモリ、クラスタリング機能をサポート</a:t>
            </a:r>
          </a:p>
          <a:p>
            <a:pPr algn="l"/>
            <a:r>
              <a:rPr lang="ja-JP" altLang="en-US" sz="1050" dirty="0"/>
              <a:t>• 	Standard：最小構成</a:t>
            </a:r>
          </a:p>
          <a:p>
            <a:pPr algn="l"/>
            <a:r>
              <a:rPr lang="ja-JP" altLang="en-US" sz="1050" dirty="0"/>
              <a:t>ただし、新しい OS が出るたびに仕様が変わるため、</a:t>
            </a:r>
          </a:p>
          <a:p>
            <a:pPr algn="l"/>
            <a:r>
              <a:rPr lang="ja-JP" altLang="en-US" sz="1050" dirty="0"/>
              <a:t>最新のエディション仕様は毎回調査が必要です。</a:t>
            </a:r>
          </a:p>
        </p:txBody>
      </p:sp>
      <p:pic>
        <p:nvPicPr>
          <p:cNvPr id="4" name="図 3">
            <a:extLst>
              <a:ext uri="{FF2B5EF4-FFF2-40B4-BE49-F238E27FC236}">
                <a16:creationId xmlns:a16="http://schemas.microsoft.com/office/drawing/2014/main" id="{91C9DF05-F565-4FC7-A03C-22297CA82B81}"/>
              </a:ext>
            </a:extLst>
          </p:cNvPr>
          <p:cNvPicPr>
            <a:picLocks noChangeAspect="1"/>
          </p:cNvPicPr>
          <p:nvPr/>
        </p:nvPicPr>
        <p:blipFill>
          <a:blip r:embed="rId2"/>
          <a:stretch>
            <a:fillRect/>
          </a:stretch>
        </p:blipFill>
        <p:spPr>
          <a:xfrm>
            <a:off x="776563" y="67732"/>
            <a:ext cx="5304873" cy="3014133"/>
          </a:xfrm>
          <a:prstGeom prst="rect">
            <a:avLst/>
          </a:prstGeom>
        </p:spPr>
      </p:pic>
      <p:sp>
        <p:nvSpPr>
          <p:cNvPr id="5" name="サブタイトル 2">
            <a:extLst>
              <a:ext uri="{FF2B5EF4-FFF2-40B4-BE49-F238E27FC236}">
                <a16:creationId xmlns:a16="http://schemas.microsoft.com/office/drawing/2014/main" id="{9A8F7E33-CCE2-44DC-A7AC-66A9E17C8E30}"/>
              </a:ext>
            </a:extLst>
          </p:cNvPr>
          <p:cNvSpPr txBox="1">
            <a:spLocks/>
          </p:cNvSpPr>
          <p:nvPr/>
        </p:nvSpPr>
        <p:spPr>
          <a:xfrm>
            <a:off x="3420533" y="3132664"/>
            <a:ext cx="3429000" cy="694266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その他のエディション</a:t>
            </a:r>
          </a:p>
          <a:p>
            <a:pPr algn="l"/>
            <a:r>
              <a:rPr lang="ja-JP" altLang="en-US" sz="1400" dirty="0"/>
              <a:t>以下のような特殊エディションも存在します：</a:t>
            </a:r>
          </a:p>
          <a:p>
            <a:pPr algn="l"/>
            <a:r>
              <a:rPr lang="ja-JP" altLang="en-US" sz="1400" dirty="0"/>
              <a:t>• 	Small Business Server (SBS)：小規模オフィス向け（25 名以下）</a:t>
            </a:r>
          </a:p>
          <a:p>
            <a:pPr algn="l"/>
            <a:r>
              <a:rPr lang="ja-JP" altLang="en-US" sz="1400" dirty="0"/>
              <a:t>• 	Windows Server Essentials：小規模企業向け</a:t>
            </a:r>
          </a:p>
          <a:p>
            <a:pPr algn="l"/>
            <a:r>
              <a:rPr lang="ja-JP" altLang="en-US" sz="1400" dirty="0"/>
              <a:t>• 	Windows Storage Server：OEM アプライアンス向け</a:t>
            </a:r>
          </a:p>
          <a:p>
            <a:pPr algn="l"/>
            <a:r>
              <a:rPr lang="ja-JP" altLang="en-US" sz="1400" dirty="0"/>
              <a:t>ただし、これらは主要エディションと同じセキュリティ課題を持つため、</a:t>
            </a:r>
          </a:p>
          <a:p>
            <a:pPr algn="l"/>
            <a:r>
              <a:rPr lang="ja-JP" altLang="en-US" sz="1400" dirty="0"/>
              <a:t>本コースでは深く扱う必要はありません。</a:t>
            </a:r>
          </a:p>
          <a:p>
            <a:pPr algn="l"/>
            <a:endParaRPr lang="ja-JP" altLang="en-US" sz="1400" dirty="0"/>
          </a:p>
          <a:p>
            <a:pPr algn="l"/>
            <a:r>
              <a:rPr lang="ja-JP" altLang="en-US" sz="1400" dirty="0"/>
              <a:t>Hyper‑V Server（無料版）</a:t>
            </a:r>
          </a:p>
          <a:p>
            <a:pPr algn="l"/>
            <a:r>
              <a:rPr lang="ja-JP" altLang="en-US" sz="1400" dirty="0"/>
              <a:t>VMware との競争のため、Microsoft は Hyper‑V Server を無料で提供しています。</a:t>
            </a:r>
          </a:p>
          <a:p>
            <a:pPr algn="l"/>
            <a:r>
              <a:rPr lang="ja-JP" altLang="en-US" sz="1400" dirty="0"/>
              <a:t>これは 仮想マシンをホストするためだけの OS です。</a:t>
            </a:r>
          </a:p>
          <a:p>
            <a:pPr algn="l"/>
            <a:r>
              <a:rPr lang="ja-JP" altLang="en-US" sz="1400" dirty="0"/>
              <a:t>無料でありながら、以下のような制限はありません：</a:t>
            </a:r>
          </a:p>
          <a:p>
            <a:pPr algn="l"/>
            <a:r>
              <a:rPr lang="ja-JP" altLang="en-US" sz="1400" dirty="0"/>
              <a:t>• 	数百コアの CPU</a:t>
            </a:r>
          </a:p>
          <a:p>
            <a:pPr algn="l"/>
            <a:r>
              <a:rPr lang="ja-JP" altLang="en-US" sz="1400" dirty="0"/>
              <a:t>• 	大規模クラスタ</a:t>
            </a:r>
          </a:p>
          <a:p>
            <a:pPr algn="l"/>
            <a:r>
              <a:rPr lang="ja-JP" altLang="en-US" sz="1400" dirty="0"/>
              <a:t>• 	VM のライブマイグレーション</a:t>
            </a:r>
          </a:p>
          <a:p>
            <a:pPr algn="l"/>
            <a:r>
              <a:rPr lang="ja-JP" altLang="en-US" sz="1400" dirty="0"/>
              <a:t>• 	数 TB のメモリ</a:t>
            </a:r>
          </a:p>
          <a:p>
            <a:pPr algn="l"/>
            <a:r>
              <a:rPr lang="ja-JP" altLang="en-US" sz="1400" dirty="0"/>
              <a:t>などをサポートしています（少なくとも現時点では）。</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335866"/>
            <a:ext cx="6852285" cy="8856134"/>
          </a:xfrm>
        </p:spPr>
        <p:txBody>
          <a:bodyPr>
            <a:normAutofit fontScale="75000" lnSpcReduction="20000"/>
          </a:bodyPr>
          <a:lstStyle/>
          <a:p>
            <a:pPr algn="l"/>
            <a:r>
              <a:rPr lang="ja-JP" altLang="en-US" sz="1400" dirty="0"/>
              <a:t>一般的に、製品の メインストリームサポート終了（End of Mainstream Support） より前、</a:t>
            </a:r>
          </a:p>
          <a:p>
            <a:pPr algn="l"/>
            <a:r>
              <a:rPr lang="ja-JP" altLang="en-US" sz="1400" dirty="0"/>
              <a:t>遅くとも 延長サポート終了（End of Extended Support） より前に、その製品の使用をやめる計画を立てるべきです。</a:t>
            </a:r>
          </a:p>
          <a:p>
            <a:pPr algn="l"/>
            <a:r>
              <a:rPr lang="ja-JP" altLang="en-US" sz="1400" dirty="0"/>
              <a:t>（スライドに示されている日付は延長サポート終了日です。）</a:t>
            </a:r>
          </a:p>
          <a:p>
            <a:pPr algn="l"/>
            <a:r>
              <a:rPr lang="ja-JP" altLang="en-US" sz="1400" dirty="0"/>
              <a:t>以下は知っておくべき重要な用語です。</a:t>
            </a:r>
          </a:p>
          <a:p>
            <a:pPr algn="l"/>
            <a:endParaRPr lang="ja-JP" altLang="en-US" sz="1400" dirty="0"/>
          </a:p>
          <a:p>
            <a:pPr algn="l"/>
            <a:r>
              <a:rPr lang="ja-JP" altLang="en-US" sz="1400" dirty="0"/>
              <a:t>EOL（End of Life）関連の重要用語</a:t>
            </a:r>
          </a:p>
          <a:p>
            <a:pPr algn="l"/>
            <a:r>
              <a:rPr lang="ja-JP" altLang="en-US" sz="1400" dirty="0"/>
              <a:t>• End of Sales（販売終了）</a:t>
            </a:r>
          </a:p>
          <a:p>
            <a:pPr algn="l"/>
            <a:r>
              <a:rPr lang="ja-JP" altLang="en-US" sz="1400" dirty="0"/>
              <a:t>製品が小売店や OEM に販売されなくなる時点。</a:t>
            </a:r>
          </a:p>
          <a:p>
            <a:pPr algn="l"/>
            <a:r>
              <a:rPr lang="ja-JP" altLang="en-US" sz="1400" dirty="0"/>
              <a:t>ただし、販売店が事前にライセンスを買いだめしている場合もある。</a:t>
            </a:r>
          </a:p>
          <a:p>
            <a:pPr algn="l"/>
            <a:r>
              <a:rPr lang="ja-JP" altLang="en-US" sz="1400" dirty="0"/>
              <a:t>• End of Mainstream Support（メインストリームサポート終了）</a:t>
            </a:r>
          </a:p>
          <a:p>
            <a:pPr algn="l"/>
            <a:r>
              <a:rPr lang="ja-JP" altLang="en-US" sz="1400" dirty="0"/>
              <a:t>- 製品保証が終了</a:t>
            </a:r>
          </a:p>
          <a:p>
            <a:pPr algn="l"/>
            <a:r>
              <a:rPr lang="ja-JP" altLang="en-US" sz="1400" dirty="0"/>
              <a:t>- 新機能の追加や改善が行われなくなる</a:t>
            </a:r>
          </a:p>
          <a:p>
            <a:pPr algn="l"/>
            <a:r>
              <a:rPr lang="ja-JP" altLang="en-US" sz="1400" dirty="0"/>
              <a:t>- 無償サポートが終了</a:t>
            </a:r>
          </a:p>
          <a:p>
            <a:pPr algn="l"/>
            <a:r>
              <a:rPr lang="ja-JP" altLang="en-US" sz="1400" dirty="0"/>
              <a:t>- セキュリティ以外のホットフィックスは、延長サポート期間中に有償で購入しない限り提供されない</a:t>
            </a:r>
          </a:p>
          <a:p>
            <a:pPr algn="l"/>
            <a:r>
              <a:rPr lang="ja-JP" altLang="en-US" sz="1400" dirty="0"/>
              <a:t>• End of Extended Support（延長サポート終了）</a:t>
            </a:r>
          </a:p>
          <a:p>
            <a:pPr algn="l"/>
            <a:r>
              <a:rPr lang="ja-JP" altLang="en-US" sz="1400" dirty="0"/>
              <a:t>- セキュリティ修正パッチの提供が完全に終了</a:t>
            </a:r>
          </a:p>
          <a:p>
            <a:pPr algn="l"/>
            <a:r>
              <a:rPr lang="ja-JP" altLang="en-US" sz="1400" dirty="0"/>
              <a:t>- 有償サポートも原則購入不可</a:t>
            </a:r>
          </a:p>
          <a:p>
            <a:pPr algn="l"/>
            <a:r>
              <a:rPr lang="ja-JP" altLang="en-US" sz="1400" dirty="0"/>
              <a:t>- 特別なケースのみ「カスタムサポート（高額）」が提供されることがある</a:t>
            </a:r>
          </a:p>
          <a:p>
            <a:pPr algn="l"/>
            <a:endParaRPr lang="ja-JP" altLang="en-US" sz="1400" dirty="0"/>
          </a:p>
          <a:p>
            <a:pPr algn="l"/>
            <a:r>
              <a:rPr lang="ja-JP" altLang="en-US" sz="1400" dirty="0"/>
              <a:t>EOL の影響とリスク</a:t>
            </a:r>
          </a:p>
          <a:p>
            <a:pPr algn="l"/>
            <a:r>
              <a:rPr lang="ja-JP" altLang="en-US" sz="1400" dirty="0"/>
              <a:t>Microsoft は多くの製品について EOL を事前に告知しています。</a:t>
            </a:r>
          </a:p>
          <a:p>
            <a:pPr algn="l"/>
            <a:r>
              <a:rPr lang="ja-JP" altLang="en-US" sz="1400" dirty="0"/>
              <a:t>例として、Windows XP は 12 年間サポートされ、2014 年 4 月 8 日に EOL となりました。</a:t>
            </a:r>
          </a:p>
          <a:p>
            <a:pPr algn="l"/>
            <a:r>
              <a:rPr lang="ja-JP" altLang="en-US" sz="1400" dirty="0"/>
              <a:t>EOL に達した OS を使い続ける組織には重大な影響があります。</a:t>
            </a:r>
          </a:p>
          <a:p>
            <a:pPr algn="l"/>
            <a:r>
              <a:rPr lang="ja-JP" altLang="en-US" sz="1400" dirty="0"/>
              <a:t>アップグレード計画や、移行までの間のセキュリティ対策を慎重に検討する必要があります。</a:t>
            </a:r>
          </a:p>
          <a:p>
            <a:pPr algn="l"/>
            <a:r>
              <a:rPr lang="ja-JP" altLang="en-US" sz="1400" dirty="0"/>
              <a:t>Microsoft は EOL 製品を 「保護されていない（not protected）」 と見なすべきだと警告しており、</a:t>
            </a:r>
          </a:p>
          <a:p>
            <a:pPr algn="l"/>
            <a:r>
              <a:rPr lang="ja-JP" altLang="en-US" sz="1400" dirty="0"/>
              <a:t>以下のリスクが発生します。</a:t>
            </a:r>
          </a:p>
          <a:p>
            <a:pPr algn="l"/>
            <a:endParaRPr lang="ja-JP" altLang="en-US" sz="1400" dirty="0"/>
          </a:p>
          <a:p>
            <a:pPr algn="l"/>
            <a:r>
              <a:rPr lang="ja-JP" altLang="en-US" sz="1400" dirty="0"/>
              <a:t>EOL 製品を使い続けるリスク</a:t>
            </a:r>
          </a:p>
          <a:p>
            <a:pPr algn="l"/>
            <a:r>
              <a:rPr lang="ja-JP" altLang="en-US" sz="1400" dirty="0"/>
              <a:t>- セキュリティ更新が提供されず、エンドポイント保護が劣化する</a:t>
            </a:r>
          </a:p>
          <a:p>
            <a:pPr algn="l"/>
            <a:r>
              <a:rPr lang="ja-JP" altLang="en-US" sz="1400" dirty="0"/>
              <a:t>- サポートされたソフトウェアを要求する規制への非準拠リスク</a:t>
            </a:r>
          </a:p>
          <a:p>
            <a:pPr algn="l"/>
            <a:r>
              <a:rPr lang="ja-JP" altLang="en-US" sz="1400" dirty="0"/>
              <a:t>- サードパーティ製ソフトウェアのサポート終了</a:t>
            </a:r>
          </a:p>
          <a:p>
            <a:pPr algn="l"/>
            <a:r>
              <a:rPr lang="ja-JP" altLang="en-US" sz="1400" dirty="0"/>
              <a:t>- 新しいハードウェアが対応しなくなる（ドライバなど）</a:t>
            </a:r>
          </a:p>
          <a:p>
            <a:pPr algn="l"/>
            <a:r>
              <a:rPr lang="ja-JP" altLang="en-US" sz="1400" dirty="0"/>
              <a:t>- 維持コストの増大</a:t>
            </a:r>
          </a:p>
          <a:p>
            <a:pPr algn="l"/>
            <a:endParaRPr lang="ja-JP" altLang="en-US" sz="1400" dirty="0"/>
          </a:p>
          <a:p>
            <a:pPr algn="l"/>
            <a:r>
              <a:rPr lang="ja-JP" altLang="en-US" sz="1400" dirty="0"/>
              <a:t>ICS/SCADA への影響</a:t>
            </a:r>
          </a:p>
          <a:p>
            <a:pPr algn="l"/>
            <a:r>
              <a:rPr lang="ja-JP" altLang="en-US" sz="1400" dirty="0"/>
              <a:t>Windows は ICS/SCADA のワークステーションや</a:t>
            </a:r>
          </a:p>
          <a:p>
            <a:pPr algn="l"/>
            <a:r>
              <a:rPr lang="ja-JP" altLang="en-US" sz="1400" dirty="0"/>
              <a:t>多くのローカル HMI パネルの OS として広く使われています。</a:t>
            </a:r>
          </a:p>
          <a:p>
            <a:pPr algn="l"/>
            <a:r>
              <a:rPr lang="ja-JP" altLang="en-US" sz="1400" dirty="0"/>
              <a:t>そのため、Windows の EOL は ICS に依存する組織に大きな影響 を与えます。</a:t>
            </a:r>
          </a:p>
          <a:p>
            <a:pPr algn="l"/>
            <a:r>
              <a:rPr lang="ja-JP" altLang="en-US" sz="1400" dirty="0"/>
              <a:t>EOL の意味と影響を正しく理解し、十分に評価することが重要です。</a:t>
            </a:r>
          </a:p>
        </p:txBody>
      </p:sp>
      <p:pic>
        <p:nvPicPr>
          <p:cNvPr id="4" name="図 3">
            <a:extLst>
              <a:ext uri="{FF2B5EF4-FFF2-40B4-BE49-F238E27FC236}">
                <a16:creationId xmlns:a16="http://schemas.microsoft.com/office/drawing/2014/main" id="{C6B22F13-F34B-47DA-B94A-B9124CC81427}"/>
              </a:ext>
            </a:extLst>
          </p:cNvPr>
          <p:cNvPicPr>
            <a:picLocks noChangeAspect="1"/>
          </p:cNvPicPr>
          <p:nvPr/>
        </p:nvPicPr>
        <p:blipFill>
          <a:blip r:embed="rId2"/>
          <a:stretch>
            <a:fillRect/>
          </a:stretch>
        </p:blipFill>
        <p:spPr>
          <a:xfrm>
            <a:off x="0" y="-1"/>
            <a:ext cx="5883112" cy="333586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18415"/>
            <a:ext cx="3425825" cy="11462385"/>
          </a:xfrm>
        </p:spPr>
        <p:txBody>
          <a:bodyPr>
            <a:normAutofit/>
          </a:bodyPr>
          <a:lstStyle/>
          <a:p>
            <a:pPr algn="l"/>
            <a:r>
              <a:rPr lang="ja-JP" altLang="en-US" sz="1200" dirty="0"/>
              <a:t>組織はまず、自社の環境に サポートが終了した OS（非サポート OS） がどこに存在するかを把握する必要があります。</a:t>
            </a:r>
          </a:p>
          <a:p>
            <a:pPr algn="l"/>
            <a:r>
              <a:rPr lang="ja-JP" altLang="en-US" sz="1200" dirty="0"/>
              <a:t>これはローカル HMI や OS ベースのデバイスなども含まれます。</a:t>
            </a:r>
          </a:p>
          <a:p>
            <a:pPr algn="l"/>
            <a:r>
              <a:rPr lang="ja-JP" altLang="en-US" sz="1200" dirty="0"/>
              <a:t>そのうえで、既存の実装に対する 緩和策（mitigation） を講じ、</a:t>
            </a:r>
          </a:p>
          <a:p>
            <a:pPr algn="l"/>
            <a:r>
              <a:rPr lang="ja-JP" altLang="en-US" sz="1200" dirty="0"/>
              <a:t>将来的な 移行計画（migration） を立てるべきです。</a:t>
            </a:r>
          </a:p>
          <a:p>
            <a:pPr algn="l"/>
            <a:r>
              <a:rPr lang="ja-JP" altLang="en-US" sz="1200" dirty="0"/>
              <a:t>ICS 向けの緩和サービスを提供するサードパーティも存在します。</a:t>
            </a:r>
          </a:p>
          <a:p>
            <a:pPr algn="l"/>
            <a:endParaRPr lang="ja-JP" altLang="en-US" sz="1200" dirty="0"/>
          </a:p>
          <a:p>
            <a:pPr algn="l"/>
            <a:r>
              <a:rPr lang="ja-JP" altLang="en-US" sz="1200" dirty="0"/>
              <a:t>ICS の計画プロセスは技術革新のスピードに追いついていない</a:t>
            </a:r>
          </a:p>
          <a:p>
            <a:pPr algn="l"/>
            <a:r>
              <a:rPr lang="ja-JP" altLang="en-US" sz="1200" dirty="0"/>
              <a:t>自動化・産業技術のコミュニティは、</a:t>
            </a:r>
          </a:p>
          <a:p>
            <a:pPr algn="l"/>
            <a:r>
              <a:rPr lang="ja-JP" altLang="en-US" sz="1200" dirty="0"/>
              <a:t>技術市場の変化速度に合わせてビジネスや計画プロセスを調整し始めています。</a:t>
            </a:r>
          </a:p>
          <a:p>
            <a:pPr algn="l"/>
            <a:r>
              <a:rPr lang="ja-JP" altLang="en-US" sz="1200" dirty="0"/>
              <a:t>従来の ICS 計画手法は、</a:t>
            </a:r>
          </a:p>
          <a:p>
            <a:pPr algn="l"/>
            <a:r>
              <a:rPr lang="ja-JP" altLang="en-US" sz="1200" dirty="0"/>
              <a:t>• 	ICS を構成するすべての要素</a:t>
            </a:r>
          </a:p>
          <a:p>
            <a:pPr algn="l"/>
            <a:r>
              <a:rPr lang="ja-JP" altLang="en-US" sz="1200" dirty="0"/>
              <a:t>• 	技術革新や IT ベンダーのビジネスモデルがそれらに与える影響</a:t>
            </a:r>
          </a:p>
          <a:p>
            <a:pPr algn="l"/>
            <a:r>
              <a:rPr lang="ja-JP" altLang="en-US" sz="1200" dirty="0"/>
              <a:t>を十分に考慮していませんでした。</a:t>
            </a:r>
          </a:p>
          <a:p>
            <a:pPr algn="l"/>
            <a:r>
              <a:rPr lang="ja-JP" altLang="en-US" sz="1200" dirty="0"/>
              <a:t>産業・ビジネス・コンシューマ向け技術の融合により、</a:t>
            </a:r>
          </a:p>
          <a:p>
            <a:pPr algn="l"/>
            <a:r>
              <a:rPr lang="ja-JP" altLang="en-US" sz="1200" dirty="0"/>
              <a:t>機器やソフトウェアのライフサイクルは短期化 しています。</a:t>
            </a:r>
          </a:p>
          <a:p>
            <a:pPr algn="l"/>
            <a:r>
              <a:rPr lang="ja-JP" altLang="en-US" sz="1200" dirty="0"/>
              <a:t>一方で、ICS の世界では</a:t>
            </a:r>
          </a:p>
          <a:p>
            <a:pPr algn="l"/>
            <a:r>
              <a:rPr lang="ja-JP" altLang="en-US" sz="1200" dirty="0"/>
              <a:t>「10〜18 年以上運用したい」という強いビジネス要件が存在します。</a:t>
            </a:r>
          </a:p>
          <a:p>
            <a:pPr algn="l"/>
            <a:r>
              <a:rPr lang="ja-JP" altLang="en-US" sz="1200" dirty="0"/>
              <a:t>規制産業では、長期間使い続けなければ投資回収ができず、</a:t>
            </a:r>
          </a:p>
          <a:p>
            <a:pPr algn="l"/>
            <a:r>
              <a:rPr lang="ja-JP" altLang="en-US" sz="1200" dirty="0"/>
              <a:t>“取り残された資産（stranded assets）” になるリスクもあります。</a:t>
            </a:r>
          </a:p>
          <a:p>
            <a:pPr algn="l"/>
            <a:r>
              <a:rPr lang="ja-JP" altLang="en-US" sz="1200" dirty="0"/>
              <a:t>一般的なコンピュータ技術を ICS に取り入れることで、</a:t>
            </a:r>
          </a:p>
          <a:p>
            <a:pPr algn="l"/>
            <a:r>
              <a:rPr lang="ja-JP" altLang="en-US" sz="1200" dirty="0"/>
              <a:t>機能性・信頼性・コスト面で恩恵を受ける一方、</a:t>
            </a:r>
          </a:p>
          <a:p>
            <a:pPr algn="l"/>
            <a:r>
              <a:rPr lang="ja-JP" altLang="en-US" sz="1200" dirty="0"/>
              <a:t>より短いライフサイクルを前提とした更新計画が必要 になりました。</a:t>
            </a:r>
          </a:p>
          <a:p>
            <a:pPr algn="l"/>
            <a:endParaRPr lang="ja-JP" altLang="en-US" sz="1200" dirty="0"/>
          </a:p>
          <a:p>
            <a:pPr algn="l"/>
            <a:r>
              <a:rPr lang="ja-JP" altLang="en-US" sz="1200" dirty="0"/>
              <a:t>OS の EOL は重大なセキュリティ影響をもたらす</a:t>
            </a:r>
          </a:p>
          <a:p>
            <a:pPr algn="l"/>
            <a:r>
              <a:rPr lang="ja-JP" altLang="en-US" sz="1200" dirty="0"/>
              <a:t>OS が EOL を迎えると、その OS 上で動作する</a:t>
            </a:r>
          </a:p>
          <a:p>
            <a:pPr algn="l"/>
            <a:r>
              <a:rPr lang="ja-JP" altLang="en-US" sz="1200" dirty="0"/>
              <a:t>プラットフォームやアプリケーションのセキュリティに深刻な影響が出ます。</a:t>
            </a:r>
          </a:p>
          <a:p>
            <a:pPr algn="l"/>
            <a:r>
              <a:rPr lang="ja-JP" altLang="en-US" sz="1200" dirty="0"/>
              <a:t>Microsoft は Windows XP を使用するワークステーションを</a:t>
            </a:r>
          </a:p>
          <a:p>
            <a:pPr algn="l"/>
            <a:r>
              <a:rPr lang="ja-JP" altLang="en-US" sz="1200" dirty="0"/>
              <a:t>隔離（isolation） することを推奨しましたが、</a:t>
            </a:r>
          </a:p>
          <a:p>
            <a:pPr algn="l"/>
            <a:r>
              <a:rPr lang="ja-JP" altLang="en-US" sz="1200" dirty="0"/>
              <a:t>DCS や SCADA EMS のような 統合システムの一部 では現実的でない場合があります。</a:t>
            </a:r>
          </a:p>
          <a:p>
            <a:pPr algn="l"/>
            <a:r>
              <a:rPr lang="ja-JP" altLang="en-US" sz="1200" dirty="0"/>
              <a:t>ICS セキュリティチームは、</a:t>
            </a:r>
          </a:p>
          <a:p>
            <a:pPr algn="l"/>
            <a:r>
              <a:rPr lang="ja-JP" altLang="en-US" sz="1200" dirty="0"/>
              <a:t>EOL が自社の技術基盤にどのような影響を与えるかを理解し、評価する必要があります。</a:t>
            </a:r>
          </a:p>
        </p:txBody>
      </p:sp>
      <p:sp>
        <p:nvSpPr>
          <p:cNvPr id="5" name="サブタイトル 2">
            <a:extLst>
              <a:ext uri="{FF2B5EF4-FFF2-40B4-BE49-F238E27FC236}">
                <a16:creationId xmlns:a16="http://schemas.microsoft.com/office/drawing/2014/main" id="{5D116527-3F17-476C-9D98-9906BC6E593A}"/>
              </a:ext>
            </a:extLst>
          </p:cNvPr>
          <p:cNvSpPr txBox="1">
            <a:spLocks/>
          </p:cNvSpPr>
          <p:nvPr/>
        </p:nvSpPr>
        <p:spPr>
          <a:xfrm>
            <a:off x="3440642" y="0"/>
            <a:ext cx="3425825" cy="1217358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EOL がもたらす短期・長期の影響</a:t>
            </a:r>
          </a:p>
          <a:p>
            <a:pPr algn="l"/>
            <a:r>
              <a:rPr lang="ja-JP" altLang="en-US" sz="1200" dirty="0"/>
              <a:t>1. Microsoft は脆弱性分析やパッチ提供を行わない</a:t>
            </a:r>
          </a:p>
          <a:p>
            <a:pPr algn="l"/>
            <a:r>
              <a:rPr lang="ja-JP" altLang="en-US" sz="1200" dirty="0"/>
              <a:t>• 	公開された脆弱性に対する調査もパッチも提供されない</a:t>
            </a:r>
          </a:p>
          <a:p>
            <a:pPr algn="l"/>
            <a:r>
              <a:rPr lang="ja-JP" altLang="en-US" sz="1200" dirty="0"/>
              <a:t>• 	延長サポートを購入しても、セキュリティパッチは含まれない</a:t>
            </a:r>
          </a:p>
          <a:p>
            <a:pPr algn="l"/>
            <a:r>
              <a:rPr lang="ja-JP" altLang="en-US" sz="1200" dirty="0"/>
              <a:t>2. XP のコードが他の OS に再利用されている問題</a:t>
            </a:r>
          </a:p>
          <a:p>
            <a:pPr algn="l"/>
            <a:r>
              <a:rPr lang="ja-JP" altLang="en-US" sz="1200" dirty="0"/>
              <a:t>Windows 8/10 で発見された脆弱性が XP にも存在する可能性があります。</a:t>
            </a:r>
          </a:p>
          <a:p>
            <a:pPr algn="l"/>
            <a:r>
              <a:rPr lang="ja-JP" altLang="en-US" sz="1200" dirty="0"/>
              <a:t>Microsoft は 8/10 にはパッチを提供しますが、XP には提供しません。</a:t>
            </a:r>
          </a:p>
          <a:p>
            <a:pPr algn="l"/>
            <a:r>
              <a:rPr lang="ja-JP" altLang="en-US" sz="1200" dirty="0"/>
              <a:t>3. アンチウイルスの効果が低下</a:t>
            </a:r>
          </a:p>
          <a:p>
            <a:pPr algn="l"/>
            <a:r>
              <a:rPr lang="ja-JP" altLang="en-US" sz="1200" dirty="0"/>
              <a:t>AV ベンダーはしばらく XP をサポートしますが、</a:t>
            </a:r>
          </a:p>
          <a:p>
            <a:pPr algn="l"/>
            <a:r>
              <a:rPr lang="ja-JP" altLang="en-US" sz="1200" dirty="0"/>
              <a:t>OS 自体が更新されないため、保護能力は徐々に低下します。</a:t>
            </a:r>
          </a:p>
          <a:p>
            <a:pPr algn="l"/>
            <a:r>
              <a:rPr lang="ja-JP" altLang="en-US" sz="1200" dirty="0"/>
              <a:t>4. ゼロデイ脆弱性の地下市場での価値が上昇</a:t>
            </a:r>
          </a:p>
          <a:p>
            <a:pPr algn="l"/>
            <a:r>
              <a:rPr lang="ja-JP" altLang="en-US" sz="1200" dirty="0"/>
              <a:t>EOL により、</a:t>
            </a:r>
          </a:p>
          <a:p>
            <a:pPr algn="l"/>
            <a:r>
              <a:rPr lang="ja-JP" altLang="en-US" sz="1200" dirty="0"/>
              <a:t>• 	公開されていない脆弱性</a:t>
            </a:r>
          </a:p>
          <a:p>
            <a:pPr algn="l"/>
            <a:r>
              <a:rPr lang="ja-JP" altLang="en-US" sz="1200" dirty="0"/>
              <a:t>• 	今後発見される脆弱性</a:t>
            </a:r>
          </a:p>
          <a:p>
            <a:pPr algn="l"/>
            <a:r>
              <a:rPr lang="ja-JP" altLang="en-US" sz="1200" dirty="0"/>
              <a:t>の価値が上がり、攻撃者にとって魅力的になります。</a:t>
            </a:r>
          </a:p>
          <a:p>
            <a:pPr algn="l"/>
            <a:r>
              <a:rPr lang="ja-JP" altLang="en-US" sz="1200" dirty="0"/>
              <a:t>5. ハードウェア故障時の復旧が困難に</a:t>
            </a:r>
          </a:p>
          <a:p>
            <a:pPr algn="l"/>
            <a:r>
              <a:rPr lang="ja-JP" altLang="en-US" sz="1200" dirty="0"/>
              <a:t>新しいハードウェアは XP をサポートしないため（ドライバ不足など）、</a:t>
            </a:r>
          </a:p>
          <a:p>
            <a:pPr algn="l"/>
            <a:r>
              <a:rPr lang="ja-JP" altLang="en-US" sz="1200" dirty="0"/>
              <a:t>故障した機器の復旧が難しくなります。</a:t>
            </a:r>
          </a:p>
          <a:p>
            <a:pPr algn="l"/>
            <a:r>
              <a:rPr lang="ja-JP" altLang="en-US" sz="1200" dirty="0"/>
              <a:t>この問題は時間とともに悪化します。</a:t>
            </a:r>
          </a:p>
          <a:p>
            <a:pPr algn="l"/>
            <a:endParaRPr lang="ja-JP" altLang="en-US" sz="1200" dirty="0"/>
          </a:p>
          <a:p>
            <a:pPr algn="l"/>
            <a:r>
              <a:rPr lang="ja-JP" altLang="en-US" sz="1200" dirty="0"/>
              <a:t>Windows 10 への移行を推奨する理由</a:t>
            </a:r>
          </a:p>
          <a:p>
            <a:pPr algn="l"/>
            <a:r>
              <a:rPr lang="ja-JP" altLang="en-US" sz="1200" dirty="0"/>
              <a:t>Microsoft によれば、</a:t>
            </a:r>
          </a:p>
          <a:p>
            <a:pPr algn="l"/>
            <a:r>
              <a:rPr lang="ja-JP" altLang="en-US" sz="1200" dirty="0"/>
              <a:t>Windows 10 は XP と比べて マルウェア感染率が 21 分の 1 です。</a:t>
            </a:r>
          </a:p>
          <a:p>
            <a:pPr algn="l"/>
            <a:r>
              <a:rPr lang="ja-JP" altLang="en-US" sz="1200" dirty="0"/>
              <a:t>これは OS に組み込まれたセキュリティ機能の進化によるものです。</a:t>
            </a:r>
          </a:p>
          <a:p>
            <a:pPr algn="l"/>
            <a:endParaRPr lang="ja-JP" altLang="en-US" sz="1200" dirty="0"/>
          </a:p>
          <a:p>
            <a:pPr algn="l"/>
            <a:r>
              <a:rPr lang="ja-JP" altLang="en-US" sz="1200" dirty="0"/>
              <a:t>“拡張されたセキュリティチーム”という考え方</a:t>
            </a:r>
          </a:p>
          <a:p>
            <a:pPr algn="l"/>
            <a:r>
              <a:rPr lang="ja-JP" altLang="en-US" sz="1200" dirty="0"/>
              <a:t>あなたの ICS を守る「拡張されたセキュリティチーム」には：</a:t>
            </a:r>
          </a:p>
          <a:p>
            <a:pPr algn="l"/>
            <a:r>
              <a:rPr lang="ja-JP" altLang="en-US" sz="1200" dirty="0"/>
              <a:t>• 	ICS ベンダー</a:t>
            </a:r>
          </a:p>
          <a:p>
            <a:pPr algn="l"/>
            <a:r>
              <a:rPr lang="ja-JP" altLang="en-US" sz="1200" dirty="0"/>
              <a:t>• 	OS/RTOS ベンダー</a:t>
            </a:r>
          </a:p>
          <a:p>
            <a:pPr algn="l"/>
            <a:r>
              <a:rPr lang="ja-JP" altLang="en-US" sz="1200" dirty="0"/>
              <a:t>• 	アプリケーションベンダー</a:t>
            </a:r>
          </a:p>
          <a:p>
            <a:pPr algn="l"/>
            <a:r>
              <a:rPr lang="ja-JP" altLang="en-US" sz="1200" dirty="0"/>
              <a:t>• 	ハードウェアベンダー</a:t>
            </a:r>
          </a:p>
          <a:p>
            <a:pPr algn="l"/>
            <a:r>
              <a:rPr lang="ja-JP" altLang="en-US" sz="1200" dirty="0"/>
              <a:t>が含まれます。</a:t>
            </a:r>
          </a:p>
          <a:p>
            <a:pPr algn="l"/>
            <a:r>
              <a:rPr lang="ja-JP" altLang="en-US" sz="1200" dirty="0"/>
              <a:t>しかし、EOL OS を使い続けるということは、</a:t>
            </a:r>
          </a:p>
          <a:p>
            <a:pPr algn="l"/>
            <a:r>
              <a:rPr lang="ja-JP" altLang="en-US" sz="1200" dirty="0"/>
              <a:t>Microsoft のセキュリティ専門家がチームから抜ける のと同じです。</a:t>
            </a:r>
          </a:p>
          <a:p>
            <a:pPr algn="l"/>
            <a:r>
              <a:rPr lang="ja-JP" altLang="en-US" sz="1200" dirty="0"/>
              <a:t>つまり、</a:t>
            </a:r>
          </a:p>
          <a:p>
            <a:pPr algn="l"/>
            <a:r>
              <a:rPr lang="ja-JP" altLang="en-US" sz="1200" dirty="0"/>
              <a:t>セキュリティチームが大幅に縮小した状態で運用を続ける</a:t>
            </a:r>
          </a:p>
          <a:p>
            <a:pPr algn="l"/>
            <a:r>
              <a:rPr lang="ja-JP" altLang="en-US" sz="1200" dirty="0"/>
              <a:t>ということになります。</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248662"/>
            <a:ext cx="6852285" cy="8841740"/>
          </a:xfrm>
        </p:spPr>
        <p:txBody>
          <a:bodyPr>
            <a:normAutofit fontScale="55000" lnSpcReduction="20000"/>
          </a:bodyPr>
          <a:lstStyle/>
          <a:p>
            <a:pPr algn="l"/>
            <a:r>
              <a:rPr lang="ja-JP" altLang="en-US" sz="1400" dirty="0"/>
              <a:t>ICS ベンダー／サプライヤーに相談し、</a:t>
            </a:r>
          </a:p>
          <a:p>
            <a:pPr algn="l"/>
            <a:r>
              <a:rPr lang="ja-JP" altLang="en-US" sz="1400" dirty="0"/>
              <a:t>Microsoft 製品の EOL（サポート終了）に対する緩和策のガイダンス を依頼する必要があります。</a:t>
            </a:r>
          </a:p>
          <a:p>
            <a:pPr algn="l"/>
            <a:r>
              <a:rPr lang="ja-JP" altLang="en-US" sz="1400" dirty="0"/>
              <a:t>組織は 自社の緩和計画（mitigation plan） を作成し、</a:t>
            </a:r>
          </a:p>
          <a:p>
            <a:pPr algn="l"/>
            <a:r>
              <a:rPr lang="ja-JP" altLang="en-US" sz="1400" dirty="0"/>
              <a:t>その計画をベンダーと共有して、</a:t>
            </a:r>
          </a:p>
          <a:p>
            <a:pPr algn="l"/>
            <a:r>
              <a:rPr lang="ja-JP" altLang="en-US" sz="1400" dirty="0"/>
              <a:t>技術的な緩和策を実施する際のリスクを評価してもらうべきです。</a:t>
            </a:r>
          </a:p>
          <a:p>
            <a:pPr algn="l"/>
            <a:r>
              <a:rPr lang="ja-JP" altLang="en-US" sz="1400" dirty="0"/>
              <a:t>緩和策は、将来的に サポートされている OS へ移行するための準備 として不可欠です。</a:t>
            </a:r>
          </a:p>
          <a:p>
            <a:pPr algn="l"/>
            <a:endParaRPr lang="ja-JP" altLang="en-US" sz="1400" dirty="0"/>
          </a:p>
          <a:p>
            <a:pPr algn="l"/>
            <a:r>
              <a:rPr lang="ja-JP" altLang="en-US" sz="1400" dirty="0"/>
              <a:t>緩和計画の第一歩：非サポート OS の所在を特定する</a:t>
            </a:r>
          </a:p>
          <a:p>
            <a:pPr algn="l"/>
            <a:r>
              <a:rPr lang="ja-JP" altLang="en-US" sz="1400" dirty="0"/>
              <a:t>すべての緩和計画は、</a:t>
            </a:r>
          </a:p>
          <a:p>
            <a:pPr algn="l"/>
            <a:r>
              <a:rPr lang="ja-JP" altLang="en-US" sz="1400" dirty="0"/>
              <a:t>ICS 内のどこに非サポート OS が存在するかを特定すること から始まります。</a:t>
            </a:r>
          </a:p>
          <a:p>
            <a:pPr algn="l"/>
            <a:r>
              <a:rPr lang="ja-JP" altLang="en-US" sz="1400" dirty="0"/>
              <a:t>これは簡単ではありません。</a:t>
            </a:r>
          </a:p>
          <a:p>
            <a:pPr algn="l"/>
            <a:r>
              <a:rPr lang="ja-JP" altLang="en-US" sz="1400" dirty="0"/>
              <a:t>多くのデバイス（例：ローカルパネル HMI）は、</a:t>
            </a:r>
          </a:p>
          <a:p>
            <a:pPr algn="l"/>
            <a:r>
              <a:rPr lang="ja-JP" altLang="en-US" sz="1400" dirty="0"/>
              <a:t>内部 OS として Windows XP を使用していることがあるためです。</a:t>
            </a:r>
          </a:p>
          <a:p>
            <a:pPr algn="l"/>
            <a:endParaRPr lang="ja-JP" altLang="en-US" sz="1400" dirty="0"/>
          </a:p>
          <a:p>
            <a:pPr algn="l"/>
            <a:r>
              <a:rPr lang="ja-JP" altLang="en-US" sz="1400" dirty="0"/>
              <a:t>EOL OS は「保護されていない（not protected）」と見なすべき</a:t>
            </a:r>
          </a:p>
          <a:p>
            <a:pPr algn="l"/>
            <a:r>
              <a:rPr lang="ja-JP" altLang="en-US" sz="1400" dirty="0"/>
              <a:t>Microsoft は、EOL OS は “保護されていない” と考えるべきだと明言しています。</a:t>
            </a:r>
          </a:p>
          <a:p>
            <a:pPr algn="l"/>
            <a:r>
              <a:rPr lang="ja-JP" altLang="en-US" sz="1400" dirty="0"/>
              <a:t>つまり、EOL OS を実行しているワークステーションやデバイスは</a:t>
            </a:r>
          </a:p>
          <a:p>
            <a:pPr algn="l"/>
            <a:r>
              <a:rPr lang="ja-JP" altLang="en-US" sz="1400" dirty="0"/>
              <a:t>信頼度の低い（less trusted）資産 として扱い、</a:t>
            </a:r>
          </a:p>
          <a:p>
            <a:pPr algn="l"/>
            <a:r>
              <a:rPr lang="ja-JP" altLang="en-US" sz="1400" dirty="0"/>
              <a:t>それらをどう保護し、他の ICS コンポーネントをどう守るかを検討する必要があります。</a:t>
            </a:r>
          </a:p>
          <a:p>
            <a:pPr algn="l"/>
            <a:r>
              <a:rPr lang="ja-JP" altLang="en-US" sz="1400" dirty="0"/>
              <a:t>Microsoft は EOL デバイスの 隔離（isolation） を推奨していますが、</a:t>
            </a:r>
          </a:p>
          <a:p>
            <a:pPr algn="l"/>
            <a:r>
              <a:rPr lang="ja-JP" altLang="en-US" sz="1400" dirty="0"/>
              <a:t>ICS では現実的に困難な場合が多いです。</a:t>
            </a:r>
          </a:p>
          <a:p>
            <a:pPr algn="l"/>
            <a:r>
              <a:rPr lang="ja-JP" altLang="en-US" sz="1400" dirty="0"/>
              <a:t>可能であれば ネットワーク分割（segmentation） を検討すべきです。</a:t>
            </a:r>
          </a:p>
          <a:p>
            <a:pPr algn="l"/>
            <a:r>
              <a:rPr lang="ja-JP" altLang="en-US" sz="1400" dirty="0"/>
              <a:t>緩和策には、以下のような追加のセキュリティ対策が含まれます：</a:t>
            </a:r>
          </a:p>
          <a:p>
            <a:pPr algn="l"/>
            <a:r>
              <a:rPr lang="ja-JP" altLang="en-US" sz="1400" dirty="0"/>
              <a:t>• 	管理的コントロール</a:t>
            </a:r>
          </a:p>
          <a:p>
            <a:pPr algn="l"/>
            <a:r>
              <a:rPr lang="ja-JP" altLang="en-US" sz="1400" dirty="0"/>
              <a:t>• 	技術的コントロール</a:t>
            </a:r>
          </a:p>
          <a:p>
            <a:pPr algn="l"/>
            <a:r>
              <a:rPr lang="ja-JP" altLang="en-US" sz="1400" dirty="0"/>
              <a:t>• 	運用プロセスの改善</a:t>
            </a:r>
          </a:p>
          <a:p>
            <a:pPr algn="l"/>
            <a:r>
              <a:rPr lang="ja-JP" altLang="en-US" sz="1400" dirty="0"/>
              <a:t>ICS ベンダーに相談し、</a:t>
            </a:r>
          </a:p>
          <a:p>
            <a:pPr algn="l"/>
            <a:r>
              <a:rPr lang="ja-JP" altLang="en-US" sz="1400" dirty="0"/>
              <a:t>システム固有の緩和ガイダンス を得ることが推奨されます。</a:t>
            </a:r>
          </a:p>
          <a:p>
            <a:pPr algn="l"/>
            <a:r>
              <a:rPr lang="ja-JP" altLang="en-US" sz="1400" dirty="0"/>
              <a:t>ベンダーによっては非常に優れた緩和策を提供しますが、</a:t>
            </a:r>
          </a:p>
          <a:p>
            <a:pPr algn="l"/>
            <a:r>
              <a:rPr lang="ja-JP" altLang="en-US" sz="1400" dirty="0"/>
              <a:t>そうでない場合もあります。</a:t>
            </a:r>
          </a:p>
          <a:p>
            <a:pPr algn="l"/>
            <a:r>
              <a:rPr lang="ja-JP" altLang="en-US" sz="1400" dirty="0"/>
              <a:t>最終的な緩和計画はベンダーと共有し、</a:t>
            </a:r>
          </a:p>
          <a:p>
            <a:pPr algn="l"/>
            <a:r>
              <a:rPr lang="ja-JP" altLang="en-US" sz="1400" dirty="0"/>
              <a:t>追加の技術的コントロールが システムの信頼性に悪影響を与えないか を確認する必要があります。</a:t>
            </a:r>
          </a:p>
          <a:p>
            <a:pPr algn="l"/>
            <a:endParaRPr lang="ja-JP" altLang="en-US" sz="1400" dirty="0"/>
          </a:p>
          <a:p>
            <a:pPr algn="l"/>
            <a:r>
              <a:rPr lang="ja-JP" altLang="en-US" sz="1400" dirty="0"/>
              <a:t>長期的な課題：EOL OS をサポートするハードウェアの確保</a:t>
            </a:r>
          </a:p>
          <a:p>
            <a:pPr algn="l"/>
            <a:r>
              <a:rPr lang="ja-JP" altLang="en-US" sz="1400" dirty="0"/>
              <a:t>長期的には、</a:t>
            </a:r>
          </a:p>
          <a:p>
            <a:pPr algn="l"/>
            <a:r>
              <a:rPr lang="ja-JP" altLang="en-US" sz="1400" dirty="0"/>
              <a:t>EOL OS をサポートできるハードウェアの入手性 が大きな問題になります。</a:t>
            </a:r>
          </a:p>
          <a:p>
            <a:pPr algn="l"/>
            <a:r>
              <a:rPr lang="ja-JP" altLang="en-US" sz="1400" dirty="0"/>
              <a:t>時間が経つほど、新しいハードウェアは</a:t>
            </a:r>
          </a:p>
          <a:p>
            <a:pPr algn="l"/>
            <a:r>
              <a:rPr lang="ja-JP" altLang="en-US" sz="1400" dirty="0"/>
              <a:t>非サポート OS を動かすためのドライバや互換性を持たなくなります。</a:t>
            </a:r>
          </a:p>
          <a:p>
            <a:pPr algn="l"/>
            <a:r>
              <a:rPr lang="ja-JP" altLang="en-US" sz="1400" dirty="0"/>
              <a:t>緩和計画には、以下を含めるべきです：</a:t>
            </a:r>
          </a:p>
          <a:p>
            <a:pPr algn="l"/>
            <a:r>
              <a:rPr lang="ja-JP" altLang="en-US" sz="1400" dirty="0"/>
              <a:t>• 	非サポート OS を実行している既存ハードウェアの健康状態の評価</a:t>
            </a:r>
          </a:p>
          <a:p>
            <a:pPr algn="l"/>
            <a:r>
              <a:rPr lang="ja-JP" altLang="en-US" sz="1400" dirty="0"/>
              <a:t>• 	目視点検の実施</a:t>
            </a:r>
          </a:p>
          <a:p>
            <a:pPr algn="l"/>
            <a:r>
              <a:rPr lang="ja-JP" altLang="en-US" sz="1400" dirty="0"/>
              <a:t>• 	機器寿命を延ばすためのメンテナンス</a:t>
            </a:r>
          </a:p>
          <a:p>
            <a:pPr algn="l"/>
            <a:r>
              <a:rPr lang="ja-JP" altLang="en-US" sz="1400" dirty="0"/>
              <a:t>• 	清掃</a:t>
            </a:r>
          </a:p>
          <a:p>
            <a:pPr algn="l"/>
            <a:r>
              <a:rPr lang="ja-JP" altLang="en-US" sz="1400" dirty="0"/>
              <a:t>• 	防塵・防湿対策</a:t>
            </a:r>
          </a:p>
          <a:p>
            <a:pPr algn="l"/>
            <a:r>
              <a:rPr lang="ja-JP" altLang="en-US" sz="1400" dirty="0"/>
              <a:t>• 	温度管理</a:t>
            </a:r>
          </a:p>
          <a:p>
            <a:pPr algn="l"/>
            <a:r>
              <a:rPr lang="ja-JP" altLang="en-US" sz="1400" dirty="0"/>
              <a:t>すでにリスクが高いハードウェアは、</a:t>
            </a:r>
          </a:p>
          <a:p>
            <a:pPr algn="l"/>
            <a:r>
              <a:rPr lang="ja-JP" altLang="en-US" sz="1400" dirty="0"/>
              <a:t>交換や重要コンポーネント（例：バックアップ電源）のアップグレード が必要になる場合があります。</a:t>
            </a:r>
          </a:p>
        </p:txBody>
      </p:sp>
      <p:pic>
        <p:nvPicPr>
          <p:cNvPr id="4" name="図 3">
            <a:extLst>
              <a:ext uri="{FF2B5EF4-FFF2-40B4-BE49-F238E27FC236}">
                <a16:creationId xmlns:a16="http://schemas.microsoft.com/office/drawing/2014/main" id="{5948D0D2-594B-4706-B743-178D4A5DF01E}"/>
              </a:ext>
            </a:extLst>
          </p:cNvPr>
          <p:cNvPicPr>
            <a:picLocks noChangeAspect="1"/>
          </p:cNvPicPr>
          <p:nvPr/>
        </p:nvPicPr>
        <p:blipFill>
          <a:blip r:embed="rId2"/>
          <a:stretch>
            <a:fillRect/>
          </a:stretch>
        </p:blipFill>
        <p:spPr>
          <a:xfrm>
            <a:off x="690033" y="50799"/>
            <a:ext cx="5477934" cy="310929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20320"/>
            <a:ext cx="6852285" cy="12171680"/>
          </a:xfrm>
        </p:spPr>
        <p:txBody>
          <a:bodyPr>
            <a:noAutofit/>
          </a:bodyPr>
          <a:lstStyle/>
          <a:p>
            <a:pPr algn="l"/>
            <a:r>
              <a:rPr lang="ja-JP" altLang="en-US" sz="1100" dirty="0"/>
              <a:t>組織は、将来的なモダナイゼーション（更新）が行われるまで長期間稼働し続ける必要があるシステムのために、</a:t>
            </a:r>
          </a:p>
          <a:p>
            <a:pPr algn="l"/>
            <a:r>
              <a:rPr lang="ja-JP" altLang="en-US" sz="1100" dirty="0"/>
              <a:t>追加の部品やスペアパーツを備蓄する ことがあります。</a:t>
            </a:r>
          </a:p>
          <a:p>
            <a:pPr algn="l"/>
            <a:r>
              <a:rPr lang="ja-JP" altLang="en-US" sz="1100" dirty="0"/>
              <a:t>中には、物理的にアクセスが困難な場所（例：深海の設備）に設置されており、</a:t>
            </a:r>
          </a:p>
          <a:p>
            <a:pPr algn="l"/>
            <a:r>
              <a:rPr lang="ja-JP" altLang="en-US" sz="1100" dirty="0"/>
              <a:t>永続的に交換できないシステム も存在します。</a:t>
            </a:r>
          </a:p>
          <a:p>
            <a:pPr algn="l"/>
            <a:endParaRPr lang="ja-JP" altLang="en-US" sz="1100" dirty="0"/>
          </a:p>
          <a:p>
            <a:pPr algn="l"/>
            <a:r>
              <a:rPr lang="ja-JP" altLang="en-US" sz="1100" dirty="0"/>
              <a:t>EOL ソフトウェアは可能な限り最新パッチまで更新する</a:t>
            </a:r>
          </a:p>
          <a:p>
            <a:pPr algn="l"/>
            <a:r>
              <a:rPr lang="ja-JP" altLang="en-US" sz="1100" dirty="0"/>
              <a:t>EOL OS であっても、利用可能な範囲で 最終パッチレベルまで更新 すべきです。</a:t>
            </a:r>
          </a:p>
          <a:p>
            <a:pPr algn="l"/>
            <a:r>
              <a:rPr lang="ja-JP" altLang="en-US" sz="1100" dirty="0"/>
              <a:t>最終更新プログラムは、以下のような手段で引き続き展開できます。</a:t>
            </a:r>
          </a:p>
          <a:p>
            <a:pPr algn="l"/>
            <a:r>
              <a:rPr lang="ja-JP" altLang="en-US" sz="1100" dirty="0"/>
              <a:t>• 	管理ツール</a:t>
            </a:r>
          </a:p>
          <a:p>
            <a:pPr algn="l"/>
            <a:r>
              <a:rPr lang="ja-JP" altLang="en-US" sz="1100" dirty="0"/>
              <a:t>• 	サードパーティのパッチ管理システム</a:t>
            </a:r>
          </a:p>
          <a:p>
            <a:pPr algn="l"/>
            <a:r>
              <a:rPr lang="ja-JP" altLang="en-US" sz="1100" dirty="0"/>
              <a:t>• 	Microsoft のエンタープライズ向けパッチ管理ソリューション</a:t>
            </a:r>
          </a:p>
          <a:p>
            <a:pPr algn="l"/>
            <a:endParaRPr lang="ja-JP" altLang="en-US" sz="1100" dirty="0"/>
          </a:p>
          <a:p>
            <a:pPr algn="l"/>
            <a:r>
              <a:rPr lang="ja-JP" altLang="en-US" sz="1100" dirty="0"/>
              <a:t>ワークステーションのハードニング（強化）</a:t>
            </a:r>
          </a:p>
          <a:p>
            <a:pPr algn="l"/>
            <a:r>
              <a:rPr lang="ja-JP" altLang="en-US" sz="1100" dirty="0"/>
              <a:t>EOL OS を使い続ける場合、以下のようなハードニングが推奨されます。</a:t>
            </a:r>
          </a:p>
          <a:p>
            <a:pPr algn="l"/>
            <a:r>
              <a:rPr lang="ja-JP" altLang="en-US" sz="1100" dirty="0"/>
              <a:t>• 不要なアプリケーションの削除</a:t>
            </a:r>
          </a:p>
          <a:p>
            <a:pPr algn="l"/>
            <a:r>
              <a:rPr lang="ja-JP" altLang="en-US" sz="1100" dirty="0"/>
              <a:t>開発ツール、ゲーム、未使用プログラムなどを削除し、</a:t>
            </a:r>
          </a:p>
          <a:p>
            <a:pPr algn="l"/>
            <a:r>
              <a:rPr lang="ja-JP" altLang="en-US" sz="1100" dirty="0"/>
              <a:t>攻撃面（attack surface）を削減し、監視対象をシンプルにする。</a:t>
            </a:r>
          </a:p>
          <a:p>
            <a:pPr algn="l"/>
            <a:r>
              <a:rPr lang="ja-JP" altLang="en-US" sz="1100" dirty="0"/>
              <a:t>CIS ベンチマークなどを活用して適切な設定を確立する。</a:t>
            </a:r>
          </a:p>
          <a:p>
            <a:pPr algn="l"/>
            <a:r>
              <a:rPr lang="ja-JP" altLang="en-US" sz="1100" dirty="0"/>
              <a:t>• 未使用の物理ポート・論理ポート・サービスの制限</a:t>
            </a:r>
          </a:p>
          <a:p>
            <a:pPr algn="l"/>
            <a:r>
              <a:rPr lang="ja-JP" altLang="en-US" sz="1100" dirty="0"/>
              <a:t>サプライヤーと相談し、運用に支障が出ない範囲で最も厳格な設定を行う。</a:t>
            </a:r>
          </a:p>
          <a:p>
            <a:pPr algn="l"/>
            <a:r>
              <a:rPr lang="ja-JP" altLang="en-US" sz="1100" dirty="0"/>
              <a:t>• Autorun の無効化</a:t>
            </a:r>
          </a:p>
          <a:p>
            <a:pPr algn="l"/>
            <a:r>
              <a:rPr lang="ja-JP" altLang="en-US" sz="1100" dirty="0"/>
              <a:t>• 管理的コントロールの強化</a:t>
            </a:r>
          </a:p>
          <a:p>
            <a:pPr algn="l"/>
            <a:r>
              <a:rPr lang="ja-JP" altLang="en-US" sz="1100" dirty="0"/>
              <a:t>誰が、どのようにシステムへアクセスできるかを厳格に管理する。</a:t>
            </a:r>
          </a:p>
          <a:p>
            <a:pPr algn="l"/>
            <a:r>
              <a:rPr lang="ja-JP" altLang="en-US" sz="1100" dirty="0"/>
              <a:t>• USB・モバイルメディアの利用制限</a:t>
            </a:r>
          </a:p>
          <a:p>
            <a:pPr algn="l"/>
            <a:r>
              <a:rPr lang="ja-JP" altLang="en-US" sz="1100" dirty="0"/>
              <a:t>USB デバイスの使用、ソフトウェアの持ち込み・インストールを制限する。</a:t>
            </a:r>
          </a:p>
          <a:p>
            <a:pPr algn="l"/>
            <a:r>
              <a:rPr lang="ja-JP" altLang="en-US" sz="1100" dirty="0"/>
              <a:t>• 強力なユーザー認証の導入</a:t>
            </a:r>
          </a:p>
          <a:p>
            <a:pPr algn="l"/>
            <a:r>
              <a:rPr lang="ja-JP" altLang="en-US" sz="1100" dirty="0"/>
              <a:t>ログイン可能なユーザーやロールを最小限に絞る。</a:t>
            </a:r>
          </a:p>
          <a:p>
            <a:pPr algn="l"/>
            <a:r>
              <a:rPr lang="ja-JP" altLang="en-US" sz="1100" dirty="0"/>
              <a:t>• ホスト型セキュリティソリューションの更新</a:t>
            </a:r>
          </a:p>
          <a:p>
            <a:pPr algn="l"/>
            <a:r>
              <a:rPr lang="ja-JP" altLang="en-US" sz="1100" dirty="0"/>
              <a:t>将来のサポート状況も確認する。</a:t>
            </a:r>
          </a:p>
          <a:p>
            <a:pPr algn="l"/>
            <a:endParaRPr lang="ja-JP" altLang="en-US" sz="1100" dirty="0"/>
          </a:p>
          <a:p>
            <a:pPr algn="l"/>
            <a:r>
              <a:rPr lang="ja-JP" altLang="en-US" sz="1100" dirty="0"/>
              <a:t>テスト能力の構築（重要）</a:t>
            </a:r>
          </a:p>
          <a:p>
            <a:pPr algn="l"/>
            <a:r>
              <a:rPr lang="ja-JP" altLang="en-US" sz="1100" dirty="0"/>
              <a:t>Microsoft が OS をサポートしなくなるため、</a:t>
            </a:r>
          </a:p>
          <a:p>
            <a:pPr algn="l"/>
            <a:r>
              <a:rPr lang="ja-JP" altLang="en-US" sz="1100" dirty="0"/>
              <a:t>組織自身または外部サポートが“Microsoft の穴”を埋める必要 があります。</a:t>
            </a:r>
          </a:p>
          <a:p>
            <a:pPr algn="l"/>
            <a:r>
              <a:rPr lang="ja-JP" altLang="en-US" sz="1100" dirty="0"/>
              <a:t>そのために：</a:t>
            </a:r>
          </a:p>
          <a:p>
            <a:pPr algn="l"/>
            <a:r>
              <a:rPr lang="ja-JP" altLang="en-US" sz="1100" dirty="0"/>
              <a:t>• 	脆弱性を再現できるテスト環境を構築する</a:t>
            </a:r>
          </a:p>
          <a:p>
            <a:pPr algn="l"/>
            <a:r>
              <a:rPr lang="ja-JP" altLang="en-US" sz="1100" dirty="0"/>
              <a:t>• 	発見された脆弱性が組織に与えるリスクを評価する</a:t>
            </a:r>
          </a:p>
          <a:p>
            <a:pPr algn="l"/>
            <a:r>
              <a:rPr lang="ja-JP" altLang="en-US" sz="1100" dirty="0"/>
              <a:t>• 	必要に応じて独自の技術的緩和策を作成する</a:t>
            </a:r>
          </a:p>
          <a:p>
            <a:pPr algn="l"/>
            <a:r>
              <a:rPr lang="ja-JP" altLang="en-US" sz="1100" dirty="0"/>
              <a:t>• 	既知のエクスプロイトに対応する</a:t>
            </a:r>
          </a:p>
          <a:p>
            <a:pPr algn="l"/>
            <a:r>
              <a:rPr lang="ja-JP" altLang="en-US" sz="1100" dirty="0"/>
              <a:t>といった能力が求められます。</a:t>
            </a:r>
          </a:p>
          <a:p>
            <a:pPr algn="l"/>
            <a:endParaRPr lang="ja-JP" altLang="en-US" sz="1100" dirty="0"/>
          </a:p>
          <a:p>
            <a:pPr algn="l"/>
            <a:r>
              <a:rPr lang="ja-JP" altLang="en-US" sz="1100" dirty="0"/>
              <a:t>仮想化の活用も検討する</a:t>
            </a:r>
          </a:p>
          <a:p>
            <a:pPr algn="l"/>
            <a:r>
              <a:rPr lang="ja-JP" altLang="en-US" sz="1100" dirty="0"/>
              <a:t>仮想化は以下のような利点を提供します：</a:t>
            </a:r>
          </a:p>
          <a:p>
            <a:pPr algn="l"/>
            <a:r>
              <a:rPr lang="ja-JP" altLang="en-US" sz="1100" dirty="0"/>
              <a:t>• 	将来のハードウェア入手性の問題を緩和</a:t>
            </a:r>
          </a:p>
          <a:p>
            <a:pPr algn="l"/>
            <a:r>
              <a:rPr lang="ja-JP" altLang="en-US" sz="1100" dirty="0"/>
              <a:t>• 	プラットフォーム監視の強化</a:t>
            </a:r>
          </a:p>
          <a:p>
            <a:pPr algn="l"/>
            <a:r>
              <a:rPr lang="ja-JP" altLang="en-US" sz="1100" dirty="0"/>
              <a:t>• 	バックアップと迅速なリストアの容易化</a:t>
            </a:r>
          </a:p>
          <a:p>
            <a:pPr algn="l"/>
            <a:r>
              <a:rPr lang="ja-JP" altLang="en-US" sz="1100" dirty="0"/>
              <a:t>EOL OS を物理ハードウェアから切り離すことで、</a:t>
            </a:r>
          </a:p>
          <a:p>
            <a:pPr algn="l"/>
            <a:r>
              <a:rPr lang="ja-JP" altLang="en-US" sz="1100" dirty="0"/>
              <a:t>長期運用のリスクを軽減できます。</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15701"/>
            <a:ext cx="6852285" cy="8725495"/>
          </a:xfrm>
        </p:spPr>
        <p:txBody>
          <a:bodyPr>
            <a:normAutofit fontScale="82500" lnSpcReduction="20000"/>
          </a:bodyPr>
          <a:lstStyle/>
          <a:p>
            <a:pPr algn="l"/>
            <a:r>
              <a:rPr lang="ja-JP" altLang="en-US" sz="1400" dirty="0"/>
              <a:t>Windows Server Update Services（WSUS）は、Microsoft が提供する 無償のパッチ管理ソリューション で、Active Directory に接続されたシステムの更新を中央管理できます。</a:t>
            </a:r>
          </a:p>
          <a:p>
            <a:pPr algn="l"/>
            <a:r>
              <a:rPr lang="ja-JP" altLang="en-US" sz="1400" dirty="0"/>
              <a:t>WSUS では、コンピュータを 任意のグループに分類 し、グループごとに異なる更新ポリシーを適用できます。</a:t>
            </a:r>
          </a:p>
          <a:p>
            <a:pPr algn="l"/>
            <a:r>
              <a:rPr lang="ja-JP" altLang="en-US" sz="1400" dirty="0"/>
              <a:t>例：</a:t>
            </a:r>
          </a:p>
          <a:p>
            <a:pPr algn="l"/>
            <a:r>
              <a:rPr lang="ja-JP" altLang="en-US" sz="1400" dirty="0"/>
              <a:t>• 	ワークステーション：自動で更新をダウンロード・インストール</a:t>
            </a:r>
          </a:p>
          <a:p>
            <a:pPr algn="l"/>
            <a:r>
              <a:rPr lang="ja-JP" altLang="en-US" sz="1400" dirty="0"/>
              <a:t>• 	サーバー：管理者が手動で更新を適用</a:t>
            </a:r>
          </a:p>
          <a:p>
            <a:pPr algn="l"/>
            <a:r>
              <a:rPr lang="ja-JP" altLang="en-US" sz="1400" dirty="0"/>
              <a:t>1 台の WSUS サーバーで 最大 30,000 台のクライアント を管理でき、</a:t>
            </a:r>
          </a:p>
          <a:p>
            <a:pPr algn="l"/>
            <a:r>
              <a:rPr lang="ja-JP" altLang="en-US" sz="1400" dirty="0"/>
              <a:t>複数の WSUS サーバーを 負荷分散 したり 階層化（チェーン構成） して管理アレイを構築することも可能です。</a:t>
            </a:r>
          </a:p>
          <a:p>
            <a:pPr algn="l"/>
            <a:endParaRPr lang="ja-JP" altLang="en-US" sz="1400" dirty="0"/>
          </a:p>
          <a:p>
            <a:pPr algn="l"/>
            <a:r>
              <a:rPr lang="ja-JP" altLang="en-US" sz="1400" dirty="0"/>
              <a:t>管理者は配布する更新を正確に選択できる</a:t>
            </a:r>
          </a:p>
          <a:p>
            <a:pPr algn="l"/>
            <a:r>
              <a:rPr lang="ja-JP" altLang="en-US" sz="1400" dirty="0"/>
              <a:t>管理者は、LAN 内の WSUS クライアントに配布する更新を 個別に承認／拒否 できます。</a:t>
            </a:r>
          </a:p>
          <a:p>
            <a:pPr algn="l"/>
            <a:r>
              <a:rPr lang="ja-JP" altLang="en-US" sz="1400" dirty="0"/>
              <a:t>通常、これは管理者がラボ環境でパッチをテストした後に行われます。</a:t>
            </a:r>
          </a:p>
          <a:p>
            <a:pPr algn="l"/>
            <a:r>
              <a:rPr lang="ja-JP" altLang="en-US" sz="1400" dirty="0"/>
              <a:t>WSUS の管理は「管理ツール」内の WSUS コンソールから行います。</a:t>
            </a:r>
          </a:p>
          <a:p>
            <a:pPr algn="l"/>
            <a:r>
              <a:rPr lang="ja-JP" altLang="en-US" sz="1400" dirty="0"/>
              <a:t>（以前のバージョンでは WSUS サーバー上の専用 Web サイトで管理していましたが、現在は不要です。）</a:t>
            </a:r>
          </a:p>
          <a:p>
            <a:pPr algn="l"/>
            <a:endParaRPr lang="ja-JP" altLang="en-US" sz="1400" dirty="0"/>
          </a:p>
          <a:p>
            <a:pPr algn="l"/>
            <a:r>
              <a:rPr lang="ja-JP" altLang="en-US" sz="1400" dirty="0"/>
              <a:t>更新ファイルの取得方法</a:t>
            </a:r>
          </a:p>
          <a:p>
            <a:pPr algn="l"/>
            <a:r>
              <a:rPr lang="ja-JP" altLang="en-US" sz="1400" dirty="0"/>
              <a:t>Microsoft からの更新ファイルは：</a:t>
            </a:r>
          </a:p>
          <a:p>
            <a:pPr algn="l"/>
            <a:r>
              <a:rPr lang="ja-JP" altLang="en-US" sz="1400" dirty="0"/>
              <a:t>• 	WSUS サーバーが一度ダウンロードし、クライアントは WSUS から取得する</a:t>
            </a:r>
          </a:p>
          <a:p>
            <a:pPr algn="l"/>
            <a:r>
              <a:rPr lang="ja-JP" altLang="en-US" sz="1400" dirty="0"/>
              <a:t>• 	クライアントが Microsoft から直接取得する（承認された更新のみ）</a:t>
            </a:r>
          </a:p>
          <a:p>
            <a:pPr algn="l"/>
            <a:r>
              <a:rPr lang="ja-JP" altLang="en-US" sz="1400" dirty="0"/>
              <a:t>のどちらにも設定できます。</a:t>
            </a:r>
          </a:p>
          <a:p>
            <a:pPr algn="l"/>
            <a:r>
              <a:rPr lang="ja-JP" altLang="en-US" sz="1400" dirty="0"/>
              <a:t>WSUS サーバーにキャッシュさせることで、インターネット帯域の節約 が可能です。</a:t>
            </a:r>
          </a:p>
          <a:p>
            <a:pPr algn="l"/>
            <a:r>
              <a:rPr lang="ja-JP" altLang="en-US" sz="1400" dirty="0"/>
              <a:t>クライアント数が多い場合、</a:t>
            </a:r>
          </a:p>
          <a:p>
            <a:pPr algn="l"/>
            <a:r>
              <a:rPr lang="ja-JP" altLang="en-US" sz="1400" dirty="0"/>
              <a:t>下位 WSUS サーバーが上位 WSUS サーバーから更新を取得する 階層構造 を構築できます。</a:t>
            </a:r>
          </a:p>
          <a:p>
            <a:pPr algn="l"/>
            <a:endParaRPr lang="ja-JP" altLang="en-US" sz="1400" dirty="0"/>
          </a:p>
          <a:p>
            <a:pPr algn="l"/>
            <a:r>
              <a:rPr lang="ja-JP" altLang="en-US" sz="1400" dirty="0"/>
              <a:t>BITS による効率的な配布</a:t>
            </a:r>
          </a:p>
          <a:p>
            <a:pPr algn="l"/>
            <a:r>
              <a:rPr lang="ja-JP" altLang="en-US" sz="1400" dirty="0"/>
              <a:t>WSUS クライアントは BITS（Background Intelligent Transfer Service） を使って更新をダウンロードします。</a:t>
            </a:r>
          </a:p>
          <a:p>
            <a:pPr algn="l"/>
            <a:r>
              <a:rPr lang="ja-JP" altLang="en-US" sz="1400" dirty="0"/>
              <a:t>BITS は、他のアプリケーションを妨げないように</a:t>
            </a:r>
          </a:p>
          <a:p>
            <a:pPr algn="l"/>
            <a:r>
              <a:rPr lang="ja-JP" altLang="en-US" sz="1400" dirty="0"/>
              <a:t>バックグラウンドで少しずつ（“drizzle”） ファイルを転送するため、</a:t>
            </a:r>
          </a:p>
          <a:p>
            <a:pPr algn="l"/>
            <a:r>
              <a:rPr lang="ja-JP" altLang="en-US" sz="1400" dirty="0"/>
              <a:t>帯域を独占せず効率的です。</a:t>
            </a:r>
          </a:p>
          <a:p>
            <a:pPr algn="l"/>
            <a:endParaRPr lang="ja-JP" altLang="en-US" sz="1400" dirty="0"/>
          </a:p>
          <a:p>
            <a:pPr algn="l"/>
            <a:r>
              <a:rPr lang="ja-JP" altLang="en-US" sz="1400" dirty="0"/>
              <a:t>WSUS の大きな利点：カスタムグループ管理</a:t>
            </a:r>
          </a:p>
          <a:p>
            <a:pPr algn="l"/>
            <a:r>
              <a:rPr lang="ja-JP" altLang="en-US" sz="1400" dirty="0"/>
              <a:t>WSUS では、Active Directory のグループとは独立して</a:t>
            </a:r>
          </a:p>
          <a:p>
            <a:pPr algn="l"/>
            <a:r>
              <a:rPr lang="ja-JP" altLang="en-US" sz="1400" dirty="0"/>
              <a:t>独自のコンピュータグループ を作成できます。</a:t>
            </a:r>
          </a:p>
          <a:p>
            <a:pPr algn="l"/>
            <a:r>
              <a:rPr lang="ja-JP" altLang="en-US" sz="1400" dirty="0"/>
              <a:t>例：</a:t>
            </a:r>
          </a:p>
          <a:p>
            <a:pPr algn="l"/>
            <a:r>
              <a:rPr lang="ja-JP" altLang="en-US" sz="1400" dirty="0"/>
              <a:t>• 	“Executives” グループ：役員用 PC → 安定性重視の更新のみ</a:t>
            </a:r>
          </a:p>
          <a:p>
            <a:pPr algn="l"/>
            <a:r>
              <a:rPr lang="ja-JP" altLang="en-US" sz="1400" dirty="0"/>
              <a:t>• 	“External_IIS” グループ：外部公開 IIS サーバー → セキュリティ更新を優先</a:t>
            </a:r>
          </a:p>
          <a:p>
            <a:pPr algn="l"/>
            <a:r>
              <a:rPr lang="ja-JP" altLang="en-US" sz="1400" dirty="0"/>
              <a:t>これにより、用途に応じて 異なる更新ポリシー を柔軟に適用できます。</a:t>
            </a:r>
          </a:p>
        </p:txBody>
      </p:sp>
      <p:pic>
        <p:nvPicPr>
          <p:cNvPr id="2" name="図 1">
            <a:extLst>
              <a:ext uri="{FF2B5EF4-FFF2-40B4-BE49-F238E27FC236}">
                <a16:creationId xmlns:a16="http://schemas.microsoft.com/office/drawing/2014/main" id="{3FD85A4D-90A3-4131-BA10-4D0AE8A0E57D}"/>
              </a:ext>
            </a:extLst>
          </p:cNvPr>
          <p:cNvPicPr>
            <a:picLocks noChangeAspect="1"/>
          </p:cNvPicPr>
          <p:nvPr/>
        </p:nvPicPr>
        <p:blipFill>
          <a:blip r:embed="rId2"/>
          <a:stretch>
            <a:fillRect/>
          </a:stretch>
        </p:blipFill>
        <p:spPr>
          <a:xfrm>
            <a:off x="581342" y="101598"/>
            <a:ext cx="5689600" cy="322943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84182"/>
            <a:ext cx="6852285" cy="6312535"/>
          </a:xfrm>
        </p:spPr>
        <p:txBody>
          <a:bodyPr>
            <a:normAutofit/>
          </a:bodyPr>
          <a:lstStyle/>
          <a:p>
            <a:pPr algn="l"/>
            <a:r>
              <a:rPr lang="ja-JP" altLang="en-US" sz="1400" dirty="0"/>
              <a:t>Reference:</a:t>
            </a:r>
          </a:p>
          <a:p>
            <a:pPr algn="l"/>
            <a:r>
              <a:rPr lang="ja-JP" altLang="en-US" sz="1400" dirty="0"/>
              <a:t>• https://docs.microsoft.com/en-us/mem/configmgr/core/understand/microsoft-endpoint-manager-faq</a:t>
            </a:r>
          </a:p>
        </p:txBody>
      </p:sp>
      <p:pic>
        <p:nvPicPr>
          <p:cNvPr id="2" name="図 1">
            <a:extLst>
              <a:ext uri="{FF2B5EF4-FFF2-40B4-BE49-F238E27FC236}">
                <a16:creationId xmlns:a16="http://schemas.microsoft.com/office/drawing/2014/main" id="{FFFA61EE-B59B-4D58-92D1-3DF37650797E}"/>
              </a:ext>
            </a:extLst>
          </p:cNvPr>
          <p:cNvPicPr>
            <a:picLocks noChangeAspect="1"/>
          </p:cNvPicPr>
          <p:nvPr/>
        </p:nvPicPr>
        <p:blipFill>
          <a:blip r:embed="rId2"/>
          <a:stretch>
            <a:fillRect/>
          </a:stretch>
        </p:blipFill>
        <p:spPr>
          <a:xfrm>
            <a:off x="143933" y="50799"/>
            <a:ext cx="6570134" cy="372424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F1EB5E5C-44BB-485F-A001-CC98093BCA6F}"/>
              </a:ext>
            </a:extLst>
          </p:cNvPr>
          <p:cNvPicPr>
            <a:picLocks noChangeAspect="1"/>
          </p:cNvPicPr>
          <p:nvPr/>
        </p:nvPicPr>
        <p:blipFill>
          <a:blip r:embed="rId2"/>
          <a:stretch>
            <a:fillRect/>
          </a:stretch>
        </p:blipFill>
        <p:spPr>
          <a:xfrm>
            <a:off x="118533" y="131565"/>
            <a:ext cx="6620933" cy="376310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C9C3BED5-EA7C-4065-9081-E9F559A68093}"/>
              </a:ext>
            </a:extLst>
          </p:cNvPr>
          <p:cNvPicPr>
            <a:picLocks noChangeAspect="1"/>
          </p:cNvPicPr>
          <p:nvPr/>
        </p:nvPicPr>
        <p:blipFill>
          <a:blip r:embed="rId2"/>
          <a:stretch>
            <a:fillRect/>
          </a:stretch>
        </p:blipFill>
        <p:spPr>
          <a:xfrm>
            <a:off x="186266" y="150679"/>
            <a:ext cx="6485467" cy="367625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335866"/>
            <a:ext cx="6852285" cy="8856134"/>
          </a:xfrm>
        </p:spPr>
        <p:txBody>
          <a:bodyPr>
            <a:normAutofit fontScale="82500" lnSpcReduction="20000"/>
          </a:bodyPr>
          <a:lstStyle/>
          <a:p>
            <a:pPr algn="l"/>
            <a:r>
              <a:rPr lang="ja-JP" altLang="en-US" sz="1400" dirty="0"/>
              <a:t>セキュリティテンプレートとは、数百ものセキュリティ設定を保存できるプレーンテキスト形式の設定ファイル です。</a:t>
            </a:r>
          </a:p>
          <a:p>
            <a:pPr algn="l"/>
            <a:r>
              <a:rPr lang="ja-JP" altLang="en-US" sz="1400" dirty="0"/>
              <a:t>テンプレートを適用することで、コンピュータを一度にテンプレートの設定へ再構成できます。</a:t>
            </a:r>
          </a:p>
          <a:p>
            <a:pPr algn="l"/>
            <a:r>
              <a:rPr lang="ja-JP" altLang="en-US" sz="1400" dirty="0"/>
              <a:t>テンプレートは通常、以下の場所に保存されています：</a:t>
            </a:r>
          </a:p>
          <a:p>
            <a:pPr algn="l"/>
            <a:r>
              <a:rPr lang="ja-JP" altLang="en-US" sz="1400" dirty="0"/>
              <a:t>• 	</a:t>
            </a:r>
          </a:p>
          <a:p>
            <a:pPr algn="l"/>
            <a:r>
              <a:rPr lang="ja-JP" altLang="en-US" sz="1400" dirty="0"/>
              <a:t>• 	</a:t>
            </a:r>
          </a:p>
          <a:p>
            <a:pPr algn="l"/>
            <a:r>
              <a:rPr lang="ja-JP" altLang="en-US" sz="1400" dirty="0"/>
              <a:t>拡張子は .INF です。</a:t>
            </a:r>
          </a:p>
          <a:p>
            <a:pPr algn="l"/>
            <a:r>
              <a:rPr lang="ja-JP" altLang="en-US" sz="1400" dirty="0"/>
              <a:t>テンプレートはメモ帳で編集できますが、</a:t>
            </a:r>
          </a:p>
          <a:p>
            <a:pPr algn="l"/>
            <a:r>
              <a:rPr lang="ja-JP" altLang="en-US" sz="1400" dirty="0"/>
              <a:t>より簡単なのは MMC（Microsoft Management Console）の「Security Templates」スナップイン を使う方法です。</a:t>
            </a:r>
          </a:p>
          <a:p>
            <a:pPr algn="l"/>
            <a:endParaRPr lang="ja-JP" altLang="en-US" sz="1400" dirty="0"/>
          </a:p>
          <a:p>
            <a:pPr algn="l"/>
            <a:r>
              <a:rPr lang="ja-JP" altLang="en-US" sz="1400" dirty="0"/>
              <a:t>Windows 10 での操作</a:t>
            </a:r>
          </a:p>
          <a:p>
            <a:pPr algn="l"/>
            <a:r>
              <a:rPr lang="ja-JP" altLang="en-US" sz="1400" dirty="0"/>
              <a:t>Windows 10 では、検索機能から 「ローカル セキュリティ ポリシー」 を開きます。</a:t>
            </a:r>
          </a:p>
          <a:p>
            <a:pPr algn="l"/>
            <a:r>
              <a:rPr lang="ja-JP" altLang="en-US" sz="1400" dirty="0"/>
              <a:t>古い Windows では：</a:t>
            </a:r>
          </a:p>
          <a:p>
            <a:pPr algn="l"/>
            <a:r>
              <a:rPr lang="ja-JP" altLang="en-US" sz="1400" dirty="0"/>
              <a:t>• 	ワークステーション → </a:t>
            </a:r>
          </a:p>
          <a:p>
            <a:pPr algn="l"/>
            <a:r>
              <a:rPr lang="ja-JP" altLang="en-US" sz="1400" dirty="0"/>
              <a:t>• 	サーバー → </a:t>
            </a:r>
          </a:p>
          <a:p>
            <a:pPr algn="l"/>
            <a:r>
              <a:rPr lang="ja-JP" altLang="en-US" sz="1400" dirty="0"/>
              <a:t>を実行します。</a:t>
            </a:r>
          </a:p>
          <a:p>
            <a:pPr algn="l"/>
            <a:r>
              <a:rPr lang="ja-JP" altLang="en-US" sz="1400" dirty="0"/>
              <a:t>テンプレートスナップインでは、テンプレートをダブルクリックして開き、</a:t>
            </a:r>
          </a:p>
          <a:p>
            <a:pPr algn="l"/>
            <a:r>
              <a:rPr lang="ja-JP" altLang="en-US" sz="1400" dirty="0"/>
              <a:t>コンテナを展開し、ポリシーアイコンをダブルクリックして設定を変更します。</a:t>
            </a:r>
          </a:p>
          <a:p>
            <a:pPr algn="l"/>
            <a:r>
              <a:rPr lang="ja-JP" altLang="en-US" sz="1400" dirty="0"/>
              <a:t>編集が終わったら右クリックして保存します。</a:t>
            </a:r>
          </a:p>
          <a:p>
            <a:pPr algn="l"/>
            <a:r>
              <a:rPr lang="ja-JP" altLang="en-US" sz="1400" dirty="0"/>
              <a:t>必要であれば、エクスプローラーでテンプレートのフォルダを開き、</a:t>
            </a:r>
          </a:p>
          <a:p>
            <a:pPr algn="l"/>
            <a:r>
              <a:rPr lang="ja-JP" altLang="en-US" sz="1400" dirty="0"/>
              <a:t>メモ帳で直接編集することもできます。</a:t>
            </a:r>
          </a:p>
          <a:p>
            <a:pPr algn="l"/>
            <a:endParaRPr lang="ja-JP" altLang="en-US" sz="1400" dirty="0"/>
          </a:p>
          <a:p>
            <a:pPr algn="l"/>
            <a:r>
              <a:rPr lang="ja-JP" altLang="en-US" sz="1400" dirty="0"/>
              <a:t>コマンドラインツール：secedit.exe</a:t>
            </a:r>
          </a:p>
          <a:p>
            <a:pPr algn="l"/>
            <a:r>
              <a:rPr lang="ja-JP" altLang="en-US" sz="1400" dirty="0"/>
              <a:t>セキュリティポリシーを扱うもう一つの方法として、</a:t>
            </a:r>
          </a:p>
          <a:p>
            <a:pPr algn="l"/>
            <a:r>
              <a:rPr lang="ja-JP" altLang="en-US" sz="1400" dirty="0"/>
              <a:t>secedit.exe というコマンドラインツールがあります。</a:t>
            </a:r>
          </a:p>
          <a:p>
            <a:pPr algn="l"/>
            <a:r>
              <a:rPr lang="ja-JP" altLang="en-US" sz="1400" dirty="0"/>
              <a:t>これを使えば：</a:t>
            </a:r>
          </a:p>
          <a:p>
            <a:pPr algn="l"/>
            <a:r>
              <a:rPr lang="ja-JP" altLang="en-US" sz="1400" dirty="0"/>
              <a:t>• 	Active Directory 管理外の孤立したマシンを</a:t>
            </a:r>
          </a:p>
          <a:p>
            <a:pPr algn="l"/>
            <a:r>
              <a:rPr lang="ja-JP" altLang="en-US" sz="1400" dirty="0"/>
              <a:t>• 	スクリプトで一括再構成する</a:t>
            </a:r>
          </a:p>
          <a:p>
            <a:pPr algn="l"/>
            <a:r>
              <a:rPr lang="ja-JP" altLang="en-US" sz="1400" dirty="0"/>
              <a:t>といったことが可能です。</a:t>
            </a:r>
          </a:p>
          <a:p>
            <a:pPr algn="l"/>
            <a:r>
              <a:rPr lang="ja-JP" altLang="en-US" sz="1400" dirty="0"/>
              <a:t>また、 とテンプレートを USB に保存しておけば、</a:t>
            </a:r>
          </a:p>
          <a:p>
            <a:pPr algn="l"/>
            <a:r>
              <a:rPr lang="ja-JP" altLang="en-US" sz="1400" dirty="0"/>
              <a:t>ネットワークに接続されていない「島状（islanded）」のマシンも手動で更新できます。</a:t>
            </a:r>
          </a:p>
          <a:p>
            <a:pPr algn="l"/>
            <a:endParaRPr lang="ja-JP" altLang="en-US" sz="1400" dirty="0"/>
          </a:p>
          <a:p>
            <a:pPr algn="l"/>
            <a:r>
              <a:rPr lang="ja-JP" altLang="en-US" sz="1400" dirty="0"/>
              <a:t>テンプレート適用後の注意点</a:t>
            </a:r>
          </a:p>
          <a:p>
            <a:pPr algn="l"/>
            <a:r>
              <a:rPr lang="ja-JP" altLang="en-US" sz="1400" dirty="0"/>
              <a:t>多くの設定は即時反映されますが、</a:t>
            </a:r>
          </a:p>
          <a:p>
            <a:pPr algn="l"/>
            <a:r>
              <a:rPr lang="ja-JP" altLang="en-US" sz="1400" dirty="0"/>
              <a:t>すべての設定が確実に適用されるよう、テンプレート適用後に再起動することが推奨 されます。</a:t>
            </a:r>
          </a:p>
          <a:p>
            <a:pPr algn="l"/>
            <a:r>
              <a:rPr lang="ja-JP" altLang="en-US" sz="1400" dirty="0"/>
              <a:t>また、信頼できる組織が提供する 事前構成済みテンプレート を入手し、</a:t>
            </a:r>
          </a:p>
          <a:p>
            <a:pPr algn="l"/>
            <a:r>
              <a:rPr lang="ja-JP" altLang="en-US" sz="1400" dirty="0"/>
              <a:t>自分の環境に合わせて修正したうえで、</a:t>
            </a:r>
          </a:p>
          <a:p>
            <a:pPr algn="l"/>
            <a:r>
              <a:rPr lang="ja-JP" altLang="en-US" sz="1400" dirty="0"/>
              <a:t>SCA スナップインや GPO（グループポリシーオブジェクト）を使って適用するのが望ましいです。</a:t>
            </a:r>
          </a:p>
        </p:txBody>
      </p:sp>
      <p:pic>
        <p:nvPicPr>
          <p:cNvPr id="2" name="図 1">
            <a:extLst>
              <a:ext uri="{FF2B5EF4-FFF2-40B4-BE49-F238E27FC236}">
                <a16:creationId xmlns:a16="http://schemas.microsoft.com/office/drawing/2014/main" id="{936A33BA-3161-4715-99F8-2117CADF2785}"/>
              </a:ext>
            </a:extLst>
          </p:cNvPr>
          <p:cNvPicPr>
            <a:picLocks noChangeAspect="1"/>
          </p:cNvPicPr>
          <p:nvPr/>
        </p:nvPicPr>
        <p:blipFill>
          <a:blip r:embed="rId2"/>
          <a:stretch>
            <a:fillRect/>
          </a:stretch>
        </p:blipFill>
        <p:spPr>
          <a:xfrm>
            <a:off x="719665" y="101598"/>
            <a:ext cx="5418667" cy="307251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91461"/>
            <a:ext cx="6852285" cy="8161867"/>
          </a:xfrm>
        </p:spPr>
        <p:txBody>
          <a:bodyPr>
            <a:normAutofit fontScale="97500"/>
          </a:bodyPr>
          <a:lstStyle/>
          <a:p>
            <a:pPr algn="l"/>
            <a:r>
              <a:rPr lang="ja-JP" altLang="en-US" sz="1400" dirty="0"/>
              <a:t>セキュリティテンプレートを ゼロから自作する必要はありません。</a:t>
            </a:r>
          </a:p>
          <a:p>
            <a:pPr algn="l"/>
            <a:r>
              <a:rPr lang="ja-JP" altLang="en-US" sz="1400" dirty="0"/>
              <a:t>Windows セキュリティ分野の多くの組織が、無料でダウンロードできるカスタムテンプレート を提供しています。</a:t>
            </a:r>
          </a:p>
          <a:p>
            <a:pPr algn="l"/>
            <a:r>
              <a:rPr lang="ja-JP" altLang="en-US" sz="1400" dirty="0"/>
              <a:t>最初から自作するのではなく、</a:t>
            </a:r>
          </a:p>
          <a:p>
            <a:pPr algn="l"/>
            <a:r>
              <a:rPr lang="ja-JP" altLang="en-US" sz="1400" dirty="0"/>
              <a:t>既存のテンプレートをベースにすることが強く推奨 されます。</a:t>
            </a:r>
          </a:p>
          <a:p>
            <a:pPr algn="l"/>
            <a:r>
              <a:rPr lang="ja-JP" altLang="en-US" sz="1400" dirty="0"/>
              <a:t>理由はシンプルで、</a:t>
            </a:r>
          </a:p>
          <a:p>
            <a:pPr algn="l"/>
            <a:r>
              <a:rPr lang="ja-JP" altLang="en-US" sz="1400" dirty="0"/>
              <a:t>セキュリティを強化すればするほど、アプリケーションが動かなくなるリスクが高まる ためです。</a:t>
            </a:r>
          </a:p>
          <a:p>
            <a:pPr algn="l"/>
            <a:r>
              <a:rPr lang="ja-JP" altLang="en-US" sz="1400" dirty="0"/>
              <a:t>Microsoft、NIST、CIS などが提供するテンプレートは、</a:t>
            </a:r>
          </a:p>
          <a:p>
            <a:pPr algn="l"/>
            <a:r>
              <a:rPr lang="ja-JP" altLang="en-US" sz="1400" dirty="0"/>
              <a:t>「できるだけ壊さずに最大限セキュリティを高める」ように</a:t>
            </a:r>
          </a:p>
          <a:p>
            <a:pPr algn="l"/>
            <a:r>
              <a:rPr lang="ja-JP" altLang="en-US" sz="1400" dirty="0"/>
              <a:t>すでに デバッグ・検証済み です。</a:t>
            </a:r>
          </a:p>
          <a:p>
            <a:pPr algn="l"/>
            <a:endParaRPr lang="ja-JP" altLang="en-US" sz="1400" dirty="0"/>
          </a:p>
          <a:p>
            <a:pPr algn="l"/>
            <a:r>
              <a:rPr lang="ja-JP" altLang="en-US" sz="1400" dirty="0"/>
              <a:t>テンプレートは自由に編集できる</a:t>
            </a:r>
          </a:p>
          <a:p>
            <a:pPr algn="l"/>
            <a:r>
              <a:rPr lang="ja-JP" altLang="en-US" sz="1400" dirty="0"/>
              <a:t>他者が提供するテンプレートは、</a:t>
            </a:r>
          </a:p>
          <a:p>
            <a:pPr algn="l"/>
            <a:r>
              <a:rPr lang="ja-JP" altLang="en-US" sz="1400" dirty="0"/>
              <a:t>自分の組織向けに自由に編集して構いません。</a:t>
            </a:r>
          </a:p>
          <a:p>
            <a:pPr algn="l"/>
            <a:r>
              <a:rPr lang="ja-JP" altLang="en-US" sz="1400" dirty="0"/>
              <a:t>信頼できる組織のテンプレートを入手し、</a:t>
            </a:r>
          </a:p>
          <a:p>
            <a:pPr algn="l"/>
            <a:r>
              <a:rPr lang="ja-JP" altLang="en-US" sz="1400" dirty="0"/>
              <a:t>自社環境でテストしながら微調整していくのが最も効率的です。</a:t>
            </a:r>
          </a:p>
          <a:p>
            <a:pPr algn="l"/>
            <a:endParaRPr lang="ja-JP" altLang="en-US" sz="1400" dirty="0"/>
          </a:p>
          <a:p>
            <a:pPr algn="l"/>
            <a:r>
              <a:rPr lang="ja-JP" altLang="en-US" sz="1400" dirty="0"/>
              <a:t>Microsoft のテンプレートとベストプラクティス</a:t>
            </a:r>
          </a:p>
          <a:p>
            <a:pPr algn="l"/>
            <a:r>
              <a:rPr lang="ja-JP" altLang="en-US" sz="1400" dirty="0"/>
              <a:t>Microsoft は、</a:t>
            </a:r>
          </a:p>
          <a:p>
            <a:pPr algn="l"/>
            <a:r>
              <a:rPr lang="ja-JP" altLang="en-US" sz="1400" dirty="0"/>
              <a:t>さまざまなアプリケーションや Windows バージョン向けに</a:t>
            </a:r>
          </a:p>
          <a:p>
            <a:pPr algn="l"/>
            <a:r>
              <a:rPr lang="ja-JP" altLang="en-US" sz="1400" dirty="0"/>
              <a:t>セキュリティテンプレートとベストプラクティス を提供しています。</a:t>
            </a:r>
          </a:p>
          <a:p>
            <a:pPr algn="l"/>
            <a:r>
              <a:rPr lang="ja-JP" altLang="en-US" sz="1400" dirty="0"/>
              <a:t>これらは内部テストを始める際の 優れた出発点 になります。</a:t>
            </a:r>
          </a:p>
          <a:p>
            <a:pPr algn="l"/>
            <a:r>
              <a:rPr lang="ja-JP" altLang="en-US" sz="1400" dirty="0"/>
              <a:t>ただし、</a:t>
            </a:r>
          </a:p>
          <a:p>
            <a:pPr algn="l"/>
            <a:r>
              <a:rPr lang="ja-JP" altLang="en-US" sz="1400" dirty="0"/>
              <a:t>互換性テストなしに本番環境へ適用してはいけません。</a:t>
            </a:r>
          </a:p>
          <a:p>
            <a:pPr algn="l"/>
            <a:r>
              <a:rPr lang="ja-JP" altLang="en-US" sz="1400" dirty="0"/>
              <a:t>テンプレートと関連ドキュメントは、以下の無料ツールから入手できます：</a:t>
            </a:r>
          </a:p>
          <a:p>
            <a:pPr algn="l"/>
            <a:r>
              <a:rPr lang="ja-JP" altLang="en-US" sz="1400" dirty="0"/>
              <a:t>• 	Microsoft Security Compliance Manager (SCM)</a:t>
            </a:r>
          </a:p>
          <a:p>
            <a:pPr algn="l"/>
            <a:r>
              <a:rPr lang="ja-JP" altLang="en-US" sz="1400" dirty="0"/>
              <a:t>• 	Security Compliance Toolkit (SCT)</a:t>
            </a:r>
          </a:p>
        </p:txBody>
      </p:sp>
      <p:pic>
        <p:nvPicPr>
          <p:cNvPr id="2" name="図 1">
            <a:extLst>
              <a:ext uri="{FF2B5EF4-FFF2-40B4-BE49-F238E27FC236}">
                <a16:creationId xmlns:a16="http://schemas.microsoft.com/office/drawing/2014/main" id="{6AD1FB31-2774-467A-9524-D904F51A1454}"/>
              </a:ext>
            </a:extLst>
          </p:cNvPr>
          <p:cNvPicPr>
            <a:picLocks noChangeAspect="1"/>
          </p:cNvPicPr>
          <p:nvPr/>
        </p:nvPicPr>
        <p:blipFill>
          <a:blip r:embed="rId2"/>
          <a:stretch>
            <a:fillRect/>
          </a:stretch>
        </p:blipFill>
        <p:spPr>
          <a:xfrm>
            <a:off x="400947" y="135463"/>
            <a:ext cx="6056105" cy="3437467"/>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454402"/>
            <a:ext cx="6852285" cy="8636000"/>
          </a:xfrm>
        </p:spPr>
        <p:txBody>
          <a:bodyPr>
            <a:normAutofit fontScale="62500" lnSpcReduction="20000"/>
          </a:bodyPr>
          <a:lstStyle/>
          <a:p>
            <a:pPr algn="l"/>
            <a:r>
              <a:rPr lang="ja-JP" altLang="en-US" sz="1400" dirty="0"/>
              <a:t>Group Policy Object（GPO）は、</a:t>
            </a:r>
          </a:p>
          <a:p>
            <a:pPr algn="l"/>
            <a:r>
              <a:rPr lang="ja-JP" altLang="en-US" sz="1400" dirty="0"/>
              <a:t>ログオンスクリプトのように動作し、コンピュータのほぼすべての設定を自動で再構成できる仕組み と考えると分かりやすいです。</a:t>
            </a:r>
          </a:p>
          <a:p>
            <a:pPr algn="l"/>
            <a:r>
              <a:rPr lang="ja-JP" altLang="en-US" sz="1400" dirty="0"/>
              <a:t>ユーザーのデスクトップ設定も含めて変更できます。</a:t>
            </a:r>
          </a:p>
          <a:p>
            <a:pPr algn="l"/>
            <a:endParaRPr lang="ja-JP" altLang="en-US" sz="1400" dirty="0"/>
          </a:p>
          <a:p>
            <a:pPr algn="l"/>
            <a:r>
              <a:rPr lang="ja-JP" altLang="en-US" sz="1400" dirty="0"/>
              <a:t>GPO の適用タイミング</a:t>
            </a:r>
          </a:p>
          <a:p>
            <a:pPr algn="l"/>
            <a:r>
              <a:rPr lang="ja-JP" altLang="en-US" sz="1400" dirty="0"/>
              <a:t>1. コンピュータの起動時</a:t>
            </a:r>
          </a:p>
          <a:p>
            <a:pPr algn="l"/>
            <a:r>
              <a:rPr lang="ja-JP" altLang="en-US" sz="1400" dirty="0"/>
              <a:t>コンピュータは、自分に割り当てられた GPO をダウンロードし、自動的に実行します。</a:t>
            </a:r>
          </a:p>
          <a:p>
            <a:pPr algn="l"/>
            <a:r>
              <a:rPr lang="ja-JP" altLang="en-US" sz="1400" dirty="0"/>
              <a:t>2. 90〜120 分ごとの定期チェック</a:t>
            </a:r>
          </a:p>
          <a:p>
            <a:pPr algn="l"/>
            <a:r>
              <a:rPr lang="ja-JP" altLang="en-US" sz="1400" dirty="0"/>
              <a:t>コンピュータは 90〜120 分ごとに GPO の変更を確認し、</a:t>
            </a:r>
          </a:p>
          <a:p>
            <a:pPr algn="l"/>
            <a:r>
              <a:rPr lang="ja-JP" altLang="en-US" sz="1400" dirty="0"/>
              <a:t>変更があれば 再起動なしでも自動的に再適用 します。</a:t>
            </a:r>
          </a:p>
          <a:p>
            <a:pPr algn="l"/>
            <a:r>
              <a:rPr lang="ja-JP" altLang="en-US" sz="1400" dirty="0"/>
              <a:t>3. ユーザーのログオン時</a:t>
            </a:r>
          </a:p>
          <a:p>
            <a:pPr algn="l"/>
            <a:r>
              <a:rPr lang="ja-JP" altLang="en-US" sz="1400" dirty="0"/>
              <a:t>ユーザーがログオンすると、そのユーザーに割り当てられた GPO を取得し、</a:t>
            </a:r>
          </a:p>
          <a:p>
            <a:pPr algn="l"/>
            <a:r>
              <a:rPr lang="ja-JP" altLang="en-US" sz="1400" dirty="0"/>
              <a:t>デスクトップなどの設定を自動的に再構成します。</a:t>
            </a:r>
          </a:p>
          <a:p>
            <a:pPr algn="l"/>
            <a:r>
              <a:rPr lang="ja-JP" altLang="en-US" sz="1400" dirty="0"/>
              <a:t>こちらも 90 分ごとに変更をチェックし、必要に応じて再適用します。</a:t>
            </a:r>
          </a:p>
          <a:p>
            <a:pPr algn="l"/>
            <a:r>
              <a:rPr lang="ja-JP" altLang="en-US" sz="1400" dirty="0"/>
              <a:t>※一部の設定は再ログオンが必要ですが、多くは即時反映されます。</a:t>
            </a:r>
          </a:p>
          <a:p>
            <a:pPr algn="l"/>
            <a:endParaRPr lang="ja-JP" altLang="en-US" sz="1400" dirty="0"/>
          </a:p>
          <a:p>
            <a:pPr algn="l"/>
            <a:r>
              <a:rPr lang="ja-JP" altLang="en-US" sz="1400" dirty="0"/>
              <a:t>ドメインコントローラで GPO を確認する方法</a:t>
            </a:r>
          </a:p>
          <a:p>
            <a:pPr algn="l"/>
            <a:r>
              <a:rPr lang="ja-JP" altLang="en-US" sz="1400" dirty="0"/>
              <a:t>Active Directory ドメインコントローラでは、</a:t>
            </a:r>
          </a:p>
          <a:p>
            <a:pPr algn="l"/>
            <a:r>
              <a:rPr lang="ja-JP" altLang="en-US" sz="1400" dirty="0"/>
              <a:t>Default Domain Policy を次の手順で確認できます：</a:t>
            </a:r>
          </a:p>
          <a:p>
            <a:pPr algn="l"/>
            <a:r>
              <a:rPr lang="ja-JP" altLang="en-US" sz="1400" dirty="0"/>
              <a:t>1. 	Start</a:t>
            </a:r>
          </a:p>
          <a:p>
            <a:pPr algn="l"/>
            <a:r>
              <a:rPr lang="ja-JP" altLang="en-US" sz="1400" dirty="0"/>
              <a:t>2. 	Programs</a:t>
            </a:r>
          </a:p>
          <a:p>
            <a:pPr algn="l"/>
            <a:r>
              <a:rPr lang="ja-JP" altLang="en-US" sz="1400" dirty="0"/>
              <a:t>3. 	Administrative Tools</a:t>
            </a:r>
          </a:p>
          <a:p>
            <a:pPr algn="l"/>
            <a:r>
              <a:rPr lang="ja-JP" altLang="en-US" sz="1400" dirty="0"/>
              <a:t>4. 	Default Domain Policy</a:t>
            </a:r>
          </a:p>
          <a:p>
            <a:pPr algn="l"/>
            <a:r>
              <a:rPr lang="ja-JP" altLang="en-US" sz="1400" dirty="0"/>
              <a:t>または：</a:t>
            </a:r>
          </a:p>
          <a:p>
            <a:pPr algn="l"/>
            <a:r>
              <a:rPr lang="ja-JP" altLang="en-US" sz="1400" dirty="0"/>
              <a:t>1. 	「Active Directory Users and Computers」スナップインを開く</a:t>
            </a:r>
          </a:p>
          <a:p>
            <a:pPr algn="l"/>
            <a:r>
              <a:rPr lang="ja-JP" altLang="en-US" sz="1400" dirty="0"/>
              <a:t>2. 	ドメイン名を右クリック</a:t>
            </a:r>
          </a:p>
          <a:p>
            <a:pPr algn="l"/>
            <a:r>
              <a:rPr lang="ja-JP" altLang="en-US" sz="1400" dirty="0"/>
              <a:t>3. 	Properties</a:t>
            </a:r>
          </a:p>
          <a:p>
            <a:pPr algn="l"/>
            <a:r>
              <a:rPr lang="ja-JP" altLang="en-US" sz="1400" dirty="0"/>
              <a:t>4. 	Group Policy タブ</a:t>
            </a:r>
          </a:p>
          <a:p>
            <a:pPr algn="l"/>
            <a:r>
              <a:rPr lang="ja-JP" altLang="en-US" sz="1400" dirty="0"/>
              <a:t>5. 	Default Domain Policy を選択して Edit</a:t>
            </a:r>
          </a:p>
          <a:p>
            <a:pPr algn="l"/>
            <a:r>
              <a:rPr lang="ja-JP" altLang="en-US" sz="1400" dirty="0"/>
              <a:t>これは同じ GPO ですが、スナップインではすべてのプロパティが表示されます。</a:t>
            </a:r>
          </a:p>
          <a:p>
            <a:pPr algn="l"/>
            <a:endParaRPr lang="ja-JP" altLang="en-US" sz="1400" dirty="0"/>
          </a:p>
          <a:p>
            <a:pPr algn="l"/>
            <a:r>
              <a:rPr lang="ja-JP" altLang="en-US" sz="1400" dirty="0"/>
              <a:t>GPO 管理のベストプラクティス</a:t>
            </a:r>
          </a:p>
          <a:p>
            <a:pPr algn="l"/>
            <a:r>
              <a:rPr lang="ja-JP" altLang="en-US" sz="1400" dirty="0"/>
              <a:t>GPO はドメイン全体ではなく、通常は OU（Organizational Unit）単位で管理するのが推奨 されます。</a:t>
            </a:r>
          </a:p>
          <a:p>
            <a:pPr algn="l"/>
            <a:r>
              <a:rPr lang="ja-JP" altLang="en-US" sz="1400" dirty="0"/>
              <a:t>理由は、ドメイン内のすべてのシステムに同じ GPO を適用できるケースはほとんどないためです。</a:t>
            </a:r>
          </a:p>
          <a:p>
            <a:pPr algn="l"/>
            <a:endParaRPr lang="ja-JP" altLang="en-US" sz="1400" dirty="0"/>
          </a:p>
          <a:p>
            <a:pPr algn="l"/>
            <a:r>
              <a:rPr lang="ja-JP" altLang="en-US" sz="1400" dirty="0"/>
              <a:t>GPMC（Group Policy Management Console）による管理</a:t>
            </a:r>
          </a:p>
          <a:p>
            <a:pPr algn="l"/>
            <a:r>
              <a:rPr lang="ja-JP" altLang="en-US" sz="1400" dirty="0"/>
              <a:t>GPMC がインストールされている場合は、次のように操作します：</a:t>
            </a:r>
          </a:p>
          <a:p>
            <a:pPr algn="l"/>
            <a:r>
              <a:rPr lang="ja-JP" altLang="en-US" sz="1400" dirty="0"/>
              <a:t>1. 	フォレストをダブルクリック</a:t>
            </a:r>
          </a:p>
          <a:p>
            <a:pPr algn="l"/>
            <a:r>
              <a:rPr lang="ja-JP" altLang="en-US" sz="1400" dirty="0"/>
              <a:t>2. 	ドメインをダブルクリック</a:t>
            </a:r>
          </a:p>
          <a:p>
            <a:pPr algn="l"/>
            <a:r>
              <a:rPr lang="ja-JP" altLang="en-US" sz="1400" dirty="0"/>
              <a:t>3. 	Default Domain Policy を右クリック</a:t>
            </a:r>
          </a:p>
          <a:p>
            <a:pPr algn="l"/>
            <a:r>
              <a:rPr lang="ja-JP" altLang="en-US" sz="1400" dirty="0"/>
              <a:t>4. 	Edit</a:t>
            </a:r>
          </a:p>
          <a:p>
            <a:pPr algn="l"/>
            <a:r>
              <a:rPr lang="ja-JP" altLang="en-US" sz="1400" dirty="0"/>
              <a:t>GPMC は Windows Vista 以降に標準搭載されており、</a:t>
            </a:r>
          </a:p>
          <a:p>
            <a:pPr algn="l"/>
            <a:r>
              <a:rPr lang="ja-JP" altLang="en-US" sz="1400" dirty="0"/>
              <a:t>GPO に慣れてくると 主要な管理ツール になります。</a:t>
            </a:r>
          </a:p>
        </p:txBody>
      </p:sp>
      <p:pic>
        <p:nvPicPr>
          <p:cNvPr id="2" name="図 1">
            <a:extLst>
              <a:ext uri="{FF2B5EF4-FFF2-40B4-BE49-F238E27FC236}">
                <a16:creationId xmlns:a16="http://schemas.microsoft.com/office/drawing/2014/main" id="{97890CEF-2F39-43B9-BDFE-0B97A564B8AE}"/>
              </a:ext>
            </a:extLst>
          </p:cNvPr>
          <p:cNvPicPr>
            <a:picLocks noChangeAspect="1"/>
          </p:cNvPicPr>
          <p:nvPr/>
        </p:nvPicPr>
        <p:blipFill>
          <a:blip r:embed="rId2"/>
          <a:stretch>
            <a:fillRect/>
          </a:stretch>
        </p:blipFill>
        <p:spPr>
          <a:xfrm>
            <a:off x="549198" y="67732"/>
            <a:ext cx="5759603" cy="326813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89861"/>
            <a:ext cx="6852285" cy="6959601"/>
          </a:xfrm>
        </p:spPr>
        <p:txBody>
          <a:bodyPr>
            <a:normAutofit/>
          </a:bodyPr>
          <a:lstStyle/>
          <a:p>
            <a:pPr algn="l"/>
            <a:r>
              <a:rPr lang="ja-JP" altLang="en-US" sz="1400" dirty="0"/>
              <a:t>制御ネットワークに Active Directory（AD）を導入する場合、</a:t>
            </a:r>
          </a:p>
          <a:p>
            <a:pPr algn="l"/>
            <a:r>
              <a:rPr lang="ja-JP" altLang="en-US" sz="1400" dirty="0"/>
              <a:t>業務ネットワークとは完全に分離された独立ドメイン を使用すべきです。</a:t>
            </a:r>
          </a:p>
          <a:p>
            <a:pPr algn="l"/>
            <a:r>
              <a:rPr lang="ja-JP" altLang="en-US" sz="1400" dirty="0"/>
              <a:t>業務ネットワークと制御ネットワークの間に</a:t>
            </a:r>
          </a:p>
          <a:p>
            <a:pPr algn="l"/>
            <a:r>
              <a:rPr lang="ja-JP" altLang="en-US" sz="1400" dirty="0"/>
              <a:t>ドメインの関係（信頼関係や階層構造）を作ってしまうと、</a:t>
            </a:r>
          </a:p>
          <a:p>
            <a:pPr algn="l"/>
            <a:r>
              <a:rPr lang="ja-JP" altLang="en-US" sz="1400" dirty="0"/>
              <a:t>制御ネットワークに対するリスクが増大します。</a:t>
            </a:r>
          </a:p>
          <a:p>
            <a:pPr algn="l"/>
            <a:r>
              <a:rPr lang="ja-JP" altLang="en-US" sz="1400" dirty="0"/>
              <a:t>理由として：</a:t>
            </a:r>
          </a:p>
          <a:p>
            <a:pPr algn="l"/>
            <a:r>
              <a:rPr lang="ja-JP" altLang="en-US" sz="1400" dirty="0"/>
              <a:t>• 	制御ネットワークの境界に 多数の穴（通信例外） を開ける必要がある</a:t>
            </a:r>
          </a:p>
          <a:p>
            <a:pPr algn="l"/>
            <a:r>
              <a:rPr lang="ja-JP" altLang="en-US" sz="1400" dirty="0"/>
              <a:t>• 	業務ネットワーク側の障害が 制御プロセスの停止 を引き起こす可能性がある</a:t>
            </a:r>
          </a:p>
          <a:p>
            <a:pPr algn="l"/>
            <a:r>
              <a:rPr lang="ja-JP" altLang="en-US" sz="1400" dirty="0"/>
              <a:t>• 	業務ネットワークから制御ネットワークへの 攻撃経路が増える</a:t>
            </a:r>
          </a:p>
          <a:p>
            <a:pPr algn="l"/>
            <a:r>
              <a:rPr lang="ja-JP" altLang="en-US" sz="1400" dirty="0"/>
              <a:t>そのため、制御プロセスへの影響を最小にし、</a:t>
            </a:r>
          </a:p>
          <a:p>
            <a:pPr algn="l"/>
            <a:r>
              <a:rPr lang="ja-JP" altLang="en-US" sz="1400" dirty="0"/>
              <a:t>最も安全な構成は 完全に独立した AD ドメインを制御ネットワーク専用に構築すること です。</a:t>
            </a:r>
          </a:p>
          <a:p>
            <a:pPr algn="l"/>
            <a:endParaRPr lang="ja-JP" altLang="en-US" sz="1400" dirty="0"/>
          </a:p>
          <a:p>
            <a:pPr algn="l"/>
            <a:r>
              <a:rPr lang="ja-JP" altLang="en-US" sz="1400" dirty="0"/>
              <a:t>制御ネットワーク内で AD を使うメリット</a:t>
            </a:r>
          </a:p>
          <a:p>
            <a:pPr algn="l"/>
            <a:r>
              <a:rPr lang="ja-JP" altLang="en-US" sz="1400" dirty="0"/>
              <a:t>制御ネットワーク内で AD を利用する場合、</a:t>
            </a:r>
          </a:p>
          <a:p>
            <a:pPr algn="l"/>
            <a:r>
              <a:rPr lang="ja-JP" altLang="en-US" sz="1400" dirty="0"/>
              <a:t>ユーザーとワークステーションの AD グループ を作成できます。</a:t>
            </a:r>
          </a:p>
          <a:p>
            <a:pPr algn="l"/>
            <a:r>
              <a:rPr lang="ja-JP" altLang="en-US" sz="1400" dirty="0"/>
              <a:t>これにより：</a:t>
            </a:r>
          </a:p>
          <a:p>
            <a:pPr algn="l"/>
            <a:r>
              <a:rPr lang="ja-JP" altLang="en-US" sz="1400" dirty="0"/>
              <a:t>• 	どのユーザーがどのマシンにログインできるかを厳密に制御できる</a:t>
            </a:r>
          </a:p>
          <a:p>
            <a:pPr algn="l"/>
            <a:r>
              <a:rPr lang="ja-JP" altLang="en-US" sz="1400" dirty="0"/>
              <a:t>• 	制御インターフェースへのアクセスを 監査（audit） できる</a:t>
            </a:r>
          </a:p>
          <a:p>
            <a:pPr algn="l"/>
            <a:r>
              <a:rPr lang="ja-JP" altLang="en-US" sz="1400" dirty="0"/>
              <a:t>• 	ICS ソフトウェア側の認証機能が弱い場合でも、</a:t>
            </a:r>
          </a:p>
          <a:p>
            <a:pPr algn="l"/>
            <a:r>
              <a:rPr lang="ja-JP" altLang="en-US" sz="1400" dirty="0"/>
              <a:t>OS レベルでアクセス制御を強化 できる</a:t>
            </a:r>
          </a:p>
          <a:p>
            <a:pPr algn="l"/>
            <a:r>
              <a:rPr lang="ja-JP" altLang="en-US" sz="1400" dirty="0"/>
              <a:t>これは、ICS ソフトウェア自体に十分な認証機能がない場合に特に有効です。</a:t>
            </a:r>
          </a:p>
        </p:txBody>
      </p:sp>
      <p:pic>
        <p:nvPicPr>
          <p:cNvPr id="2" name="図 1">
            <a:extLst>
              <a:ext uri="{FF2B5EF4-FFF2-40B4-BE49-F238E27FC236}">
                <a16:creationId xmlns:a16="http://schemas.microsoft.com/office/drawing/2014/main" id="{33BC0A3C-AF38-4A9B-A5D3-2320B7256B94}"/>
              </a:ext>
            </a:extLst>
          </p:cNvPr>
          <p:cNvPicPr>
            <a:picLocks noChangeAspect="1"/>
          </p:cNvPicPr>
          <p:nvPr/>
        </p:nvPicPr>
        <p:blipFill>
          <a:blip r:embed="rId2"/>
          <a:stretch>
            <a:fillRect/>
          </a:stretch>
        </p:blipFill>
        <p:spPr>
          <a:xfrm>
            <a:off x="452667" y="135463"/>
            <a:ext cx="5952665" cy="336973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43866"/>
            <a:ext cx="6852285" cy="6312535"/>
          </a:xfrm>
        </p:spPr>
        <p:txBody>
          <a:bodyPr>
            <a:normAutofit/>
          </a:bodyPr>
          <a:lstStyle/>
          <a:p>
            <a:pPr algn="l"/>
            <a:r>
              <a:rPr lang="ja-JP" altLang="en-US" sz="1400" dirty="0"/>
              <a:t>References:</a:t>
            </a:r>
          </a:p>
          <a:p>
            <a:pPr algn="l"/>
            <a:r>
              <a:rPr lang="ja-JP" altLang="en-US" sz="1400" dirty="0"/>
              <a:t>• PAWs – https://goo.gl/gCAXaN</a:t>
            </a:r>
          </a:p>
          <a:p>
            <a:pPr algn="l"/>
            <a:r>
              <a:rPr lang="ja-JP" altLang="en-US" sz="1400" dirty="0"/>
              <a:t>• LAPS – https://goo.gl/WCp2wE</a:t>
            </a:r>
          </a:p>
          <a:p>
            <a:pPr algn="l"/>
            <a:r>
              <a:rPr lang="ja-JP" altLang="en-US" sz="1400" dirty="0"/>
              <a:t>• Exploit Guard – https://goo.gl/9TkJ19</a:t>
            </a:r>
          </a:p>
          <a:p>
            <a:pPr algn="l"/>
            <a:r>
              <a:rPr lang="ja-JP" altLang="en-US" sz="1400" dirty="0"/>
              <a:t>• Microsoft Defender for Endpoint – https://goo.gl/9EMPZU</a:t>
            </a:r>
          </a:p>
          <a:p>
            <a:pPr algn="l"/>
            <a:endParaRPr lang="ja-JP" altLang="en-US" sz="1400" dirty="0"/>
          </a:p>
        </p:txBody>
      </p:sp>
      <p:pic>
        <p:nvPicPr>
          <p:cNvPr id="2" name="図 1">
            <a:extLst>
              <a:ext uri="{FF2B5EF4-FFF2-40B4-BE49-F238E27FC236}">
                <a16:creationId xmlns:a16="http://schemas.microsoft.com/office/drawing/2014/main" id="{45A95C2C-9ED3-4C0C-A357-9329C63AA58E}"/>
              </a:ext>
            </a:extLst>
          </p:cNvPr>
          <p:cNvPicPr>
            <a:picLocks noChangeAspect="1"/>
          </p:cNvPicPr>
          <p:nvPr/>
        </p:nvPicPr>
        <p:blipFill>
          <a:blip r:embed="rId2"/>
          <a:stretch>
            <a:fillRect/>
          </a:stretch>
        </p:blipFill>
        <p:spPr>
          <a:xfrm>
            <a:off x="330801" y="135466"/>
            <a:ext cx="6196397" cy="3505201"/>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56D98081-1C89-4F9C-8535-ABA46D20F11E}"/>
              </a:ext>
            </a:extLst>
          </p:cNvPr>
          <p:cNvPicPr>
            <a:picLocks noChangeAspect="1"/>
          </p:cNvPicPr>
          <p:nvPr/>
        </p:nvPicPr>
        <p:blipFill>
          <a:blip r:embed="rId2"/>
          <a:stretch>
            <a:fillRect/>
          </a:stretch>
        </p:blipFill>
        <p:spPr>
          <a:xfrm>
            <a:off x="177799" y="135468"/>
            <a:ext cx="6502401" cy="3708196"/>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1379" y="3945464"/>
            <a:ext cx="6852285" cy="6312535"/>
          </a:xfrm>
        </p:spPr>
        <p:txBody>
          <a:bodyPr>
            <a:normAutofit/>
          </a:bodyPr>
          <a:lstStyle/>
          <a:p>
            <a:pPr algn="l"/>
            <a:r>
              <a:rPr lang="ja-JP" altLang="en-US" sz="1400" dirty="0"/>
              <a:t>Windows ファイアウォールの設定ツールには、</a:t>
            </a:r>
          </a:p>
          <a:p>
            <a:pPr algn="l"/>
            <a:r>
              <a:rPr lang="ja-JP" altLang="en-US" sz="1400" dirty="0"/>
              <a:t>Windows の設定画面からアクセスできます。</a:t>
            </a:r>
          </a:p>
          <a:p>
            <a:pPr algn="l"/>
            <a:r>
              <a:rPr lang="ja-JP" altLang="en-US" sz="1400" dirty="0"/>
              <a:t>または、[ファイル名を指定して実行] や コマンドプロンプト で</a:t>
            </a:r>
          </a:p>
          <a:p>
            <a:pPr algn="l"/>
            <a:r>
              <a:rPr lang="ja-JP" altLang="en-US" sz="1400" dirty="0"/>
              <a:t>wf.msc</a:t>
            </a:r>
          </a:p>
          <a:p>
            <a:pPr algn="l"/>
            <a:r>
              <a:rPr lang="ja-JP" altLang="en-US" sz="1400" dirty="0"/>
              <a:t>と入力して直接起動することもできます。</a:t>
            </a:r>
          </a:p>
        </p:txBody>
      </p:sp>
      <p:pic>
        <p:nvPicPr>
          <p:cNvPr id="2" name="図 1">
            <a:extLst>
              <a:ext uri="{FF2B5EF4-FFF2-40B4-BE49-F238E27FC236}">
                <a16:creationId xmlns:a16="http://schemas.microsoft.com/office/drawing/2014/main" id="{09405AB6-B3C4-4E23-BDBE-83AD2D9B0054}"/>
              </a:ext>
            </a:extLst>
          </p:cNvPr>
          <p:cNvPicPr>
            <a:picLocks noChangeAspect="1"/>
          </p:cNvPicPr>
          <p:nvPr/>
        </p:nvPicPr>
        <p:blipFill>
          <a:blip r:embed="rId2"/>
          <a:stretch>
            <a:fillRect/>
          </a:stretch>
        </p:blipFill>
        <p:spPr>
          <a:xfrm>
            <a:off x="157910" y="147532"/>
            <a:ext cx="6542180" cy="3708401"/>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860800"/>
            <a:ext cx="6852285" cy="6312535"/>
          </a:xfrm>
        </p:spPr>
        <p:txBody>
          <a:bodyPr>
            <a:normAutofit/>
          </a:bodyPr>
          <a:lstStyle/>
          <a:p>
            <a:pPr algn="l"/>
            <a:r>
              <a:rPr lang="ja-JP" altLang="en-US" sz="1400" dirty="0"/>
              <a:t>References:</a:t>
            </a:r>
          </a:p>
          <a:p>
            <a:pPr algn="l"/>
            <a:r>
              <a:rPr lang="ja-JP" altLang="en-US" sz="1400" dirty="0"/>
              <a:t>• List of PowerShell cmdlets for Windows Firewall – https://goo.gl/zx1dJo</a:t>
            </a:r>
          </a:p>
          <a:p>
            <a:pPr algn="l"/>
            <a:r>
              <a:rPr lang="ja-JP" altLang="en-US" sz="1400" dirty="0"/>
              <a:t>• Microsoft Windows Firewall Best Practices – https://goo.gl/SRxicZ</a:t>
            </a:r>
          </a:p>
        </p:txBody>
      </p:sp>
      <p:pic>
        <p:nvPicPr>
          <p:cNvPr id="2" name="図 1">
            <a:extLst>
              <a:ext uri="{FF2B5EF4-FFF2-40B4-BE49-F238E27FC236}">
                <a16:creationId xmlns:a16="http://schemas.microsoft.com/office/drawing/2014/main" id="{06B4B957-DE13-426D-920F-5C908B1EFF49}"/>
              </a:ext>
            </a:extLst>
          </p:cNvPr>
          <p:cNvPicPr>
            <a:picLocks noChangeAspect="1"/>
          </p:cNvPicPr>
          <p:nvPr/>
        </p:nvPicPr>
        <p:blipFill>
          <a:blip r:embed="rId2"/>
          <a:stretch>
            <a:fillRect/>
          </a:stretch>
        </p:blipFill>
        <p:spPr>
          <a:xfrm>
            <a:off x="262466" y="223731"/>
            <a:ext cx="6333068" cy="358986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742262"/>
            <a:ext cx="6852285" cy="5181601"/>
          </a:xfrm>
        </p:spPr>
        <p:txBody>
          <a:bodyPr>
            <a:normAutofit/>
          </a:bodyPr>
          <a:lstStyle/>
          <a:p>
            <a:pPr algn="l"/>
            <a:r>
              <a:rPr lang="ja-JP" altLang="en-US" sz="1400" dirty="0"/>
              <a:t>監査（Auditing）とフォレンジック（Forensics）は、</a:t>
            </a:r>
          </a:p>
          <a:p>
            <a:pPr algn="l"/>
            <a:r>
              <a:rPr lang="ja-JP" altLang="en-US" sz="1400" dirty="0"/>
              <a:t>セキュリティ管理者が頻繁に実施する 重要な業務 です。</a:t>
            </a:r>
          </a:p>
          <a:p>
            <a:pPr algn="l"/>
            <a:r>
              <a:rPr lang="ja-JP" altLang="en-US" sz="1400" dirty="0"/>
              <a:t>ICS 環境では特に、</a:t>
            </a:r>
          </a:p>
          <a:p>
            <a:pPr algn="l"/>
            <a:r>
              <a:rPr lang="ja-JP" altLang="en-US" sz="1400" dirty="0"/>
              <a:t>• 	セキュリティベースラインに対してシステムを監査すること</a:t>
            </a:r>
          </a:p>
          <a:p>
            <a:pPr algn="l"/>
            <a:r>
              <a:rPr lang="ja-JP" altLang="en-US" sz="1400" dirty="0"/>
              <a:t>• 	同種のシステム同士を比較監査し、差分を特定すること</a:t>
            </a:r>
          </a:p>
          <a:p>
            <a:pPr algn="l"/>
            <a:r>
              <a:rPr lang="ja-JP" altLang="en-US" sz="1400" dirty="0"/>
              <a:t>が効果的です。</a:t>
            </a:r>
          </a:p>
          <a:p>
            <a:pPr algn="l"/>
            <a:r>
              <a:rPr lang="ja-JP" altLang="en-US" sz="1400" dirty="0"/>
              <a:t>これにより、設定の逸脱や意図しない変更、潜在的な侵害の兆候を早期に発見できます。</a:t>
            </a:r>
          </a:p>
          <a:p>
            <a:pPr algn="l"/>
            <a:endParaRPr lang="ja-JP" altLang="en-US" sz="1400" dirty="0"/>
          </a:p>
          <a:p>
            <a:pPr algn="l"/>
            <a:r>
              <a:rPr lang="ja-JP" altLang="en-US" sz="1400" dirty="0"/>
              <a:t>補足：なぜ ICS では“比較監査”が有効なのか</a:t>
            </a:r>
          </a:p>
          <a:p>
            <a:pPr algn="l"/>
            <a:r>
              <a:rPr lang="ja-JP" altLang="en-US" sz="1400" dirty="0"/>
              <a:t>ICS の特徴として：</a:t>
            </a:r>
          </a:p>
          <a:p>
            <a:pPr algn="l"/>
            <a:r>
              <a:rPr lang="ja-JP" altLang="en-US" sz="1400" dirty="0"/>
              <a:t>• 	同じ型番・同じ用途の機器が多数存在する</a:t>
            </a:r>
          </a:p>
          <a:p>
            <a:pPr algn="l"/>
            <a:r>
              <a:rPr lang="ja-JP" altLang="en-US" sz="1400" dirty="0"/>
              <a:t>• 	変更管理が厳格で、構成が一定であるべき</a:t>
            </a:r>
          </a:p>
          <a:p>
            <a:pPr algn="l"/>
            <a:r>
              <a:rPr lang="ja-JP" altLang="en-US" sz="1400" dirty="0"/>
              <a:t>• 	1 台だけ設定が違うと、それが異常のサインになる</a:t>
            </a:r>
          </a:p>
          <a:p>
            <a:pPr algn="l"/>
            <a:r>
              <a:rPr lang="ja-JP" altLang="en-US" sz="1400" dirty="0"/>
              <a:t>という性質があります。</a:t>
            </a:r>
          </a:p>
          <a:p>
            <a:pPr algn="l"/>
            <a:r>
              <a:rPr lang="ja-JP" altLang="en-US" sz="1400" dirty="0"/>
              <a:t>そのため、「正常なシステム」と「対象システム」を比較するだけで異常が浮き彫りになる のが大きな利点です。</a:t>
            </a:r>
          </a:p>
        </p:txBody>
      </p:sp>
      <p:pic>
        <p:nvPicPr>
          <p:cNvPr id="2" name="図 1">
            <a:extLst>
              <a:ext uri="{FF2B5EF4-FFF2-40B4-BE49-F238E27FC236}">
                <a16:creationId xmlns:a16="http://schemas.microsoft.com/office/drawing/2014/main" id="{BCC051B8-D2DA-4200-990A-7CCBDD4C90F9}"/>
              </a:ext>
            </a:extLst>
          </p:cNvPr>
          <p:cNvPicPr>
            <a:picLocks noChangeAspect="1"/>
          </p:cNvPicPr>
          <p:nvPr/>
        </p:nvPicPr>
        <p:blipFill>
          <a:blip r:embed="rId2"/>
          <a:stretch>
            <a:fillRect/>
          </a:stretch>
        </p:blipFill>
        <p:spPr>
          <a:xfrm>
            <a:off x="341565" y="135464"/>
            <a:ext cx="6169151" cy="35052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403602"/>
            <a:ext cx="6852285" cy="8686800"/>
          </a:xfrm>
        </p:spPr>
        <p:txBody>
          <a:bodyPr>
            <a:normAutofit fontScale="82500" lnSpcReduction="20000"/>
          </a:bodyPr>
          <a:lstStyle/>
          <a:p>
            <a:pPr algn="l"/>
            <a:r>
              <a:rPr lang="ja-JP" altLang="en-US" sz="1400" dirty="0"/>
              <a:t>Microsoft PowerShell は、スクリプト言語 と コマンドシェル の両方の名前です。</a:t>
            </a:r>
          </a:p>
          <a:p>
            <a:pPr algn="l"/>
            <a:r>
              <a:rPr lang="ja-JP" altLang="en-US" sz="1400" dirty="0"/>
              <a:t>PowerShell は Windows における「コマンドシェル」として、ほぼ CMD.EXE に取って代わりました。</a:t>
            </a:r>
          </a:p>
          <a:p>
            <a:pPr algn="l"/>
            <a:r>
              <a:rPr lang="ja-JP" altLang="en-US" sz="1400" dirty="0"/>
              <a:t>PowerShell の狙いは、</a:t>
            </a:r>
          </a:p>
          <a:p>
            <a:pPr algn="l"/>
            <a:r>
              <a:rPr lang="ja-JP" altLang="en-US" sz="1400" dirty="0"/>
              <a:t>Unix/Linux のどのシェルよりも優れた Windows シェルを作ること</a:t>
            </a:r>
          </a:p>
          <a:p>
            <a:pPr algn="l"/>
            <a:r>
              <a:rPr lang="ja-JP" altLang="en-US" sz="1400" dirty="0"/>
              <a:t>であり、実際にその目標にかなり近づいています。</a:t>
            </a:r>
          </a:p>
          <a:p>
            <a:pPr algn="l"/>
            <a:endParaRPr lang="ja-JP" altLang="en-US" sz="1400" dirty="0"/>
          </a:p>
          <a:p>
            <a:pPr algn="l"/>
            <a:r>
              <a:rPr lang="ja-JP" altLang="en-US" sz="1400" dirty="0"/>
              <a:t>PowerShell の提供状況</a:t>
            </a:r>
          </a:p>
          <a:p>
            <a:pPr algn="l"/>
            <a:r>
              <a:rPr lang="ja-JP" altLang="en-US" sz="1400" dirty="0"/>
              <a:t>PowerShell は以下で利用できます：</a:t>
            </a:r>
          </a:p>
          <a:p>
            <a:pPr algn="l"/>
            <a:r>
              <a:rPr lang="ja-JP" altLang="en-US" sz="1400" dirty="0"/>
              <a:t>• 	Windows Server 2008</a:t>
            </a:r>
          </a:p>
          <a:p>
            <a:pPr algn="l"/>
            <a:r>
              <a:rPr lang="ja-JP" altLang="en-US" sz="1400" dirty="0"/>
              <a:t>• 	Windows 7 以降</a:t>
            </a:r>
          </a:p>
          <a:p>
            <a:pPr algn="l"/>
            <a:r>
              <a:rPr lang="ja-JP" altLang="en-US" sz="1400" dirty="0"/>
              <a:t>• 	Windows XP SP2 / Windows Server 2003 SP1 / Vista SP0 以降にもインストール可能</a:t>
            </a:r>
          </a:p>
          <a:p>
            <a:pPr algn="l"/>
            <a:r>
              <a:rPr lang="ja-JP" altLang="en-US" sz="1400" dirty="0"/>
              <a:t>サンプルスクリプトとともにダウンロードできます。</a:t>
            </a:r>
          </a:p>
          <a:p>
            <a:pPr algn="l"/>
            <a:endParaRPr lang="ja-JP" altLang="en-US" sz="1400" dirty="0"/>
          </a:p>
          <a:p>
            <a:pPr algn="l"/>
            <a:r>
              <a:rPr lang="ja-JP" altLang="en-US" sz="1400" dirty="0"/>
              <a:t>cmdlet とパイプライン（PowerShell の核心）</a:t>
            </a:r>
          </a:p>
          <a:p>
            <a:pPr algn="l"/>
            <a:r>
              <a:rPr lang="ja-JP" altLang="en-US" sz="1400" dirty="0"/>
              <a:t>PowerShell 内で実行されるツールは cmdlet（コマンドレット） と呼ばれます。</a:t>
            </a:r>
          </a:p>
          <a:p>
            <a:pPr algn="l"/>
            <a:r>
              <a:rPr lang="ja-JP" altLang="en-US" sz="1400" dirty="0"/>
              <a:t>PowerShell の最も重要な特徴は：</a:t>
            </a:r>
          </a:p>
          <a:p>
            <a:pPr algn="l"/>
            <a:r>
              <a:rPr lang="ja-JP" altLang="en-US" sz="1400" dirty="0"/>
              <a:t>• 	cmdlet が テキストだけでなくオブジェクトをパイプできる</a:t>
            </a:r>
          </a:p>
          <a:p>
            <a:pPr algn="l"/>
            <a:r>
              <a:rPr lang="ja-JP" altLang="en-US" sz="1400" dirty="0"/>
              <a:t>• 	パイプラインを通じて、オブジェクトの プロパティやメソッド を次の cmdlet に渡せる</a:t>
            </a:r>
          </a:p>
          <a:p>
            <a:pPr algn="l"/>
            <a:r>
              <a:rPr lang="ja-JP" altLang="en-US" sz="1400" dirty="0"/>
              <a:t>Unix/Linux のパイプが「テキストの受け渡し」であるのに対し、</a:t>
            </a:r>
          </a:p>
          <a:p>
            <a:pPr algn="l"/>
            <a:r>
              <a:rPr lang="ja-JP" altLang="en-US" sz="1400" dirty="0"/>
              <a:t>PowerShell は 完全にオブジェクト指向 であり</a:t>
            </a:r>
            <a:r>
              <a:rPr lang="ja-JP" altLang="en-US" sz="1400" dirty="0" err="1"/>
              <a:t>、.</a:t>
            </a:r>
            <a:r>
              <a:rPr lang="ja-JP" altLang="en-US" sz="1400" dirty="0"/>
              <a:t>NET Framework の上に構築されています。</a:t>
            </a:r>
          </a:p>
          <a:p>
            <a:pPr algn="l"/>
            <a:endParaRPr lang="ja-JP" altLang="en-US" sz="1400" dirty="0"/>
          </a:p>
          <a:p>
            <a:pPr algn="l"/>
            <a:r>
              <a:rPr lang="ja-JP" altLang="en-US" sz="1400" dirty="0"/>
              <a:t>PowerShell の“場所”の概念</a:t>
            </a:r>
          </a:p>
          <a:p>
            <a:pPr algn="l"/>
            <a:r>
              <a:rPr lang="ja-JP" altLang="en-US" sz="1400" dirty="0"/>
              <a:t>CMD.EXE では、通常  のような ディレクトリ の中にいます。</a:t>
            </a:r>
          </a:p>
          <a:p>
            <a:pPr algn="l"/>
            <a:r>
              <a:rPr lang="ja-JP" altLang="en-US" sz="1400" dirty="0"/>
              <a:t>PowerShell ではディレクトリに加えて：</a:t>
            </a:r>
          </a:p>
          <a:p>
            <a:pPr algn="l"/>
            <a:r>
              <a:rPr lang="ja-JP" altLang="en-US" sz="1400" dirty="0"/>
              <a:t>• 	レジストリ</a:t>
            </a:r>
          </a:p>
          <a:p>
            <a:pPr algn="l"/>
            <a:r>
              <a:rPr lang="ja-JP" altLang="en-US" sz="1400" dirty="0"/>
              <a:t>• 	IIS メタベース</a:t>
            </a:r>
          </a:p>
          <a:p>
            <a:pPr algn="l"/>
            <a:r>
              <a:rPr lang="ja-JP" altLang="en-US" sz="1400" dirty="0"/>
              <a:t>• 	Active Directory</a:t>
            </a:r>
          </a:p>
          <a:p>
            <a:pPr algn="l"/>
            <a:r>
              <a:rPr lang="ja-JP" altLang="en-US" sz="1400" dirty="0"/>
              <a:t>• 	その他の階層構造データ</a:t>
            </a:r>
          </a:p>
          <a:p>
            <a:pPr algn="l"/>
            <a:r>
              <a:rPr lang="ja-JP" altLang="en-US" sz="1400" dirty="0"/>
              <a:t>の中に「いる」ことができます。</a:t>
            </a:r>
          </a:p>
          <a:p>
            <a:pPr algn="l"/>
            <a:r>
              <a:rPr lang="ja-JP" altLang="en-US" sz="1400" dirty="0"/>
              <a:t>つまり、フォルダ内のオブジェクト列挙も、レジストリキーの列挙も、OU の列挙も、</a:t>
            </a:r>
          </a:p>
          <a:p>
            <a:pPr algn="l"/>
            <a:r>
              <a:rPr lang="ja-JP" altLang="en-US" sz="1400" dirty="0"/>
              <a:t>PowerShell では同じ操作として扱える のが大きな特徴です。</a:t>
            </a:r>
          </a:p>
          <a:p>
            <a:pPr algn="l"/>
            <a:endParaRPr lang="ja-JP" altLang="en-US" sz="1400" dirty="0"/>
          </a:p>
          <a:p>
            <a:pPr algn="l"/>
            <a:r>
              <a:rPr lang="ja-JP" altLang="en-US" sz="1400" dirty="0"/>
              <a:t>セキュリティ上の推奨事項：未署名スクリプトの実行禁止</a:t>
            </a:r>
          </a:p>
          <a:p>
            <a:pPr algn="l"/>
            <a:r>
              <a:rPr lang="ja-JP" altLang="en-US" sz="1400" dirty="0"/>
              <a:t>ホスト上では、未署名の PowerShell スクリプトの実行を禁止することが推奨 されています。</a:t>
            </a:r>
          </a:p>
          <a:p>
            <a:pPr algn="l"/>
            <a:r>
              <a:rPr lang="ja-JP" altLang="en-US" sz="1400" dirty="0"/>
              <a:t>これは、マルウェアや不正スクリプトの実行を防ぐために非常に重要です。</a:t>
            </a:r>
          </a:p>
          <a:p>
            <a:pPr algn="l"/>
            <a:r>
              <a:rPr lang="ja-JP" altLang="en-US" sz="1400" dirty="0"/>
              <a:t>設定方法については、以下のドキュメントで解説されています（米国 DoD のガイダンス）：</a:t>
            </a:r>
          </a:p>
          <a:p>
            <a:pPr algn="l"/>
            <a:r>
              <a:rPr lang="ja-JP" altLang="en-US" sz="1400" dirty="0"/>
              <a:t>• 	PowerShell Security Measures（PDF）</a:t>
            </a:r>
          </a:p>
        </p:txBody>
      </p:sp>
      <p:pic>
        <p:nvPicPr>
          <p:cNvPr id="2" name="図 1">
            <a:extLst>
              <a:ext uri="{FF2B5EF4-FFF2-40B4-BE49-F238E27FC236}">
                <a16:creationId xmlns:a16="http://schemas.microsoft.com/office/drawing/2014/main" id="{CA3D561F-7012-4422-B8E3-D4E4F5A35001}"/>
              </a:ext>
            </a:extLst>
          </p:cNvPr>
          <p:cNvPicPr>
            <a:picLocks noChangeAspect="1"/>
          </p:cNvPicPr>
          <p:nvPr/>
        </p:nvPicPr>
        <p:blipFill>
          <a:blip r:embed="rId2"/>
          <a:stretch>
            <a:fillRect/>
          </a:stretch>
        </p:blipFill>
        <p:spPr>
          <a:xfrm>
            <a:off x="626533" y="101598"/>
            <a:ext cx="5604933" cy="318888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031066"/>
            <a:ext cx="3429001" cy="9160934"/>
          </a:xfrm>
        </p:spPr>
        <p:txBody>
          <a:bodyPr>
            <a:noAutofit/>
          </a:bodyPr>
          <a:lstStyle/>
          <a:p>
            <a:pPr algn="l"/>
            <a:r>
              <a:rPr lang="ja-JP" altLang="en-US" sz="1400" dirty="0"/>
              <a:t>Windows XP 以降には WMIC.EXE（Windows Management Instrumentation Console） というコマンドラインツールが含まれています。これは、非常に幅広い設定項目の情報取得・設定ができる、管理者のスイスアーミーナイフ のような存在です。</a:t>
            </a:r>
          </a:p>
          <a:p>
            <a:pPr algn="l"/>
            <a:r>
              <a:rPr lang="ja-JP" altLang="en-US" sz="1400" dirty="0"/>
              <a:t>基本例：適用済み Service Pack の確認</a:t>
            </a:r>
          </a:p>
          <a:p>
            <a:pPr algn="l"/>
            <a:r>
              <a:rPr lang="ja-JP" altLang="en-US" sz="1400" dirty="0"/>
              <a:t>このコマンドで、最後に適用された Service Pack の番号を取得できます。</a:t>
            </a:r>
          </a:p>
          <a:p>
            <a:pPr algn="l"/>
            <a:r>
              <a:rPr lang="ja-JP" altLang="en-US" sz="1400" dirty="0"/>
              <a:t>wmic.exe os get ServicePackMajorVersion</a:t>
            </a:r>
          </a:p>
          <a:p>
            <a:pPr algn="l"/>
            <a:r>
              <a:rPr lang="ja-JP" altLang="en-US" sz="1400" dirty="0"/>
              <a:t>リモートシステムへのアクセス（/node スイッチ）WMIC は リモートマシン に対しても実行できます。</a:t>
            </a:r>
          </a:p>
          <a:p>
            <a:pPr algn="l"/>
            <a:r>
              <a:rPr lang="ja-JP" altLang="en-US" sz="1400" dirty="0"/>
              <a:t>例：IP アドレス 10.4.2.2 の共有フォルダ一覧を取得</a:t>
            </a:r>
          </a:p>
          <a:p>
            <a:pPr algn="l"/>
            <a:r>
              <a:rPr lang="ja-JP" altLang="en-US" sz="1400" dirty="0"/>
              <a:t>wmic.exe /node:10.4.2.2 SHARE list brief</a:t>
            </a:r>
          </a:p>
          <a:p>
            <a:pPr algn="l"/>
            <a:r>
              <a:rPr lang="ja-JP" altLang="en-US" sz="1400" dirty="0"/>
              <a:t>※共有フォルダは CIFS（TCP 445）を使用するため、ファイアウォールでブロックされている可能性があります。</a:t>
            </a:r>
          </a:p>
          <a:p>
            <a:pPr algn="l"/>
            <a:endParaRPr lang="ja-JP" altLang="en-US" sz="1400" dirty="0"/>
          </a:p>
          <a:p>
            <a:pPr algn="l"/>
            <a:r>
              <a:rPr lang="ja-JP" altLang="en-US" sz="1400" dirty="0"/>
              <a:t>起動時に自動実行されるプログラム一覧の取得</a:t>
            </a:r>
          </a:p>
          <a:p>
            <a:pPr algn="l"/>
            <a:r>
              <a:rPr lang="ja-JP" altLang="en-US" sz="1400" dirty="0"/>
              <a:t>wmic.exe /node:10.4.2.2 STARTUP list full</a:t>
            </a:r>
          </a:p>
          <a:p>
            <a:pPr algn="l"/>
            <a:r>
              <a:rPr lang="ja-JP" altLang="en-US" sz="1400" dirty="0"/>
              <a:t>これはレジストリの「Run」キーに登録されたプログラム一覧を取得します。</a:t>
            </a:r>
          </a:p>
          <a:p>
            <a:pPr algn="l"/>
            <a:endParaRPr lang="ja-JP" altLang="en-US" sz="1400" dirty="0"/>
          </a:p>
          <a:p>
            <a:pPr algn="l"/>
            <a:r>
              <a:rPr lang="ja-JP" altLang="en-US" sz="1400" dirty="0"/>
              <a:t>WMIC の使い方の基本パターン</a:t>
            </a:r>
          </a:p>
          <a:p>
            <a:pPr algn="l"/>
            <a:r>
              <a:rPr lang="ja-JP" altLang="en-US" sz="1400" dirty="0"/>
              <a:t>WMIC では、以下の 2 種類の操作ができます：</a:t>
            </a:r>
          </a:p>
          <a:p>
            <a:pPr algn="l"/>
            <a:r>
              <a:rPr lang="ja-JP" altLang="en-US" sz="1400" dirty="0"/>
              <a:t>1. 特定の値を取得する</a:t>
            </a:r>
          </a:p>
          <a:p>
            <a:pPr algn="l"/>
            <a:r>
              <a:rPr lang="ja-JP" altLang="en-US" sz="1400" dirty="0"/>
              <a:t>例：OS カテゴリから Service Pack のメジャーバージョンだけ取得</a:t>
            </a:r>
          </a:p>
          <a:p>
            <a:pPr algn="l"/>
            <a:r>
              <a:rPr lang="ja-JP" altLang="en-US" sz="1400" dirty="0"/>
              <a:t>os get ServicePackMajorVersion</a:t>
            </a:r>
          </a:p>
          <a:p>
            <a:pPr algn="l"/>
            <a:r>
              <a:rPr lang="ja-JP" altLang="en-US" sz="1400" dirty="0"/>
              <a:t>2. カテゴリ全体を一覧表示する</a:t>
            </a:r>
          </a:p>
          <a:p>
            <a:pPr algn="l"/>
            <a:r>
              <a:rPr lang="ja-JP" altLang="en-US" sz="1400" dirty="0"/>
              <a:t>例：共有フォルダの一覧（簡易表示）</a:t>
            </a:r>
          </a:p>
          <a:p>
            <a:pPr algn="l"/>
            <a:r>
              <a:rPr lang="ja-JP" altLang="en-US" sz="1400" dirty="0"/>
              <a:t>SHARE list brief</a:t>
            </a:r>
          </a:p>
        </p:txBody>
      </p:sp>
      <p:pic>
        <p:nvPicPr>
          <p:cNvPr id="2" name="図 1">
            <a:extLst>
              <a:ext uri="{FF2B5EF4-FFF2-40B4-BE49-F238E27FC236}">
                <a16:creationId xmlns:a16="http://schemas.microsoft.com/office/drawing/2014/main" id="{1CA90753-C09E-4F99-9842-67C47C9F7CA2}"/>
              </a:ext>
            </a:extLst>
          </p:cNvPr>
          <p:cNvPicPr>
            <a:picLocks noChangeAspect="1"/>
          </p:cNvPicPr>
          <p:nvPr/>
        </p:nvPicPr>
        <p:blipFill>
          <a:blip r:embed="rId2"/>
          <a:stretch>
            <a:fillRect/>
          </a:stretch>
        </p:blipFill>
        <p:spPr>
          <a:xfrm>
            <a:off x="856491" y="84668"/>
            <a:ext cx="5145017" cy="2912533"/>
          </a:xfrm>
          <a:prstGeom prst="rect">
            <a:avLst/>
          </a:prstGeom>
        </p:spPr>
      </p:pic>
      <p:sp>
        <p:nvSpPr>
          <p:cNvPr id="4" name="サブタイトル 2">
            <a:extLst>
              <a:ext uri="{FF2B5EF4-FFF2-40B4-BE49-F238E27FC236}">
                <a16:creationId xmlns:a16="http://schemas.microsoft.com/office/drawing/2014/main" id="{40F0D5A0-EE2F-4AF3-8002-8ADFB864D91D}"/>
              </a:ext>
            </a:extLst>
          </p:cNvPr>
          <p:cNvSpPr txBox="1">
            <a:spLocks/>
          </p:cNvSpPr>
          <p:nvPr/>
        </p:nvSpPr>
        <p:spPr>
          <a:xfrm>
            <a:off x="3429000" y="3098799"/>
            <a:ext cx="3429002" cy="821266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利用可能なカテゴリの確認</a:t>
            </a:r>
          </a:p>
          <a:p>
            <a:pPr algn="l"/>
            <a:r>
              <a:rPr lang="ja-JP" altLang="en-US" sz="1400" dirty="0"/>
              <a:t>wmic.exe /?</a:t>
            </a:r>
          </a:p>
          <a:p>
            <a:pPr algn="l"/>
            <a:r>
              <a:rPr lang="ja-JP" altLang="en-US" sz="1400" dirty="0"/>
              <a:t>これを実行すると、利用可能なカテゴリ（OS、SHARE、STARTUP など）が表示されます。</a:t>
            </a:r>
          </a:p>
          <a:p>
            <a:pPr algn="l"/>
            <a:r>
              <a:rPr lang="ja-JP" altLang="en-US" sz="1400" dirty="0"/>
              <a:t>カテゴリが分かったら：</a:t>
            </a:r>
          </a:p>
          <a:p>
            <a:pPr algn="l"/>
            <a:r>
              <a:rPr lang="ja-JP" altLang="en-US" sz="1400" dirty="0"/>
              <a:t>wmic.exe &lt;categoryname&gt; list full</a:t>
            </a:r>
          </a:p>
          <a:p>
            <a:pPr algn="l"/>
            <a:r>
              <a:rPr lang="ja-JP" altLang="en-US" sz="1400" dirty="0"/>
              <a:t>で、そのカテゴリのすべての情報を取得できます。</a:t>
            </a:r>
          </a:p>
          <a:p>
            <a:pPr algn="l"/>
            <a:endParaRPr lang="ja-JP" altLang="en-US" sz="1400" dirty="0"/>
          </a:p>
          <a:p>
            <a:pPr algn="l"/>
            <a:r>
              <a:rPr lang="ja-JP" altLang="en-US" sz="1400" dirty="0"/>
              <a:t>SNAPSHOT.BAT について</a:t>
            </a:r>
          </a:p>
          <a:p>
            <a:pPr algn="l"/>
            <a:r>
              <a:rPr lang="ja-JP" altLang="en-US" sz="1400" dirty="0"/>
              <a:t>この章の後半には、WMIC を多用して情報を収集する</a:t>
            </a:r>
          </a:p>
          <a:p>
            <a:pPr algn="l"/>
            <a:r>
              <a:rPr lang="ja-JP" altLang="en-US" sz="1400" dirty="0"/>
              <a:t>SNAPSHOT.BAT というバッチスクリプトが紹介されています。</a:t>
            </a:r>
          </a:p>
          <a:p>
            <a:pPr algn="l"/>
            <a:r>
              <a:rPr lang="ja-JP" altLang="en-US" sz="1400" dirty="0"/>
              <a:t>WMIC の実践的な使い方の参考になります。</a:t>
            </a:r>
          </a:p>
          <a:p>
            <a:pPr algn="l"/>
            <a:endParaRPr lang="ja-JP" altLang="en-US" sz="1400" dirty="0"/>
          </a:p>
          <a:p>
            <a:pPr algn="l"/>
            <a:r>
              <a:rPr lang="ja-JP" altLang="en-US" sz="1400" dirty="0"/>
              <a:t>補足：ICS/OT での WMIC の価値</a:t>
            </a:r>
          </a:p>
          <a:p>
            <a:pPr algn="l"/>
            <a:r>
              <a:rPr lang="ja-JP" altLang="en-US" sz="1400" dirty="0"/>
              <a:t>ICS/OT 環境では：</a:t>
            </a:r>
          </a:p>
          <a:p>
            <a:pPr algn="l"/>
            <a:r>
              <a:rPr lang="ja-JP" altLang="en-US" sz="1400" dirty="0"/>
              <a:t>• 	ネットワークが分離されている</a:t>
            </a:r>
          </a:p>
          <a:p>
            <a:pPr algn="l"/>
            <a:r>
              <a:rPr lang="ja-JP" altLang="en-US" sz="1400" dirty="0"/>
              <a:t>• 	エージェントを入れられない</a:t>
            </a:r>
          </a:p>
          <a:p>
            <a:pPr algn="l"/>
            <a:r>
              <a:rPr lang="ja-JP" altLang="en-US" sz="1400" dirty="0"/>
              <a:t>• 	GUI が使えない</a:t>
            </a:r>
          </a:p>
          <a:p>
            <a:pPr algn="l"/>
            <a:r>
              <a:rPr lang="ja-JP" altLang="en-US" sz="1400" dirty="0"/>
              <a:t>といった制約が多いため、WMIC のような エージェントレスでリモート情報収集できるツール は非常に有用です。</a:t>
            </a:r>
          </a:p>
          <a:p>
            <a:pPr algn="l"/>
            <a:r>
              <a:rPr lang="ja-JP" altLang="en-US" sz="1400" dirty="0"/>
              <a:t>特に：</a:t>
            </a:r>
          </a:p>
          <a:p>
            <a:pPr algn="l"/>
            <a:r>
              <a:rPr lang="ja-JP" altLang="en-US" sz="1400" dirty="0"/>
              <a:t>• 	起動プログラムの一覧</a:t>
            </a:r>
          </a:p>
          <a:p>
            <a:pPr algn="l"/>
            <a:r>
              <a:rPr lang="ja-JP" altLang="en-US" sz="1400" dirty="0"/>
              <a:t>• 	共有フォルダの確認</a:t>
            </a:r>
          </a:p>
          <a:p>
            <a:pPr algn="l"/>
            <a:r>
              <a:rPr lang="ja-JP" altLang="en-US" sz="1400" dirty="0"/>
              <a:t>• 	OS 情報の取得</a:t>
            </a:r>
          </a:p>
          <a:p>
            <a:pPr algn="l"/>
            <a:r>
              <a:rPr lang="ja-JP" altLang="en-US" sz="1400" dirty="0"/>
              <a:t>などは、インシデント対応や構成監査で頻繁に使われます。</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6" y="3031066"/>
            <a:ext cx="3584152" cy="7535334"/>
          </a:xfrm>
        </p:spPr>
        <p:txBody>
          <a:bodyPr>
            <a:noAutofit/>
          </a:bodyPr>
          <a:lstStyle/>
          <a:p>
            <a:pPr algn="l"/>
            <a:r>
              <a:rPr lang="ja-JP" altLang="en-US" sz="1000" dirty="0"/>
              <a:t>GPO（Group Policy Object）を使って、スクリプトを自動実行させることもできます。</a:t>
            </a:r>
          </a:p>
          <a:p>
            <a:pPr algn="l"/>
            <a:r>
              <a:rPr lang="ja-JP" altLang="en-US" sz="1000" dirty="0"/>
              <a:t>設定場所は次の 2 つです：</a:t>
            </a:r>
          </a:p>
          <a:p>
            <a:pPr algn="l"/>
            <a:r>
              <a:rPr lang="ja-JP" altLang="en-US" sz="1000" dirty="0"/>
              <a:t>- Computer Configuration &gt; Windows Settings &gt; Scripts</a:t>
            </a:r>
          </a:p>
          <a:p>
            <a:pPr algn="l"/>
            <a:r>
              <a:rPr lang="ja-JP" altLang="en-US" sz="1000" dirty="0"/>
              <a:t>- User Configuration &gt; Windows Settings &gt; Scripts</a:t>
            </a:r>
          </a:p>
          <a:p>
            <a:pPr algn="l"/>
            <a:r>
              <a:rPr lang="ja-JP" altLang="en-US" sz="1000" dirty="0"/>
              <a:t>GPO はマシンに対して 自動的にスクリプトを配布・実行 できます。</a:t>
            </a:r>
          </a:p>
          <a:p>
            <a:pPr algn="l"/>
            <a:r>
              <a:rPr lang="ja-JP" altLang="en-US" sz="1000" dirty="0"/>
              <a:t>また、GPO は OU（Organizational Unit）単位でリンク できるため、</a:t>
            </a:r>
          </a:p>
          <a:p>
            <a:pPr algn="l"/>
            <a:r>
              <a:rPr lang="ja-JP" altLang="en-US" sz="1000" dirty="0"/>
              <a:t>OU ごとに異なるスクリプトセットを割り当てることが可能です。</a:t>
            </a:r>
          </a:p>
          <a:p>
            <a:pPr algn="l"/>
            <a:r>
              <a:rPr lang="ja-JP" altLang="en-US" sz="1000" dirty="0"/>
              <a:t>スクリプトは以下のタイミングで実行できます：</a:t>
            </a:r>
          </a:p>
          <a:p>
            <a:pPr algn="l"/>
            <a:r>
              <a:rPr lang="ja-JP" altLang="en-US" sz="1000" dirty="0"/>
              <a:t>- Startup（起動時）</a:t>
            </a:r>
          </a:p>
          <a:p>
            <a:pPr algn="l"/>
            <a:r>
              <a:rPr lang="ja-JP" altLang="en-US" sz="1000" dirty="0"/>
              <a:t>- Shutdown（シャットダウン時）</a:t>
            </a:r>
          </a:p>
          <a:p>
            <a:pPr algn="l"/>
            <a:r>
              <a:rPr lang="ja-JP" altLang="en-US" sz="1000" dirty="0"/>
              <a:t>- Logon（ログオン時）</a:t>
            </a:r>
          </a:p>
          <a:p>
            <a:pPr algn="l"/>
            <a:r>
              <a:rPr lang="ja-JP" altLang="en-US" sz="1000" dirty="0"/>
              <a:t>- Logoff（ログオフ時）</a:t>
            </a:r>
          </a:p>
          <a:p>
            <a:pPr algn="l"/>
            <a:endParaRPr lang="ja-JP" altLang="en-US" sz="1000" dirty="0"/>
          </a:p>
          <a:p>
            <a:pPr algn="l"/>
            <a:r>
              <a:rPr lang="ja-JP" altLang="en-US" sz="1000" dirty="0"/>
              <a:t>使用できるスクリプト言語</a:t>
            </a:r>
          </a:p>
          <a:p>
            <a:pPr algn="l"/>
            <a:r>
              <a:rPr lang="ja-JP" altLang="en-US" sz="1000" dirty="0"/>
              <a:t>必要なインタープリタがインストールされていれば、どんな言語でも使用できます。</a:t>
            </a:r>
          </a:p>
          <a:p>
            <a:pPr algn="l"/>
            <a:r>
              <a:rPr lang="ja-JP" altLang="en-US" sz="1000" dirty="0"/>
              <a:t>Windows 2000 以降には以下が標準搭載されています：</a:t>
            </a:r>
          </a:p>
          <a:p>
            <a:pPr algn="l"/>
            <a:r>
              <a:rPr lang="ja-JP" altLang="en-US" sz="1000" dirty="0"/>
              <a:t>- バッチファイル（.bat / .cmd）</a:t>
            </a:r>
          </a:p>
          <a:p>
            <a:pPr algn="l"/>
            <a:r>
              <a:rPr lang="ja-JP" altLang="en-US" sz="1000" dirty="0"/>
              <a:t>- JScript</a:t>
            </a:r>
          </a:p>
          <a:p>
            <a:pPr algn="l"/>
            <a:r>
              <a:rPr lang="ja-JP" altLang="en-US" sz="1000" dirty="0"/>
              <a:t>- VBScript</a:t>
            </a:r>
          </a:p>
          <a:p>
            <a:pPr algn="l"/>
            <a:r>
              <a:rPr lang="ja-JP" altLang="en-US" sz="1000" dirty="0"/>
              <a:t>必要に応じて：</a:t>
            </a:r>
          </a:p>
          <a:p>
            <a:pPr algn="l"/>
            <a:r>
              <a:rPr lang="ja-JP" altLang="en-US" sz="1000" dirty="0"/>
              <a:t>- Perl</a:t>
            </a:r>
          </a:p>
          <a:p>
            <a:pPr algn="l"/>
            <a:r>
              <a:rPr lang="ja-JP" altLang="en-US" sz="1000" dirty="0"/>
              <a:t>- Python</a:t>
            </a:r>
          </a:p>
          <a:p>
            <a:pPr algn="l"/>
            <a:r>
              <a:rPr lang="ja-JP" altLang="en-US" sz="1000" dirty="0"/>
              <a:t>などのインタープリタも追加できます。</a:t>
            </a:r>
          </a:p>
          <a:p>
            <a:pPr algn="l"/>
            <a:r>
              <a:rPr lang="ja-JP" altLang="en-US" sz="1000" dirty="0"/>
              <a:t>デフォルトでは、以下の形式が一般的です：</a:t>
            </a:r>
          </a:p>
          <a:p>
            <a:pPr algn="l"/>
            <a:r>
              <a:rPr lang="ja-JP" altLang="en-US" sz="1000" dirty="0"/>
              <a:t>- PowerShell</a:t>
            </a:r>
          </a:p>
          <a:p>
            <a:pPr algn="l"/>
            <a:r>
              <a:rPr lang="ja-JP" altLang="en-US" sz="1000" dirty="0"/>
              <a:t>- VBScript</a:t>
            </a:r>
          </a:p>
          <a:p>
            <a:pPr algn="l"/>
            <a:r>
              <a:rPr lang="ja-JP" altLang="en-US" sz="1000" dirty="0"/>
              <a:t>- JScript</a:t>
            </a:r>
          </a:p>
          <a:p>
            <a:pPr algn="l"/>
            <a:r>
              <a:rPr lang="ja-JP" altLang="en-US" sz="1000" dirty="0"/>
              <a:t>- バッチファイル</a:t>
            </a:r>
          </a:p>
          <a:p>
            <a:pPr algn="l"/>
            <a:endParaRPr lang="ja-JP" altLang="en-US" sz="1000" dirty="0"/>
          </a:p>
          <a:p>
            <a:pPr algn="l"/>
            <a:r>
              <a:rPr lang="ja-JP" altLang="en-US" sz="1000" dirty="0"/>
              <a:t>実行コンテキストの違い（重要）</a:t>
            </a:r>
          </a:p>
        </p:txBody>
      </p:sp>
      <p:pic>
        <p:nvPicPr>
          <p:cNvPr id="2" name="図形 1"/>
          <p:cNvPicPr>
            <a:picLocks noChangeAspect="1"/>
          </p:cNvPicPr>
          <p:nvPr/>
        </p:nvPicPr>
        <p:blipFill>
          <a:blip r:embed="rId2"/>
          <a:stretch>
            <a:fillRect/>
          </a:stretch>
        </p:blipFill>
        <p:spPr>
          <a:xfrm>
            <a:off x="1080926" y="10495748"/>
            <a:ext cx="4696147" cy="1577234"/>
          </a:xfrm>
          <a:prstGeom prst="rect">
            <a:avLst/>
          </a:prstGeom>
        </p:spPr>
      </p:pic>
      <p:sp>
        <p:nvSpPr>
          <p:cNvPr id="4" name="テキストボックス 3"/>
          <p:cNvSpPr txBox="1"/>
          <p:nvPr/>
        </p:nvSpPr>
        <p:spPr>
          <a:xfrm>
            <a:off x="3589868" y="3031066"/>
            <a:ext cx="3262416" cy="4401205"/>
          </a:xfrm>
          <a:prstGeom prst="rect">
            <a:avLst/>
          </a:prstGeom>
          <a:noFill/>
          <a:ln>
            <a:noFill/>
          </a:ln>
        </p:spPr>
        <p:txBody>
          <a:bodyPr wrap="square" rtlCol="0" anchor="t">
            <a:spAutoFit/>
          </a:bodyPr>
          <a:lstStyle/>
          <a:p>
            <a:r>
              <a:rPr lang="en-US" sz="1000" dirty="0" err="1"/>
              <a:t>つまり</a:t>
            </a:r>
            <a:r>
              <a:rPr lang="en-US" sz="1000" dirty="0"/>
              <a:t>：</a:t>
            </a:r>
          </a:p>
          <a:p>
            <a:r>
              <a:rPr lang="en-US" sz="1000" dirty="0"/>
              <a:t>• 	Startup/Shutdown → </a:t>
            </a:r>
            <a:r>
              <a:rPr lang="en-US" sz="1000" dirty="0" err="1"/>
              <a:t>高権限（System）で実行</a:t>
            </a:r>
            <a:endParaRPr lang="en-US" sz="1000" dirty="0"/>
          </a:p>
          <a:p>
            <a:r>
              <a:rPr lang="en-US" sz="1000" dirty="0"/>
              <a:t>• 	Logon/Logoff → </a:t>
            </a:r>
            <a:r>
              <a:rPr lang="en-US" sz="1000" dirty="0" err="1"/>
              <a:t>ユーザー権限で実行</a:t>
            </a:r>
            <a:endParaRPr lang="en-US" sz="1000" dirty="0"/>
          </a:p>
          <a:p>
            <a:r>
              <a:rPr lang="en-US" sz="1000" dirty="0" err="1"/>
              <a:t>という明確な違いがあります</a:t>
            </a:r>
            <a:r>
              <a:rPr lang="en-US" sz="1000" dirty="0"/>
              <a:t>。</a:t>
            </a:r>
          </a:p>
          <a:p>
            <a:endParaRPr lang="en-US" sz="1000" dirty="0"/>
          </a:p>
          <a:p>
            <a:r>
              <a:rPr lang="en-US" sz="1000" dirty="0" err="1"/>
              <a:t>スクリプト数の制限はなし</a:t>
            </a:r>
            <a:endParaRPr lang="en-US" sz="1000" dirty="0"/>
          </a:p>
          <a:p>
            <a:r>
              <a:rPr lang="en-US" sz="1000" dirty="0"/>
              <a:t>• 	</a:t>
            </a:r>
            <a:r>
              <a:rPr lang="en-US" sz="1000" dirty="0" err="1"/>
              <a:t>各カテゴリに</a:t>
            </a:r>
            <a:r>
              <a:rPr lang="en-US" sz="1000" dirty="0"/>
              <a:t> </a:t>
            </a:r>
            <a:r>
              <a:rPr lang="en-US" sz="1000" dirty="0" err="1"/>
              <a:t>いくつでもスクリプトを追加可能</a:t>
            </a:r>
            <a:endParaRPr lang="en-US" sz="1000" dirty="0"/>
          </a:p>
          <a:p>
            <a:r>
              <a:rPr lang="en-US" sz="1000" dirty="0"/>
              <a:t>• 	</a:t>
            </a:r>
            <a:r>
              <a:rPr lang="en-US" sz="1000" dirty="0" err="1"/>
              <a:t>言語も</a:t>
            </a:r>
            <a:r>
              <a:rPr lang="en-US" sz="1000" dirty="0"/>
              <a:t> </a:t>
            </a:r>
            <a:r>
              <a:rPr lang="en-US" sz="1000" dirty="0" err="1"/>
              <a:t>混在可能</a:t>
            </a:r>
            <a:endParaRPr lang="en-US" sz="1000" dirty="0"/>
          </a:p>
          <a:p>
            <a:r>
              <a:rPr lang="en-US" sz="1000" dirty="0"/>
              <a:t>• 	</a:t>
            </a:r>
            <a:r>
              <a:rPr lang="en-US" sz="1000" dirty="0" err="1"/>
              <a:t>例：Logoff</a:t>
            </a:r>
            <a:r>
              <a:rPr lang="en-US" sz="1000" dirty="0"/>
              <a:t> </a:t>
            </a:r>
            <a:r>
              <a:rPr lang="en-US" sz="1000" dirty="0" err="1"/>
              <a:t>スクリプトに</a:t>
            </a:r>
            <a:endParaRPr lang="en-US" sz="1000" dirty="0"/>
          </a:p>
          <a:p>
            <a:r>
              <a:rPr lang="en-US" sz="1000" dirty="0"/>
              <a:t>• 	</a:t>
            </a:r>
            <a:r>
              <a:rPr lang="en-US" sz="1000" dirty="0" err="1"/>
              <a:t>バッチ</a:t>
            </a:r>
            <a:r>
              <a:rPr lang="en-US" sz="1000" dirty="0"/>
              <a:t> 1 本</a:t>
            </a:r>
          </a:p>
          <a:p>
            <a:r>
              <a:rPr lang="en-US" sz="1000" dirty="0"/>
              <a:t>• 	PowerShell 2 本</a:t>
            </a:r>
          </a:p>
          <a:p>
            <a:r>
              <a:rPr lang="en-US" sz="1000" dirty="0"/>
              <a:t>• 	VBScript 3 本</a:t>
            </a:r>
          </a:p>
          <a:p>
            <a:r>
              <a:rPr lang="en-US" sz="1000" dirty="0" err="1"/>
              <a:t>といった構成も可能</a:t>
            </a:r>
            <a:endParaRPr lang="en-US" sz="1000" dirty="0"/>
          </a:p>
          <a:p>
            <a:endParaRPr lang="en-US" sz="1000" dirty="0"/>
          </a:p>
          <a:p>
            <a:r>
              <a:rPr lang="en-US" sz="1000" dirty="0" err="1"/>
              <a:t>スクリプトで操作できる範囲</a:t>
            </a:r>
            <a:endParaRPr lang="en-US" sz="1000" dirty="0"/>
          </a:p>
          <a:p>
            <a:r>
              <a:rPr lang="en-US" sz="1000" dirty="0" err="1"/>
              <a:t>ほぼ</a:t>
            </a:r>
            <a:r>
              <a:rPr lang="en-US" sz="1000" dirty="0"/>
              <a:t> OS </a:t>
            </a:r>
            <a:r>
              <a:rPr lang="en-US" sz="1000" dirty="0" err="1"/>
              <a:t>のあらゆる部分をスクリプトで制御できます</a:t>
            </a:r>
            <a:r>
              <a:rPr lang="en-US" sz="1000" dirty="0"/>
              <a:t>：</a:t>
            </a:r>
          </a:p>
          <a:p>
            <a:r>
              <a:rPr lang="en-US" sz="1000" dirty="0"/>
              <a:t>• 	</a:t>
            </a:r>
            <a:r>
              <a:rPr lang="en-US" sz="1000" dirty="0" err="1"/>
              <a:t>ユーザ</a:t>
            </a:r>
            <a:r>
              <a:rPr lang="en-US" sz="1000" dirty="0"/>
              <a:t>ー / </a:t>
            </a:r>
            <a:r>
              <a:rPr lang="en-US" sz="1000" dirty="0" err="1"/>
              <a:t>グループ</a:t>
            </a:r>
            <a:endParaRPr lang="en-US" sz="1000" dirty="0"/>
          </a:p>
          <a:p>
            <a:r>
              <a:rPr lang="en-US" sz="1000" dirty="0"/>
              <a:t>• 	NTFS ACL</a:t>
            </a:r>
          </a:p>
          <a:p>
            <a:r>
              <a:rPr lang="en-US" sz="1000" dirty="0"/>
              <a:t>• 	</a:t>
            </a:r>
            <a:r>
              <a:rPr lang="en-US" sz="1000" dirty="0" err="1"/>
              <a:t>共有フォルダ</a:t>
            </a:r>
            <a:endParaRPr lang="en-US" sz="1000" dirty="0"/>
          </a:p>
          <a:p>
            <a:r>
              <a:rPr lang="en-US" sz="1000" dirty="0"/>
              <a:t>• 	</a:t>
            </a:r>
            <a:r>
              <a:rPr lang="en-US" sz="1000" dirty="0" err="1"/>
              <a:t>レジストリ</a:t>
            </a:r>
            <a:endParaRPr lang="en-US" sz="1000" dirty="0"/>
          </a:p>
          <a:p>
            <a:r>
              <a:rPr lang="en-US" sz="1000" dirty="0"/>
              <a:t>• 	IIS</a:t>
            </a:r>
          </a:p>
          <a:p>
            <a:r>
              <a:rPr lang="en-US" sz="1000" dirty="0"/>
              <a:t>• 	Office </a:t>
            </a:r>
            <a:r>
              <a:rPr lang="en-US" sz="1000" dirty="0" err="1"/>
              <a:t>アプリの設定</a:t>
            </a:r>
            <a:endParaRPr lang="en-US" sz="1000" dirty="0"/>
          </a:p>
          <a:p>
            <a:r>
              <a:rPr lang="en-US" sz="1000" dirty="0"/>
              <a:t>• 	</a:t>
            </a:r>
            <a:r>
              <a:rPr lang="en-US" sz="1000" dirty="0" err="1"/>
              <a:t>その他多数</a:t>
            </a:r>
            <a:endParaRPr lang="en-US" sz="1000" dirty="0"/>
          </a:p>
          <a:p>
            <a:r>
              <a:rPr lang="en-US" sz="1000" dirty="0" err="1"/>
              <a:t>つまり、GPO</a:t>
            </a:r>
            <a:r>
              <a:rPr lang="en-US" sz="1000" dirty="0"/>
              <a:t> </a:t>
            </a:r>
            <a:r>
              <a:rPr lang="en-US" sz="1000" dirty="0" err="1"/>
              <a:t>スクリプトは</a:t>
            </a:r>
            <a:r>
              <a:rPr lang="en-US" sz="1000" dirty="0"/>
              <a:t> </a:t>
            </a:r>
            <a:r>
              <a:rPr lang="en-US" sz="1000" dirty="0" err="1"/>
              <a:t>大規模な構成管理やハードニングに非常に強力</a:t>
            </a:r>
            <a:r>
              <a:rPr lang="en-US" sz="1000" dirty="0"/>
              <a:t> </a:t>
            </a:r>
            <a:r>
              <a:rPr lang="en-US" sz="1000" dirty="0" err="1"/>
              <a:t>です</a:t>
            </a:r>
            <a:r>
              <a:rPr lang="en-US" sz="1000" dirty="0"/>
              <a:t>。</a:t>
            </a:r>
          </a:p>
        </p:txBody>
      </p:sp>
      <p:pic>
        <p:nvPicPr>
          <p:cNvPr id="5" name="図 4">
            <a:extLst>
              <a:ext uri="{FF2B5EF4-FFF2-40B4-BE49-F238E27FC236}">
                <a16:creationId xmlns:a16="http://schemas.microsoft.com/office/drawing/2014/main" id="{89317620-C5E3-4329-B82F-FDA828112EC7}"/>
              </a:ext>
            </a:extLst>
          </p:cNvPr>
          <p:cNvPicPr>
            <a:picLocks noChangeAspect="1"/>
          </p:cNvPicPr>
          <p:nvPr/>
        </p:nvPicPr>
        <p:blipFill>
          <a:blip r:embed="rId3"/>
          <a:stretch>
            <a:fillRect/>
          </a:stretch>
        </p:blipFill>
        <p:spPr>
          <a:xfrm>
            <a:off x="939800" y="101598"/>
            <a:ext cx="4978400" cy="2829547"/>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A8738EE5-70E1-45BB-905E-149B7F2BFF51}"/>
              </a:ext>
            </a:extLst>
          </p:cNvPr>
          <p:cNvPicPr>
            <a:picLocks noChangeAspect="1"/>
          </p:cNvPicPr>
          <p:nvPr/>
        </p:nvPicPr>
        <p:blipFill>
          <a:blip r:embed="rId2"/>
          <a:stretch>
            <a:fillRect/>
          </a:stretch>
        </p:blipFill>
        <p:spPr>
          <a:xfrm>
            <a:off x="296333" y="138871"/>
            <a:ext cx="6265334" cy="3552596"/>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10BF4669-5505-44EA-B51B-CC4F5C74A411}"/>
              </a:ext>
            </a:extLst>
          </p:cNvPr>
          <p:cNvPicPr>
            <a:picLocks noChangeAspect="1"/>
          </p:cNvPicPr>
          <p:nvPr/>
        </p:nvPicPr>
        <p:blipFill>
          <a:blip r:embed="rId2"/>
          <a:stretch>
            <a:fillRect/>
          </a:stretch>
        </p:blipFill>
        <p:spPr>
          <a:xfrm>
            <a:off x="228600" y="172012"/>
            <a:ext cx="6400800" cy="3637988"/>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00E320D5-B663-4CB2-8575-6EEF8055ED4E}"/>
              </a:ext>
            </a:extLst>
          </p:cNvPr>
          <p:cNvPicPr>
            <a:picLocks noChangeAspect="1"/>
          </p:cNvPicPr>
          <p:nvPr/>
        </p:nvPicPr>
        <p:blipFill>
          <a:blip r:embed="rId2"/>
          <a:stretch>
            <a:fillRect/>
          </a:stretch>
        </p:blipFill>
        <p:spPr>
          <a:xfrm>
            <a:off x="194733" y="168926"/>
            <a:ext cx="6468533" cy="3658007"/>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40A4C76E-2743-4D0D-B1E7-316EC77C5485}"/>
              </a:ext>
            </a:extLst>
          </p:cNvPr>
          <p:cNvPicPr>
            <a:picLocks noChangeAspect="1"/>
          </p:cNvPicPr>
          <p:nvPr/>
        </p:nvPicPr>
        <p:blipFill>
          <a:blip r:embed="rId2"/>
          <a:stretch>
            <a:fillRect/>
          </a:stretch>
        </p:blipFill>
        <p:spPr>
          <a:xfrm>
            <a:off x="245533" y="158646"/>
            <a:ext cx="6366933" cy="360055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224362"/>
            <a:ext cx="3429000" cy="8764435"/>
          </a:xfrm>
        </p:spPr>
        <p:txBody>
          <a:bodyPr>
            <a:normAutofit lnSpcReduction="10000"/>
          </a:bodyPr>
          <a:lstStyle/>
          <a:p>
            <a:pPr algn="l"/>
            <a:r>
              <a:rPr lang="ja-JP" altLang="en-US" sz="1400" dirty="0"/>
              <a:t>制御プロセスを実行しているワークステーションやサーバーは、</a:t>
            </a:r>
          </a:p>
          <a:p>
            <a:pPr algn="l"/>
            <a:r>
              <a:rPr lang="ja-JP" altLang="en-US" sz="1400" dirty="0"/>
              <a:t>システム更新（パッチ適用）に対して非常に脆弱 です。</a:t>
            </a:r>
          </a:p>
          <a:p>
            <a:pPr algn="l"/>
            <a:r>
              <a:rPr lang="ja-JP" altLang="en-US" sz="1400" dirty="0"/>
              <a:t>多くの企業が ICS システムを更新しない理由は：</a:t>
            </a:r>
          </a:p>
          <a:p>
            <a:pPr algn="l"/>
            <a:r>
              <a:rPr lang="ja-JP" altLang="en-US" sz="1400" dirty="0"/>
              <a:t>• 	停止できない（高い稼働率要求）</a:t>
            </a:r>
          </a:p>
          <a:p>
            <a:pPr algn="l"/>
            <a:r>
              <a:rPr lang="ja-JP" altLang="en-US" sz="1400" dirty="0"/>
              <a:t>• 	パッチ適用後にプロセスが不安定になるリスク</a:t>
            </a:r>
          </a:p>
          <a:p>
            <a:pPr algn="l"/>
            <a:r>
              <a:rPr lang="ja-JP" altLang="en-US" sz="1400" dirty="0"/>
              <a:t>といった懸念があるためです。</a:t>
            </a:r>
          </a:p>
          <a:p>
            <a:pPr algn="l"/>
            <a:r>
              <a:rPr lang="ja-JP" altLang="en-US" sz="1400" dirty="0"/>
              <a:t>一般の IT 部門でさえパッチ適用には慎重ですが、</a:t>
            </a:r>
          </a:p>
          <a:p>
            <a:pPr algn="l"/>
            <a:r>
              <a:rPr lang="ja-JP" altLang="en-US" sz="1400" dirty="0"/>
              <a:t>ICS サポートチームはその倍以上慎重である必要があります。</a:t>
            </a:r>
          </a:p>
          <a:p>
            <a:pPr algn="l"/>
            <a:r>
              <a:rPr lang="ja-JP" altLang="en-US" sz="1400" dirty="0"/>
              <a:t>ICS の多くは テスト環境で完全に再現できない ため、</a:t>
            </a:r>
          </a:p>
          <a:p>
            <a:pPr algn="l"/>
            <a:r>
              <a:rPr lang="ja-JP" altLang="en-US" sz="1400" dirty="0"/>
              <a:t>パッチの十分な検証が難しいことも問題です。</a:t>
            </a:r>
          </a:p>
          <a:p>
            <a:pPr algn="l"/>
            <a:r>
              <a:rPr lang="ja-JP" altLang="en-US" sz="1400" dirty="0"/>
              <a:t>さらに ICS は 複数のシステムが相互依存する“システム・オブ・システムズ” であり、</a:t>
            </a:r>
          </a:p>
          <a:p>
            <a:pPr algn="l"/>
            <a:r>
              <a:rPr lang="ja-JP" altLang="en-US" sz="1400" dirty="0"/>
              <a:t>1 </a:t>
            </a:r>
            <a:r>
              <a:rPr lang="ja-JP" altLang="en-US" sz="1400" dirty="0" err="1"/>
              <a:t>つの</a:t>
            </a:r>
            <a:r>
              <a:rPr lang="ja-JP" altLang="en-US" sz="1400" dirty="0"/>
              <a:t>システムにパッチを当てると、他のシステムに影響が出ることがあります。</a:t>
            </a:r>
          </a:p>
          <a:p>
            <a:pPr algn="l"/>
            <a:r>
              <a:rPr lang="ja-JP" altLang="en-US" sz="1400" dirty="0"/>
              <a:t>課題は大きいですが、</a:t>
            </a:r>
          </a:p>
          <a:p>
            <a:pPr algn="l"/>
            <a:r>
              <a:rPr lang="ja-JP" altLang="en-US" sz="1400" dirty="0"/>
              <a:t>パッチを当てないリスク（脆弱性悪用による侵害）はさらに大きい という現実があります。</a:t>
            </a:r>
          </a:p>
          <a:p>
            <a:pPr algn="l"/>
            <a:endParaRPr lang="ja-JP" altLang="en-US" sz="1400" dirty="0"/>
          </a:p>
          <a:p>
            <a:pPr algn="l"/>
            <a:r>
              <a:rPr lang="ja-JP" altLang="en-US" sz="1400" dirty="0"/>
              <a:t>ICS のパッチ適用は一般 IT とは根本的に異なる</a:t>
            </a:r>
          </a:p>
          <a:p>
            <a:pPr algn="l"/>
            <a:r>
              <a:rPr lang="ja-JP" altLang="en-US" sz="1400" dirty="0"/>
              <a:t>ICS では 可用性が最優先 です。</a:t>
            </a:r>
          </a:p>
          <a:p>
            <a:pPr algn="l"/>
            <a:r>
              <a:rPr lang="ja-JP" altLang="en-US" sz="1400" dirty="0"/>
              <a:t>そのため、パッチ適用のためにシステムを停止すると：</a:t>
            </a:r>
          </a:p>
          <a:p>
            <a:pPr algn="l"/>
            <a:r>
              <a:rPr lang="ja-JP" altLang="en-US" sz="1400" dirty="0"/>
              <a:t>• 	最良のケースでも 冗長性が一時的に失われる</a:t>
            </a:r>
          </a:p>
          <a:p>
            <a:pPr algn="l"/>
            <a:r>
              <a:rPr lang="ja-JP" altLang="en-US" sz="1400" dirty="0"/>
              <a:t>• 	パッチが長引いたり、予期せぬ問題が起きると</a:t>
            </a:r>
          </a:p>
          <a:p>
            <a:pPr algn="l"/>
            <a:r>
              <a:rPr lang="ja-JP" altLang="en-US" sz="1400" dirty="0"/>
              <a:t>システムの安定性や生存性が損なわれる</a:t>
            </a:r>
          </a:p>
          <a:p>
            <a:pPr algn="l"/>
            <a:r>
              <a:rPr lang="ja-JP" altLang="en-US" sz="1400" dirty="0"/>
              <a:t>という重大な影響があります。</a:t>
            </a:r>
          </a:p>
        </p:txBody>
      </p:sp>
      <p:pic>
        <p:nvPicPr>
          <p:cNvPr id="2" name="図 1">
            <a:extLst>
              <a:ext uri="{FF2B5EF4-FFF2-40B4-BE49-F238E27FC236}">
                <a16:creationId xmlns:a16="http://schemas.microsoft.com/office/drawing/2014/main" id="{63F80A9E-1358-4398-8FC2-23A1E3A4957C}"/>
              </a:ext>
            </a:extLst>
          </p:cNvPr>
          <p:cNvPicPr>
            <a:picLocks noChangeAspect="1"/>
          </p:cNvPicPr>
          <p:nvPr/>
        </p:nvPicPr>
        <p:blipFill>
          <a:blip r:embed="rId2"/>
          <a:stretch>
            <a:fillRect/>
          </a:stretch>
        </p:blipFill>
        <p:spPr>
          <a:xfrm>
            <a:off x="694266" y="50796"/>
            <a:ext cx="5469467" cy="3088898"/>
          </a:xfrm>
          <a:prstGeom prst="rect">
            <a:avLst/>
          </a:prstGeom>
        </p:spPr>
      </p:pic>
      <p:sp>
        <p:nvSpPr>
          <p:cNvPr id="4" name="サブタイトル 2">
            <a:extLst>
              <a:ext uri="{FF2B5EF4-FFF2-40B4-BE49-F238E27FC236}">
                <a16:creationId xmlns:a16="http://schemas.microsoft.com/office/drawing/2014/main" id="{A77E1CF5-9BF0-4181-A849-55B5C51395FF}"/>
              </a:ext>
            </a:extLst>
          </p:cNvPr>
          <p:cNvSpPr txBox="1">
            <a:spLocks/>
          </p:cNvSpPr>
          <p:nvPr/>
        </p:nvSpPr>
        <p:spPr>
          <a:xfrm>
            <a:off x="3380950" y="3224362"/>
            <a:ext cx="3429000" cy="8916835"/>
          </a:xfrm>
          <a:prstGeom prst="rect">
            <a:avLst/>
          </a:prstGeom>
        </p:spPr>
        <p:txBody>
          <a:bodyPr vert="horz" lIns="91440" tIns="45720" rIns="91440" bIns="45720" rtlCol="0">
            <a:normAutofit fontScale="92500"/>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パッチの緊急度 vs. 導入リスク</a:t>
            </a:r>
          </a:p>
          <a:p>
            <a:pPr algn="l"/>
            <a:r>
              <a:rPr lang="ja-JP" altLang="en-US" sz="1400" dirty="0"/>
              <a:t>パッチの緊急性は、</a:t>
            </a:r>
          </a:p>
          <a:p>
            <a:pPr algn="l"/>
            <a:r>
              <a:rPr lang="ja-JP" altLang="en-US" sz="1400" dirty="0"/>
              <a:t>パッチ導入による潜在的な衝突や影響 と比較して慎重に判断する必要があります。</a:t>
            </a:r>
          </a:p>
          <a:p>
            <a:pPr algn="l"/>
            <a:r>
              <a:rPr lang="ja-JP" altLang="en-US" sz="1400" dirty="0"/>
              <a:t>• 	パッチが新たなバグを生むことは珍しくない</a:t>
            </a:r>
          </a:p>
          <a:p>
            <a:pPr algn="l"/>
            <a:r>
              <a:rPr lang="ja-JP" altLang="en-US" sz="1400" dirty="0"/>
              <a:t>• 	テスト環境では問題が出なくても、本番で後から問題が発生することがある</a:t>
            </a:r>
          </a:p>
          <a:p>
            <a:pPr algn="l"/>
            <a:r>
              <a:rPr lang="ja-JP" altLang="en-US" sz="1400" dirty="0"/>
              <a:t>• 	急ぎのスケジュールはリスクをさらに増大させる</a:t>
            </a:r>
          </a:p>
          <a:p>
            <a:pPr algn="l"/>
            <a:endParaRPr lang="ja-JP" altLang="en-US" sz="1400" dirty="0"/>
          </a:p>
          <a:p>
            <a:pPr algn="l"/>
            <a:r>
              <a:rPr lang="ja-JP" altLang="en-US" sz="1400" dirty="0"/>
              <a:t>ICS ベンダーはパッチ提供が遅い（または提供しない）</a:t>
            </a:r>
          </a:p>
          <a:p>
            <a:pPr algn="l"/>
            <a:r>
              <a:rPr lang="ja-JP" altLang="en-US" sz="1400" dirty="0"/>
              <a:t>Windows のような一般 OS では深刻な脆弱性が見つかれば迅速にパッチが提供されますが、</a:t>
            </a:r>
          </a:p>
          <a:p>
            <a:pPr algn="l"/>
            <a:r>
              <a:rPr lang="ja-JP" altLang="en-US" sz="1400" dirty="0"/>
              <a:t>ICS ベンダーは歴史的にパッチ提供が遅い、あるいは提供しないことすらある のが現実です。</a:t>
            </a:r>
          </a:p>
          <a:p>
            <a:pPr algn="l"/>
            <a:endParaRPr lang="ja-JP" altLang="en-US" sz="1400" dirty="0"/>
          </a:p>
          <a:p>
            <a:pPr algn="l"/>
            <a:r>
              <a:rPr lang="ja-JP" altLang="en-US" sz="1400" dirty="0"/>
              <a:t>その他の要因：ネットワーク隔離・地理的隔離・物理的制約</a:t>
            </a:r>
          </a:p>
          <a:p>
            <a:pPr algn="l"/>
            <a:r>
              <a:rPr lang="ja-JP" altLang="en-US" sz="1400" dirty="0"/>
              <a:t>ICS のパッチ適用が難しい理由として、他にも：</a:t>
            </a:r>
          </a:p>
          <a:p>
            <a:pPr algn="l"/>
            <a:r>
              <a:rPr lang="ja-JP" altLang="en-US" sz="1400" dirty="0"/>
              <a:t>• 	ネットワークが外部と隔離されている</a:t>
            </a:r>
          </a:p>
          <a:p>
            <a:pPr algn="l"/>
            <a:r>
              <a:rPr lang="ja-JP" altLang="en-US" sz="1400" dirty="0"/>
              <a:t>• 	設備が遠隔地にある</a:t>
            </a:r>
          </a:p>
          <a:p>
            <a:pPr algn="l"/>
            <a:r>
              <a:rPr lang="ja-JP" altLang="en-US" sz="1400" dirty="0"/>
              <a:t>• 	物理的にアクセスしづらい</a:t>
            </a:r>
          </a:p>
          <a:p>
            <a:pPr algn="l"/>
            <a:r>
              <a:rPr lang="ja-JP" altLang="en-US" sz="1400" dirty="0"/>
              <a:t>といった要因が重なります。</a:t>
            </a:r>
          </a:p>
          <a:p>
            <a:pPr algn="l"/>
            <a:r>
              <a:rPr lang="ja-JP" altLang="en-US" sz="1400" dirty="0"/>
              <a:t>これらすべてが、ICS のパッチ管理を 非常に困難 にしています。</a:t>
            </a:r>
          </a:p>
          <a:p>
            <a:pPr algn="l"/>
            <a:endParaRPr lang="ja-JP" altLang="en-US" sz="1400" dirty="0"/>
          </a:p>
          <a:p>
            <a:pPr algn="l"/>
            <a:r>
              <a:rPr lang="ja-JP" altLang="en-US" sz="1400" dirty="0"/>
              <a:t>注意事項</a:t>
            </a:r>
          </a:p>
          <a:p>
            <a:pPr algn="l"/>
            <a:r>
              <a:rPr lang="ja-JP" altLang="en-US" sz="1400" dirty="0"/>
              <a:t>組織の 運用パッチ管理プロセス に必ず従うこと。</a:t>
            </a:r>
          </a:p>
          <a:p>
            <a:pPr algn="l"/>
            <a:r>
              <a:rPr lang="ja-JP" altLang="en-US" sz="1400" dirty="0"/>
              <a:t>また、パッチ適用の計画・実施にあたっては：</a:t>
            </a:r>
          </a:p>
          <a:p>
            <a:pPr algn="l"/>
            <a:r>
              <a:rPr lang="ja-JP" altLang="en-US" sz="1400" dirty="0"/>
              <a:t>• 	制御システムベンダー</a:t>
            </a:r>
          </a:p>
          <a:p>
            <a:pPr algn="l"/>
            <a:r>
              <a:rPr lang="ja-JP" altLang="en-US" sz="1400" dirty="0"/>
              <a:t>• 	運用管理チーム</a:t>
            </a:r>
          </a:p>
          <a:p>
            <a:pPr algn="l"/>
            <a:r>
              <a:rPr lang="ja-JP" altLang="en-US" sz="1400" dirty="0"/>
              <a:t>と密に連携する必要があります。</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08395"/>
            <a:ext cx="6852285" cy="8398933"/>
          </a:xfrm>
        </p:spPr>
        <p:txBody>
          <a:bodyPr>
            <a:normAutofit fontScale="95000" lnSpcReduction="10000"/>
          </a:bodyPr>
          <a:lstStyle/>
          <a:p>
            <a:pPr algn="l"/>
            <a:r>
              <a:rPr lang="ja-JP" altLang="en-US" sz="1400" dirty="0"/>
              <a:t>ICS コンポーネントやシステムの サプライヤー／メーカー／ベンダー は、</a:t>
            </a:r>
          </a:p>
          <a:p>
            <a:pPr algn="l"/>
            <a:r>
              <a:rPr lang="ja-JP" altLang="en-US" sz="1400" dirty="0"/>
              <a:t>あなたのセキュリティ対策やプログラムにおける 重要なパートナー であるべきです。</a:t>
            </a:r>
          </a:p>
          <a:p>
            <a:pPr algn="l"/>
            <a:r>
              <a:rPr lang="ja-JP" altLang="en-US" sz="1400" dirty="0"/>
              <a:t>多くのベンダーは、顧客との連携や自社製品のセキュリティ問題に対応するための</a:t>
            </a:r>
          </a:p>
          <a:p>
            <a:pPr algn="l"/>
            <a:r>
              <a:rPr lang="ja-JP" altLang="en-US" sz="1400" dirty="0"/>
              <a:t>セキュリティプログラム や 専用の窓口（PoC） を設けています。</a:t>
            </a:r>
          </a:p>
          <a:p>
            <a:pPr algn="l"/>
            <a:r>
              <a:rPr lang="ja-JP" altLang="en-US" sz="1400" dirty="0"/>
              <a:t>2010 年の Stuxnet の発覚以降、</a:t>
            </a:r>
          </a:p>
          <a:p>
            <a:pPr algn="l"/>
            <a:r>
              <a:rPr lang="ja-JP" altLang="en-US" sz="1400" dirty="0"/>
              <a:t>ICS ベンダー全体で セキュリティ報告や脆弱性対応に割くリソースが大幅に増加 しました。</a:t>
            </a:r>
          </a:p>
          <a:p>
            <a:pPr algn="l"/>
            <a:endParaRPr lang="ja-JP" altLang="en-US" sz="1400" dirty="0"/>
          </a:p>
          <a:p>
            <a:pPr algn="l"/>
            <a:r>
              <a:rPr lang="ja-JP" altLang="en-US" sz="1400" dirty="0"/>
              <a:t>ベンダーが提供するセキュリティ関連サービス</a:t>
            </a:r>
          </a:p>
          <a:p>
            <a:pPr algn="l"/>
            <a:r>
              <a:rPr lang="ja-JP" altLang="en-US" sz="1400" dirty="0"/>
              <a:t>多くの ICS ベンダーは、以下のようなサービスを提供しています：</a:t>
            </a:r>
          </a:p>
          <a:p>
            <a:pPr algn="l"/>
            <a:r>
              <a:rPr lang="ja-JP" altLang="en-US" sz="1400" dirty="0"/>
              <a:t>• 脆弱性通知（Knowledge Bulletins）</a:t>
            </a:r>
          </a:p>
          <a:p>
            <a:pPr algn="l"/>
            <a:r>
              <a:rPr lang="ja-JP" altLang="en-US" sz="1400" dirty="0"/>
              <a:t>発見された脆弱性を顧客に通知する仕組み。</a:t>
            </a:r>
          </a:p>
          <a:p>
            <a:pPr algn="l"/>
            <a:r>
              <a:rPr lang="ja-JP" altLang="en-US" sz="1400" dirty="0"/>
              <a:t>• CERT と連携したアラート／アドバイザリの作成</a:t>
            </a:r>
          </a:p>
          <a:p>
            <a:pPr algn="l"/>
            <a:r>
              <a:rPr lang="ja-JP" altLang="en-US" sz="1400" dirty="0"/>
              <a:t>例：米国 CISA（ICS-CERT 機能を運営）と共同でアドバイザリを発行。</a:t>
            </a:r>
          </a:p>
          <a:p>
            <a:pPr algn="l"/>
            <a:r>
              <a:rPr lang="ja-JP" altLang="en-US" sz="1400" dirty="0"/>
              <a:t>• 基本サポート + 有償の追加セキュリティサービス</a:t>
            </a:r>
          </a:p>
          <a:p>
            <a:pPr algn="l"/>
            <a:r>
              <a:rPr lang="ja-JP" altLang="en-US" sz="1400" dirty="0"/>
              <a:t>• 	基本的なサポートは標準で提供</a:t>
            </a:r>
          </a:p>
          <a:p>
            <a:pPr algn="l"/>
            <a:r>
              <a:rPr lang="ja-JP" altLang="en-US" sz="1400" dirty="0"/>
              <a:t>• 	追加のセキュリティ支援は 保守契約や有償サービス が必要な場合もある</a:t>
            </a:r>
          </a:p>
          <a:p>
            <a:pPr algn="l"/>
            <a:endParaRPr lang="ja-JP" altLang="en-US" sz="1400" dirty="0"/>
          </a:p>
          <a:p>
            <a:pPr algn="l"/>
            <a:r>
              <a:rPr lang="ja-JP" altLang="en-US" sz="1400" dirty="0"/>
              <a:t>調達プロセスは“期待値の設定”に使える</a:t>
            </a:r>
          </a:p>
          <a:p>
            <a:pPr algn="l"/>
            <a:r>
              <a:rPr lang="ja-JP" altLang="en-US" sz="1400" dirty="0"/>
              <a:t>調達（プロキュアメント）段階で、</a:t>
            </a:r>
          </a:p>
          <a:p>
            <a:pPr algn="l"/>
            <a:r>
              <a:rPr lang="ja-JP" altLang="en-US" sz="1400" dirty="0"/>
              <a:t>ベンダーに求めるセキュリティ要件を明確にし、期待値を設定 できます。</a:t>
            </a:r>
          </a:p>
          <a:p>
            <a:pPr algn="l"/>
            <a:r>
              <a:rPr lang="ja-JP" altLang="en-US" sz="1400" dirty="0"/>
              <a:t>• 	既存のセキュリティプログラムで満たされる要件</a:t>
            </a:r>
          </a:p>
          <a:p>
            <a:pPr algn="l"/>
            <a:r>
              <a:rPr lang="ja-JP" altLang="en-US" sz="1400" dirty="0"/>
              <a:t>• 	追加費用が必要な要件</a:t>
            </a:r>
          </a:p>
          <a:p>
            <a:pPr algn="l"/>
            <a:r>
              <a:rPr lang="ja-JP" altLang="en-US" sz="1400" dirty="0"/>
              <a:t>を切り分けることができます。</a:t>
            </a:r>
          </a:p>
          <a:p>
            <a:pPr algn="l"/>
            <a:r>
              <a:rPr lang="ja-JP" altLang="en-US" sz="1400" dirty="0"/>
              <a:t>要件を整理するためのリソースも多数存在します。</a:t>
            </a:r>
          </a:p>
          <a:p>
            <a:pPr algn="l"/>
            <a:endParaRPr lang="ja-JP" altLang="en-US" sz="1400" dirty="0"/>
          </a:p>
          <a:p>
            <a:pPr algn="l"/>
            <a:r>
              <a:rPr lang="ja-JP" altLang="en-US" sz="1400" dirty="0"/>
              <a:t>ベンダーはプロトコルの専門家でもある</a:t>
            </a:r>
          </a:p>
          <a:p>
            <a:pPr algn="l"/>
            <a:r>
              <a:rPr lang="ja-JP" altLang="en-US" sz="1400" dirty="0"/>
              <a:t>ICS ベンダーは、自社製品が使用するプロトコルに関する 深い専門知識 を持っています。</a:t>
            </a:r>
          </a:p>
          <a:p>
            <a:pPr algn="l"/>
            <a:r>
              <a:rPr lang="ja-JP" altLang="en-US" sz="1400" dirty="0"/>
              <a:t>例：</a:t>
            </a:r>
          </a:p>
          <a:p>
            <a:pPr algn="l"/>
            <a:r>
              <a:rPr lang="ja-JP" altLang="en-US" sz="1400" dirty="0"/>
              <a:t>• 	SIEMENS を導入する場合</a:t>
            </a:r>
          </a:p>
          <a:p>
            <a:pPr algn="l"/>
            <a:r>
              <a:rPr lang="ja-JP" altLang="en-US" sz="1400" dirty="0"/>
              <a:t>→ PROFIBUS、ProfiNET、Foundation Fieldbus などを扱うことになる</a:t>
            </a:r>
          </a:p>
          <a:p>
            <a:pPr algn="l"/>
            <a:r>
              <a:rPr lang="ja-JP" altLang="en-US" sz="1400" dirty="0"/>
              <a:t>こうしたプロトコルは ICS 固有であり、</a:t>
            </a:r>
          </a:p>
          <a:p>
            <a:pPr algn="l"/>
            <a:r>
              <a:rPr lang="ja-JP" altLang="en-US" sz="1400" dirty="0"/>
              <a:t>ベンダーの知識はセキュリティにも運用にも不可欠 です。</a:t>
            </a:r>
          </a:p>
        </p:txBody>
      </p:sp>
      <p:pic>
        <p:nvPicPr>
          <p:cNvPr id="2" name="図 1">
            <a:extLst>
              <a:ext uri="{FF2B5EF4-FFF2-40B4-BE49-F238E27FC236}">
                <a16:creationId xmlns:a16="http://schemas.microsoft.com/office/drawing/2014/main" id="{3C00098C-F837-4C47-8547-B25A68DEAB35}"/>
              </a:ext>
            </a:extLst>
          </p:cNvPr>
          <p:cNvPicPr>
            <a:picLocks noChangeAspect="1"/>
          </p:cNvPicPr>
          <p:nvPr/>
        </p:nvPicPr>
        <p:blipFill>
          <a:blip r:embed="rId2"/>
          <a:stretch>
            <a:fillRect/>
          </a:stretch>
        </p:blipFill>
        <p:spPr>
          <a:xfrm>
            <a:off x="399985" y="135464"/>
            <a:ext cx="6058029" cy="3437467"/>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08397"/>
            <a:ext cx="6852285" cy="7484534"/>
          </a:xfrm>
        </p:spPr>
        <p:txBody>
          <a:bodyPr>
            <a:normAutofit/>
          </a:bodyPr>
          <a:lstStyle/>
          <a:p>
            <a:pPr algn="l"/>
            <a:r>
              <a:rPr lang="ja-JP" altLang="en-US" sz="1400" dirty="0"/>
              <a:t>このパッチ適用の意思決定ツリーは、</a:t>
            </a:r>
          </a:p>
          <a:p>
            <a:pPr algn="l"/>
            <a:r>
              <a:rPr lang="ja-JP" altLang="en-US" sz="1400" dirty="0"/>
              <a:t>米国国土安全保障省（DHS）が発行した</a:t>
            </a:r>
          </a:p>
          <a:p>
            <a:pPr algn="l"/>
            <a:r>
              <a:rPr lang="ja-JP" altLang="en-US" sz="1400" dirty="0"/>
              <a:t>「制御システムのパッチ管理に関する推奨プラクティス」 に基づくものです。</a:t>
            </a:r>
          </a:p>
          <a:p>
            <a:pPr algn="l"/>
            <a:r>
              <a:rPr lang="ja-JP" altLang="en-US" sz="1400" dirty="0"/>
              <a:t>この文書は、米国内で ICS インフラを持つすべての組織に対して</a:t>
            </a:r>
          </a:p>
          <a:p>
            <a:pPr algn="l"/>
            <a:r>
              <a:rPr lang="ja-JP" altLang="en-US" sz="1400" dirty="0"/>
              <a:t>標準的なパッチ管理プロセス として推奨されています。</a:t>
            </a:r>
          </a:p>
          <a:p>
            <a:pPr algn="l"/>
            <a:endParaRPr lang="ja-JP" altLang="en-US" sz="1400" dirty="0"/>
          </a:p>
          <a:p>
            <a:pPr algn="l"/>
            <a:r>
              <a:rPr lang="ja-JP" altLang="en-US" sz="1400" dirty="0"/>
              <a:t>パッチ適用の必要性を判断するための重要な質問</a:t>
            </a:r>
          </a:p>
          <a:p>
            <a:pPr algn="l"/>
            <a:r>
              <a:rPr lang="ja-JP" altLang="en-US" sz="1400" dirty="0"/>
              <a:t>パッチを適用すべきかどうかを判断する際には、次のような問いを検討する必要があります。</a:t>
            </a:r>
          </a:p>
          <a:p>
            <a:pPr algn="l"/>
            <a:r>
              <a:rPr lang="ja-JP" altLang="en-US" sz="1400" dirty="0"/>
              <a:t>1. メンテナンスウィンドウまで適用を遅らせられるか？</a:t>
            </a:r>
          </a:p>
          <a:p>
            <a:pPr algn="l"/>
            <a:r>
              <a:rPr lang="ja-JP" altLang="en-US" sz="1400" dirty="0"/>
              <a:t>ICS は可用性が最優先のため、停止できるタイミングが限られています。</a:t>
            </a:r>
          </a:p>
          <a:p>
            <a:pPr algn="l"/>
            <a:r>
              <a:rPr lang="ja-JP" altLang="en-US" sz="1400" dirty="0"/>
              <a:t>2. この脆弱性は他の重要システムへの侵入を許すか？</a:t>
            </a:r>
          </a:p>
          <a:p>
            <a:pPr algn="l"/>
            <a:r>
              <a:rPr lang="ja-JP" altLang="en-US" sz="1400" dirty="0"/>
              <a:t>横移動（Lateral Movement）や特権昇格につながる場合、緊急度は高まります。</a:t>
            </a:r>
          </a:p>
          <a:p>
            <a:pPr algn="l"/>
            <a:r>
              <a:rPr lang="ja-JP" altLang="en-US" sz="1400" dirty="0"/>
              <a:t>3. この ICS は生命や健康を支えているか？</a:t>
            </a:r>
          </a:p>
          <a:p>
            <a:pPr algn="l"/>
            <a:r>
              <a:rPr lang="ja-JP" altLang="en-US" sz="1400" dirty="0"/>
              <a:t>医療・化学・エネルギーなど、</a:t>
            </a:r>
          </a:p>
          <a:p>
            <a:pPr algn="l"/>
            <a:r>
              <a:rPr lang="ja-JP" altLang="en-US" sz="1400" dirty="0"/>
              <a:t>人命に関わる ICS ではパッチ判断の基準がより厳格になります。</a:t>
            </a:r>
          </a:p>
          <a:p>
            <a:pPr algn="l"/>
            <a:r>
              <a:rPr lang="ja-JP" altLang="en-US" sz="1400" dirty="0"/>
              <a:t>4. パッチの代わりにワークアラウンド（代替策）はあるか？</a:t>
            </a:r>
          </a:p>
          <a:p>
            <a:pPr algn="l"/>
            <a:r>
              <a:rPr lang="ja-JP" altLang="en-US" sz="1400" dirty="0"/>
              <a:t>例：</a:t>
            </a:r>
          </a:p>
          <a:p>
            <a:pPr algn="l"/>
            <a:r>
              <a:rPr lang="ja-JP" altLang="en-US" sz="1400" dirty="0"/>
              <a:t>• 	ファイアウォールルールの追加</a:t>
            </a:r>
          </a:p>
          <a:p>
            <a:pPr algn="l"/>
            <a:r>
              <a:rPr lang="ja-JP" altLang="en-US" sz="1400" dirty="0"/>
              <a:t>• 	機能の無効化</a:t>
            </a:r>
          </a:p>
          <a:p>
            <a:pPr algn="l"/>
            <a:r>
              <a:rPr lang="ja-JP" altLang="en-US" sz="1400" dirty="0"/>
              <a:t>• 	セグメンテーション強化</a:t>
            </a:r>
          </a:p>
          <a:p>
            <a:pPr algn="l"/>
            <a:r>
              <a:rPr lang="ja-JP" altLang="en-US" sz="1400" dirty="0"/>
              <a:t>• 	アクセス制御の変更</a:t>
            </a:r>
          </a:p>
          <a:p>
            <a:pPr algn="l"/>
            <a:r>
              <a:rPr lang="ja-JP" altLang="en-US" sz="1400" dirty="0"/>
              <a:t>ICS では「パッチ適用よりも代替策の方が安全」なケースも多くあります。</a:t>
            </a:r>
          </a:p>
          <a:p>
            <a:pPr algn="l"/>
            <a:r>
              <a:rPr lang="ja-JP" altLang="en-US" sz="1400" dirty="0"/>
              <a:t>Reference:</a:t>
            </a:r>
          </a:p>
          <a:p>
            <a:pPr algn="l"/>
            <a:r>
              <a:rPr lang="ja-JP" altLang="en-US" sz="1400" dirty="0"/>
              <a:t>• https://goo.gl/8CoLBD</a:t>
            </a:r>
          </a:p>
        </p:txBody>
      </p:sp>
      <p:pic>
        <p:nvPicPr>
          <p:cNvPr id="2" name="図 1">
            <a:extLst>
              <a:ext uri="{FF2B5EF4-FFF2-40B4-BE49-F238E27FC236}">
                <a16:creationId xmlns:a16="http://schemas.microsoft.com/office/drawing/2014/main" id="{8F4D405E-C9A7-47F8-8ABF-C49EA948ECF9}"/>
              </a:ext>
            </a:extLst>
          </p:cNvPr>
          <p:cNvPicPr>
            <a:picLocks noChangeAspect="1"/>
          </p:cNvPicPr>
          <p:nvPr/>
        </p:nvPicPr>
        <p:blipFill>
          <a:blip r:embed="rId2"/>
          <a:stretch>
            <a:fillRect/>
          </a:stretch>
        </p:blipFill>
        <p:spPr>
          <a:xfrm>
            <a:off x="393789" y="135466"/>
            <a:ext cx="6070421" cy="3437467"/>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708399"/>
            <a:ext cx="6852285" cy="7112001"/>
          </a:xfrm>
        </p:spPr>
        <p:txBody>
          <a:bodyPr>
            <a:normAutofit/>
          </a:bodyPr>
          <a:lstStyle/>
          <a:p>
            <a:pPr algn="l"/>
            <a:r>
              <a:rPr lang="ja-JP" altLang="en-US" sz="1400" dirty="0"/>
              <a:t>DHS（米国国土安全保障省）Control System Security Program</a:t>
            </a:r>
          </a:p>
          <a:p>
            <a:pPr algn="l"/>
            <a:r>
              <a:rPr lang="ja-JP" altLang="en-US" sz="1400" dirty="0"/>
              <a:t>「制御システムのパッチ管理に関する推奨プラクティス」</a:t>
            </a:r>
          </a:p>
          <a:p>
            <a:pPr algn="l"/>
            <a:r>
              <a:rPr lang="ja-JP" altLang="en-US" sz="1400" dirty="0"/>
              <a:t>パッチの緊急度評価の結果、即時対応が必要 であり、</a:t>
            </a:r>
          </a:p>
          <a:p>
            <a:pPr algn="l"/>
            <a:r>
              <a:rPr lang="ja-JP" altLang="en-US" sz="1400" dirty="0"/>
              <a:t>ワークアラウンド（代替策）が利用できない、または最適でない場合には、</a:t>
            </a:r>
          </a:p>
          <a:p>
            <a:pPr algn="l"/>
            <a:r>
              <a:rPr lang="ja-JP" altLang="en-US" sz="1400" dirty="0"/>
              <a:t>次の手順を実施することが推奨されています。</a:t>
            </a:r>
          </a:p>
          <a:p>
            <a:pPr algn="l"/>
            <a:endParaRPr lang="ja-JP" altLang="en-US" sz="1400" dirty="0"/>
          </a:p>
          <a:p>
            <a:pPr algn="l"/>
            <a:r>
              <a:rPr lang="ja-JP" altLang="en-US" sz="1400" dirty="0"/>
              <a:t>緊急パッチ適用時の推奨手順</a:t>
            </a:r>
          </a:p>
          <a:p>
            <a:pPr algn="l"/>
            <a:r>
              <a:rPr lang="ja-JP" altLang="en-US" sz="1400" dirty="0"/>
              <a:t>1. 可能であればバックアップ／アーカイブを作成し、スタンバイ機で整合性を検証する</a:t>
            </a:r>
          </a:p>
          <a:p>
            <a:pPr algn="l"/>
            <a:r>
              <a:rPr lang="ja-JP" altLang="en-US" sz="1400" dirty="0"/>
              <a:t>バックアップが正常に復元できるかを必ず確認する。</a:t>
            </a:r>
          </a:p>
          <a:p>
            <a:pPr algn="l"/>
            <a:r>
              <a:rPr lang="ja-JP" altLang="en-US" sz="1400" dirty="0"/>
              <a:t>2. パッチ作業のチェックリスト／手順書を作成し、スタンバイ機にパッチを適用する</a:t>
            </a:r>
          </a:p>
          <a:p>
            <a:pPr algn="l"/>
            <a:r>
              <a:rPr lang="ja-JP" altLang="en-US" sz="1400" dirty="0"/>
              <a:t>作業の抜け漏れを防ぎ、再現性を確保する。</a:t>
            </a:r>
          </a:p>
          <a:p>
            <a:pPr algn="l"/>
            <a:r>
              <a:rPr lang="ja-JP" altLang="en-US" sz="1400" dirty="0"/>
              <a:t>3. パッチ適用済みスタンバイ機をテストし、運用機能と他アプリとの互換性を確認する</a:t>
            </a:r>
          </a:p>
          <a:p>
            <a:pPr algn="l"/>
            <a:r>
              <a:rPr lang="ja-JP" altLang="en-US" sz="1400" dirty="0"/>
              <a:t>ICS は“システム・オブ・システムズ”なので、相互依存性の確認が重要。</a:t>
            </a:r>
          </a:p>
          <a:p>
            <a:pPr algn="l"/>
            <a:r>
              <a:rPr lang="ja-JP" altLang="en-US" sz="1400" dirty="0"/>
              <a:t>4. パッチ済みスタンバイ機を本番に切り替え、旧本番機（未パッチ）を緊急時のロールバック用に保持する</a:t>
            </a:r>
          </a:p>
          <a:p>
            <a:pPr algn="l"/>
            <a:r>
              <a:rPr lang="ja-JP" altLang="en-US" sz="1400" dirty="0"/>
              <a:t>問題発生時に即座に戻せるようにする。</a:t>
            </a:r>
          </a:p>
          <a:p>
            <a:pPr algn="l"/>
            <a:r>
              <a:rPr lang="ja-JP" altLang="en-US" sz="1400" dirty="0"/>
              <a:t>5. パッチ済み本番機を継続監視し、テストでは発見できなかった問題を早期に検知する</a:t>
            </a:r>
          </a:p>
          <a:p>
            <a:pPr algn="l"/>
            <a:r>
              <a:rPr lang="ja-JP" altLang="en-US" sz="1400" dirty="0"/>
              <a:t>ICS では“テストでは再現しない問題”が本番で発生することがある。</a:t>
            </a:r>
          </a:p>
          <a:p>
            <a:pPr algn="l"/>
            <a:r>
              <a:rPr lang="ja-JP" altLang="en-US" sz="1400" dirty="0"/>
              <a:t>6. 本番機の安定性が確認できたら、旧本番機（スタンバイ機）にもパッチを適用する</a:t>
            </a:r>
          </a:p>
          <a:p>
            <a:pPr algn="l"/>
            <a:r>
              <a:rPr lang="ja-JP" altLang="en-US" sz="1400" dirty="0"/>
              <a:t>冗長構成の両系を最新状態に揃える。</a:t>
            </a:r>
          </a:p>
          <a:p>
            <a:pPr algn="l"/>
            <a:r>
              <a:rPr lang="ja-JP" altLang="en-US" sz="1400" dirty="0"/>
              <a:t>7. ソフトウェア構成管理計画および関連記録を更新する</a:t>
            </a:r>
          </a:p>
          <a:p>
            <a:pPr algn="l"/>
            <a:r>
              <a:rPr lang="ja-JP" altLang="en-US" sz="1400" dirty="0"/>
              <a:t>変更管理・監査証跡を確実に残す。</a:t>
            </a:r>
          </a:p>
          <a:p>
            <a:pPr algn="l"/>
            <a:r>
              <a:rPr lang="ja-JP" altLang="en-US" sz="1400" dirty="0"/>
              <a:t>Reference:</a:t>
            </a:r>
          </a:p>
          <a:p>
            <a:pPr algn="l"/>
            <a:r>
              <a:rPr lang="ja-JP" altLang="en-US" sz="1400" dirty="0"/>
              <a:t>• https://goo.gl/8CoLBD</a:t>
            </a:r>
          </a:p>
        </p:txBody>
      </p:sp>
      <p:pic>
        <p:nvPicPr>
          <p:cNvPr id="2" name="図 1">
            <a:extLst>
              <a:ext uri="{FF2B5EF4-FFF2-40B4-BE49-F238E27FC236}">
                <a16:creationId xmlns:a16="http://schemas.microsoft.com/office/drawing/2014/main" id="{453AAC61-4C18-4BE4-A58F-3D7671DC2E46}"/>
              </a:ext>
            </a:extLst>
          </p:cNvPr>
          <p:cNvPicPr>
            <a:picLocks noChangeAspect="1"/>
          </p:cNvPicPr>
          <p:nvPr/>
        </p:nvPicPr>
        <p:blipFill>
          <a:blip r:embed="rId2"/>
          <a:stretch>
            <a:fillRect/>
          </a:stretch>
        </p:blipFill>
        <p:spPr>
          <a:xfrm>
            <a:off x="358834" y="118531"/>
            <a:ext cx="6140331" cy="347133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759201"/>
            <a:ext cx="6852285" cy="8094134"/>
          </a:xfrm>
        </p:spPr>
        <p:txBody>
          <a:bodyPr>
            <a:normAutofit/>
          </a:bodyPr>
          <a:lstStyle/>
          <a:p>
            <a:pPr algn="l"/>
            <a:r>
              <a:rPr lang="ja-JP" altLang="en-US" sz="1400" dirty="0"/>
              <a:t>ベンダーの Web サイトやサブスクリプションサービスは、</a:t>
            </a:r>
          </a:p>
          <a:p>
            <a:pPr algn="l"/>
            <a:r>
              <a:rPr lang="ja-JP" altLang="en-US" sz="1400" dirty="0"/>
              <a:t>製品ごとに最も新しく詳細な情報を得るための 良い出発点 です。</a:t>
            </a:r>
          </a:p>
          <a:p>
            <a:pPr algn="l"/>
            <a:r>
              <a:rPr lang="ja-JP" altLang="en-US" sz="1400" dirty="0"/>
              <a:t>しかし、主要ベンダー以外については、</a:t>
            </a:r>
          </a:p>
          <a:p>
            <a:pPr algn="l"/>
            <a:r>
              <a:rPr lang="ja-JP" altLang="en-US" sz="1400" dirty="0"/>
              <a:t>大規模組織はもちろん、小規模組織でさえ スケールしない ことが多くあります。</a:t>
            </a:r>
          </a:p>
          <a:p>
            <a:pPr algn="l"/>
            <a:r>
              <a:rPr lang="ja-JP" altLang="en-US" sz="1400" dirty="0"/>
              <a:t>理由として：</a:t>
            </a:r>
          </a:p>
          <a:p>
            <a:pPr algn="l"/>
            <a:r>
              <a:rPr lang="ja-JP" altLang="en-US" sz="1400" dirty="0"/>
              <a:t>• 	取り扱うベンダーの数が非常に多い</a:t>
            </a:r>
          </a:p>
          <a:p>
            <a:pPr algn="l"/>
            <a:r>
              <a:rPr lang="ja-JP" altLang="en-US" sz="1400" dirty="0"/>
              <a:t>• 	情報の形式がベンダーごとにバラバラ</a:t>
            </a:r>
          </a:p>
          <a:p>
            <a:pPr algn="l"/>
            <a:r>
              <a:rPr lang="ja-JP" altLang="en-US" sz="1400" dirty="0"/>
              <a:t>• 	情報を統合して扱うのが難しい</a:t>
            </a:r>
          </a:p>
          <a:p>
            <a:pPr algn="l"/>
            <a:r>
              <a:rPr lang="ja-JP" altLang="en-US" sz="1400" dirty="0"/>
              <a:t>といった課題があります。</a:t>
            </a:r>
          </a:p>
          <a:p>
            <a:pPr algn="l"/>
            <a:r>
              <a:rPr lang="ja-JP" altLang="en-US" sz="1400" dirty="0"/>
              <a:t>そのため、より統一された形式で情報を提供する</a:t>
            </a:r>
          </a:p>
          <a:p>
            <a:pPr algn="l"/>
            <a:r>
              <a:rPr lang="ja-JP" altLang="en-US" sz="1400" dirty="0"/>
              <a:t>別の脆弱性情報サービス を利用することが有効な場合があります。</a:t>
            </a:r>
          </a:p>
          <a:p>
            <a:pPr algn="l"/>
            <a:r>
              <a:rPr lang="ja-JP" altLang="en-US" sz="1400" dirty="0"/>
              <a:t>ICS 業界では、</a:t>
            </a:r>
          </a:p>
          <a:p>
            <a:pPr algn="l"/>
            <a:r>
              <a:rPr lang="ja-JP" altLang="en-US" sz="1400" dirty="0"/>
              <a:t>US CISA（ICS-CERT 機能を担当） が世界的に利用されている主要な</a:t>
            </a:r>
          </a:p>
          <a:p>
            <a:pPr algn="l"/>
            <a:r>
              <a:rPr lang="ja-JP" altLang="en-US" sz="1400" dirty="0"/>
              <a:t>サイバーセキュリティ情報源のひとつです。</a:t>
            </a:r>
          </a:p>
          <a:p>
            <a:pPr algn="l"/>
            <a:endParaRPr lang="ja-JP" altLang="en-US" sz="1400" dirty="0"/>
          </a:p>
          <a:p>
            <a:pPr algn="l"/>
            <a:r>
              <a:rPr lang="ja-JP" altLang="en-US" sz="1400" dirty="0"/>
              <a:t>ベンダー以外のセキュリティ情報源</a:t>
            </a:r>
          </a:p>
          <a:p>
            <a:pPr algn="l"/>
            <a:r>
              <a:rPr lang="ja-JP" altLang="en-US" sz="1400" dirty="0"/>
              <a:t>ベンダー情報に加えて、</a:t>
            </a:r>
          </a:p>
          <a:p>
            <a:pPr algn="l"/>
            <a:r>
              <a:rPr lang="ja-JP" altLang="en-US" sz="1400" dirty="0"/>
              <a:t>セキュリティ関連サイトを閲覧して最新情報を把握することも有益です。</a:t>
            </a:r>
          </a:p>
          <a:p>
            <a:pPr algn="l"/>
            <a:r>
              <a:rPr lang="ja-JP" altLang="en-US" sz="1400" dirty="0"/>
              <a:t>Packet Storm Security</a:t>
            </a:r>
          </a:p>
          <a:p>
            <a:pPr algn="l"/>
            <a:r>
              <a:rPr lang="ja-JP" altLang="en-US" sz="1400" dirty="0"/>
              <a:t>https://packetstormsecurity.com</a:t>
            </a:r>
          </a:p>
          <a:p>
            <a:pPr algn="l"/>
            <a:r>
              <a:rPr lang="ja-JP" altLang="en-US" sz="1400" dirty="0"/>
              <a:t>• 	検索しやすい</a:t>
            </a:r>
          </a:p>
          <a:p>
            <a:pPr algn="l"/>
            <a:r>
              <a:rPr lang="ja-JP" altLang="en-US" sz="1400" dirty="0"/>
              <a:t>• 	多様な視点の記事が掲載</a:t>
            </a:r>
          </a:p>
          <a:p>
            <a:pPr algn="l"/>
            <a:r>
              <a:rPr lang="ja-JP" altLang="en-US" sz="1400" dirty="0"/>
              <a:t>• 	セキュリティ／ハッキングツールへのリンクも豊富</a:t>
            </a:r>
          </a:p>
          <a:p>
            <a:pPr algn="l"/>
            <a:r>
              <a:rPr lang="ja-JP" altLang="en-US" sz="1400" dirty="0"/>
              <a:t>Exploit-DB</a:t>
            </a:r>
          </a:p>
          <a:p>
            <a:pPr algn="l"/>
            <a:r>
              <a:rPr lang="ja-JP" altLang="en-US" sz="1400" dirty="0"/>
              <a:t>https://www.exploit-db.com</a:t>
            </a:r>
          </a:p>
          <a:p>
            <a:pPr algn="l"/>
            <a:r>
              <a:rPr lang="ja-JP" altLang="en-US" sz="1400" dirty="0"/>
              <a:t>• 	既知の脆弱性に対する エクスプロイトコードの詳細 を提供</a:t>
            </a:r>
          </a:p>
          <a:p>
            <a:pPr algn="l"/>
            <a:r>
              <a:rPr lang="ja-JP" altLang="en-US" sz="1400" dirty="0"/>
              <a:t>• 	実際の攻撃手法の理解に役立つ</a:t>
            </a:r>
          </a:p>
        </p:txBody>
      </p:sp>
      <p:pic>
        <p:nvPicPr>
          <p:cNvPr id="2" name="図 1">
            <a:extLst>
              <a:ext uri="{FF2B5EF4-FFF2-40B4-BE49-F238E27FC236}">
                <a16:creationId xmlns:a16="http://schemas.microsoft.com/office/drawing/2014/main" id="{00D76CFB-8290-4FD7-BA1A-84F97B4B2CB8}"/>
              </a:ext>
            </a:extLst>
          </p:cNvPr>
          <p:cNvPicPr>
            <a:picLocks noChangeAspect="1"/>
          </p:cNvPicPr>
          <p:nvPr/>
        </p:nvPicPr>
        <p:blipFill>
          <a:blip r:embed="rId2"/>
          <a:stretch>
            <a:fillRect/>
          </a:stretch>
        </p:blipFill>
        <p:spPr>
          <a:xfrm>
            <a:off x="420096" y="152397"/>
            <a:ext cx="6012089" cy="342053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91467"/>
            <a:ext cx="6852285" cy="8178800"/>
          </a:xfrm>
        </p:spPr>
        <p:txBody>
          <a:bodyPr>
            <a:normAutofit/>
          </a:bodyPr>
          <a:lstStyle/>
          <a:p>
            <a:pPr algn="l"/>
            <a:r>
              <a:rPr lang="ja-JP" altLang="en-US" sz="1400" dirty="0"/>
              <a:t>脆弱性の取り扱いプロセスはベンダーによって異なりますが、</a:t>
            </a:r>
          </a:p>
          <a:p>
            <a:pPr algn="l"/>
            <a:r>
              <a:rPr lang="ja-JP" altLang="en-US" sz="1400" dirty="0"/>
              <a:t>共通して期待できる基本的なステップがあります。</a:t>
            </a:r>
          </a:p>
          <a:p>
            <a:pPr algn="l"/>
            <a:r>
              <a:rPr lang="ja-JP" altLang="en-US" sz="1400" dirty="0"/>
              <a:t>このプロセスは、ベンダーが セキュリティ研究者とどのように連携し、脆弱性情報を受け取り、対応するか</a:t>
            </a:r>
          </a:p>
          <a:p>
            <a:pPr algn="l"/>
            <a:r>
              <a:rPr lang="ja-JP" altLang="en-US" sz="1400" dirty="0"/>
              <a:t>という“手段と哲学”を定めるものです。</a:t>
            </a:r>
          </a:p>
          <a:p>
            <a:pPr algn="l"/>
            <a:r>
              <a:rPr lang="ja-JP" altLang="en-US" sz="1400" dirty="0"/>
              <a:t>脆弱性ハンドリングプロセスでは、以下が明確にされます：</a:t>
            </a:r>
          </a:p>
          <a:p>
            <a:pPr algn="l"/>
            <a:r>
              <a:rPr lang="ja-JP" altLang="en-US" sz="1400" dirty="0"/>
              <a:t>• 	研究者がどのように連絡できるか</a:t>
            </a:r>
          </a:p>
          <a:p>
            <a:pPr algn="l"/>
            <a:r>
              <a:rPr lang="ja-JP" altLang="en-US" sz="1400" dirty="0"/>
              <a:t>• 	研究者が直接連絡</a:t>
            </a:r>
          </a:p>
          <a:p>
            <a:pPr algn="l"/>
            <a:r>
              <a:rPr lang="ja-JP" altLang="en-US" sz="1400" dirty="0"/>
              <a:t>• 	研究者を特定プログラムに参加させる</a:t>
            </a:r>
          </a:p>
          <a:p>
            <a:pPr algn="l"/>
            <a:r>
              <a:rPr lang="ja-JP" altLang="en-US" sz="1400" dirty="0"/>
              <a:t>• 	場合によっては報奨金（バグバウンティ）を支払う</a:t>
            </a:r>
          </a:p>
          <a:p>
            <a:pPr algn="l"/>
            <a:r>
              <a:rPr lang="ja-JP" altLang="en-US" sz="1400" dirty="0"/>
              <a:t>• 	CERT（例：US CISA の ICS-CERT）を介して調整する</a:t>
            </a:r>
          </a:p>
          <a:p>
            <a:pPr algn="l"/>
            <a:r>
              <a:rPr lang="ja-JP" altLang="en-US" sz="1400" dirty="0"/>
              <a:t>• 	脆弱性を報告した際に何が起こるか（期待値）</a:t>
            </a:r>
          </a:p>
          <a:p>
            <a:pPr algn="l"/>
            <a:endParaRPr lang="ja-JP" altLang="en-US" sz="1400" dirty="0"/>
          </a:p>
          <a:p>
            <a:pPr algn="l"/>
            <a:r>
              <a:rPr lang="ja-JP" altLang="en-US" sz="1400" dirty="0"/>
              <a:t>公開（Open Disclosure） vs. 責任ある開示（Responsible Disclosure）</a:t>
            </a:r>
          </a:p>
          <a:p>
            <a:pPr algn="l"/>
            <a:r>
              <a:rPr lang="ja-JP" altLang="en-US" sz="1400" dirty="0"/>
              <a:t>脆弱性の開示方法については、</a:t>
            </a:r>
          </a:p>
          <a:p>
            <a:pPr algn="l"/>
            <a:r>
              <a:rPr lang="ja-JP" altLang="en-US" sz="1400" dirty="0"/>
              <a:t>オープンディスクロージャー（即時公開） と</a:t>
            </a:r>
          </a:p>
          <a:p>
            <a:pPr algn="l"/>
            <a:r>
              <a:rPr lang="ja-JP" altLang="en-US" sz="1400" dirty="0"/>
              <a:t>レスポンシブルディスクロージャー（調整付き開示） のどちらが良いか、</a:t>
            </a:r>
          </a:p>
          <a:p>
            <a:pPr algn="l"/>
            <a:r>
              <a:rPr lang="ja-JP" altLang="en-US" sz="1400" dirty="0"/>
              <a:t>長年議論が続いています。</a:t>
            </a:r>
          </a:p>
          <a:p>
            <a:pPr algn="l"/>
            <a:r>
              <a:rPr lang="ja-JP" altLang="en-US" sz="1400" dirty="0"/>
              <a:t>ICS コミュニティの多くは、</a:t>
            </a:r>
          </a:p>
          <a:p>
            <a:pPr algn="l"/>
            <a:r>
              <a:rPr lang="ja-JP" altLang="en-US" sz="1400" dirty="0"/>
              <a:t>調整された責任ある開示（Managed Responsible Disclosure） を支持しています。</a:t>
            </a:r>
          </a:p>
          <a:p>
            <a:pPr algn="l"/>
            <a:r>
              <a:rPr lang="ja-JP" altLang="en-US" sz="1400" dirty="0"/>
              <a:t>その背景には：</a:t>
            </a:r>
          </a:p>
          <a:p>
            <a:pPr algn="l"/>
            <a:r>
              <a:rPr lang="ja-JP" altLang="en-US" sz="1400" dirty="0"/>
              <a:t>• 	過去にベンダーが脆弱性を顧客へ十分に伝えなかった</a:t>
            </a:r>
          </a:p>
          <a:p>
            <a:pPr algn="l"/>
            <a:r>
              <a:rPr lang="ja-JP" altLang="en-US" sz="1400" dirty="0"/>
              <a:t>• 	困難な問題への対応が遅れた</a:t>
            </a:r>
          </a:p>
          <a:p>
            <a:pPr algn="l"/>
            <a:r>
              <a:rPr lang="ja-JP" altLang="en-US" sz="1400" dirty="0"/>
              <a:t>といった歴史があり、</a:t>
            </a:r>
          </a:p>
          <a:p>
            <a:pPr algn="l"/>
            <a:r>
              <a:rPr lang="ja-JP" altLang="en-US" sz="1400" dirty="0"/>
              <a:t>その反動として「公開こそが理解を促し、変化を強制する強力な手段だ」という意見も存在します。</a:t>
            </a:r>
          </a:p>
          <a:p>
            <a:pPr algn="l"/>
            <a:r>
              <a:rPr lang="ja-JP" altLang="en-US" sz="1400" dirty="0"/>
              <a:t>Reference:</a:t>
            </a:r>
          </a:p>
          <a:p>
            <a:pPr algn="l"/>
            <a:r>
              <a:rPr lang="ja-JP" altLang="en-US" sz="1400" dirty="0"/>
              <a:t>• Examples include https://global.abb/group/en/technology/cyber-security</a:t>
            </a:r>
          </a:p>
        </p:txBody>
      </p:sp>
      <p:pic>
        <p:nvPicPr>
          <p:cNvPr id="2" name="図 1">
            <a:extLst>
              <a:ext uri="{FF2B5EF4-FFF2-40B4-BE49-F238E27FC236}">
                <a16:creationId xmlns:a16="http://schemas.microsoft.com/office/drawing/2014/main" id="{51AC9A50-CC3C-412E-A5F2-C4D31F77F7EB}"/>
              </a:ext>
            </a:extLst>
          </p:cNvPr>
          <p:cNvPicPr>
            <a:picLocks noChangeAspect="1"/>
          </p:cNvPicPr>
          <p:nvPr/>
        </p:nvPicPr>
        <p:blipFill>
          <a:blip r:embed="rId2"/>
          <a:stretch>
            <a:fillRect/>
          </a:stretch>
        </p:blipFill>
        <p:spPr>
          <a:xfrm>
            <a:off x="419670" y="118531"/>
            <a:ext cx="6018659" cy="34036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877732"/>
            <a:ext cx="6852285" cy="6312535"/>
          </a:xfrm>
        </p:spPr>
        <p:txBody>
          <a:bodyPr>
            <a:normAutofit/>
          </a:bodyPr>
          <a:lstStyle/>
          <a:p>
            <a:pPr algn="l"/>
            <a:r>
              <a:rPr lang="ja-JP" altLang="en-US" sz="1400" dirty="0"/>
              <a:t>Reference:</a:t>
            </a:r>
          </a:p>
          <a:p>
            <a:pPr algn="l"/>
            <a:r>
              <a:rPr lang="ja-JP" altLang="en-US" sz="1400" dirty="0"/>
              <a:t>• https://www.sei.cmu.edu/education-outreach/computer-security-incident-response-teams/national-csirts/index.cfm</a:t>
            </a:r>
          </a:p>
        </p:txBody>
      </p:sp>
      <p:pic>
        <p:nvPicPr>
          <p:cNvPr id="2" name="図 1">
            <a:extLst>
              <a:ext uri="{FF2B5EF4-FFF2-40B4-BE49-F238E27FC236}">
                <a16:creationId xmlns:a16="http://schemas.microsoft.com/office/drawing/2014/main" id="{6A84B5DD-43DE-4752-AF2F-76737D1F3653}"/>
              </a:ext>
            </a:extLst>
          </p:cNvPr>
          <p:cNvPicPr>
            <a:picLocks noChangeAspect="1"/>
          </p:cNvPicPr>
          <p:nvPr/>
        </p:nvPicPr>
        <p:blipFill>
          <a:blip r:embed="rId2"/>
          <a:stretch>
            <a:fillRect/>
          </a:stretch>
        </p:blipFill>
        <p:spPr>
          <a:xfrm>
            <a:off x="314867" y="101598"/>
            <a:ext cx="6228266" cy="3522134"/>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4373" y="3877732"/>
            <a:ext cx="6852285" cy="6312535"/>
          </a:xfrm>
        </p:spPr>
        <p:txBody>
          <a:bodyPr>
            <a:normAutofit/>
          </a:bodyPr>
          <a:lstStyle/>
          <a:p>
            <a:pPr algn="l"/>
            <a:r>
              <a:rPr lang="ja-JP" altLang="en-US" sz="1400" dirty="0"/>
              <a:t>Reference:</a:t>
            </a:r>
          </a:p>
          <a:p>
            <a:pPr algn="l"/>
            <a:r>
              <a:rPr lang="ja-JP" altLang="en-US" sz="1400" dirty="0"/>
              <a:t>• https://www.enisa.europa.eu</a:t>
            </a:r>
          </a:p>
        </p:txBody>
      </p:sp>
      <p:pic>
        <p:nvPicPr>
          <p:cNvPr id="2" name="図 1">
            <a:extLst>
              <a:ext uri="{FF2B5EF4-FFF2-40B4-BE49-F238E27FC236}">
                <a16:creationId xmlns:a16="http://schemas.microsoft.com/office/drawing/2014/main" id="{9CE68529-4E9F-4803-AD4E-C9B640A93C78}"/>
              </a:ext>
            </a:extLst>
          </p:cNvPr>
          <p:cNvPicPr>
            <a:picLocks noChangeAspect="1"/>
          </p:cNvPicPr>
          <p:nvPr/>
        </p:nvPicPr>
        <p:blipFill>
          <a:blip r:embed="rId2"/>
          <a:stretch>
            <a:fillRect/>
          </a:stretch>
        </p:blipFill>
        <p:spPr>
          <a:xfrm>
            <a:off x="244271" y="198332"/>
            <a:ext cx="6369458" cy="3606801"/>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588685"/>
            <a:ext cx="6852285" cy="8501712"/>
          </a:xfrm>
        </p:spPr>
        <p:txBody>
          <a:bodyPr>
            <a:normAutofit fontScale="97500" lnSpcReduction="10000"/>
          </a:bodyPr>
          <a:lstStyle/>
          <a:p>
            <a:pPr algn="l"/>
            <a:r>
              <a:rPr lang="ja-JP" altLang="en-US" sz="1400" dirty="0"/>
              <a:t>ISAC（情報共有・分析センター）は、重要インフラ（CIKR：Critical Infrastructure Key Resource）の所有者や運用者によって設立された信頼できる組織 であり、各セクターに関する包括的な分析を提供します。</a:t>
            </a:r>
          </a:p>
          <a:p>
            <a:pPr algn="l"/>
            <a:r>
              <a:rPr lang="ja-JP" altLang="en-US" sz="1400" dirty="0"/>
              <a:t>この分析は：</a:t>
            </a:r>
          </a:p>
          <a:p>
            <a:pPr algn="l"/>
            <a:r>
              <a:rPr lang="ja-JP" altLang="en-US" sz="1400" dirty="0"/>
              <a:t>• 	同じセクター内</a:t>
            </a:r>
          </a:p>
          <a:p>
            <a:pPr algn="l"/>
            <a:r>
              <a:rPr lang="ja-JP" altLang="en-US" sz="1400" dirty="0"/>
              <a:t>• 	他のセクター</a:t>
            </a:r>
          </a:p>
          <a:p>
            <a:pPr algn="l"/>
            <a:r>
              <a:rPr lang="ja-JP" altLang="en-US" sz="1400" dirty="0"/>
              <a:t>• 	政府機関</a:t>
            </a:r>
          </a:p>
          <a:p>
            <a:pPr algn="l"/>
            <a:r>
              <a:rPr lang="ja-JP" altLang="en-US" sz="1400" dirty="0"/>
              <a:t>と共有されます。</a:t>
            </a:r>
          </a:p>
          <a:p>
            <a:pPr algn="l"/>
            <a:r>
              <a:rPr lang="ja-JP" altLang="en-US" sz="1400" dirty="0"/>
              <a:t>ISAC は オールハザード（あらゆる脅威）アプローチ を採用しており、多くの ISAC が 90％以上のセクターカバレッジ を持つほど強い影響力を持っています。</a:t>
            </a:r>
          </a:p>
          <a:p>
            <a:pPr algn="l"/>
            <a:endParaRPr lang="ja-JP" altLang="en-US" sz="1400" dirty="0"/>
          </a:p>
          <a:p>
            <a:pPr algn="l"/>
            <a:r>
              <a:rPr lang="ja-JP" altLang="en-US" sz="1400" dirty="0"/>
              <a:t>ISAC が提供する主なサービス</a:t>
            </a:r>
          </a:p>
          <a:p>
            <a:pPr algn="l"/>
            <a:r>
              <a:rPr lang="ja-JP" altLang="en-US" sz="1400" dirty="0"/>
              <a:t>ISAC のサービスには以下が含まれます：</a:t>
            </a:r>
          </a:p>
          <a:p>
            <a:pPr algn="l"/>
            <a:r>
              <a:rPr lang="ja-JP" altLang="en-US" sz="1400" dirty="0"/>
              <a:t>• 	リスク軽減（Risk Mitigation）</a:t>
            </a:r>
          </a:p>
          <a:p>
            <a:pPr algn="l"/>
            <a:r>
              <a:rPr lang="ja-JP" altLang="en-US" sz="1400" dirty="0"/>
              <a:t>• 	インシデント対応支援（Incident Response）</a:t>
            </a:r>
          </a:p>
          <a:p>
            <a:pPr algn="l"/>
            <a:r>
              <a:rPr lang="ja-JP" altLang="en-US" sz="1400" dirty="0"/>
              <a:t>• 	アラートおよび情報共有（Alerts &amp; Information Sharing）</a:t>
            </a:r>
          </a:p>
          <a:p>
            <a:pPr algn="l"/>
            <a:r>
              <a:rPr lang="ja-JP" altLang="en-US" sz="1400" dirty="0"/>
              <a:t>目的は、利用者に対して：</a:t>
            </a:r>
          </a:p>
          <a:p>
            <a:pPr algn="l"/>
            <a:r>
              <a:rPr lang="ja-JP" altLang="en-US" sz="1400" dirty="0"/>
              <a:t>• 	正確で</a:t>
            </a:r>
          </a:p>
          <a:p>
            <a:pPr algn="l"/>
            <a:r>
              <a:rPr lang="ja-JP" altLang="en-US" sz="1400" dirty="0"/>
              <a:t>• 	行動可能で</a:t>
            </a:r>
          </a:p>
          <a:p>
            <a:pPr algn="l"/>
            <a:r>
              <a:rPr lang="ja-JP" altLang="en-US" sz="1400" dirty="0"/>
              <a:t>• 	関連性の高い</a:t>
            </a:r>
          </a:p>
          <a:p>
            <a:pPr algn="l"/>
            <a:r>
              <a:rPr lang="ja-JP" altLang="en-US" sz="1400" dirty="0"/>
              <a:t>セキュリティ情報を提供することです。</a:t>
            </a:r>
          </a:p>
          <a:p>
            <a:pPr algn="l"/>
            <a:endParaRPr lang="ja-JP" altLang="en-US" sz="1400" dirty="0"/>
          </a:p>
          <a:p>
            <a:pPr algn="l"/>
            <a:r>
              <a:rPr lang="ja-JP" altLang="en-US" sz="1400" dirty="0"/>
              <a:t>ISAC メンバーが得られる特典（ISAC によって異なる）</a:t>
            </a:r>
          </a:p>
          <a:p>
            <a:pPr algn="l"/>
            <a:r>
              <a:rPr lang="ja-JP" altLang="en-US" sz="1400" dirty="0"/>
              <a:t>ISAC によって内容は異なりますが、一般的な特典には：</a:t>
            </a:r>
          </a:p>
          <a:p>
            <a:pPr algn="l"/>
            <a:r>
              <a:rPr lang="ja-JP" altLang="en-US" sz="1400" dirty="0"/>
              <a:t>• 	24/7 セキュリティオペレーションセンター（SOC）へのアクセス</a:t>
            </a:r>
          </a:p>
          <a:p>
            <a:pPr algn="l"/>
            <a:r>
              <a:rPr lang="ja-JP" altLang="en-US" sz="1400" dirty="0"/>
              <a:t>• 	ブリーフィング</a:t>
            </a:r>
          </a:p>
          <a:p>
            <a:pPr algn="l"/>
            <a:r>
              <a:rPr lang="ja-JP" altLang="en-US" sz="1400" dirty="0"/>
              <a:t>• 	ホワイトペーパー</a:t>
            </a:r>
          </a:p>
          <a:p>
            <a:pPr algn="l"/>
            <a:r>
              <a:rPr lang="ja-JP" altLang="en-US" sz="1400" dirty="0"/>
              <a:t>• 	脅威情報コール</a:t>
            </a:r>
          </a:p>
          <a:p>
            <a:pPr algn="l"/>
            <a:r>
              <a:rPr lang="ja-JP" altLang="en-US" sz="1400" dirty="0"/>
              <a:t>• 	ウェビナー</a:t>
            </a:r>
          </a:p>
          <a:p>
            <a:pPr algn="l"/>
            <a:r>
              <a:rPr lang="ja-JP" altLang="en-US" sz="1400" dirty="0"/>
              <a:t>• 	匿名での CIKR オーナー／オペレーター報告</a:t>
            </a:r>
          </a:p>
          <a:p>
            <a:pPr algn="l"/>
            <a:r>
              <a:rPr lang="ja-JP" altLang="en-US" sz="1400" dirty="0"/>
              <a:t>などがあります。</a:t>
            </a:r>
          </a:p>
          <a:p>
            <a:pPr algn="l"/>
            <a:r>
              <a:rPr lang="ja-JP" altLang="en-US" sz="1400" dirty="0"/>
              <a:t>これらは、セクター全体のセキュリティ成熟度を高めるための重要な仕組みです。</a:t>
            </a:r>
          </a:p>
        </p:txBody>
      </p:sp>
      <p:pic>
        <p:nvPicPr>
          <p:cNvPr id="2" name="図 1">
            <a:extLst>
              <a:ext uri="{FF2B5EF4-FFF2-40B4-BE49-F238E27FC236}">
                <a16:creationId xmlns:a16="http://schemas.microsoft.com/office/drawing/2014/main" id="{2B7B0AE8-41AE-4933-A65F-77971103A4C7}"/>
              </a:ext>
            </a:extLst>
          </p:cNvPr>
          <p:cNvPicPr>
            <a:picLocks noChangeAspect="1"/>
          </p:cNvPicPr>
          <p:nvPr/>
        </p:nvPicPr>
        <p:blipFill>
          <a:blip r:embed="rId2"/>
          <a:stretch>
            <a:fillRect/>
          </a:stretch>
        </p:blipFill>
        <p:spPr>
          <a:xfrm>
            <a:off x="397933" y="84665"/>
            <a:ext cx="6062133" cy="3436289"/>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064934"/>
            <a:ext cx="6852285" cy="9127065"/>
          </a:xfrm>
        </p:spPr>
        <p:txBody>
          <a:bodyPr>
            <a:normAutofit fontScale="77500" lnSpcReduction="20000"/>
          </a:bodyPr>
          <a:lstStyle/>
          <a:p>
            <a:pPr algn="l"/>
            <a:r>
              <a:rPr lang="ja-JP" altLang="en-US" sz="1400" dirty="0"/>
              <a:t>良いバックアップを持つことは、次のような場面で 不可欠 です。</a:t>
            </a:r>
          </a:p>
          <a:p>
            <a:pPr algn="l"/>
            <a:r>
              <a:rPr lang="ja-JP" altLang="en-US" sz="1400" dirty="0"/>
              <a:t>- 攻撃・感染後のフォレンジック</a:t>
            </a:r>
          </a:p>
          <a:p>
            <a:pPr algn="l"/>
            <a:r>
              <a:rPr lang="ja-JP" altLang="en-US" sz="1400" dirty="0"/>
              <a:t>- 過去のベースラインとの比較監査</a:t>
            </a:r>
          </a:p>
          <a:p>
            <a:pPr algn="l"/>
            <a:r>
              <a:rPr lang="ja-JP" altLang="en-US" sz="1400" dirty="0"/>
              <a:t>- 自然災害や人為的災害からの復旧</a:t>
            </a:r>
          </a:p>
          <a:p>
            <a:pPr algn="l"/>
            <a:r>
              <a:rPr lang="ja-JP" altLang="en-US" sz="1400" dirty="0"/>
              <a:t>- 誤って消失したデータの復元</a:t>
            </a:r>
          </a:p>
          <a:p>
            <a:pPr algn="l"/>
            <a:r>
              <a:rPr lang="ja-JP" altLang="en-US" sz="1400" dirty="0"/>
              <a:t>- 法令遵守の維持</a:t>
            </a:r>
          </a:p>
          <a:p>
            <a:pPr algn="l"/>
            <a:r>
              <a:rPr lang="ja-JP" altLang="en-US" sz="1400" dirty="0"/>
              <a:t>また、重要なシステムに新しいサービスパックやパッチを適用する前には、</a:t>
            </a:r>
          </a:p>
          <a:p>
            <a:pPr algn="l"/>
            <a:r>
              <a:rPr lang="ja-JP" altLang="en-US" sz="1400" dirty="0"/>
              <a:t>必ずバックアップを取得 する必要があります。</a:t>
            </a:r>
          </a:p>
          <a:p>
            <a:pPr algn="l"/>
            <a:r>
              <a:rPr lang="ja-JP" altLang="en-US" sz="1400" dirty="0"/>
              <a:t>更新が重大な部分を壊した場合、すぐに元の状態へ戻せるようにするためです。</a:t>
            </a:r>
          </a:p>
          <a:p>
            <a:pPr algn="l"/>
            <a:endParaRPr lang="ja-JP" altLang="en-US" sz="1400" dirty="0"/>
          </a:p>
          <a:p>
            <a:pPr algn="l"/>
            <a:r>
              <a:rPr lang="ja-JP" altLang="en-US" sz="1400" dirty="0"/>
              <a:t>「いずれ侵害される」という前提で考える</a:t>
            </a:r>
          </a:p>
          <a:p>
            <a:pPr algn="l"/>
            <a:r>
              <a:rPr lang="ja-JP" altLang="en-US" sz="1400" dirty="0"/>
              <a:t>最終的には：</a:t>
            </a:r>
          </a:p>
          <a:p>
            <a:pPr algn="l"/>
            <a:r>
              <a:rPr lang="ja-JP" altLang="en-US" sz="1400" dirty="0"/>
              <a:t>- サーバーが侵害される</a:t>
            </a:r>
          </a:p>
          <a:p>
            <a:pPr algn="l"/>
            <a:r>
              <a:rPr lang="ja-JP" altLang="en-US" sz="1400" dirty="0"/>
              <a:t>- ワークステーションが感染する</a:t>
            </a:r>
          </a:p>
          <a:p>
            <a:pPr algn="l"/>
            <a:r>
              <a:rPr lang="ja-JP" altLang="en-US" sz="1400" dirty="0"/>
              <a:t>- データベースが破壊される</a:t>
            </a:r>
          </a:p>
          <a:p>
            <a:pPr algn="l"/>
            <a:r>
              <a:rPr lang="ja-JP" altLang="en-US" sz="1400" dirty="0"/>
              <a:t>といった事態が起こると 想定すべき です。</a:t>
            </a:r>
          </a:p>
          <a:p>
            <a:pPr algn="l"/>
            <a:r>
              <a:rPr lang="ja-JP" altLang="en-US" sz="1400" dirty="0"/>
              <a:t>どんなセキュリティシステムも、いつかは失敗します。</a:t>
            </a:r>
          </a:p>
          <a:p>
            <a:pPr algn="l"/>
            <a:r>
              <a:rPr lang="ja-JP" altLang="en-US" sz="1400" dirty="0"/>
              <a:t>しかし、その失敗が ゲームオーバー になる必要はありません。</a:t>
            </a:r>
          </a:p>
          <a:p>
            <a:pPr algn="l"/>
            <a:r>
              <a:rPr lang="ja-JP" altLang="en-US" sz="1400" dirty="0"/>
              <a:t>データを復元できる限り、再び立ち上がることができます。</a:t>
            </a:r>
          </a:p>
          <a:p>
            <a:pPr algn="l"/>
            <a:r>
              <a:rPr lang="ja-JP" altLang="en-US" sz="1400" dirty="0"/>
              <a:t>ハードウェア、帯域、サービス、評判は（通常は）取り戻せますが、</a:t>
            </a:r>
          </a:p>
          <a:p>
            <a:pPr algn="l"/>
            <a:r>
              <a:rPr lang="ja-JP" altLang="en-US" sz="1400" dirty="0"/>
              <a:t>データだけはバックアップがなければ取り戻せません。</a:t>
            </a:r>
          </a:p>
          <a:p>
            <a:pPr algn="l"/>
            <a:endParaRPr lang="ja-JP" altLang="en-US" sz="1400" dirty="0"/>
          </a:p>
          <a:p>
            <a:pPr algn="l"/>
            <a:r>
              <a:rPr lang="ja-JP" altLang="en-US" sz="1400" dirty="0"/>
              <a:t>バックアップから復元した後に必要な作業</a:t>
            </a:r>
          </a:p>
          <a:p>
            <a:pPr algn="l"/>
            <a:r>
              <a:rPr lang="ja-JP" altLang="en-US" sz="1400" dirty="0"/>
              <a:t>復元したシステムを本番に戻す前に、次の作業を行う必要があります：</a:t>
            </a:r>
          </a:p>
          <a:p>
            <a:pPr algn="l"/>
            <a:r>
              <a:rPr lang="ja-JP" altLang="en-US" sz="1400" dirty="0"/>
              <a:t>- アセット名の変更</a:t>
            </a:r>
          </a:p>
          <a:p>
            <a:pPr algn="l"/>
            <a:r>
              <a:rPr lang="ja-JP" altLang="en-US" sz="1400" dirty="0"/>
              <a:t>- IP アドレスの変更</a:t>
            </a:r>
          </a:p>
          <a:p>
            <a:pPr algn="l"/>
            <a:r>
              <a:rPr lang="ja-JP" altLang="en-US" sz="1400" dirty="0"/>
              <a:t>- Active Directory の更新</a:t>
            </a:r>
          </a:p>
          <a:p>
            <a:pPr algn="l"/>
            <a:r>
              <a:rPr lang="ja-JP" altLang="en-US" sz="1400" dirty="0"/>
              <a:t>- ライセンスの再アクティベーション</a:t>
            </a:r>
          </a:p>
          <a:p>
            <a:pPr algn="l"/>
            <a:r>
              <a:rPr lang="ja-JP" altLang="en-US" sz="1400" dirty="0"/>
              <a:t>- 最終バックアップ以降に行われた変更のログ確認</a:t>
            </a:r>
          </a:p>
          <a:p>
            <a:pPr algn="l"/>
            <a:r>
              <a:rPr lang="ja-JP" altLang="en-US" sz="1400" dirty="0"/>
              <a:t>- コンプライアンス要件の再確認</a:t>
            </a:r>
          </a:p>
          <a:p>
            <a:pPr algn="l"/>
            <a:r>
              <a:rPr lang="ja-JP" altLang="en-US" sz="1400" dirty="0"/>
              <a:t>これらを行わずに戻すと、</a:t>
            </a:r>
          </a:p>
          <a:p>
            <a:pPr algn="l"/>
            <a:r>
              <a:rPr lang="ja-JP" altLang="en-US" sz="1400" dirty="0"/>
              <a:t>セキュリティ上の問題や運用上の不整合が発生する可能性があります。</a:t>
            </a:r>
          </a:p>
          <a:p>
            <a:pPr algn="l"/>
            <a:endParaRPr lang="ja-JP" altLang="en-US" sz="1400" dirty="0"/>
          </a:p>
          <a:p>
            <a:pPr algn="l"/>
            <a:r>
              <a:rPr lang="ja-JP" altLang="en-US" sz="1400" dirty="0"/>
              <a:t>究極の質問：ファイアウォール vs. バックアップ</a:t>
            </a:r>
          </a:p>
          <a:p>
            <a:pPr algn="l"/>
            <a:r>
              <a:rPr lang="ja-JP" altLang="en-US" sz="1400" dirty="0"/>
              <a:t>「境界ファイアウォール」と</a:t>
            </a:r>
          </a:p>
          <a:p>
            <a:pPr algn="l"/>
            <a:r>
              <a:rPr lang="ja-JP" altLang="en-US" sz="1400" dirty="0"/>
              <a:t>「全サーバー・全ワークステーションの信頼できるバックアップシステム」</a:t>
            </a:r>
          </a:p>
          <a:p>
            <a:pPr algn="l"/>
            <a:r>
              <a:rPr lang="ja-JP" altLang="en-US" sz="1400" dirty="0"/>
              <a:t>のどちらか一方しか選べないとしたら、どちらを選ぶべきでしょうか。</a:t>
            </a:r>
          </a:p>
          <a:p>
            <a:pPr algn="l"/>
            <a:r>
              <a:rPr lang="ja-JP" altLang="en-US" sz="1400" dirty="0"/>
              <a:t>どちらがセキュリティにとってより重要でしょうか。</a:t>
            </a:r>
          </a:p>
          <a:p>
            <a:pPr algn="l"/>
            <a:r>
              <a:rPr lang="ja-JP" altLang="en-US" sz="1400" dirty="0"/>
              <a:t>Bruce Schneier はこう述べています：</a:t>
            </a:r>
          </a:p>
          <a:p>
            <a:pPr algn="l"/>
            <a:r>
              <a:rPr lang="ja-JP" altLang="en-US" sz="1400" dirty="0"/>
              <a:t>“セキュリティを改善するために、企業や個人ができる最も重要なことは、</a:t>
            </a:r>
          </a:p>
          <a:p>
            <a:pPr algn="l"/>
            <a:r>
              <a:rPr lang="ja-JP" altLang="en-US" sz="1400" dirty="0"/>
              <a:t>良いバックアップ戦略を持つことだ。”</a:t>
            </a:r>
          </a:p>
        </p:txBody>
      </p:sp>
      <p:pic>
        <p:nvPicPr>
          <p:cNvPr id="2" name="図 1">
            <a:extLst>
              <a:ext uri="{FF2B5EF4-FFF2-40B4-BE49-F238E27FC236}">
                <a16:creationId xmlns:a16="http://schemas.microsoft.com/office/drawing/2014/main" id="{CDB3D1F8-FA75-4E91-A7EC-CFB0A0D76A00}"/>
              </a:ext>
            </a:extLst>
          </p:cNvPr>
          <p:cNvPicPr>
            <a:picLocks noChangeAspect="1"/>
          </p:cNvPicPr>
          <p:nvPr/>
        </p:nvPicPr>
        <p:blipFill>
          <a:blip r:embed="rId2"/>
          <a:stretch>
            <a:fillRect/>
          </a:stretch>
        </p:blipFill>
        <p:spPr>
          <a:xfrm>
            <a:off x="863599" y="67732"/>
            <a:ext cx="5130801" cy="2901509"/>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 1">
            <a:extLst>
              <a:ext uri="{FF2B5EF4-FFF2-40B4-BE49-F238E27FC236}">
                <a16:creationId xmlns:a16="http://schemas.microsoft.com/office/drawing/2014/main" id="{87DC409B-3D94-449D-85C2-EB1878406E7E}"/>
              </a:ext>
            </a:extLst>
          </p:cNvPr>
          <p:cNvPicPr>
            <a:picLocks noChangeAspect="1"/>
          </p:cNvPicPr>
          <p:nvPr/>
        </p:nvPicPr>
        <p:blipFill>
          <a:blip r:embed="rId2"/>
          <a:stretch>
            <a:fillRect/>
          </a:stretch>
        </p:blipFill>
        <p:spPr>
          <a:xfrm>
            <a:off x="330200" y="156753"/>
            <a:ext cx="6197600" cy="351778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539064"/>
            <a:ext cx="6852285" cy="8534402"/>
          </a:xfrm>
        </p:spPr>
        <p:txBody>
          <a:bodyPr>
            <a:normAutofit fontScale="82500" lnSpcReduction="20000"/>
          </a:bodyPr>
          <a:lstStyle/>
          <a:p>
            <a:pPr algn="l"/>
            <a:r>
              <a:rPr lang="ja-JP" altLang="en-US" sz="1400" dirty="0"/>
              <a:t>Justin Searle 氏は InGuardians 社の ICS セキュリティ部門ディレクター であり、</a:t>
            </a:r>
          </a:p>
          <a:p>
            <a:pPr algn="l"/>
            <a:r>
              <a:rPr lang="ja-JP" altLang="en-US" sz="1400" dirty="0"/>
              <a:t>ICS セキュリティアーキテクチャ設計とペネトレーションテストを専門としています。</a:t>
            </a:r>
          </a:p>
          <a:p>
            <a:pPr algn="l"/>
            <a:r>
              <a:rPr lang="ja-JP" altLang="en-US" sz="1400" dirty="0"/>
              <a:t>彼は Smart Grid Security Architecture グループを率いて</a:t>
            </a:r>
          </a:p>
          <a:p>
            <a:pPr algn="l"/>
            <a:r>
              <a:rPr lang="ja-JP" altLang="en-US" sz="1400" dirty="0"/>
              <a:t>NIST Interagency Report 7628 の作成に貢献したほか、</a:t>
            </a:r>
          </a:p>
          <a:p>
            <a:pPr algn="l"/>
            <a:r>
              <a:rPr lang="ja-JP" altLang="en-US" sz="1400" dirty="0"/>
              <a:t>- Advanced Security Acceleration Project for the Smart Grid（ASAP-SG）</a:t>
            </a:r>
          </a:p>
          <a:p>
            <a:pPr algn="l"/>
            <a:r>
              <a:rPr lang="ja-JP" altLang="en-US" sz="1400" dirty="0"/>
              <a:t>- National Electric Sector Cybersecurity Organization Resources（NESCOR）</a:t>
            </a:r>
          </a:p>
          <a:p>
            <a:pPr algn="l"/>
            <a:r>
              <a:rPr lang="ja-JP" altLang="en-US" sz="1400" dirty="0"/>
              <a:t>- Smart Grid Interoperability Panel（SGIP）</a:t>
            </a:r>
          </a:p>
          <a:p>
            <a:pPr algn="l"/>
            <a:r>
              <a:rPr lang="ja-JP" altLang="en-US" sz="1400" dirty="0"/>
              <a:t>といった主要プロジェクトでも重要な役割を果たしてきました。</a:t>
            </a:r>
          </a:p>
          <a:p>
            <a:pPr algn="l"/>
            <a:endParaRPr lang="ja-JP" altLang="en-US" sz="1400" dirty="0"/>
          </a:p>
          <a:p>
            <a:pPr algn="l"/>
            <a:r>
              <a:rPr lang="ja-JP" altLang="en-US" sz="1400" dirty="0"/>
              <a:t>教育・講師としての活動</a:t>
            </a:r>
          </a:p>
          <a:p>
            <a:pPr algn="l"/>
            <a:r>
              <a:rPr lang="ja-JP" altLang="en-US" sz="1400" dirty="0"/>
              <a:t>Justin 氏は、複数の大学・企業・セキュリティカンファレンスで</a:t>
            </a:r>
          </a:p>
          <a:p>
            <a:pPr algn="l"/>
            <a:r>
              <a:rPr lang="ja-JP" altLang="en-US" sz="1400" dirty="0"/>
              <a:t>以下の分野の講義を行ってきました：</a:t>
            </a:r>
          </a:p>
          <a:p>
            <a:pPr algn="l"/>
            <a:r>
              <a:rPr lang="ja-JP" altLang="en-US" sz="1400" dirty="0"/>
              <a:t>- ハッキング技術</a:t>
            </a:r>
          </a:p>
          <a:p>
            <a:pPr algn="l"/>
            <a:r>
              <a:rPr lang="ja-JP" altLang="en-US" sz="1400" dirty="0"/>
              <a:t>- フォレンジック</a:t>
            </a:r>
          </a:p>
          <a:p>
            <a:pPr algn="l"/>
            <a:r>
              <a:rPr lang="ja-JP" altLang="en-US" sz="1400" dirty="0"/>
              <a:t>- ネットワーキング</a:t>
            </a:r>
          </a:p>
          <a:p>
            <a:pPr algn="l"/>
            <a:r>
              <a:rPr lang="ja-JP" altLang="en-US" sz="1400" dirty="0"/>
              <a:t>- 侵入検知</a:t>
            </a:r>
          </a:p>
          <a:p>
            <a:pPr algn="l"/>
            <a:r>
              <a:rPr lang="ja-JP" altLang="en-US" sz="1400" dirty="0"/>
              <a:t>現在は SANS Institute の シニアインストラクター であり、</a:t>
            </a:r>
          </a:p>
          <a:p>
            <a:pPr algn="l"/>
            <a:r>
              <a:rPr lang="ja-JP" altLang="en-US" sz="1400" dirty="0"/>
              <a:t>IANS の教員としても活動しています。</a:t>
            </a:r>
          </a:p>
          <a:p>
            <a:pPr algn="l"/>
            <a:r>
              <a:rPr lang="ja-JP" altLang="en-US" sz="1400" dirty="0"/>
              <a:t>また、電力業界のカンファレンスに加えて、</a:t>
            </a:r>
          </a:p>
          <a:p>
            <a:pPr algn="l"/>
            <a:r>
              <a:rPr lang="ja-JP" altLang="en-US" sz="1400" dirty="0"/>
              <a:t>Black Hat、DEFCON、OWASP、Nullcon、AusCERT など</a:t>
            </a:r>
          </a:p>
          <a:p>
            <a:pPr algn="l"/>
            <a:r>
              <a:rPr lang="ja-JP" altLang="en-US" sz="1400" dirty="0"/>
              <a:t>世界有数のセキュリティカンファレンス でも頻繁に登壇しています。</a:t>
            </a:r>
          </a:p>
          <a:p>
            <a:pPr algn="l"/>
            <a:endParaRPr lang="ja-JP" altLang="en-US" sz="1400" dirty="0"/>
          </a:p>
          <a:p>
            <a:pPr algn="l"/>
            <a:r>
              <a:rPr lang="ja-JP" altLang="en-US" sz="1400" dirty="0"/>
              <a:t>オープンソースプロジェクトのリーダー</a:t>
            </a:r>
          </a:p>
          <a:p>
            <a:pPr algn="l"/>
            <a:r>
              <a:rPr lang="ja-JP" altLang="en-US" sz="1400" dirty="0"/>
              <a:t>Justin 氏は以下の著名な OSS プロジェクトを主導しています：</a:t>
            </a:r>
          </a:p>
          <a:p>
            <a:pPr algn="l"/>
            <a:r>
              <a:rPr lang="ja-JP" altLang="en-US" sz="1400" dirty="0"/>
              <a:t>- ControlThings Platform</a:t>
            </a:r>
          </a:p>
          <a:p>
            <a:pPr algn="l"/>
            <a:r>
              <a:rPr lang="ja-JP" altLang="en-US" sz="1400" dirty="0"/>
              <a:t>- Samurai Web Testing Framework（SamuraiWTF）</a:t>
            </a:r>
          </a:p>
          <a:p>
            <a:pPr algn="l"/>
            <a:r>
              <a:rPr lang="ja-JP" altLang="en-US" sz="1400" dirty="0"/>
              <a:t>- Samurai Security Testing Framework for Utilities（SamuraiSTFU）</a:t>
            </a:r>
          </a:p>
          <a:p>
            <a:pPr algn="l"/>
            <a:r>
              <a:rPr lang="ja-JP" altLang="en-US" sz="1400" dirty="0"/>
              <a:t>これらは ICS/OT セキュリティの教育・テスト環境として広く利用されています。</a:t>
            </a:r>
          </a:p>
          <a:p>
            <a:pPr algn="l"/>
            <a:endParaRPr lang="ja-JP" altLang="en-US" sz="1400" dirty="0"/>
          </a:p>
          <a:p>
            <a:pPr algn="l"/>
            <a:r>
              <a:rPr lang="ja-JP" altLang="en-US" sz="1400" dirty="0"/>
              <a:t>資格と学歴</a:t>
            </a:r>
          </a:p>
          <a:p>
            <a:pPr algn="l"/>
            <a:r>
              <a:rPr lang="ja-JP" altLang="en-US" sz="1400" dirty="0"/>
              <a:t>- MBA（国際テクノロジー専攻）</a:t>
            </a:r>
          </a:p>
          <a:p>
            <a:pPr algn="l"/>
            <a:r>
              <a:rPr lang="ja-JP" altLang="en-US" sz="1400" dirty="0"/>
              <a:t>- CISSP</a:t>
            </a:r>
          </a:p>
          <a:p>
            <a:pPr algn="l"/>
            <a:r>
              <a:rPr lang="ja-JP" altLang="en-US" sz="1400" dirty="0"/>
              <a:t>- GIAC Incident Handler（GCIH）</a:t>
            </a:r>
          </a:p>
          <a:p>
            <a:pPr algn="l"/>
            <a:r>
              <a:rPr lang="ja-JP" altLang="en-US" sz="1400" dirty="0"/>
              <a:t>- GIAC Intrusion Analyst（GCIA）</a:t>
            </a:r>
          </a:p>
          <a:p>
            <a:pPr algn="l"/>
            <a:r>
              <a:rPr lang="ja-JP" altLang="en-US" sz="1400" dirty="0"/>
              <a:t>- GIAC Web Application Penetration Tester（GWAPT）</a:t>
            </a:r>
          </a:p>
          <a:p>
            <a:pPr algn="l"/>
            <a:r>
              <a:rPr lang="ja-JP" altLang="en-US" sz="1400" dirty="0"/>
              <a:t>- GIAC Industrial Control Security Professional（GICSP）</a:t>
            </a:r>
          </a:p>
          <a:p>
            <a:pPr algn="l"/>
            <a:r>
              <a:rPr lang="ja-JP" altLang="en-US" sz="1400" dirty="0"/>
              <a:t>ICS セキュリティ分野でトップクラスの専門性を持つ人物であることが分かります。</a:t>
            </a:r>
          </a:p>
        </p:txBody>
      </p:sp>
      <p:pic>
        <p:nvPicPr>
          <p:cNvPr id="2" name="図 1">
            <a:extLst>
              <a:ext uri="{FF2B5EF4-FFF2-40B4-BE49-F238E27FC236}">
                <a16:creationId xmlns:a16="http://schemas.microsoft.com/office/drawing/2014/main" id="{B9BAF096-BE76-49F0-87A5-959DD918DCB0}"/>
              </a:ext>
            </a:extLst>
          </p:cNvPr>
          <p:cNvPicPr>
            <a:picLocks noChangeAspect="1"/>
          </p:cNvPicPr>
          <p:nvPr/>
        </p:nvPicPr>
        <p:blipFill>
          <a:blip r:embed="rId2"/>
          <a:stretch>
            <a:fillRect/>
          </a:stretch>
        </p:blipFill>
        <p:spPr>
          <a:xfrm>
            <a:off x="475529" y="101598"/>
            <a:ext cx="5906939" cy="3352800"/>
          </a:xfrm>
          <a:prstGeom prst="rect">
            <a:avLst/>
          </a:prstGeom>
        </p:spPr>
      </p:pic>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18542</Words>
  <Application>Microsoft Office PowerPoint</Application>
  <PresentationFormat>ワイド画面</PresentationFormat>
  <Paragraphs>1926</Paragraphs>
  <Slides>85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85</vt:i4>
      </vt:variant>
    </vt:vector>
  </HeadingPairs>
  <TitlesOfParts>
    <vt:vector size="90" baseType="lpstr">
      <vt:lpstr>ＭＳ Ｐゴシック</vt:lpstr>
      <vt:lpstr>ＭＳ Ｐゴシック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A1251715</cp:lastModifiedBy>
  <cp:revision>71</cp:revision>
  <dcterms:created xsi:type="dcterms:W3CDTF">2026-01-25T22:59:00Z</dcterms:created>
  <dcterms:modified xsi:type="dcterms:W3CDTF">2026-03-05T04:43:55Z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1033-11.2.0.9396</vt:lpwstr>
  </property>
</Properties>
</file>