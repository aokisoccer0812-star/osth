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6"/>
  </p:notesMasterIdLst>
  <p:handoutMasterIdLst>
    <p:handoutMasterId r:id="rId97"/>
  </p:handoutMasterIdLst>
  <p:sldIdLst>
    <p:sldId id="264" r:id="rId2"/>
    <p:sldId id="265" r:id="rId3"/>
    <p:sldId id="372" r:id="rId4"/>
    <p:sldId id="373" r:id="rId5"/>
    <p:sldId id="256" r:id="rId6"/>
    <p:sldId id="451" r:id="rId7"/>
    <p:sldId id="452" r:id="rId8"/>
    <p:sldId id="453" r:id="rId9"/>
    <p:sldId id="454" r:id="rId10"/>
    <p:sldId id="455" r:id="rId11"/>
    <p:sldId id="456" r:id="rId12"/>
    <p:sldId id="457" r:id="rId13"/>
    <p:sldId id="458" r:id="rId14"/>
    <p:sldId id="459" r:id="rId15"/>
    <p:sldId id="460" r:id="rId16"/>
    <p:sldId id="461" r:id="rId17"/>
    <p:sldId id="462" r:id="rId18"/>
    <p:sldId id="463" r:id="rId19"/>
    <p:sldId id="464" r:id="rId20"/>
    <p:sldId id="465" r:id="rId21"/>
    <p:sldId id="466" r:id="rId22"/>
    <p:sldId id="467" r:id="rId23"/>
    <p:sldId id="468" r:id="rId24"/>
    <p:sldId id="469" r:id="rId25"/>
    <p:sldId id="470" r:id="rId26"/>
    <p:sldId id="471" r:id="rId27"/>
    <p:sldId id="472" r:id="rId28"/>
    <p:sldId id="473" r:id="rId29"/>
    <p:sldId id="474" r:id="rId30"/>
    <p:sldId id="475" r:id="rId31"/>
    <p:sldId id="476" r:id="rId32"/>
    <p:sldId id="477" r:id="rId33"/>
    <p:sldId id="478" r:id="rId34"/>
    <p:sldId id="479" r:id="rId35"/>
    <p:sldId id="480" r:id="rId36"/>
    <p:sldId id="481" r:id="rId37"/>
    <p:sldId id="482" r:id="rId38"/>
    <p:sldId id="483" r:id="rId39"/>
    <p:sldId id="484" r:id="rId40"/>
    <p:sldId id="485" r:id="rId41"/>
    <p:sldId id="486" r:id="rId42"/>
    <p:sldId id="487" r:id="rId43"/>
    <p:sldId id="488" r:id="rId44"/>
    <p:sldId id="489" r:id="rId45"/>
    <p:sldId id="490" r:id="rId46"/>
    <p:sldId id="491" r:id="rId47"/>
    <p:sldId id="492" r:id="rId48"/>
    <p:sldId id="493" r:id="rId49"/>
    <p:sldId id="494" r:id="rId50"/>
    <p:sldId id="495" r:id="rId51"/>
    <p:sldId id="496" r:id="rId52"/>
    <p:sldId id="497" r:id="rId53"/>
    <p:sldId id="498" r:id="rId54"/>
    <p:sldId id="499" r:id="rId55"/>
    <p:sldId id="500" r:id="rId56"/>
    <p:sldId id="501" r:id="rId57"/>
    <p:sldId id="502" r:id="rId58"/>
    <p:sldId id="503" r:id="rId59"/>
    <p:sldId id="504" r:id="rId60"/>
    <p:sldId id="505" r:id="rId61"/>
    <p:sldId id="506" r:id="rId62"/>
    <p:sldId id="507" r:id="rId63"/>
    <p:sldId id="508" r:id="rId64"/>
    <p:sldId id="509" r:id="rId65"/>
    <p:sldId id="510" r:id="rId66"/>
    <p:sldId id="511" r:id="rId67"/>
    <p:sldId id="512" r:id="rId68"/>
    <p:sldId id="513" r:id="rId69"/>
    <p:sldId id="514" r:id="rId70"/>
    <p:sldId id="515" r:id="rId71"/>
    <p:sldId id="516" r:id="rId72"/>
    <p:sldId id="517" r:id="rId73"/>
    <p:sldId id="518" r:id="rId74"/>
    <p:sldId id="519" r:id="rId75"/>
    <p:sldId id="520" r:id="rId76"/>
    <p:sldId id="521" r:id="rId77"/>
    <p:sldId id="522" r:id="rId78"/>
    <p:sldId id="523" r:id="rId79"/>
    <p:sldId id="524" r:id="rId80"/>
    <p:sldId id="525" r:id="rId81"/>
    <p:sldId id="526" r:id="rId82"/>
    <p:sldId id="527" r:id="rId83"/>
    <p:sldId id="528" r:id="rId84"/>
    <p:sldId id="529" r:id="rId85"/>
    <p:sldId id="530" r:id="rId86"/>
    <p:sldId id="531" r:id="rId87"/>
    <p:sldId id="532" r:id="rId88"/>
    <p:sldId id="533" r:id="rId89"/>
    <p:sldId id="534" r:id="rId90"/>
    <p:sldId id="535" r:id="rId91"/>
    <p:sldId id="536" r:id="rId92"/>
    <p:sldId id="539" r:id="rId93"/>
    <p:sldId id="538" r:id="rId94"/>
    <p:sldId id="540" r:id="rId95"/>
  </p:sldIdLst>
  <p:sldSz cx="6858000" cy="12192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snapToGrid="0">
      <p:cViewPr varScale="1">
        <p:scale>
          <a:sx n="38" d="100"/>
          <a:sy n="38" d="100"/>
        </p:scale>
        <p:origin x="2356"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D61A3E-AC6E-4B60-95A4-C1B3371851F9}" type="datetimeFigureOut">
              <a:rPr kumimoji="1" lang="ja-JP" altLang="en-US" smtClean="0"/>
              <a:t>2026/3/4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90A3E0-14E8-4BE6-85AB-5C5385A62A44}"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34F6E-DEEE-400C-92A1-19923C75B907}" type="datetimeFigureOut">
              <a:rPr kumimoji="1" lang="ja-JP" altLang="en-US" smtClean="0"/>
              <a:t>2026/3/4</a:t>
            </a:fld>
            <a:endParaRPr kumimoji="1" lang="ja-JP" altLang="en-US"/>
          </a:p>
        </p:txBody>
      </p:sp>
      <p:sp>
        <p:nvSpPr>
          <p:cNvPr id="4" name="スライド イメージ プレースホルダー 3"/>
          <p:cNvSpPr>
            <a:spLocks noGrp="1" noRot="1" noChangeAspect="1"/>
          </p:cNvSpPr>
          <p:nvPr>
            <p:ph type="sldImg" idx="2"/>
          </p:nvPr>
        </p:nvSpPr>
        <p:spPr>
          <a:xfrm>
            <a:off x="2561120" y="1143000"/>
            <a:ext cx="173576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23A1E1-D89E-4D9F-ACC7-724568FAD569}"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857250" y="1995508"/>
            <a:ext cx="5143500" cy="4245040"/>
          </a:xfrm>
        </p:spPr>
        <p:txBody>
          <a:bodyPr anchor="b"/>
          <a:lstStyle>
            <a:lvl1pPr algn="ctr">
              <a:defRPr sz="4500"/>
            </a:lvl1pPr>
          </a:lstStyle>
          <a:p>
            <a:r>
              <a:rPr kumimoji="1" lang="ja-JP" altLang="en-US"/>
              <a:t>マスター タイトルの書式設定</a:t>
            </a:r>
          </a:p>
        </p:txBody>
      </p:sp>
      <p:sp>
        <p:nvSpPr>
          <p:cNvPr id="3" name="サブタイトル 2"/>
          <p:cNvSpPr>
            <a:spLocks noGrp="1"/>
          </p:cNvSpPr>
          <p:nvPr>
            <p:ph type="subTitle" idx="1"/>
          </p:nvPr>
        </p:nvSpPr>
        <p:spPr>
          <a:xfrm>
            <a:off x="857250" y="6404254"/>
            <a:ext cx="5143500" cy="294386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467916" y="3039834"/>
            <a:ext cx="5915025" cy="5072032"/>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67916" y="8159849"/>
            <a:ext cx="5915025" cy="2667262"/>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71488"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3471863"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649175"/>
            <a:ext cx="5915025" cy="2356788"/>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2381" y="2989029"/>
            <a:ext cx="2901255"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72381" y="4453905"/>
            <a:ext cx="2901255"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3471863" y="2989029"/>
            <a:ext cx="2915543"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3471863" y="4453905"/>
            <a:ext cx="2915543"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812880"/>
            <a:ext cx="2211883" cy="2845080"/>
          </a:xfrm>
        </p:spPr>
        <p:txBody>
          <a:bodyPr anchor="b"/>
          <a:lstStyle>
            <a:lvl1pPr>
              <a:defRPr sz="2400"/>
            </a:lvl1pPr>
          </a:lstStyle>
          <a:p>
            <a:r>
              <a:rPr kumimoji="1" lang="ja-JP" altLang="en-US"/>
              <a:t>マスター タイトルの書式設定</a:t>
            </a:r>
          </a:p>
        </p:txBody>
      </p:sp>
      <p:sp>
        <p:nvSpPr>
          <p:cNvPr id="3" name="図プレースホルダー 2"/>
          <p:cNvSpPr>
            <a:spLocks noGrp="1"/>
          </p:cNvSpPr>
          <p:nvPr>
            <p:ph type="pic" idx="1"/>
          </p:nvPr>
        </p:nvSpPr>
        <p:spPr>
          <a:xfrm>
            <a:off x="2915543" y="1755595"/>
            <a:ext cx="3471863" cy="866507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472381" y="3657960"/>
            <a:ext cx="2211883" cy="677682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orient="vert"/>
          </p:nvPr>
        </p:nvSpPr>
        <p:spPr>
          <a:xfrm>
            <a:off x="5526272" y="649175"/>
            <a:ext cx="860240" cy="10333174"/>
          </a:xfrm>
        </p:spPr>
        <p:txBody>
          <a:bodyPr vert="eaVert">
            <a:normAutofit/>
          </a:bodyPr>
          <a:lstStyle>
            <a:lvl1pPr>
              <a:defRPr sz="3300"/>
            </a:lvl1pPr>
          </a:lstStyle>
          <a:p>
            <a:r>
              <a:rPr lang="ja-JP"/>
              <a:t>マスター タイトルの書式設定</a:t>
            </a:r>
          </a:p>
        </p:txBody>
      </p:sp>
      <p:sp>
        <p:nvSpPr>
          <p:cNvPr id="3" name="縦書きテキスト プレースホルダー 2"/>
          <p:cNvSpPr>
            <a:spLocks noGrp="1"/>
          </p:cNvSpPr>
          <p:nvPr>
            <p:ph type="body" orient="vert" idx="1"/>
          </p:nvPr>
        </p:nvSpPr>
        <p:spPr>
          <a:xfrm>
            <a:off x="471488" y="649175"/>
            <a:ext cx="4994976" cy="10333174"/>
          </a:xfrm>
        </p:spPr>
        <p:txBody>
          <a:bodyPr vert="eaVert"/>
          <a:lstStyle>
            <a:lvl1pPr marL="171450" indent="-171450">
              <a:defRPr kumimoji="1" lang="ja-JP" altLang="en-US" sz="2100" kern="1200" dirty="0" smtClean="0">
                <a:solidFill>
                  <a:schemeClr val="tx1"/>
                </a:solidFill>
                <a:latin typeface="+mn-lt"/>
                <a:ea typeface="+mn-ea"/>
                <a:cs typeface="+mn-cs"/>
              </a:defRPr>
            </a:lvl1pPr>
            <a:lvl2pPr marL="514350" indent="-171450">
              <a:defRPr kumimoji="1" lang="ja-JP" altLang="en-US" sz="1800" kern="1200" dirty="0" smtClean="0">
                <a:solidFill>
                  <a:schemeClr val="tx1"/>
                </a:solidFill>
                <a:latin typeface="+mn-lt"/>
                <a:ea typeface="+mn-ea"/>
                <a:cs typeface="+mn-cs"/>
              </a:defRPr>
            </a:lvl2pPr>
            <a:lvl3pPr marL="857250" indent="-171450">
              <a:defRPr kumimoji="1" lang="ja-JP" altLang="en-US" sz="1500" kern="1200" dirty="0" smtClean="0">
                <a:solidFill>
                  <a:schemeClr val="tx1"/>
                </a:solidFill>
                <a:latin typeface="+mn-lt"/>
                <a:ea typeface="+mn-ea"/>
                <a:cs typeface="+mn-cs"/>
              </a:defRPr>
            </a:lvl3pPr>
            <a:lvl4pPr marL="1200150" indent="-171450">
              <a:defRPr kumimoji="1" lang="ja-JP" altLang="en-US" sz="1350" kern="1200" dirty="0" smtClean="0">
                <a:solidFill>
                  <a:schemeClr val="tx1"/>
                </a:solidFill>
                <a:latin typeface="+mn-lt"/>
                <a:ea typeface="+mn-ea"/>
                <a:cs typeface="+mn-cs"/>
              </a:defRPr>
            </a:lvl4pPr>
            <a:lvl5pPr marL="1543050" indent="-171450">
              <a:defRPr kumimoji="1" lang="ja-JP" altLang="en-US" sz="1350" kern="1200" dirty="0">
                <a:solidFill>
                  <a:schemeClr val="tx1"/>
                </a:solidFill>
                <a:latin typeface="+mn-lt"/>
                <a:ea typeface="+mn-ea"/>
                <a:cs typeface="+mn-cs"/>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kumimoji="1" lang="ja-JP" altLang="en-US" dirty="0"/>
              <a:t>マスター テキストの書式設定</a:t>
            </a:r>
          </a:p>
          <a:p>
            <a:pPr marL="685800" lvl="1" indent="-228600" algn="l" defTabSz="914400" rtl="0" eaLnBrk="1" latinLnBrk="0" hangingPunct="1">
              <a:lnSpc>
                <a:spcPct val="90000"/>
              </a:lnSpc>
              <a:spcBef>
                <a:spcPts val="500"/>
              </a:spcBef>
              <a:buFont typeface="Arial" panose="020B0604020202020204" pitchFamily="34" charset="0"/>
              <a:buChar char="•"/>
            </a:pPr>
            <a:r>
              <a:rPr kumimoji="1" lang="ja-JP" altLang="en-US" dirty="0"/>
              <a:t>第 2 レベル</a:t>
            </a:r>
          </a:p>
          <a:p>
            <a:pPr marL="1143000" lvl="2"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3 </a:t>
            </a:r>
            <a:r>
              <a:rPr kumimoji="1" lang="ja-JP" altLang="en-US" dirty="0"/>
              <a:t>レベル</a:t>
            </a:r>
          </a:p>
          <a:p>
            <a:pPr marL="1600200" lvl="3"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4 </a:t>
            </a:r>
            <a:r>
              <a:rPr kumimoji="1" lang="ja-JP" altLang="en-US" dirty="0"/>
              <a:t>レベル</a:t>
            </a:r>
          </a:p>
          <a:p>
            <a:pPr marL="2057400" lvl="4"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5 </a:t>
            </a:r>
            <a:r>
              <a:rPr kumimoji="1" lang="ja-JP" altLang="en-US" dirty="0"/>
              <a:t>レベル</a:t>
            </a:r>
          </a:p>
        </p:txBody>
      </p:sp>
      <p:sp>
        <p:nvSpPr>
          <p:cNvPr id="4" name="Date Placeholder 3"/>
          <p:cNvSpPr>
            <a:spLocks noGrp="1"/>
          </p:cNvSpPr>
          <p:nvPr>
            <p:ph type="dt" sz="half" idx="10"/>
          </p:nvPr>
        </p:nvSpPr>
        <p:spPr/>
        <p:txBody>
          <a:bodyPr/>
          <a:lstStyle/>
          <a:p>
            <a:fld id="{760FBDFE-C587-4B4C-A407-44438C67B59E}" type="datetimeFigureOut">
              <a:rPr lang="en-US" altLang="ja-JP" smtClean="0"/>
              <a:t>3/4/2026</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49AE70B2-8BF9-45C0-BB95-33D1B9D3A854}" type="slidenum">
              <a:rPr lang="en-US" altLang="ja-JP" smtClean="0"/>
              <a:t>‹#›</a:t>
            </a:fld>
            <a:endParaRPr 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760FBDFE-C587-4B4C-A407-44438C67B59E}" type="datetimeFigureOut">
              <a:rPr lang="en-US" smtClean="0"/>
              <a:t>3/4/2026</a:t>
            </a:fld>
            <a:endParaRPr lang="en-US"/>
          </a:p>
        </p:txBody>
      </p:sp>
      <p:sp>
        <p:nvSpPr>
          <p:cNvPr id="4" name="フッター プレースホルダー 3"/>
          <p:cNvSpPr>
            <a:spLocks noGrp="1"/>
          </p:cNvSpPr>
          <p:nvPr>
            <p:ph type="ftr" sz="quarter" idx="11"/>
          </p:nvPr>
        </p:nvSpPr>
        <p:spPr/>
        <p:txBody>
          <a:bodyPr/>
          <a:lstStyle/>
          <a:p>
            <a:r>
              <a:rPr lang="en-US"/>
              <a:t>フッター</a:t>
            </a:r>
          </a:p>
        </p:txBody>
      </p:sp>
      <p:sp>
        <p:nvSpPr>
          <p:cNvPr id="5" name="スライド番号プレースホルダー 4"/>
          <p:cNvSpPr>
            <a:spLocks noGrp="1"/>
          </p:cNvSpPr>
          <p:nvPr>
            <p:ph type="sldNum" sz="quarter" idx="12"/>
          </p:nvPr>
        </p:nvSpPr>
        <p:spPr/>
        <p:txBody>
          <a:bodyPr/>
          <a:lstStyle/>
          <a:p>
            <a:fld id="{49AE70B2-8BF9-45C0-BB95-33D1B9D3A854}" type="slidenum">
              <a:rPr lang="en-US" smtClean="0"/>
              <a:t>‹#›</a:t>
            </a:fld>
            <a:endParaRPr lang="en-US"/>
          </a:p>
        </p:txBody>
      </p:sp>
      <p:sp>
        <p:nvSpPr>
          <p:cNvPr id="7" name="コンテンツ プレースホルダー 6"/>
          <p:cNvSpPr>
            <a:spLocks noGrp="1"/>
          </p:cNvSpPr>
          <p:nvPr>
            <p:ph sz="quarter" idx="13"/>
          </p:nvPr>
        </p:nvSpPr>
        <p:spPr>
          <a:xfrm>
            <a:off x="471488" y="980617"/>
            <a:ext cx="5915025" cy="9883588"/>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71488" y="649175"/>
            <a:ext cx="5915025" cy="2356788"/>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1488" y="3245875"/>
            <a:ext cx="5915025" cy="77364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71488" y="11301291"/>
            <a:ext cx="1543050" cy="649175"/>
          </a:xfrm>
          <a:prstGeom prst="rect">
            <a:avLst/>
          </a:prstGeom>
        </p:spPr>
        <p:txBody>
          <a:bodyPr vert="horz" lIns="91440" tIns="45720" rIns="91440" bIns="45720" rtlCol="0" anchor="ctr"/>
          <a:lstStyle>
            <a:lvl1pPr algn="l">
              <a:defRPr sz="900">
                <a:solidFill>
                  <a:schemeClr val="tx1">
                    <a:tint val="75000"/>
                  </a:schemeClr>
                </a:solidFill>
              </a:defRPr>
            </a:lvl1p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3"/>
          </p:nvPr>
        </p:nvSpPr>
        <p:spPr>
          <a:xfrm>
            <a:off x="2271713" y="11301291"/>
            <a:ext cx="2314575" cy="64917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4843463" y="11301291"/>
            <a:ext cx="1543050" cy="649175"/>
          </a:xfrm>
          <a:prstGeom prst="rect">
            <a:avLst/>
          </a:prstGeom>
        </p:spPr>
        <p:txBody>
          <a:bodyPr vert="horz" lIns="91440" tIns="45720" rIns="91440" bIns="45720" rtlCol="0" anchor="ctr"/>
          <a:lstStyle>
            <a:lvl1pPr algn="r">
              <a:defRPr sz="900">
                <a:solidFill>
                  <a:schemeClr val="tx1">
                    <a:tint val="75000"/>
                  </a:schemeClr>
                </a:solidFill>
              </a:defRPr>
            </a:lvl1pPr>
          </a:lstStyle>
          <a:p>
            <a:fld id="{B261B85B-3F11-4807-BF0A-089ABAB91E6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lang="en-US"/>
          </a:p>
        </p:txBody>
      </p:sp>
      <p:sp>
        <p:nvSpPr>
          <p:cNvPr id="3" name="コンテンツプレースホルダ 2"/>
          <p:cNvSpPr>
            <a:spLocks noGrp="1"/>
          </p:cNvSpPr>
          <p:nvPr>
            <p:ph idx="1"/>
          </p:nvPr>
        </p:nvSpPr>
        <p:spPr/>
        <p:txBody>
          <a:bodyPr/>
          <a:lstStyle/>
          <a:p>
            <a:pPr marL="0" indent="0">
              <a:buNone/>
            </a:pPr>
            <a:r>
              <a:rPr lang="ja-JP" altLang="en-US"/>
              <a:t>空</a:t>
            </a:r>
          </a:p>
        </p:txBody>
      </p:sp>
      <p:pic>
        <p:nvPicPr>
          <p:cNvPr id="4" name="図形 3"/>
          <p:cNvPicPr>
            <a:picLocks noChangeAspect="1"/>
          </p:cNvPicPr>
          <p:nvPr/>
        </p:nvPicPr>
        <p:blipFill>
          <a:blip r:embed="rId2"/>
          <a:stretch>
            <a:fillRect/>
          </a:stretch>
        </p:blipFill>
        <p:spPr>
          <a:xfrm>
            <a:off x="270510" y="100965"/>
            <a:ext cx="6316980" cy="36080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a:xfrm>
            <a:off x="268288" y="4295742"/>
            <a:ext cx="5915025" cy="7736474"/>
          </a:xfrm>
        </p:spPr>
        <p:txBody>
          <a:bodyPr/>
          <a:lstStyle/>
          <a:p>
            <a:pPr marL="0" indent="0">
              <a:buNone/>
            </a:pPr>
            <a:r>
              <a:rPr lang="ja-JP" altLang="en-US" dirty="0"/>
              <a:t>空</a:t>
            </a:r>
          </a:p>
        </p:txBody>
      </p:sp>
      <p:pic>
        <p:nvPicPr>
          <p:cNvPr id="4" name="図 3">
            <a:extLst>
              <a:ext uri="{FF2B5EF4-FFF2-40B4-BE49-F238E27FC236}">
                <a16:creationId xmlns:a16="http://schemas.microsoft.com/office/drawing/2014/main" id="{E2051F61-D90F-42D8-806B-0D9B6603D976}"/>
              </a:ext>
            </a:extLst>
          </p:cNvPr>
          <p:cNvPicPr>
            <a:picLocks noChangeAspect="1"/>
          </p:cNvPicPr>
          <p:nvPr/>
        </p:nvPicPr>
        <p:blipFill>
          <a:blip r:embed="rId2"/>
          <a:stretch>
            <a:fillRect/>
          </a:stretch>
        </p:blipFill>
        <p:spPr>
          <a:xfrm>
            <a:off x="-1" y="0"/>
            <a:ext cx="6804091" cy="3860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a:xfrm>
            <a:off x="471487" y="4329608"/>
            <a:ext cx="5915025" cy="7736474"/>
          </a:xfrm>
        </p:spPr>
        <p:txBody>
          <a:bodyPr/>
          <a:lstStyle/>
          <a:p>
            <a:pPr marL="0" indent="0">
              <a:buNone/>
            </a:pPr>
            <a:r>
              <a:rPr lang="ja-JP" altLang="en-US"/>
              <a:t>空</a:t>
            </a:r>
          </a:p>
        </p:txBody>
      </p:sp>
      <p:pic>
        <p:nvPicPr>
          <p:cNvPr id="4" name="図 3">
            <a:extLst>
              <a:ext uri="{FF2B5EF4-FFF2-40B4-BE49-F238E27FC236}">
                <a16:creationId xmlns:a16="http://schemas.microsoft.com/office/drawing/2014/main" id="{FAB45C09-928E-4A4F-BE7F-AF396066DFB6}"/>
              </a:ext>
            </a:extLst>
          </p:cNvPr>
          <p:cNvPicPr>
            <a:picLocks noChangeAspect="1"/>
          </p:cNvPicPr>
          <p:nvPr/>
        </p:nvPicPr>
        <p:blipFill>
          <a:blip r:embed="rId2"/>
          <a:stretch>
            <a:fillRect/>
          </a:stretch>
        </p:blipFill>
        <p:spPr>
          <a:xfrm>
            <a:off x="0" y="-1"/>
            <a:ext cx="6831762" cy="387773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プレースホルダ 2"/>
          <p:cNvSpPr>
            <a:spLocks noGrp="1"/>
          </p:cNvSpPr>
          <p:nvPr>
            <p:ph idx="1"/>
          </p:nvPr>
        </p:nvSpPr>
        <p:spPr>
          <a:xfrm>
            <a:off x="471487" y="4228008"/>
            <a:ext cx="5915025" cy="7736474"/>
          </a:xfrm>
        </p:spPr>
        <p:txBody>
          <a:bodyPr/>
          <a:lstStyle/>
          <a:p>
            <a:pPr marL="0" indent="0">
              <a:buNone/>
            </a:pPr>
            <a:r>
              <a:rPr lang="ja-JP" altLang="en-US"/>
              <a:t>空</a:t>
            </a:r>
          </a:p>
        </p:txBody>
      </p:sp>
      <p:pic>
        <p:nvPicPr>
          <p:cNvPr id="4" name="図 3">
            <a:extLst>
              <a:ext uri="{FF2B5EF4-FFF2-40B4-BE49-F238E27FC236}">
                <a16:creationId xmlns:a16="http://schemas.microsoft.com/office/drawing/2014/main" id="{E10899A2-A66A-4B42-ADE8-9C5C834CA786}"/>
              </a:ext>
            </a:extLst>
          </p:cNvPr>
          <p:cNvPicPr>
            <a:picLocks noChangeAspect="1"/>
          </p:cNvPicPr>
          <p:nvPr/>
        </p:nvPicPr>
        <p:blipFill>
          <a:blip r:embed="rId2"/>
          <a:stretch>
            <a:fillRect/>
          </a:stretch>
        </p:blipFill>
        <p:spPr>
          <a:xfrm>
            <a:off x="0" y="-1"/>
            <a:ext cx="6879966" cy="38946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8" y="1948297"/>
            <a:ext cx="6852285" cy="10243702"/>
          </a:xfrm>
        </p:spPr>
        <p:txBody>
          <a:bodyPr>
            <a:noAutofit/>
          </a:bodyPr>
          <a:lstStyle/>
          <a:p>
            <a:pPr algn="l"/>
            <a:r>
              <a:rPr lang="ja-JP" altLang="en-US" sz="600" dirty="0"/>
              <a:t>プロトコルスタックの標準的な参照モデルとして最もよく使われているのが、</a:t>
            </a:r>
          </a:p>
          <a:p>
            <a:pPr algn="l"/>
            <a:r>
              <a:rPr lang="ja-JP" altLang="en-US" sz="600" dirty="0"/>
              <a:t>ISO（International Standards Organization：国際標準化機構）が定めた</a:t>
            </a:r>
          </a:p>
          <a:p>
            <a:pPr algn="l"/>
            <a:r>
              <a:rPr lang="ja-JP" altLang="en-US" sz="600" dirty="0"/>
              <a:t>OSI（Open Systems Interconnect）モデル です。</a:t>
            </a:r>
          </a:p>
          <a:p>
            <a:pPr algn="l"/>
            <a:r>
              <a:rPr lang="ja-JP" altLang="en-US" sz="600" dirty="0"/>
              <a:t>OSI モデルは、ネットワーク通信を 7 </a:t>
            </a:r>
            <a:r>
              <a:rPr lang="ja-JP" altLang="en-US" sz="600" dirty="0" err="1"/>
              <a:t>つの</a:t>
            </a:r>
            <a:r>
              <a:rPr lang="ja-JP" altLang="en-US" sz="600" dirty="0"/>
              <a:t>階層 に分割して整理しています。</a:t>
            </a:r>
          </a:p>
          <a:p>
            <a:pPr algn="l"/>
            <a:endParaRPr lang="ja-JP" altLang="en-US" sz="600" dirty="0"/>
          </a:p>
          <a:p>
            <a:pPr algn="l"/>
            <a:r>
              <a:rPr lang="ja-JP" altLang="en-US" sz="600" dirty="0"/>
              <a:t>OSI 7 階層の説明</a:t>
            </a:r>
          </a:p>
          <a:p>
            <a:pPr algn="l"/>
            <a:r>
              <a:rPr lang="ja-JP" altLang="en-US" sz="600" dirty="0"/>
              <a:t>1. 物理層（Physical Layer）</a:t>
            </a:r>
          </a:p>
          <a:p>
            <a:pPr algn="l"/>
            <a:r>
              <a:rPr lang="ja-JP" altLang="en-US" sz="600" dirty="0"/>
              <a:t>物理メディア上でのデータ伝送を扱う層。</a:t>
            </a:r>
          </a:p>
          <a:p>
            <a:pPr algn="l"/>
            <a:r>
              <a:rPr lang="ja-JP" altLang="en-US" sz="600" dirty="0"/>
              <a:t>• 	電線上の電気パルス</a:t>
            </a:r>
          </a:p>
          <a:p>
            <a:pPr algn="l"/>
            <a:r>
              <a:rPr lang="ja-JP" altLang="en-US" sz="600" dirty="0"/>
              <a:t>• 	光ファイバの光パルス</a:t>
            </a:r>
          </a:p>
          <a:p>
            <a:pPr algn="l"/>
            <a:r>
              <a:rPr lang="ja-JP" altLang="en-US" sz="600" dirty="0"/>
              <a:t>• 	インターフェース機器とケーブルの接続仕様</a:t>
            </a:r>
          </a:p>
          <a:p>
            <a:pPr algn="l"/>
            <a:r>
              <a:rPr lang="ja-JP" altLang="en-US" sz="600" dirty="0"/>
              <a:t>• 	電圧レベルの規定</a:t>
            </a:r>
          </a:p>
          <a:p>
            <a:pPr algn="l"/>
            <a:r>
              <a:rPr lang="ja-JP" altLang="en-US" sz="600" dirty="0"/>
              <a:t>といった、完全に物理的な信号レベルの処理 を担当します。</a:t>
            </a:r>
          </a:p>
          <a:p>
            <a:pPr algn="l"/>
            <a:endParaRPr lang="ja-JP" altLang="en-US" sz="600" dirty="0"/>
          </a:p>
          <a:p>
            <a:pPr algn="l"/>
            <a:r>
              <a:rPr lang="ja-JP" altLang="en-US" sz="600" dirty="0"/>
              <a:t>2. データリンク層（Data Link Layer）</a:t>
            </a:r>
          </a:p>
          <a:p>
            <a:pPr algn="l"/>
            <a:r>
              <a:rPr lang="ja-JP" altLang="en-US" sz="600" dirty="0"/>
              <a:t>物理的なネットワーク（ケーブル・電気信号）と、</a:t>
            </a:r>
          </a:p>
          <a:p>
            <a:pPr algn="l"/>
            <a:r>
              <a:rPr lang="ja-JP" altLang="en-US" sz="600" dirty="0"/>
              <a:t>抽象的なデータ（パケット・データストリーム）をつなぐ層。</a:t>
            </a:r>
          </a:p>
          <a:p>
            <a:pPr algn="l"/>
            <a:r>
              <a:rPr lang="ja-JP" altLang="en-US" sz="600" dirty="0"/>
              <a:t>• 	フレーム化</a:t>
            </a:r>
          </a:p>
          <a:p>
            <a:pPr algn="l"/>
            <a:r>
              <a:rPr lang="ja-JP" altLang="en-US" sz="600" dirty="0"/>
              <a:t>• 	MAC アドレス</a:t>
            </a:r>
          </a:p>
          <a:p>
            <a:pPr algn="l"/>
            <a:r>
              <a:rPr lang="ja-JP" altLang="en-US" sz="600" dirty="0"/>
              <a:t>• 	エラーチェック</a:t>
            </a:r>
          </a:p>
          <a:p>
            <a:pPr algn="l"/>
            <a:r>
              <a:rPr lang="ja-JP" altLang="en-US" sz="600" dirty="0"/>
              <a:t>などを扱います。</a:t>
            </a:r>
          </a:p>
          <a:p>
            <a:pPr algn="l"/>
            <a:endParaRPr lang="ja-JP" altLang="en-US" sz="600" dirty="0"/>
          </a:p>
          <a:p>
            <a:pPr algn="l"/>
            <a:r>
              <a:rPr lang="ja-JP" altLang="en-US" sz="600" dirty="0"/>
              <a:t>3. ネットワーク層（Network Layer）</a:t>
            </a:r>
          </a:p>
          <a:p>
            <a:pPr algn="l"/>
            <a:r>
              <a:rPr lang="ja-JP" altLang="en-US" sz="600" dirty="0"/>
              <a:t>ネットワークアドレス体系と、複数ネットワーク間の接続性を扱う層。</a:t>
            </a:r>
          </a:p>
          <a:p>
            <a:pPr algn="l"/>
            <a:r>
              <a:rPr lang="ja-JP" altLang="en-US" sz="600" dirty="0"/>
              <a:t>• 	IP アドレス</a:t>
            </a:r>
          </a:p>
          <a:p>
            <a:pPr algn="l"/>
            <a:r>
              <a:rPr lang="ja-JP" altLang="en-US" sz="600" dirty="0"/>
              <a:t>• 	ルーティング</a:t>
            </a:r>
          </a:p>
          <a:p>
            <a:pPr algn="l"/>
            <a:r>
              <a:rPr lang="ja-JP" altLang="en-US" sz="600" dirty="0"/>
              <a:t>• 	異なるネットワーク間の通信経路の決定</a:t>
            </a:r>
          </a:p>
          <a:p>
            <a:pPr algn="l"/>
            <a:r>
              <a:rPr lang="ja-JP" altLang="en-US" sz="600" dirty="0"/>
              <a:t>など、ネットワーク間の到達性 を管理します。</a:t>
            </a:r>
          </a:p>
          <a:p>
            <a:pPr algn="l"/>
            <a:endParaRPr lang="ja-JP" altLang="en-US" sz="600" dirty="0"/>
          </a:p>
          <a:p>
            <a:pPr algn="l"/>
            <a:r>
              <a:rPr lang="ja-JP" altLang="en-US" sz="600" dirty="0"/>
              <a:t>4. トランスポート層（Transport Layer）</a:t>
            </a:r>
          </a:p>
          <a:p>
            <a:pPr algn="l"/>
            <a:r>
              <a:rPr lang="ja-JP" altLang="en-US" sz="600" dirty="0"/>
              <a:t>データをネットワーク越しに送るための準備を行う層。</a:t>
            </a:r>
          </a:p>
          <a:p>
            <a:pPr algn="l"/>
            <a:r>
              <a:rPr lang="ja-JP" altLang="en-US" sz="600" dirty="0"/>
              <a:t>• 	エンドツーエンドの信頼性確保</a:t>
            </a:r>
          </a:p>
          <a:p>
            <a:pPr algn="l"/>
            <a:r>
              <a:rPr lang="ja-JP" altLang="en-US" sz="600" dirty="0"/>
              <a:t>• 	パケットの順序制御</a:t>
            </a:r>
          </a:p>
          <a:p>
            <a:pPr algn="l"/>
            <a:r>
              <a:rPr lang="ja-JP" altLang="en-US" sz="600" dirty="0"/>
              <a:t>• 	再送制御</a:t>
            </a:r>
          </a:p>
          <a:p>
            <a:pPr algn="l"/>
            <a:r>
              <a:rPr lang="ja-JP" altLang="en-US" sz="600" dirty="0"/>
              <a:t>など、通信の信頼性と整合性 を担保します。</a:t>
            </a:r>
          </a:p>
          <a:p>
            <a:pPr algn="l"/>
            <a:endParaRPr lang="ja-JP" altLang="en-US" sz="600" dirty="0"/>
          </a:p>
          <a:p>
            <a:pPr algn="l"/>
            <a:r>
              <a:rPr lang="ja-JP" altLang="en-US" sz="600" dirty="0"/>
              <a:t>5. セッション層（Session Layer）</a:t>
            </a:r>
          </a:p>
          <a:p>
            <a:pPr algn="l"/>
            <a:r>
              <a:rPr lang="ja-JP" altLang="en-US" sz="600" dirty="0"/>
              <a:t>システム間の接続（セッション）を確立・維持する層。</a:t>
            </a:r>
          </a:p>
          <a:p>
            <a:pPr algn="l"/>
            <a:r>
              <a:rPr lang="ja-JP" altLang="en-US" sz="600" dirty="0"/>
              <a:t>• 	接続の開始</a:t>
            </a:r>
          </a:p>
          <a:p>
            <a:pPr algn="l"/>
            <a:r>
              <a:rPr lang="ja-JP" altLang="en-US" sz="600" dirty="0"/>
              <a:t>• 	接続の維持</a:t>
            </a:r>
          </a:p>
          <a:p>
            <a:pPr algn="l"/>
            <a:r>
              <a:rPr lang="ja-JP" altLang="en-US" sz="600" dirty="0"/>
              <a:t>• 	双方のデータが同期していることの確認</a:t>
            </a:r>
          </a:p>
          <a:p>
            <a:pPr algn="l"/>
            <a:r>
              <a:rPr lang="ja-JP" altLang="en-US" sz="600" dirty="0"/>
              <a:t>といった、通信の“会話”を管理 します。</a:t>
            </a:r>
          </a:p>
          <a:p>
            <a:pPr algn="l"/>
            <a:endParaRPr lang="ja-JP" altLang="en-US" sz="600" dirty="0"/>
          </a:p>
          <a:p>
            <a:pPr algn="l"/>
            <a:r>
              <a:rPr lang="ja-JP" altLang="en-US" sz="600" dirty="0"/>
              <a:t>6. プレゼンテーション層（Presentation Layer）</a:t>
            </a:r>
          </a:p>
          <a:p>
            <a:pPr algn="l"/>
            <a:r>
              <a:rPr lang="ja-JP" altLang="en-US" sz="600" dirty="0"/>
              <a:t>送信側のデータを受信側が利用できる形式に変換する層。</a:t>
            </a:r>
          </a:p>
          <a:p>
            <a:pPr algn="l"/>
            <a:r>
              <a:rPr lang="ja-JP" altLang="en-US" sz="600" dirty="0"/>
              <a:t>例：</a:t>
            </a:r>
          </a:p>
          <a:p>
            <a:pPr algn="l"/>
            <a:r>
              <a:rPr lang="ja-JP" altLang="en-US" sz="600" dirty="0"/>
              <a:t>• 	送信側がデータを圧縮 → 受信側で解凍</a:t>
            </a:r>
          </a:p>
          <a:p>
            <a:pPr algn="l"/>
            <a:r>
              <a:rPr lang="ja-JP" altLang="en-US" sz="600" dirty="0"/>
              <a:t>• 	文字コード変換</a:t>
            </a:r>
          </a:p>
          <a:p>
            <a:pPr algn="l"/>
            <a:r>
              <a:rPr lang="ja-JP" altLang="en-US" sz="600" dirty="0"/>
              <a:t>• 	暗号化／復号</a:t>
            </a:r>
          </a:p>
          <a:p>
            <a:pPr algn="l"/>
            <a:r>
              <a:rPr lang="ja-JP" altLang="en-US" sz="600" dirty="0"/>
              <a:t>など、データ形式の変換 を担当します。</a:t>
            </a:r>
          </a:p>
          <a:p>
            <a:pPr algn="l"/>
            <a:endParaRPr lang="ja-JP" altLang="en-US" sz="600" dirty="0"/>
          </a:p>
          <a:p>
            <a:pPr algn="l"/>
            <a:r>
              <a:rPr lang="ja-JP" altLang="en-US" sz="600" dirty="0"/>
              <a:t>7. アプリケーション層（Application Layer）</a:t>
            </a:r>
          </a:p>
          <a:p>
            <a:pPr algn="l"/>
            <a:r>
              <a:rPr lang="ja-JP" altLang="en-US" sz="600" dirty="0"/>
              <a:t>アプリケーションが必要とするネットワークサービスを扱う層。</a:t>
            </a:r>
          </a:p>
          <a:p>
            <a:pPr algn="l"/>
            <a:r>
              <a:rPr lang="ja-JP" altLang="en-US" sz="600" dirty="0"/>
              <a:t>• 	アプリケーションからの要求を受け取り</a:t>
            </a:r>
          </a:p>
          <a:p>
            <a:pPr algn="l"/>
            <a:r>
              <a:rPr lang="ja-JP" altLang="en-US" sz="600" dirty="0"/>
              <a:t>• 	下位層へ適切に処理を渡す</a:t>
            </a:r>
          </a:p>
          <a:p>
            <a:pPr algn="l"/>
            <a:r>
              <a:rPr lang="ja-JP" altLang="en-US" sz="600" dirty="0"/>
              <a:t>ユーザーが直接触れる部分に最も近い層です。</a:t>
            </a:r>
          </a:p>
        </p:txBody>
      </p:sp>
      <p:pic>
        <p:nvPicPr>
          <p:cNvPr id="4" name="図 3">
            <a:extLst>
              <a:ext uri="{FF2B5EF4-FFF2-40B4-BE49-F238E27FC236}">
                <a16:creationId xmlns:a16="http://schemas.microsoft.com/office/drawing/2014/main" id="{17A684F0-AC22-41A1-83D4-9066A71483BB}"/>
              </a:ext>
            </a:extLst>
          </p:cNvPr>
          <p:cNvPicPr>
            <a:picLocks noChangeAspect="1"/>
          </p:cNvPicPr>
          <p:nvPr/>
        </p:nvPicPr>
        <p:blipFill>
          <a:blip r:embed="rId2"/>
          <a:stretch>
            <a:fillRect/>
          </a:stretch>
        </p:blipFill>
        <p:spPr>
          <a:xfrm>
            <a:off x="0" y="1"/>
            <a:ext cx="3429000" cy="19482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387725"/>
            <a:ext cx="6852285" cy="7635875"/>
          </a:xfrm>
        </p:spPr>
        <p:txBody>
          <a:bodyPr>
            <a:noAutofit/>
          </a:bodyPr>
          <a:lstStyle/>
          <a:p>
            <a:pPr algn="l"/>
            <a:r>
              <a:rPr lang="ja-JP" altLang="en-US" sz="1200" dirty="0"/>
              <a:t>Ethernet を参考にした、あるいは従来のシリアルプロトコルを拡張した多くの産業用プロトコルは、</a:t>
            </a:r>
          </a:p>
          <a:p>
            <a:pPr algn="l"/>
            <a:r>
              <a:rPr lang="ja-JP" altLang="en-US" sz="1200" dirty="0"/>
              <a:t>Ethernet インフラを活用してデバイス間（ホスト、PLC、計器、アクチュエータ、CNC など）の接続を管理できるように設計 されています。</a:t>
            </a:r>
          </a:p>
          <a:p>
            <a:pPr algn="l"/>
            <a:r>
              <a:rPr lang="ja-JP" altLang="en-US" sz="1200" dirty="0"/>
              <a:t>簡単に言えば、Modbus のような産業用プロトコルは、</a:t>
            </a:r>
          </a:p>
          <a:p>
            <a:pPr algn="l"/>
            <a:r>
              <a:rPr lang="ja-JP" altLang="en-US" sz="1200" dirty="0"/>
              <a:t>TCP/IP を使って Ethernet ネットワーク上でフレームを送信できるように設計されている ということです。</a:t>
            </a:r>
          </a:p>
          <a:p>
            <a:pPr algn="l"/>
            <a:r>
              <a:rPr lang="ja-JP" altLang="en-US" sz="1200" dirty="0"/>
              <a:t>このようにルーティング可能な形に拡張された産業用プロトコルには、以下が含まれます：</a:t>
            </a:r>
          </a:p>
          <a:p>
            <a:pPr algn="l"/>
            <a:r>
              <a:rPr lang="ja-JP" altLang="en-US" sz="1200" dirty="0"/>
              <a:t>• 	Modbus TCP</a:t>
            </a:r>
          </a:p>
          <a:p>
            <a:pPr algn="l"/>
            <a:r>
              <a:rPr lang="ja-JP" altLang="en-US" sz="1200" dirty="0"/>
              <a:t>• 	ProfiNet</a:t>
            </a:r>
          </a:p>
          <a:p>
            <a:pPr algn="l"/>
            <a:r>
              <a:rPr lang="ja-JP" altLang="en-US" sz="1200" dirty="0"/>
              <a:t>• 	EtherNet/IP</a:t>
            </a:r>
          </a:p>
          <a:p>
            <a:pPr algn="l"/>
            <a:r>
              <a:rPr lang="ja-JP" altLang="en-US" sz="1200" dirty="0"/>
              <a:t>• 	DNP3</a:t>
            </a:r>
          </a:p>
          <a:p>
            <a:pPr algn="l"/>
            <a:r>
              <a:rPr lang="ja-JP" altLang="en-US" sz="1200" dirty="0"/>
              <a:t>• 	POWERLINK</a:t>
            </a:r>
          </a:p>
          <a:p>
            <a:pPr algn="l"/>
            <a:r>
              <a:rPr lang="ja-JP" altLang="en-US" sz="1200" dirty="0"/>
              <a:t>• 	EtherCAT</a:t>
            </a:r>
          </a:p>
          <a:p>
            <a:pPr algn="l"/>
            <a:r>
              <a:rPr lang="ja-JP" altLang="en-US" sz="1200" dirty="0"/>
              <a:t>など</a:t>
            </a:r>
          </a:p>
          <a:p>
            <a:pPr algn="l"/>
            <a:r>
              <a:rPr lang="ja-JP" altLang="en-US" sz="1200" dirty="0"/>
              <a:t>これらの Ethernet 対応プロトコルは同じネットワークインフラ上でルーティング可能 ですが、</a:t>
            </a:r>
          </a:p>
          <a:p>
            <a:pPr algn="l"/>
            <a:r>
              <a:rPr lang="ja-JP" altLang="en-US" sz="1200" dirty="0"/>
              <a:t>異なるプロトコル同士を相互通信させる場合は、プロトコルコンバータなどのブリッジングデバイスが必要 になります。</a:t>
            </a:r>
          </a:p>
          <a:p>
            <a:pPr algn="l"/>
            <a:endParaRPr lang="ja-JP" altLang="en-US" sz="1200" dirty="0"/>
          </a:p>
          <a:p>
            <a:pPr algn="l"/>
            <a:r>
              <a:rPr lang="ja-JP" altLang="en-US" sz="1200" dirty="0"/>
              <a:t>Ethernet を利用する利点</a:t>
            </a:r>
          </a:p>
          <a:p>
            <a:pPr algn="l"/>
            <a:r>
              <a:rPr lang="ja-JP" altLang="en-US" sz="1200" dirty="0"/>
              <a:t>• 	デバイスとホストの接続が容易（シンプル）</a:t>
            </a:r>
          </a:p>
          <a:p>
            <a:pPr algn="l"/>
            <a:r>
              <a:rPr lang="ja-JP" altLang="en-US" sz="1200" dirty="0"/>
              <a:t>• 	複数ホストとの同時通信が可能</a:t>
            </a:r>
          </a:p>
          <a:p>
            <a:pPr algn="l"/>
            <a:r>
              <a:rPr lang="ja-JP" altLang="en-US" sz="1200" dirty="0"/>
              <a:t>• 	広く理解され、サポートされている（多くがオープン仕様でツールキットも豊富）</a:t>
            </a:r>
          </a:p>
          <a:p>
            <a:pPr algn="l"/>
            <a:r>
              <a:rPr lang="ja-JP" altLang="en-US" sz="1200" dirty="0"/>
              <a:t>• 	論理的・機能的なセグメンテーションを実現できる</a:t>
            </a:r>
          </a:p>
          <a:p>
            <a:pPr algn="l"/>
            <a:r>
              <a:rPr lang="ja-JP" altLang="en-US" sz="1200" dirty="0"/>
              <a:t>• 	SNMP によるネットワーク機器の監視・管理が可能</a:t>
            </a:r>
          </a:p>
          <a:p>
            <a:pPr algn="l"/>
            <a:r>
              <a:rPr lang="ja-JP" altLang="en-US" sz="1200" dirty="0"/>
              <a:t>• 	VLAN やネットワークゾーンを構築できる</a:t>
            </a:r>
          </a:p>
          <a:p>
            <a:pPr algn="l"/>
            <a:r>
              <a:rPr lang="ja-JP" altLang="en-US" sz="1200" dirty="0"/>
              <a:t>• 	QoS によるトラフィック優先制御が可能</a:t>
            </a:r>
          </a:p>
          <a:p>
            <a:pPr algn="l"/>
            <a:r>
              <a:rPr lang="ja-JP" altLang="en-US" sz="1200" dirty="0"/>
              <a:t>• 	無線との統合が容易でサポートも充実</a:t>
            </a:r>
          </a:p>
          <a:p>
            <a:pPr algn="l"/>
            <a:r>
              <a:rPr lang="ja-JP" altLang="en-US" sz="1200" dirty="0"/>
              <a:t>• 	標準 Ethernet ツールは標準チップセットで動作し、特定ベンダーに依存しない（相互運用性）</a:t>
            </a:r>
          </a:p>
          <a:p>
            <a:pPr algn="l"/>
            <a:r>
              <a:rPr lang="ja-JP" altLang="en-US" sz="1200" dirty="0"/>
              <a:t>• 	インターネット経由でアドレス指定が可能（良い面も悪い面もある）</a:t>
            </a:r>
          </a:p>
          <a:p>
            <a:pPr algn="l"/>
            <a:r>
              <a:rPr lang="ja-JP" altLang="en-US" sz="1200" dirty="0"/>
              <a:t>• 	低コスト</a:t>
            </a:r>
          </a:p>
        </p:txBody>
      </p:sp>
      <p:pic>
        <p:nvPicPr>
          <p:cNvPr id="2" name="図 1">
            <a:extLst>
              <a:ext uri="{FF2B5EF4-FFF2-40B4-BE49-F238E27FC236}">
                <a16:creationId xmlns:a16="http://schemas.microsoft.com/office/drawing/2014/main" id="{B8A5764C-4186-47E5-9AAA-E6BBBB50DCB8}"/>
              </a:ext>
            </a:extLst>
          </p:cNvPr>
          <p:cNvPicPr>
            <a:picLocks noChangeAspect="1"/>
          </p:cNvPicPr>
          <p:nvPr/>
        </p:nvPicPr>
        <p:blipFill>
          <a:blip r:embed="rId2"/>
          <a:stretch>
            <a:fillRect/>
          </a:stretch>
        </p:blipFill>
        <p:spPr>
          <a:xfrm>
            <a:off x="0" y="0"/>
            <a:ext cx="5736533" cy="326813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894666"/>
            <a:ext cx="6852285" cy="8297334"/>
          </a:xfrm>
        </p:spPr>
        <p:txBody>
          <a:bodyPr>
            <a:normAutofit/>
          </a:bodyPr>
          <a:lstStyle/>
          <a:p>
            <a:pPr algn="l"/>
            <a:r>
              <a:rPr lang="ja-JP" altLang="en-US" sz="1400" dirty="0"/>
              <a:t>References:</a:t>
            </a:r>
          </a:p>
          <a:p>
            <a:pPr algn="l"/>
            <a:r>
              <a:rPr lang="ja-JP" altLang="en-US" sz="1400" dirty="0"/>
              <a:t>• FOUNDATION Fieldbus – https://en.wikipedia.org/wiki/Foundation_Fieldbus</a:t>
            </a:r>
          </a:p>
          <a:p>
            <a:pPr algn="l"/>
            <a:r>
              <a:rPr lang="ja-JP" altLang="en-US" sz="1400" dirty="0"/>
              <a:t>• CIP (Common Industrial Protocol) – https://en.wikipedia.org/wiki/Common_Industrial_Protocol</a:t>
            </a:r>
          </a:p>
          <a:p>
            <a:pPr algn="l"/>
            <a:r>
              <a:rPr lang="ja-JP" altLang="en-US" sz="1400" dirty="0"/>
              <a:t>• PROFIBUS and PROFINET – https://en.wikipedia.org/wiki/Profibus</a:t>
            </a:r>
          </a:p>
          <a:p>
            <a:pPr algn="l"/>
            <a:r>
              <a:rPr lang="ja-JP" altLang="en-US" sz="1400" dirty="0"/>
              <a:t>• P-NET (Process NETwork) – https://www.p-net.org</a:t>
            </a:r>
          </a:p>
          <a:p>
            <a:pPr algn="l"/>
            <a:r>
              <a:rPr lang="ja-JP" altLang="en-US" sz="1400" dirty="0"/>
              <a:t>• FIP (Factory Instrumentation Protocol) –</a:t>
            </a:r>
          </a:p>
          <a:p>
            <a:pPr algn="l"/>
            <a:r>
              <a:rPr lang="ja-JP" altLang="en-US" sz="1400" dirty="0"/>
              <a:t>https://en.wikipedia.org/wiki/Factory_Instrumentation_Protocol</a:t>
            </a:r>
          </a:p>
          <a:p>
            <a:pPr algn="l"/>
            <a:r>
              <a:rPr lang="ja-JP" altLang="en-US" sz="1400" dirty="0"/>
              <a:t>• INTERBUS – https://en.wikipedia.org/wiki/INTERBUS</a:t>
            </a:r>
          </a:p>
          <a:p>
            <a:pPr algn="l"/>
            <a:r>
              <a:rPr lang="ja-JP" altLang="en-US" sz="1400" dirty="0"/>
              <a:t>• CC-Link (Control and Communication) – https://en.wikipedia.org/wiki/CC-Link_Industrial_Networks</a:t>
            </a:r>
          </a:p>
          <a:p>
            <a:pPr algn="l"/>
            <a:r>
              <a:rPr lang="ja-JP" altLang="en-US" sz="1400" dirty="0"/>
              <a:t>• HART (Highway Addressable Remote Transducer) –</a:t>
            </a:r>
          </a:p>
          <a:p>
            <a:pPr algn="l"/>
            <a:r>
              <a:rPr lang="ja-JP" altLang="en-US" sz="1400" dirty="0"/>
              <a:t>https://en.wikipedia.org/wiki/Highway_Addressable_Remote_Transducer_Protocol</a:t>
            </a:r>
          </a:p>
          <a:p>
            <a:pPr algn="l"/>
            <a:r>
              <a:rPr lang="ja-JP" altLang="en-US" sz="1400" dirty="0"/>
              <a:t>• Yokogawa Vnet – https://web-material3.yokogawa.com/rd-tr-r00039-005.pdf</a:t>
            </a:r>
          </a:p>
          <a:p>
            <a:pPr algn="l"/>
            <a:r>
              <a:rPr lang="ja-JP" altLang="en-US" sz="1400" dirty="0"/>
              <a:t>• Toshiba TCnet – https://www.manualslib.com/products/Toshiba-Tc-Net-100-10475338.html</a:t>
            </a:r>
          </a:p>
          <a:p>
            <a:pPr algn="l"/>
            <a:r>
              <a:rPr lang="ja-JP" altLang="en-US" sz="1400" dirty="0"/>
              <a:t>• EtherCAT – https://en.wikipedia.org/wiki/EtherCAT</a:t>
            </a:r>
          </a:p>
          <a:p>
            <a:pPr algn="l"/>
            <a:r>
              <a:rPr lang="ja-JP" altLang="en-US" sz="1400" dirty="0"/>
              <a:t>• Ethernet Powerlink – https://en.wikipedia.org/wiki/Ethernet_Powerlink</a:t>
            </a:r>
          </a:p>
          <a:p>
            <a:pPr algn="l"/>
            <a:r>
              <a:rPr lang="ja-JP" altLang="en-US" sz="1400" dirty="0"/>
              <a:t>• EPA (Ethernet for Plant Automation) – https://core.ac.uk/download/pdf/82172941.pdf</a:t>
            </a:r>
          </a:p>
          <a:p>
            <a:pPr algn="l"/>
            <a:r>
              <a:rPr lang="ja-JP" altLang="en-US" sz="1400" dirty="0"/>
              <a:t>• Modbus – https://en.wikipedia.org/wiki/Modbus</a:t>
            </a:r>
          </a:p>
          <a:p>
            <a:pPr algn="l"/>
            <a:r>
              <a:rPr lang="ja-JP" altLang="en-US" sz="1400" dirty="0"/>
              <a:t>• Sercos (SErial Real-time Communication System) – https://en.wikipedia.org/wiki/SERCOS_interface</a:t>
            </a:r>
          </a:p>
          <a:p>
            <a:pPr algn="l"/>
            <a:r>
              <a:rPr lang="ja-JP" altLang="en-US" sz="1400" dirty="0"/>
              <a:t>• MECHATROLINK – https://en.wikipedia.org/wiki/MECHATROLINK</a:t>
            </a:r>
          </a:p>
          <a:p>
            <a:pPr algn="l"/>
            <a:r>
              <a:rPr lang="ja-JP" altLang="en-US" sz="1400" dirty="0"/>
              <a:t>• CAN bus – https://en.wikipedia.org/wiki/CAN_bus</a:t>
            </a:r>
          </a:p>
          <a:p>
            <a:pPr algn="l"/>
            <a:r>
              <a:rPr lang="ja-JP" altLang="en-US" sz="1400" dirty="0"/>
              <a:t>• IEC 61850 – https://en.wikipedia.org/wiki/IEC_61850</a:t>
            </a:r>
          </a:p>
        </p:txBody>
      </p:sp>
      <p:pic>
        <p:nvPicPr>
          <p:cNvPr id="2" name="図 1">
            <a:extLst>
              <a:ext uri="{FF2B5EF4-FFF2-40B4-BE49-F238E27FC236}">
                <a16:creationId xmlns:a16="http://schemas.microsoft.com/office/drawing/2014/main" id="{C9ECB8BB-6920-4D28-A940-3E18415D938E}"/>
              </a:ext>
            </a:extLst>
          </p:cNvPr>
          <p:cNvPicPr>
            <a:picLocks noChangeAspect="1"/>
          </p:cNvPicPr>
          <p:nvPr/>
        </p:nvPicPr>
        <p:blipFill>
          <a:blip r:embed="rId2"/>
          <a:stretch>
            <a:fillRect/>
          </a:stretch>
        </p:blipFill>
        <p:spPr>
          <a:xfrm>
            <a:off x="0" y="-1"/>
            <a:ext cx="6879966" cy="38946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363595"/>
            <a:ext cx="6852285" cy="8828405"/>
          </a:xfrm>
        </p:spPr>
        <p:txBody>
          <a:bodyPr>
            <a:noAutofit/>
          </a:bodyPr>
          <a:lstStyle/>
          <a:p>
            <a:pPr algn="l"/>
            <a:r>
              <a:rPr lang="ja-JP" altLang="en-US" sz="1200" dirty="0"/>
              <a:t>パケットが OSI スタックを通過しながらどのように生成されるかを理解することは重要です。</a:t>
            </a:r>
          </a:p>
          <a:p>
            <a:pPr algn="l"/>
            <a:r>
              <a:rPr lang="ja-JP" altLang="en-US" sz="1200" dirty="0"/>
              <a:t>最終的には、送信側の各レイヤは受信側の同じレイヤと通信する必要があります。</a:t>
            </a:r>
          </a:p>
          <a:p>
            <a:pPr algn="l"/>
            <a:r>
              <a:rPr lang="ja-JP" altLang="en-US" sz="1200" dirty="0"/>
              <a:t>しかし、レイヤ同士が直接やり取りするわけではなく、</a:t>
            </a:r>
          </a:p>
          <a:p>
            <a:pPr algn="l"/>
            <a:r>
              <a:rPr lang="ja-JP" altLang="en-US" sz="1200" dirty="0"/>
              <a:t>送信側では上位から下位へ、ネットワークを横断し、受信側では下位から上位へ</a:t>
            </a:r>
          </a:p>
          <a:p>
            <a:pPr algn="l"/>
            <a:r>
              <a:rPr lang="ja-JP" altLang="en-US" sz="1200" dirty="0"/>
              <a:t>という流れで処理されます。</a:t>
            </a:r>
          </a:p>
          <a:p>
            <a:pPr algn="l"/>
            <a:r>
              <a:rPr lang="ja-JP" altLang="en-US" sz="1200" dirty="0"/>
              <a:t>この仕組みを実現するために、</a:t>
            </a:r>
          </a:p>
          <a:p>
            <a:pPr algn="l"/>
            <a:r>
              <a:rPr lang="ja-JP" altLang="en-US" sz="1200" dirty="0"/>
              <a:t>送信側ではスタックを下るごとに各レイヤがヘッダを追加し、</a:t>
            </a:r>
          </a:p>
          <a:p>
            <a:pPr algn="l"/>
            <a:r>
              <a:rPr lang="ja-JP" altLang="en-US" sz="1200" dirty="0"/>
              <a:t>受信側ではスタックを上るごとにヘッダを取り除く という動作が行われます。</a:t>
            </a:r>
          </a:p>
          <a:p>
            <a:pPr algn="l"/>
            <a:r>
              <a:rPr lang="ja-JP" altLang="en-US" sz="1200" dirty="0"/>
              <a:t>これにより、送信側のあるレイヤが作成したヘッダは、</a:t>
            </a:r>
          </a:p>
          <a:p>
            <a:pPr algn="l"/>
            <a:r>
              <a:rPr lang="ja-JP" altLang="en-US" sz="1200" dirty="0"/>
              <a:t>受信側の対応するレイヤに正しく届くことになります。</a:t>
            </a:r>
          </a:p>
          <a:p>
            <a:pPr algn="l"/>
            <a:endParaRPr lang="ja-JP" altLang="en-US" sz="1200" dirty="0"/>
          </a:p>
          <a:p>
            <a:pPr algn="l"/>
            <a:r>
              <a:rPr lang="ja-JP" altLang="en-US" sz="1200" dirty="0"/>
              <a:t>Modbus TCP と OSI モデルの対応を見る前に</a:t>
            </a:r>
          </a:p>
          <a:p>
            <a:pPr algn="l"/>
            <a:r>
              <a:rPr lang="ja-JP" altLang="en-US" sz="1200" dirty="0"/>
              <a:t>TCP/IP パケットが OSI モデルにどのように対応するかは、</a:t>
            </a:r>
          </a:p>
          <a:p>
            <a:pPr algn="l"/>
            <a:r>
              <a:rPr lang="ja-JP" altLang="en-US" sz="1200" dirty="0"/>
              <a:t>よく見かける例だと思います。</a:t>
            </a:r>
          </a:p>
          <a:p>
            <a:pPr algn="l"/>
            <a:r>
              <a:rPr lang="ja-JP" altLang="en-US" sz="1200" dirty="0"/>
              <a:t>Modbus TCP（Modbus の TCP/IP 版）も同様に OSI モデルへマッピングできます。</a:t>
            </a:r>
          </a:p>
          <a:p>
            <a:pPr algn="l"/>
            <a:r>
              <a:rPr lang="ja-JP" altLang="en-US" sz="1200" dirty="0"/>
              <a:t>しかしその前に、シリアルパケットが OSI モデルにどう対応するか を見てみましょう。</a:t>
            </a:r>
          </a:p>
          <a:p>
            <a:pPr algn="l"/>
            <a:endParaRPr lang="ja-JP" altLang="en-US" sz="1200" dirty="0"/>
          </a:p>
          <a:p>
            <a:pPr algn="l"/>
            <a:r>
              <a:rPr lang="ja-JP" altLang="en-US" sz="1200" dirty="0"/>
              <a:t>Modbus RTU（シリアル）の OSI モデルへのマッピング</a:t>
            </a:r>
          </a:p>
          <a:p>
            <a:pPr algn="l"/>
            <a:r>
              <a:rPr lang="ja-JP" altLang="en-US" sz="1200" dirty="0"/>
              <a:t>上の例では、Modbus RTU のシリアルフレームを OSI モデルに対応付けています。</a:t>
            </a:r>
          </a:p>
          <a:p>
            <a:pPr algn="l"/>
            <a:r>
              <a:rPr lang="ja-JP" altLang="en-US" sz="1200" dirty="0"/>
              <a:t>ここで注目すべき点は、中間レイヤ（ネットワーク層やトランスポート層など）に</a:t>
            </a:r>
          </a:p>
          <a:p>
            <a:pPr algn="l"/>
            <a:r>
              <a:rPr lang="ja-JP" altLang="en-US" sz="1200" dirty="0"/>
              <a:t>追加されるヘッダが存在しない ことです。</a:t>
            </a:r>
          </a:p>
          <a:p>
            <a:pPr algn="l"/>
            <a:r>
              <a:rPr lang="ja-JP" altLang="en-US" sz="1200" dirty="0"/>
              <a:t>多くのシリアルプロトコルは モノリシック（単一構造） であり、</a:t>
            </a:r>
          </a:p>
          <a:p>
            <a:pPr algn="l"/>
            <a:r>
              <a:rPr lang="ja-JP" altLang="en-US" sz="1200" dirty="0"/>
              <a:t>1 </a:t>
            </a:r>
            <a:r>
              <a:rPr lang="ja-JP" altLang="en-US" sz="1200" dirty="0" err="1"/>
              <a:t>つの</a:t>
            </a:r>
            <a:r>
              <a:rPr lang="ja-JP" altLang="en-US" sz="1200" dirty="0"/>
              <a:t>プロトコル仕様が OSI のすべてのレイヤをまとめて扱う ため、</a:t>
            </a:r>
          </a:p>
          <a:p>
            <a:pPr algn="l"/>
            <a:r>
              <a:rPr lang="ja-JP" altLang="en-US" sz="1200" dirty="0"/>
              <a:t>必要な機能だけを実装し、不要なレイヤは実質的にスキップします。</a:t>
            </a:r>
          </a:p>
          <a:p>
            <a:pPr algn="l"/>
            <a:endParaRPr lang="ja-JP" altLang="en-US" sz="1200" dirty="0"/>
          </a:p>
          <a:p>
            <a:pPr algn="l"/>
            <a:r>
              <a:rPr lang="ja-JP" altLang="en-US" sz="1200" dirty="0"/>
              <a:t>Modbus RTU ペイロードのデコード</a:t>
            </a:r>
          </a:p>
          <a:p>
            <a:pPr algn="l"/>
            <a:r>
              <a:rPr lang="ja-JP" altLang="en-US" sz="1200" dirty="0"/>
              <a:t>文中で触れられている図の下部には、</a:t>
            </a:r>
          </a:p>
          <a:p>
            <a:pPr algn="l"/>
            <a:r>
              <a:rPr lang="ja-JP" altLang="en-US" sz="1200" dirty="0"/>
              <a:t>Modbus RTU のペイロードをプロトコル解析した内容 が示されています。</a:t>
            </a:r>
          </a:p>
          <a:p>
            <a:pPr algn="l"/>
            <a:r>
              <a:rPr lang="ja-JP" altLang="en-US" sz="1200" dirty="0"/>
              <a:t>これは、アドレス、ファンクションコード、データ、CRC といった</a:t>
            </a:r>
          </a:p>
          <a:p>
            <a:pPr algn="l"/>
            <a:r>
              <a:rPr lang="ja-JP" altLang="en-US" sz="1200" dirty="0"/>
              <a:t>Modbus RTU の典型的な構造を分解して表示するものです。</a:t>
            </a:r>
          </a:p>
        </p:txBody>
      </p:sp>
      <p:pic>
        <p:nvPicPr>
          <p:cNvPr id="2" name="図 1">
            <a:extLst>
              <a:ext uri="{FF2B5EF4-FFF2-40B4-BE49-F238E27FC236}">
                <a16:creationId xmlns:a16="http://schemas.microsoft.com/office/drawing/2014/main" id="{8862B111-E73C-4CDA-94FB-462A2834C9CA}"/>
              </a:ext>
            </a:extLst>
          </p:cNvPr>
          <p:cNvPicPr>
            <a:picLocks noChangeAspect="1"/>
          </p:cNvPicPr>
          <p:nvPr/>
        </p:nvPicPr>
        <p:blipFill>
          <a:blip r:embed="rId2"/>
          <a:stretch>
            <a:fillRect/>
          </a:stretch>
        </p:blipFill>
        <p:spPr>
          <a:xfrm>
            <a:off x="0" y="-1"/>
            <a:ext cx="5698108" cy="32342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163570"/>
            <a:ext cx="6852285" cy="9028430"/>
          </a:xfrm>
        </p:spPr>
        <p:txBody>
          <a:bodyPr>
            <a:noAutofit/>
          </a:bodyPr>
          <a:lstStyle/>
          <a:p>
            <a:pPr algn="l"/>
            <a:r>
              <a:rPr lang="ja-JP" altLang="en-US" sz="1000" dirty="0"/>
              <a:t>Modbus RTU と比較すると、Modbus TCP は TCP/IP 上で動作するため、</a:t>
            </a:r>
          </a:p>
          <a:p>
            <a:pPr algn="l"/>
            <a:r>
              <a:rPr lang="ja-JP" altLang="en-US" sz="1000" dirty="0"/>
              <a:t>プロトコルのバリエーションを扱えること や</a:t>
            </a:r>
          </a:p>
          <a:p>
            <a:pPr algn="l"/>
            <a:r>
              <a:rPr lang="ja-JP" altLang="en-US" sz="1000" dirty="0"/>
              <a:t>同じ装置と複数の会話（セッション）を同時に行えること など、いくつかの追加機能を備えています。</a:t>
            </a:r>
          </a:p>
          <a:p>
            <a:pPr algn="l"/>
            <a:r>
              <a:rPr lang="ja-JP" altLang="en-US" sz="1000" dirty="0"/>
              <a:t>まず、アプリケーション層はアプリケーションから受け取った情報を処理します。</a:t>
            </a:r>
          </a:p>
          <a:p>
            <a:pPr algn="l"/>
            <a:r>
              <a:rPr lang="ja-JP" altLang="en-US" sz="1000" dirty="0"/>
              <a:t>たとえば、Modbus TCP 管理サーバは PLC に対して</a:t>
            </a:r>
          </a:p>
          <a:p>
            <a:pPr algn="l"/>
            <a:r>
              <a:rPr lang="ja-JP" altLang="en-US" sz="1000" dirty="0"/>
              <a:t>「ホールディングレジスタ 7〜8 を読み取れ」というメッセージを送信します。</a:t>
            </a:r>
          </a:p>
          <a:p>
            <a:pPr algn="l"/>
            <a:r>
              <a:rPr lang="ja-JP" altLang="en-US" sz="1000" dirty="0"/>
              <a:t>これは前の例で見た Modbus RTU と同じ要求です。</a:t>
            </a:r>
          </a:p>
          <a:p>
            <a:pPr algn="l"/>
            <a:r>
              <a:rPr lang="ja-JP" altLang="en-US" sz="1000" dirty="0"/>
              <a:t>Modbus ベンダーのソフトウェアは OSI モデルの最初の数レイヤを処理し、</a:t>
            </a:r>
          </a:p>
          <a:p>
            <a:pPr algn="l"/>
            <a:r>
              <a:rPr lang="ja-JP" altLang="en-US" sz="1000" dirty="0"/>
              <a:t>適切にフォーマットされた Modbus メッセージを OS の TCP/IP スタックに渡します。</a:t>
            </a:r>
          </a:p>
          <a:p>
            <a:pPr algn="l"/>
            <a:endParaRPr lang="ja-JP" altLang="en-US" sz="1000" dirty="0"/>
          </a:p>
          <a:p>
            <a:pPr algn="l"/>
            <a:r>
              <a:rPr lang="ja-JP" altLang="en-US" sz="1000" dirty="0"/>
              <a:t>TCP/IP スタックによるヘッダ追加（カプセル化）</a:t>
            </a:r>
          </a:p>
          <a:p>
            <a:pPr algn="l"/>
            <a:r>
              <a:rPr lang="ja-JP" altLang="en-US" sz="1000" dirty="0"/>
              <a:t>OS の TCP/IP スタックはパケットを受け取り、まず トランスポート層ヘッダ を追加します。</a:t>
            </a:r>
          </a:p>
          <a:p>
            <a:pPr algn="l"/>
            <a:r>
              <a:rPr lang="ja-JP" altLang="en-US" sz="1000" dirty="0"/>
              <a:t>このヘッダには、通信相手側のトランスポート層がパケットをどのように扱うべきかを判断するための情報が含まれています。</a:t>
            </a:r>
          </a:p>
          <a:p>
            <a:pPr algn="l"/>
            <a:r>
              <a:rPr lang="ja-JP" altLang="en-US" sz="1000" dirty="0"/>
              <a:t>次に、パケットは ネットワーク層 に渡され、</a:t>
            </a:r>
          </a:p>
          <a:p>
            <a:pPr algn="l"/>
            <a:r>
              <a:rPr lang="ja-JP" altLang="en-US" sz="1000" dirty="0"/>
              <a:t>ネットワーク層はさらに別のヘッダ（IP ヘッダ）を追加します。</a:t>
            </a:r>
          </a:p>
          <a:p>
            <a:pPr algn="l"/>
            <a:r>
              <a:rPr lang="ja-JP" altLang="en-US" sz="1000" dirty="0"/>
              <a:t>これも相手側のネットワーク層が必要とする情報です。</a:t>
            </a:r>
          </a:p>
          <a:p>
            <a:pPr algn="l"/>
            <a:r>
              <a:rPr lang="ja-JP" altLang="en-US" sz="1000" dirty="0"/>
              <a:t>その後、パケットは データリンク層 に送られ、</a:t>
            </a:r>
          </a:p>
          <a:p>
            <a:pPr algn="l"/>
            <a:r>
              <a:rPr lang="ja-JP" altLang="en-US" sz="1000" dirty="0"/>
              <a:t>ここでも独自のヘッダ（Ethernet ヘッダ）が追加されます。</a:t>
            </a:r>
          </a:p>
          <a:p>
            <a:pPr algn="l"/>
            <a:r>
              <a:rPr lang="ja-JP" altLang="en-US" sz="1000" dirty="0"/>
              <a:t>このヘッダは、送信元と宛先の間にあるルータやゲートウェイが</a:t>
            </a:r>
          </a:p>
          <a:p>
            <a:pPr algn="l"/>
            <a:r>
              <a:rPr lang="ja-JP" altLang="en-US" sz="1000" dirty="0"/>
              <a:t>パケットを正しく転送するために使われます。</a:t>
            </a:r>
          </a:p>
          <a:p>
            <a:pPr algn="l"/>
            <a:r>
              <a:rPr lang="ja-JP" altLang="en-US" sz="1000" dirty="0"/>
              <a:t>最後のヘッダが付加されると、パケットは物理媒体に送られ、</a:t>
            </a:r>
          </a:p>
          <a:p>
            <a:pPr algn="l"/>
            <a:r>
              <a:rPr lang="ja-JP" altLang="en-US" sz="1000" dirty="0"/>
              <a:t>最終的な宛先へと伝送されます。</a:t>
            </a:r>
          </a:p>
          <a:p>
            <a:pPr algn="l"/>
            <a:endParaRPr lang="ja-JP" altLang="en-US" sz="1000" dirty="0"/>
          </a:p>
          <a:p>
            <a:pPr algn="l"/>
            <a:r>
              <a:rPr lang="ja-JP" altLang="en-US" sz="1000" dirty="0"/>
              <a:t>PLC がデータを受信したとき（デカプセル化）</a:t>
            </a:r>
          </a:p>
          <a:p>
            <a:pPr algn="l"/>
            <a:r>
              <a:rPr lang="ja-JP" altLang="en-US" sz="1000" dirty="0"/>
              <a:t>PLC がパケットを受信すると、</a:t>
            </a:r>
          </a:p>
          <a:p>
            <a:pPr algn="l"/>
            <a:r>
              <a:rPr lang="ja-JP" altLang="en-US" sz="1000" dirty="0"/>
              <a:t>今度は 逆方向の処理（デカプセル化） が始まります。</a:t>
            </a:r>
          </a:p>
          <a:p>
            <a:pPr algn="l"/>
            <a:r>
              <a:rPr lang="ja-JP" altLang="en-US" sz="1000" dirty="0"/>
              <a:t>OS はまず Ethernet ヘッダと TCP/IP ヘッダを順に取り除き、</a:t>
            </a:r>
          </a:p>
          <a:p>
            <a:pPr algn="l"/>
            <a:r>
              <a:rPr lang="ja-JP" altLang="en-US" sz="1000" dirty="0"/>
              <a:t>残った部分をデバイス上の Modbus サーバへ渡します。</a:t>
            </a:r>
          </a:p>
          <a:p>
            <a:pPr algn="l"/>
            <a:r>
              <a:rPr lang="ja-JP" altLang="en-US" sz="1000" dirty="0"/>
              <a:t>このように、各レイヤのヘッダを 1 </a:t>
            </a:r>
            <a:r>
              <a:rPr lang="ja-JP" altLang="en-US" sz="1000" dirty="0" err="1"/>
              <a:t>つずつ</a:t>
            </a:r>
            <a:r>
              <a:rPr lang="ja-JP" altLang="en-US" sz="1000" dirty="0"/>
              <a:t>剥がし、</a:t>
            </a:r>
          </a:p>
          <a:p>
            <a:pPr algn="l"/>
            <a:r>
              <a:rPr lang="ja-JP" altLang="en-US" sz="1000" dirty="0"/>
              <a:t>上位レイヤへ渡していく処理がデカプセル化（decapsulation） と呼ばれます。</a:t>
            </a:r>
          </a:p>
          <a:p>
            <a:pPr algn="l"/>
            <a:endParaRPr lang="ja-JP" altLang="en-US" sz="1000" dirty="0"/>
          </a:p>
          <a:p>
            <a:pPr algn="l"/>
            <a:r>
              <a:rPr lang="ja-JP" altLang="en-US" sz="1000" dirty="0"/>
              <a:t>Modbus TCP と Modbus RTU の違い（図の説明）</a:t>
            </a:r>
          </a:p>
          <a:p>
            <a:pPr algn="l"/>
            <a:r>
              <a:rPr lang="ja-JP" altLang="en-US" sz="1000" dirty="0"/>
              <a:t>文中で触れられている図では、</a:t>
            </a:r>
          </a:p>
          <a:p>
            <a:pPr algn="l"/>
            <a:r>
              <a:rPr lang="ja-JP" altLang="en-US" sz="1000" dirty="0"/>
              <a:t>Modbus TCP のペイロードが、元となった Modbus RTU のシリアルプロトコルに</a:t>
            </a:r>
          </a:p>
          <a:p>
            <a:pPr algn="l"/>
            <a:r>
              <a:rPr lang="ja-JP" altLang="en-US" sz="1000" dirty="0"/>
              <a:t>どのような変更を加えているか が示されています。</a:t>
            </a:r>
          </a:p>
          <a:p>
            <a:pPr algn="l"/>
            <a:r>
              <a:rPr lang="ja-JP" altLang="en-US" sz="1000" dirty="0"/>
              <a:t>• 	赤い部分：Modbus TCP で追加・変更された部分</a:t>
            </a:r>
          </a:p>
          <a:p>
            <a:pPr algn="l"/>
            <a:r>
              <a:rPr lang="ja-JP" altLang="en-US" sz="1000" dirty="0"/>
              <a:t>• 	黒い部分：Modbus RTU と同じ部分（Unit ID や Function の予約値にわずかな違いあり）</a:t>
            </a:r>
          </a:p>
        </p:txBody>
      </p:sp>
      <p:pic>
        <p:nvPicPr>
          <p:cNvPr id="2" name="図 1">
            <a:extLst>
              <a:ext uri="{FF2B5EF4-FFF2-40B4-BE49-F238E27FC236}">
                <a16:creationId xmlns:a16="http://schemas.microsoft.com/office/drawing/2014/main" id="{E01CD309-A8ED-4DB5-A25B-D1A1A512F298}"/>
              </a:ext>
            </a:extLst>
          </p:cNvPr>
          <p:cNvPicPr>
            <a:picLocks noChangeAspect="1"/>
          </p:cNvPicPr>
          <p:nvPr/>
        </p:nvPicPr>
        <p:blipFill>
          <a:blip r:embed="rId2"/>
          <a:stretch>
            <a:fillRect/>
          </a:stretch>
        </p:blipFill>
        <p:spPr>
          <a:xfrm>
            <a:off x="-1" y="17006"/>
            <a:ext cx="5530549" cy="31465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2816762"/>
            <a:ext cx="6852285" cy="9367757"/>
          </a:xfrm>
        </p:spPr>
        <p:txBody>
          <a:bodyPr>
            <a:noAutofit/>
          </a:bodyPr>
          <a:lstStyle/>
          <a:p>
            <a:pPr algn="l"/>
            <a:r>
              <a:rPr lang="ja-JP" altLang="en-US" sz="800" dirty="0"/>
              <a:t>以下に、専門性を保ちつつ自然で読みやすい 日本語訳（意訳） をまとめます。</a:t>
            </a:r>
          </a:p>
          <a:p>
            <a:pPr algn="l"/>
            <a:endParaRPr lang="ja-JP" altLang="en-US" sz="800" dirty="0"/>
          </a:p>
          <a:p>
            <a:pPr algn="l"/>
            <a:r>
              <a:rPr lang="ja-JP" altLang="en-US" sz="800" dirty="0"/>
              <a:t>日本語訳（意訳）</a:t>
            </a:r>
          </a:p>
          <a:p>
            <a:pPr algn="l"/>
            <a:r>
              <a:rPr lang="ja-JP" altLang="en-US" sz="800" dirty="0"/>
              <a:t>Ethernet は、現在 LAN で使用されている 最も一般的なメディアアクセスプロトコル（OSI 第2層） です。</a:t>
            </a:r>
          </a:p>
          <a:p>
            <a:pPr algn="l"/>
            <a:r>
              <a:rPr lang="ja-JP" altLang="en-US" sz="800" dirty="0"/>
              <a:t>バックボーンを除けば、ネットワーク用途としてほぼあらゆる場所で利用されています。</a:t>
            </a:r>
          </a:p>
          <a:p>
            <a:pPr algn="l"/>
            <a:r>
              <a:rPr lang="ja-JP" altLang="en-US" sz="800" dirty="0"/>
              <a:t>Ethernet で送信されるデータのまとまりは フレーム（frame） と呼ばれます。</a:t>
            </a:r>
          </a:p>
          <a:p>
            <a:pPr algn="l"/>
            <a:r>
              <a:rPr lang="ja-JP" altLang="en-US" sz="800" dirty="0"/>
              <a:t>Ethernet ネットワークでは、同時にフレームを送信してよいノードは 1 つだけ です。</a:t>
            </a:r>
          </a:p>
          <a:p>
            <a:pPr algn="l"/>
            <a:r>
              <a:rPr lang="ja-JP" altLang="en-US" sz="800" dirty="0"/>
              <a:t>複数のシステムが同時に送信すると 衝突（collision） が発生し、</a:t>
            </a:r>
          </a:p>
          <a:p>
            <a:pPr algn="l"/>
            <a:r>
              <a:rPr lang="ja-JP" altLang="en-US" sz="800" dirty="0"/>
              <a:t>両方の信号が破損して再送が必要になります。</a:t>
            </a:r>
          </a:p>
          <a:p>
            <a:pPr algn="l"/>
            <a:endParaRPr lang="ja-JP" altLang="en-US" sz="800" dirty="0"/>
          </a:p>
          <a:p>
            <a:pPr algn="l"/>
            <a:r>
              <a:rPr lang="ja-JP" altLang="en-US" sz="800" dirty="0"/>
              <a:t>CSMA/CD（Carrier Sense Multiple Access / Collision Detection）</a:t>
            </a:r>
          </a:p>
          <a:p>
            <a:pPr algn="l"/>
            <a:r>
              <a:rPr lang="ja-JP" altLang="en-US" sz="800" dirty="0"/>
              <a:t>衝突を最小限に抑えるため、</a:t>
            </a:r>
          </a:p>
          <a:p>
            <a:pPr algn="l"/>
            <a:r>
              <a:rPr lang="ja-JP" altLang="en-US" sz="800" dirty="0"/>
              <a:t>送信前に 他のノードが送信中かどうかを確認する仕組み が必要です。</a:t>
            </a:r>
          </a:p>
          <a:p>
            <a:pPr algn="l"/>
            <a:r>
              <a:rPr lang="ja-JP" altLang="en-US" sz="800" dirty="0"/>
              <a:t>• 	すでに他の信号が流れている → 待機</a:t>
            </a:r>
          </a:p>
          <a:p>
            <a:pPr algn="l"/>
            <a:r>
              <a:rPr lang="ja-JP" altLang="en-US" sz="800" dirty="0"/>
              <a:t>• 	ラインが空いている → 送信開始</a:t>
            </a:r>
          </a:p>
          <a:p>
            <a:pPr algn="l"/>
            <a:r>
              <a:rPr lang="ja-JP" altLang="en-US" sz="800" dirty="0"/>
              <a:t>• 	送信中も監視し、衝突が起きたら 再送処理</a:t>
            </a:r>
          </a:p>
          <a:p>
            <a:pPr algn="l"/>
            <a:r>
              <a:rPr lang="ja-JP" altLang="en-US" sz="800" dirty="0"/>
              <a:t>これらの動作をまとめたものが CSMA/CD と呼ばれる Ethernet の基本動作方式です。</a:t>
            </a:r>
          </a:p>
          <a:p>
            <a:pPr algn="l"/>
            <a:endParaRPr lang="ja-JP" altLang="en-US" sz="800" dirty="0"/>
          </a:p>
          <a:p>
            <a:pPr algn="l"/>
            <a:r>
              <a:rPr lang="ja-JP" altLang="en-US" sz="800" dirty="0"/>
              <a:t>Ethernet が規定するその他の仕様</a:t>
            </a:r>
          </a:p>
          <a:p>
            <a:pPr algn="l"/>
            <a:r>
              <a:rPr lang="ja-JP" altLang="en-US" sz="800" dirty="0"/>
              <a:t>Ethernet 規格は、単に信号送信のプロトコルだけでなく、以下も定義しています：</a:t>
            </a:r>
          </a:p>
          <a:p>
            <a:pPr algn="l"/>
            <a:r>
              <a:rPr lang="ja-JP" altLang="en-US" sz="800" dirty="0"/>
              <a:t>• 	ケーブル要件（データレートに応じた種類）</a:t>
            </a:r>
          </a:p>
          <a:p>
            <a:pPr algn="l"/>
            <a:r>
              <a:rPr lang="ja-JP" altLang="en-US" sz="800" dirty="0"/>
              <a:t>• 	最大ケーブル長</a:t>
            </a:r>
          </a:p>
          <a:p>
            <a:pPr algn="l"/>
            <a:r>
              <a:rPr lang="ja-JP" altLang="en-US" sz="800" dirty="0"/>
              <a:t>• 	物理トポロジ（スター型、バス型など）</a:t>
            </a:r>
          </a:p>
          <a:p>
            <a:pPr algn="l"/>
            <a:r>
              <a:rPr lang="ja-JP" altLang="en-US" sz="800" dirty="0"/>
              <a:t>これらは、安定した通信を保証するための物理層・データリンク層の仕様です。</a:t>
            </a:r>
          </a:p>
          <a:p>
            <a:pPr algn="l"/>
            <a:endParaRPr lang="ja-JP" altLang="en-US" sz="800" dirty="0"/>
          </a:p>
          <a:p>
            <a:pPr algn="l"/>
            <a:r>
              <a:rPr lang="ja-JP" altLang="en-US" sz="800" dirty="0"/>
              <a:t>MAC アドレス（Media Access Control Address）</a:t>
            </a:r>
          </a:p>
          <a:p>
            <a:pPr algn="l"/>
            <a:r>
              <a:rPr lang="ja-JP" altLang="en-US" sz="800" dirty="0"/>
              <a:t>MAC アドレスは通常、</a:t>
            </a:r>
          </a:p>
          <a:p>
            <a:pPr algn="l"/>
            <a:r>
              <a:rPr lang="ja-JP" altLang="en-US" sz="800" dirty="0"/>
              <a:t>12 桁の 16 進数を 2 桁ずつ区切った形式 で表記されます。</a:t>
            </a:r>
          </a:p>
          <a:p>
            <a:pPr algn="l"/>
            <a:r>
              <a:rPr lang="ja-JP" altLang="en-US" sz="800" dirty="0"/>
              <a:t>例：</a:t>
            </a:r>
          </a:p>
          <a:p>
            <a:pPr algn="l"/>
            <a:endParaRPr lang="ja-JP" altLang="en-US" sz="800" dirty="0"/>
          </a:p>
          <a:p>
            <a:pPr algn="l"/>
            <a:r>
              <a:rPr lang="ja-JP" altLang="en-US" sz="800" dirty="0"/>
              <a:t>構造は次の通り：</a:t>
            </a:r>
          </a:p>
          <a:p>
            <a:pPr algn="l"/>
            <a:r>
              <a:rPr lang="ja-JP" altLang="en-US" sz="800" dirty="0"/>
              <a:t>• 	最初の 24 ビット（3 バイト）：ベンダーコード（OUI）</a:t>
            </a:r>
          </a:p>
          <a:p>
            <a:pPr algn="l"/>
            <a:r>
              <a:rPr lang="ja-JP" altLang="en-US" sz="800" dirty="0"/>
              <a:t>• 	後半の 24 ビット：ベンダーが割り当てた固有番号</a:t>
            </a:r>
          </a:p>
          <a:p>
            <a:pPr algn="l"/>
            <a:r>
              <a:rPr lang="ja-JP" altLang="en-US" sz="800" dirty="0"/>
              <a:t>MAC アドレスは一般に NIC（ネットワークインターフェースカード）に焼き込まれて出荷 されます。</a:t>
            </a:r>
          </a:p>
          <a:p>
            <a:pPr algn="l"/>
            <a:r>
              <a:rPr lang="ja-JP" altLang="en-US" sz="800" dirty="0"/>
              <a:t>例：</a:t>
            </a:r>
          </a:p>
          <a:p>
            <a:pPr algn="l"/>
            <a:r>
              <a:rPr lang="ja-JP" altLang="en-US" sz="800" dirty="0"/>
              <a:t>• 	Cisco の OUI：</a:t>
            </a:r>
          </a:p>
          <a:p>
            <a:pPr algn="l"/>
            <a:r>
              <a:rPr lang="ja-JP" altLang="en-US" sz="800" dirty="0"/>
              <a:t>• 	Sun Microsystems の OUI：</a:t>
            </a:r>
          </a:p>
          <a:p>
            <a:pPr algn="l"/>
            <a:endParaRPr lang="ja-JP" altLang="en-US" sz="800" dirty="0"/>
          </a:p>
          <a:p>
            <a:pPr algn="l"/>
            <a:r>
              <a:rPr lang="ja-JP" altLang="en-US" sz="800" dirty="0"/>
              <a:t>参考</a:t>
            </a:r>
          </a:p>
          <a:p>
            <a:pPr algn="l"/>
            <a:r>
              <a:rPr lang="ja-JP" altLang="en-US" sz="800" dirty="0"/>
              <a:t>• 	IEEE 802.3（Ethernet 標準）</a:t>
            </a:r>
          </a:p>
          <a:p>
            <a:pPr algn="l"/>
            <a:r>
              <a:rPr lang="ja-JP" altLang="en-US" sz="800" dirty="0"/>
              <a:t>http://www.ieee802.org/3/</a:t>
            </a:r>
          </a:p>
          <a:p>
            <a:pPr algn="l"/>
            <a:endParaRPr lang="ja-JP" altLang="en-US" sz="800" dirty="0"/>
          </a:p>
          <a:p>
            <a:pPr algn="l"/>
            <a:r>
              <a:rPr lang="ja-JP" altLang="en-US" sz="800" dirty="0"/>
              <a:t>必要であれば、</a:t>
            </a:r>
          </a:p>
        </p:txBody>
      </p:sp>
      <p:pic>
        <p:nvPicPr>
          <p:cNvPr id="2" name="図 1">
            <a:extLst>
              <a:ext uri="{FF2B5EF4-FFF2-40B4-BE49-F238E27FC236}">
                <a16:creationId xmlns:a16="http://schemas.microsoft.com/office/drawing/2014/main" id="{15BF23DF-7E44-4380-97AB-588B1710B6DA}"/>
              </a:ext>
            </a:extLst>
          </p:cNvPr>
          <p:cNvPicPr>
            <a:picLocks noChangeAspect="1"/>
          </p:cNvPicPr>
          <p:nvPr/>
        </p:nvPicPr>
        <p:blipFill>
          <a:blip r:embed="rId2"/>
          <a:stretch>
            <a:fillRect/>
          </a:stretch>
        </p:blipFill>
        <p:spPr>
          <a:xfrm>
            <a:off x="0" y="7481"/>
            <a:ext cx="4949371" cy="280928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572510"/>
            <a:ext cx="6852285" cy="8619490"/>
          </a:xfrm>
        </p:spPr>
        <p:txBody>
          <a:bodyPr>
            <a:noAutofit/>
          </a:bodyPr>
          <a:lstStyle/>
          <a:p>
            <a:pPr algn="l"/>
            <a:r>
              <a:rPr lang="ja-JP" altLang="en-US" sz="800" dirty="0"/>
              <a:t>ハブ（Hub）</a:t>
            </a:r>
          </a:p>
          <a:p>
            <a:pPr algn="l"/>
            <a:r>
              <a:rPr lang="ja-JP" altLang="en-US" sz="800" dirty="0"/>
              <a:t>ハブは、あるポートで受信したデータを他のすべてのポートへ“繰り返し送信（リピート）”する</a:t>
            </a:r>
          </a:p>
          <a:p>
            <a:pPr algn="l"/>
            <a:r>
              <a:rPr lang="ja-JP" altLang="en-US" sz="800" dirty="0"/>
              <a:t>ことで動作します。</a:t>
            </a:r>
          </a:p>
          <a:p>
            <a:pPr algn="l"/>
            <a:r>
              <a:rPr lang="ja-JP" altLang="en-US" sz="800" dirty="0"/>
              <a:t>そのため、1 台のシステムが送信したフレームは、</a:t>
            </a:r>
          </a:p>
          <a:p>
            <a:pPr algn="l"/>
            <a:r>
              <a:rPr lang="ja-JP" altLang="en-US" sz="800" dirty="0"/>
              <a:t>ハブに接続された すべてのシステムに再送信される ことになります。</a:t>
            </a:r>
          </a:p>
          <a:p>
            <a:pPr algn="l"/>
            <a:r>
              <a:rPr lang="ja-JP" altLang="en-US" sz="800" dirty="0"/>
              <a:t>従来型のハブには トラフィックを監視したり、特定ポートだけに送る制御機能がない ため、</a:t>
            </a:r>
          </a:p>
          <a:p>
            <a:pPr algn="l"/>
            <a:r>
              <a:rPr lang="ja-JP" altLang="en-US" sz="800" dirty="0"/>
              <a:t>ネットワーク全体が 大きなコリジョンドメイン（衝突領域） になります。</a:t>
            </a:r>
          </a:p>
          <a:p>
            <a:pPr algn="l"/>
            <a:endParaRPr lang="ja-JP" altLang="en-US" sz="800" dirty="0"/>
          </a:p>
          <a:p>
            <a:pPr algn="l"/>
            <a:r>
              <a:rPr lang="ja-JP" altLang="en-US" sz="800" dirty="0"/>
              <a:t>ブリッジ（Bridge）</a:t>
            </a:r>
          </a:p>
          <a:p>
            <a:pPr algn="l"/>
            <a:r>
              <a:rPr lang="ja-JP" altLang="en-US" sz="800" dirty="0"/>
              <a:t>ブリッジは、ネットワークの 2 </a:t>
            </a:r>
            <a:r>
              <a:rPr lang="ja-JP" altLang="en-US" sz="800" dirty="0" err="1"/>
              <a:t>つの</a:t>
            </a:r>
            <a:r>
              <a:rPr lang="ja-JP" altLang="en-US" sz="800" dirty="0"/>
              <a:t>物理セグメントを接続する装置です。</a:t>
            </a:r>
          </a:p>
          <a:p>
            <a:pPr algn="l"/>
            <a:r>
              <a:rPr lang="ja-JP" altLang="en-US" sz="800" dirty="0"/>
              <a:t>（道路の橋が 2 </a:t>
            </a:r>
            <a:r>
              <a:rPr lang="ja-JP" altLang="en-US" sz="800" dirty="0" err="1"/>
              <a:t>つの</a:t>
            </a:r>
            <a:r>
              <a:rPr lang="ja-JP" altLang="en-US" sz="800" dirty="0"/>
              <a:t>陸地をつなぐイメージ。）</a:t>
            </a:r>
          </a:p>
          <a:p>
            <a:pPr algn="l"/>
            <a:r>
              <a:rPr lang="ja-JP" altLang="en-US" sz="800" dirty="0"/>
              <a:t>ブリッジは、あるポートでフレームを受信すると、</a:t>
            </a:r>
          </a:p>
          <a:p>
            <a:pPr algn="l"/>
            <a:r>
              <a:rPr lang="ja-JP" altLang="en-US" sz="800" dirty="0"/>
              <a:t>そのフレームを別のポートへ転送すべきかどうかを判断 します。</a:t>
            </a:r>
          </a:p>
          <a:p>
            <a:pPr algn="l"/>
            <a:r>
              <a:rPr lang="ja-JP" altLang="en-US" sz="800" dirty="0"/>
              <a:t>この判断のために、ブリッジは以下を行います：</a:t>
            </a:r>
          </a:p>
          <a:p>
            <a:pPr algn="l"/>
            <a:r>
              <a:rPr lang="ja-JP" altLang="en-US" sz="800" dirty="0"/>
              <a:t>• 	通過するフレームの MAC アドレスを学習</a:t>
            </a:r>
          </a:p>
          <a:p>
            <a:pPr algn="l"/>
            <a:r>
              <a:rPr lang="ja-JP" altLang="en-US" sz="800" dirty="0"/>
              <a:t>• 	MAC アドレスとネットワークセグメントの対応表（MAC アドレステーブル）を作成</a:t>
            </a:r>
          </a:p>
          <a:p>
            <a:pPr algn="l"/>
            <a:r>
              <a:rPr lang="ja-JP" altLang="en-US" sz="800" dirty="0"/>
              <a:t>• 	必要なときだけフレームを別セグメントへ転送</a:t>
            </a:r>
          </a:p>
          <a:p>
            <a:pPr algn="l"/>
            <a:r>
              <a:rPr lang="ja-JP" altLang="en-US" sz="800" dirty="0"/>
              <a:t>これにより、ブリッジは接続されたセグメント間のデータフローを自動的に制御できます。</a:t>
            </a:r>
          </a:p>
          <a:p>
            <a:pPr algn="l"/>
            <a:endParaRPr lang="ja-JP" altLang="en-US" sz="800" dirty="0"/>
          </a:p>
          <a:p>
            <a:pPr algn="l"/>
            <a:r>
              <a:rPr lang="ja-JP" altLang="en-US" sz="800" dirty="0"/>
              <a:t>スイッチ（Switch）</a:t>
            </a:r>
          </a:p>
          <a:p>
            <a:pPr algn="l"/>
            <a:r>
              <a:rPr lang="ja-JP" altLang="en-US" sz="800" dirty="0"/>
              <a:t>スイッチは、ハブとブリッジの機能を組み合わせた装置 です。</a:t>
            </a:r>
          </a:p>
          <a:p>
            <a:pPr algn="l"/>
            <a:r>
              <a:rPr lang="ja-JP" altLang="en-US" sz="800" dirty="0"/>
              <a:t>「複数ポートを持つブリッジ」と考えると分かりやすいです。</a:t>
            </a:r>
          </a:p>
          <a:p>
            <a:pPr algn="l"/>
            <a:r>
              <a:rPr lang="ja-JP" altLang="en-US" sz="800" dirty="0"/>
              <a:t>スイッチは：</a:t>
            </a:r>
          </a:p>
          <a:p>
            <a:pPr algn="l"/>
            <a:r>
              <a:rPr lang="ja-JP" altLang="en-US" sz="800" dirty="0"/>
              <a:t>• 	ハブのように複数ポートへフレームを送信でき</a:t>
            </a:r>
          </a:p>
          <a:p>
            <a:pPr algn="l"/>
            <a:r>
              <a:rPr lang="ja-JP" altLang="en-US" sz="800" dirty="0"/>
              <a:t>• 	ブリッジのように 各ポートに接続された MAC アドレスを学習 し</a:t>
            </a:r>
          </a:p>
          <a:p>
            <a:pPr algn="l"/>
            <a:r>
              <a:rPr lang="ja-JP" altLang="en-US" sz="800" dirty="0"/>
              <a:t>• 	宛先 MAC アドレスに基づいて必要なポートだけにフレームを転送 します</a:t>
            </a:r>
          </a:p>
          <a:p>
            <a:pPr algn="l"/>
            <a:r>
              <a:rPr lang="ja-JP" altLang="en-US" sz="800" dirty="0"/>
              <a:t>その結果、各ポートが独立したコリジョンドメイン となり、</a:t>
            </a:r>
          </a:p>
          <a:p>
            <a:pPr algn="l"/>
            <a:r>
              <a:rPr lang="ja-JP" altLang="en-US" sz="800" dirty="0"/>
              <a:t>ネットワーク効率が大幅に向上します。</a:t>
            </a:r>
          </a:p>
          <a:p>
            <a:pPr algn="l"/>
            <a:r>
              <a:rPr lang="ja-JP" altLang="en-US" sz="800" dirty="0"/>
              <a:t>また、スイッチ環境ではフレームが特定ポートにしか流れないため、</a:t>
            </a:r>
          </a:p>
          <a:p>
            <a:pPr algn="l"/>
            <a:r>
              <a:rPr lang="ja-JP" altLang="en-US" sz="800" dirty="0"/>
              <a:t>スニッフィング（盗聴）が非常に困難 になります。</a:t>
            </a:r>
          </a:p>
          <a:p>
            <a:pPr algn="l"/>
            <a:endParaRPr lang="ja-JP" altLang="en-US" sz="800" dirty="0"/>
          </a:p>
          <a:p>
            <a:pPr algn="l"/>
            <a:r>
              <a:rPr lang="ja-JP" altLang="en-US" sz="800" dirty="0"/>
              <a:t>ルータ（Router）</a:t>
            </a:r>
          </a:p>
          <a:p>
            <a:pPr algn="l"/>
            <a:r>
              <a:rPr lang="ja-JP" altLang="en-US" sz="800" dirty="0"/>
              <a:t>ルータは、論理ネットワーク同士を接続する装置 であり、</a:t>
            </a:r>
          </a:p>
          <a:p>
            <a:pPr algn="l"/>
            <a:r>
              <a:rPr lang="ja-JP" altLang="en-US" sz="800" dirty="0"/>
              <a:t>ネットワークの境界（ペリメータ）に配置されることが多いです。</a:t>
            </a:r>
          </a:p>
          <a:p>
            <a:pPr algn="l"/>
            <a:r>
              <a:rPr lang="ja-JP" altLang="en-US" sz="800" dirty="0"/>
              <a:t>• 	ハブ／ブリッジ／スイッチ：同一ネットワーク内の物理セグメントを接続</a:t>
            </a:r>
          </a:p>
          <a:p>
            <a:pPr algn="l"/>
            <a:r>
              <a:rPr lang="ja-JP" altLang="en-US" sz="800" dirty="0"/>
              <a:t>• 	ルータ：異なるネットワーク（IP セグメント）を接続</a:t>
            </a:r>
          </a:p>
          <a:p>
            <a:pPr algn="l"/>
            <a:r>
              <a:rPr lang="ja-JP" altLang="en-US" sz="800" dirty="0"/>
              <a:t>ルータは、スイッチが MAC アドレスを使うのとは異なり、</a:t>
            </a:r>
          </a:p>
          <a:p>
            <a:pPr algn="l"/>
            <a:r>
              <a:rPr lang="ja-JP" altLang="en-US" sz="800" dirty="0"/>
              <a:t>OSI 第3層（ネットワーク層）の IP アドレスを参照してパケット転送を行います。</a:t>
            </a:r>
          </a:p>
          <a:p>
            <a:pPr algn="l"/>
            <a:r>
              <a:rPr lang="ja-JP" altLang="en-US" sz="800" dirty="0"/>
              <a:t>インターネットの大部分は、このルーティング機能によって</a:t>
            </a:r>
          </a:p>
          <a:p>
            <a:pPr algn="l"/>
            <a:r>
              <a:rPr lang="ja-JP" altLang="en-US" sz="800" dirty="0"/>
              <a:t>パケットの経路が決定されています。</a:t>
            </a:r>
          </a:p>
        </p:txBody>
      </p:sp>
      <p:pic>
        <p:nvPicPr>
          <p:cNvPr id="2" name="図 1">
            <a:extLst>
              <a:ext uri="{FF2B5EF4-FFF2-40B4-BE49-F238E27FC236}">
                <a16:creationId xmlns:a16="http://schemas.microsoft.com/office/drawing/2014/main" id="{418EADEA-6466-4057-9583-6D8604C27F9D}"/>
              </a:ext>
            </a:extLst>
          </p:cNvPr>
          <p:cNvPicPr>
            <a:picLocks noChangeAspect="1"/>
          </p:cNvPicPr>
          <p:nvPr/>
        </p:nvPicPr>
        <p:blipFill>
          <a:blip r:embed="rId2"/>
          <a:stretch>
            <a:fillRect/>
          </a:stretch>
        </p:blipFill>
        <p:spPr>
          <a:xfrm>
            <a:off x="0" y="0"/>
            <a:ext cx="6296022" cy="3572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669031"/>
            <a:ext cx="6852285" cy="8522970"/>
          </a:xfrm>
        </p:spPr>
        <p:txBody>
          <a:bodyPr>
            <a:noAutofit/>
          </a:bodyPr>
          <a:lstStyle/>
          <a:p>
            <a:pPr algn="l"/>
            <a:r>
              <a:rPr lang="ja-JP" altLang="en-US" sz="900" dirty="0"/>
              <a:t>VLAN（Virtual LAN：仮想 LAN）は、</a:t>
            </a:r>
          </a:p>
          <a:p>
            <a:pPr algn="l"/>
            <a:r>
              <a:rPr lang="ja-JP" altLang="en-US" sz="900" dirty="0"/>
              <a:t>大きな物理スイッチを論理的に分割し、機能やアクセス要件に応じてネットワークを分離する仕組み です。</a:t>
            </a:r>
          </a:p>
          <a:p>
            <a:pPr algn="l"/>
            <a:r>
              <a:rPr lang="ja-JP" altLang="en-US" sz="900" dirty="0"/>
              <a:t>どのポートに機器が接続されているかに関係なく、</a:t>
            </a:r>
          </a:p>
          <a:p>
            <a:pPr algn="l"/>
            <a:r>
              <a:rPr lang="ja-JP" altLang="en-US" sz="900" dirty="0"/>
              <a:t>異なるネットワークセグメントに分けることができます。</a:t>
            </a:r>
          </a:p>
          <a:p>
            <a:pPr algn="l"/>
            <a:r>
              <a:rPr lang="ja-JP" altLang="en-US" sz="900" dirty="0"/>
              <a:t>たとえば、100 人の従業員と複数のサーバが同じスイッチに接続されている場合でも、</a:t>
            </a:r>
          </a:p>
          <a:p>
            <a:pPr algn="l"/>
            <a:r>
              <a:rPr lang="ja-JP" altLang="en-US" sz="900" dirty="0"/>
              <a:t>必要に応じてアクセス範囲や可視性を制限するために VLAN で分離 できます。</a:t>
            </a:r>
          </a:p>
          <a:p>
            <a:pPr algn="l"/>
            <a:r>
              <a:rPr lang="ja-JP" altLang="en-US" sz="900" dirty="0"/>
              <a:t>これは「最小権限の原則（Least Privilege）」、</a:t>
            </a:r>
          </a:p>
          <a:p>
            <a:pPr algn="l"/>
            <a:r>
              <a:rPr lang="ja-JP" altLang="en-US" sz="900" dirty="0"/>
              <a:t>つまり 業務に必要な最小限のアクセスだけを与える という考え方に沿っています。</a:t>
            </a:r>
          </a:p>
          <a:p>
            <a:pPr algn="l"/>
            <a:endParaRPr lang="ja-JP" altLang="en-US" sz="900" dirty="0"/>
          </a:p>
          <a:p>
            <a:pPr algn="l"/>
            <a:r>
              <a:rPr lang="ja-JP" altLang="en-US" sz="900" dirty="0"/>
              <a:t>ICS では VLAN を混在利用してはいけない理由</a:t>
            </a:r>
          </a:p>
          <a:p>
            <a:pPr algn="l"/>
            <a:r>
              <a:rPr lang="ja-JP" altLang="en-US" sz="900" dirty="0"/>
              <a:t>VLAN はあくまで 論理的な制御 であり、</a:t>
            </a:r>
          </a:p>
          <a:p>
            <a:pPr algn="l"/>
            <a:r>
              <a:rPr lang="ja-JP" altLang="en-US" sz="900" dirty="0"/>
              <a:t>設定ミスやネットワーク攻撃によって破られる可能性があります。</a:t>
            </a:r>
          </a:p>
          <a:p>
            <a:pPr algn="l"/>
            <a:r>
              <a:rPr lang="ja-JP" altLang="en-US" sz="900" dirty="0"/>
              <a:t>そのため：</a:t>
            </a:r>
          </a:p>
          <a:p>
            <a:pPr algn="l"/>
            <a:r>
              <a:rPr lang="ja-JP" altLang="en-US" sz="900" dirty="0"/>
              <a:t>• 	業務ネットワーク（IT） と</a:t>
            </a:r>
          </a:p>
          <a:p>
            <a:pPr algn="l"/>
            <a:r>
              <a:rPr lang="ja-JP" altLang="en-US" sz="900" dirty="0"/>
              <a:t>• 	制御ネットワーク（OT）</a:t>
            </a:r>
          </a:p>
          <a:p>
            <a:pPr algn="l"/>
            <a:r>
              <a:rPr lang="ja-JP" altLang="en-US" sz="900" dirty="0"/>
              <a:t>を 同じ物理スイッチ上の VLAN で混在させるべきではありません。</a:t>
            </a:r>
          </a:p>
          <a:p>
            <a:pPr algn="l"/>
            <a:r>
              <a:rPr lang="ja-JP" altLang="en-US" sz="900" dirty="0"/>
              <a:t>ICS では、</a:t>
            </a:r>
          </a:p>
          <a:p>
            <a:pPr algn="l"/>
            <a:r>
              <a:rPr lang="ja-JP" altLang="en-US" sz="900" dirty="0"/>
              <a:t>物理的に別のスイッチ を使い、</a:t>
            </a:r>
          </a:p>
          <a:p>
            <a:pPr algn="l"/>
            <a:r>
              <a:rPr lang="ja-JP" altLang="en-US" sz="900" dirty="0"/>
              <a:t>それぞれに独立した VLAN 設計を行うことが推奨されます。</a:t>
            </a:r>
          </a:p>
          <a:p>
            <a:pPr algn="l"/>
            <a:endParaRPr lang="ja-JP" altLang="en-US" sz="900" dirty="0"/>
          </a:p>
          <a:p>
            <a:pPr algn="l"/>
            <a:r>
              <a:rPr lang="ja-JP" altLang="en-US" sz="900" dirty="0"/>
              <a:t>ICS（産業制御システム）で VLAN が有効な理由</a:t>
            </a:r>
          </a:p>
          <a:p>
            <a:pPr algn="l"/>
            <a:r>
              <a:rPr lang="ja-JP" altLang="en-US" sz="900" dirty="0"/>
              <a:t>VLAN は ICS において非常に有用です。理由は次の通りです。</a:t>
            </a:r>
          </a:p>
          <a:p>
            <a:pPr algn="l"/>
            <a:r>
              <a:rPr lang="ja-JP" altLang="en-US" sz="900" dirty="0"/>
              <a:t>1. 制御ネットワークを論理的に分割できる</a:t>
            </a:r>
          </a:p>
          <a:p>
            <a:pPr algn="l"/>
            <a:r>
              <a:rPr lang="ja-JP" altLang="en-US" sz="900" dirty="0"/>
              <a:t>遠隔ステーションに 1 台のスイッチしか置けない場合でも、</a:t>
            </a:r>
          </a:p>
          <a:p>
            <a:pPr algn="l"/>
            <a:r>
              <a:rPr lang="ja-JP" altLang="en-US" sz="900" dirty="0"/>
              <a:t>ステーション内の異なるシステム同士のトラフィックを分離 できます。</a:t>
            </a:r>
          </a:p>
          <a:p>
            <a:pPr algn="l"/>
            <a:r>
              <a:rPr lang="ja-JP" altLang="en-US" sz="900" dirty="0"/>
              <a:t>2. セキュリティゾーンを構築できる</a:t>
            </a:r>
          </a:p>
          <a:p>
            <a:pPr algn="l"/>
            <a:r>
              <a:rPr lang="ja-JP" altLang="en-US" sz="900" dirty="0"/>
              <a:t>制御センターでは、以下を別々の VLAN に分けられます：</a:t>
            </a:r>
          </a:p>
          <a:p>
            <a:pPr algn="l"/>
            <a:r>
              <a:rPr lang="ja-JP" altLang="en-US" sz="900" dirty="0"/>
              <a:t>• 	オペレータワークステーション</a:t>
            </a:r>
          </a:p>
          <a:p>
            <a:pPr algn="l"/>
            <a:r>
              <a:rPr lang="ja-JP" altLang="en-US" sz="900" dirty="0"/>
              <a:t>• 	サーバ</a:t>
            </a:r>
          </a:p>
          <a:p>
            <a:pPr algn="l"/>
            <a:r>
              <a:rPr lang="ja-JP" altLang="en-US" sz="900" dirty="0"/>
              <a:t>• 	プリンタ</a:t>
            </a:r>
          </a:p>
          <a:p>
            <a:pPr algn="l"/>
            <a:r>
              <a:rPr lang="ja-JP" altLang="en-US" sz="900" dirty="0"/>
              <a:t>• 	天候／ニュース取得システム</a:t>
            </a:r>
          </a:p>
          <a:p>
            <a:pPr algn="l"/>
            <a:r>
              <a:rPr lang="ja-JP" altLang="en-US" sz="900" dirty="0"/>
              <a:t>これにより、ゾーンごとのセキュリティポリシーを適用しやすくなる という利点があります。</a:t>
            </a:r>
          </a:p>
          <a:p>
            <a:pPr algn="l"/>
            <a:r>
              <a:rPr lang="ja-JP" altLang="en-US" sz="900" dirty="0"/>
              <a:t>3. ACL（アクセス制御リスト）でトラフィック制御が可能</a:t>
            </a:r>
          </a:p>
          <a:p>
            <a:pPr algn="l"/>
            <a:r>
              <a:rPr lang="ja-JP" altLang="en-US" sz="900" dirty="0"/>
              <a:t>VLAN 間の通信は ACL を使って制御できます。</a:t>
            </a:r>
          </a:p>
          <a:p>
            <a:pPr algn="l"/>
            <a:r>
              <a:rPr lang="ja-JP" altLang="en-US" sz="900" dirty="0"/>
              <a:t>• 	必要な通信だけ許可</a:t>
            </a:r>
          </a:p>
          <a:p>
            <a:pPr algn="l"/>
            <a:r>
              <a:rPr lang="ja-JP" altLang="en-US" sz="900" dirty="0"/>
              <a:t>• 	不要な通信は遮断</a:t>
            </a:r>
          </a:p>
          <a:p>
            <a:pPr algn="l"/>
            <a:r>
              <a:rPr lang="ja-JP" altLang="en-US" sz="900" dirty="0"/>
              <a:t>ただし、リアルタイム性が求められる ICS では、ACL による遅延が許容範囲内であることが重要 です。</a:t>
            </a:r>
          </a:p>
        </p:txBody>
      </p:sp>
      <p:pic>
        <p:nvPicPr>
          <p:cNvPr id="2" name="図 1">
            <a:extLst>
              <a:ext uri="{FF2B5EF4-FFF2-40B4-BE49-F238E27FC236}">
                <a16:creationId xmlns:a16="http://schemas.microsoft.com/office/drawing/2014/main" id="{D68C746F-0022-498B-9F1E-1F2C9A6E2300}"/>
              </a:ext>
            </a:extLst>
          </p:cNvPr>
          <p:cNvPicPr>
            <a:picLocks noChangeAspect="1"/>
          </p:cNvPicPr>
          <p:nvPr/>
        </p:nvPicPr>
        <p:blipFill>
          <a:blip r:embed="rId2"/>
          <a:stretch>
            <a:fillRect/>
          </a:stretch>
        </p:blipFill>
        <p:spPr>
          <a:xfrm>
            <a:off x="-1" y="0"/>
            <a:ext cx="6450947" cy="36690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283585"/>
            <a:ext cx="6852285" cy="8908415"/>
          </a:xfrm>
        </p:spPr>
        <p:txBody>
          <a:bodyPr>
            <a:noAutofit/>
          </a:bodyPr>
          <a:lstStyle/>
          <a:p>
            <a:pPr algn="l"/>
            <a:r>
              <a:rPr lang="ja-JP" altLang="en-US" sz="1200" dirty="0"/>
              <a:t>Network Access Control（NAC：ネットワークアクセス制御）は、</a:t>
            </a:r>
          </a:p>
          <a:p>
            <a:pPr algn="l"/>
            <a:r>
              <a:rPr lang="ja-JP" altLang="en-US" sz="1200" dirty="0"/>
              <a:t>システムがスキャンされ、適切にパッチが適用されるまで隔離 VLAN に配置する ことで、</a:t>
            </a:r>
          </a:p>
          <a:p>
            <a:pPr algn="l"/>
            <a:r>
              <a:rPr lang="ja-JP" altLang="en-US" sz="1200" dirty="0"/>
              <a:t>他のシステムへの感染リスクを最小化できます。</a:t>
            </a:r>
          </a:p>
          <a:p>
            <a:pPr algn="l"/>
            <a:r>
              <a:rPr lang="ja-JP" altLang="en-US" sz="1200" dirty="0"/>
              <a:t>セキュリティの重要なモットーとしてよく言われるのが</a:t>
            </a:r>
          </a:p>
          <a:p>
            <a:pPr algn="l"/>
            <a:r>
              <a:rPr lang="ja-JP" altLang="en-US" sz="1200" dirty="0"/>
              <a:t>「予防が理想だが、検知は必須」 です。</a:t>
            </a:r>
          </a:p>
          <a:p>
            <a:pPr algn="l"/>
            <a:r>
              <a:rPr lang="ja-JP" altLang="en-US" sz="1200" dirty="0"/>
              <a:t>攻撃を完全に防ぐ方法はありません。</a:t>
            </a:r>
          </a:p>
          <a:p>
            <a:pPr algn="l"/>
            <a:r>
              <a:rPr lang="ja-JP" altLang="en-US" sz="1200" dirty="0"/>
              <a:t>しかし NAC を使えば、もし 1 台のシステムが感染したとしても、</a:t>
            </a:r>
          </a:p>
          <a:p>
            <a:pPr algn="l"/>
            <a:r>
              <a:rPr lang="ja-JP" altLang="en-US" sz="1200" dirty="0"/>
              <a:t>重要ネットワークへの接続を遮断し、VLAN によって感染拡大を防ぐ ことができます。</a:t>
            </a:r>
          </a:p>
          <a:p>
            <a:pPr algn="l"/>
            <a:r>
              <a:rPr lang="ja-JP" altLang="en-US" sz="1200" dirty="0"/>
              <a:t>NAC と VLAN はそれぞれ単体でも価値がありますが、</a:t>
            </a:r>
          </a:p>
          <a:p>
            <a:pPr algn="l"/>
            <a:r>
              <a:rPr lang="ja-JP" altLang="en-US" sz="1200" dirty="0"/>
              <a:t>組み合わせることで、特にフィールド技術者向けサブネットのようなエンドユーザーネットワークに</a:t>
            </a:r>
          </a:p>
          <a:p>
            <a:pPr algn="l"/>
            <a:r>
              <a:rPr lang="ja-JP" altLang="en-US" sz="1200" dirty="0"/>
              <a:t>強力な保護を提供 できます。</a:t>
            </a:r>
          </a:p>
          <a:p>
            <a:pPr algn="l"/>
            <a:endParaRPr lang="ja-JP" altLang="en-US" sz="1200" dirty="0"/>
          </a:p>
          <a:p>
            <a:pPr algn="l"/>
            <a:r>
              <a:rPr lang="ja-JP" altLang="en-US" sz="1200" dirty="0"/>
              <a:t>ICS（産業制御システム）における NAC の適用</a:t>
            </a:r>
          </a:p>
          <a:p>
            <a:pPr algn="l"/>
            <a:r>
              <a:rPr lang="ja-JP" altLang="en-US" sz="1200" dirty="0"/>
              <a:t>NAC は以下のような、</a:t>
            </a:r>
          </a:p>
          <a:p>
            <a:pPr algn="l"/>
            <a:r>
              <a:rPr lang="ja-JP" altLang="en-US" sz="1200" dirty="0"/>
              <a:t>ワークステーションやノート PC が利用されるネットワークセグメントに適しています：</a:t>
            </a:r>
          </a:p>
          <a:p>
            <a:pPr algn="l"/>
            <a:r>
              <a:rPr lang="ja-JP" altLang="en-US" sz="1200" dirty="0"/>
              <a:t>• 	ICS コントロールセンター</a:t>
            </a:r>
          </a:p>
          <a:p>
            <a:pPr algn="l"/>
            <a:r>
              <a:rPr lang="ja-JP" altLang="en-US" sz="1200" dirty="0"/>
              <a:t>• 	ICS エンジニアや技術者の作業エリア</a:t>
            </a:r>
          </a:p>
          <a:p>
            <a:pPr algn="l"/>
            <a:r>
              <a:rPr lang="ja-JP" altLang="en-US" sz="1200" dirty="0"/>
              <a:t>• 	フィールド技術者のノート PC やデバイスの同期ステーション</a:t>
            </a:r>
          </a:p>
          <a:p>
            <a:pPr algn="l"/>
            <a:r>
              <a:rPr lang="ja-JP" altLang="en-US" sz="1200" dirty="0"/>
              <a:t>これにより、</a:t>
            </a:r>
          </a:p>
          <a:p>
            <a:pPr algn="l"/>
            <a:r>
              <a:rPr lang="ja-JP" altLang="en-US" sz="1200" dirty="0"/>
              <a:t>未承認デバイスが制御ネットワークに接続したり通信したりすることを防ぐ追加の防御層</a:t>
            </a:r>
          </a:p>
          <a:p>
            <a:pPr algn="l"/>
            <a:r>
              <a:rPr lang="ja-JP" altLang="en-US" sz="1200" dirty="0" err="1"/>
              <a:t>が提</a:t>
            </a:r>
            <a:r>
              <a:rPr lang="ja-JP" altLang="en-US" sz="1200" dirty="0"/>
              <a:t>供されます。</a:t>
            </a:r>
          </a:p>
          <a:p>
            <a:pPr algn="l"/>
            <a:endParaRPr lang="ja-JP" altLang="en-US" sz="1200" dirty="0"/>
          </a:p>
          <a:p>
            <a:pPr algn="l"/>
            <a:r>
              <a:rPr lang="ja-JP" altLang="en-US" sz="1200" dirty="0"/>
              <a:t>ただし、フィールドネットワークでは適用が難しい</a:t>
            </a:r>
          </a:p>
          <a:p>
            <a:pPr algn="l"/>
            <a:r>
              <a:rPr lang="ja-JP" altLang="en-US" sz="1200" dirty="0"/>
              <a:t>現状の NAC 製品は、</a:t>
            </a:r>
          </a:p>
          <a:p>
            <a:pPr algn="l"/>
            <a:r>
              <a:rPr lang="ja-JP" altLang="en-US" sz="1200" dirty="0"/>
              <a:t>多くのフィールドネットワーク（レベル 0〜2 の OT ネットワーク）には適さない</a:t>
            </a:r>
          </a:p>
          <a:p>
            <a:pPr algn="l"/>
            <a:r>
              <a:rPr lang="ja-JP" altLang="en-US" sz="1200" dirty="0"/>
              <a:t>ことが一般的です。</a:t>
            </a:r>
          </a:p>
          <a:p>
            <a:pPr algn="l"/>
            <a:r>
              <a:rPr lang="ja-JP" altLang="en-US" sz="1200" dirty="0"/>
              <a:t>理由の例：</a:t>
            </a:r>
          </a:p>
          <a:p>
            <a:pPr algn="l"/>
            <a:r>
              <a:rPr lang="ja-JP" altLang="en-US" sz="1200" dirty="0"/>
              <a:t>• 	デバイスがレガシーで NAC エージェントを導入できない</a:t>
            </a:r>
          </a:p>
          <a:p>
            <a:pPr algn="l"/>
            <a:r>
              <a:rPr lang="ja-JP" altLang="en-US" sz="1200" dirty="0"/>
              <a:t>• 	ネットワークがシンプルすぎて NAC の恩恵が少ない</a:t>
            </a:r>
          </a:p>
          <a:p>
            <a:pPr algn="l"/>
            <a:r>
              <a:rPr lang="ja-JP" altLang="en-US" sz="1200" dirty="0"/>
              <a:t>• 	リアルタイム性が求められ、NAC の遅延や制御が影響を与える可能性がある</a:t>
            </a:r>
          </a:p>
        </p:txBody>
      </p:sp>
      <p:pic>
        <p:nvPicPr>
          <p:cNvPr id="2" name="図 1">
            <a:extLst>
              <a:ext uri="{FF2B5EF4-FFF2-40B4-BE49-F238E27FC236}">
                <a16:creationId xmlns:a16="http://schemas.microsoft.com/office/drawing/2014/main" id="{CDDEFAF0-9070-4E36-BEE2-400ED5F37F78}"/>
              </a:ext>
            </a:extLst>
          </p:cNvPr>
          <p:cNvPicPr>
            <a:picLocks noChangeAspect="1"/>
          </p:cNvPicPr>
          <p:nvPr/>
        </p:nvPicPr>
        <p:blipFill>
          <a:blip r:embed="rId2"/>
          <a:stretch>
            <a:fillRect/>
          </a:stretch>
        </p:blipFill>
        <p:spPr>
          <a:xfrm>
            <a:off x="-1" y="0"/>
            <a:ext cx="5779109" cy="32835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531870"/>
            <a:ext cx="6852285" cy="8660130"/>
          </a:xfrm>
        </p:spPr>
        <p:txBody>
          <a:bodyPr>
            <a:noAutofit/>
          </a:bodyPr>
          <a:lstStyle/>
          <a:p>
            <a:pPr algn="l"/>
            <a:r>
              <a:rPr lang="ja-JP" altLang="en-US" sz="1050" dirty="0"/>
              <a:t>電気機械式（エレクトロメカニカル）からデジタル制御への移行により、</a:t>
            </a:r>
          </a:p>
          <a:p>
            <a:pPr algn="l"/>
            <a:r>
              <a:rPr lang="ja-JP" altLang="en-US" sz="1050" dirty="0"/>
              <a:t>信頼性・可用性の向上と効率化 が大きく進みました。</a:t>
            </a:r>
          </a:p>
          <a:p>
            <a:pPr algn="l"/>
            <a:r>
              <a:rPr lang="ja-JP" altLang="en-US" sz="1050" dirty="0"/>
              <a:t>世界はポイントツーポイント配線から フィールドバス方式 へと移行し、現在では多くの ICS ベンダーが ハイブリッド Ethernet／フィールドバスネットワーク を採用して、機器や ICS コンポーネントを接続し、制御システム間で情報を共有しています。</a:t>
            </a:r>
          </a:p>
          <a:p>
            <a:pPr algn="l"/>
            <a:r>
              <a:rPr lang="ja-JP" altLang="en-US" sz="1050" dirty="0"/>
              <a:t>自動化の初期には多くの独自プロトコルが開発されましたが、現在では オープンプロトコル や 広く普及した少数のプロトコルへの収束 が一般的です。</a:t>
            </a:r>
          </a:p>
          <a:p>
            <a:pPr algn="l"/>
            <a:endParaRPr lang="ja-JP" altLang="en-US" sz="1050" dirty="0"/>
          </a:p>
          <a:p>
            <a:pPr algn="l"/>
            <a:r>
              <a:rPr lang="ja-JP" altLang="en-US" sz="1050" dirty="0"/>
              <a:t>ICS プロトコルが多様化した理由（ICS 特有の要求）</a:t>
            </a:r>
          </a:p>
          <a:p>
            <a:pPr algn="l"/>
            <a:r>
              <a:rPr lang="ja-JP" altLang="en-US" sz="1050" dirty="0"/>
              <a:t>ICS アプリケーションには、一般的な IT システムとは異なる要求や複雑性があり、これが多様な産業用プロトコルの発展につながりました。</a:t>
            </a:r>
          </a:p>
          <a:p>
            <a:pPr algn="l"/>
            <a:r>
              <a:rPr lang="ja-JP" altLang="en-US" sz="1050" dirty="0"/>
              <a:t>ICS が求める主な要件</a:t>
            </a:r>
          </a:p>
          <a:p>
            <a:pPr algn="l"/>
            <a:r>
              <a:rPr lang="ja-JP" altLang="en-US" sz="1050" dirty="0"/>
              <a:t>• 	リアルタイム性</a:t>
            </a:r>
          </a:p>
          <a:p>
            <a:pPr algn="l"/>
            <a:r>
              <a:rPr lang="ja-JP" altLang="en-US" sz="1050" dirty="0"/>
              <a:t>状態変化を特定の時間内に検知し、確実に動作する必要がある。</a:t>
            </a:r>
          </a:p>
          <a:p>
            <a:pPr algn="l"/>
            <a:r>
              <a:rPr lang="ja-JP" altLang="en-US" sz="1050" dirty="0"/>
              <a:t>• 	決定論的動作（Determinism）</a:t>
            </a:r>
          </a:p>
          <a:p>
            <a:pPr algn="l"/>
            <a:r>
              <a:rPr lang="ja-JP" altLang="en-US" sz="1050" dirty="0"/>
              <a:t>動作があらかじめ決められた順序で実行されること。</a:t>
            </a:r>
          </a:p>
          <a:p>
            <a:pPr algn="l"/>
            <a:r>
              <a:rPr lang="ja-JP" altLang="en-US" sz="1050" dirty="0"/>
              <a:t>• 	高信頼性</a:t>
            </a:r>
          </a:p>
          <a:p>
            <a:pPr algn="l"/>
            <a:r>
              <a:rPr lang="ja-JP" altLang="en-US" sz="1050" dirty="0"/>
              <a:t>可用性目標を満たすため、冗長化などの仕組みが必要。</a:t>
            </a:r>
          </a:p>
          <a:p>
            <a:pPr algn="l"/>
            <a:r>
              <a:rPr lang="ja-JP" altLang="en-US" sz="1050" dirty="0"/>
              <a:t>• 	安全性（Safety）</a:t>
            </a:r>
          </a:p>
          <a:p>
            <a:pPr algn="l"/>
            <a:r>
              <a:rPr lang="ja-JP" altLang="en-US" sz="1050" dirty="0"/>
              <a:t>危険な状態を検知し、プロセスを安全に保つための応答が求められる。</a:t>
            </a:r>
          </a:p>
          <a:p>
            <a:pPr algn="l"/>
            <a:r>
              <a:rPr lang="ja-JP" altLang="en-US" sz="1050" dirty="0"/>
              <a:t>• 	堅牢な物理インターフェース</a:t>
            </a:r>
          </a:p>
          <a:p>
            <a:pPr algn="l"/>
            <a:r>
              <a:rPr lang="ja-JP" altLang="en-US" sz="1050" dirty="0"/>
              <a:t>高温・粉塵などの過酷環境に耐えるコネクタやケーブルが必要。</a:t>
            </a:r>
          </a:p>
          <a:p>
            <a:pPr algn="l"/>
            <a:r>
              <a:rPr lang="ja-JP" altLang="en-US" sz="1050" dirty="0"/>
              <a:t>• 	遠隔アクセス性</a:t>
            </a:r>
          </a:p>
          <a:p>
            <a:pPr algn="l"/>
            <a:r>
              <a:rPr lang="ja-JP" altLang="en-US" sz="1050" dirty="0"/>
              <a:t>人が触れにくい場所にある機器を遠隔で管理する必要がある。</a:t>
            </a:r>
          </a:p>
          <a:p>
            <a:pPr algn="l"/>
            <a:r>
              <a:rPr lang="ja-JP" altLang="en-US" sz="1050" dirty="0"/>
              <a:t>• 	セキュリティ</a:t>
            </a:r>
          </a:p>
          <a:p>
            <a:pPr algn="l"/>
            <a:r>
              <a:rPr lang="ja-JP" altLang="en-US" sz="1050" dirty="0"/>
              <a:t>近年は ICS にも一定レベルのセキュリティが求められるようになっている。</a:t>
            </a:r>
          </a:p>
          <a:p>
            <a:pPr algn="l"/>
            <a:endParaRPr lang="ja-JP" altLang="en-US" sz="1050" dirty="0"/>
          </a:p>
          <a:p>
            <a:pPr algn="l"/>
            <a:r>
              <a:rPr lang="ja-JP" altLang="en-US" sz="1050" dirty="0"/>
              <a:t>IEC 61850 に見られるプロトコル統合の例</a:t>
            </a:r>
          </a:p>
          <a:p>
            <a:pPr algn="l"/>
            <a:r>
              <a:rPr lang="ja-JP" altLang="en-US" sz="1050" dirty="0"/>
              <a:t>IEC 61850 は、変電所自動化のための国際標準であり、</a:t>
            </a:r>
          </a:p>
          <a:p>
            <a:pPr algn="l"/>
            <a:r>
              <a:rPr lang="ja-JP" altLang="en-US" sz="1050" dirty="0"/>
              <a:t>複数のプロトコルを統合的に扱うためのマッピングを提供 しています。</a:t>
            </a:r>
          </a:p>
          <a:p>
            <a:pPr algn="l"/>
            <a:r>
              <a:rPr lang="ja-JP" altLang="en-US" sz="1050" dirty="0"/>
              <a:t>これにより、</a:t>
            </a:r>
          </a:p>
          <a:p>
            <a:pPr algn="l"/>
            <a:r>
              <a:rPr lang="ja-JP" altLang="en-US" sz="1050" dirty="0"/>
              <a:t>• 	データモデルの標準化</a:t>
            </a:r>
          </a:p>
          <a:p>
            <a:pPr algn="l"/>
            <a:r>
              <a:rPr lang="ja-JP" altLang="en-US" sz="1050" dirty="0"/>
              <a:t>• 	通信プロトコルの統一</a:t>
            </a:r>
          </a:p>
          <a:p>
            <a:pPr algn="l"/>
            <a:r>
              <a:rPr lang="ja-JP" altLang="en-US" sz="1050" dirty="0"/>
              <a:t>• 	相互運用性の向上</a:t>
            </a:r>
          </a:p>
          <a:p>
            <a:pPr algn="l"/>
            <a:r>
              <a:rPr lang="ja-JP" altLang="en-US" sz="1050" dirty="0"/>
              <a:t>といったメリットが実現され、</a:t>
            </a:r>
          </a:p>
          <a:p>
            <a:pPr algn="l"/>
            <a:r>
              <a:rPr lang="ja-JP" altLang="en-US" sz="1050" dirty="0"/>
              <a:t>電力分野の ICS におけるプロトコル統合の代表例となっています。</a:t>
            </a:r>
          </a:p>
        </p:txBody>
      </p:sp>
      <p:pic>
        <p:nvPicPr>
          <p:cNvPr id="2" name="図 1">
            <a:extLst>
              <a:ext uri="{FF2B5EF4-FFF2-40B4-BE49-F238E27FC236}">
                <a16:creationId xmlns:a16="http://schemas.microsoft.com/office/drawing/2014/main" id="{C89ADB06-DF5C-4FC3-879D-53F17506DB3D}"/>
              </a:ext>
            </a:extLst>
          </p:cNvPr>
          <p:cNvPicPr>
            <a:picLocks noChangeAspect="1"/>
          </p:cNvPicPr>
          <p:nvPr/>
        </p:nvPicPr>
        <p:blipFill>
          <a:blip r:embed="rId2"/>
          <a:stretch>
            <a:fillRect/>
          </a:stretch>
        </p:blipFill>
        <p:spPr>
          <a:xfrm>
            <a:off x="-1" y="0"/>
            <a:ext cx="6207781" cy="35318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5FF1ACBB-D622-4A0D-821D-E17E0F2229C9}"/>
              </a:ext>
            </a:extLst>
          </p:cNvPr>
          <p:cNvPicPr>
            <a:picLocks noChangeAspect="1"/>
          </p:cNvPicPr>
          <p:nvPr/>
        </p:nvPicPr>
        <p:blipFill>
          <a:blip r:embed="rId2"/>
          <a:stretch>
            <a:fillRect/>
          </a:stretch>
        </p:blipFill>
        <p:spPr>
          <a:xfrm>
            <a:off x="-1" y="0"/>
            <a:ext cx="6884415" cy="391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15A933E2-D6C4-4BE3-9DF0-F049DFDE91DC}"/>
              </a:ext>
            </a:extLst>
          </p:cNvPr>
          <p:cNvPicPr>
            <a:picLocks noChangeAspect="1"/>
          </p:cNvPicPr>
          <p:nvPr/>
        </p:nvPicPr>
        <p:blipFill>
          <a:blip r:embed="rId2"/>
          <a:stretch>
            <a:fillRect/>
          </a:stretch>
        </p:blipFill>
        <p:spPr>
          <a:xfrm>
            <a:off x="0" y="0"/>
            <a:ext cx="6820140" cy="3860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90726BBD-E2C8-4685-9C79-2B9E0BE5C27D}"/>
              </a:ext>
            </a:extLst>
          </p:cNvPr>
          <p:cNvPicPr>
            <a:picLocks noChangeAspect="1"/>
          </p:cNvPicPr>
          <p:nvPr/>
        </p:nvPicPr>
        <p:blipFill>
          <a:blip r:embed="rId2"/>
          <a:stretch>
            <a:fillRect/>
          </a:stretch>
        </p:blipFill>
        <p:spPr>
          <a:xfrm>
            <a:off x="0" y="0"/>
            <a:ext cx="6827136" cy="3860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435985"/>
            <a:ext cx="6852285" cy="8756015"/>
          </a:xfrm>
        </p:spPr>
        <p:txBody>
          <a:bodyPr>
            <a:noAutofit/>
          </a:bodyPr>
          <a:lstStyle/>
          <a:p>
            <a:pPr algn="l"/>
            <a:r>
              <a:rPr lang="ja-JP" altLang="en-US" sz="900" dirty="0"/>
              <a:t>どちらのプロトコルスタック（OSI と TCP/IP）が優れているのか、とよく質問されますが、</a:t>
            </a:r>
          </a:p>
          <a:p>
            <a:pPr algn="l"/>
            <a:r>
              <a:rPr lang="ja-JP" altLang="en-US" sz="900" dirty="0"/>
              <a:t>答えは「どちらも必要」 です。</a:t>
            </a:r>
          </a:p>
          <a:p>
            <a:pPr algn="l"/>
            <a:r>
              <a:rPr lang="ja-JP" altLang="en-US" sz="900" dirty="0"/>
              <a:t>実際には両方が使われており、学習者は両方を理解する必要があります。</a:t>
            </a:r>
          </a:p>
          <a:p>
            <a:pPr algn="l"/>
            <a:r>
              <a:rPr lang="ja-JP" altLang="en-US" sz="900" dirty="0"/>
              <a:t>プロトコルについて話すときや、</a:t>
            </a:r>
          </a:p>
          <a:p>
            <a:pPr algn="l"/>
            <a:r>
              <a:rPr lang="ja-JP" altLang="en-US" sz="900" dirty="0"/>
              <a:t>「このプロトコルは OSI のどのレイヤで動作するか」を説明するときには</a:t>
            </a:r>
          </a:p>
          <a:p>
            <a:pPr algn="l"/>
            <a:r>
              <a:rPr lang="ja-JP" altLang="en-US" sz="900" dirty="0"/>
              <a:t>OSI モデル が使われます。</a:t>
            </a:r>
          </a:p>
          <a:p>
            <a:pPr algn="l"/>
            <a:r>
              <a:rPr lang="ja-JP" altLang="en-US" sz="900" dirty="0"/>
              <a:t>たとえば「ルーティングはレイヤ 3 の機能」といった表現です。</a:t>
            </a:r>
          </a:p>
          <a:p>
            <a:pPr algn="l"/>
            <a:r>
              <a:rPr lang="ja-JP" altLang="en-US" sz="900" dirty="0"/>
              <a:t>しかし、実際にプロトコルを実装する際には、</a:t>
            </a:r>
          </a:p>
          <a:p>
            <a:pPr algn="l"/>
            <a:r>
              <a:rPr lang="ja-JP" altLang="en-US" sz="900" dirty="0"/>
              <a:t>TCP/IP モデルのレイヤ構造 を使います。</a:t>
            </a:r>
          </a:p>
          <a:p>
            <a:pPr algn="l"/>
            <a:endParaRPr lang="ja-JP" altLang="en-US" sz="900" dirty="0"/>
          </a:p>
          <a:p>
            <a:pPr algn="l"/>
            <a:r>
              <a:rPr lang="ja-JP" altLang="en-US" sz="900" dirty="0"/>
              <a:t>TCP/IP モデルは 4 レイヤ構成</a:t>
            </a:r>
          </a:p>
          <a:p>
            <a:pPr algn="l"/>
            <a:r>
              <a:rPr lang="ja-JP" altLang="en-US" sz="900" dirty="0"/>
              <a:t>TCP/IP スタックは OSI の 7 レイヤに対し、以下の 4 レイヤ しかありません：</a:t>
            </a:r>
          </a:p>
          <a:p>
            <a:pPr algn="l"/>
            <a:r>
              <a:rPr lang="ja-JP" altLang="en-US" sz="900" dirty="0"/>
              <a:t>• 	ネットワーク層</a:t>
            </a:r>
          </a:p>
          <a:p>
            <a:pPr algn="l"/>
            <a:r>
              <a:rPr lang="ja-JP" altLang="en-US" sz="900" dirty="0"/>
              <a:t>• 	インターネット層</a:t>
            </a:r>
          </a:p>
          <a:p>
            <a:pPr algn="l"/>
            <a:r>
              <a:rPr lang="ja-JP" altLang="en-US" sz="900" dirty="0"/>
              <a:t>• 	トランスポート層</a:t>
            </a:r>
          </a:p>
          <a:p>
            <a:pPr algn="l"/>
            <a:r>
              <a:rPr lang="ja-JP" altLang="en-US" sz="900" dirty="0"/>
              <a:t>• 	アプリケーション層</a:t>
            </a:r>
          </a:p>
          <a:p>
            <a:pPr algn="l"/>
            <a:r>
              <a:rPr lang="ja-JP" altLang="en-US" sz="900" dirty="0"/>
              <a:t>レイヤ数は少ないですが、OSI と同じ機能をすべて実現 しています。レイヤが少ない分、1 </a:t>
            </a:r>
            <a:r>
              <a:rPr lang="ja-JP" altLang="en-US" sz="900" dirty="0" err="1"/>
              <a:t>つの</a:t>
            </a:r>
            <a:r>
              <a:rPr lang="ja-JP" altLang="en-US" sz="900" dirty="0"/>
              <a:t>レイヤが担当する範囲が広くなっています。</a:t>
            </a:r>
          </a:p>
          <a:p>
            <a:pPr algn="l"/>
            <a:endParaRPr lang="ja-JP" altLang="en-US" sz="900" dirty="0"/>
          </a:p>
          <a:p>
            <a:pPr algn="l"/>
            <a:r>
              <a:rPr lang="ja-JP" altLang="en-US" sz="900" dirty="0"/>
              <a:t>OSI モデルの方がより細かく分割されている</a:t>
            </a:r>
          </a:p>
          <a:p>
            <a:pPr algn="l"/>
            <a:r>
              <a:rPr lang="ja-JP" altLang="en-US" sz="900" dirty="0"/>
              <a:t>OSI モデルはより細かく機能を分割しています。</a:t>
            </a:r>
          </a:p>
          <a:p>
            <a:pPr algn="l"/>
            <a:r>
              <a:rPr lang="ja-JP" altLang="en-US" sz="900" dirty="0"/>
              <a:t>• 	TCP/IP の「ネットワーク層」は</a:t>
            </a:r>
          </a:p>
          <a:p>
            <a:pPr algn="l"/>
            <a:r>
              <a:rPr lang="ja-JP" altLang="en-US" sz="900" dirty="0"/>
              <a:t>OSI の 物理層 + データリンク層 に相当</a:t>
            </a:r>
          </a:p>
          <a:p>
            <a:pPr algn="l"/>
            <a:r>
              <a:rPr lang="ja-JP" altLang="en-US" sz="900" dirty="0"/>
              <a:t>• 	TCP/IP の「アプリケーション層」は</a:t>
            </a:r>
          </a:p>
          <a:p>
            <a:pPr algn="l"/>
            <a:r>
              <a:rPr lang="ja-JP" altLang="en-US" sz="900" dirty="0"/>
              <a:t>OSI の アプリケーション層 + プレゼンテーション層 + セッション層 を包含</a:t>
            </a:r>
          </a:p>
          <a:p>
            <a:pPr algn="l"/>
            <a:r>
              <a:rPr lang="ja-JP" altLang="en-US" sz="900" dirty="0"/>
              <a:t>OSI が詳細なのは、</a:t>
            </a:r>
          </a:p>
          <a:p>
            <a:pPr algn="l"/>
            <a:r>
              <a:rPr lang="ja-JP" altLang="en-US" sz="900" dirty="0"/>
              <a:t>TCP/IP 以外の多様なプロトコルにも対応できるよう設計されたため です。</a:t>
            </a:r>
          </a:p>
          <a:p>
            <a:pPr algn="l"/>
            <a:r>
              <a:rPr lang="ja-JP" altLang="en-US" sz="900" dirty="0"/>
              <a:t>レイヤを細かく分けることで、</a:t>
            </a:r>
          </a:p>
          <a:p>
            <a:pPr algn="l"/>
            <a:r>
              <a:rPr lang="ja-JP" altLang="en-US" sz="900" dirty="0"/>
              <a:t>プロトコルの機能を分解し、レイヤ間のインターフェースを明確にできます。</a:t>
            </a:r>
          </a:p>
          <a:p>
            <a:pPr algn="l"/>
            <a:endParaRPr lang="ja-JP" altLang="en-US" sz="900" dirty="0"/>
          </a:p>
          <a:p>
            <a:pPr algn="l"/>
            <a:r>
              <a:rPr lang="ja-JP" altLang="en-US" sz="900" dirty="0"/>
              <a:t>どちらのモデルでも最終的にやることは同じ</a:t>
            </a:r>
          </a:p>
          <a:p>
            <a:pPr algn="l"/>
            <a:r>
              <a:rPr lang="ja-JP" altLang="en-US" sz="900" dirty="0"/>
              <a:t>両モデルは機能の分け方こそ異なりますが、</a:t>
            </a:r>
          </a:p>
          <a:p>
            <a:pPr algn="l"/>
            <a:r>
              <a:rPr lang="ja-JP" altLang="en-US" sz="900" dirty="0"/>
              <a:t>どちらを使うにしても、最終的に必要な処理は同じです。</a:t>
            </a:r>
          </a:p>
          <a:p>
            <a:pPr algn="l"/>
            <a:r>
              <a:rPr lang="ja-JP" altLang="en-US" sz="900" dirty="0"/>
              <a:t>• 	アプリケーションデータを受け取り</a:t>
            </a:r>
          </a:p>
          <a:p>
            <a:pPr algn="l"/>
            <a:r>
              <a:rPr lang="ja-JP" altLang="en-US" sz="900" dirty="0"/>
              <a:t>• 	パケットにカプセル化し</a:t>
            </a:r>
          </a:p>
          <a:p>
            <a:pPr algn="l"/>
            <a:r>
              <a:rPr lang="ja-JP" altLang="en-US" sz="900" dirty="0"/>
              <a:t>• 	ネットワークに送り出し</a:t>
            </a:r>
          </a:p>
          <a:p>
            <a:pPr algn="l"/>
            <a:r>
              <a:rPr lang="ja-JP" altLang="en-US" sz="900" dirty="0"/>
              <a:t>• 	宛先に安全かつ効率的に届ける</a:t>
            </a:r>
          </a:p>
          <a:p>
            <a:pPr algn="l"/>
            <a:r>
              <a:rPr lang="ja-JP" altLang="en-US" sz="900" dirty="0"/>
              <a:t>この一連の処理を実現するために、</a:t>
            </a:r>
          </a:p>
          <a:p>
            <a:pPr algn="l"/>
            <a:r>
              <a:rPr lang="ja-JP" altLang="en-US" sz="900" dirty="0"/>
              <a:t>OSI でも TCP/IP でも必要な機能はすべて備わっています。</a:t>
            </a:r>
          </a:p>
        </p:txBody>
      </p:sp>
      <p:pic>
        <p:nvPicPr>
          <p:cNvPr id="2" name="図 1">
            <a:extLst>
              <a:ext uri="{FF2B5EF4-FFF2-40B4-BE49-F238E27FC236}">
                <a16:creationId xmlns:a16="http://schemas.microsoft.com/office/drawing/2014/main" id="{8185D672-28B7-4FB6-B1C9-367B108B8FFB}"/>
              </a:ext>
            </a:extLst>
          </p:cNvPr>
          <p:cNvPicPr>
            <a:picLocks noChangeAspect="1"/>
          </p:cNvPicPr>
          <p:nvPr/>
        </p:nvPicPr>
        <p:blipFill>
          <a:blip r:embed="rId2"/>
          <a:stretch>
            <a:fillRect/>
          </a:stretch>
        </p:blipFill>
        <p:spPr>
          <a:xfrm>
            <a:off x="0" y="-1"/>
            <a:ext cx="6053494" cy="34359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982823"/>
            <a:ext cx="3429000" cy="9209177"/>
          </a:xfrm>
        </p:spPr>
        <p:txBody>
          <a:bodyPr>
            <a:noAutofit/>
          </a:bodyPr>
          <a:lstStyle/>
          <a:p>
            <a:pPr algn="l"/>
            <a:r>
              <a:rPr lang="ja-JP" altLang="en-US" sz="1000" dirty="0"/>
              <a:t>IPv6 では、IP アドレスは 16 進数表記 を使い、</a:t>
            </a:r>
          </a:p>
          <a:p>
            <a:pPr algn="l"/>
            <a:r>
              <a:rPr lang="ja-JP" altLang="en-US" sz="1000" dirty="0"/>
              <a:t>区切りにはドットではなく コロン（:） を用います。</a:t>
            </a:r>
          </a:p>
          <a:p>
            <a:pPr algn="l"/>
            <a:r>
              <a:rPr lang="ja-JP" altLang="en-US" sz="1000" dirty="0"/>
              <a:t>当面の間、多くの IPv6 アドレスには 「0000」 のような 4 桁のゼロが繰り返し登場しますが、</a:t>
            </a:r>
          </a:p>
          <a:p>
            <a:pPr algn="l"/>
            <a:r>
              <a:rPr lang="ja-JP" altLang="en-US" sz="1000" dirty="0"/>
              <a:t>これは 「::」 に省略できます（1 回だけ使用可能）。</a:t>
            </a:r>
          </a:p>
          <a:p>
            <a:pPr algn="l"/>
            <a:r>
              <a:rPr lang="ja-JP" altLang="en-US" sz="1000" dirty="0"/>
              <a:t>IPv6 アドレスは大きく 3 </a:t>
            </a:r>
            <a:r>
              <a:rPr lang="ja-JP" altLang="en-US" sz="1000" dirty="0" err="1"/>
              <a:t>つの</a:t>
            </a:r>
            <a:r>
              <a:rPr lang="ja-JP" altLang="en-US" sz="1000" dirty="0"/>
              <a:t>部分に分かれています。</a:t>
            </a:r>
          </a:p>
          <a:p>
            <a:pPr algn="l"/>
            <a:endParaRPr lang="ja-JP" altLang="en-US" sz="1000" dirty="0"/>
          </a:p>
          <a:p>
            <a:pPr algn="l"/>
            <a:r>
              <a:rPr lang="ja-JP" altLang="en-US" sz="1000" dirty="0"/>
              <a:t>1. Network Prefix（ネットワークプレフィックス）</a:t>
            </a:r>
          </a:p>
          <a:p>
            <a:pPr algn="l"/>
            <a:r>
              <a:rPr lang="ja-JP" altLang="en-US" sz="1000" dirty="0"/>
              <a:t>IPv6 アドレスの 最初の 48 ビット（6 バイト） がネットワークプレフィックスです。</a:t>
            </a:r>
          </a:p>
          <a:p>
            <a:pPr algn="l"/>
            <a:r>
              <a:rPr lang="ja-JP" altLang="en-US" sz="1000" dirty="0"/>
              <a:t>これは組織に割り当てられ、IPv6 クライアントのアドレス指定やネットワーク機能の維持に使われます。</a:t>
            </a:r>
          </a:p>
          <a:p>
            <a:pPr algn="l"/>
            <a:r>
              <a:rPr lang="ja-JP" altLang="en-US" sz="1000" dirty="0"/>
              <a:t>代表的な固定プレフィックス：</a:t>
            </a:r>
          </a:p>
          <a:p>
            <a:pPr algn="l"/>
            <a:r>
              <a:rPr lang="ja-JP" altLang="en-US" sz="1000" dirty="0"/>
              <a:t>• 	fe80:: … ローカルリンク用</a:t>
            </a:r>
          </a:p>
          <a:p>
            <a:pPr algn="l"/>
            <a:r>
              <a:rPr lang="ja-JP" altLang="en-US" sz="1000" dirty="0"/>
              <a:t>• 	ff00:: … マルチキャスト</a:t>
            </a:r>
          </a:p>
          <a:p>
            <a:pPr algn="l"/>
            <a:r>
              <a:rPr lang="ja-JP" altLang="en-US" sz="1000" dirty="0"/>
              <a:t>• 	2001:: … ISP 間ルーティング</a:t>
            </a:r>
          </a:p>
          <a:p>
            <a:pPr algn="l"/>
            <a:r>
              <a:rPr lang="ja-JP" altLang="en-US" sz="1000" dirty="0"/>
              <a:t>• 	2002:: … IPv6–IPv4 ゲートウェイ（6to4）</a:t>
            </a:r>
          </a:p>
          <a:p>
            <a:pPr algn="l"/>
            <a:endParaRPr lang="ja-JP" altLang="en-US" sz="1000" dirty="0"/>
          </a:p>
          <a:p>
            <a:pPr algn="l"/>
            <a:r>
              <a:rPr lang="ja-JP" altLang="en-US" sz="1000" dirty="0"/>
              <a:t>2. Subnet ID（サブネット ID）</a:t>
            </a:r>
          </a:p>
          <a:p>
            <a:pPr algn="l"/>
            <a:r>
              <a:rPr lang="ja-JP" altLang="en-US" sz="1000" dirty="0"/>
              <a:t>組織のアドレッシング要件に応じて設定されます。</a:t>
            </a:r>
          </a:p>
          <a:p>
            <a:pPr algn="l"/>
            <a:r>
              <a:rPr lang="ja-JP" altLang="en-US" sz="1000" dirty="0"/>
              <a:t>フラットな IPv6 ネットワークでは通常 0000 が使われますが、</a:t>
            </a:r>
          </a:p>
          <a:p>
            <a:pPr algn="l"/>
            <a:r>
              <a:rPr lang="ja-JP" altLang="en-US" sz="1000" dirty="0"/>
              <a:t>割り当てられたプレフィックスの範囲内で任意の値を設定できます。</a:t>
            </a:r>
          </a:p>
          <a:p>
            <a:pPr algn="l"/>
            <a:endParaRPr lang="ja-JP" altLang="en-US" sz="1000" dirty="0"/>
          </a:p>
          <a:p>
            <a:pPr algn="l"/>
            <a:r>
              <a:rPr lang="ja-JP" altLang="en-US" sz="1000" dirty="0"/>
              <a:t>3. Interface Identification（インターフェース ID）</a:t>
            </a:r>
          </a:p>
          <a:p>
            <a:pPr algn="l"/>
            <a:r>
              <a:rPr lang="ja-JP" altLang="en-US" sz="1000" dirty="0"/>
              <a:t>IPv6 ノードを一意に識別する 64 ビットの領域です。</a:t>
            </a:r>
          </a:p>
          <a:p>
            <a:pPr algn="l"/>
            <a:r>
              <a:rPr lang="ja-JP" altLang="en-US" sz="1000" dirty="0"/>
              <a:t>IPv6 の自動設定（SLAAC）では、</a:t>
            </a:r>
          </a:p>
          <a:p>
            <a:pPr algn="l"/>
            <a:r>
              <a:rPr lang="ja-JP" altLang="en-US" sz="1000" dirty="0"/>
              <a:t>クライアントの MAC アドレスを基に EUI-64 形式へ変換 してインターフェース ID を生成します。</a:t>
            </a:r>
          </a:p>
          <a:p>
            <a:pPr algn="l"/>
            <a:r>
              <a:rPr lang="ja-JP" altLang="en-US" sz="1000" dirty="0"/>
              <a:t>MAC アドレスは 48 ビット、インターフェース ID は 64 ビットなので、</a:t>
            </a:r>
          </a:p>
          <a:p>
            <a:pPr algn="l"/>
            <a:r>
              <a:rPr lang="ja-JP" altLang="en-US" sz="1000" dirty="0"/>
              <a:t>IEEE が定めた EUI-64 拡張方式 を使います。</a:t>
            </a:r>
          </a:p>
          <a:p>
            <a:pPr algn="l"/>
            <a:r>
              <a:rPr lang="ja-JP" altLang="en-US" sz="1000" dirty="0"/>
              <a:t>EUI-64 の生成方法</a:t>
            </a:r>
          </a:p>
          <a:p>
            <a:pPr algn="l"/>
            <a:r>
              <a:rPr lang="ja-JP" altLang="en-US" sz="1000" dirty="0"/>
              <a:t>1. 	MAC アドレスの最初の 3 オクテットを取り出す</a:t>
            </a:r>
          </a:p>
          <a:p>
            <a:pPr algn="l"/>
            <a:r>
              <a:rPr lang="ja-JP" altLang="en-US" sz="1000" dirty="0"/>
              <a:t>2. 	ff:fe を挿入</a:t>
            </a:r>
          </a:p>
          <a:p>
            <a:pPr algn="l"/>
            <a:r>
              <a:rPr lang="ja-JP" altLang="en-US" sz="1000" dirty="0"/>
              <a:t>3. 	残りの 3 オクテットを追加</a:t>
            </a:r>
          </a:p>
          <a:p>
            <a:pPr algn="l"/>
            <a:r>
              <a:rPr lang="ja-JP" altLang="en-US" sz="1000" dirty="0"/>
              <a:t>例：</a:t>
            </a:r>
          </a:p>
          <a:p>
            <a:pPr algn="l"/>
            <a:r>
              <a:rPr lang="ja-JP" altLang="en-US" sz="1000" dirty="0"/>
              <a:t>MAC アドレス</a:t>
            </a:r>
          </a:p>
          <a:p>
            <a:pPr algn="l"/>
            <a:r>
              <a:rPr lang="ja-JP" altLang="en-US" sz="1000" dirty="0"/>
              <a:t>00:13:ce:45:4f:e3</a:t>
            </a:r>
          </a:p>
          <a:p>
            <a:pPr algn="l"/>
            <a:r>
              <a:rPr lang="ja-JP" altLang="en-US" sz="1000" dirty="0"/>
              <a:t>→ EUI-64</a:t>
            </a:r>
          </a:p>
          <a:p>
            <a:pPr algn="l"/>
            <a:r>
              <a:rPr lang="ja-JP" altLang="en-US" sz="1000" dirty="0"/>
              <a:t>0013:ceff:fe45:4fe3</a:t>
            </a:r>
          </a:p>
        </p:txBody>
      </p:sp>
      <p:pic>
        <p:nvPicPr>
          <p:cNvPr id="2" name="図 1">
            <a:extLst>
              <a:ext uri="{FF2B5EF4-FFF2-40B4-BE49-F238E27FC236}">
                <a16:creationId xmlns:a16="http://schemas.microsoft.com/office/drawing/2014/main" id="{C25285A5-2332-4059-BC7D-397214B4707F}"/>
              </a:ext>
            </a:extLst>
          </p:cNvPr>
          <p:cNvPicPr>
            <a:picLocks noChangeAspect="1"/>
          </p:cNvPicPr>
          <p:nvPr/>
        </p:nvPicPr>
        <p:blipFill>
          <a:blip r:embed="rId2"/>
          <a:stretch>
            <a:fillRect/>
          </a:stretch>
        </p:blipFill>
        <p:spPr>
          <a:xfrm>
            <a:off x="804960" y="0"/>
            <a:ext cx="5248080" cy="2982823"/>
          </a:xfrm>
          <a:prstGeom prst="rect">
            <a:avLst/>
          </a:prstGeom>
        </p:spPr>
      </p:pic>
      <p:sp>
        <p:nvSpPr>
          <p:cNvPr id="4" name="サブタイトル 2">
            <a:extLst>
              <a:ext uri="{FF2B5EF4-FFF2-40B4-BE49-F238E27FC236}">
                <a16:creationId xmlns:a16="http://schemas.microsoft.com/office/drawing/2014/main" id="{7E2CDD63-CE21-4B08-AC03-75DEC5B9C646}"/>
              </a:ext>
            </a:extLst>
          </p:cNvPr>
          <p:cNvSpPr txBox="1">
            <a:spLocks/>
          </p:cNvSpPr>
          <p:nvPr/>
        </p:nvSpPr>
        <p:spPr>
          <a:xfrm>
            <a:off x="3429000" y="2982823"/>
            <a:ext cx="3429001" cy="3265578"/>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IPv6 アドレスの組み立て例</a:t>
            </a:r>
          </a:p>
          <a:p>
            <a:pPr algn="l"/>
            <a:r>
              <a:rPr lang="ja-JP" altLang="en-US" sz="1000" dirty="0"/>
              <a:t>小規模でフラットなネットワークが</a:t>
            </a:r>
          </a:p>
          <a:p>
            <a:pPr algn="l"/>
            <a:r>
              <a:rPr lang="ja-JP" altLang="en-US" sz="1000" dirty="0"/>
              <a:t>fe80:0000:0000 をネットワークプレフィックスとして使うとします。</a:t>
            </a:r>
          </a:p>
          <a:p>
            <a:pPr algn="l"/>
            <a:r>
              <a:rPr lang="ja-JP" altLang="en-US" sz="1000" dirty="0"/>
              <a:t>MAC アドレス：</a:t>
            </a:r>
          </a:p>
          <a:p>
            <a:pPr algn="l"/>
            <a:r>
              <a:rPr lang="ja-JP" altLang="en-US" sz="1000" dirty="0"/>
              <a:t>00:13:ce:45:4f:e3</a:t>
            </a:r>
          </a:p>
          <a:p>
            <a:pPr algn="l"/>
            <a:r>
              <a:rPr lang="ja-JP" altLang="en-US" sz="1000" dirty="0"/>
              <a:t>EUI-64：</a:t>
            </a:r>
          </a:p>
          <a:p>
            <a:pPr algn="l"/>
            <a:r>
              <a:rPr lang="ja-JP" altLang="en-US" sz="1000" dirty="0"/>
              <a:t>0013:ceff:fe45:4fe3</a:t>
            </a:r>
          </a:p>
          <a:p>
            <a:pPr algn="l"/>
            <a:r>
              <a:rPr lang="ja-JP" altLang="en-US" sz="1000" dirty="0"/>
              <a:t>これらを組み合わせると、IPv6 自動設定により：</a:t>
            </a:r>
          </a:p>
          <a:p>
            <a:pPr algn="l"/>
            <a:r>
              <a:rPr lang="ja-JP" altLang="en-US" sz="1000" dirty="0"/>
              <a:t>fe80:0000:0000:0013:ceff:fe45:4fe3</a:t>
            </a:r>
          </a:p>
          <a:p>
            <a:pPr algn="l"/>
            <a:r>
              <a:rPr lang="ja-JP" altLang="en-US" sz="1000" dirty="0"/>
              <a:t>となります。</a:t>
            </a:r>
          </a:p>
          <a:p>
            <a:pPr algn="l"/>
            <a:r>
              <a:rPr lang="ja-JP" altLang="en-US" sz="1000" dirty="0"/>
              <a:t>IPv6 の慣例により、連続するゼロは :: に省略できるため、</a:t>
            </a:r>
          </a:p>
          <a:p>
            <a:pPr algn="l"/>
            <a:r>
              <a:rPr lang="ja-JP" altLang="en-US" sz="1000" dirty="0"/>
              <a:t>fe80::13:ceff:fe45:4fe3</a:t>
            </a:r>
          </a:p>
          <a:p>
            <a:pPr algn="l"/>
            <a:r>
              <a:rPr lang="ja-JP" altLang="en-US" sz="1000" dirty="0"/>
              <a:t>と書けます。</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0"/>
            <a:ext cx="6852285" cy="12192000"/>
          </a:xfrm>
        </p:spPr>
        <p:txBody>
          <a:bodyPr>
            <a:noAutofit/>
          </a:bodyPr>
          <a:lstStyle/>
          <a:p>
            <a:pPr algn="l"/>
            <a:r>
              <a:rPr lang="ja-JP" altLang="en-US" sz="1100" dirty="0"/>
              <a:t>IPv6 では、認証・通信のセキュリティ・QoS（Quality of Service） といった要素が考慮されて設計されています。</a:t>
            </a:r>
          </a:p>
          <a:p>
            <a:pPr algn="l"/>
            <a:r>
              <a:rPr lang="ja-JP" altLang="en-US" sz="1100" dirty="0"/>
              <a:t>IPv4 の成長限界に対応するため、IPv6 はアドレス長を 32 ビットから 128 ビットへ拡張 しました。</a:t>
            </a:r>
          </a:p>
          <a:p>
            <a:pPr algn="l"/>
            <a:r>
              <a:rPr lang="ja-JP" altLang="en-US" sz="1100" dirty="0"/>
              <a:t>128 ビットのアドレス空間は 340 澗（undecillion）以上、</a:t>
            </a:r>
          </a:p>
          <a:p>
            <a:pPr algn="l"/>
            <a:r>
              <a:rPr lang="ja-JP" altLang="en-US" sz="1100" dirty="0"/>
              <a:t>つまり 340,282,366,920,938,463,463,374,607,431,768,211,456 個 のアドレスが存在します。</a:t>
            </a:r>
          </a:p>
          <a:p>
            <a:pPr algn="l"/>
            <a:r>
              <a:rPr lang="ja-JP" altLang="en-US" sz="1100" dirty="0"/>
              <a:t>この膨大なアドレス数により、インターネット上のアドレス割り当てが柔軟になり、</a:t>
            </a:r>
          </a:p>
          <a:p>
            <a:pPr algn="l"/>
            <a:r>
              <a:rPr lang="ja-JP" altLang="en-US" sz="1100" dirty="0"/>
              <a:t>ISP が地域ごとに IPv6 プレフィックスを割り当てることで、</a:t>
            </a:r>
          </a:p>
          <a:p>
            <a:pPr algn="l"/>
            <a:r>
              <a:rPr lang="ja-JP" altLang="en-US" sz="1100" dirty="0"/>
              <a:t>インターネット全体のルーティングが簡素化 されます。</a:t>
            </a:r>
          </a:p>
          <a:p>
            <a:pPr algn="l"/>
            <a:endParaRPr lang="ja-JP" altLang="en-US" sz="1100" dirty="0"/>
          </a:p>
          <a:p>
            <a:pPr algn="l"/>
            <a:r>
              <a:rPr lang="ja-JP" altLang="en-US" sz="1100" dirty="0"/>
              <a:t>IPv6 に組み込まれたセキュリティと QoS</a:t>
            </a:r>
          </a:p>
          <a:p>
            <a:pPr algn="l"/>
            <a:r>
              <a:rPr lang="ja-JP" altLang="en-US" sz="1100" dirty="0"/>
              <a:t>IPv6 には IPSec の要素が標準で組み込まれており：</a:t>
            </a:r>
          </a:p>
          <a:p>
            <a:pPr algn="l"/>
            <a:r>
              <a:rPr lang="ja-JP" altLang="en-US" sz="1100" dirty="0"/>
              <a:t>• 	通信相手の認証</a:t>
            </a:r>
          </a:p>
          <a:p>
            <a:pPr algn="l"/>
            <a:r>
              <a:rPr lang="ja-JP" altLang="en-US" sz="1100" dirty="0"/>
              <a:t>• 	パケットの暗号化</a:t>
            </a:r>
          </a:p>
          <a:p>
            <a:pPr algn="l"/>
            <a:r>
              <a:rPr lang="ja-JP" altLang="en-US" sz="1100" dirty="0"/>
              <a:t>が可能です。</a:t>
            </a:r>
          </a:p>
          <a:p>
            <a:pPr algn="l"/>
            <a:r>
              <a:rPr lang="ja-JP" altLang="en-US" sz="1100" dirty="0"/>
              <a:t>また、IPv6 には QoS 機能があり、</a:t>
            </a:r>
          </a:p>
          <a:p>
            <a:pPr algn="l"/>
            <a:r>
              <a:rPr lang="ja-JP" altLang="en-US" sz="1100" dirty="0"/>
              <a:t>VoIP やインタラクティブメディアなどの リアルタイム性が重要な通信を優先 できます。</a:t>
            </a:r>
          </a:p>
          <a:p>
            <a:pPr algn="l"/>
            <a:endParaRPr lang="ja-JP" altLang="en-US" sz="1100" dirty="0"/>
          </a:p>
          <a:p>
            <a:pPr algn="l"/>
            <a:r>
              <a:rPr lang="ja-JP" altLang="en-US" sz="1100" dirty="0"/>
              <a:t>アドレス空間拡張によるメリット</a:t>
            </a:r>
          </a:p>
          <a:p>
            <a:pPr algn="l"/>
            <a:r>
              <a:rPr lang="ja-JP" altLang="en-US" sz="1100" dirty="0"/>
              <a:t>アドレス空間が広がったことで、以下が可能になりました：</a:t>
            </a:r>
          </a:p>
          <a:p>
            <a:pPr algn="l"/>
            <a:r>
              <a:rPr lang="ja-JP" altLang="en-US" sz="1100" dirty="0"/>
              <a:t>• 	地理的なアドレス割り当てによるルート集約（route aggregation）</a:t>
            </a:r>
          </a:p>
          <a:p>
            <a:pPr algn="l"/>
            <a:r>
              <a:rPr lang="ja-JP" altLang="en-US" sz="1100" dirty="0"/>
              <a:t>• 	ISP や組織へのアドレス委譲が容易</a:t>
            </a:r>
          </a:p>
          <a:p>
            <a:pPr algn="l"/>
            <a:r>
              <a:rPr lang="ja-JP" altLang="en-US" sz="1100" dirty="0"/>
              <a:t>• 	階層的なアドレス構造により、トラブルシューティングやルーティングが簡素化</a:t>
            </a:r>
          </a:p>
          <a:p>
            <a:pPr algn="l"/>
            <a:endParaRPr lang="ja-JP" altLang="en-US" sz="1100" dirty="0"/>
          </a:p>
          <a:p>
            <a:pPr algn="l"/>
            <a:r>
              <a:rPr lang="ja-JP" altLang="en-US" sz="1100" dirty="0"/>
              <a:t>IPv6 の自動アドレス設定（SLAAC）</a:t>
            </a:r>
          </a:p>
          <a:p>
            <a:pPr algn="l"/>
            <a:r>
              <a:rPr lang="ja-JP" altLang="en-US" sz="1100" dirty="0"/>
              <a:t>IPv6 の大きな利点の一つが アドレス自動設定（Stateless Address Autoconfiguration） です。</a:t>
            </a:r>
          </a:p>
          <a:p>
            <a:pPr algn="l"/>
            <a:r>
              <a:rPr lang="ja-JP" altLang="en-US" sz="1100" dirty="0"/>
              <a:t>IPv4 のように手動で IP を割り当てる必要がなく、</a:t>
            </a:r>
          </a:p>
          <a:p>
            <a:pPr algn="l"/>
            <a:r>
              <a:rPr lang="ja-JP" altLang="en-US" sz="1100" dirty="0"/>
              <a:t>MAC アドレスを基に自動で IPv6 アドレスが生成 されます。</a:t>
            </a:r>
          </a:p>
          <a:p>
            <a:pPr algn="l"/>
            <a:r>
              <a:rPr lang="ja-JP" altLang="en-US" sz="1100" dirty="0"/>
              <a:t>仕組み：</a:t>
            </a:r>
          </a:p>
          <a:p>
            <a:pPr algn="l"/>
            <a:r>
              <a:rPr lang="ja-JP" altLang="en-US" sz="1100" dirty="0"/>
              <a:t>1. 	ネットワークのデフォルトゲートウェイがプレフィックス情報を広告</a:t>
            </a:r>
          </a:p>
          <a:p>
            <a:pPr algn="l"/>
            <a:r>
              <a:rPr lang="ja-JP" altLang="en-US" sz="1100" dirty="0"/>
              <a:t>2. 	クライアントは自身の MAC アドレスを EUI-64 形式に変換</a:t>
            </a:r>
          </a:p>
          <a:p>
            <a:pPr algn="l"/>
            <a:r>
              <a:rPr lang="ja-JP" altLang="en-US" sz="1100" dirty="0"/>
              <a:t>3. 	プレフィックス + EUI-64 を組み合わせて IPv6 アドレスを生成</a:t>
            </a:r>
          </a:p>
          <a:p>
            <a:pPr algn="l"/>
            <a:r>
              <a:rPr lang="ja-JP" altLang="en-US" sz="1100" dirty="0"/>
              <a:t>これにより、管理者は 新しいノードを接続するだけで自動的に IPv6 アドレスが設定 されます。</a:t>
            </a:r>
          </a:p>
          <a:p>
            <a:pPr algn="l"/>
            <a:endParaRPr lang="ja-JP" altLang="en-US" sz="1100" dirty="0"/>
          </a:p>
          <a:p>
            <a:pPr algn="l"/>
            <a:r>
              <a:rPr lang="ja-JP" altLang="en-US" sz="1100" dirty="0"/>
              <a:t>IPv6 の固定ヘッダ（40 バイト）と Next Header</a:t>
            </a:r>
          </a:p>
          <a:p>
            <a:pPr algn="l"/>
            <a:r>
              <a:rPr lang="ja-JP" altLang="en-US" sz="1100" dirty="0"/>
              <a:t>IPv4 ではヘッダが可変長でしたが、</a:t>
            </a:r>
          </a:p>
          <a:p>
            <a:pPr algn="l"/>
            <a:r>
              <a:rPr lang="ja-JP" altLang="en-US" sz="1100" dirty="0"/>
              <a:t>IPv6 では 40 バイト固定ヘッダ を採用しています。</a:t>
            </a:r>
          </a:p>
          <a:p>
            <a:pPr algn="l"/>
            <a:r>
              <a:rPr lang="ja-JP" altLang="en-US" sz="1100" dirty="0"/>
              <a:t>柔軟性を確保するため、IPv6 は Next Header フィールド を導入しました。</a:t>
            </a:r>
          </a:p>
          <a:p>
            <a:pPr algn="l"/>
            <a:r>
              <a:rPr lang="ja-JP" altLang="en-US" sz="1100" dirty="0"/>
              <a:t>これはペイロード内にどのプロトコルが含まれているかを示すもので、</a:t>
            </a:r>
          </a:p>
          <a:p>
            <a:pPr algn="l"/>
            <a:r>
              <a:rPr lang="ja-JP" altLang="en-US" sz="1100" dirty="0"/>
              <a:t>複数のヘッダを連続して持つことができます。</a:t>
            </a:r>
          </a:p>
          <a:p>
            <a:pPr algn="l"/>
            <a:r>
              <a:rPr lang="ja-JP" altLang="en-US" sz="1100" dirty="0"/>
              <a:t>代表的な Next Header：</a:t>
            </a:r>
          </a:p>
          <a:p>
            <a:pPr algn="l"/>
            <a:r>
              <a:rPr lang="ja-JP" altLang="en-US" sz="1100" dirty="0"/>
              <a:t>• 	ESP（IPSec）</a:t>
            </a:r>
          </a:p>
          <a:p>
            <a:pPr algn="l"/>
            <a:r>
              <a:rPr lang="ja-JP" altLang="en-US" sz="1100" dirty="0"/>
              <a:t>• 	AH（IPSec 認証ヘッダ）</a:t>
            </a:r>
          </a:p>
          <a:p>
            <a:pPr algn="l"/>
            <a:r>
              <a:rPr lang="ja-JP" altLang="en-US" sz="1100" dirty="0"/>
              <a:t>• 	Destination Options Header</a:t>
            </a:r>
          </a:p>
          <a:p>
            <a:pPr algn="l"/>
            <a:r>
              <a:rPr lang="ja-JP" altLang="en-US" sz="1100" dirty="0"/>
              <a:t>• 	UDP / TCP / ICMPv6</a:t>
            </a:r>
          </a:p>
          <a:p>
            <a:pPr algn="l"/>
            <a:endParaRPr lang="ja-JP" altLang="en-US" sz="1100" dirty="0"/>
          </a:p>
          <a:p>
            <a:pPr algn="l"/>
            <a:r>
              <a:rPr lang="ja-JP" altLang="en-US" sz="1100" dirty="0"/>
              <a:t>参考</a:t>
            </a:r>
          </a:p>
          <a:p>
            <a:pPr algn="l"/>
            <a:r>
              <a:rPr lang="ja-JP" altLang="en-US" sz="1100" dirty="0"/>
              <a:t>• 	Cisco Community – Understanding IPv6 EUI-64</a:t>
            </a:r>
          </a:p>
          <a:p>
            <a:pPr algn="l"/>
            <a:r>
              <a:rPr lang="ja-JP" altLang="en-US" sz="1100" dirty="0"/>
              <a:t> (community.cisco.com in Bing)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387725"/>
            <a:ext cx="6852285" cy="8804275"/>
          </a:xfrm>
        </p:spPr>
        <p:txBody>
          <a:bodyPr>
            <a:noAutofit/>
          </a:bodyPr>
          <a:lstStyle/>
          <a:p>
            <a:pPr algn="l"/>
            <a:r>
              <a:rPr lang="ja-JP" altLang="en-US" sz="1000" dirty="0"/>
              <a:t>以下に、内容を専門的かつ自然で読みやすい 日本語訳（意訳） としてまとめます。</a:t>
            </a:r>
          </a:p>
          <a:p>
            <a:pPr algn="l"/>
            <a:endParaRPr lang="ja-JP" altLang="en-US" sz="1000" dirty="0"/>
          </a:p>
          <a:p>
            <a:pPr algn="l"/>
            <a:r>
              <a:rPr lang="ja-JP" altLang="en-US" sz="1000" dirty="0"/>
              <a:t>日本語訳（意訳）</a:t>
            </a:r>
          </a:p>
          <a:p>
            <a:pPr algn="l"/>
            <a:r>
              <a:rPr lang="ja-JP" altLang="en-US" sz="1000" dirty="0"/>
              <a:t>インターネットにアクセスできるすべてのホストが、</a:t>
            </a:r>
          </a:p>
          <a:p>
            <a:pPr algn="l"/>
            <a:r>
              <a:rPr lang="ja-JP" altLang="en-US" sz="1000" dirty="0"/>
              <a:t>必ずしも直接インターネットに接続されているわけではありません。</a:t>
            </a:r>
          </a:p>
          <a:p>
            <a:pPr algn="l"/>
            <a:r>
              <a:rPr lang="ja-JP" altLang="en-US" sz="1000" dirty="0"/>
              <a:t>現在では、ほとんどのコンピュータは何らかの ファイアウォールの内側 に置かれるべきです。</a:t>
            </a:r>
          </a:p>
          <a:p>
            <a:pPr algn="l"/>
            <a:r>
              <a:rPr lang="ja-JP" altLang="en-US" sz="1000" dirty="0"/>
              <a:t>これらのデバイスは NAT（Network Address Translation） を利用し、</a:t>
            </a:r>
          </a:p>
          <a:p>
            <a:pPr algn="l"/>
            <a:r>
              <a:rPr lang="ja-JP" altLang="en-US" sz="1000" dirty="0"/>
              <a:t>内部 LAN で使われている IP アドレスを、</a:t>
            </a:r>
          </a:p>
          <a:p>
            <a:pPr algn="l"/>
            <a:r>
              <a:rPr lang="ja-JP" altLang="en-US" sz="1000" dirty="0"/>
              <a:t>インターネットへ出る際に別の IP アドレスへ自動的に変換します。</a:t>
            </a:r>
          </a:p>
          <a:p>
            <a:pPr algn="l"/>
            <a:r>
              <a:rPr lang="ja-JP" altLang="en-US" sz="1000" dirty="0"/>
              <a:t>インターネット側から内部アドレスが見えることは決してないのに、</a:t>
            </a:r>
          </a:p>
          <a:p>
            <a:pPr algn="l"/>
            <a:r>
              <a:rPr lang="ja-JP" altLang="en-US" sz="1000" dirty="0"/>
              <a:t>企業が ISP からアドレスブロックをわざわざ取得する必要があるのでしょうか。</a:t>
            </a:r>
          </a:p>
          <a:p>
            <a:pPr algn="l"/>
            <a:r>
              <a:rPr lang="ja-JP" altLang="en-US" sz="1000" dirty="0"/>
              <a:t>さらに言えば、ISP はインターネット上でルーティングされないアドレスを</a:t>
            </a:r>
          </a:p>
          <a:p>
            <a:pPr algn="l"/>
            <a:r>
              <a:rPr lang="ja-JP" altLang="en-US" sz="1000" dirty="0"/>
              <a:t>顧客に割り当てるために貴重なアドレス空間を消費すべきなのでしょうか。</a:t>
            </a:r>
          </a:p>
          <a:p>
            <a:pPr algn="l"/>
            <a:endParaRPr lang="ja-JP" altLang="en-US" sz="1000" dirty="0"/>
          </a:p>
          <a:p>
            <a:pPr algn="l"/>
            <a:r>
              <a:rPr lang="ja-JP" altLang="en-US" sz="1000" dirty="0"/>
              <a:t>答え：必要ない</a:t>
            </a:r>
          </a:p>
          <a:p>
            <a:pPr algn="l"/>
            <a:r>
              <a:rPr lang="ja-JP" altLang="en-US" sz="1000" dirty="0"/>
              <a:t>IANA（Internet Assigned Numbers Authority）は、</a:t>
            </a:r>
          </a:p>
          <a:p>
            <a:pPr algn="l"/>
            <a:r>
              <a:rPr lang="ja-JP" altLang="en-US" sz="1000" dirty="0"/>
              <a:t>インターネット上でルーティングされない 3 </a:t>
            </a:r>
            <a:r>
              <a:rPr lang="ja-JP" altLang="en-US" sz="1000" dirty="0" err="1"/>
              <a:t>つの</a:t>
            </a:r>
            <a:r>
              <a:rPr lang="ja-JP" altLang="en-US" sz="1000" dirty="0"/>
              <a:t>プライベートアドレスブロック を定義しています。</a:t>
            </a:r>
          </a:p>
          <a:p>
            <a:pPr algn="l"/>
            <a:r>
              <a:rPr lang="ja-JP" altLang="en-US" sz="1000" dirty="0"/>
              <a:t>これらは誰でも自由に内部ネットワークで使用できます。</a:t>
            </a:r>
          </a:p>
          <a:p>
            <a:pPr algn="l"/>
            <a:r>
              <a:rPr lang="ja-JP" altLang="en-US" sz="1000" dirty="0"/>
              <a:t>プライベートアドレスはインターネットを通過できないため、</a:t>
            </a:r>
          </a:p>
          <a:p>
            <a:pPr algn="l"/>
            <a:r>
              <a:rPr lang="ja-JP" altLang="en-US" sz="1000" dirty="0"/>
              <a:t>世界中の 2、5、1 万の組織が同じアドレスを内部で使っても問題ありません。</a:t>
            </a:r>
          </a:p>
          <a:p>
            <a:pPr algn="l"/>
            <a:r>
              <a:rPr lang="ja-JP" altLang="en-US" sz="1000" dirty="0"/>
              <a:t>インターネットに出る前に NAT によってグローバル IP に変換される ため、</a:t>
            </a:r>
          </a:p>
          <a:p>
            <a:pPr algn="l"/>
            <a:r>
              <a:rPr lang="ja-JP" altLang="en-US" sz="1000" dirty="0"/>
              <a:t>内部でどのアドレスを使っているかは外部に影響しません。</a:t>
            </a:r>
          </a:p>
          <a:p>
            <a:pPr algn="l"/>
            <a:r>
              <a:rPr lang="ja-JP" altLang="en-US" sz="1000" dirty="0"/>
              <a:t>外部から内部のプライベート IP にアクセスさせる場合は、</a:t>
            </a:r>
          </a:p>
          <a:p>
            <a:pPr algn="l"/>
            <a:r>
              <a:rPr lang="ja-JP" altLang="en-US" sz="1000" dirty="0"/>
              <a:t>ルータやファイアウォールが NAT を使って</a:t>
            </a:r>
          </a:p>
          <a:p>
            <a:pPr algn="l"/>
            <a:r>
              <a:rPr lang="ja-JP" altLang="en-US" sz="1000" dirty="0"/>
              <a:t>内部 IP と外部 IP の対応付けを行う必要があります。</a:t>
            </a:r>
          </a:p>
          <a:p>
            <a:pPr algn="l"/>
            <a:r>
              <a:rPr lang="ja-JP" altLang="en-US" sz="1000" dirty="0"/>
              <a:t>NAT には主に 2 種類あります：</a:t>
            </a:r>
          </a:p>
          <a:p>
            <a:pPr algn="l"/>
            <a:r>
              <a:rPr lang="ja-JP" altLang="en-US" sz="1000" dirty="0"/>
              <a:t>• 	Dynamic NAT：内部 IP を外部 IP に自動的に割り当てる</a:t>
            </a:r>
          </a:p>
          <a:p>
            <a:pPr algn="l"/>
            <a:r>
              <a:rPr lang="ja-JP" altLang="en-US" sz="1000" dirty="0"/>
              <a:t>• 	Static NAT：管理者が内部 IP と外部 IP の対応を固定する</a:t>
            </a:r>
          </a:p>
          <a:p>
            <a:pPr algn="l"/>
            <a:endParaRPr lang="ja-JP" altLang="en-US" sz="1000" dirty="0"/>
          </a:p>
          <a:p>
            <a:pPr algn="l"/>
            <a:r>
              <a:rPr lang="ja-JP" altLang="en-US" sz="1000" dirty="0"/>
              <a:t>もう一つの特別な非ルーティングアドレス：127.0.0.0/8</a:t>
            </a:r>
          </a:p>
          <a:p>
            <a:pPr algn="l"/>
            <a:r>
              <a:rPr lang="ja-JP" altLang="en-US" sz="1000" dirty="0"/>
              <a:t>127.0.0.0/8 は ループバックアドレス と呼ばれ、</a:t>
            </a:r>
          </a:p>
          <a:p>
            <a:pPr algn="l"/>
            <a:r>
              <a:rPr lang="ja-JP" altLang="en-US" sz="1000" dirty="0"/>
              <a:t>どのネットワークにもルーティングされません。</a:t>
            </a:r>
          </a:p>
          <a:p>
            <a:pPr algn="l"/>
            <a:r>
              <a:rPr lang="ja-JP" altLang="en-US" sz="1000" dirty="0"/>
              <a:t>LAN 内ですら転送されず、完全にホスト内部で完結します。</a:t>
            </a:r>
          </a:p>
          <a:p>
            <a:pPr algn="l"/>
            <a:endParaRPr lang="ja-JP" altLang="en-US" sz="1000" dirty="0"/>
          </a:p>
          <a:p>
            <a:pPr algn="l"/>
            <a:r>
              <a:rPr lang="ja-JP" altLang="en-US" sz="1000" dirty="0"/>
              <a:t>参考：予約済み IPv4 / IPv6 アドレス一覧</a:t>
            </a:r>
          </a:p>
          <a:p>
            <a:pPr algn="l"/>
            <a:r>
              <a:rPr lang="ja-JP" altLang="en-US" sz="1000" dirty="0"/>
              <a:t>• 	https://en.wikipedia.org/wiki/Reserved_IP_addresses</a:t>
            </a:r>
          </a:p>
        </p:txBody>
      </p:sp>
      <p:pic>
        <p:nvPicPr>
          <p:cNvPr id="2" name="図 1">
            <a:extLst>
              <a:ext uri="{FF2B5EF4-FFF2-40B4-BE49-F238E27FC236}">
                <a16:creationId xmlns:a16="http://schemas.microsoft.com/office/drawing/2014/main" id="{1593F171-A04A-4E7C-8011-FE8F4041B5E8}"/>
              </a:ext>
            </a:extLst>
          </p:cNvPr>
          <p:cNvPicPr>
            <a:picLocks noChangeAspect="1"/>
          </p:cNvPicPr>
          <p:nvPr/>
        </p:nvPicPr>
        <p:blipFill>
          <a:blip r:embed="rId2"/>
          <a:stretch>
            <a:fillRect/>
          </a:stretch>
        </p:blipFill>
        <p:spPr>
          <a:xfrm>
            <a:off x="0" y="-1"/>
            <a:ext cx="5892800" cy="334030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700780"/>
            <a:ext cx="6852285" cy="6312535"/>
          </a:xfrm>
        </p:spPr>
        <p:txBody>
          <a:bodyPr>
            <a:normAutofit/>
          </a:bodyPr>
          <a:lstStyle/>
          <a:p>
            <a:pPr algn="l"/>
            <a:r>
              <a:rPr lang="ja-JP" altLang="en-US" sz="1400"/>
              <a:t>多くの ICS（産業制御システム）環境では IPv6 を使用していません。</a:t>
            </a:r>
          </a:p>
          <a:p>
            <a:pPr algn="l"/>
            <a:r>
              <a:rPr lang="ja-JP" altLang="en-US" sz="1400"/>
              <a:t>また、堅牢化された ICS 環境では、</a:t>
            </a:r>
          </a:p>
          <a:p>
            <a:pPr algn="l"/>
            <a:r>
              <a:rPr lang="ja-JP" altLang="en-US" sz="1400"/>
              <a:t>外部との通信に必要なプロトコルはごく少数 です。</a:t>
            </a:r>
          </a:p>
          <a:p>
            <a:pPr algn="l"/>
            <a:r>
              <a:rPr lang="ja-JP" altLang="en-US" sz="1400"/>
              <a:t>そのため、以下の対策が推奨されます：</a:t>
            </a:r>
          </a:p>
          <a:p>
            <a:pPr algn="l"/>
            <a:r>
              <a:rPr lang="ja-JP" altLang="en-US" sz="1400"/>
              <a:t>• 	IPv6 を使用していない場合は、ワークステーションやサーバで無効化する</a:t>
            </a:r>
          </a:p>
          <a:p>
            <a:pPr algn="l"/>
            <a:r>
              <a:rPr lang="ja-JP" altLang="en-US" sz="1400"/>
              <a:t>• 	使用していないプロトコルは、すべてのサーバとワークステーションで無効化する</a:t>
            </a:r>
          </a:p>
          <a:p>
            <a:pPr algn="l"/>
            <a:r>
              <a:rPr lang="ja-JP" altLang="en-US" sz="1400"/>
              <a:t>• 	ネットワークトラフィックを分析し、誤設定されたデバイス（不要なプロトコル、IPv6、DNS など）を特定する</a:t>
            </a:r>
          </a:p>
          <a:p>
            <a:pPr algn="l"/>
            <a:r>
              <a:rPr lang="ja-JP" altLang="en-US" sz="1400"/>
              <a:t>• 	ネットワーク境界（ファイアウォールなど）では、不要なトラフィックやプロトコルを拒否する</a:t>
            </a:r>
          </a:p>
          <a:p>
            <a:pPr algn="l"/>
            <a:endParaRPr lang="ja-JP" altLang="en-US" sz="1400"/>
          </a:p>
          <a:p>
            <a:pPr algn="l"/>
            <a:r>
              <a:rPr lang="ja-JP" altLang="en-US" sz="1400"/>
              <a:t>補足（ICS セキュリティの観点）</a:t>
            </a:r>
          </a:p>
          <a:p>
            <a:pPr algn="l"/>
            <a:r>
              <a:rPr lang="ja-JP" altLang="en-US" sz="1400"/>
              <a:t>ICS では「必要最小限の通信のみ許可する」ことが基本原則です。</a:t>
            </a:r>
          </a:p>
          <a:p>
            <a:pPr algn="l"/>
            <a:r>
              <a:rPr lang="ja-JP" altLang="en-US" sz="1400"/>
              <a:t>IPv6 や未使用プロトコルを放置すると：</a:t>
            </a:r>
          </a:p>
          <a:p>
            <a:pPr algn="l"/>
            <a:r>
              <a:rPr lang="ja-JP" altLang="en-US" sz="1400"/>
              <a:t>• 	意図しない通信経路が生まれる</a:t>
            </a:r>
          </a:p>
          <a:p>
            <a:pPr algn="l"/>
            <a:r>
              <a:rPr lang="ja-JP" altLang="en-US" sz="1400"/>
              <a:t>• 	攻撃者が悪用できる余地が増える</a:t>
            </a:r>
          </a:p>
          <a:p>
            <a:pPr algn="l"/>
            <a:r>
              <a:rPr lang="ja-JP" altLang="en-US" sz="1400"/>
              <a:t>• 	トラブルシューティングが複雑化する</a:t>
            </a:r>
          </a:p>
          <a:p>
            <a:pPr algn="l"/>
            <a:r>
              <a:rPr lang="ja-JP" altLang="en-US" sz="1400"/>
              <a:t>といったリスクが生じます。</a:t>
            </a:r>
          </a:p>
          <a:p>
            <a:pPr algn="l"/>
            <a:r>
              <a:rPr lang="ja-JP" altLang="en-US" sz="1400"/>
              <a:t>そのため、</a:t>
            </a:r>
          </a:p>
          <a:p>
            <a:pPr algn="l"/>
            <a:r>
              <a:rPr lang="ja-JP" altLang="en-US" sz="1400"/>
              <a:t>“使わないものはすべて無効化する”</a:t>
            </a:r>
          </a:p>
          <a:p>
            <a:pPr algn="l"/>
            <a:r>
              <a:rPr lang="ja-JP" altLang="en-US" sz="1400"/>
              <a:t>というシンプルな方針が、ICS の堅牢化において非常に効果的です。</a:t>
            </a:r>
          </a:p>
        </p:txBody>
      </p:sp>
      <p:pic>
        <p:nvPicPr>
          <p:cNvPr id="2" name="図 1">
            <a:extLst>
              <a:ext uri="{FF2B5EF4-FFF2-40B4-BE49-F238E27FC236}">
                <a16:creationId xmlns:a16="http://schemas.microsoft.com/office/drawing/2014/main" id="{82174462-7017-4A52-A505-43F2D2CA86D2}"/>
              </a:ext>
            </a:extLst>
          </p:cNvPr>
          <p:cNvPicPr>
            <a:picLocks noChangeAspect="1"/>
          </p:cNvPicPr>
          <p:nvPr/>
        </p:nvPicPr>
        <p:blipFill>
          <a:blip r:embed="rId2"/>
          <a:stretch>
            <a:fillRect/>
          </a:stretch>
        </p:blipFill>
        <p:spPr>
          <a:xfrm>
            <a:off x="0" y="0"/>
            <a:ext cx="6299200" cy="359593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886365"/>
            <a:ext cx="6852285" cy="9305634"/>
          </a:xfrm>
        </p:spPr>
        <p:txBody>
          <a:bodyPr>
            <a:noAutofit/>
          </a:bodyPr>
          <a:lstStyle/>
          <a:p>
            <a:pPr algn="l"/>
            <a:r>
              <a:rPr lang="ja-JP" altLang="en-US" sz="1050" dirty="0"/>
              <a:t>ネットワークインターフェースには、</a:t>
            </a:r>
          </a:p>
          <a:p>
            <a:pPr algn="l"/>
            <a:r>
              <a:rPr lang="ja-JP" altLang="en-US" sz="1050" dirty="0"/>
              <a:t>ハードウェアアドレス と ソフトウェアアドレス の 2 種類のアドレスが存在します。</a:t>
            </a:r>
          </a:p>
          <a:p>
            <a:pPr algn="l"/>
            <a:r>
              <a:rPr lang="ja-JP" altLang="en-US" sz="1050" dirty="0"/>
              <a:t>多くのデバイスには ホスト名 も設定されており、</a:t>
            </a:r>
          </a:p>
          <a:p>
            <a:pPr algn="l"/>
            <a:r>
              <a:rPr lang="ja-JP" altLang="en-US" sz="1050" dirty="0"/>
              <a:t>インターネット上のシステムでは FQDN（完全修飾ドメイン名） が使われます。</a:t>
            </a:r>
          </a:p>
          <a:p>
            <a:pPr algn="l"/>
            <a:endParaRPr lang="ja-JP" altLang="en-US" sz="1050" dirty="0"/>
          </a:p>
          <a:p>
            <a:pPr algn="l"/>
            <a:r>
              <a:rPr lang="ja-JP" altLang="en-US" sz="1050" dirty="0"/>
              <a:t>ハードウェアアドレス（Layer 2 アドレス）</a:t>
            </a:r>
          </a:p>
          <a:p>
            <a:pPr algn="l"/>
            <a:r>
              <a:rPr lang="ja-JP" altLang="en-US" sz="1050" dirty="0"/>
              <a:t>ハードウェアアドレスは、データリンク層（OSI 第2層）で使用されるアドレスです。</a:t>
            </a:r>
          </a:p>
          <a:p>
            <a:pPr algn="l"/>
            <a:r>
              <a:rPr lang="ja-JP" altLang="en-US" sz="1050" dirty="0"/>
              <a:t>例：</a:t>
            </a:r>
          </a:p>
          <a:p>
            <a:pPr algn="l"/>
            <a:r>
              <a:rPr lang="ja-JP" altLang="en-US" sz="1050" dirty="0"/>
              <a:t>• 	Frame Relay の場合：10 ビットの DLCI（Data Link Connection Identifier）</a:t>
            </a:r>
          </a:p>
          <a:p>
            <a:pPr algn="l"/>
            <a:r>
              <a:rPr lang="ja-JP" altLang="en-US" sz="1050" dirty="0"/>
              <a:t>• 	IEEE LAN（802.3/Ethernet） の場合：48 ビットの MAC アドレス</a:t>
            </a:r>
          </a:p>
          <a:p>
            <a:pPr algn="l"/>
            <a:r>
              <a:rPr lang="ja-JP" altLang="en-US" sz="1050" dirty="0"/>
              <a:t>MAC アドレスは NIC（ネットワークインターフェースカード）ごとに一意に割り当てられ、</a:t>
            </a:r>
          </a:p>
          <a:p>
            <a:pPr algn="l"/>
            <a:r>
              <a:rPr lang="ja-JP" altLang="en-US" sz="1050" dirty="0"/>
              <a:t>通常は変更されません。</a:t>
            </a:r>
          </a:p>
          <a:p>
            <a:pPr algn="l"/>
            <a:r>
              <a:rPr lang="ja-JP" altLang="en-US" sz="1050" dirty="0"/>
              <a:t>ただし、必要であれば ソフトウェア・ドライバ・OS 設定で変更可能 です。</a:t>
            </a:r>
          </a:p>
          <a:p>
            <a:pPr algn="l"/>
            <a:endParaRPr lang="ja-JP" altLang="en-US" sz="1050" dirty="0"/>
          </a:p>
          <a:p>
            <a:pPr algn="l"/>
            <a:r>
              <a:rPr lang="ja-JP" altLang="en-US" sz="1050" dirty="0"/>
              <a:t>ソフトウェアアドレス（Layer 3 アドレス）</a:t>
            </a:r>
          </a:p>
          <a:p>
            <a:pPr algn="l"/>
            <a:r>
              <a:rPr lang="ja-JP" altLang="en-US" sz="1050" dirty="0"/>
              <a:t>ソフトウェアアドレスとは、ネットワーク層（OSI 第3層）のプロトコルアドレスです。</a:t>
            </a:r>
          </a:p>
          <a:p>
            <a:pPr algn="l"/>
            <a:r>
              <a:rPr lang="ja-JP" altLang="en-US" sz="1050" dirty="0"/>
              <a:t>代表例：IP アドレス</a:t>
            </a:r>
          </a:p>
          <a:p>
            <a:pPr algn="l"/>
            <a:r>
              <a:rPr lang="ja-JP" altLang="en-US" sz="1050" dirty="0"/>
              <a:t>• 	IPv4 は 32 ビット（4 バイト）</a:t>
            </a:r>
          </a:p>
          <a:p>
            <a:pPr algn="l"/>
            <a:r>
              <a:rPr lang="ja-JP" altLang="en-US" sz="1050" dirty="0"/>
              <a:t>• 	表記例：（ドット区切り 10 進数）</a:t>
            </a:r>
          </a:p>
          <a:p>
            <a:pPr algn="l"/>
            <a:r>
              <a:rPr lang="ja-JP" altLang="en-US" sz="1050" dirty="0"/>
              <a:t>IP アドレスはルーティングのために 階層構造 を持ちます：</a:t>
            </a:r>
          </a:p>
          <a:p>
            <a:pPr algn="l"/>
            <a:r>
              <a:rPr lang="ja-JP" altLang="en-US" sz="1050" dirty="0"/>
              <a:t>• 	NET_ID（ネットワーク部）</a:t>
            </a:r>
          </a:p>
          <a:p>
            <a:pPr algn="l"/>
            <a:r>
              <a:rPr lang="ja-JP" altLang="en-US" sz="1050" dirty="0"/>
              <a:t>• 	HOST_ID（ホスト部）</a:t>
            </a:r>
          </a:p>
          <a:p>
            <a:pPr algn="l"/>
            <a:r>
              <a:rPr lang="ja-JP" altLang="en-US" sz="1050" dirty="0"/>
              <a:t>昔は Class A/B/C による「クラスフルアドレス」が使われていましたが、</a:t>
            </a:r>
          </a:p>
          <a:p>
            <a:pPr algn="l"/>
            <a:r>
              <a:rPr lang="ja-JP" altLang="en-US" sz="1050" dirty="0"/>
              <a:t>現在は CIDR（Classless Inter-Domain Routing） が一般的で、</a:t>
            </a:r>
          </a:p>
          <a:p>
            <a:pPr algn="l"/>
            <a:r>
              <a:rPr lang="ja-JP" altLang="en-US" sz="1050" dirty="0"/>
              <a:t>可変長サブネットマスクによって NET_ID の長さを指定します。</a:t>
            </a:r>
          </a:p>
          <a:p>
            <a:pPr algn="l"/>
            <a:r>
              <a:rPr lang="ja-JP" altLang="en-US" sz="1050" dirty="0"/>
              <a:t>また、1 台の NIC が複数のネットワーク層プロトコルを扱う場合、</a:t>
            </a:r>
          </a:p>
          <a:p>
            <a:pPr algn="l"/>
            <a:r>
              <a:rPr lang="ja-JP" altLang="en-US" sz="1050" dirty="0"/>
              <a:t>複数のソフトウェアアドレスを持つこともあります。</a:t>
            </a:r>
          </a:p>
          <a:p>
            <a:pPr algn="l"/>
            <a:endParaRPr lang="ja-JP" altLang="en-US" sz="1050" dirty="0"/>
          </a:p>
          <a:p>
            <a:pPr algn="l"/>
            <a:r>
              <a:rPr lang="ja-JP" altLang="en-US" sz="1050" dirty="0"/>
              <a:t>IP インターフェースに必要な設定</a:t>
            </a:r>
          </a:p>
          <a:p>
            <a:pPr algn="l"/>
            <a:r>
              <a:rPr lang="ja-JP" altLang="en-US" sz="1050" dirty="0"/>
              <a:t>すべての IP インターフェースには以下が設定されています：</a:t>
            </a:r>
          </a:p>
          <a:p>
            <a:pPr algn="l"/>
            <a:r>
              <a:rPr lang="ja-JP" altLang="en-US" sz="1050" dirty="0"/>
              <a:t>• 	IP アドレス</a:t>
            </a:r>
          </a:p>
          <a:p>
            <a:pPr algn="l"/>
            <a:r>
              <a:rPr lang="ja-JP" altLang="en-US" sz="1050" dirty="0"/>
              <a:t>• 	サブネットマスク</a:t>
            </a:r>
          </a:p>
          <a:p>
            <a:pPr algn="l"/>
            <a:r>
              <a:rPr lang="ja-JP" altLang="en-US" sz="1050" dirty="0"/>
              <a:t>• 	DNS サーバの IP アドレス</a:t>
            </a:r>
          </a:p>
          <a:p>
            <a:pPr algn="l"/>
            <a:r>
              <a:rPr lang="ja-JP" altLang="en-US" sz="1050" dirty="0"/>
              <a:t>• 	デフォルトゲートウェイ（外部へ出る際に使うルータ）</a:t>
            </a:r>
          </a:p>
          <a:p>
            <a:pPr algn="l"/>
            <a:r>
              <a:rPr lang="ja-JP" altLang="en-US" sz="1050" dirty="0"/>
              <a:t>これらが正しく設定されて初めて、</a:t>
            </a:r>
          </a:p>
          <a:p>
            <a:pPr algn="l"/>
            <a:r>
              <a:rPr lang="ja-JP" altLang="en-US" sz="1050" dirty="0"/>
              <a:t>ホストはネットワーク内外と通信できるようになります。</a:t>
            </a:r>
          </a:p>
        </p:txBody>
      </p:sp>
      <p:pic>
        <p:nvPicPr>
          <p:cNvPr id="2" name="図 1">
            <a:extLst>
              <a:ext uri="{FF2B5EF4-FFF2-40B4-BE49-F238E27FC236}">
                <a16:creationId xmlns:a16="http://schemas.microsoft.com/office/drawing/2014/main" id="{38DB21FB-2713-4805-B826-8BA6785200F3}"/>
              </a:ext>
            </a:extLst>
          </p:cNvPr>
          <p:cNvPicPr>
            <a:picLocks noChangeAspect="1"/>
          </p:cNvPicPr>
          <p:nvPr/>
        </p:nvPicPr>
        <p:blipFill>
          <a:blip r:embed="rId2"/>
          <a:stretch>
            <a:fillRect/>
          </a:stretch>
        </p:blipFill>
        <p:spPr>
          <a:xfrm>
            <a:off x="0" y="1"/>
            <a:ext cx="5080000" cy="28863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291205"/>
            <a:ext cx="6852285" cy="6312535"/>
          </a:xfrm>
        </p:spPr>
        <p:txBody>
          <a:bodyPr>
            <a:noAutofit/>
          </a:bodyPr>
          <a:lstStyle/>
          <a:p>
            <a:pPr algn="l"/>
            <a:r>
              <a:rPr lang="ja-JP" altLang="en-US" sz="1400"/>
              <a:t>ARP／NDP スプーフィング</a:t>
            </a:r>
          </a:p>
          <a:p>
            <a:pPr algn="l"/>
            <a:r>
              <a:rPr lang="ja-JP" altLang="en-US" sz="1400"/>
              <a:t>Ettercap のようなツールを使うと、攻撃者は 大量の Gratuitous ARP／NDP パケット を特定のシステムに送りつけ、</a:t>
            </a:r>
          </a:p>
          <a:p>
            <a:pPr algn="l"/>
            <a:r>
              <a:rPr lang="ja-JP" altLang="en-US" sz="1400"/>
              <a:t>そのシステムが 攻撃者の MAC アドレスを別の IP に紐づけてしまうよう誘導 できます。</a:t>
            </a:r>
          </a:p>
          <a:p>
            <a:pPr algn="l"/>
            <a:r>
              <a:rPr lang="ja-JP" altLang="en-US" sz="1400"/>
              <a:t>例として、攻撃者が以下のように偽装することが可能です：</a:t>
            </a:r>
          </a:p>
          <a:p>
            <a:pPr algn="l"/>
            <a:r>
              <a:rPr lang="ja-JP" altLang="en-US" sz="1400"/>
              <a:t>• 	HMI に対して「自分（攻撃者）が PLC だ」と信じ込ませる</a:t>
            </a:r>
          </a:p>
          <a:p>
            <a:pPr algn="l"/>
            <a:r>
              <a:rPr lang="ja-JP" altLang="en-US" sz="1400"/>
              <a:t>• 	PLC に対して「自分（攻撃者）が HMI だ」と信じ込ませる</a:t>
            </a:r>
          </a:p>
          <a:p>
            <a:pPr algn="l"/>
            <a:r>
              <a:rPr lang="ja-JP" altLang="en-US" sz="1400"/>
              <a:t>これにより攻撃者は HMI ↔ PLC 間の通信を盗聴・改ざん できるようになります。</a:t>
            </a:r>
          </a:p>
          <a:p>
            <a:pPr algn="l"/>
            <a:r>
              <a:rPr lang="ja-JP" altLang="en-US" sz="1400"/>
              <a:t>防御方法</a:t>
            </a:r>
          </a:p>
          <a:p>
            <a:pPr algn="l"/>
            <a:r>
              <a:rPr lang="ja-JP" altLang="en-US" sz="1400"/>
              <a:t>1. 	IDS/IPS を使って Gratuitous ARP を監視する</a:t>
            </a:r>
          </a:p>
          <a:p>
            <a:pPr algn="l"/>
            <a:r>
              <a:rPr lang="ja-JP" altLang="en-US" sz="1400"/>
              <a:t>2. 	エンドポイントセキュリティを導入し、攻撃対象になったホストを検知する</a:t>
            </a:r>
          </a:p>
          <a:p>
            <a:pPr algn="l"/>
            <a:r>
              <a:rPr lang="ja-JP" altLang="en-US" sz="1400"/>
              <a:t>ただし ICS では、</a:t>
            </a:r>
          </a:p>
          <a:p>
            <a:pPr algn="l"/>
            <a:r>
              <a:rPr lang="ja-JP" altLang="en-US" sz="1400"/>
              <a:t>多くのデバイスにエンドポイントセキュリティをインストールできないため、</a:t>
            </a:r>
          </a:p>
          <a:p>
            <a:pPr algn="l"/>
            <a:r>
              <a:rPr lang="ja-JP" altLang="en-US" sz="1400"/>
              <a:t>後者の方法は現実的でない場合が多いです。</a:t>
            </a:r>
          </a:p>
          <a:p>
            <a:pPr algn="l"/>
            <a:r>
              <a:rPr lang="ja-JP" altLang="en-US" sz="1400"/>
              <a:t>Linux/UNIX 系のホストがある場合は、</a:t>
            </a:r>
          </a:p>
          <a:p>
            <a:pPr algn="l"/>
            <a:r>
              <a:rPr lang="ja-JP" altLang="en-US" sz="1400"/>
              <a:t>arpwatch というオープンソースツールが有効です。</a:t>
            </a:r>
          </a:p>
          <a:p>
            <a:pPr algn="l"/>
            <a:endParaRPr lang="ja-JP" altLang="en-US" sz="1400"/>
          </a:p>
          <a:p>
            <a:pPr algn="l"/>
            <a:r>
              <a:rPr lang="ja-JP" altLang="en-US" sz="1400"/>
              <a:t>DNS スプーフィング</a:t>
            </a:r>
          </a:p>
          <a:p>
            <a:pPr algn="l"/>
            <a:r>
              <a:rPr lang="ja-JP" altLang="en-US" sz="1400"/>
              <a:t>DNS キャッシュポイズニング攻撃を行い、</a:t>
            </a:r>
          </a:p>
          <a:p>
            <a:pPr algn="l"/>
            <a:r>
              <a:rPr lang="ja-JP" altLang="en-US" sz="1400"/>
              <a:t>サーバに 偽の IP アドレスを返させる ことを狙うケースがあります。</a:t>
            </a:r>
          </a:p>
          <a:p>
            <a:pPr algn="l"/>
            <a:r>
              <a:rPr lang="ja-JP" altLang="en-US" sz="1400"/>
              <a:t>あるいは、攻撃者が別のホストになりすまし、</a:t>
            </a:r>
          </a:p>
          <a:p>
            <a:pPr algn="l"/>
            <a:r>
              <a:rPr lang="ja-JP" altLang="en-US" sz="1400"/>
              <a:t>誤った DNS 応答を返す ことも可能です。</a:t>
            </a:r>
          </a:p>
          <a:p>
            <a:pPr algn="l"/>
            <a:r>
              <a:rPr lang="ja-JP" altLang="en-US" sz="1400"/>
              <a:t>この攻撃を成立させるには、</a:t>
            </a:r>
          </a:p>
          <a:p>
            <a:pPr algn="l"/>
            <a:r>
              <a:rPr lang="ja-JP" altLang="en-US" sz="1400"/>
              <a:t>攻撃者が 通信経路上に位置し、パケットを盗聴し、</a:t>
            </a:r>
          </a:p>
          <a:p>
            <a:pPr algn="l"/>
            <a:r>
              <a:rPr lang="ja-JP" altLang="en-US" sz="1400"/>
              <a:t>本物の DNS サーバに届く前に遮断する必要 があります。</a:t>
            </a:r>
          </a:p>
          <a:p>
            <a:pPr algn="l"/>
            <a:r>
              <a:rPr lang="ja-JP" altLang="en-US" sz="1400"/>
              <a:t>IDS/IPS が攻撃を検知できる場合もありますが、</a:t>
            </a:r>
          </a:p>
          <a:p>
            <a:pPr algn="l"/>
            <a:r>
              <a:rPr lang="ja-JP" altLang="en-US" sz="1400"/>
              <a:t>最も重要な防御策は次の通りです：</a:t>
            </a:r>
          </a:p>
          <a:p>
            <a:pPr algn="l"/>
            <a:r>
              <a:rPr lang="ja-JP" altLang="en-US" sz="1400"/>
              <a:t>• 	DNS サーバを堅牢化し、信頼する相手を厳しく制限する</a:t>
            </a:r>
          </a:p>
          <a:p>
            <a:pPr algn="l"/>
            <a:r>
              <a:rPr lang="ja-JP" altLang="en-US" sz="1400"/>
              <a:t>• 	セキュリティゾーンごとに異なる DNS サーバを使用し、DNS インフラを安全に設計する</a:t>
            </a:r>
          </a:p>
        </p:txBody>
      </p:sp>
      <p:pic>
        <p:nvPicPr>
          <p:cNvPr id="2" name="図 1">
            <a:extLst>
              <a:ext uri="{FF2B5EF4-FFF2-40B4-BE49-F238E27FC236}">
                <a16:creationId xmlns:a16="http://schemas.microsoft.com/office/drawing/2014/main" id="{ED01DF57-DA73-45DF-951F-8315A4905AD8}"/>
              </a:ext>
            </a:extLst>
          </p:cNvPr>
          <p:cNvPicPr>
            <a:picLocks noChangeAspect="1"/>
          </p:cNvPicPr>
          <p:nvPr/>
        </p:nvPicPr>
        <p:blipFill>
          <a:blip r:embed="rId2"/>
          <a:stretch>
            <a:fillRect/>
          </a:stretch>
        </p:blipFill>
        <p:spPr>
          <a:xfrm>
            <a:off x="-1" y="-1"/>
            <a:ext cx="5806183" cy="329120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556001"/>
            <a:ext cx="6852285" cy="7264399"/>
          </a:xfrm>
        </p:spPr>
        <p:txBody>
          <a:bodyPr>
            <a:normAutofit/>
          </a:bodyPr>
          <a:lstStyle/>
          <a:p>
            <a:pPr algn="l"/>
            <a:r>
              <a:rPr lang="ja-JP" altLang="en-US" sz="1400" dirty="0"/>
              <a:t>このモジュールで扱う 3 </a:t>
            </a:r>
            <a:r>
              <a:rPr lang="ja-JP" altLang="en-US" sz="1400" dirty="0" err="1"/>
              <a:t>つ</a:t>
            </a:r>
            <a:r>
              <a:rPr lang="ja-JP" altLang="en-US" sz="1400" dirty="0"/>
              <a:t>目（そして最後）のプロトコルが ICMP（Internet Control Message Protocol） です。</a:t>
            </a:r>
          </a:p>
          <a:p>
            <a:pPr algn="l"/>
            <a:r>
              <a:rPr lang="ja-JP" altLang="en-US" sz="1400" dirty="0"/>
              <a:t>前のモジュールでも少し触れましたが、ここで詳しく説明します。</a:t>
            </a:r>
          </a:p>
          <a:p>
            <a:pPr algn="l"/>
            <a:r>
              <a:rPr lang="ja-JP" altLang="en-US" sz="1400" dirty="0"/>
              <a:t>ICMP は ネットワーク層（Layer 3） のプロトコルであり、</a:t>
            </a:r>
          </a:p>
          <a:p>
            <a:pPr algn="l"/>
            <a:r>
              <a:rPr lang="ja-JP" altLang="en-US" sz="1400" dirty="0"/>
              <a:t>トランスポート層（Layer 4） に属する TCP や UDP とは異なります。</a:t>
            </a:r>
          </a:p>
          <a:p>
            <a:pPr algn="l"/>
            <a:r>
              <a:rPr lang="ja-JP" altLang="en-US" sz="1400" dirty="0"/>
              <a:t>そのため、ICMP は IP と同じ階層に位置する「IP の仲間（peer）」ですが、</a:t>
            </a:r>
          </a:p>
          <a:p>
            <a:pPr algn="l"/>
            <a:r>
              <a:rPr lang="ja-JP" altLang="en-US" sz="1400" dirty="0"/>
              <a:t>実際には IP パケットの中にカプセル化されて送信 されます。</a:t>
            </a:r>
          </a:p>
          <a:p>
            <a:pPr algn="l"/>
            <a:r>
              <a:rPr lang="ja-JP" altLang="en-US" sz="1400" dirty="0"/>
              <a:t>実際、IP・TCP・UDP はすべて、</a:t>
            </a:r>
          </a:p>
          <a:p>
            <a:pPr algn="l"/>
            <a:r>
              <a:rPr lang="ja-JP" altLang="en-US" sz="1400" dirty="0"/>
              <a:t>ネットワーク状態の通知やエラー情報の伝達 のために ICMP に依存しています。</a:t>
            </a:r>
          </a:p>
          <a:p>
            <a:pPr algn="l"/>
            <a:endParaRPr lang="ja-JP" altLang="en-US" sz="1400" dirty="0"/>
          </a:p>
          <a:p>
            <a:pPr algn="l"/>
            <a:r>
              <a:rPr lang="ja-JP" altLang="en-US" sz="1400" dirty="0"/>
              <a:t>ICMP の特徴</a:t>
            </a:r>
          </a:p>
          <a:p>
            <a:pPr algn="l"/>
            <a:r>
              <a:rPr lang="ja-JP" altLang="en-US" sz="1400" dirty="0"/>
              <a:t>ICMP は非常にシンプルなプロトコルです。</a:t>
            </a:r>
          </a:p>
          <a:p>
            <a:pPr algn="l"/>
            <a:r>
              <a:rPr lang="ja-JP" altLang="en-US" sz="1400" dirty="0"/>
              <a:t>• 	IP や UDP と同じく データグラム型</a:t>
            </a:r>
          </a:p>
          <a:p>
            <a:pPr algn="l"/>
            <a:r>
              <a:rPr lang="ja-JP" altLang="en-US" sz="1400" dirty="0"/>
              <a:t>• 	多くの ICMP 通信は 1〜2 パケット で完結</a:t>
            </a:r>
          </a:p>
          <a:p>
            <a:pPr algn="l"/>
            <a:r>
              <a:rPr lang="ja-JP" altLang="en-US" sz="1400" dirty="0"/>
              <a:t>• 	ヘッダは 3 フィールドのみ（UDP より少ない）</a:t>
            </a:r>
          </a:p>
          <a:p>
            <a:pPr algn="l"/>
            <a:r>
              <a:rPr lang="ja-JP" altLang="en-US" sz="1400" dirty="0"/>
              <a:t>• 	そのうち 1 つは チェックサム だけ</a:t>
            </a:r>
          </a:p>
          <a:p>
            <a:pPr algn="l"/>
            <a:r>
              <a:rPr lang="ja-JP" altLang="en-US" sz="1400" dirty="0"/>
              <a:t>このように、ICMP は軽量で最小限の構造を持っています。</a:t>
            </a:r>
          </a:p>
          <a:p>
            <a:pPr algn="l"/>
            <a:endParaRPr lang="ja-JP" altLang="en-US" sz="1400" dirty="0"/>
          </a:p>
          <a:p>
            <a:pPr algn="l"/>
            <a:r>
              <a:rPr lang="ja-JP" altLang="en-US" sz="1400" dirty="0"/>
              <a:t>ICMP が重要な理由</a:t>
            </a:r>
          </a:p>
          <a:p>
            <a:pPr algn="l"/>
            <a:r>
              <a:rPr lang="ja-JP" altLang="en-US" sz="1400" dirty="0"/>
              <a:t>ICMP は、ネットワークの状態やエラーを伝える 重要かつ基本的な情報 を運びます。</a:t>
            </a:r>
          </a:p>
          <a:p>
            <a:pPr algn="l"/>
            <a:r>
              <a:rPr lang="ja-JP" altLang="en-US" sz="1400" dirty="0"/>
              <a:t>• 	データ転送のためのプロトコルではない</a:t>
            </a:r>
          </a:p>
          <a:p>
            <a:pPr algn="l"/>
            <a:r>
              <a:rPr lang="ja-JP" altLang="en-US" sz="1400" dirty="0"/>
              <a:t>• 	エラー通知 と ネットワーク診断 のために設計されている</a:t>
            </a:r>
          </a:p>
          <a:p>
            <a:pPr algn="l"/>
            <a:r>
              <a:rPr lang="ja-JP" altLang="en-US" sz="1400" dirty="0"/>
              <a:t>• 	多くのプロトコルが ICMP を利用してエラー状況を把握している</a:t>
            </a:r>
          </a:p>
          <a:p>
            <a:pPr algn="l"/>
            <a:r>
              <a:rPr lang="ja-JP" altLang="en-US" sz="1400" dirty="0"/>
              <a:t>代表例として、 や  が ICMP を利用しています。</a:t>
            </a:r>
          </a:p>
        </p:txBody>
      </p:sp>
      <p:pic>
        <p:nvPicPr>
          <p:cNvPr id="2" name="図 1">
            <a:extLst>
              <a:ext uri="{FF2B5EF4-FFF2-40B4-BE49-F238E27FC236}">
                <a16:creationId xmlns:a16="http://schemas.microsoft.com/office/drawing/2014/main" id="{B741324C-7018-463F-B015-197A49D90BDA}"/>
              </a:ext>
            </a:extLst>
          </p:cNvPr>
          <p:cNvPicPr>
            <a:picLocks noChangeAspect="1"/>
          </p:cNvPicPr>
          <p:nvPr/>
        </p:nvPicPr>
        <p:blipFill>
          <a:blip r:embed="rId2"/>
          <a:stretch>
            <a:fillRect/>
          </a:stretch>
        </p:blipFill>
        <p:spPr>
          <a:xfrm>
            <a:off x="437709" y="135467"/>
            <a:ext cx="5982581" cy="338666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850902"/>
            <a:ext cx="3429000" cy="7579098"/>
          </a:xfrm>
        </p:spPr>
        <p:txBody>
          <a:bodyPr>
            <a:noAutofit/>
          </a:bodyPr>
          <a:lstStyle/>
          <a:p>
            <a:pPr algn="l"/>
            <a:r>
              <a:rPr lang="ja-JP" altLang="en-US" sz="1200" dirty="0"/>
              <a:t>TCP の 3 ウェイハンドシェイク（接続確立）</a:t>
            </a:r>
          </a:p>
          <a:p>
            <a:pPr algn="l"/>
            <a:r>
              <a:rPr lang="ja-JP" altLang="en-US" sz="1200" dirty="0"/>
              <a:t>TCP では、クライアントが SYN パケットを送信し、</a:t>
            </a:r>
          </a:p>
          <a:p>
            <a:pPr algn="l"/>
            <a:r>
              <a:rPr lang="ja-JP" altLang="en-US" sz="1200" dirty="0"/>
              <a:t>サーバへの接続要求を示すところから通信が始まります。</a:t>
            </a:r>
          </a:p>
          <a:p>
            <a:pPr algn="l"/>
            <a:r>
              <a:rPr lang="ja-JP" altLang="en-US" sz="1200" dirty="0"/>
              <a:t>1. 	クライアント → サーバ：SYN</a:t>
            </a:r>
          </a:p>
          <a:p>
            <a:pPr algn="l"/>
            <a:r>
              <a:rPr lang="ja-JP" altLang="en-US" sz="1200" dirty="0"/>
              <a:t>接続要求を送る。</a:t>
            </a:r>
          </a:p>
          <a:p>
            <a:pPr algn="l"/>
            <a:r>
              <a:rPr lang="ja-JP" altLang="en-US" sz="1200" dirty="0"/>
              <a:t>2. 	サーバ → クライアント：SYN-ACK</a:t>
            </a:r>
          </a:p>
          <a:p>
            <a:pPr algn="l"/>
            <a:r>
              <a:rPr lang="ja-JP" altLang="en-US" sz="1200" dirty="0"/>
              <a:t>• 	クライアントの要求を受け取ったことを示す ACK</a:t>
            </a:r>
          </a:p>
          <a:p>
            <a:pPr algn="l"/>
            <a:r>
              <a:rPr lang="ja-JP" altLang="en-US" sz="1200" dirty="0"/>
              <a:t>• 	サーバ側からの接続要求を示す SYN</a:t>
            </a:r>
          </a:p>
          <a:p>
            <a:pPr algn="l"/>
            <a:r>
              <a:rPr lang="ja-JP" altLang="en-US" sz="1200" dirty="0"/>
              <a:t>この 2 つを 1 </a:t>
            </a:r>
            <a:r>
              <a:rPr lang="ja-JP" altLang="en-US" sz="1200" dirty="0" err="1"/>
              <a:t>つの</a:t>
            </a:r>
            <a:r>
              <a:rPr lang="ja-JP" altLang="en-US" sz="1200" dirty="0"/>
              <a:t>パケットで返す。</a:t>
            </a:r>
          </a:p>
          <a:p>
            <a:pPr algn="l"/>
            <a:r>
              <a:rPr lang="ja-JP" altLang="en-US" sz="1200" dirty="0"/>
              <a:t>3. 	クライアント → サーバ：ACK</a:t>
            </a:r>
          </a:p>
          <a:p>
            <a:pPr algn="l"/>
            <a:r>
              <a:rPr lang="ja-JP" altLang="en-US" sz="1200" dirty="0"/>
              <a:t>サーバの SYN を受け取ったことを通知。</a:t>
            </a:r>
          </a:p>
          <a:p>
            <a:pPr algn="l"/>
            <a:r>
              <a:rPr lang="ja-JP" altLang="en-US" sz="1200" dirty="0"/>
              <a:t>サーバがこの ACK を受信すると、</a:t>
            </a:r>
          </a:p>
          <a:p>
            <a:pPr algn="l"/>
            <a:r>
              <a:rPr lang="ja-JP" altLang="en-US" sz="1200" dirty="0"/>
              <a:t>3 ウェイハンドシェイクが完了し、TCP 接続が確立 します。</a:t>
            </a:r>
          </a:p>
          <a:p>
            <a:pPr algn="l"/>
            <a:r>
              <a:rPr lang="ja-JP" altLang="en-US" sz="1200" dirty="0"/>
              <a:t>その後、両者はデータをやり取りできます。</a:t>
            </a:r>
          </a:p>
          <a:p>
            <a:pPr algn="l"/>
            <a:endParaRPr lang="ja-JP" altLang="en-US" sz="1200" dirty="0"/>
          </a:p>
          <a:p>
            <a:pPr algn="l"/>
            <a:r>
              <a:rPr lang="ja-JP" altLang="en-US" sz="1200" dirty="0"/>
              <a:t>TCP の接続終了（4 ウェイハンドシェイク）</a:t>
            </a:r>
          </a:p>
          <a:p>
            <a:pPr algn="l"/>
            <a:r>
              <a:rPr lang="ja-JP" altLang="en-US" sz="1200" dirty="0"/>
              <a:t>TCP 接続を終了する際は、両方向を個別に閉じる必要 があります。</a:t>
            </a:r>
          </a:p>
          <a:p>
            <a:pPr algn="l"/>
            <a:r>
              <a:rPr lang="ja-JP" altLang="en-US" sz="1200" dirty="0"/>
              <a:t>PC が先に接続を閉じたい場合：</a:t>
            </a:r>
          </a:p>
          <a:p>
            <a:pPr algn="l"/>
            <a:r>
              <a:rPr lang="ja-JP" altLang="en-US" sz="1200" dirty="0"/>
              <a:t>1. 	PC → サーバ：FIN</a:t>
            </a:r>
          </a:p>
          <a:p>
            <a:pPr algn="l"/>
            <a:r>
              <a:rPr lang="ja-JP" altLang="en-US" sz="1200" dirty="0"/>
              <a:t>「こちら側の送信を終了したい」という通知。</a:t>
            </a:r>
          </a:p>
          <a:p>
            <a:pPr algn="l"/>
            <a:r>
              <a:rPr lang="ja-JP" altLang="en-US" sz="1200" dirty="0"/>
              <a:t>2. 	サーバ → PC：ACK</a:t>
            </a:r>
          </a:p>
          <a:p>
            <a:pPr algn="l"/>
            <a:r>
              <a:rPr lang="ja-JP" altLang="en-US" sz="1200" dirty="0"/>
              <a:t>PC の FIN を受け取ったことを通知。</a:t>
            </a:r>
          </a:p>
          <a:p>
            <a:pPr algn="l"/>
            <a:r>
              <a:rPr lang="ja-JP" altLang="en-US" sz="1200" dirty="0"/>
              <a:t>3. 	サーバ → PC：FIN</a:t>
            </a:r>
          </a:p>
          <a:p>
            <a:pPr algn="l"/>
            <a:r>
              <a:rPr lang="ja-JP" altLang="en-US" sz="1200" dirty="0"/>
              <a:t>サーバ側も送信を終了したいことを通知。</a:t>
            </a:r>
          </a:p>
          <a:p>
            <a:pPr algn="l"/>
            <a:r>
              <a:rPr lang="ja-JP" altLang="en-US" sz="1200" dirty="0"/>
              <a:t>OS によっては ACK と FIN を 1 パケットにまとめることもある。</a:t>
            </a:r>
          </a:p>
        </p:txBody>
      </p:sp>
      <p:pic>
        <p:nvPicPr>
          <p:cNvPr id="2" name="図 1">
            <a:extLst>
              <a:ext uri="{FF2B5EF4-FFF2-40B4-BE49-F238E27FC236}">
                <a16:creationId xmlns:a16="http://schemas.microsoft.com/office/drawing/2014/main" id="{266CFECA-D0C3-41D2-948F-5C42A7E2A17B}"/>
              </a:ext>
            </a:extLst>
          </p:cNvPr>
          <p:cNvPicPr>
            <a:picLocks noChangeAspect="1"/>
          </p:cNvPicPr>
          <p:nvPr/>
        </p:nvPicPr>
        <p:blipFill>
          <a:blip r:embed="rId2"/>
          <a:stretch>
            <a:fillRect/>
          </a:stretch>
        </p:blipFill>
        <p:spPr>
          <a:xfrm>
            <a:off x="187784" y="152399"/>
            <a:ext cx="6482431" cy="3674533"/>
          </a:xfrm>
          <a:prstGeom prst="rect">
            <a:avLst/>
          </a:prstGeom>
        </p:spPr>
      </p:pic>
      <p:sp>
        <p:nvSpPr>
          <p:cNvPr id="4" name="サブタイトル 2">
            <a:extLst>
              <a:ext uri="{FF2B5EF4-FFF2-40B4-BE49-F238E27FC236}">
                <a16:creationId xmlns:a16="http://schemas.microsoft.com/office/drawing/2014/main" id="{0E44B526-5422-47A1-8298-7ECA52EC032F}"/>
              </a:ext>
            </a:extLst>
          </p:cNvPr>
          <p:cNvSpPr txBox="1">
            <a:spLocks/>
          </p:cNvSpPr>
          <p:nvPr/>
        </p:nvSpPr>
        <p:spPr>
          <a:xfrm>
            <a:off x="3429000" y="3850902"/>
            <a:ext cx="3429000" cy="7181854"/>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4. 	PC → サーバ：ACK</a:t>
            </a:r>
          </a:p>
          <a:p>
            <a:pPr algn="l"/>
            <a:r>
              <a:rPr lang="ja-JP" altLang="en-US" sz="1200" dirty="0"/>
              <a:t>サーバの FIN を受け取ったことを通知。</a:t>
            </a:r>
          </a:p>
          <a:p>
            <a:pPr algn="l"/>
            <a:r>
              <a:rPr lang="ja-JP" altLang="en-US" sz="1200" dirty="0"/>
              <a:t>これで TCP 接続は完全に終了します。</a:t>
            </a:r>
          </a:p>
          <a:p>
            <a:pPr algn="l"/>
            <a:r>
              <a:rPr lang="ja-JP" altLang="en-US" sz="1200" dirty="0"/>
              <a:t>RST による強制切断</a:t>
            </a:r>
          </a:p>
          <a:p>
            <a:pPr algn="l"/>
            <a:r>
              <a:rPr lang="ja-JP" altLang="en-US" sz="1200" dirty="0"/>
              <a:t>どちらか一方が RST（リセット） を送ると、</a:t>
            </a:r>
          </a:p>
          <a:p>
            <a:pPr algn="l"/>
            <a:r>
              <a:rPr lang="ja-JP" altLang="en-US" sz="1200" dirty="0"/>
              <a:t>即座に接続を強制終了できます。</a:t>
            </a:r>
          </a:p>
          <a:p>
            <a:pPr algn="l"/>
            <a:endParaRPr lang="ja-JP" altLang="en-US" sz="1200" dirty="0"/>
          </a:p>
          <a:p>
            <a:pPr algn="l"/>
            <a:r>
              <a:rPr lang="ja-JP" altLang="en-US" sz="1200" dirty="0"/>
              <a:t>TCP の利点：信頼性の提供</a:t>
            </a:r>
          </a:p>
          <a:p>
            <a:pPr algn="l"/>
            <a:r>
              <a:rPr lang="ja-JP" altLang="en-US" sz="1200" dirty="0"/>
              <a:t>TCP を使う最大の利点は、</a:t>
            </a:r>
          </a:p>
          <a:p>
            <a:pPr algn="l"/>
            <a:r>
              <a:rPr lang="ja-JP" altLang="en-US" sz="1200" dirty="0"/>
              <a:t>アプリケーション層が配送確認を気にしなくてよい 点です。</a:t>
            </a:r>
          </a:p>
          <a:p>
            <a:pPr algn="l"/>
            <a:r>
              <a:rPr lang="ja-JP" altLang="en-US" sz="1200" dirty="0"/>
              <a:t>• 	パケットの順序制御</a:t>
            </a:r>
          </a:p>
          <a:p>
            <a:pPr algn="l"/>
            <a:r>
              <a:rPr lang="ja-JP" altLang="en-US" sz="1200" dirty="0"/>
              <a:t>• 	再送制御</a:t>
            </a:r>
          </a:p>
          <a:p>
            <a:pPr algn="l"/>
            <a:r>
              <a:rPr lang="ja-JP" altLang="en-US" sz="1200" dirty="0"/>
              <a:t>• 	エラー検出</a:t>
            </a:r>
          </a:p>
          <a:p>
            <a:pPr algn="l"/>
            <a:r>
              <a:rPr lang="ja-JP" altLang="en-US" sz="1200" dirty="0"/>
              <a:t>• 	輻輳制御</a:t>
            </a:r>
          </a:p>
          <a:p>
            <a:pPr algn="l"/>
            <a:r>
              <a:rPr lang="ja-JP" altLang="en-US" sz="1200" dirty="0"/>
              <a:t>これらはすべて TCP が自動で処理します。</a:t>
            </a:r>
          </a:p>
          <a:p>
            <a:pPr algn="l"/>
            <a:endParaRPr lang="ja-JP" altLang="en-US" sz="1200" dirty="0"/>
          </a:p>
          <a:p>
            <a:pPr algn="l"/>
            <a:r>
              <a:rPr lang="ja-JP" altLang="en-US" sz="1200" dirty="0"/>
              <a:t>UDP でも信頼性を実現できる（アプリケーション側で）</a:t>
            </a:r>
          </a:p>
          <a:p>
            <a:pPr algn="l"/>
            <a:r>
              <a:rPr lang="ja-JP" altLang="en-US" sz="1200" dirty="0"/>
              <a:t>UDP は TCP のような配送保証を持ちませんが、</a:t>
            </a:r>
          </a:p>
          <a:p>
            <a:pPr algn="l"/>
            <a:r>
              <a:rPr lang="ja-JP" altLang="en-US" sz="1200" dirty="0"/>
              <a:t>アプリケーション側で信頼性を実装することは可能 です。</a:t>
            </a:r>
          </a:p>
          <a:p>
            <a:pPr algn="l"/>
            <a:r>
              <a:rPr lang="ja-JP" altLang="en-US" sz="1200" dirty="0"/>
              <a:t>例：UDP ベースの VPN</a:t>
            </a:r>
          </a:p>
          <a:p>
            <a:pPr algn="l"/>
            <a:r>
              <a:rPr lang="ja-JP" altLang="en-US" sz="1200" dirty="0"/>
              <a:t>• 	UDP フレームが失われた場合</a:t>
            </a:r>
          </a:p>
          <a:p>
            <a:pPr algn="l"/>
            <a:r>
              <a:rPr lang="ja-JP" altLang="en-US" sz="1200" dirty="0"/>
              <a:t>• 	VPN アプリケーションがそれを検知</a:t>
            </a:r>
          </a:p>
          <a:p>
            <a:pPr algn="l"/>
            <a:r>
              <a:rPr lang="ja-JP" altLang="en-US" sz="1200" dirty="0"/>
              <a:t>• 	再送を要求する</a:t>
            </a:r>
          </a:p>
          <a:p>
            <a:pPr algn="l"/>
            <a:r>
              <a:rPr lang="ja-JP" altLang="en-US" sz="1200" dirty="0"/>
              <a:t>このように、UDP でも必要に応じて信頼性を補うことができます。</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3EE52FAE-0A72-4054-B0DF-4854CFD3C7DC}"/>
              </a:ext>
            </a:extLst>
          </p:cNvPr>
          <p:cNvPicPr>
            <a:picLocks noChangeAspect="1"/>
          </p:cNvPicPr>
          <p:nvPr/>
        </p:nvPicPr>
        <p:blipFill>
          <a:blip r:embed="rId2"/>
          <a:stretch>
            <a:fillRect/>
          </a:stretch>
        </p:blipFill>
        <p:spPr>
          <a:xfrm>
            <a:off x="-1" y="0"/>
            <a:ext cx="6824809" cy="387773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D450AED1-B876-4368-9671-38CF69709146}"/>
              </a:ext>
            </a:extLst>
          </p:cNvPr>
          <p:cNvPicPr>
            <a:picLocks noChangeAspect="1"/>
          </p:cNvPicPr>
          <p:nvPr/>
        </p:nvPicPr>
        <p:blipFill>
          <a:blip r:embed="rId2"/>
          <a:stretch>
            <a:fillRect/>
          </a:stretch>
        </p:blipFill>
        <p:spPr>
          <a:xfrm>
            <a:off x="0" y="-1"/>
            <a:ext cx="6879966" cy="389466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8219CA7C-78CF-4E83-AB33-239B6752BFB5}"/>
              </a:ext>
            </a:extLst>
          </p:cNvPr>
          <p:cNvPicPr>
            <a:picLocks noChangeAspect="1"/>
          </p:cNvPicPr>
          <p:nvPr/>
        </p:nvPicPr>
        <p:blipFill>
          <a:blip r:embed="rId2"/>
          <a:stretch>
            <a:fillRect/>
          </a:stretch>
        </p:blipFill>
        <p:spPr>
          <a:xfrm>
            <a:off x="0" y="-1"/>
            <a:ext cx="6831762" cy="387773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2826104"/>
            <a:ext cx="3426143" cy="9365895"/>
          </a:xfrm>
        </p:spPr>
        <p:txBody>
          <a:bodyPr>
            <a:noAutofit/>
          </a:bodyPr>
          <a:lstStyle/>
          <a:p>
            <a:pPr algn="l"/>
            <a:r>
              <a:rPr lang="ja-JP" altLang="en-US" sz="1400" dirty="0"/>
              <a:t>より包括的なリストは以下で確認できます：</a:t>
            </a:r>
          </a:p>
          <a:p>
            <a:pPr algn="l"/>
            <a:r>
              <a:rPr lang="ja-JP" altLang="en-US" sz="1400" dirty="0"/>
              <a:t>https://en.wikipedia.org/wiki/List_of_automation_protocols</a:t>
            </a:r>
          </a:p>
          <a:p>
            <a:pPr algn="l"/>
            <a:r>
              <a:rPr lang="ja-JP" altLang="en-US" sz="1400" dirty="0"/>
              <a:t>産業制御システム（ICS）では、多くの オープンプロトコル が利用されています。</a:t>
            </a:r>
          </a:p>
          <a:p>
            <a:pPr algn="l"/>
            <a:r>
              <a:rPr lang="ja-JP" altLang="en-US" sz="1400" dirty="0"/>
              <a:t>ここでいうオープンプロトコルとは、</a:t>
            </a:r>
          </a:p>
          <a:p>
            <a:pPr algn="l"/>
            <a:r>
              <a:rPr lang="ja-JP" altLang="en-US" sz="1400" dirty="0"/>
              <a:t>適切なコンソーシアムに参加し、標準化団体の要件に従うことで、どのベンダーでも利用できるプロトコル</a:t>
            </a:r>
          </a:p>
          <a:p>
            <a:pPr algn="l"/>
            <a:r>
              <a:rPr lang="ja-JP" altLang="en-US" sz="1400" dirty="0"/>
              <a:t>を指します。</a:t>
            </a:r>
          </a:p>
          <a:p>
            <a:pPr algn="l"/>
            <a:r>
              <a:rPr lang="ja-JP" altLang="en-US" sz="1400" dirty="0"/>
              <a:t>これは、IETF が RFC を通じて公開する「IT のオープンプロトコル」とは少し異なります。</a:t>
            </a:r>
          </a:p>
          <a:p>
            <a:pPr algn="l"/>
            <a:r>
              <a:rPr lang="ja-JP" altLang="en-US" sz="1400" dirty="0"/>
              <a:t>ICS のオープン標準は、コンソーシアムメンバー間の協力によって策定される のが一般的です。</a:t>
            </a:r>
          </a:p>
          <a:p>
            <a:pPr algn="l"/>
            <a:endParaRPr lang="ja-JP" altLang="en-US" sz="1400" dirty="0"/>
          </a:p>
          <a:p>
            <a:pPr algn="l"/>
            <a:r>
              <a:rPr lang="ja-JP" altLang="en-US" sz="1400" dirty="0"/>
              <a:t>ICS ベンダーとプロトコルの関係</a:t>
            </a:r>
          </a:p>
          <a:p>
            <a:pPr algn="l"/>
            <a:r>
              <a:rPr lang="ja-JP" altLang="en-US" sz="1400" dirty="0"/>
              <a:t>多くの ICS ベンダー製品は、</a:t>
            </a:r>
          </a:p>
          <a:p>
            <a:pPr algn="l"/>
            <a:r>
              <a:rPr lang="ja-JP" altLang="en-US" sz="1400" dirty="0"/>
              <a:t>• 	1 </a:t>
            </a:r>
            <a:r>
              <a:rPr lang="ja-JP" altLang="en-US" sz="1400" dirty="0" err="1"/>
              <a:t>つ</a:t>
            </a:r>
            <a:r>
              <a:rPr lang="ja-JP" altLang="en-US" sz="1400" dirty="0"/>
              <a:t>以上のオープンプロトコル をサポートし</a:t>
            </a:r>
          </a:p>
          <a:p>
            <a:pPr algn="l"/>
            <a:r>
              <a:rPr lang="ja-JP" altLang="en-US" sz="1400" dirty="0"/>
              <a:t>• 	ベンダー独自のプロプライエタリプロトコル を併用しています</a:t>
            </a:r>
          </a:p>
          <a:p>
            <a:pPr algn="l"/>
            <a:r>
              <a:rPr lang="ja-JP" altLang="en-US" sz="1400" dirty="0"/>
              <a:t>（特にデバイス管理やメンテナンス用途）</a:t>
            </a:r>
          </a:p>
          <a:p>
            <a:pPr algn="l"/>
            <a:r>
              <a:rPr lang="ja-JP" altLang="en-US" sz="1400" dirty="0"/>
              <a:t>競合ベンダー同士が互いの独自プロトコルを共有・サポートする例もありますが、</a:t>
            </a:r>
          </a:p>
          <a:p>
            <a:pPr algn="l"/>
            <a:r>
              <a:rPr lang="ja-JP" altLang="en-US" sz="1400" dirty="0"/>
              <a:t>これは例外的であり一般的ではありません。</a:t>
            </a:r>
          </a:p>
          <a:p>
            <a:pPr algn="l"/>
            <a:r>
              <a:rPr lang="ja-JP" altLang="en-US" sz="1400" dirty="0"/>
              <a:t>また、プロプライエタリプロトコルを作るのはベンダーだけではありません。</a:t>
            </a:r>
          </a:p>
          <a:p>
            <a:pPr algn="l"/>
            <a:r>
              <a:rPr lang="ja-JP" altLang="en-US" sz="1400" dirty="0"/>
              <a:t>オーナー／オペレーター（ユーザー企業）自身が、小規模な制御課題を解決するために</a:t>
            </a:r>
          </a:p>
          <a:p>
            <a:pPr algn="l"/>
            <a:r>
              <a:rPr lang="ja-JP" altLang="en-US" sz="1400" dirty="0"/>
              <a:t>独自プロトコルを作ることも珍しくありません。</a:t>
            </a:r>
          </a:p>
          <a:p>
            <a:pPr algn="l"/>
            <a:r>
              <a:rPr lang="ja-JP" altLang="en-US" sz="1400" dirty="0"/>
              <a:t>現代では IT と同様に、Web サービス を使って実装されることも多いです。</a:t>
            </a:r>
          </a:p>
        </p:txBody>
      </p:sp>
      <p:pic>
        <p:nvPicPr>
          <p:cNvPr id="2" name="図 1">
            <a:extLst>
              <a:ext uri="{FF2B5EF4-FFF2-40B4-BE49-F238E27FC236}">
                <a16:creationId xmlns:a16="http://schemas.microsoft.com/office/drawing/2014/main" id="{5ECC1AE3-2BF9-426C-980C-F6D8BDF455D9}"/>
              </a:ext>
            </a:extLst>
          </p:cNvPr>
          <p:cNvPicPr>
            <a:picLocks noChangeAspect="1"/>
          </p:cNvPicPr>
          <p:nvPr/>
        </p:nvPicPr>
        <p:blipFill>
          <a:blip r:embed="rId2"/>
          <a:stretch>
            <a:fillRect/>
          </a:stretch>
        </p:blipFill>
        <p:spPr>
          <a:xfrm>
            <a:off x="1" y="0"/>
            <a:ext cx="4963886" cy="2826105"/>
          </a:xfrm>
          <a:prstGeom prst="rect">
            <a:avLst/>
          </a:prstGeom>
        </p:spPr>
      </p:pic>
      <p:sp>
        <p:nvSpPr>
          <p:cNvPr id="4" name="サブタイトル 2">
            <a:extLst>
              <a:ext uri="{FF2B5EF4-FFF2-40B4-BE49-F238E27FC236}">
                <a16:creationId xmlns:a16="http://schemas.microsoft.com/office/drawing/2014/main" id="{43A4D882-0650-48F7-A117-B7D6FC2C0BA8}"/>
              </a:ext>
            </a:extLst>
          </p:cNvPr>
          <p:cNvSpPr txBox="1">
            <a:spLocks/>
          </p:cNvSpPr>
          <p:nvPr/>
        </p:nvSpPr>
        <p:spPr>
          <a:xfrm>
            <a:off x="3429000" y="2826105"/>
            <a:ext cx="3426143" cy="9365895"/>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標準化・オープン化への需要の高まり</a:t>
            </a:r>
          </a:p>
          <a:p>
            <a:pPr algn="l"/>
            <a:r>
              <a:rPr lang="ja-JP" altLang="en-US" sz="1400" dirty="0"/>
              <a:t>システムの 相互運用性（interoperability） と 持続性（sustainability） を確保するため、</a:t>
            </a:r>
          </a:p>
          <a:p>
            <a:pPr algn="l"/>
            <a:r>
              <a:rPr lang="ja-JP" altLang="en-US" sz="1400" dirty="0"/>
              <a:t>広く受け入れられた標準プロトコルへの需要が大きく増えています。</a:t>
            </a:r>
          </a:p>
          <a:p>
            <a:pPr algn="l"/>
            <a:r>
              <a:rPr lang="ja-JP" altLang="en-US" sz="1400" dirty="0"/>
              <a:t>例：</a:t>
            </a:r>
          </a:p>
          <a:p>
            <a:pPr algn="l"/>
            <a:r>
              <a:rPr lang="ja-JP" altLang="en-US" sz="1400" dirty="0"/>
              <a:t>• 	自動車産業：車載ネットワークで使用するプロトコルを少数に統一</a:t>
            </a:r>
          </a:p>
          <a:p>
            <a:pPr algn="l"/>
            <a:r>
              <a:rPr lang="ja-JP" altLang="en-US" sz="1400" dirty="0"/>
              <a:t>• 	スマートグリッド（米国）：相互運用性を確保するため、</a:t>
            </a:r>
          </a:p>
          <a:p>
            <a:pPr algn="l"/>
            <a:r>
              <a:rPr lang="ja-JP" altLang="en-US" sz="1400" dirty="0"/>
              <a:t>グリッド近代化で使用する標準プロトコルの選定が議論の中心となった</a:t>
            </a:r>
          </a:p>
          <a:p>
            <a:pPr algn="l"/>
            <a:endParaRPr lang="ja-JP" altLang="en-US" sz="1400" dirty="0"/>
          </a:p>
          <a:p>
            <a:pPr algn="l"/>
            <a:r>
              <a:rPr lang="ja-JP" altLang="en-US" sz="1400" dirty="0"/>
              <a:t>ICS プロトコルのカプセル化（Encapsulation）</a:t>
            </a:r>
          </a:p>
          <a:p>
            <a:pPr algn="l"/>
            <a:r>
              <a:rPr lang="ja-JP" altLang="en-US" sz="1400" dirty="0"/>
              <a:t>多くの ICS プロトコルは TCP/IP ベースではありません。</a:t>
            </a:r>
          </a:p>
          <a:p>
            <a:pPr algn="l"/>
            <a:r>
              <a:rPr lang="ja-JP" altLang="en-US" sz="1400" dirty="0"/>
              <a:t>しかし実際には、以下のように TCP/IP 上にカプセル化して利用されることが一般的 です。</a:t>
            </a:r>
          </a:p>
          <a:p>
            <a:pPr algn="l"/>
            <a:r>
              <a:rPr lang="ja-JP" altLang="en-US" sz="1400" dirty="0"/>
              <a:t>• 	TCP/IP 版が存在しない場合</a:t>
            </a:r>
          </a:p>
          <a:p>
            <a:pPr algn="l"/>
            <a:r>
              <a:rPr lang="ja-JP" altLang="en-US" sz="1400" dirty="0"/>
              <a:t>→ シリアル版プロトコルを TCP/UDP パケットにそのまま封入</a:t>
            </a:r>
          </a:p>
          <a:p>
            <a:pPr algn="l"/>
            <a:r>
              <a:rPr lang="ja-JP" altLang="en-US" sz="1400" dirty="0"/>
              <a:t>• 	多くの TCP/IP 版 ICS プロトコルは</a:t>
            </a:r>
          </a:p>
          <a:p>
            <a:pPr algn="l"/>
            <a:r>
              <a:rPr lang="ja-JP" altLang="en-US" sz="1400" dirty="0"/>
              <a:t>→ 「シリアルデータを TCP/UDP にどう封入するか」を標準化しただけ</a:t>
            </a:r>
          </a:p>
          <a:p>
            <a:pPr algn="l"/>
            <a:r>
              <a:rPr lang="ja-JP" altLang="en-US" sz="1400" dirty="0"/>
              <a:t>（例：Modbus TCP）</a:t>
            </a:r>
          </a:p>
          <a:p>
            <a:pPr algn="l"/>
            <a:r>
              <a:rPr lang="ja-JP" altLang="en-US" sz="1400" dirty="0"/>
              <a:t>さらに、</a:t>
            </a:r>
          </a:p>
          <a:p>
            <a:pPr algn="l"/>
            <a:r>
              <a:rPr lang="ja-JP" altLang="en-US" sz="1400" dirty="0"/>
              <a:t>• 	Ethernet フレームに直接カプセル化</a:t>
            </a:r>
          </a:p>
          <a:p>
            <a:pPr algn="l"/>
            <a:r>
              <a:rPr lang="ja-JP" altLang="en-US" sz="1400" dirty="0"/>
              <a:t>• 	独自のフレーム形式で Ethernet 上を流す</a:t>
            </a:r>
          </a:p>
          <a:p>
            <a:pPr algn="l"/>
            <a:r>
              <a:rPr lang="ja-JP" altLang="en-US" sz="1400" dirty="0"/>
              <a:t>といった方式も存在します。</a:t>
            </a:r>
          </a:p>
          <a:p>
            <a:pPr algn="l"/>
            <a:r>
              <a:rPr lang="ja-JP" altLang="en-US" sz="1400" dirty="0"/>
              <a:t>代表例：</a:t>
            </a:r>
          </a:p>
          <a:p>
            <a:pPr algn="l"/>
            <a:r>
              <a:rPr lang="ja-JP" altLang="en-US" sz="1400" dirty="0"/>
              <a:t>IEC 61850 の GOOSE メッセージング</a:t>
            </a:r>
          </a:p>
          <a:p>
            <a:pPr algn="l"/>
            <a:r>
              <a:rPr lang="ja-JP" altLang="en-US" sz="1400" dirty="0"/>
              <a:t>（Ethernet レベルで直接送信されるリアルタイム保護通信）</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6" y="3296486"/>
            <a:ext cx="3279352" cy="8861639"/>
          </a:xfrm>
        </p:spPr>
        <p:txBody>
          <a:bodyPr>
            <a:noAutofit/>
          </a:bodyPr>
          <a:lstStyle/>
          <a:p>
            <a:pPr algn="l"/>
            <a:r>
              <a:rPr lang="ja-JP" altLang="en-US" sz="1100" dirty="0"/>
              <a:t>Modbus は 1970 年代後半に設計され、</a:t>
            </a:r>
          </a:p>
          <a:p>
            <a:pPr algn="l"/>
            <a:r>
              <a:rPr lang="ja-JP" altLang="en-US" sz="1100" dirty="0"/>
              <a:t>クライアント（サーバ、HMI、コントローラ）からサーバ（コントローラ、IED、IIoT、アクチュエータ）への</a:t>
            </a:r>
          </a:p>
          <a:p>
            <a:pPr algn="l"/>
            <a:r>
              <a:rPr lang="ja-JP" altLang="en-US" sz="1100" dirty="0"/>
              <a:t>シンプルで堅牢な通信 を実現するために作られました。</a:t>
            </a:r>
          </a:p>
          <a:p>
            <a:pPr algn="l"/>
            <a:r>
              <a:rPr lang="ja-JP" altLang="en-US" sz="1100" dirty="0"/>
              <a:t>Modbus は多くの産業や用途で広く採用され、</a:t>
            </a:r>
          </a:p>
          <a:p>
            <a:pPr algn="l"/>
            <a:r>
              <a:rPr lang="ja-JP" altLang="en-US" sz="1100" dirty="0"/>
              <a:t>事実上の標準（de facto standard） となりました。</a:t>
            </a:r>
          </a:p>
          <a:p>
            <a:pPr algn="l"/>
            <a:r>
              <a:rPr lang="ja-JP" altLang="en-US" sz="1100" dirty="0"/>
              <a:t>Modbus は 要求—応答型（request–response） のプロトコルであり、</a:t>
            </a:r>
          </a:p>
          <a:p>
            <a:pPr algn="l"/>
            <a:r>
              <a:rPr lang="ja-JP" altLang="en-US" sz="1100" dirty="0"/>
              <a:t>例外通知（report by exception）を持たず、クライアント側のポーリングが必須 です。</a:t>
            </a:r>
          </a:p>
          <a:p>
            <a:pPr algn="l"/>
            <a:r>
              <a:rPr lang="ja-JP" altLang="en-US" sz="1100" dirty="0"/>
              <a:t>元々は特定ベンダーが開発したものですが、</a:t>
            </a:r>
          </a:p>
          <a:p>
            <a:pPr algn="l"/>
            <a:r>
              <a:rPr lang="ja-JP" altLang="en-US" sz="1100" dirty="0"/>
              <a:t>現在は Modbus Foundation に移管され、オープン標準 となっています。</a:t>
            </a:r>
          </a:p>
          <a:p>
            <a:pPr algn="l"/>
            <a:r>
              <a:rPr lang="ja-JP" altLang="en-US" sz="1100" dirty="0"/>
              <a:t>Modbus は本来 シリアルプロトコル ですが、後に TCP/IP 版（Modbus TCP） も作られました。</a:t>
            </a:r>
          </a:p>
          <a:p>
            <a:pPr algn="l"/>
            <a:r>
              <a:rPr lang="ja-JP" altLang="en-US" sz="1100" dirty="0"/>
              <a:t>ただし、シリアル版にも TCP 版にも セキュリティ機能は一切含まれていません。</a:t>
            </a:r>
          </a:p>
          <a:p>
            <a:pPr algn="l"/>
            <a:r>
              <a:rPr lang="ja-JP" altLang="en-US" sz="1100" dirty="0"/>
              <a:t>そのため、盗聴・改ざん・インジェクションに非常に弱い という問題があります。</a:t>
            </a:r>
          </a:p>
          <a:p>
            <a:pPr algn="l"/>
            <a:r>
              <a:rPr lang="ja-JP" altLang="en-US" sz="1100" dirty="0"/>
              <a:t>サーバ・クライアントへのアクセス制御や通信経路の保護が極めて重要です。</a:t>
            </a:r>
          </a:p>
          <a:p>
            <a:pPr algn="l"/>
            <a:endParaRPr lang="ja-JP" altLang="en-US" sz="1100" dirty="0"/>
          </a:p>
          <a:p>
            <a:pPr algn="l"/>
            <a:r>
              <a:rPr lang="ja-JP" altLang="en-US" sz="1100" dirty="0"/>
              <a:t>Modbus が“古さ”を見せる部分</a:t>
            </a:r>
          </a:p>
          <a:p>
            <a:pPr algn="l"/>
            <a:r>
              <a:rPr lang="ja-JP" altLang="en-US" sz="1100" dirty="0"/>
              <a:t>Modbus には、設計当時の名残がいくつもあります。</a:t>
            </a:r>
          </a:p>
          <a:p>
            <a:pPr algn="l"/>
            <a:r>
              <a:rPr lang="ja-JP" altLang="en-US" sz="1100" dirty="0"/>
              <a:t>1. 離散出力を「コイル（coil）」と呼ぶ理由</a:t>
            </a:r>
          </a:p>
          <a:p>
            <a:pPr algn="l"/>
            <a:r>
              <a:rPr lang="ja-JP" altLang="en-US" sz="1100" dirty="0"/>
              <a:t>初期の自動化では、最も一般的な離散出力が リレー であり、</a:t>
            </a:r>
          </a:p>
          <a:p>
            <a:pPr algn="l"/>
            <a:r>
              <a:rPr lang="ja-JP" altLang="en-US" sz="1100" dirty="0"/>
              <a:t>リレーは コイル（電磁コイル） で動作するため、この名称が使われています。</a:t>
            </a:r>
          </a:p>
          <a:p>
            <a:pPr algn="l"/>
            <a:r>
              <a:rPr lang="ja-JP" altLang="en-US" sz="1100" dirty="0"/>
              <a:t>2. データサイズの前提が「1 ビット」または「16 ビット」</a:t>
            </a:r>
          </a:p>
          <a:p>
            <a:pPr algn="l"/>
            <a:r>
              <a:rPr lang="ja-JP" altLang="en-US" sz="1100" dirty="0"/>
              <a:t>Modbus はすべてのデータを 1-bit（Coils/Discrete Inputs） または</a:t>
            </a:r>
          </a:p>
          <a:p>
            <a:pPr algn="l"/>
            <a:r>
              <a:rPr lang="ja-JP" altLang="en-US" sz="1100" dirty="0"/>
              <a:t>16-bit（Holding/Input Registers） として扱う前提で設計されています。</a:t>
            </a:r>
          </a:p>
          <a:p>
            <a:pPr algn="l"/>
            <a:r>
              <a:rPr lang="ja-JP" altLang="en-US" sz="1100" dirty="0"/>
              <a:t>そのため：</a:t>
            </a:r>
          </a:p>
          <a:p>
            <a:pPr algn="l"/>
            <a:r>
              <a:rPr lang="ja-JP" altLang="en-US" sz="1100" dirty="0"/>
              <a:t>• 	8-bit データを扱いたい場合 → 16-bit レジスタの半分だけ使用</a:t>
            </a:r>
          </a:p>
          <a:p>
            <a:pPr algn="l"/>
            <a:r>
              <a:rPr lang="ja-JP" altLang="en-US" sz="1100" dirty="0"/>
              <a:t>• 	32-bit 以上のデータ → 複数の 16-bit レジスタを連続して使用</a:t>
            </a:r>
          </a:p>
          <a:p>
            <a:pPr algn="l"/>
            <a:r>
              <a:rPr lang="ja-JP" altLang="en-US" sz="1100" dirty="0"/>
              <a:t>といった工夫が必要になります。</a:t>
            </a:r>
          </a:p>
        </p:txBody>
      </p:sp>
      <p:pic>
        <p:nvPicPr>
          <p:cNvPr id="2" name="図 1">
            <a:extLst>
              <a:ext uri="{FF2B5EF4-FFF2-40B4-BE49-F238E27FC236}">
                <a16:creationId xmlns:a16="http://schemas.microsoft.com/office/drawing/2014/main" id="{DA17BDCD-F92E-4D45-B929-784E2CF0D3D0}"/>
              </a:ext>
            </a:extLst>
          </p:cNvPr>
          <p:cNvPicPr>
            <a:picLocks noChangeAspect="1"/>
          </p:cNvPicPr>
          <p:nvPr/>
        </p:nvPicPr>
        <p:blipFill>
          <a:blip r:embed="rId2"/>
          <a:stretch>
            <a:fillRect/>
          </a:stretch>
        </p:blipFill>
        <p:spPr>
          <a:xfrm>
            <a:off x="538750" y="33875"/>
            <a:ext cx="5492635" cy="3119817"/>
          </a:xfrm>
          <a:prstGeom prst="rect">
            <a:avLst/>
          </a:prstGeom>
        </p:spPr>
      </p:pic>
      <p:sp>
        <p:nvSpPr>
          <p:cNvPr id="4" name="サブタイトル 2">
            <a:extLst>
              <a:ext uri="{FF2B5EF4-FFF2-40B4-BE49-F238E27FC236}">
                <a16:creationId xmlns:a16="http://schemas.microsoft.com/office/drawing/2014/main" id="{365E1B86-5B09-4786-8B95-BA48F440F5D9}"/>
              </a:ext>
            </a:extLst>
          </p:cNvPr>
          <p:cNvSpPr txBox="1">
            <a:spLocks/>
          </p:cNvSpPr>
          <p:nvPr/>
        </p:nvSpPr>
        <p:spPr>
          <a:xfrm>
            <a:off x="3429000" y="3296486"/>
            <a:ext cx="3279353" cy="544682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3. マルチレジスタのエンディアン（byte order）が標準化されていない</a:t>
            </a:r>
          </a:p>
          <a:p>
            <a:pPr algn="l"/>
            <a:r>
              <a:rPr lang="ja-JP" altLang="en-US" sz="1100" dirty="0"/>
              <a:t>複数レジスタにまたがるデータ（例：32-bit、64-bit）について、</a:t>
            </a:r>
          </a:p>
          <a:p>
            <a:pPr algn="l"/>
            <a:r>
              <a:rPr lang="ja-JP" altLang="en-US" sz="1100" dirty="0"/>
              <a:t>公式なエンディアン規定が存在しません。</a:t>
            </a:r>
          </a:p>
          <a:p>
            <a:pPr algn="l"/>
            <a:r>
              <a:rPr lang="ja-JP" altLang="en-US" sz="1100" dirty="0"/>
              <a:t>そのため、ベンダーごとに：</a:t>
            </a:r>
          </a:p>
          <a:p>
            <a:pPr algn="l"/>
            <a:r>
              <a:rPr lang="ja-JP" altLang="en-US" sz="1100" dirty="0"/>
              <a:t>• 	Big-endian</a:t>
            </a:r>
          </a:p>
          <a:p>
            <a:pPr algn="l"/>
            <a:r>
              <a:rPr lang="ja-JP" altLang="en-US" sz="1100" dirty="0"/>
              <a:t>• 	Little-endian</a:t>
            </a:r>
          </a:p>
          <a:p>
            <a:pPr algn="l"/>
            <a:r>
              <a:rPr lang="ja-JP" altLang="en-US" sz="1100" dirty="0"/>
              <a:t>• 	Mixed-endian（ワードスワップ）</a:t>
            </a:r>
          </a:p>
          <a:p>
            <a:pPr algn="l"/>
            <a:r>
              <a:rPr lang="ja-JP" altLang="en-US" sz="1100" dirty="0"/>
              <a:t>などが混在し、相互運用性の課題が生じます。</a:t>
            </a:r>
          </a:p>
          <a:p>
            <a:pPr algn="l"/>
            <a:endParaRPr lang="ja-JP" altLang="en-US" sz="1100" dirty="0"/>
          </a:p>
          <a:p>
            <a:pPr algn="l"/>
            <a:r>
              <a:rPr lang="ja-JP" altLang="en-US" sz="1100" dirty="0"/>
              <a:t>参考</a:t>
            </a:r>
          </a:p>
          <a:p>
            <a:pPr algn="l"/>
            <a:r>
              <a:rPr lang="ja-JP" altLang="en-US" sz="1100" dirty="0"/>
              <a:t>• 	Modbus Foundation</a:t>
            </a:r>
          </a:p>
          <a:p>
            <a:pPr algn="l"/>
            <a:r>
              <a:rPr lang="ja-JP" altLang="en-US" sz="1100" dirty="0"/>
              <a:t>https://modbus.org/</a:t>
            </a:r>
          </a:p>
          <a:p>
            <a:pPr algn="l"/>
            <a:r>
              <a:rPr lang="ja-JP" altLang="en-US" sz="1100" dirty="0"/>
              <a:t>Modbus は非常に普及しているため、</a:t>
            </a:r>
          </a:p>
          <a:p>
            <a:pPr algn="l"/>
            <a:r>
              <a:rPr lang="ja-JP" altLang="en-US" sz="1100" dirty="0"/>
              <a:t>SNORT などの NIDS 用シグネチャも多数公開 されています。</a:t>
            </a:r>
          </a:p>
          <a:p>
            <a:pPr algn="l"/>
            <a:r>
              <a:rPr lang="ja-JP" altLang="en-US" sz="1100" dirty="0"/>
              <a:t>例：</a:t>
            </a:r>
          </a:p>
          <a:p>
            <a:pPr algn="l"/>
            <a:r>
              <a:rPr lang="ja-JP" altLang="en-US" sz="1100" dirty="0"/>
              <a:t> (sans.org in Bing)</a:t>
            </a:r>
          </a:p>
          <a:p>
            <a:pPr algn="l"/>
            <a:endParaRPr lang="ja-JP" altLang="en-US" sz="1100" dirty="0"/>
          </a:p>
          <a:p>
            <a:pPr algn="l"/>
            <a:r>
              <a:rPr lang="ja-JP" altLang="en-US" sz="1100" dirty="0"/>
              <a:t>必要であれば、</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59827BE7-3704-4219-B504-5CAA4931AFCB}"/>
              </a:ext>
            </a:extLst>
          </p:cNvPr>
          <p:cNvPicPr>
            <a:picLocks noChangeAspect="1"/>
          </p:cNvPicPr>
          <p:nvPr/>
        </p:nvPicPr>
        <p:blipFill>
          <a:blip r:embed="rId2"/>
          <a:stretch>
            <a:fillRect/>
          </a:stretch>
        </p:blipFill>
        <p:spPr>
          <a:xfrm>
            <a:off x="-1" y="0"/>
            <a:ext cx="6808789" cy="387773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428999" y="2807644"/>
            <a:ext cx="3429000" cy="5642083"/>
          </a:xfrm>
        </p:spPr>
        <p:txBody>
          <a:bodyPr>
            <a:noAutofit/>
          </a:bodyPr>
          <a:lstStyle/>
          <a:p>
            <a:pPr algn="l"/>
            <a:r>
              <a:rPr lang="ja-JP" altLang="en-US" sz="1200" dirty="0"/>
              <a:t>EtherNet/IP の通信方式とネットワーク負荷</a:t>
            </a:r>
          </a:p>
          <a:p>
            <a:pPr algn="l"/>
            <a:r>
              <a:rPr lang="ja-JP" altLang="en-US" sz="1200" dirty="0"/>
              <a:t>EtherNet/IP は I/O データの送信に UDP ブロードキャスト を使用します。</a:t>
            </a:r>
          </a:p>
          <a:p>
            <a:pPr algn="l"/>
            <a:r>
              <a:rPr lang="ja-JP" altLang="en-US" sz="1200" dirty="0"/>
              <a:t>ブロードキャストは、メッセージ量が多いとネットワーク上のデバイスを圧迫する可能性があります。</a:t>
            </a:r>
          </a:p>
          <a:p>
            <a:pPr algn="l"/>
            <a:r>
              <a:rPr lang="ja-JP" altLang="en-US" sz="1200" dirty="0"/>
              <a:t>複数デバイスが接続されるネットワークでは、</a:t>
            </a:r>
          </a:p>
          <a:p>
            <a:pPr algn="l"/>
            <a:r>
              <a:rPr lang="ja-JP" altLang="en-US" sz="1200" dirty="0"/>
              <a:t>マネージドスイッチの IGMP スヌーピング によって負荷を軽減できます。</a:t>
            </a:r>
          </a:p>
          <a:p>
            <a:pPr algn="l"/>
            <a:r>
              <a:rPr lang="ja-JP" altLang="en-US" sz="1200" dirty="0"/>
              <a:t>これは I/O トラフィック特有の問題 であり、</a:t>
            </a:r>
          </a:p>
          <a:p>
            <a:pPr algn="l"/>
            <a:r>
              <a:rPr lang="ja-JP" altLang="en-US" sz="1200" dirty="0"/>
              <a:t>ワークステーションやサーバレベルでは問題になりません。</a:t>
            </a:r>
          </a:p>
          <a:p>
            <a:pPr algn="l"/>
            <a:endParaRPr lang="ja-JP" altLang="en-US" sz="1200" dirty="0"/>
          </a:p>
          <a:p>
            <a:pPr algn="l"/>
            <a:r>
              <a:rPr lang="ja-JP" altLang="en-US" sz="1200" dirty="0"/>
              <a:t>産業 Ethernet の特徴：RPI（Requested Packet Interval）</a:t>
            </a:r>
          </a:p>
          <a:p>
            <a:pPr algn="l"/>
            <a:r>
              <a:rPr lang="ja-JP" altLang="en-US" sz="1200" dirty="0"/>
              <a:t>産業用途では、制御エンジニアがプロセスに合わせて</a:t>
            </a:r>
          </a:p>
          <a:p>
            <a:pPr algn="l"/>
            <a:r>
              <a:rPr lang="ja-JP" altLang="en-US" sz="1200" dirty="0"/>
              <a:t>データレート（更新周期）を設定できる ことが重要です。</a:t>
            </a:r>
          </a:p>
          <a:p>
            <a:pPr algn="l"/>
            <a:r>
              <a:rPr lang="ja-JP" altLang="en-US" sz="1200" dirty="0"/>
              <a:t>EtherNet/IP の RPI は：</a:t>
            </a:r>
          </a:p>
          <a:p>
            <a:pPr algn="l"/>
            <a:r>
              <a:rPr lang="ja-JP" altLang="en-US" sz="1200" dirty="0"/>
              <a:t>• 	5 ms ～ 10 秒 の範囲で設定可能</a:t>
            </a:r>
          </a:p>
          <a:p>
            <a:pPr algn="l"/>
            <a:r>
              <a:rPr lang="ja-JP" altLang="en-US" sz="1200" dirty="0"/>
              <a:t>また、EtherNet/IP はブロードキャストに対応しており、</a:t>
            </a:r>
          </a:p>
          <a:p>
            <a:pPr algn="l"/>
            <a:r>
              <a:rPr lang="ja-JP" altLang="en-US" sz="1200" dirty="0"/>
              <a:t>新しいバージョンでは ユニキャスト通信 もサポートしています。</a:t>
            </a:r>
          </a:p>
        </p:txBody>
      </p:sp>
      <p:pic>
        <p:nvPicPr>
          <p:cNvPr id="2" name="図 1">
            <a:extLst>
              <a:ext uri="{FF2B5EF4-FFF2-40B4-BE49-F238E27FC236}">
                <a16:creationId xmlns:a16="http://schemas.microsoft.com/office/drawing/2014/main" id="{B2FCEA7D-3B99-4953-A264-581A53CE19A4}"/>
              </a:ext>
            </a:extLst>
          </p:cNvPr>
          <p:cNvPicPr>
            <a:picLocks noChangeAspect="1"/>
          </p:cNvPicPr>
          <p:nvPr/>
        </p:nvPicPr>
        <p:blipFill>
          <a:blip r:embed="rId2"/>
          <a:stretch>
            <a:fillRect/>
          </a:stretch>
        </p:blipFill>
        <p:spPr>
          <a:xfrm>
            <a:off x="1069780" y="33872"/>
            <a:ext cx="4718437" cy="2675468"/>
          </a:xfrm>
          <a:prstGeom prst="rect">
            <a:avLst/>
          </a:prstGeom>
        </p:spPr>
      </p:pic>
      <p:sp>
        <p:nvSpPr>
          <p:cNvPr id="4" name="サブタイトル 2">
            <a:extLst>
              <a:ext uri="{FF2B5EF4-FFF2-40B4-BE49-F238E27FC236}">
                <a16:creationId xmlns:a16="http://schemas.microsoft.com/office/drawing/2014/main" id="{66A03929-AEBD-4050-806F-8B55A182EBEB}"/>
              </a:ext>
            </a:extLst>
          </p:cNvPr>
          <p:cNvSpPr txBox="1">
            <a:spLocks/>
          </p:cNvSpPr>
          <p:nvPr/>
        </p:nvSpPr>
        <p:spPr>
          <a:xfrm>
            <a:off x="0" y="2807644"/>
            <a:ext cx="3429000" cy="9350484"/>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EtherNet/IP は、製造業の自動化が Ethernet インフラを活用して、</a:t>
            </a:r>
          </a:p>
          <a:p>
            <a:pPr algn="l"/>
            <a:r>
              <a:rPr lang="ja-JP" altLang="en-US" sz="1100" dirty="0"/>
              <a:t>ホスト・PLC・計器・アクチュエータ・CNC などのデバイス間接続を管理できるようにするため に設計されました。</a:t>
            </a:r>
          </a:p>
          <a:p>
            <a:pPr algn="l"/>
            <a:r>
              <a:rPr lang="ja-JP" altLang="en-US" sz="1100" dirty="0"/>
              <a:t>2001 年に市場に登場し、</a:t>
            </a:r>
          </a:p>
          <a:p>
            <a:pPr algn="l"/>
            <a:r>
              <a:rPr lang="ja-JP" altLang="en-US" sz="1100" dirty="0"/>
              <a:t>多様な制御システム用途に対応できるよう発展してきました。</a:t>
            </a:r>
          </a:p>
          <a:p>
            <a:pPr algn="l"/>
            <a:r>
              <a:rPr lang="ja-JP" altLang="en-US" sz="1100" dirty="0"/>
              <a:t>EtherNet/IP は、工場ネットワークと企業ネットワークを容易に統合し、</a:t>
            </a:r>
          </a:p>
          <a:p>
            <a:pPr algn="l"/>
            <a:r>
              <a:rPr lang="ja-JP" altLang="en-US" sz="1100" dirty="0"/>
              <a:t>インターネット接続を可能にするためにも利用されます。</a:t>
            </a:r>
          </a:p>
          <a:p>
            <a:pPr algn="l"/>
            <a:r>
              <a:rPr lang="ja-JP" altLang="en-US" sz="1100" dirty="0"/>
              <a:t>標準は ODVA（Open DeviceNet Vendors Association） が管理しています。</a:t>
            </a:r>
          </a:p>
          <a:p>
            <a:pPr algn="l"/>
            <a:r>
              <a:rPr lang="ja-JP" altLang="en-US" sz="1100" dirty="0"/>
              <a:t>EtherNet/IP は堅牢であり、同時に複雑なプロトコルとも言えます。</a:t>
            </a:r>
          </a:p>
          <a:p>
            <a:pPr algn="l"/>
            <a:r>
              <a:rPr lang="ja-JP" altLang="en-US" sz="1100" dirty="0"/>
              <a:t>EtherNet/IP は CIP（Common Industrial Protocol） を基盤としており、</a:t>
            </a:r>
          </a:p>
          <a:p>
            <a:pPr algn="l"/>
            <a:r>
              <a:rPr lang="ja-JP" altLang="en-US" sz="1100" dirty="0"/>
              <a:t>CIP は OSI モデルの セッション層以上 に実装されます。</a:t>
            </a:r>
          </a:p>
          <a:p>
            <a:pPr algn="l"/>
            <a:r>
              <a:rPr lang="ja-JP" altLang="en-US" sz="1100" dirty="0"/>
              <a:t>ODVA は EtherNet/IP のほか、CIP・DeviceNet・ControlNet も管理しています。</a:t>
            </a:r>
          </a:p>
          <a:p>
            <a:pPr algn="l"/>
            <a:endParaRPr lang="ja-JP" altLang="en-US" sz="1100" dirty="0"/>
          </a:p>
          <a:p>
            <a:pPr algn="l"/>
            <a:r>
              <a:rPr lang="ja-JP" altLang="en-US" sz="1100" dirty="0"/>
              <a:t>EtherNet/IP が生まれた背景</a:t>
            </a:r>
          </a:p>
          <a:p>
            <a:pPr algn="l"/>
            <a:r>
              <a:rPr lang="ja-JP" altLang="en-US" sz="1100" dirty="0"/>
              <a:t>当初、Ethernet は企業ネットワークと自動化システムをつなぐために使われましたが、</a:t>
            </a:r>
          </a:p>
          <a:p>
            <a:pPr algn="l"/>
            <a:r>
              <a:rPr lang="ja-JP" altLang="en-US" sz="1100" dirty="0"/>
              <a:t>Ethernet の 非決定性（non-deterministic） が制御システムへの本格導入を妨げていました。</a:t>
            </a:r>
          </a:p>
          <a:p>
            <a:pPr algn="l"/>
            <a:r>
              <a:rPr lang="ja-JP" altLang="en-US" sz="1100" dirty="0"/>
              <a:t>そこで EtherNet/IP（IP は “Industrial Protocol” の意味）は、</a:t>
            </a:r>
          </a:p>
          <a:p>
            <a:pPr algn="l"/>
            <a:r>
              <a:rPr lang="ja-JP" altLang="en-US" sz="1100" dirty="0"/>
              <a:t>産業オートメーションの要求に合わせて設計され、</a:t>
            </a:r>
          </a:p>
          <a:p>
            <a:pPr algn="l"/>
            <a:r>
              <a:rPr lang="ja-JP" altLang="en-US" sz="1100" dirty="0"/>
              <a:t>これらの課題を克服することを目指しました。</a:t>
            </a:r>
          </a:p>
          <a:p>
            <a:pPr algn="l"/>
            <a:r>
              <a:rPr lang="ja-JP" altLang="en-US" sz="1100" dirty="0"/>
              <a:t>EtherNet/IP は、工場内の以下のような多様な制御領域を</a:t>
            </a:r>
          </a:p>
          <a:p>
            <a:pPr algn="l"/>
            <a:r>
              <a:rPr lang="ja-JP" altLang="en-US" sz="1100" dirty="0"/>
              <a:t>1 </a:t>
            </a:r>
            <a:r>
              <a:rPr lang="ja-JP" altLang="en-US" sz="1100" dirty="0" err="1"/>
              <a:t>つの</a:t>
            </a:r>
            <a:r>
              <a:rPr lang="ja-JP" altLang="en-US" sz="1100" dirty="0"/>
              <a:t>ネットワークに統合 するために利用されます：</a:t>
            </a:r>
          </a:p>
          <a:p>
            <a:pPr algn="l"/>
            <a:r>
              <a:rPr lang="ja-JP" altLang="en-US" sz="1100" dirty="0"/>
              <a:t>• 	バッチ制御</a:t>
            </a:r>
          </a:p>
          <a:p>
            <a:pPr algn="l"/>
            <a:r>
              <a:rPr lang="ja-JP" altLang="en-US" sz="1100" dirty="0"/>
              <a:t>• 	連続プロセス制御</a:t>
            </a:r>
          </a:p>
          <a:p>
            <a:pPr algn="l"/>
            <a:r>
              <a:rPr lang="ja-JP" altLang="en-US" sz="1100" dirty="0"/>
              <a:t>• 	離散制御</a:t>
            </a:r>
          </a:p>
          <a:p>
            <a:pPr algn="l"/>
            <a:r>
              <a:rPr lang="ja-JP" altLang="en-US" sz="1100" dirty="0"/>
              <a:t>• 	安全制御</a:t>
            </a:r>
          </a:p>
          <a:p>
            <a:pPr algn="l"/>
            <a:r>
              <a:rPr lang="ja-JP" altLang="en-US" sz="1100" dirty="0"/>
              <a:t>• 	ドライブ制御</a:t>
            </a:r>
          </a:p>
          <a:p>
            <a:pPr algn="l"/>
            <a:r>
              <a:rPr lang="ja-JP" altLang="en-US" sz="1100" dirty="0"/>
              <a:t>最終的には、EtherNet/IP は センサーやスマートデバイスのレベル にまで浸透しています。</a:t>
            </a:r>
          </a:p>
          <a:p>
            <a:pPr algn="l"/>
            <a:r>
              <a:rPr lang="ja-JP" altLang="en-US" sz="1100" dirty="0"/>
              <a:t>現在では、コントローラと可変速ドライブ、アクチュエータ、流量計などを</a:t>
            </a:r>
          </a:p>
          <a:p>
            <a:pPr algn="l"/>
            <a:r>
              <a:rPr lang="ja-JP" altLang="en-US" sz="1100" dirty="0"/>
              <a:t>Ethernet ベースで接続することが一般的です。</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0"/>
            <a:ext cx="6852285" cy="6312535"/>
          </a:xfrm>
        </p:spPr>
        <p:txBody>
          <a:bodyPr>
            <a:normAutofit/>
          </a:bodyPr>
          <a:lstStyle/>
          <a:p>
            <a:pPr algn="l"/>
            <a:r>
              <a:rPr lang="ja-JP" altLang="en-US" sz="1400" dirty="0"/>
              <a:t>Reference:</a:t>
            </a:r>
          </a:p>
          <a:p>
            <a:pPr algn="l"/>
            <a:r>
              <a:rPr lang="ja-JP" altLang="en-US" sz="1400" dirty="0"/>
              <a:t>• https://en.wikipedia.org/wiki/EtherNet/IP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678131"/>
            <a:ext cx="6852285" cy="8310669"/>
          </a:xfrm>
        </p:spPr>
        <p:txBody>
          <a:bodyPr>
            <a:noAutofit/>
          </a:bodyPr>
          <a:lstStyle/>
          <a:p>
            <a:pPr algn="l"/>
            <a:r>
              <a:rPr lang="ja-JP" altLang="en-US" sz="1000" dirty="0"/>
              <a:t>DNP はオープン標準であり、</a:t>
            </a:r>
          </a:p>
          <a:p>
            <a:pPr algn="l"/>
            <a:r>
              <a:rPr lang="ja-JP" altLang="en-US" sz="1000" dirty="0"/>
              <a:t>電力の送電・配電システムを支える複数ベンダー間の 相互運用性（interoperability） を実現しました。</a:t>
            </a:r>
          </a:p>
          <a:p>
            <a:pPr algn="l"/>
            <a:r>
              <a:rPr lang="ja-JP" altLang="en-US" sz="1000" dirty="0"/>
              <a:t>DNP は Distributed Network Protocol の略で、</a:t>
            </a:r>
          </a:p>
          <a:p>
            <a:pPr algn="l"/>
            <a:r>
              <a:rPr lang="ja-JP" altLang="en-US" sz="1000" dirty="0"/>
              <a:t>地域 SCADA 管理サーバとフィールドデバイス間の通信を目的として設計されています。</a:t>
            </a:r>
          </a:p>
          <a:p>
            <a:pPr algn="l"/>
            <a:r>
              <a:rPr lang="ja-JP" altLang="en-US" sz="1000" dirty="0"/>
              <a:t>DNP3 は電力分野で広く利用されていますが、</a:t>
            </a:r>
          </a:p>
          <a:p>
            <a:pPr algn="l"/>
            <a:r>
              <a:rPr lang="ja-JP" altLang="en-US" sz="1000" dirty="0"/>
              <a:t>その他の産業では使用頻度は比較的低いです。</a:t>
            </a:r>
          </a:p>
          <a:p>
            <a:pPr algn="l"/>
            <a:r>
              <a:rPr lang="ja-JP" altLang="en-US" sz="1000" dirty="0"/>
              <a:t>このプロトコルは 高い信頼性 を最優先に設計されましたが、</a:t>
            </a:r>
          </a:p>
          <a:p>
            <a:pPr algn="l"/>
            <a:r>
              <a:rPr lang="ja-JP" altLang="en-US" sz="1000" dirty="0"/>
              <a:t>ネイティブな認証機能がなく、エラーチェック以外のデータ完全性保護も存在しません。</a:t>
            </a:r>
          </a:p>
          <a:p>
            <a:pPr algn="l"/>
            <a:endParaRPr lang="ja-JP" altLang="en-US" sz="1000" dirty="0"/>
          </a:p>
          <a:p>
            <a:pPr algn="l"/>
            <a:r>
              <a:rPr lang="ja-JP" altLang="en-US" sz="1000" dirty="0"/>
              <a:t>DNP3 と IEC 60870-5 の関係</a:t>
            </a:r>
          </a:p>
          <a:p>
            <a:pPr algn="l"/>
            <a:r>
              <a:rPr lang="ja-JP" altLang="en-US" sz="1000" dirty="0"/>
              <a:t>IEC 60870-5 が標準化されている最中、</a:t>
            </a:r>
          </a:p>
          <a:p>
            <a:pPr algn="l"/>
            <a:r>
              <a:rPr lang="ja-JP" altLang="en-US" sz="1000" dirty="0"/>
              <a:t>北米の複数ベンダーがその 未完成版を実装し、DNP3 と名付けた のが始まりです。</a:t>
            </a:r>
          </a:p>
          <a:p>
            <a:pPr algn="l"/>
            <a:r>
              <a:rPr lang="ja-JP" altLang="en-US" sz="1000" dirty="0"/>
              <a:t>DNP3 は標準との同期を維持しようとしましたが、</a:t>
            </a:r>
          </a:p>
          <a:p>
            <a:pPr algn="l"/>
            <a:r>
              <a:rPr lang="ja-JP" altLang="en-US" sz="1000" dirty="0"/>
              <a:t>最終的には IEC 60870-5 と 微妙に異なる独自仕様 となりました。</a:t>
            </a:r>
          </a:p>
          <a:p>
            <a:pPr algn="l"/>
            <a:r>
              <a:rPr lang="ja-JP" altLang="en-US" sz="1000" dirty="0"/>
              <a:t>地域ごとの利用傾向：</a:t>
            </a:r>
          </a:p>
          <a:p>
            <a:pPr algn="l"/>
            <a:r>
              <a:rPr lang="ja-JP" altLang="en-US" sz="1000" dirty="0"/>
              <a:t>• 	北米・オーストラリア：DNP3 が主流</a:t>
            </a:r>
          </a:p>
          <a:p>
            <a:pPr algn="l"/>
            <a:r>
              <a:rPr lang="ja-JP" altLang="en-US" sz="1000" dirty="0"/>
              <a:t>• 	ヨーロッパ：IEC 60870-5 が主流</a:t>
            </a:r>
          </a:p>
          <a:p>
            <a:pPr algn="l"/>
            <a:endParaRPr lang="ja-JP" altLang="en-US" sz="1000" dirty="0"/>
          </a:p>
          <a:p>
            <a:pPr algn="l"/>
            <a:r>
              <a:rPr lang="ja-JP" altLang="en-US" sz="1000" dirty="0"/>
              <a:t>セキュリティ機能の現状</a:t>
            </a:r>
          </a:p>
          <a:p>
            <a:pPr algn="l"/>
            <a:r>
              <a:rPr lang="ja-JP" altLang="en-US" sz="1000" dirty="0"/>
              <a:t>DNP3 には後から セキュア認証（Secure Authentication） が追加されましたが、</a:t>
            </a:r>
          </a:p>
          <a:p>
            <a:pPr algn="l"/>
            <a:r>
              <a:rPr lang="ja-JP" altLang="en-US" sz="1000" dirty="0"/>
              <a:t>広く実装されているとは言えません。</a:t>
            </a:r>
          </a:p>
          <a:p>
            <a:pPr algn="l"/>
            <a:r>
              <a:rPr lang="ja-JP" altLang="en-US" sz="1000" dirty="0"/>
              <a:t>そのため、DNP3 を使用する際にセキュリティが求められる場合は：</a:t>
            </a:r>
          </a:p>
          <a:p>
            <a:pPr algn="l"/>
            <a:r>
              <a:rPr lang="ja-JP" altLang="en-US" sz="1000" dirty="0"/>
              <a:t>• 	追加のアクセス制御</a:t>
            </a:r>
          </a:p>
          <a:p>
            <a:pPr algn="l"/>
            <a:r>
              <a:rPr lang="ja-JP" altLang="en-US" sz="1000" dirty="0"/>
              <a:t>• 	ネットワークセキュリティ対策（ファイアウォール、DPI、暗号化トンネルなど）</a:t>
            </a:r>
          </a:p>
          <a:p>
            <a:pPr algn="l"/>
            <a:r>
              <a:rPr lang="ja-JP" altLang="en-US" sz="1000" dirty="0"/>
              <a:t>• 	ゾーン分離やセグメンテーション</a:t>
            </a:r>
          </a:p>
          <a:p>
            <a:pPr algn="l"/>
            <a:r>
              <a:rPr lang="ja-JP" altLang="en-US" sz="1000" dirty="0"/>
              <a:t>といった補助的な対策が推奨されます。</a:t>
            </a:r>
          </a:p>
          <a:p>
            <a:pPr algn="l"/>
            <a:endParaRPr lang="ja-JP" altLang="en-US" sz="1000" dirty="0"/>
          </a:p>
          <a:p>
            <a:pPr algn="l"/>
            <a:r>
              <a:rPr lang="ja-JP" altLang="en-US" sz="1000" dirty="0"/>
              <a:t>参考資料</a:t>
            </a:r>
          </a:p>
          <a:p>
            <a:pPr algn="l"/>
            <a:r>
              <a:rPr lang="ja-JP" altLang="en-US" sz="1000" dirty="0"/>
              <a:t>• 	DNP3 Protocol Primer（YouTube プレイリスト）</a:t>
            </a:r>
          </a:p>
          <a:p>
            <a:pPr algn="l"/>
            <a:r>
              <a:rPr lang="ja-JP" altLang="en-US" sz="1000" dirty="0"/>
              <a:t>http://bit.ly/2NaZttt</a:t>
            </a:r>
          </a:p>
          <a:p>
            <a:pPr algn="l"/>
            <a:r>
              <a:rPr lang="ja-JP" altLang="en-US" sz="1000" dirty="0"/>
              <a:t>• 	IEC-104 Protocol Primer（YouTube プレイリスト）</a:t>
            </a:r>
          </a:p>
          <a:p>
            <a:pPr algn="l"/>
            <a:r>
              <a:rPr lang="ja-JP" altLang="en-US" sz="1000" dirty="0"/>
              <a:t>http://bit.ly/2SHwpjc</a:t>
            </a:r>
          </a:p>
          <a:p>
            <a:pPr algn="l"/>
            <a:r>
              <a:rPr lang="ja-JP" altLang="en-US" sz="1000" dirty="0"/>
              <a:t>• 	Secure DNP3（Digital Bond アーカイブ）</a:t>
            </a:r>
          </a:p>
          <a:p>
            <a:pPr algn="l"/>
            <a:r>
              <a:rPr lang="ja-JP" altLang="en-US" sz="1000" dirty="0"/>
              <a:t>https://dale-peterson.com/digital-bond-archives/</a:t>
            </a:r>
          </a:p>
        </p:txBody>
      </p:sp>
      <p:pic>
        <p:nvPicPr>
          <p:cNvPr id="2" name="図 1">
            <a:extLst>
              <a:ext uri="{FF2B5EF4-FFF2-40B4-BE49-F238E27FC236}">
                <a16:creationId xmlns:a16="http://schemas.microsoft.com/office/drawing/2014/main" id="{897DBE21-579F-416B-813F-1CA0CA12AA62}"/>
              </a:ext>
            </a:extLst>
          </p:cNvPr>
          <p:cNvPicPr>
            <a:picLocks noChangeAspect="1"/>
          </p:cNvPicPr>
          <p:nvPr/>
        </p:nvPicPr>
        <p:blipFill>
          <a:blip r:embed="rId2"/>
          <a:stretch>
            <a:fillRect/>
          </a:stretch>
        </p:blipFill>
        <p:spPr>
          <a:xfrm>
            <a:off x="206566" y="0"/>
            <a:ext cx="6444232" cy="364426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2988" y="3877734"/>
            <a:ext cx="6852285" cy="6312535"/>
          </a:xfrm>
        </p:spPr>
        <p:txBody>
          <a:bodyPr>
            <a:normAutofit/>
          </a:bodyPr>
          <a:lstStyle/>
          <a:p>
            <a:pPr algn="l"/>
            <a:r>
              <a:rPr lang="ja-JP" altLang="en-US" sz="1400" dirty="0"/>
              <a:t>Reference:</a:t>
            </a:r>
          </a:p>
          <a:p>
            <a:pPr algn="l"/>
            <a:r>
              <a:rPr lang="ja-JP" altLang="en-US" sz="1400" dirty="0"/>
              <a:t>• YouTube playlist for an IEC-61850 Primer: http://bit.ly/2SWd8tn</a:t>
            </a:r>
          </a:p>
        </p:txBody>
      </p:sp>
      <p:pic>
        <p:nvPicPr>
          <p:cNvPr id="4" name="図 3">
            <a:extLst>
              <a:ext uri="{FF2B5EF4-FFF2-40B4-BE49-F238E27FC236}">
                <a16:creationId xmlns:a16="http://schemas.microsoft.com/office/drawing/2014/main" id="{AB6A0945-9977-4E96-BB9D-14105FB528DB}"/>
              </a:ext>
            </a:extLst>
          </p:cNvPr>
          <p:cNvPicPr>
            <a:picLocks noChangeAspect="1"/>
          </p:cNvPicPr>
          <p:nvPr/>
        </p:nvPicPr>
        <p:blipFill>
          <a:blip r:embed="rId2"/>
          <a:stretch>
            <a:fillRect/>
          </a:stretch>
        </p:blipFill>
        <p:spPr>
          <a:xfrm>
            <a:off x="1" y="0"/>
            <a:ext cx="6799296" cy="384386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278875"/>
            <a:ext cx="6852285" cy="8811527"/>
          </a:xfrm>
        </p:spPr>
        <p:txBody>
          <a:bodyPr>
            <a:noAutofit/>
          </a:bodyPr>
          <a:lstStyle/>
          <a:p>
            <a:pPr algn="l"/>
            <a:r>
              <a:rPr lang="ja-JP" altLang="en-US" sz="900" dirty="0"/>
              <a:t>OLE（Object Linking and Embedding）は Microsoft が開発した技術で、</a:t>
            </a:r>
          </a:p>
          <a:p>
            <a:pPr algn="l"/>
            <a:r>
              <a:rPr lang="ja-JP" altLang="en-US" sz="900" dirty="0"/>
              <a:t>アプリケーション内で文書やオブジェクトを 埋め込み・リンク するために使われます。</a:t>
            </a:r>
          </a:p>
          <a:p>
            <a:pPr algn="l"/>
            <a:r>
              <a:rPr lang="ja-JP" altLang="en-US" sz="900" dirty="0"/>
              <a:t>OPC は、重要なシステムから必要なデータを収集し、</a:t>
            </a:r>
          </a:p>
          <a:p>
            <a:pPr algn="l"/>
            <a:r>
              <a:rPr lang="ja-JP" altLang="en-US" sz="900" dirty="0"/>
              <a:t>異なるシステム間のデータを統合して一元的に表示するため に設計されました。</a:t>
            </a:r>
          </a:p>
          <a:p>
            <a:pPr algn="l"/>
            <a:r>
              <a:rPr lang="ja-JP" altLang="en-US" sz="900" dirty="0"/>
              <a:t>以前は、制御システムベンダー A が制御システム B のデータを参照するには、</a:t>
            </a:r>
          </a:p>
          <a:p>
            <a:pPr algn="l"/>
            <a:r>
              <a:rPr lang="ja-JP" altLang="en-US" sz="900" dirty="0"/>
              <a:t>カスタムインターフェースや独自コードを書く必要がありました。</a:t>
            </a:r>
          </a:p>
          <a:p>
            <a:pPr algn="l"/>
            <a:r>
              <a:rPr lang="ja-JP" altLang="en-US" sz="900" dirty="0"/>
              <a:t>あるいは、人間が手作業でデータを入力していました。</a:t>
            </a:r>
          </a:p>
          <a:p>
            <a:pPr algn="l"/>
            <a:r>
              <a:rPr lang="ja-JP" altLang="en-US" sz="900" dirty="0"/>
              <a:t>ビジネスインテリジェンスの発展に伴い、</a:t>
            </a:r>
          </a:p>
          <a:p>
            <a:pPr algn="l"/>
            <a:r>
              <a:rPr lang="ja-JP" altLang="en-US" sz="900" dirty="0"/>
              <a:t>制御システム以外のユーザーも以下のような情報を求めるようになりました：</a:t>
            </a:r>
          </a:p>
          <a:p>
            <a:pPr algn="l"/>
            <a:r>
              <a:rPr lang="ja-JP" altLang="en-US" sz="900" dirty="0"/>
              <a:t>• 	運転パフォーマンス</a:t>
            </a:r>
          </a:p>
          <a:p>
            <a:pPr algn="l"/>
            <a:r>
              <a:rPr lang="ja-JP" altLang="en-US" sz="900" dirty="0"/>
              <a:t>• 	生産スケジュール</a:t>
            </a:r>
          </a:p>
          <a:p>
            <a:pPr algn="l"/>
            <a:r>
              <a:rPr lang="ja-JP" altLang="en-US" sz="900" dirty="0"/>
              <a:t>• 	保全作業情報</a:t>
            </a:r>
          </a:p>
          <a:p>
            <a:pPr algn="l"/>
            <a:r>
              <a:rPr lang="ja-JP" altLang="en-US" sz="900" dirty="0"/>
              <a:t>そのため、複数システムのデータを 1 </a:t>
            </a:r>
            <a:r>
              <a:rPr lang="ja-JP" altLang="en-US" sz="900" dirty="0" err="1"/>
              <a:t>つの</a:t>
            </a:r>
            <a:r>
              <a:rPr lang="ja-JP" altLang="en-US" sz="900" dirty="0"/>
              <a:t>場所で閲覧できる仕組み が必要になり、</a:t>
            </a:r>
          </a:p>
          <a:p>
            <a:pPr algn="l"/>
            <a:r>
              <a:rPr lang="ja-JP" altLang="en-US" sz="900" dirty="0"/>
              <a:t>OPC がその役割を担うようになりました。</a:t>
            </a:r>
          </a:p>
          <a:p>
            <a:pPr algn="l"/>
            <a:endParaRPr lang="ja-JP" altLang="en-US" sz="900" dirty="0"/>
          </a:p>
          <a:p>
            <a:pPr algn="l"/>
            <a:r>
              <a:rPr lang="ja-JP" altLang="en-US" sz="900" dirty="0"/>
              <a:t>OPC の成り立ちと役割</a:t>
            </a:r>
          </a:p>
          <a:p>
            <a:pPr algn="l"/>
            <a:r>
              <a:rPr lang="ja-JP" altLang="en-US" sz="900" dirty="0"/>
              <a:t>OPC は「産業オートメーションの相互運用性標準」と呼ばれることが多く、</a:t>
            </a:r>
          </a:p>
          <a:p>
            <a:pPr algn="l"/>
            <a:r>
              <a:rPr lang="ja-JP" altLang="en-US" sz="900" dirty="0"/>
              <a:t>当初は Object Linking and Embedding for Process Control の略でした。</a:t>
            </a:r>
          </a:p>
          <a:p>
            <a:pPr algn="l"/>
            <a:r>
              <a:rPr lang="ja-JP" altLang="en-US" sz="900" dirty="0"/>
              <a:t>1990 年代後半に業界の協力によって開発され、</a:t>
            </a:r>
          </a:p>
          <a:p>
            <a:pPr algn="l"/>
            <a:r>
              <a:rPr lang="ja-JP" altLang="en-US" sz="900" dirty="0"/>
              <a:t>現在では Open Platform Communications と定義されています。</a:t>
            </a:r>
          </a:p>
          <a:p>
            <a:pPr algn="l"/>
            <a:r>
              <a:rPr lang="ja-JP" altLang="en-US" sz="900" dirty="0"/>
              <a:t>OPC は新しい技術を取り込みながら進化しており、</a:t>
            </a:r>
          </a:p>
          <a:p>
            <a:pPr algn="l"/>
            <a:r>
              <a:rPr lang="ja-JP" altLang="en-US" sz="900" dirty="0"/>
              <a:t>OPC サーバに届いたデータを OPC クライアントへ橋渡しする共通基盤 として機能します。</a:t>
            </a:r>
          </a:p>
          <a:p>
            <a:pPr algn="l"/>
            <a:r>
              <a:rPr lang="ja-JP" altLang="en-US" sz="900" dirty="0"/>
              <a:t>OPC は Microsoft の OLE / COM / DCOM を基盤としているため、</a:t>
            </a:r>
          </a:p>
          <a:p>
            <a:pPr algn="l"/>
            <a:r>
              <a:rPr lang="ja-JP" altLang="en-US" sz="900" dirty="0"/>
              <a:t>DCOM に起因する脆弱性が OPC を利用するシステムにも影響します。</a:t>
            </a:r>
          </a:p>
          <a:p>
            <a:pPr algn="l"/>
            <a:r>
              <a:rPr lang="ja-JP" altLang="en-US" sz="900" dirty="0"/>
              <a:t>DCOM/RPC は非常に複雑で、</a:t>
            </a:r>
          </a:p>
          <a:p>
            <a:pPr algn="l"/>
            <a:r>
              <a:rPr lang="ja-JP" altLang="en-US" sz="900" dirty="0"/>
              <a:t>予測しにくいバグや脆弱性が発生しやすい構造です。</a:t>
            </a:r>
          </a:p>
          <a:p>
            <a:pPr algn="l"/>
            <a:r>
              <a:rPr lang="ja-JP" altLang="en-US" sz="900" dirty="0"/>
              <a:t>たとえば MS08-067 のような DCOM ベースの脆弱性は、</a:t>
            </a:r>
          </a:p>
          <a:p>
            <a:pPr algn="l"/>
            <a:r>
              <a:rPr lang="ja-JP" altLang="en-US" sz="900" dirty="0"/>
              <a:t>制御システム利用者が対応する必要がありました。</a:t>
            </a:r>
          </a:p>
          <a:p>
            <a:pPr algn="l"/>
            <a:r>
              <a:rPr lang="ja-JP" altLang="en-US" sz="900" dirty="0"/>
              <a:t>また、OPC は ファイアウォールとの相性が悪い（ポートが多く動的） とされ、</a:t>
            </a:r>
          </a:p>
          <a:p>
            <a:pPr algn="l"/>
            <a:r>
              <a:rPr lang="ja-JP" altLang="en-US" sz="900" dirty="0"/>
              <a:t>適切なセグメンテーションが必要です。</a:t>
            </a:r>
          </a:p>
          <a:p>
            <a:pPr algn="l"/>
            <a:r>
              <a:rPr lang="ja-JP" altLang="en-US" sz="900" dirty="0"/>
              <a:t>さらに、OPC サーバは 攻撃者がシステム間を横移動するための橋渡し となるリスクもあります。</a:t>
            </a:r>
          </a:p>
          <a:p>
            <a:pPr algn="l"/>
            <a:endParaRPr lang="ja-JP" altLang="en-US" sz="900" dirty="0"/>
          </a:p>
          <a:p>
            <a:pPr algn="l"/>
            <a:r>
              <a:rPr lang="ja-JP" altLang="en-US" sz="900" dirty="0"/>
              <a:t>参考資料</a:t>
            </a:r>
          </a:p>
          <a:p>
            <a:pPr algn="l"/>
            <a:r>
              <a:rPr lang="ja-JP" altLang="en-US" sz="900" dirty="0"/>
              <a:t>• 	OPC Foundation</a:t>
            </a:r>
          </a:p>
          <a:p>
            <a:pPr algn="l"/>
            <a:r>
              <a:rPr lang="ja-JP" altLang="en-US" sz="900" dirty="0"/>
              <a:t>https://opcfoundation.org</a:t>
            </a:r>
          </a:p>
          <a:p>
            <a:pPr algn="l"/>
            <a:r>
              <a:rPr lang="ja-JP" altLang="en-US" sz="900" dirty="0"/>
              <a:t>• 	ICS-CERT Advisory</a:t>
            </a:r>
          </a:p>
          <a:p>
            <a:pPr algn="l"/>
            <a:r>
              <a:rPr lang="ja-JP" altLang="en-US" sz="900" dirty="0"/>
              <a:t>https://www.us-cert.gov/ics/alerts/ICS-ALERT-11-285-01</a:t>
            </a:r>
          </a:p>
          <a:p>
            <a:pPr algn="l"/>
            <a:r>
              <a:rPr lang="ja-JP" altLang="en-US" sz="900" dirty="0"/>
              <a:t>• 	OPC セキュリティ解説</a:t>
            </a:r>
          </a:p>
          <a:p>
            <a:pPr algn="l"/>
            <a:r>
              <a:rPr lang="ja-JP" altLang="en-US" sz="900" dirty="0"/>
              <a:t>https://www.opcconnect.com/opc-security.php</a:t>
            </a:r>
          </a:p>
        </p:txBody>
      </p:sp>
      <p:pic>
        <p:nvPicPr>
          <p:cNvPr id="2" name="図 1">
            <a:extLst>
              <a:ext uri="{FF2B5EF4-FFF2-40B4-BE49-F238E27FC236}">
                <a16:creationId xmlns:a16="http://schemas.microsoft.com/office/drawing/2014/main" id="{F4A587A7-2B07-4A49-BCDF-C86C17069B44}"/>
              </a:ext>
            </a:extLst>
          </p:cNvPr>
          <p:cNvPicPr>
            <a:picLocks noChangeAspect="1"/>
          </p:cNvPicPr>
          <p:nvPr/>
        </p:nvPicPr>
        <p:blipFill>
          <a:blip r:embed="rId2"/>
          <a:stretch>
            <a:fillRect/>
          </a:stretch>
        </p:blipFill>
        <p:spPr>
          <a:xfrm>
            <a:off x="585730" y="0"/>
            <a:ext cx="5686539" cy="323426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444663"/>
            <a:ext cx="6852285" cy="8154670"/>
          </a:xfrm>
        </p:spPr>
        <p:txBody>
          <a:bodyPr>
            <a:noAutofit/>
          </a:bodyPr>
          <a:lstStyle/>
          <a:p>
            <a:pPr algn="l"/>
            <a:r>
              <a:rPr lang="ja-JP" altLang="en-US" sz="1200" dirty="0"/>
              <a:t>ICCP（Inter-Control Center Communications Protocol）は、</a:t>
            </a:r>
          </a:p>
          <a:p>
            <a:pPr algn="l"/>
            <a:r>
              <a:rPr lang="ja-JP" altLang="en-US" sz="1200" dirty="0"/>
              <a:t>制御センター間や電力事業者間でデータを交換するための標準化されたプロトコル です。</a:t>
            </a:r>
          </a:p>
          <a:p>
            <a:pPr algn="l"/>
            <a:r>
              <a:rPr lang="ja-JP" altLang="en-US" sz="1200" dirty="0"/>
              <a:t>最も広く使われている例として、</a:t>
            </a:r>
          </a:p>
          <a:p>
            <a:pPr algn="l"/>
            <a:r>
              <a:rPr lang="ja-JP" altLang="en-US" sz="1200" dirty="0"/>
              <a:t>電力系統の ISO（独立系統運用者）と送電事業者、独立発電事業者などを結ぶネットワーク が挙げられます。</a:t>
            </a:r>
          </a:p>
          <a:p>
            <a:pPr algn="l"/>
            <a:r>
              <a:rPr lang="ja-JP" altLang="en-US" sz="1200" dirty="0"/>
              <a:t>ICCP は以下のような用途に利用されます：</a:t>
            </a:r>
          </a:p>
          <a:p>
            <a:pPr algn="l"/>
            <a:r>
              <a:rPr lang="ja-JP" altLang="en-US" sz="1200" dirty="0"/>
              <a:t>• 	電力使用量などの リアルタイムデータの送受信</a:t>
            </a:r>
          </a:p>
          <a:p>
            <a:pPr algn="l"/>
            <a:r>
              <a:rPr lang="ja-JP" altLang="en-US" sz="1200" dirty="0"/>
              <a:t>• 	発電機への 指令値（setpoint）の送信</a:t>
            </a:r>
          </a:p>
          <a:p>
            <a:pPr algn="l"/>
            <a:r>
              <a:rPr lang="ja-JP" altLang="en-US" sz="1200" dirty="0"/>
              <a:t>• 	ユーザー間の 簡易メッセージ通信</a:t>
            </a:r>
          </a:p>
          <a:p>
            <a:pPr algn="l"/>
            <a:r>
              <a:rPr lang="ja-JP" altLang="en-US" sz="1200" dirty="0"/>
              <a:t>ただし ICCP には 認証や暗号化の仕組みがありません。</a:t>
            </a:r>
          </a:p>
          <a:p>
            <a:pPr algn="l"/>
            <a:r>
              <a:rPr lang="ja-JP" altLang="en-US" sz="1200" dirty="0"/>
              <a:t>そのため、セキュリティは 物理層やネットワーク境界（ファイアウォール、エアギャップ） に依存します。</a:t>
            </a:r>
          </a:p>
          <a:p>
            <a:pPr algn="l"/>
            <a:endParaRPr lang="ja-JP" altLang="en-US" sz="1200" dirty="0"/>
          </a:p>
          <a:p>
            <a:pPr algn="l"/>
            <a:r>
              <a:rPr lang="ja-JP" altLang="en-US" sz="1200" dirty="0"/>
              <a:t>SCADA の広域通信における ICCP の役割</a:t>
            </a:r>
          </a:p>
          <a:p>
            <a:pPr algn="l"/>
            <a:r>
              <a:rPr lang="ja-JP" altLang="en-US" sz="1200" dirty="0"/>
              <a:t>ICCP は、SCADA データを ある制御センターから別の制御センターへ提供する ために利用されます。</a:t>
            </a:r>
          </a:p>
          <a:p>
            <a:pPr algn="l"/>
            <a:r>
              <a:rPr lang="ja-JP" altLang="en-US" sz="1200" dirty="0"/>
              <a:t>一般的に、</a:t>
            </a:r>
          </a:p>
          <a:p>
            <a:pPr algn="l"/>
            <a:r>
              <a:rPr lang="ja-JP" altLang="en-US" sz="1200" dirty="0"/>
              <a:t>• 	プライマリとバックアップの制御センターを持つ組織では</a:t>
            </a:r>
          </a:p>
          <a:p>
            <a:pPr algn="l"/>
            <a:r>
              <a:rPr lang="ja-JP" altLang="en-US" sz="1200" dirty="0"/>
              <a:t>→ ベンダー提供のレプリケーション機能を使う</a:t>
            </a:r>
          </a:p>
          <a:p>
            <a:pPr algn="l"/>
            <a:r>
              <a:rPr lang="ja-JP" altLang="en-US" sz="1200" dirty="0"/>
              <a:t>• 	しかし、異なる組織・異なる制御センター間で SCADA データの一部を共有したい場合</a:t>
            </a:r>
          </a:p>
          <a:p>
            <a:pPr algn="l"/>
            <a:r>
              <a:rPr lang="ja-JP" altLang="en-US" sz="1200" dirty="0"/>
              <a:t>→ ICCP が利用される</a:t>
            </a:r>
          </a:p>
          <a:p>
            <a:pPr algn="l"/>
            <a:r>
              <a:rPr lang="ja-JP" altLang="en-US" sz="1200" dirty="0"/>
              <a:t>ICCP を利用するためには、</a:t>
            </a:r>
          </a:p>
          <a:p>
            <a:pPr algn="l"/>
            <a:r>
              <a:rPr lang="ja-JP" altLang="en-US" sz="1200" dirty="0"/>
              <a:t>双方の制御センターが ICCP プロトコルとメッセージ形式をサポートしている必要 があります。</a:t>
            </a:r>
          </a:p>
          <a:p>
            <a:pPr algn="l"/>
            <a:endParaRPr lang="ja-JP" altLang="en-US" sz="1200" dirty="0"/>
          </a:p>
          <a:p>
            <a:pPr algn="l"/>
            <a:r>
              <a:rPr lang="ja-JP" altLang="en-US" sz="1200" dirty="0"/>
              <a:t>ICCP フィードの集約と広域監視</a:t>
            </a:r>
          </a:p>
          <a:p>
            <a:pPr algn="l"/>
            <a:r>
              <a:rPr lang="ja-JP" altLang="en-US" sz="1200" dirty="0"/>
              <a:t>ICCP は、1 </a:t>
            </a:r>
            <a:r>
              <a:rPr lang="ja-JP" altLang="en-US" sz="1200" dirty="0" err="1"/>
              <a:t>つの</a:t>
            </a:r>
            <a:r>
              <a:rPr lang="ja-JP" altLang="en-US" sz="1200" dirty="0"/>
              <a:t>制御センターが 複数の他組織から ICCP フィードを受信する ことも可能です。</a:t>
            </a:r>
          </a:p>
          <a:p>
            <a:pPr algn="l"/>
            <a:r>
              <a:rPr lang="ja-JP" altLang="en-US" sz="1200" dirty="0"/>
              <a:t>例として挙げられるのが MISO（Midcontinent Independent System Operator） で、</a:t>
            </a:r>
          </a:p>
          <a:p>
            <a:pPr algn="l"/>
            <a:r>
              <a:rPr lang="ja-JP" altLang="en-US" sz="1200" dirty="0"/>
              <a:t>MISO は 数十の制御センターから ICCP データを受信 しています。</a:t>
            </a:r>
          </a:p>
          <a:p>
            <a:pPr algn="l"/>
            <a:r>
              <a:rPr lang="ja-JP" altLang="en-US" sz="1200" dirty="0"/>
              <a:t>このようなデータ集約により：</a:t>
            </a:r>
          </a:p>
          <a:p>
            <a:pPr algn="l"/>
            <a:r>
              <a:rPr lang="ja-JP" altLang="en-US" sz="1200" dirty="0"/>
              <a:t>• 	MISO は広域の電力システム状況を把握できる</a:t>
            </a:r>
          </a:p>
          <a:p>
            <a:pPr algn="l"/>
            <a:r>
              <a:rPr lang="ja-JP" altLang="en-US" sz="1200" dirty="0"/>
              <a:t>• 	系統全体の信頼性確保に必要な判断が可能になる</a:t>
            </a:r>
          </a:p>
          <a:p>
            <a:pPr algn="l"/>
            <a:r>
              <a:rPr lang="ja-JP" altLang="en-US" sz="1200" dirty="0"/>
              <a:t>ICCP は、電力系統の広域監視・制御を支える重要な通信基盤となっています。</a:t>
            </a:r>
          </a:p>
        </p:txBody>
      </p:sp>
      <p:pic>
        <p:nvPicPr>
          <p:cNvPr id="2" name="図 1">
            <a:extLst>
              <a:ext uri="{FF2B5EF4-FFF2-40B4-BE49-F238E27FC236}">
                <a16:creationId xmlns:a16="http://schemas.microsoft.com/office/drawing/2014/main" id="{93642094-CF93-4010-8749-E184F689CAFC}"/>
              </a:ext>
            </a:extLst>
          </p:cNvPr>
          <p:cNvPicPr>
            <a:picLocks noChangeAspect="1"/>
          </p:cNvPicPr>
          <p:nvPr/>
        </p:nvPicPr>
        <p:blipFill>
          <a:blip r:embed="rId2"/>
          <a:stretch>
            <a:fillRect/>
          </a:stretch>
        </p:blipFill>
        <p:spPr>
          <a:xfrm>
            <a:off x="440266" y="0"/>
            <a:ext cx="5977467" cy="339175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444766"/>
            <a:ext cx="3429001" cy="8188433"/>
          </a:xfrm>
        </p:spPr>
        <p:txBody>
          <a:bodyPr>
            <a:noAutofit/>
          </a:bodyPr>
          <a:lstStyle/>
          <a:p>
            <a:pPr algn="l"/>
            <a:r>
              <a:rPr lang="ja-JP" altLang="en-US" sz="1100" dirty="0"/>
              <a:t>以下に、内容を専門的かつ自然で読みやすい 日本語訳（意訳） をまとめます。</a:t>
            </a:r>
          </a:p>
          <a:p>
            <a:pPr algn="l"/>
            <a:r>
              <a:rPr lang="ja-JP" altLang="en-US" sz="1100" dirty="0"/>
              <a:t>ICS プロトコルの歴史的背景とセキュリティ課題、そして IEC 62351 の役割が非常に明確に整理された部分です。</a:t>
            </a:r>
          </a:p>
          <a:p>
            <a:pPr algn="l"/>
            <a:endParaRPr lang="ja-JP" altLang="en-US" sz="1100" dirty="0"/>
          </a:p>
          <a:p>
            <a:pPr algn="l"/>
            <a:r>
              <a:rPr lang="ja-JP" altLang="en-US" sz="1100" dirty="0"/>
              <a:t>日本語訳（意訳）</a:t>
            </a:r>
          </a:p>
          <a:p>
            <a:pPr algn="l"/>
            <a:r>
              <a:rPr lang="ja-JP" altLang="en-US" sz="1100" dirty="0"/>
              <a:t>多くの産業用プロトコルは、システム同士が現在ほど接続されておらず、外部からアクセスされにくかった時代に設計されました。</a:t>
            </a:r>
          </a:p>
          <a:p>
            <a:pPr algn="l"/>
            <a:r>
              <a:rPr lang="ja-JP" altLang="en-US" sz="1100" dirty="0"/>
              <a:t>そのため、基本的なセキュリティ機能を備えていないプロトコルが大半 です。</a:t>
            </a:r>
          </a:p>
          <a:p>
            <a:pPr algn="l"/>
            <a:r>
              <a:rPr lang="ja-JP" altLang="en-US" sz="1100" dirty="0"/>
              <a:t>典型的な問題点：</a:t>
            </a:r>
          </a:p>
          <a:p>
            <a:pPr algn="l"/>
            <a:r>
              <a:rPr lang="ja-JP" altLang="en-US" sz="1100" dirty="0"/>
              <a:t>- 認証の欠如</a:t>
            </a:r>
          </a:p>
          <a:p>
            <a:pPr algn="l"/>
            <a:r>
              <a:rPr lang="ja-JP" altLang="en-US" sz="1100" dirty="0"/>
              <a:t>- データ完全性の保護が不十分</a:t>
            </a:r>
          </a:p>
          <a:p>
            <a:pPr algn="l"/>
            <a:r>
              <a:rPr lang="ja-JP" altLang="en-US" sz="1100" dirty="0"/>
              <a:t>- MITM（中間者攻撃）に弱い</a:t>
            </a:r>
          </a:p>
          <a:p>
            <a:pPr algn="l"/>
            <a:r>
              <a:rPr lang="ja-JP" altLang="en-US" sz="1100" dirty="0"/>
              <a:t>- パケットの盗聴・改ざん・リプレイ・スプーフィングが容易</a:t>
            </a:r>
          </a:p>
          <a:p>
            <a:pPr algn="l"/>
            <a:r>
              <a:rPr lang="ja-JP" altLang="en-US" sz="1100" dirty="0"/>
              <a:t>攻撃者は、キャプチャしたトラフィックや公開されている標準仕様を基に</a:t>
            </a:r>
          </a:p>
          <a:p>
            <a:pPr algn="l"/>
            <a:r>
              <a:rPr lang="ja-JP" altLang="en-US" sz="1100" dirty="0"/>
              <a:t>プロトコルをリバースエンジニアリングして攻撃を構築 できます。</a:t>
            </a:r>
          </a:p>
          <a:p>
            <a:pPr algn="l"/>
            <a:endParaRPr lang="ja-JP" altLang="en-US" sz="1100" dirty="0"/>
          </a:p>
          <a:p>
            <a:pPr algn="l"/>
            <a:r>
              <a:rPr lang="ja-JP" altLang="en-US" sz="1100" dirty="0"/>
              <a:t>IEC 62351：TC57 系 ICS プロトコルのセキュリティ標準</a:t>
            </a:r>
          </a:p>
          <a:p>
            <a:pPr algn="l"/>
            <a:r>
              <a:rPr lang="ja-JP" altLang="en-US" sz="1100" dirty="0"/>
              <a:t>IEC 62351 は、以下の TC57 系プロトコルにセキュリティを付与するための標準 です：</a:t>
            </a:r>
          </a:p>
          <a:p>
            <a:pPr algn="l"/>
            <a:r>
              <a:rPr lang="ja-JP" altLang="en-US" sz="1100" dirty="0"/>
              <a:t>- IEC 60870-5</a:t>
            </a:r>
          </a:p>
          <a:p>
            <a:pPr algn="l"/>
            <a:r>
              <a:rPr lang="ja-JP" altLang="en-US" sz="1100" dirty="0"/>
              <a:t>- IEC 60870-6（ICCP/TASE.2）</a:t>
            </a:r>
          </a:p>
          <a:p>
            <a:pPr algn="l"/>
            <a:r>
              <a:rPr lang="ja-JP" altLang="en-US" sz="1100" dirty="0"/>
              <a:t>- IEC 61850</a:t>
            </a:r>
          </a:p>
          <a:p>
            <a:pPr algn="l"/>
            <a:r>
              <a:rPr lang="ja-JP" altLang="en-US" sz="1100" dirty="0"/>
              <a:t>- IEC 61970（CIM）</a:t>
            </a:r>
          </a:p>
          <a:p>
            <a:pPr algn="l"/>
            <a:r>
              <a:rPr lang="ja-JP" altLang="en-US" sz="1100" dirty="0"/>
              <a:t>- IEC 61968（配電管理系）</a:t>
            </a:r>
          </a:p>
          <a:p>
            <a:pPr algn="l"/>
            <a:r>
              <a:rPr lang="ja-JP" altLang="en-US" sz="1100" dirty="0"/>
              <a:t>IEC 62351 が提供する主なセキュリティ機能：</a:t>
            </a:r>
          </a:p>
          <a:p>
            <a:pPr algn="l"/>
            <a:r>
              <a:rPr lang="ja-JP" altLang="en-US" sz="1100" dirty="0"/>
              <a:t>- 認証（Authentication）</a:t>
            </a:r>
          </a:p>
          <a:p>
            <a:pPr algn="l"/>
            <a:r>
              <a:rPr lang="ja-JP" altLang="en-US" sz="1100" dirty="0"/>
              <a:t>- デジタル署名（Digital Signatures）</a:t>
            </a:r>
          </a:p>
          <a:p>
            <a:pPr algn="l"/>
            <a:r>
              <a:rPr lang="ja-JP" altLang="en-US" sz="1100" dirty="0"/>
              <a:t>- 暗号化（Encryption）</a:t>
            </a:r>
          </a:p>
          <a:p>
            <a:pPr algn="l"/>
            <a:r>
              <a:rPr lang="ja-JP" altLang="en-US" sz="1100" dirty="0"/>
              <a:t>これにより、従来の ICS プロトコルが抱えていた根本的な弱点を補強します。</a:t>
            </a:r>
          </a:p>
        </p:txBody>
      </p:sp>
      <p:pic>
        <p:nvPicPr>
          <p:cNvPr id="2" name="図 1">
            <a:extLst>
              <a:ext uri="{FF2B5EF4-FFF2-40B4-BE49-F238E27FC236}">
                <a16:creationId xmlns:a16="http://schemas.microsoft.com/office/drawing/2014/main" id="{42AAB5D2-D55E-4F61-A480-1CE76EDE36BA}"/>
              </a:ext>
            </a:extLst>
          </p:cNvPr>
          <p:cNvPicPr>
            <a:picLocks noChangeAspect="1"/>
          </p:cNvPicPr>
          <p:nvPr/>
        </p:nvPicPr>
        <p:blipFill>
          <a:blip r:embed="rId2"/>
          <a:stretch>
            <a:fillRect/>
          </a:stretch>
        </p:blipFill>
        <p:spPr>
          <a:xfrm>
            <a:off x="-1" y="0"/>
            <a:ext cx="6017343" cy="3410900"/>
          </a:xfrm>
          <a:prstGeom prst="rect">
            <a:avLst/>
          </a:prstGeom>
        </p:spPr>
      </p:pic>
      <p:sp>
        <p:nvSpPr>
          <p:cNvPr id="4" name="サブタイトル 2">
            <a:extLst>
              <a:ext uri="{FF2B5EF4-FFF2-40B4-BE49-F238E27FC236}">
                <a16:creationId xmlns:a16="http://schemas.microsoft.com/office/drawing/2014/main" id="{51B2A5F6-706B-4579-8815-323C37B41F07}"/>
              </a:ext>
            </a:extLst>
          </p:cNvPr>
          <p:cNvSpPr txBox="1">
            <a:spLocks/>
          </p:cNvSpPr>
          <p:nvPr/>
        </p:nvSpPr>
        <p:spPr>
          <a:xfrm>
            <a:off x="3428999" y="3444766"/>
            <a:ext cx="3429001" cy="4310701"/>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ICS で一般的に使われる防御策</a:t>
            </a:r>
          </a:p>
          <a:p>
            <a:pPr algn="l"/>
            <a:r>
              <a:rPr lang="ja-JP" altLang="en-US" sz="1100" dirty="0"/>
              <a:t>ICS プロトコルは本質的に脆弱なため、</a:t>
            </a:r>
          </a:p>
          <a:p>
            <a:pPr algn="l"/>
            <a:r>
              <a:rPr lang="ja-JP" altLang="en-US" sz="1100" dirty="0"/>
              <a:t>ネットワーク構造そのものを防御の中心に据える のが一般的です。</a:t>
            </a:r>
          </a:p>
          <a:p>
            <a:pPr algn="l"/>
            <a:r>
              <a:rPr lang="ja-JP" altLang="en-US" sz="1100" dirty="0"/>
              <a:t>代表的な対策：</a:t>
            </a:r>
          </a:p>
          <a:p>
            <a:pPr algn="l"/>
            <a:r>
              <a:rPr lang="ja-JP" altLang="en-US" sz="1100" dirty="0"/>
              <a:t>- ネットワーク分離（Segmentation）</a:t>
            </a:r>
          </a:p>
          <a:p>
            <a:pPr algn="l"/>
            <a:r>
              <a:rPr lang="ja-JP" altLang="en-US" sz="1100" dirty="0"/>
              <a:t>- ファイアウォールによる通信制御</a:t>
            </a:r>
          </a:p>
          <a:p>
            <a:pPr algn="l"/>
            <a:r>
              <a:rPr lang="ja-JP" altLang="en-US" sz="1100" dirty="0"/>
              <a:t>- 厳格な ACL（アクセス制御リスト）</a:t>
            </a:r>
          </a:p>
          <a:p>
            <a:pPr algn="l"/>
            <a:r>
              <a:rPr lang="ja-JP" altLang="en-US" sz="1100" dirty="0"/>
              <a:t>- データダイオードによる一方向通信</a:t>
            </a:r>
          </a:p>
          <a:p>
            <a:pPr algn="l"/>
            <a:r>
              <a:rPr lang="ja-JP" altLang="en-US" sz="1100" dirty="0"/>
              <a:t>- 物理的なアクセス制御（デバイスに触れさせない）</a:t>
            </a:r>
          </a:p>
          <a:p>
            <a:pPr algn="l"/>
            <a:r>
              <a:rPr lang="ja-JP" altLang="en-US" sz="1100" dirty="0"/>
              <a:t>また、一部のプロトコルには</a:t>
            </a:r>
          </a:p>
          <a:p>
            <a:pPr algn="l"/>
            <a:r>
              <a:rPr lang="ja-JP" altLang="en-US" sz="1100" dirty="0"/>
              <a:t>IDS/IPS 用の専用シグネチャ が開発されており、</a:t>
            </a:r>
          </a:p>
          <a:p>
            <a:pPr algn="l"/>
            <a:r>
              <a:rPr lang="ja-JP" altLang="en-US" sz="1100" dirty="0"/>
              <a:t>異常な通信を検知することができます。</a:t>
            </a:r>
          </a:p>
          <a:p>
            <a:pPr algn="l"/>
            <a:endParaRPr lang="ja-JP" altLang="en-US" sz="1100" dirty="0"/>
          </a:p>
          <a:p>
            <a:pPr algn="l"/>
            <a:r>
              <a:rPr lang="ja-JP" altLang="en-US" sz="1100" dirty="0"/>
              <a:t>参考</a:t>
            </a:r>
          </a:p>
          <a:p>
            <a:pPr algn="l"/>
            <a:r>
              <a:rPr lang="ja-JP" altLang="en-US" sz="1100" dirty="0"/>
              <a:t>- IEC 62351</a:t>
            </a:r>
          </a:p>
          <a:p>
            <a:pPr algn="l"/>
            <a:r>
              <a:rPr lang="ja-JP" altLang="en-US" sz="1100" dirty="0"/>
              <a:t>https://en.wikipedia.org/wiki/IEC_62351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7A6EA623-8531-4C05-91A0-AD74D6AD9EEC}"/>
              </a:ext>
            </a:extLst>
          </p:cNvPr>
          <p:cNvPicPr>
            <a:picLocks noChangeAspect="1"/>
          </p:cNvPicPr>
          <p:nvPr/>
        </p:nvPicPr>
        <p:blipFill>
          <a:blip r:embed="rId2"/>
          <a:stretch>
            <a:fillRect/>
          </a:stretch>
        </p:blipFill>
        <p:spPr>
          <a:xfrm>
            <a:off x="-1" y="-1"/>
            <a:ext cx="6840907" cy="387773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9B9052AC-AD99-4DF6-9BD3-42CA1F13218F}"/>
              </a:ext>
            </a:extLst>
          </p:cNvPr>
          <p:cNvPicPr>
            <a:picLocks noChangeAspect="1"/>
          </p:cNvPicPr>
          <p:nvPr/>
        </p:nvPicPr>
        <p:blipFill>
          <a:blip r:embed="rId2"/>
          <a:stretch>
            <a:fillRect/>
          </a:stretch>
        </p:blipFill>
        <p:spPr>
          <a:xfrm>
            <a:off x="-1" y="0"/>
            <a:ext cx="6785923" cy="38608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270B7A5E-63F5-4C62-9F3E-CE3499FF7F9F}"/>
              </a:ext>
            </a:extLst>
          </p:cNvPr>
          <p:cNvPicPr>
            <a:picLocks noChangeAspect="1"/>
          </p:cNvPicPr>
          <p:nvPr/>
        </p:nvPicPr>
        <p:blipFill>
          <a:blip r:embed="rId2"/>
          <a:stretch>
            <a:fillRect/>
          </a:stretch>
        </p:blipFill>
        <p:spPr>
          <a:xfrm>
            <a:off x="162608" y="198150"/>
            <a:ext cx="6532784" cy="367958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94666"/>
            <a:ext cx="6852285" cy="6312535"/>
          </a:xfrm>
        </p:spPr>
        <p:txBody>
          <a:bodyPr>
            <a:normAutofit/>
          </a:bodyPr>
          <a:lstStyle/>
          <a:p>
            <a:pPr algn="l"/>
            <a:r>
              <a:rPr lang="ja-JP" altLang="en-US" sz="1400" dirty="0"/>
              <a:t>ネットワーク通信は非常に複雑で、複数の異なるレイヤで構成されています。</a:t>
            </a:r>
          </a:p>
          <a:p>
            <a:pPr algn="l"/>
            <a:r>
              <a:rPr lang="ja-JP" altLang="en-US" sz="1400" dirty="0"/>
              <a:t>OSI（Open Systems Interconnection）モデルは、ネットワークプロトコルが動作する 7 </a:t>
            </a:r>
            <a:r>
              <a:rPr lang="ja-JP" altLang="en-US" sz="1400" dirty="0" err="1"/>
              <a:t>つの</a:t>
            </a:r>
            <a:r>
              <a:rPr lang="ja-JP" altLang="en-US" sz="1400" dirty="0"/>
              <a:t>レイヤ を定義しています。</a:t>
            </a:r>
          </a:p>
          <a:p>
            <a:pPr algn="l"/>
            <a:r>
              <a:rPr lang="ja-JP" altLang="en-US" sz="1400" dirty="0"/>
              <a:t>最下層に位置するのが メディア層（PHY/MAC 層） です。</a:t>
            </a:r>
          </a:p>
          <a:p>
            <a:pPr algn="l"/>
            <a:r>
              <a:rPr lang="ja-JP" altLang="en-US" sz="1400" dirty="0"/>
              <a:t>ここでは、以下のような物理的な通信方式やアクセスルールが定義されます：</a:t>
            </a:r>
          </a:p>
          <a:p>
            <a:pPr algn="l"/>
            <a:r>
              <a:rPr lang="ja-JP" altLang="en-US" sz="1400" dirty="0"/>
              <a:t>• 	PHY（Physical）：銅線、光ファイバ、無線（RF）などの物理媒体</a:t>
            </a:r>
          </a:p>
          <a:p>
            <a:pPr algn="l"/>
            <a:r>
              <a:rPr lang="ja-JP" altLang="en-US" sz="1400" dirty="0"/>
              <a:t>• 	MAC（Media Access Control）：その媒体上でデバイスがどのように通信するかの基本ルール</a:t>
            </a:r>
          </a:p>
          <a:p>
            <a:pPr algn="l"/>
            <a:r>
              <a:rPr lang="ja-JP" altLang="en-US" sz="1400" dirty="0"/>
              <a:t>これより上のレイヤは 上位レイヤ（upper layers） と呼ばれます。</a:t>
            </a:r>
          </a:p>
          <a:p>
            <a:pPr algn="l"/>
            <a:r>
              <a:rPr lang="ja-JP" altLang="en-US" sz="1400" dirty="0"/>
              <a:t>上位レイヤには以下が含まれます：</a:t>
            </a:r>
          </a:p>
          <a:p>
            <a:pPr algn="l"/>
            <a:r>
              <a:rPr lang="ja-JP" altLang="en-US" sz="1400" dirty="0"/>
              <a:t>• 	ネットワーク層：異なるデバイス間のアドレッシング</a:t>
            </a:r>
          </a:p>
          <a:p>
            <a:pPr algn="l"/>
            <a:r>
              <a:rPr lang="ja-JP" altLang="en-US" sz="1400" dirty="0"/>
              <a:t>• 	トランスポート層：信頼性の有無に関わらず、エンドツーエンドの通信を提供</a:t>
            </a:r>
          </a:p>
          <a:p>
            <a:pPr algn="l"/>
            <a:r>
              <a:rPr lang="ja-JP" altLang="en-US" sz="1400" dirty="0"/>
              <a:t>• 	アプリケーション層（TCP/IP モデル）：アプリケーションが利用する通信機能を提供</a:t>
            </a:r>
          </a:p>
          <a:p>
            <a:pPr algn="l"/>
            <a:r>
              <a:rPr lang="ja-JP" altLang="en-US" sz="1400" dirty="0"/>
              <a:t>OSI モデルでは、この「アプリケーション層」をさらに 3 </a:t>
            </a:r>
            <a:r>
              <a:rPr lang="ja-JP" altLang="en-US" sz="1400" dirty="0" err="1"/>
              <a:t>つに</a:t>
            </a:r>
            <a:r>
              <a:rPr lang="ja-JP" altLang="en-US" sz="1400" dirty="0"/>
              <a:t>分割します：</a:t>
            </a:r>
          </a:p>
          <a:p>
            <a:pPr algn="l"/>
            <a:r>
              <a:rPr lang="ja-JP" altLang="en-US" sz="1400" dirty="0"/>
              <a:t>1. 	セッション層</a:t>
            </a:r>
          </a:p>
          <a:p>
            <a:pPr algn="l"/>
            <a:r>
              <a:rPr lang="ja-JP" altLang="en-US" sz="1400" dirty="0"/>
              <a:t>2. 	プレゼンテーション層</a:t>
            </a:r>
          </a:p>
          <a:p>
            <a:pPr algn="l"/>
            <a:r>
              <a:rPr lang="ja-JP" altLang="en-US" sz="1400" dirty="0"/>
              <a:t>3. 	アプリケーション層</a:t>
            </a:r>
          </a:p>
          <a:p>
            <a:pPr algn="l"/>
            <a:r>
              <a:rPr lang="ja-JP" altLang="en-US" sz="1400" dirty="0"/>
              <a:t>しかし、実際の TCP/IP プロトコルの多くは、</a:t>
            </a:r>
          </a:p>
          <a:p>
            <a:pPr algn="l"/>
            <a:r>
              <a:rPr lang="ja-JP" altLang="en-US" sz="1400" dirty="0"/>
              <a:t>これら 3 </a:t>
            </a:r>
            <a:r>
              <a:rPr lang="ja-JP" altLang="en-US" sz="1400" dirty="0" err="1"/>
              <a:t>つの</a:t>
            </a:r>
            <a:r>
              <a:rPr lang="ja-JP" altLang="en-US" sz="1400" dirty="0"/>
              <a:t>レイヤを明確に分けず、まとめて処理する のが一般的です。</a:t>
            </a:r>
          </a:p>
        </p:txBody>
      </p:sp>
      <p:pic>
        <p:nvPicPr>
          <p:cNvPr id="4" name="図 3">
            <a:extLst>
              <a:ext uri="{FF2B5EF4-FFF2-40B4-BE49-F238E27FC236}">
                <a16:creationId xmlns:a16="http://schemas.microsoft.com/office/drawing/2014/main" id="{03E12103-2F26-4451-91B2-CC6D9815E431}"/>
              </a:ext>
            </a:extLst>
          </p:cNvPr>
          <p:cNvPicPr>
            <a:picLocks noChangeAspect="1"/>
          </p:cNvPicPr>
          <p:nvPr/>
        </p:nvPicPr>
        <p:blipFill>
          <a:blip r:embed="rId2"/>
          <a:stretch>
            <a:fillRect/>
          </a:stretch>
        </p:blipFill>
        <p:spPr>
          <a:xfrm>
            <a:off x="252202" y="181637"/>
            <a:ext cx="6353596" cy="360632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720466"/>
            <a:ext cx="3428999" cy="8031252"/>
          </a:xfrm>
        </p:spPr>
        <p:txBody>
          <a:bodyPr>
            <a:noAutofit/>
          </a:bodyPr>
          <a:lstStyle/>
          <a:p>
            <a:pPr algn="l"/>
            <a:r>
              <a:rPr lang="ja-JP" altLang="en-US" sz="1400" dirty="0"/>
              <a:t>攻撃者がネットワーク媒体（銅線・光ファイバ・無線など）にアクセスできるようになると、</a:t>
            </a:r>
          </a:p>
          <a:p>
            <a:pPr algn="l"/>
            <a:r>
              <a:rPr lang="ja-JP" altLang="en-US" sz="1400" dirty="0"/>
              <a:t>その媒体を流れる あらゆるネットワークトラフィックを捕捉・解析 できます。</a:t>
            </a:r>
          </a:p>
          <a:p>
            <a:pPr algn="l"/>
            <a:r>
              <a:rPr lang="ja-JP" altLang="en-US" sz="1400" dirty="0"/>
              <a:t>もし通信が暗号化されている場合、攻撃者はまず 復号 しなければ内容を利用できません。</a:t>
            </a:r>
          </a:p>
          <a:p>
            <a:pPr algn="l"/>
            <a:r>
              <a:rPr lang="ja-JP" altLang="en-US" sz="1400" dirty="0"/>
              <a:t>しかし暗号化が有効なのは、以下の条件が満たされている場合に限られます：</a:t>
            </a:r>
          </a:p>
          <a:p>
            <a:pPr algn="l"/>
            <a:r>
              <a:rPr lang="ja-JP" altLang="en-US" sz="1400" dirty="0"/>
              <a:t>• 	実装に既知の脆弱性がない</a:t>
            </a:r>
          </a:p>
          <a:p>
            <a:pPr algn="l"/>
            <a:r>
              <a:rPr lang="ja-JP" altLang="en-US" sz="1400" dirty="0"/>
              <a:t>• 	攻撃者が復号鍵を知らない</a:t>
            </a:r>
          </a:p>
          <a:p>
            <a:pPr algn="l"/>
            <a:r>
              <a:rPr lang="ja-JP" altLang="en-US" sz="1400" dirty="0"/>
              <a:t>• 	攻撃者が暗号化通信の 送信側または受信側を支配していない</a:t>
            </a:r>
          </a:p>
          <a:p>
            <a:pPr algn="l"/>
            <a:r>
              <a:rPr lang="ja-JP" altLang="en-US" sz="1400" dirty="0"/>
              <a:t>重要なのは、通信プロトコルの暗号化は「通信経路上のデータ」を守るものであり、</a:t>
            </a:r>
          </a:p>
          <a:p>
            <a:pPr algn="l"/>
            <a:r>
              <a:rPr lang="ja-JP" altLang="en-US" sz="1400" dirty="0"/>
              <a:t>通信端末そのもののデータを守るものではない という点です。</a:t>
            </a:r>
          </a:p>
          <a:p>
            <a:pPr algn="l"/>
            <a:endParaRPr lang="ja-JP" altLang="en-US" sz="1400" dirty="0"/>
          </a:p>
          <a:p>
            <a:pPr algn="l"/>
            <a:r>
              <a:rPr lang="ja-JP" altLang="en-US" sz="1400" dirty="0"/>
              <a:t>攻撃者が暗号化された制御トラフィックを入手した後に行うこと</a:t>
            </a:r>
          </a:p>
          <a:p>
            <a:pPr algn="l"/>
            <a:r>
              <a:rPr lang="ja-JP" altLang="en-US" sz="1400" dirty="0"/>
              <a:t>攻撃者が暗号化された ICS 制御トラフィックを捕捉すると、</a:t>
            </a:r>
          </a:p>
          <a:p>
            <a:pPr algn="l"/>
            <a:r>
              <a:rPr lang="ja-JP" altLang="en-US" sz="1400" dirty="0"/>
              <a:t>通常はそれを解析し、ネットワーク上のシステムについて学習し始めます。</a:t>
            </a:r>
          </a:p>
          <a:p>
            <a:pPr algn="l"/>
            <a:r>
              <a:rPr lang="ja-JP" altLang="en-US" sz="1400" dirty="0"/>
              <a:t>攻撃者が行う典型的な行動：</a:t>
            </a:r>
          </a:p>
          <a:p>
            <a:pPr algn="l"/>
            <a:r>
              <a:rPr lang="ja-JP" altLang="en-US" sz="1400" dirty="0"/>
              <a:t>1. 制御エンドポイントのマッピング</a:t>
            </a:r>
          </a:p>
          <a:p>
            <a:pPr algn="l"/>
            <a:r>
              <a:rPr lang="ja-JP" altLang="en-US" sz="1400" dirty="0"/>
              <a:t>• 	すべての制御システムのエンドポイント</a:t>
            </a:r>
          </a:p>
          <a:p>
            <a:pPr algn="l"/>
            <a:r>
              <a:rPr lang="ja-JP" altLang="en-US" sz="1400" dirty="0"/>
              <a:t>• 	割り当てられたレジスタ、コイル、アドレス空間</a:t>
            </a:r>
          </a:p>
          <a:p>
            <a:pPr algn="l"/>
            <a:r>
              <a:rPr lang="ja-JP" altLang="en-US" sz="1400" dirty="0"/>
              <a:t>などを把握し、攻撃に利用できる情報を収集します。</a:t>
            </a:r>
          </a:p>
        </p:txBody>
      </p:sp>
      <p:pic>
        <p:nvPicPr>
          <p:cNvPr id="2" name="図 1">
            <a:extLst>
              <a:ext uri="{FF2B5EF4-FFF2-40B4-BE49-F238E27FC236}">
                <a16:creationId xmlns:a16="http://schemas.microsoft.com/office/drawing/2014/main" id="{A96D89F2-2290-4C7B-889D-D9A9103CD2A6}"/>
              </a:ext>
            </a:extLst>
          </p:cNvPr>
          <p:cNvPicPr>
            <a:picLocks noChangeAspect="1"/>
          </p:cNvPicPr>
          <p:nvPr/>
        </p:nvPicPr>
        <p:blipFill>
          <a:blip r:embed="rId2"/>
          <a:stretch>
            <a:fillRect/>
          </a:stretch>
        </p:blipFill>
        <p:spPr>
          <a:xfrm>
            <a:off x="489363" y="118547"/>
            <a:ext cx="6048603" cy="3420533"/>
          </a:xfrm>
          <a:prstGeom prst="rect">
            <a:avLst/>
          </a:prstGeom>
        </p:spPr>
      </p:pic>
      <p:sp>
        <p:nvSpPr>
          <p:cNvPr id="4" name="サブタイトル 2">
            <a:extLst>
              <a:ext uri="{FF2B5EF4-FFF2-40B4-BE49-F238E27FC236}">
                <a16:creationId xmlns:a16="http://schemas.microsoft.com/office/drawing/2014/main" id="{92F71E20-8CC5-4763-8201-4FF31E8F3F6D}"/>
              </a:ext>
            </a:extLst>
          </p:cNvPr>
          <p:cNvSpPr txBox="1">
            <a:spLocks/>
          </p:cNvSpPr>
          <p:nvPr/>
        </p:nvSpPr>
        <p:spPr>
          <a:xfrm>
            <a:off x="3513665" y="3720466"/>
            <a:ext cx="3307443" cy="8420719"/>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2. 通常トラフィックのベースライン収集</a:t>
            </a:r>
          </a:p>
          <a:p>
            <a:pPr algn="l"/>
            <a:r>
              <a:rPr lang="ja-JP" altLang="en-US" sz="1400" dirty="0"/>
              <a:t>攻撃者はしばらく監視を続け、</a:t>
            </a:r>
          </a:p>
          <a:p>
            <a:pPr algn="l"/>
            <a:r>
              <a:rPr lang="ja-JP" altLang="en-US" sz="1400" dirty="0"/>
              <a:t>以下のような「通常の動作パターン」を学習します：</a:t>
            </a:r>
          </a:p>
          <a:p>
            <a:pPr algn="l"/>
            <a:r>
              <a:rPr lang="ja-JP" altLang="en-US" sz="1400" dirty="0"/>
              <a:t>• 	制御信号</a:t>
            </a:r>
          </a:p>
          <a:p>
            <a:pPr algn="l"/>
            <a:r>
              <a:rPr lang="ja-JP" altLang="en-US" sz="1400" dirty="0"/>
              <a:t>• 	設定変更</a:t>
            </a:r>
          </a:p>
          <a:p>
            <a:pPr algn="l"/>
            <a:r>
              <a:rPr lang="ja-JP" altLang="en-US" sz="1400" dirty="0"/>
              <a:t>• 	オペレータ／エンジニアの操作トラフィック</a:t>
            </a:r>
          </a:p>
          <a:p>
            <a:pPr algn="l"/>
            <a:r>
              <a:rPr lang="ja-JP" altLang="en-US" sz="1400" dirty="0"/>
              <a:t>• 	周期的な I/O 更新</a:t>
            </a:r>
          </a:p>
          <a:p>
            <a:pPr algn="l"/>
            <a:r>
              <a:rPr lang="ja-JP" altLang="en-US" sz="1400" dirty="0"/>
              <a:t>これにより、攻撃時に 正常な通信を模倣しやすくなる ため、検知を回避できます。</a:t>
            </a:r>
          </a:p>
          <a:p>
            <a:pPr algn="l"/>
            <a:r>
              <a:rPr lang="ja-JP" altLang="en-US" sz="1400" dirty="0"/>
              <a:t>3. 正常動作の記録を作成し、攻撃時に模倣</a:t>
            </a:r>
          </a:p>
          <a:p>
            <a:pPr algn="l"/>
            <a:r>
              <a:rPr lang="ja-JP" altLang="en-US" sz="1400" dirty="0"/>
              <a:t>攻撃者は通常の制御アクションを記録し、</a:t>
            </a:r>
          </a:p>
          <a:p>
            <a:pPr algn="l"/>
            <a:r>
              <a:rPr lang="ja-JP" altLang="en-US" sz="1400" dirty="0"/>
              <a:t>攻撃時にそれを再現することで、</a:t>
            </a:r>
          </a:p>
          <a:p>
            <a:pPr algn="l"/>
            <a:r>
              <a:rPr lang="ja-JP" altLang="en-US" sz="1400" dirty="0"/>
              <a:t>システムに異常を気づかせないようにします。</a:t>
            </a:r>
          </a:p>
          <a:p>
            <a:pPr algn="l"/>
            <a:r>
              <a:rPr lang="ja-JP" altLang="en-US" sz="1400" dirty="0"/>
              <a:t>4. 認証トークンやリモート管理トークンの奪取</a:t>
            </a:r>
          </a:p>
          <a:p>
            <a:pPr algn="l"/>
            <a:r>
              <a:rPr lang="ja-JP" altLang="en-US" sz="1400" dirty="0"/>
              <a:t>攻撃者は以下を狙うこともあります：</a:t>
            </a:r>
          </a:p>
          <a:p>
            <a:pPr algn="l"/>
            <a:r>
              <a:rPr lang="ja-JP" altLang="en-US" sz="1400" dirty="0"/>
              <a:t>• 	認証トークン</a:t>
            </a:r>
          </a:p>
          <a:p>
            <a:pPr algn="l"/>
            <a:r>
              <a:rPr lang="ja-JP" altLang="en-US" sz="1400" dirty="0"/>
              <a:t>• 	リモート管理用のセッション情報</a:t>
            </a:r>
          </a:p>
          <a:p>
            <a:pPr algn="l"/>
            <a:r>
              <a:rPr lang="ja-JP" altLang="en-US" sz="1400" dirty="0"/>
              <a:t>• 	アクセス権限を持つ資格情報</a:t>
            </a:r>
          </a:p>
          <a:p>
            <a:pPr algn="l"/>
            <a:r>
              <a:rPr lang="ja-JP" altLang="en-US" sz="1400" dirty="0"/>
              <a:t>これらは 後続の標的型攻撃の準備 に利用されます。</a:t>
            </a:r>
          </a:p>
          <a:p>
            <a:pPr algn="l"/>
            <a:endParaRPr lang="ja-JP" altLang="en-US" sz="1400" dirty="0"/>
          </a:p>
          <a:p>
            <a:pPr algn="l"/>
            <a:r>
              <a:rPr lang="ja-JP" altLang="en-US" sz="1400" dirty="0"/>
              <a:t>ICS の文脈では、</a:t>
            </a:r>
          </a:p>
          <a:p>
            <a:pPr algn="l"/>
            <a:r>
              <a:rPr lang="ja-JP" altLang="en-US" sz="1400" dirty="0"/>
              <a:t>「暗号化しているから安全」という考えが通用しない理由がよく分かる内容です。</a:t>
            </a:r>
          </a:p>
          <a:p>
            <a:pPr algn="l"/>
            <a:r>
              <a:rPr lang="ja-JP" altLang="en-US" sz="1400" dirty="0"/>
              <a:t>攻撃者が通信経路に入り込める時点で、</a:t>
            </a:r>
          </a:p>
          <a:p>
            <a:pPr algn="l"/>
            <a:r>
              <a:rPr lang="ja-JP" altLang="en-US" sz="1400" dirty="0"/>
              <a:t>暗号化は“部分的な防御”に過ぎず、完全な防御にはならない ということですね。</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386597"/>
            <a:ext cx="3285067" cy="8754600"/>
          </a:xfrm>
        </p:spPr>
        <p:txBody>
          <a:bodyPr>
            <a:noAutofit/>
          </a:bodyPr>
          <a:lstStyle/>
          <a:p>
            <a:pPr algn="l"/>
            <a:r>
              <a:rPr lang="ja-JP" altLang="en-US" sz="1400" dirty="0"/>
              <a:t>DoS（Denial-of-Service：サービス拒否）攻撃にはさまざまな形がありますが、</a:t>
            </a:r>
          </a:p>
          <a:p>
            <a:pPr algn="l"/>
            <a:r>
              <a:rPr lang="ja-JP" altLang="en-US" sz="1400" dirty="0"/>
              <a:t>共通点は「何らかのリソースを枯渇させること」 です。</a:t>
            </a:r>
          </a:p>
          <a:p>
            <a:pPr algn="l"/>
            <a:r>
              <a:rPr lang="ja-JP" altLang="en-US" sz="1400" dirty="0"/>
              <a:t>帯域枯渇型</a:t>
            </a:r>
          </a:p>
          <a:p>
            <a:pPr algn="l"/>
            <a:r>
              <a:rPr lang="ja-JP" altLang="en-US" sz="1400" dirty="0"/>
              <a:t>ネットワーク帯域を使い切らせる攻撃で、</a:t>
            </a:r>
          </a:p>
          <a:p>
            <a:pPr algn="l"/>
            <a:r>
              <a:rPr lang="ja-JP" altLang="en-US" sz="1400" dirty="0"/>
              <a:t>Anonymous やボットネットによる DDoS が典型例です。</a:t>
            </a:r>
          </a:p>
          <a:p>
            <a:pPr algn="l"/>
            <a:r>
              <a:rPr lang="ja-JP" altLang="en-US" sz="1400" dirty="0"/>
              <a:t>CPU・RAM・ディスク枯渇型</a:t>
            </a:r>
          </a:p>
          <a:p>
            <a:pPr algn="l"/>
            <a:r>
              <a:rPr lang="ja-JP" altLang="en-US" sz="1400" dirty="0"/>
              <a:t>攻撃者が処理負荷の高い要求や、処理の欠陥を突くことで</a:t>
            </a:r>
          </a:p>
          <a:p>
            <a:pPr algn="l"/>
            <a:r>
              <a:rPr lang="ja-JP" altLang="en-US" sz="1400" dirty="0"/>
              <a:t>ターゲットの CPU・メモリ・ストレージを使い切らせる攻撃です。</a:t>
            </a:r>
          </a:p>
          <a:p>
            <a:pPr algn="l"/>
            <a:r>
              <a:rPr lang="ja-JP" altLang="en-US" sz="1400" dirty="0"/>
              <a:t>通信媒体への干渉</a:t>
            </a:r>
          </a:p>
          <a:p>
            <a:pPr algn="l"/>
            <a:r>
              <a:rPr lang="ja-JP" altLang="en-US" sz="1400" dirty="0"/>
              <a:t>• 	無線のジャミング（RF 妨害）</a:t>
            </a:r>
          </a:p>
          <a:p>
            <a:pPr algn="l"/>
            <a:r>
              <a:rPr lang="ja-JP" altLang="en-US" sz="1400" dirty="0"/>
              <a:t>• 	銅線への電磁干渉（EMT）</a:t>
            </a:r>
          </a:p>
          <a:p>
            <a:pPr algn="l"/>
            <a:r>
              <a:rPr lang="ja-JP" altLang="en-US" sz="1400" dirty="0"/>
              <a:t>など、物理層を妨害する DoS も存在します。</a:t>
            </a:r>
          </a:p>
          <a:p>
            <a:pPr algn="l"/>
            <a:r>
              <a:rPr lang="ja-JP" altLang="en-US" sz="1400" dirty="0"/>
              <a:t>DoS 攻撃は 攻撃者にとっては簡単 ですが、</a:t>
            </a:r>
          </a:p>
          <a:p>
            <a:pPr algn="l"/>
            <a:r>
              <a:rPr lang="ja-JP" altLang="en-US" sz="1400" dirty="0"/>
              <a:t>防御側にとっては非常に難しい 場合が多いです。</a:t>
            </a:r>
          </a:p>
          <a:p>
            <a:pPr algn="l"/>
            <a:r>
              <a:rPr lang="ja-JP" altLang="en-US" sz="1400" dirty="0"/>
              <a:t>特に無線では防御がほぼ不可能です。</a:t>
            </a:r>
          </a:p>
          <a:p>
            <a:pPr algn="l"/>
            <a:endParaRPr lang="ja-JP" altLang="en-US" sz="1400" dirty="0"/>
          </a:p>
          <a:p>
            <a:pPr algn="l"/>
            <a:r>
              <a:rPr lang="ja-JP" altLang="en-US" sz="1400" dirty="0"/>
              <a:t>アーキテクチャ設計時に考慮すべき DoS リスク</a:t>
            </a:r>
          </a:p>
          <a:p>
            <a:pPr algn="l"/>
            <a:r>
              <a:rPr lang="ja-JP" altLang="en-US" sz="1400" dirty="0"/>
              <a:t>ネットワークを VLAN で分離する場合でも、</a:t>
            </a:r>
          </a:p>
          <a:p>
            <a:pPr algn="l"/>
            <a:r>
              <a:rPr lang="ja-JP" altLang="en-US" sz="1400" dirty="0"/>
              <a:t>低信頼ゾーンに侵入した攻撃者がスイッチを DoS で過負荷にし、</a:t>
            </a:r>
          </a:p>
          <a:p>
            <a:pPr algn="l"/>
            <a:r>
              <a:rPr lang="ja-JP" altLang="en-US" sz="1400" dirty="0"/>
              <a:t>結果として高信頼 VLAN に影響を与える 可能性があります。</a:t>
            </a:r>
          </a:p>
          <a:p>
            <a:pPr algn="l"/>
            <a:r>
              <a:rPr lang="ja-JP" altLang="en-US" sz="1400" dirty="0"/>
              <a:t>そのため、DoS 攻撃ベクトルは</a:t>
            </a:r>
          </a:p>
          <a:p>
            <a:pPr algn="l"/>
            <a:r>
              <a:rPr lang="ja-JP" altLang="en-US" sz="1400" dirty="0"/>
              <a:t>ネットワーク設計段階で必ず議論すべき重要項目 です。</a:t>
            </a:r>
          </a:p>
        </p:txBody>
      </p:sp>
      <p:pic>
        <p:nvPicPr>
          <p:cNvPr id="2" name="図 1">
            <a:extLst>
              <a:ext uri="{FF2B5EF4-FFF2-40B4-BE49-F238E27FC236}">
                <a16:creationId xmlns:a16="http://schemas.microsoft.com/office/drawing/2014/main" id="{9EE0DB12-0F1B-4731-96A2-FDAFA00626E8}"/>
              </a:ext>
            </a:extLst>
          </p:cNvPr>
          <p:cNvPicPr>
            <a:picLocks noChangeAspect="1"/>
          </p:cNvPicPr>
          <p:nvPr/>
        </p:nvPicPr>
        <p:blipFill>
          <a:blip r:embed="rId2"/>
          <a:stretch>
            <a:fillRect/>
          </a:stretch>
        </p:blipFill>
        <p:spPr>
          <a:xfrm>
            <a:off x="598657" y="0"/>
            <a:ext cx="5660685" cy="3217333"/>
          </a:xfrm>
          <a:prstGeom prst="rect">
            <a:avLst/>
          </a:prstGeom>
        </p:spPr>
      </p:pic>
      <p:sp>
        <p:nvSpPr>
          <p:cNvPr id="4" name="サブタイトル 2">
            <a:extLst>
              <a:ext uri="{FF2B5EF4-FFF2-40B4-BE49-F238E27FC236}">
                <a16:creationId xmlns:a16="http://schemas.microsoft.com/office/drawing/2014/main" id="{FCC92C04-CA9C-4CB5-8D6C-F7A004FE0461}"/>
              </a:ext>
            </a:extLst>
          </p:cNvPr>
          <p:cNvSpPr txBox="1">
            <a:spLocks/>
          </p:cNvSpPr>
          <p:nvPr/>
        </p:nvSpPr>
        <p:spPr>
          <a:xfrm>
            <a:off x="3429000" y="3386597"/>
            <a:ext cx="3285068" cy="7433799"/>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ICS プロトコルの脆弱性：古い設計のまま Ethernet に移植された結果</a:t>
            </a:r>
          </a:p>
          <a:p>
            <a:pPr algn="l"/>
            <a:r>
              <a:rPr lang="ja-JP" altLang="en-US" sz="1400" dirty="0"/>
              <a:t>多くの制御システムプロトコルは、</a:t>
            </a:r>
          </a:p>
          <a:p>
            <a:pPr algn="l"/>
            <a:r>
              <a:rPr lang="ja-JP" altLang="en-US" sz="1400" dirty="0"/>
              <a:t>セキュリティが不要だった時代のシリアル通信 を起源としています。</a:t>
            </a:r>
          </a:p>
          <a:p>
            <a:pPr algn="l"/>
            <a:r>
              <a:rPr lang="ja-JP" altLang="en-US" sz="1400" dirty="0"/>
              <a:t>Ethernet/TCP/IP に移行する際、</a:t>
            </a:r>
          </a:p>
          <a:p>
            <a:pPr algn="l"/>
            <a:r>
              <a:rPr lang="ja-JP" altLang="en-US" sz="1400" dirty="0"/>
              <a:t>後方互換性を優先して最小限の変更しか行わなかった ため、</a:t>
            </a:r>
          </a:p>
          <a:p>
            <a:pPr algn="l"/>
            <a:r>
              <a:rPr lang="ja-JP" altLang="en-US" sz="1400" dirty="0"/>
              <a:t>現代のセキュリティ要件を満たしていません。</a:t>
            </a:r>
          </a:p>
          <a:p>
            <a:pPr algn="l"/>
            <a:r>
              <a:rPr lang="ja-JP" altLang="en-US" sz="1400" dirty="0"/>
              <a:t>Modbus を例にすると：</a:t>
            </a:r>
          </a:p>
          <a:p>
            <a:pPr algn="l"/>
            <a:r>
              <a:rPr lang="ja-JP" altLang="en-US" sz="1400" dirty="0"/>
              <a:t>• 	暗号化なし</a:t>
            </a:r>
          </a:p>
          <a:p>
            <a:pPr algn="l"/>
            <a:r>
              <a:rPr lang="ja-JP" altLang="en-US" sz="1400" dirty="0"/>
              <a:t>• 	認証なし</a:t>
            </a:r>
          </a:p>
          <a:p>
            <a:pPr algn="l"/>
            <a:r>
              <a:rPr lang="ja-JP" altLang="en-US" sz="1400" dirty="0"/>
              <a:t>• 	ただ「レジスタやコイルを読め／書け」と送るだけ</a:t>
            </a:r>
          </a:p>
          <a:p>
            <a:pPr algn="l"/>
            <a:r>
              <a:rPr lang="ja-JP" altLang="en-US" sz="1400" dirty="0"/>
              <a:t>そのため、攻撃者が どのレジスタを書き換えればよいか を知っていれば：</a:t>
            </a:r>
          </a:p>
          <a:p>
            <a:pPr algn="l"/>
            <a:r>
              <a:rPr lang="ja-JP" altLang="en-US" sz="1400" dirty="0"/>
              <a:t>• 	管理サーバになりすまして制御を乗っ取る</a:t>
            </a:r>
          </a:p>
          <a:p>
            <a:pPr algn="l"/>
            <a:r>
              <a:rPr lang="ja-JP" altLang="en-US" sz="1400" dirty="0"/>
              <a:t>• 	プロセスを手動で操作する</a:t>
            </a:r>
          </a:p>
          <a:p>
            <a:pPr algn="l"/>
            <a:r>
              <a:rPr lang="ja-JP" altLang="en-US" sz="1400" dirty="0"/>
              <a:t>といった攻撃が可能です。</a:t>
            </a:r>
          </a:p>
          <a:p>
            <a:pPr algn="l"/>
            <a:r>
              <a:rPr lang="ja-JP" altLang="en-US" sz="1400" dirty="0"/>
              <a:t>さらに、攻撃者が MITM（中間者） を確立できれば：</a:t>
            </a:r>
          </a:p>
          <a:p>
            <a:pPr algn="l"/>
            <a:r>
              <a:rPr lang="ja-JP" altLang="en-US" sz="1400" dirty="0"/>
              <a:t>• 	管理サーバへのステータス報告を偽装</a:t>
            </a:r>
          </a:p>
          <a:p>
            <a:pPr algn="l"/>
            <a:r>
              <a:rPr lang="ja-JP" altLang="en-US" sz="1400" dirty="0"/>
              <a:t>• 	異常を隠し、制御センターに「正常運転」と思わせ続ける</a:t>
            </a:r>
          </a:p>
          <a:p>
            <a:pPr algn="l"/>
            <a:r>
              <a:rPr lang="ja-JP" altLang="en-US" sz="1400" dirty="0"/>
              <a:t>といった高度な攻撃も成立します。</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43866"/>
            <a:ext cx="6852285" cy="8348134"/>
          </a:xfrm>
        </p:spPr>
        <p:txBody>
          <a:bodyPr>
            <a:normAutofit/>
          </a:bodyPr>
          <a:lstStyle/>
          <a:p>
            <a:pPr algn="l"/>
            <a:r>
              <a:rPr lang="ja-JP" altLang="en-US" sz="1400" dirty="0"/>
              <a:t>攻撃者が、2 </a:t>
            </a:r>
            <a:r>
              <a:rPr lang="ja-JP" altLang="en-US" sz="1400" dirty="0" err="1"/>
              <a:t>つの</a:t>
            </a:r>
            <a:r>
              <a:rPr lang="ja-JP" altLang="en-US" sz="1400" dirty="0"/>
              <a:t>デバイス間をつなぐ 有線または無線の通信媒体にアクセスできる ようになると、</a:t>
            </a:r>
          </a:p>
          <a:p>
            <a:pPr algn="l"/>
            <a:r>
              <a:rPr lang="ja-JP" altLang="en-US" sz="1400" dirty="0"/>
              <a:t>その 2 台のデバイス間の通信に 割り込んで介入（MITM） することが可能になります。</a:t>
            </a:r>
          </a:p>
          <a:p>
            <a:pPr algn="l"/>
            <a:r>
              <a:rPr lang="ja-JP" altLang="en-US" sz="1400" dirty="0"/>
              <a:t>ネットワークプロトコルに 暗号化が実装されていない場合、</a:t>
            </a:r>
          </a:p>
          <a:p>
            <a:pPr algn="l"/>
            <a:r>
              <a:rPr lang="ja-JP" altLang="en-US" sz="1400" dirty="0"/>
              <a:t>攻撃者は以下のことが容易にできます：</a:t>
            </a:r>
          </a:p>
          <a:p>
            <a:pPr algn="l"/>
            <a:r>
              <a:rPr lang="ja-JP" altLang="en-US" sz="1400" dirty="0"/>
              <a:t>• 	通信内容を 盗み見る（sniffing）</a:t>
            </a:r>
          </a:p>
          <a:p>
            <a:pPr algn="l"/>
            <a:r>
              <a:rPr lang="ja-JP" altLang="en-US" sz="1400" dirty="0"/>
              <a:t>• 	通信内容を 改ざんする（manipulation）</a:t>
            </a:r>
          </a:p>
          <a:p>
            <a:pPr algn="l"/>
            <a:r>
              <a:rPr lang="ja-JP" altLang="en-US" sz="1400" dirty="0"/>
              <a:t>• 	偽の通信を 送りつける（spoofing）</a:t>
            </a:r>
          </a:p>
          <a:p>
            <a:pPr algn="l"/>
            <a:r>
              <a:rPr lang="ja-JP" altLang="en-US" sz="1400" dirty="0"/>
              <a:t>これは TCP/IP 通信だけでなく、</a:t>
            </a:r>
          </a:p>
          <a:p>
            <a:pPr algn="l"/>
            <a:r>
              <a:rPr lang="ja-JP" altLang="en-US" sz="1400" dirty="0"/>
              <a:t>従来のシリアル通信 でも、適切なハードウェアとソフトウェアがあれば同様に成立します。</a:t>
            </a:r>
          </a:p>
          <a:p>
            <a:pPr algn="l"/>
            <a:r>
              <a:rPr lang="ja-JP" altLang="en-US" sz="1400" dirty="0"/>
              <a:t>さらに、攻撃者は ARP スプーフィング のような特殊なネットワーク攻撃を使うことで、</a:t>
            </a:r>
          </a:p>
          <a:p>
            <a:pPr algn="l"/>
            <a:r>
              <a:rPr lang="ja-JP" altLang="en-US" sz="1400" dirty="0"/>
              <a:t>物理的に 2 台の間に入り込む必要すらありません。</a:t>
            </a:r>
          </a:p>
          <a:p>
            <a:pPr algn="l"/>
            <a:r>
              <a:rPr lang="ja-JP" altLang="en-US" sz="1400" dirty="0"/>
              <a:t>ARP の弱点を悪用し、</a:t>
            </a:r>
          </a:p>
          <a:p>
            <a:pPr algn="l"/>
            <a:r>
              <a:rPr lang="ja-JP" altLang="en-US" sz="1400" dirty="0"/>
              <a:t>通信経路を攻撃者のマシンへ迂回させる ことで、</a:t>
            </a:r>
          </a:p>
          <a:p>
            <a:pPr algn="l"/>
            <a:r>
              <a:rPr lang="ja-JP" altLang="en-US" sz="1400" dirty="0"/>
              <a:t>攻撃者は 2 台のデバイス間の通信を自由に観察・操作できるようになります。</a:t>
            </a:r>
          </a:p>
        </p:txBody>
      </p:sp>
      <p:pic>
        <p:nvPicPr>
          <p:cNvPr id="2" name="図 1">
            <a:extLst>
              <a:ext uri="{FF2B5EF4-FFF2-40B4-BE49-F238E27FC236}">
                <a16:creationId xmlns:a16="http://schemas.microsoft.com/office/drawing/2014/main" id="{9E932ADE-9DD5-48CD-B3FC-AFAA184700EC}"/>
              </a:ext>
            </a:extLst>
          </p:cNvPr>
          <p:cNvPicPr>
            <a:picLocks noChangeAspect="1"/>
          </p:cNvPicPr>
          <p:nvPr/>
        </p:nvPicPr>
        <p:blipFill>
          <a:blip r:embed="rId2"/>
          <a:stretch>
            <a:fillRect/>
          </a:stretch>
        </p:blipFill>
        <p:spPr>
          <a:xfrm>
            <a:off x="0" y="-1"/>
            <a:ext cx="6781162" cy="384386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261777"/>
            <a:ext cx="3428999" cy="8896350"/>
          </a:xfrm>
        </p:spPr>
        <p:txBody>
          <a:bodyPr>
            <a:noAutofit/>
          </a:bodyPr>
          <a:lstStyle/>
          <a:p>
            <a:pPr algn="l"/>
            <a:r>
              <a:rPr lang="ja-JP" altLang="en-US" sz="1400" dirty="0"/>
              <a:t>ファジング（Fuzzing） は、攻撃者やペネトレーションテスターが</a:t>
            </a:r>
          </a:p>
          <a:p>
            <a:pPr algn="l"/>
            <a:r>
              <a:rPr lang="ja-JP" altLang="en-US" sz="1400" dirty="0"/>
              <a:t>アプリケーションに対して 大量の予期しない入力を送りつけ、</a:t>
            </a:r>
          </a:p>
          <a:p>
            <a:pPr algn="l"/>
            <a:r>
              <a:rPr lang="ja-JP" altLang="en-US" sz="1400" dirty="0"/>
              <a:t>その処理能力や異常動作を調べるための手法 です。</a:t>
            </a:r>
          </a:p>
          <a:p>
            <a:pPr algn="l"/>
            <a:r>
              <a:rPr lang="ja-JP" altLang="en-US" sz="1400" dirty="0"/>
              <a:t>入力を受け付けるアプリケーションであれば、</a:t>
            </a:r>
          </a:p>
          <a:p>
            <a:pPr algn="l"/>
            <a:r>
              <a:rPr lang="ja-JP" altLang="en-US" sz="1400" dirty="0"/>
              <a:t>ツールやスクリプトを使って 任意のデータを自動的に送り込むだけで実施可能 です。</a:t>
            </a:r>
          </a:p>
          <a:p>
            <a:pPr algn="l"/>
            <a:r>
              <a:rPr lang="ja-JP" altLang="en-US" sz="1400" dirty="0"/>
              <a:t>例：</a:t>
            </a:r>
          </a:p>
          <a:p>
            <a:pPr algn="l"/>
            <a:r>
              <a:rPr lang="ja-JP" altLang="en-US" sz="1400" dirty="0"/>
              <a:t>• 	プロセスエディタでラダー論理ファイルを開く</a:t>
            </a:r>
          </a:p>
          <a:p>
            <a:pPr algn="l"/>
            <a:r>
              <a:rPr lang="ja-JP" altLang="en-US" sz="1400" dirty="0"/>
              <a:t>• 	Modbus や OPC パケットを受信させる</a:t>
            </a:r>
          </a:p>
          <a:p>
            <a:pPr algn="l"/>
            <a:r>
              <a:rPr lang="ja-JP" altLang="en-US" sz="1400" dirty="0"/>
              <a:t>攻撃者は、アプリケーションが 通常の入力に対して示す反応 と</a:t>
            </a:r>
          </a:p>
          <a:p>
            <a:pPr algn="l"/>
            <a:r>
              <a:rPr lang="ja-JP" altLang="en-US" sz="1400" dirty="0"/>
              <a:t>ファズ（異常データ）入力に対する反応 を比較し、</a:t>
            </a:r>
          </a:p>
          <a:p>
            <a:pPr algn="l"/>
            <a:r>
              <a:rPr lang="ja-JP" altLang="en-US" sz="1400" dirty="0"/>
              <a:t>挙動の違い＝アノマリーを探します。</a:t>
            </a:r>
          </a:p>
          <a:p>
            <a:pPr algn="l"/>
            <a:r>
              <a:rPr lang="ja-JP" altLang="en-US" sz="1400" dirty="0"/>
              <a:t>アノマリーが見つかると、それが 脆弱性の兆候かどうか を調べます。</a:t>
            </a:r>
          </a:p>
          <a:p>
            <a:pPr algn="l"/>
            <a:endParaRPr lang="ja-JP" altLang="en-US" sz="1400" dirty="0"/>
          </a:p>
          <a:p>
            <a:pPr algn="l"/>
            <a:r>
              <a:rPr lang="ja-JP" altLang="en-US" sz="1400" dirty="0"/>
              <a:t>攻撃者がファジングで狙う典型的な入力処理の欠陥</a:t>
            </a:r>
          </a:p>
          <a:p>
            <a:pPr algn="l"/>
            <a:r>
              <a:rPr lang="ja-JP" altLang="en-US" sz="1400" dirty="0"/>
              <a:t>1. 列挙（Enumeration）</a:t>
            </a:r>
          </a:p>
          <a:p>
            <a:pPr algn="l"/>
            <a:r>
              <a:rPr lang="ja-JP" altLang="en-US" sz="1400" dirty="0"/>
              <a:t>予測可能なすべての入力に対して応答が返ってくる場合、</a:t>
            </a:r>
          </a:p>
          <a:p>
            <a:pPr algn="l"/>
            <a:r>
              <a:rPr lang="ja-JP" altLang="en-US" sz="1400" dirty="0"/>
              <a:t>攻撃者は以下を把握できます：</a:t>
            </a:r>
          </a:p>
          <a:p>
            <a:pPr algn="l"/>
            <a:r>
              <a:rPr lang="ja-JP" altLang="en-US" sz="1400" dirty="0"/>
              <a:t>• 	Modbus の全レジスタ</a:t>
            </a:r>
          </a:p>
          <a:p>
            <a:pPr algn="l"/>
            <a:r>
              <a:rPr lang="ja-JP" altLang="en-US" sz="1400" dirty="0"/>
              <a:t>• 	全コイル</a:t>
            </a:r>
          </a:p>
          <a:p>
            <a:pPr algn="l"/>
            <a:r>
              <a:rPr lang="ja-JP" altLang="en-US" sz="1400" dirty="0"/>
              <a:t>• 	それらの値の変化（時間軸での追跡）</a:t>
            </a:r>
          </a:p>
          <a:p>
            <a:pPr algn="l"/>
            <a:r>
              <a:rPr lang="ja-JP" altLang="en-US" sz="1400" dirty="0"/>
              <a:t>これにより、攻撃者は 制御対象の内部構造を詳細に把握 できます。</a:t>
            </a:r>
          </a:p>
        </p:txBody>
      </p:sp>
      <p:pic>
        <p:nvPicPr>
          <p:cNvPr id="2" name="図 1">
            <a:extLst>
              <a:ext uri="{FF2B5EF4-FFF2-40B4-BE49-F238E27FC236}">
                <a16:creationId xmlns:a16="http://schemas.microsoft.com/office/drawing/2014/main" id="{A750846D-0A3A-4852-ADFD-11A25D710AC8}"/>
              </a:ext>
            </a:extLst>
          </p:cNvPr>
          <p:cNvPicPr>
            <a:picLocks noChangeAspect="1"/>
          </p:cNvPicPr>
          <p:nvPr/>
        </p:nvPicPr>
        <p:blipFill>
          <a:blip r:embed="rId2"/>
          <a:stretch>
            <a:fillRect/>
          </a:stretch>
        </p:blipFill>
        <p:spPr>
          <a:xfrm>
            <a:off x="699995" y="33873"/>
            <a:ext cx="5458006" cy="3115733"/>
          </a:xfrm>
          <a:prstGeom prst="rect">
            <a:avLst/>
          </a:prstGeom>
        </p:spPr>
      </p:pic>
      <p:sp>
        <p:nvSpPr>
          <p:cNvPr id="4" name="サブタイトル 2">
            <a:extLst>
              <a:ext uri="{FF2B5EF4-FFF2-40B4-BE49-F238E27FC236}">
                <a16:creationId xmlns:a16="http://schemas.microsoft.com/office/drawing/2014/main" id="{4B628831-17EF-448A-A925-AD2FFF23A4F0}"/>
              </a:ext>
            </a:extLst>
          </p:cNvPr>
          <p:cNvSpPr txBox="1">
            <a:spLocks/>
          </p:cNvSpPr>
          <p:nvPr/>
        </p:nvSpPr>
        <p:spPr>
          <a:xfrm>
            <a:off x="3429000" y="3261777"/>
            <a:ext cx="3429000" cy="855768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2. 特定の脆弱性を狙った入力（Targeted Vulnerabilities）</a:t>
            </a:r>
          </a:p>
          <a:p>
            <a:pPr algn="l"/>
            <a:r>
              <a:rPr lang="ja-JP" altLang="en-US" sz="1400" dirty="0"/>
              <a:t>アプリケーションが特定の不正入力に対して</a:t>
            </a:r>
          </a:p>
          <a:p>
            <a:pPr algn="l"/>
            <a:r>
              <a:rPr lang="ja-JP" altLang="en-US" sz="1400" dirty="0"/>
              <a:t>予測可能な異常動作を起こす 場合があります。</a:t>
            </a:r>
          </a:p>
          <a:p>
            <a:pPr algn="l"/>
            <a:r>
              <a:rPr lang="ja-JP" altLang="en-US" sz="1400" dirty="0"/>
              <a:t>例：</a:t>
            </a:r>
          </a:p>
          <a:p>
            <a:pPr algn="l"/>
            <a:r>
              <a:rPr lang="ja-JP" altLang="en-US" sz="1400" dirty="0"/>
              <a:t>• 	SQL インジェクション</a:t>
            </a:r>
          </a:p>
          <a:p>
            <a:pPr algn="l"/>
            <a:r>
              <a:rPr lang="ja-JP" altLang="en-US" sz="1400" dirty="0"/>
              <a:t>• 	Web アプリの典型的な入力処理バグ</a:t>
            </a:r>
          </a:p>
          <a:p>
            <a:pPr algn="l"/>
            <a:r>
              <a:rPr lang="ja-JP" altLang="en-US" sz="1400" dirty="0"/>
              <a:t>この手法では、攻撃者は</a:t>
            </a:r>
          </a:p>
          <a:p>
            <a:pPr algn="l"/>
            <a:r>
              <a:rPr lang="ja-JP" altLang="en-US" sz="1400" dirty="0"/>
              <a:t>既知の攻撃文字列を含む特別な入力ファイル を使い、</a:t>
            </a:r>
          </a:p>
          <a:p>
            <a:pPr algn="l"/>
            <a:r>
              <a:rPr lang="ja-JP" altLang="en-US" sz="1400" dirty="0"/>
              <a:t>狙った脆弱性を探します。</a:t>
            </a:r>
          </a:p>
          <a:p>
            <a:pPr algn="l"/>
            <a:endParaRPr lang="ja-JP" altLang="en-US" sz="1400" dirty="0"/>
          </a:p>
          <a:p>
            <a:pPr algn="l"/>
            <a:r>
              <a:rPr lang="ja-JP" altLang="en-US" sz="1400" dirty="0"/>
              <a:t>3. バッファオーバーフロー（Buffer Overflows）</a:t>
            </a:r>
          </a:p>
          <a:p>
            <a:pPr algn="l"/>
            <a:r>
              <a:rPr lang="ja-JP" altLang="en-US" sz="1400" dirty="0"/>
              <a:t>ランダムな長さの入力を大量に送りつけ、</a:t>
            </a:r>
          </a:p>
          <a:p>
            <a:pPr algn="l"/>
            <a:r>
              <a:rPr lang="ja-JP" altLang="en-US" sz="1400" dirty="0"/>
              <a:t>アプリケーションをクラッシュさせることで</a:t>
            </a:r>
          </a:p>
          <a:p>
            <a:pPr algn="l"/>
            <a:r>
              <a:rPr lang="ja-JP" altLang="en-US" sz="1400" dirty="0"/>
              <a:t>攻撃者のコードを実行させる余地がないか を調べます。</a:t>
            </a:r>
          </a:p>
          <a:p>
            <a:pPr algn="l"/>
            <a:r>
              <a:rPr lang="ja-JP" altLang="en-US" sz="1400" dirty="0"/>
              <a:t>これは targeted vulnerabilities に似ていますが：</a:t>
            </a:r>
          </a:p>
          <a:p>
            <a:pPr algn="l"/>
            <a:r>
              <a:rPr lang="ja-JP" altLang="en-US" sz="1400" dirty="0"/>
              <a:t>• 	事前定義された攻撃文字列ではなく ランダムデータ を使う</a:t>
            </a:r>
          </a:p>
          <a:p>
            <a:pPr algn="l"/>
            <a:r>
              <a:rPr lang="ja-JP" altLang="en-US" sz="1400" dirty="0"/>
              <a:t>• 	目的は クラッシュの発生 を確認すること</a:t>
            </a:r>
          </a:p>
          <a:p>
            <a:pPr algn="l"/>
            <a:r>
              <a:rPr lang="ja-JP" altLang="en-US" sz="1400" dirty="0"/>
              <a:t>クラッシュが起きるということは、</a:t>
            </a:r>
          </a:p>
          <a:p>
            <a:pPr algn="l"/>
            <a:r>
              <a:rPr lang="ja-JP" altLang="en-US" sz="1400" dirty="0"/>
              <a:t>アプリケーションが RAM 上で 命令の順序を見失った可能性 を示します。</a:t>
            </a:r>
          </a:p>
          <a:p>
            <a:pPr algn="l"/>
            <a:r>
              <a:rPr lang="ja-JP" altLang="en-US" sz="1400" dirty="0"/>
              <a:t>もし攻撃者がこの挙動を制御できれば、</a:t>
            </a:r>
          </a:p>
          <a:p>
            <a:pPr algn="l"/>
            <a:r>
              <a:rPr lang="ja-JP" altLang="en-US" sz="1400" dirty="0"/>
              <a:t>任意コード実行につながる可能性 があります。</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6312535"/>
          </a:xfrm>
        </p:spPr>
        <p:txBody>
          <a:bodyPr>
            <a:normAutofit/>
          </a:bodyPr>
          <a:lstStyle/>
          <a:p>
            <a:pPr algn="l"/>
            <a:r>
              <a:rPr lang="ja-JP" altLang="en-US" sz="1400" dirty="0"/>
              <a:t>ファジングによって脆弱性が見つかると、</a:t>
            </a:r>
          </a:p>
          <a:p>
            <a:pPr algn="l"/>
            <a:r>
              <a:rPr lang="ja-JP" altLang="en-US" sz="1400" dirty="0"/>
              <a:t>攻撃者はその脆弱性を悪用して システム内に足場（foothold）を築こうとします。</a:t>
            </a:r>
          </a:p>
          <a:p>
            <a:pPr algn="l"/>
            <a:r>
              <a:rPr lang="ja-JP" altLang="en-US" sz="1400" dirty="0"/>
              <a:t>一度足場を得ると、攻撃者はそこで止まりません。</a:t>
            </a:r>
          </a:p>
          <a:p>
            <a:pPr algn="l"/>
            <a:r>
              <a:rPr lang="ja-JP" altLang="en-US" sz="1400" dirty="0"/>
              <a:t>次のステップとして、さらに別の脆弱性を探し出し、</a:t>
            </a:r>
          </a:p>
          <a:p>
            <a:pPr algn="l"/>
            <a:r>
              <a:rPr lang="ja-JP" altLang="en-US" sz="1400" dirty="0"/>
              <a:t>1 </a:t>
            </a:r>
            <a:r>
              <a:rPr lang="ja-JP" altLang="en-US" sz="1400" dirty="0" err="1"/>
              <a:t>つの</a:t>
            </a:r>
            <a:r>
              <a:rPr lang="ja-JP" altLang="en-US" sz="1400" dirty="0"/>
              <a:t>攻撃から次の攻撃へと横移動（pivot）しながら、</a:t>
            </a:r>
          </a:p>
          <a:p>
            <a:pPr algn="l"/>
            <a:r>
              <a:rPr lang="ja-JP" altLang="en-US" sz="1400" dirty="0"/>
              <a:t>制御ネットワークの奥深くへ侵入していきます。</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71E76255-804A-4BE4-8BF7-436DFD39F076}"/>
              </a:ext>
            </a:extLst>
          </p:cNvPr>
          <p:cNvPicPr>
            <a:picLocks noChangeAspect="1"/>
          </p:cNvPicPr>
          <p:nvPr/>
        </p:nvPicPr>
        <p:blipFill>
          <a:blip r:embed="rId2"/>
          <a:stretch>
            <a:fillRect/>
          </a:stretch>
        </p:blipFill>
        <p:spPr>
          <a:xfrm>
            <a:off x="-1" y="-1"/>
            <a:ext cx="6866245" cy="387773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199A1E5F-1561-442A-A6E1-D2706B4BEEA7}"/>
              </a:ext>
            </a:extLst>
          </p:cNvPr>
          <p:cNvPicPr>
            <a:picLocks noChangeAspect="1"/>
          </p:cNvPicPr>
          <p:nvPr/>
        </p:nvPicPr>
        <p:blipFill>
          <a:blip r:embed="rId2"/>
          <a:stretch>
            <a:fillRect/>
          </a:stretch>
        </p:blipFill>
        <p:spPr>
          <a:xfrm>
            <a:off x="-1" y="32384"/>
            <a:ext cx="6834373" cy="387921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6C22E46E-FAF7-44BB-827B-018B7DAD8FE8}"/>
              </a:ext>
            </a:extLst>
          </p:cNvPr>
          <p:cNvPicPr>
            <a:picLocks noChangeAspect="1"/>
          </p:cNvPicPr>
          <p:nvPr/>
        </p:nvPicPr>
        <p:blipFill>
          <a:blip r:embed="rId2"/>
          <a:stretch>
            <a:fillRect/>
          </a:stretch>
        </p:blipFill>
        <p:spPr>
          <a:xfrm>
            <a:off x="0" y="-1"/>
            <a:ext cx="6847912" cy="387773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38515E7B-6DFF-4D81-AE35-01D8C0BBD0B6}"/>
              </a:ext>
            </a:extLst>
          </p:cNvPr>
          <p:cNvPicPr>
            <a:picLocks noChangeAspect="1"/>
          </p:cNvPicPr>
          <p:nvPr/>
        </p:nvPicPr>
        <p:blipFill>
          <a:blip r:embed="rId2"/>
          <a:stretch>
            <a:fillRect/>
          </a:stretch>
        </p:blipFill>
        <p:spPr>
          <a:xfrm>
            <a:off x="0" y="-1"/>
            <a:ext cx="6875414" cy="3877733"/>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58" y="3898790"/>
            <a:ext cx="3417994" cy="6362806"/>
          </a:xfrm>
        </p:spPr>
        <p:txBody>
          <a:bodyPr>
            <a:noAutofit/>
          </a:bodyPr>
          <a:lstStyle/>
          <a:p>
            <a:pPr algn="l"/>
            <a:r>
              <a:rPr lang="ja-JP" altLang="en-US" sz="1400" dirty="0"/>
              <a:t>制御システムにおいて、暗号技術で達成すべき主要な目的は次の 4 つです：</a:t>
            </a:r>
          </a:p>
          <a:p>
            <a:pPr algn="l"/>
            <a:r>
              <a:rPr lang="ja-JP" altLang="en-US" sz="1400" dirty="0"/>
              <a:t>1. 	機密性（Confidentiality）</a:t>
            </a:r>
          </a:p>
          <a:p>
            <a:pPr algn="l"/>
            <a:r>
              <a:rPr lang="ja-JP" altLang="en-US" sz="1400" dirty="0"/>
              <a:t>2. 	完全性（Integrity）</a:t>
            </a:r>
          </a:p>
          <a:p>
            <a:pPr algn="l"/>
            <a:r>
              <a:rPr lang="ja-JP" altLang="en-US" sz="1400" dirty="0"/>
              <a:t>3. 	認証（Authentication）</a:t>
            </a:r>
          </a:p>
          <a:p>
            <a:pPr algn="l"/>
            <a:r>
              <a:rPr lang="ja-JP" altLang="en-US" sz="1400" dirty="0"/>
              <a:t>4. 	否認防止（Nonrepudiation）</a:t>
            </a:r>
          </a:p>
          <a:p>
            <a:pPr algn="l"/>
            <a:endParaRPr lang="ja-JP" altLang="en-US" sz="1400" dirty="0"/>
          </a:p>
          <a:p>
            <a:pPr algn="l"/>
            <a:r>
              <a:rPr lang="ja-JP" altLang="en-US" sz="1400" dirty="0"/>
              <a:t>1. 機密性（Confidentiality）</a:t>
            </a:r>
          </a:p>
          <a:p>
            <a:pPr algn="l"/>
            <a:r>
              <a:rPr lang="ja-JP" altLang="en-US" sz="1400" dirty="0"/>
              <a:t>情報が不適切に漏えいしないように保護することを目的とします。</a:t>
            </a:r>
          </a:p>
          <a:p>
            <a:pPr algn="l"/>
            <a:r>
              <a:rPr lang="ja-JP" altLang="en-US" sz="1400" dirty="0"/>
              <a:t>一般的に使用される暗号アルゴリズム：</a:t>
            </a:r>
          </a:p>
          <a:p>
            <a:pPr algn="l"/>
            <a:r>
              <a:rPr lang="ja-JP" altLang="en-US" sz="1400" dirty="0"/>
              <a:t>• 	AES</a:t>
            </a:r>
          </a:p>
          <a:p>
            <a:pPr algn="l"/>
            <a:r>
              <a:rPr lang="ja-JP" altLang="en-US" sz="1400" dirty="0"/>
              <a:t>• 	RC4</a:t>
            </a:r>
          </a:p>
          <a:p>
            <a:pPr algn="l"/>
            <a:r>
              <a:rPr lang="ja-JP" altLang="en-US" sz="1400" dirty="0"/>
              <a:t>• 	IDEA</a:t>
            </a:r>
          </a:p>
          <a:p>
            <a:pPr algn="l"/>
            <a:endParaRPr lang="ja-JP" altLang="en-US" sz="1400" dirty="0"/>
          </a:p>
          <a:p>
            <a:pPr algn="l"/>
            <a:r>
              <a:rPr lang="ja-JP" altLang="en-US" sz="1400" dirty="0"/>
              <a:t>2. 完全性（Integrity）</a:t>
            </a:r>
          </a:p>
          <a:p>
            <a:pPr algn="l"/>
            <a:r>
              <a:rPr lang="ja-JP" altLang="en-US" sz="1400" dirty="0"/>
              <a:t>情報が正確であり、不正に改ざんされていないこと を保証します。</a:t>
            </a:r>
          </a:p>
          <a:p>
            <a:pPr algn="l"/>
            <a:r>
              <a:rPr lang="ja-JP" altLang="en-US" sz="1400" dirty="0"/>
              <a:t>使用されるハッシュアルゴリズム：</a:t>
            </a:r>
          </a:p>
          <a:p>
            <a:pPr algn="l"/>
            <a:r>
              <a:rPr lang="ja-JP" altLang="en-US" sz="1400" dirty="0"/>
              <a:t>• 	MD5</a:t>
            </a:r>
          </a:p>
          <a:p>
            <a:pPr algn="l"/>
            <a:r>
              <a:rPr lang="ja-JP" altLang="en-US" sz="1400" dirty="0"/>
              <a:t>• 	SHA 系列</a:t>
            </a:r>
          </a:p>
          <a:p>
            <a:pPr algn="l"/>
            <a:r>
              <a:rPr lang="ja-JP" altLang="en-US" sz="1400" dirty="0"/>
              <a:t>（※ ICS では SHA-2 以上が推奨されることが多い）</a:t>
            </a:r>
          </a:p>
        </p:txBody>
      </p:sp>
      <p:pic>
        <p:nvPicPr>
          <p:cNvPr id="2" name="図 1">
            <a:extLst>
              <a:ext uri="{FF2B5EF4-FFF2-40B4-BE49-F238E27FC236}">
                <a16:creationId xmlns:a16="http://schemas.microsoft.com/office/drawing/2014/main" id="{F3E5A0E8-4ACA-471D-9D86-38DE14FB356F}"/>
              </a:ext>
            </a:extLst>
          </p:cNvPr>
          <p:cNvPicPr>
            <a:picLocks noChangeAspect="1"/>
          </p:cNvPicPr>
          <p:nvPr/>
        </p:nvPicPr>
        <p:blipFill>
          <a:blip r:embed="rId2"/>
          <a:stretch>
            <a:fillRect/>
          </a:stretch>
        </p:blipFill>
        <p:spPr>
          <a:xfrm>
            <a:off x="75969" y="50795"/>
            <a:ext cx="6706062" cy="3814129"/>
          </a:xfrm>
          <a:prstGeom prst="rect">
            <a:avLst/>
          </a:prstGeom>
        </p:spPr>
      </p:pic>
      <p:sp>
        <p:nvSpPr>
          <p:cNvPr id="4" name="サブタイトル 2">
            <a:extLst>
              <a:ext uri="{FF2B5EF4-FFF2-40B4-BE49-F238E27FC236}">
                <a16:creationId xmlns:a16="http://schemas.microsoft.com/office/drawing/2014/main" id="{C6F41C0E-922C-4854-A035-476980C2A7D0}"/>
              </a:ext>
            </a:extLst>
          </p:cNvPr>
          <p:cNvSpPr txBox="1">
            <a:spLocks/>
          </p:cNvSpPr>
          <p:nvPr/>
        </p:nvSpPr>
        <p:spPr>
          <a:xfrm>
            <a:off x="3414836" y="3898791"/>
            <a:ext cx="3417994" cy="734494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3. 認証（Authentication）</a:t>
            </a:r>
          </a:p>
          <a:p>
            <a:pPr algn="l"/>
            <a:r>
              <a:rPr lang="ja-JP" altLang="en-US" sz="1400" dirty="0"/>
              <a:t>通信相手が 本人であることを証明する ための仕組みです。</a:t>
            </a:r>
          </a:p>
          <a:p>
            <a:pPr algn="l"/>
            <a:r>
              <a:rPr lang="ja-JP" altLang="en-US" sz="1400" dirty="0"/>
              <a:t>代表的な手法：</a:t>
            </a:r>
          </a:p>
          <a:p>
            <a:pPr algn="l"/>
            <a:r>
              <a:rPr lang="ja-JP" altLang="en-US" sz="1400" dirty="0"/>
              <a:t>• 	事前共有鍵（Pre-shared Key）</a:t>
            </a:r>
          </a:p>
          <a:p>
            <a:pPr algn="l"/>
            <a:r>
              <a:rPr lang="ja-JP" altLang="en-US" sz="1400" dirty="0"/>
              <a:t>• 	RSA や ECC などの公開鍵暗号方式</a:t>
            </a:r>
          </a:p>
          <a:p>
            <a:pPr algn="l"/>
            <a:endParaRPr lang="ja-JP" altLang="en-US" sz="1400" dirty="0"/>
          </a:p>
          <a:p>
            <a:pPr algn="l"/>
            <a:r>
              <a:rPr lang="ja-JP" altLang="en-US" sz="1400" dirty="0"/>
              <a:t>4. 否認防止（Nonrepudiation）</a:t>
            </a:r>
          </a:p>
          <a:p>
            <a:pPr algn="l"/>
            <a:r>
              <a:rPr lang="ja-JP" altLang="en-US" sz="1400" dirty="0"/>
              <a:t>送信者が「自分は送っていない」と後から否定できないようにする仕組みです。</a:t>
            </a:r>
          </a:p>
          <a:p>
            <a:pPr algn="l"/>
            <a:r>
              <a:rPr lang="ja-JP" altLang="en-US" sz="1400" dirty="0"/>
              <a:t>実現方法：</a:t>
            </a:r>
          </a:p>
          <a:p>
            <a:pPr algn="l"/>
            <a:r>
              <a:rPr lang="ja-JP" altLang="en-US" sz="1400" dirty="0"/>
              <a:t>• 	非対称鍵によるデジタル署名</a:t>
            </a:r>
          </a:p>
          <a:p>
            <a:pPr algn="l"/>
            <a:r>
              <a:rPr lang="ja-JP" altLang="en-US" sz="1400" dirty="0"/>
              <a:t>• 	ハッシュ値との組み合わせ</a:t>
            </a:r>
          </a:p>
          <a:p>
            <a:pPr algn="l"/>
            <a:endParaRPr lang="ja-JP" altLang="en-US" sz="1400" dirty="0"/>
          </a:p>
          <a:p>
            <a:pPr algn="l"/>
            <a:r>
              <a:rPr lang="ja-JP" altLang="en-US" sz="1400" dirty="0"/>
              <a:t>暗号技術が保護する ICS 通信の例</a:t>
            </a:r>
          </a:p>
          <a:p>
            <a:pPr algn="l"/>
            <a:r>
              <a:rPr lang="ja-JP" altLang="en-US" sz="1400" dirty="0"/>
              <a:t>暗号化は、制御システム内のあらゆる通信を保護するために利用されます。例として：</a:t>
            </a:r>
          </a:p>
          <a:p>
            <a:pPr algn="l"/>
            <a:r>
              <a:rPr lang="ja-JP" altLang="en-US" sz="1400" dirty="0"/>
              <a:t>• 	HMI やエンジニアリング／管理インターフェース</a:t>
            </a:r>
          </a:p>
          <a:p>
            <a:pPr algn="l"/>
            <a:r>
              <a:rPr lang="ja-JP" altLang="en-US" sz="1400" dirty="0"/>
              <a:t>• 	フィールドデバイスと制御サーバ間の通信</a:t>
            </a:r>
          </a:p>
          <a:p>
            <a:pPr algn="l"/>
            <a:r>
              <a:rPr lang="ja-JP" altLang="en-US" sz="1400" dirty="0"/>
              <a:t>• 	制御サーバとヒストリアン／企業ネットワークサーバ間の通信</a:t>
            </a:r>
          </a:p>
          <a:p>
            <a:pPr algn="l"/>
            <a:r>
              <a:rPr lang="ja-JP" altLang="en-US" sz="1400" dirty="0"/>
              <a:t>これらの通信は、攻撃者が盗聴・改ざん・なりすましを行う標的になりやすいため、</a:t>
            </a:r>
          </a:p>
          <a:p>
            <a:pPr algn="l"/>
            <a:r>
              <a:rPr lang="ja-JP" altLang="en-US" sz="1400" dirty="0"/>
              <a:t>暗号化による保護が極めて重要です。</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343064"/>
            <a:ext cx="6852285" cy="8815070"/>
          </a:xfrm>
        </p:spPr>
        <p:txBody>
          <a:bodyPr>
            <a:noAutofit/>
          </a:bodyPr>
          <a:lstStyle/>
          <a:p>
            <a:pPr algn="l"/>
            <a:r>
              <a:rPr lang="ja-JP" altLang="en-US" sz="1200" dirty="0"/>
              <a:t>暗号システム（cryptosystem）とは、</a:t>
            </a:r>
          </a:p>
          <a:p>
            <a:pPr algn="l"/>
            <a:r>
              <a:rPr lang="ja-JP" altLang="en-US" sz="1200" dirty="0"/>
              <a:t>すべての可能な入力・すべての可能な出力・アルゴリズム・鍵</a:t>
            </a:r>
          </a:p>
          <a:p>
            <a:pPr algn="l"/>
            <a:r>
              <a:rPr lang="ja-JP" altLang="en-US" sz="1200" dirty="0"/>
              <a:t>を含む仕組み全体を指します。</a:t>
            </a:r>
          </a:p>
          <a:p>
            <a:pPr algn="l"/>
            <a:r>
              <a:rPr lang="ja-JP" altLang="en-US" sz="1200" dirty="0"/>
              <a:t>暗号鍵（cryptographic key）は、</a:t>
            </a:r>
          </a:p>
          <a:p>
            <a:pPr algn="l"/>
            <a:r>
              <a:rPr lang="ja-JP" altLang="en-US" sz="1200" dirty="0"/>
              <a:t>特定の暗号アルゴリズムを初期化するための 単なる値 です。</a:t>
            </a:r>
          </a:p>
          <a:p>
            <a:pPr algn="l"/>
            <a:r>
              <a:rPr lang="ja-JP" altLang="en-US" sz="1200" dirty="0"/>
              <a:t>暗号システムにおいて重要なのは、</a:t>
            </a:r>
          </a:p>
          <a:p>
            <a:pPr algn="l"/>
            <a:r>
              <a:rPr lang="ja-JP" altLang="en-US" sz="1200" dirty="0"/>
              <a:t>守るべきはアルゴリズムではなく “鍵” だけである という点です。</a:t>
            </a:r>
          </a:p>
          <a:p>
            <a:pPr algn="l"/>
            <a:r>
              <a:rPr lang="ja-JP" altLang="en-US" sz="1200" dirty="0"/>
              <a:t>つまり：</a:t>
            </a:r>
          </a:p>
          <a:p>
            <a:pPr algn="l"/>
            <a:r>
              <a:rPr lang="ja-JP" altLang="en-US" sz="1200" dirty="0"/>
              <a:t>- アルゴリズムは公開されていてよい</a:t>
            </a:r>
          </a:p>
          <a:p>
            <a:pPr algn="l"/>
            <a:r>
              <a:rPr lang="ja-JP" altLang="en-US" sz="1200" dirty="0"/>
              <a:t>- 内部仕様が文書化されていても問題ない</a:t>
            </a:r>
          </a:p>
          <a:p>
            <a:pPr algn="l"/>
            <a:r>
              <a:rPr lang="ja-JP" altLang="en-US" sz="1200" dirty="0"/>
              <a:t>- 守るべきは 鍵そのもの</a:t>
            </a:r>
          </a:p>
          <a:p>
            <a:pPr algn="l"/>
            <a:r>
              <a:rPr lang="ja-JP" altLang="en-US" sz="1200" dirty="0"/>
              <a:t>という考え方です。</a:t>
            </a:r>
          </a:p>
          <a:p>
            <a:pPr algn="l"/>
            <a:endParaRPr lang="ja-JP" altLang="en-US" sz="1200" dirty="0"/>
          </a:p>
          <a:p>
            <a:pPr algn="l"/>
            <a:r>
              <a:rPr lang="ja-JP" altLang="en-US" sz="1200" dirty="0"/>
              <a:t>鍵の「一意性」と「鍵空間（keyspace）」の重要性</a:t>
            </a:r>
          </a:p>
          <a:p>
            <a:pPr algn="l"/>
            <a:r>
              <a:rPr lang="ja-JP" altLang="en-US" sz="1200" dirty="0"/>
              <a:t>鍵の一意性は鍵そのものと同じくらい重要です。</a:t>
            </a:r>
          </a:p>
          <a:p>
            <a:pPr algn="l"/>
            <a:r>
              <a:rPr lang="ja-JP" altLang="en-US" sz="1200" dirty="0"/>
              <a:t>鍵空間（keyspace） とは、</a:t>
            </a:r>
          </a:p>
          <a:p>
            <a:pPr algn="l"/>
            <a:r>
              <a:rPr lang="ja-JP" altLang="en-US" sz="1200" dirty="0"/>
              <a:t>「取り得る鍵の総数（可能な鍵の組み合わせ）」のことです。</a:t>
            </a:r>
          </a:p>
          <a:p>
            <a:pPr algn="l"/>
            <a:r>
              <a:rPr lang="ja-JP" altLang="en-US" sz="1200" dirty="0"/>
              <a:t>鍵空間が大きいほど、</a:t>
            </a:r>
          </a:p>
          <a:p>
            <a:pPr algn="l"/>
            <a:r>
              <a:rPr lang="ja-JP" altLang="en-US" sz="1200" dirty="0"/>
              <a:t>攻撃者が総当たり（brute force）で鍵を見つけることが難しくなります。</a:t>
            </a:r>
          </a:p>
          <a:p>
            <a:pPr algn="l"/>
            <a:r>
              <a:rPr lang="ja-JP" altLang="en-US" sz="1200" dirty="0"/>
              <a:t>● 例：シーザー暗号</a:t>
            </a:r>
          </a:p>
          <a:p>
            <a:pPr algn="l"/>
            <a:r>
              <a:rPr lang="ja-JP" altLang="en-US" sz="1200" dirty="0"/>
              <a:t>シーザー暗号の鍵空間は 25 通り しかありません。</a:t>
            </a:r>
          </a:p>
          <a:p>
            <a:pPr algn="l"/>
            <a:r>
              <a:rPr lang="ja-JP" altLang="en-US" sz="1200" dirty="0"/>
              <a:t>これは総当たりで簡単に破られます。</a:t>
            </a:r>
          </a:p>
          <a:p>
            <a:pPr algn="l"/>
            <a:r>
              <a:rPr lang="ja-JP" altLang="en-US" sz="1200" dirty="0"/>
              <a:t>● 鍵空間は“天文学的に大きく”なければならない</a:t>
            </a:r>
          </a:p>
          <a:p>
            <a:pPr algn="l"/>
            <a:r>
              <a:rPr lang="ja-JP" altLang="en-US" sz="1200" dirty="0"/>
              <a:t>例えば、車の鍵が 20 万種類あったとしても、</a:t>
            </a:r>
          </a:p>
          <a:p>
            <a:pPr algn="l"/>
            <a:r>
              <a:rPr lang="ja-JP" altLang="en-US" sz="1200" dirty="0"/>
              <a:t>（仮に 1,000 万種類あったとしても）</a:t>
            </a:r>
          </a:p>
          <a:p>
            <a:pPr algn="l"/>
            <a:r>
              <a:rPr lang="ja-JP" altLang="en-US" sz="1200" dirty="0"/>
              <a:t>暗号鍵の鍵空間としては 圧倒的に小さすぎます。</a:t>
            </a:r>
          </a:p>
          <a:p>
            <a:pPr algn="l"/>
            <a:r>
              <a:rPr lang="ja-JP" altLang="en-US" sz="1200" dirty="0"/>
              <a:t>理由：</a:t>
            </a:r>
          </a:p>
          <a:p>
            <a:pPr algn="l"/>
            <a:r>
              <a:rPr lang="ja-JP" altLang="en-US" sz="1200" dirty="0"/>
              <a:t>- コンピュータは 10 億通りの鍵 を試すことが容易</a:t>
            </a:r>
          </a:p>
          <a:p>
            <a:pPr algn="l"/>
            <a:r>
              <a:rPr lang="ja-JP" altLang="en-US" sz="1200" dirty="0"/>
              <a:t>- 物理的な鍵を 100 万個作るより、</a:t>
            </a:r>
          </a:p>
          <a:p>
            <a:pPr algn="l"/>
            <a:r>
              <a:rPr lang="ja-JP" altLang="en-US" sz="1200" dirty="0"/>
              <a:t>デジタル鍵を 10 億個試す方が圧倒的に簡単</a:t>
            </a:r>
          </a:p>
          <a:p>
            <a:pPr algn="l"/>
            <a:r>
              <a:rPr lang="ja-JP" altLang="en-US" sz="1200" dirty="0"/>
              <a:t>つまり、暗号鍵の鍵空間は</a:t>
            </a:r>
          </a:p>
          <a:p>
            <a:pPr algn="l"/>
            <a:r>
              <a:rPr lang="ja-JP" altLang="en-US" sz="1200" dirty="0"/>
              <a:t>総当たり攻撃が現実的に不可能なほど巨大である必要がある</a:t>
            </a:r>
          </a:p>
          <a:p>
            <a:pPr algn="l"/>
            <a:r>
              <a:rPr lang="ja-JP" altLang="en-US" sz="1200" dirty="0"/>
              <a:t>ということです。</a:t>
            </a:r>
          </a:p>
        </p:txBody>
      </p:sp>
      <p:pic>
        <p:nvPicPr>
          <p:cNvPr id="2" name="図 1">
            <a:extLst>
              <a:ext uri="{FF2B5EF4-FFF2-40B4-BE49-F238E27FC236}">
                <a16:creationId xmlns:a16="http://schemas.microsoft.com/office/drawing/2014/main" id="{7860957A-1BBB-4436-B0A4-20AFE9EDCE7F}"/>
              </a:ext>
            </a:extLst>
          </p:cNvPr>
          <p:cNvPicPr>
            <a:picLocks noChangeAspect="1"/>
          </p:cNvPicPr>
          <p:nvPr/>
        </p:nvPicPr>
        <p:blipFill>
          <a:blip r:embed="rId2"/>
          <a:stretch>
            <a:fillRect/>
          </a:stretch>
        </p:blipFill>
        <p:spPr>
          <a:xfrm>
            <a:off x="671480" y="16933"/>
            <a:ext cx="5509321" cy="312293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221990"/>
            <a:ext cx="6852285" cy="8936144"/>
          </a:xfrm>
        </p:spPr>
        <p:txBody>
          <a:bodyPr>
            <a:noAutofit/>
          </a:bodyPr>
          <a:lstStyle/>
          <a:p>
            <a:pPr algn="l"/>
            <a:r>
              <a:rPr lang="ja-JP" altLang="en-US" sz="1400" dirty="0"/>
              <a:t>暗号アルゴリズムには大きく分けて 2 種類 あります。</a:t>
            </a:r>
          </a:p>
          <a:p>
            <a:pPr algn="l"/>
            <a:r>
              <a:rPr lang="ja-JP" altLang="en-US" sz="1400" dirty="0"/>
              <a:t>- 対称鍵暗号（Symmetric）：高速（例：ストリーム暗号）</a:t>
            </a:r>
          </a:p>
          <a:p>
            <a:pPr algn="l"/>
            <a:r>
              <a:rPr lang="ja-JP" altLang="en-US" sz="1400" dirty="0"/>
              <a:t>- 非対称鍵暗号（Asymmetric）：計算が重く、比較的遅い（例：RSA などの因数分解ベース）</a:t>
            </a:r>
          </a:p>
          <a:p>
            <a:pPr algn="l"/>
            <a:r>
              <a:rPr lang="ja-JP" altLang="en-US" sz="1400" dirty="0"/>
              <a:t>Diffie-Hellman は 安全な鍵交換 に優れていますが、</a:t>
            </a:r>
          </a:p>
          <a:p>
            <a:pPr algn="l"/>
            <a:r>
              <a:rPr lang="ja-JP" altLang="en-US" sz="1400" dirty="0"/>
              <a:t>暗号化そのものに最適というわけではありません。</a:t>
            </a:r>
          </a:p>
          <a:p>
            <a:pPr algn="l"/>
            <a:r>
              <a:rPr lang="ja-JP" altLang="en-US" sz="1400" dirty="0"/>
              <a:t>また、ここで挙げられているアルゴリズムの中には、</a:t>
            </a:r>
          </a:p>
          <a:p>
            <a:pPr algn="l"/>
            <a:r>
              <a:rPr lang="ja-JP" altLang="en-US" sz="1400" dirty="0"/>
              <a:t>現在では 安全とは見なされないもの もありますが、</a:t>
            </a:r>
          </a:p>
          <a:p>
            <a:pPr algn="l"/>
            <a:r>
              <a:rPr lang="ja-JP" altLang="en-US" sz="1400" dirty="0"/>
              <a:t>ICS ではレガシー機器の都合で依然として使われている場合があります。</a:t>
            </a:r>
          </a:p>
          <a:p>
            <a:pPr algn="l"/>
            <a:endParaRPr lang="ja-JP" altLang="en-US" sz="1400" dirty="0"/>
          </a:p>
          <a:p>
            <a:pPr algn="l"/>
            <a:r>
              <a:rPr lang="ja-JP" altLang="en-US" sz="1400" dirty="0"/>
              <a:t>暗号アルゴリズムの使い分けの例</a:t>
            </a:r>
          </a:p>
          <a:p>
            <a:pPr algn="l"/>
            <a:r>
              <a:rPr lang="ja-JP" altLang="en-US" sz="1400" dirty="0"/>
              <a:t>メッセージを暗号化し、第三者に読まれないようにしたい場合：</a:t>
            </a:r>
          </a:p>
          <a:p>
            <a:pPr algn="l"/>
            <a:r>
              <a:rPr lang="ja-JP" altLang="en-US" sz="1400" dirty="0"/>
              <a:t>- 対称鍵暗号：RC4、AES</a:t>
            </a:r>
          </a:p>
          <a:p>
            <a:pPr algn="l"/>
            <a:r>
              <a:rPr lang="ja-JP" altLang="en-US" sz="1400" dirty="0"/>
              <a:t>- 非対称鍵暗号：RSA、ECC</a:t>
            </a:r>
          </a:p>
          <a:p>
            <a:pPr algn="l"/>
            <a:r>
              <a:rPr lang="ja-JP" altLang="en-US" sz="1400" dirty="0"/>
              <a:t>これらを使用できます。</a:t>
            </a:r>
          </a:p>
          <a:p>
            <a:pPr algn="l"/>
            <a:r>
              <a:rPr lang="ja-JP" altLang="en-US" sz="1400" dirty="0"/>
              <a:t>一方、以下のような ハッシュアルゴリズム（MD5、SHA 系） は</a:t>
            </a:r>
          </a:p>
          <a:p>
            <a:pPr algn="l"/>
            <a:r>
              <a:rPr lang="ja-JP" altLang="en-US" sz="1400" dirty="0"/>
              <a:t>暗号化には使えません。</a:t>
            </a:r>
          </a:p>
          <a:p>
            <a:pPr algn="l"/>
            <a:r>
              <a:rPr lang="ja-JP" altLang="en-US" sz="1400" dirty="0"/>
              <a:t>（ハッシュは「一方向変換」であり、暗号化とは目的が異なるため）</a:t>
            </a:r>
          </a:p>
          <a:p>
            <a:pPr algn="l"/>
            <a:r>
              <a:rPr lang="ja-JP" altLang="en-US" sz="1400" dirty="0"/>
              <a:t>しかし、暗号化（対称 or 非対称）＋ハッシュ を組み合わせることで、</a:t>
            </a:r>
          </a:p>
          <a:p>
            <a:pPr algn="l"/>
            <a:r>
              <a:rPr lang="ja-JP" altLang="en-US" sz="1400" dirty="0"/>
              <a:t>より強力な データ完全性の保証 を実現できます。</a:t>
            </a:r>
          </a:p>
          <a:p>
            <a:pPr algn="l"/>
            <a:r>
              <a:rPr lang="ja-JP" altLang="en-US" sz="1400" dirty="0"/>
              <a:t>この点については後のセクションで詳しく説明されます。</a:t>
            </a:r>
          </a:p>
          <a:p>
            <a:pPr algn="l"/>
            <a:endParaRPr lang="ja-JP" altLang="en-US" sz="1400" dirty="0"/>
          </a:p>
          <a:p>
            <a:pPr algn="l"/>
            <a:r>
              <a:rPr lang="ja-JP" altLang="en-US" sz="1400" dirty="0"/>
              <a:t>まとめ</a:t>
            </a:r>
          </a:p>
          <a:p>
            <a:pPr algn="l"/>
            <a:r>
              <a:rPr lang="ja-JP" altLang="en-US" sz="1400" dirty="0"/>
              <a:t>ICS における暗号技術は、</a:t>
            </a:r>
          </a:p>
          <a:p>
            <a:pPr algn="l"/>
            <a:r>
              <a:rPr lang="ja-JP" altLang="en-US" sz="1400" dirty="0"/>
              <a:t>- レガシー機器の存在</a:t>
            </a:r>
          </a:p>
          <a:p>
            <a:pPr algn="l"/>
            <a:r>
              <a:rPr lang="ja-JP" altLang="en-US" sz="1400" dirty="0"/>
              <a:t>- 計算能力の制約</a:t>
            </a:r>
          </a:p>
          <a:p>
            <a:pPr algn="l"/>
            <a:r>
              <a:rPr lang="ja-JP" altLang="en-US" sz="1400" dirty="0"/>
              <a:t>- プロトコルの歴史的背景</a:t>
            </a:r>
          </a:p>
          <a:p>
            <a:pPr algn="l"/>
            <a:r>
              <a:rPr lang="ja-JP" altLang="en-US" sz="1400" dirty="0"/>
              <a:t>などが絡み合い、非常に複雑なテーマになります。</a:t>
            </a:r>
          </a:p>
          <a:p>
            <a:pPr algn="l"/>
            <a:r>
              <a:rPr lang="ja-JP" altLang="en-US" sz="1400" dirty="0"/>
              <a:t>しかし、このモジュールを通じて、</a:t>
            </a:r>
          </a:p>
          <a:p>
            <a:pPr algn="l"/>
            <a:r>
              <a:rPr lang="ja-JP" altLang="en-US" sz="1400" dirty="0"/>
              <a:t>ここで説明した暗号の基本概念について</a:t>
            </a:r>
          </a:p>
          <a:p>
            <a:pPr algn="l"/>
            <a:r>
              <a:rPr lang="ja-JP" altLang="en-US" sz="1400" dirty="0"/>
              <a:t>基礎的な理解を得られるようになります。</a:t>
            </a:r>
          </a:p>
        </p:txBody>
      </p:sp>
      <p:pic>
        <p:nvPicPr>
          <p:cNvPr id="2" name="図 1">
            <a:extLst>
              <a:ext uri="{FF2B5EF4-FFF2-40B4-BE49-F238E27FC236}">
                <a16:creationId xmlns:a16="http://schemas.microsoft.com/office/drawing/2014/main" id="{24353D58-6AC9-460C-B85E-FB894F096597}"/>
              </a:ext>
            </a:extLst>
          </p:cNvPr>
          <p:cNvPicPr>
            <a:picLocks noChangeAspect="1"/>
          </p:cNvPicPr>
          <p:nvPr/>
        </p:nvPicPr>
        <p:blipFill>
          <a:blip r:embed="rId2"/>
          <a:stretch>
            <a:fillRect/>
          </a:stretch>
        </p:blipFill>
        <p:spPr>
          <a:xfrm>
            <a:off x="705599" y="89324"/>
            <a:ext cx="5441085" cy="30988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38" y="3406013"/>
            <a:ext cx="6852285" cy="8667750"/>
          </a:xfrm>
        </p:spPr>
        <p:txBody>
          <a:bodyPr>
            <a:noAutofit/>
          </a:bodyPr>
          <a:lstStyle/>
          <a:p>
            <a:pPr algn="l"/>
            <a:r>
              <a:rPr lang="ja-JP" altLang="en-US" sz="1200" dirty="0"/>
              <a:t>対称鍵暗号（Symmetric-key cryptography） は、</a:t>
            </a:r>
          </a:p>
          <a:p>
            <a:pPr algn="l"/>
            <a:r>
              <a:rPr lang="ja-JP" altLang="en-US" sz="1200" dirty="0"/>
              <a:t>暗号化と復号の両方に同じ鍵を使う方式 です。</a:t>
            </a:r>
          </a:p>
          <a:p>
            <a:pPr algn="l"/>
            <a:r>
              <a:rPr lang="ja-JP" altLang="en-US" sz="1200" dirty="0"/>
              <a:t>この鍵は送信者と受信者の間で秘密裏に共有される必要があるため、</a:t>
            </a:r>
          </a:p>
          <a:p>
            <a:pPr algn="l"/>
            <a:r>
              <a:rPr lang="ja-JP" altLang="en-US" sz="1200" dirty="0"/>
              <a:t>秘密鍵暗号（secret key encryption） とも呼ばれます。</a:t>
            </a:r>
          </a:p>
          <a:p>
            <a:pPr algn="l"/>
            <a:r>
              <a:rPr lang="ja-JP" altLang="en-US" sz="1200" dirty="0"/>
              <a:t>対称鍵暗号の主な用途は プライバシー保護 であり、</a:t>
            </a:r>
          </a:p>
          <a:p>
            <a:pPr algn="l"/>
            <a:r>
              <a:rPr lang="ja-JP" altLang="en-US" sz="1200" dirty="0"/>
              <a:t>鍵を共有している当事者だけがメッセージを暗号化・復号できます。</a:t>
            </a:r>
          </a:p>
          <a:p>
            <a:pPr algn="l"/>
            <a:endParaRPr lang="ja-JP" altLang="en-US" sz="1200" dirty="0"/>
          </a:p>
          <a:p>
            <a:pPr algn="l"/>
            <a:r>
              <a:rPr lang="ja-JP" altLang="en-US" sz="1200" dirty="0"/>
              <a:t>対称鍵暗号の最大の課題：鍵管理</a:t>
            </a:r>
          </a:p>
          <a:p>
            <a:pPr algn="l"/>
            <a:r>
              <a:rPr lang="ja-JP" altLang="en-US" sz="1200" dirty="0"/>
              <a:t>対称鍵方式の大きな問題は 鍵の生成・交換・保護 です。</a:t>
            </a:r>
          </a:p>
          <a:p>
            <a:pPr algn="l"/>
            <a:r>
              <a:rPr lang="ja-JP" altLang="en-US" sz="1200" dirty="0"/>
              <a:t>- 鍵が漏洩すると通信がすべて解読される</a:t>
            </a:r>
          </a:p>
          <a:p>
            <a:pPr algn="l"/>
            <a:r>
              <a:rPr lang="ja-JP" altLang="en-US" sz="1200" dirty="0"/>
              <a:t>- 鍵を共有する人数が増えるほど、漏洩リスクも増える</a:t>
            </a:r>
          </a:p>
          <a:p>
            <a:pPr algn="l"/>
            <a:r>
              <a:rPr lang="ja-JP" altLang="en-US" sz="1200" dirty="0"/>
              <a:t>このため、鍵管理は対称鍵暗号の最も難しい部分の一つです。</a:t>
            </a:r>
          </a:p>
          <a:p>
            <a:pPr algn="l"/>
            <a:endParaRPr lang="ja-JP" altLang="en-US" sz="1200" dirty="0"/>
          </a:p>
          <a:p>
            <a:pPr algn="l"/>
            <a:r>
              <a:rPr lang="ja-JP" altLang="en-US" sz="1200" dirty="0"/>
              <a:t>対称鍵と非対称鍵の“いいとこ取り”</a:t>
            </a:r>
          </a:p>
          <a:p>
            <a:pPr algn="l"/>
            <a:r>
              <a:rPr lang="ja-JP" altLang="en-US" sz="1200" dirty="0"/>
              <a:t>対称鍵暗号は 非常に高速 ですが、</a:t>
            </a:r>
          </a:p>
          <a:p>
            <a:pPr algn="l"/>
            <a:r>
              <a:rPr lang="ja-JP" altLang="en-US" sz="1200" dirty="0"/>
              <a:t>非対称鍵暗号のような 鍵管理の容易さやデジタル署名機能 は持っていません。</a:t>
            </a:r>
          </a:p>
          <a:p>
            <a:pPr algn="l"/>
            <a:r>
              <a:rPr lang="ja-JP" altLang="en-US" sz="1200" dirty="0"/>
              <a:t>そのため実際のシステムでは：</a:t>
            </a:r>
          </a:p>
          <a:p>
            <a:pPr algn="l"/>
            <a:r>
              <a:rPr lang="ja-JP" altLang="en-US" sz="1200" dirty="0"/>
              <a:t>- 鍵交換 → 非対称鍵（例：RSA、ECC、Diffie-Hellman）</a:t>
            </a:r>
          </a:p>
          <a:p>
            <a:pPr algn="l"/>
            <a:r>
              <a:rPr lang="ja-JP" altLang="en-US" sz="1200" dirty="0"/>
              <a:t>- データ暗号化 → 対称鍵（例：AES）</a:t>
            </a:r>
          </a:p>
          <a:p>
            <a:pPr algn="l"/>
            <a:r>
              <a:rPr lang="ja-JP" altLang="en-US" sz="1200" dirty="0"/>
              <a:t>というように 両者を組み合わせて使用 するのが一般的です。</a:t>
            </a:r>
          </a:p>
          <a:p>
            <a:pPr algn="l"/>
            <a:endParaRPr lang="ja-JP" altLang="en-US" sz="1200" dirty="0"/>
          </a:p>
          <a:p>
            <a:pPr algn="l"/>
            <a:r>
              <a:rPr lang="ja-JP" altLang="en-US" sz="1200" dirty="0"/>
              <a:t>代表的な対称鍵暗号アルゴリズム</a:t>
            </a:r>
          </a:p>
          <a:p>
            <a:pPr algn="l"/>
            <a:r>
              <a:rPr lang="ja-JP" altLang="en-US" sz="1200" dirty="0"/>
              <a:t>現在広く使われている対称鍵暗号は、</a:t>
            </a:r>
          </a:p>
          <a:p>
            <a:pPr algn="l"/>
            <a:r>
              <a:rPr lang="ja-JP" altLang="en-US" sz="1200" dirty="0"/>
              <a:t>数学的に強固であると考えられています。</a:t>
            </a:r>
          </a:p>
          <a:p>
            <a:pPr algn="l"/>
            <a:r>
              <a:rPr lang="ja-JP" altLang="en-US" sz="1200" dirty="0"/>
              <a:t>暗号解析者がアルゴリズムの弱点を突けない場合、</a:t>
            </a:r>
          </a:p>
          <a:p>
            <a:pPr algn="l"/>
            <a:r>
              <a:rPr lang="ja-JP" altLang="en-US" sz="1200" dirty="0"/>
              <a:t>残る攻撃手法は 総当たり（brute force） で鍵を推測することになります。</a:t>
            </a:r>
          </a:p>
          <a:p>
            <a:pPr algn="l"/>
            <a:r>
              <a:rPr lang="ja-JP" altLang="en-US" sz="1200" dirty="0"/>
              <a:t>代表的な対称鍵暗号：</a:t>
            </a:r>
          </a:p>
          <a:p>
            <a:pPr algn="l"/>
            <a:r>
              <a:rPr lang="ja-JP" altLang="en-US" sz="1200" dirty="0"/>
              <a:t>- AES（Advanced Encryption Standard）</a:t>
            </a:r>
          </a:p>
          <a:p>
            <a:pPr algn="l"/>
            <a:r>
              <a:rPr lang="ja-JP" altLang="en-US" sz="1200" dirty="0"/>
              <a:t>- Blowfish</a:t>
            </a:r>
          </a:p>
          <a:p>
            <a:pPr algn="l"/>
            <a:r>
              <a:rPr lang="ja-JP" altLang="en-US" sz="1200" dirty="0"/>
              <a:t>- DES（Data Encryption Standard）</a:t>
            </a:r>
          </a:p>
          <a:p>
            <a:pPr algn="l"/>
            <a:r>
              <a:rPr lang="ja-JP" altLang="en-US" sz="1200" dirty="0"/>
              <a:t>- 3DES（Triple DES）</a:t>
            </a:r>
          </a:p>
          <a:p>
            <a:pPr algn="l"/>
            <a:r>
              <a:rPr lang="ja-JP" altLang="en-US" sz="1200" dirty="0"/>
              <a:t>- IDEA（International Data Encryption Algorithm）</a:t>
            </a:r>
          </a:p>
        </p:txBody>
      </p:sp>
      <p:pic>
        <p:nvPicPr>
          <p:cNvPr id="2" name="図 1">
            <a:extLst>
              <a:ext uri="{FF2B5EF4-FFF2-40B4-BE49-F238E27FC236}">
                <a16:creationId xmlns:a16="http://schemas.microsoft.com/office/drawing/2014/main" id="{8701F120-18C2-4947-B336-A26E3EF29782}"/>
              </a:ext>
            </a:extLst>
          </p:cNvPr>
          <p:cNvPicPr>
            <a:picLocks noChangeAspect="1"/>
          </p:cNvPicPr>
          <p:nvPr/>
        </p:nvPicPr>
        <p:blipFill>
          <a:blip r:embed="rId2"/>
          <a:stretch>
            <a:fillRect/>
          </a:stretch>
        </p:blipFill>
        <p:spPr>
          <a:xfrm>
            <a:off x="541548" y="67732"/>
            <a:ext cx="5774267" cy="328748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6" y="3894666"/>
            <a:ext cx="6852285" cy="7200490"/>
          </a:xfrm>
        </p:spPr>
        <p:txBody>
          <a:bodyPr>
            <a:normAutofit/>
          </a:bodyPr>
          <a:lstStyle/>
          <a:p>
            <a:pPr algn="l"/>
            <a:r>
              <a:rPr lang="ja-JP" altLang="en-US" sz="1400" dirty="0"/>
              <a:t>対称鍵暗号の一種として ストリーム暗号（stream cipher） があります。</a:t>
            </a:r>
          </a:p>
          <a:p>
            <a:pPr algn="l"/>
            <a:r>
              <a:rPr lang="ja-JP" altLang="en-US" sz="1400" dirty="0"/>
              <a:t>ストリーム暗号では、入力データを 1 ビットずつ暗号化 します。</a:t>
            </a:r>
          </a:p>
          <a:p>
            <a:pPr algn="l"/>
            <a:r>
              <a:rPr lang="ja-JP" altLang="en-US" sz="1400" dirty="0"/>
              <a:t>その際、各ビットに対して余分な暗号化データを追加しないため、</a:t>
            </a:r>
          </a:p>
          <a:p>
            <a:pPr algn="l"/>
            <a:r>
              <a:rPr lang="ja-JP" altLang="en-US" sz="1400" dirty="0"/>
              <a:t>• 	平文と暗号文の長さが同じ（プロトコルヘッダやチェックサムを除く）</a:t>
            </a:r>
          </a:p>
          <a:p>
            <a:pPr algn="l"/>
            <a:r>
              <a:rPr lang="ja-JP" altLang="en-US" sz="1400" dirty="0"/>
              <a:t>という特徴があります。</a:t>
            </a:r>
          </a:p>
          <a:p>
            <a:pPr algn="l"/>
            <a:endParaRPr lang="ja-JP" altLang="en-US" sz="1400" dirty="0"/>
          </a:p>
          <a:p>
            <a:pPr algn="l"/>
            <a:r>
              <a:rPr lang="ja-JP" altLang="en-US" sz="1400" dirty="0"/>
              <a:t>代表的なストリーム暗号</a:t>
            </a:r>
          </a:p>
          <a:p>
            <a:pPr algn="l"/>
            <a:r>
              <a:rPr lang="ja-JP" altLang="en-US" sz="1400" dirty="0"/>
              <a:t>• 	RC4</a:t>
            </a:r>
          </a:p>
          <a:p>
            <a:pPr algn="l"/>
            <a:r>
              <a:rPr lang="ja-JP" altLang="en-US" sz="1400" dirty="0"/>
              <a:t>最も広く使われてきたストリーム暗号で、かつて SSL/TLS で一般的でした。</a:t>
            </a:r>
          </a:p>
          <a:p>
            <a:pPr algn="l"/>
            <a:r>
              <a:rPr lang="ja-JP" altLang="en-US" sz="1400" dirty="0"/>
              <a:t>• 	A5/1</a:t>
            </a:r>
          </a:p>
          <a:p>
            <a:pPr algn="l"/>
            <a:r>
              <a:rPr lang="ja-JP" altLang="en-US" sz="1400" dirty="0"/>
              <a:t>GSM 携帯電話の通話や SMS の暗号化に使用。</a:t>
            </a:r>
          </a:p>
          <a:p>
            <a:pPr algn="l"/>
            <a:r>
              <a:rPr lang="ja-JP" altLang="en-US" sz="1400" dirty="0"/>
              <a:t>• 	E0</a:t>
            </a:r>
          </a:p>
          <a:p>
            <a:pPr algn="l"/>
            <a:r>
              <a:rPr lang="ja-JP" altLang="en-US" sz="1400" dirty="0"/>
              <a:t>Bluetooth 通信の保護に使用。</a:t>
            </a:r>
          </a:p>
          <a:p>
            <a:pPr algn="l"/>
            <a:endParaRPr lang="ja-JP" altLang="en-US" sz="1400" dirty="0"/>
          </a:p>
          <a:p>
            <a:pPr algn="l"/>
            <a:r>
              <a:rPr lang="ja-JP" altLang="en-US" sz="1400" dirty="0"/>
              <a:t>ストリーム暗号が使われなくなりつつある理由</a:t>
            </a:r>
          </a:p>
          <a:p>
            <a:pPr algn="l"/>
            <a:r>
              <a:rPr lang="ja-JP" altLang="en-US" sz="1400" dirty="0"/>
              <a:t>ストリーム暗号は 高速 という利点がありますが、</a:t>
            </a:r>
          </a:p>
          <a:p>
            <a:pPr algn="l"/>
            <a:r>
              <a:rPr lang="ja-JP" altLang="en-US" sz="1400" dirty="0"/>
              <a:t>近年は以下の理由で利用が減少しています：</a:t>
            </a:r>
          </a:p>
          <a:p>
            <a:pPr algn="l"/>
            <a:r>
              <a:rPr lang="ja-JP" altLang="en-US" sz="1400" dirty="0"/>
              <a:t>• 	プロトコル側で追加の要件が増え、扱いが複雑化</a:t>
            </a:r>
          </a:p>
          <a:p>
            <a:pPr algn="l"/>
            <a:r>
              <a:rPr lang="ja-JP" altLang="en-US" sz="1400" dirty="0"/>
              <a:t>• 	RC4 をはじめ、いくつかのストリーム暗号に セキュリティ上の懸念 が発生</a:t>
            </a:r>
          </a:p>
          <a:p>
            <a:pPr algn="l"/>
            <a:r>
              <a:rPr lang="ja-JP" altLang="en-US" sz="1400" dirty="0"/>
              <a:t>そのため、現在では AES などの ブロック暗号 が主流になっています。</a:t>
            </a:r>
          </a:p>
        </p:txBody>
      </p:sp>
      <p:pic>
        <p:nvPicPr>
          <p:cNvPr id="2" name="図 1">
            <a:extLst>
              <a:ext uri="{FF2B5EF4-FFF2-40B4-BE49-F238E27FC236}">
                <a16:creationId xmlns:a16="http://schemas.microsoft.com/office/drawing/2014/main" id="{3E634188-E4EF-40B6-8D5A-163712ED848E}"/>
              </a:ext>
            </a:extLst>
          </p:cNvPr>
          <p:cNvPicPr>
            <a:picLocks noChangeAspect="1"/>
          </p:cNvPicPr>
          <p:nvPr/>
        </p:nvPicPr>
        <p:blipFill>
          <a:blip r:embed="rId2"/>
          <a:stretch>
            <a:fillRect/>
          </a:stretch>
        </p:blipFill>
        <p:spPr>
          <a:xfrm>
            <a:off x="160865" y="121884"/>
            <a:ext cx="6536268" cy="370505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545205"/>
            <a:ext cx="6852285" cy="8646795"/>
          </a:xfrm>
        </p:spPr>
        <p:txBody>
          <a:bodyPr>
            <a:noAutofit/>
          </a:bodyPr>
          <a:lstStyle/>
          <a:p>
            <a:pPr algn="l"/>
            <a:r>
              <a:rPr lang="ja-JP" altLang="en-US" sz="1200" dirty="0"/>
              <a:t>以下に、内容を専門的かつ自然で読みやすい 日本語訳（意訳） をまとめます。</a:t>
            </a:r>
          </a:p>
          <a:p>
            <a:pPr algn="l"/>
            <a:r>
              <a:rPr lang="ja-JP" altLang="en-US" sz="1200" dirty="0"/>
              <a:t>ストリーム暗号との対比で、ブロック暗号の仕組みとモードの役割が端的に説明された部分です。</a:t>
            </a:r>
          </a:p>
          <a:p>
            <a:pPr algn="l"/>
            <a:endParaRPr lang="ja-JP" altLang="en-US" sz="1200" dirty="0"/>
          </a:p>
          <a:p>
            <a:pPr algn="l"/>
            <a:r>
              <a:rPr lang="ja-JP" altLang="en-US" sz="1200" dirty="0"/>
              <a:t>日本語訳（意訳）</a:t>
            </a:r>
          </a:p>
          <a:p>
            <a:pPr algn="l"/>
            <a:r>
              <a:rPr lang="ja-JP" altLang="en-US" sz="1200" dirty="0"/>
              <a:t>ストリーム暗号とは異なり、ブロック暗号（block cipher） は</a:t>
            </a:r>
          </a:p>
          <a:p>
            <a:pPr algn="l"/>
            <a:r>
              <a:rPr lang="ja-JP" altLang="en-US" sz="1200" dirty="0"/>
              <a:t>データを 1 ブロックずつ 暗号化します。</a:t>
            </a:r>
          </a:p>
          <a:p>
            <a:pPr algn="l"/>
            <a:r>
              <a:rPr lang="ja-JP" altLang="en-US" sz="1200" dirty="0"/>
              <a:t>一般的なブロックサイズは 8 バイトまたは 16 バイト です。</a:t>
            </a:r>
          </a:p>
          <a:p>
            <a:pPr algn="l"/>
            <a:r>
              <a:rPr lang="ja-JP" altLang="en-US" sz="1200" dirty="0"/>
              <a:t>ブロックサイズは鍵長と一致することもありますが、必ずしもそうではありません。</a:t>
            </a:r>
          </a:p>
          <a:p>
            <a:pPr algn="l"/>
            <a:r>
              <a:rPr lang="ja-JP" altLang="en-US" sz="1200" dirty="0"/>
              <a:t>例えば AES-256 は鍵長が 256 ビットですが、</a:t>
            </a:r>
          </a:p>
          <a:p>
            <a:pPr algn="l"/>
            <a:r>
              <a:rPr lang="ja-JP" altLang="en-US" sz="1200" dirty="0"/>
              <a:t>アルゴリズム自体は 128 ビットのブロック暗号 です。</a:t>
            </a:r>
          </a:p>
          <a:p>
            <a:pPr algn="l"/>
            <a:endParaRPr lang="ja-JP" altLang="en-US" sz="1200" dirty="0"/>
          </a:p>
          <a:p>
            <a:pPr algn="l"/>
            <a:r>
              <a:rPr lang="ja-JP" altLang="en-US" sz="1200" dirty="0"/>
              <a:t>ブロック暗号とパディング</a:t>
            </a:r>
          </a:p>
          <a:p>
            <a:pPr algn="l"/>
            <a:r>
              <a:rPr lang="ja-JP" altLang="en-US" sz="1200" dirty="0"/>
              <a:t>ブロック暗号は、</a:t>
            </a:r>
          </a:p>
          <a:p>
            <a:pPr algn="l"/>
            <a:r>
              <a:rPr lang="ja-JP" altLang="en-US" sz="1200" dirty="0"/>
              <a:t>ブロック長より短いデータをそのまま暗号化することができません。</a:t>
            </a:r>
          </a:p>
          <a:p>
            <a:pPr algn="l"/>
            <a:r>
              <a:rPr lang="ja-JP" altLang="en-US" sz="1200" dirty="0"/>
              <a:t>そのため、最後のブロックが中途半端な長さの場合は</a:t>
            </a:r>
          </a:p>
          <a:p>
            <a:pPr algn="l"/>
            <a:r>
              <a:rPr lang="ja-JP" altLang="en-US" sz="1200" dirty="0"/>
              <a:t>パディング（padding） を使ってブロック長に揃えてから暗号化します。</a:t>
            </a:r>
          </a:p>
          <a:p>
            <a:pPr algn="l"/>
            <a:endParaRPr lang="ja-JP" altLang="en-US" sz="1200" dirty="0"/>
          </a:p>
          <a:p>
            <a:pPr algn="l"/>
            <a:r>
              <a:rPr lang="ja-JP" altLang="en-US" sz="1200" dirty="0"/>
              <a:t>ブロック暗号モード（Block Cipher Modes）</a:t>
            </a:r>
          </a:p>
          <a:p>
            <a:pPr algn="l"/>
            <a:r>
              <a:rPr lang="ja-JP" altLang="en-US" sz="1200" dirty="0"/>
              <a:t>ブロック暗号を実際に使う際には、</a:t>
            </a:r>
          </a:p>
          <a:p>
            <a:pPr algn="l"/>
            <a:r>
              <a:rPr lang="ja-JP" altLang="en-US" sz="1200" dirty="0"/>
              <a:t>どのようにブロックを連結して暗号化するか を決める</a:t>
            </a:r>
          </a:p>
          <a:p>
            <a:pPr algn="l"/>
            <a:r>
              <a:rPr lang="ja-JP" altLang="en-US" sz="1200" dirty="0"/>
              <a:t>「暗号モード（cipher mode）」を選択します。</a:t>
            </a:r>
          </a:p>
          <a:p>
            <a:pPr algn="l"/>
            <a:r>
              <a:rPr lang="ja-JP" altLang="en-US" sz="1200" dirty="0"/>
              <a:t>代表的なモード：</a:t>
            </a:r>
          </a:p>
          <a:p>
            <a:pPr algn="l"/>
            <a:r>
              <a:rPr lang="ja-JP" altLang="en-US" sz="1200" dirty="0"/>
              <a:t>- ECB（Electronic Code Book）</a:t>
            </a:r>
          </a:p>
          <a:p>
            <a:pPr algn="l"/>
            <a:r>
              <a:rPr lang="ja-JP" altLang="en-US" sz="1200" dirty="0"/>
              <a:t>- CBC（Cipher Block Chaining）</a:t>
            </a:r>
          </a:p>
          <a:p>
            <a:pPr algn="l"/>
            <a:r>
              <a:rPr lang="ja-JP" altLang="en-US" sz="1200" dirty="0"/>
              <a:t>- CTR（Counter Mode）</a:t>
            </a:r>
          </a:p>
          <a:p>
            <a:pPr algn="l"/>
            <a:r>
              <a:rPr lang="ja-JP" altLang="en-US" sz="1200" dirty="0"/>
              <a:t>これらのモードによって、</a:t>
            </a:r>
          </a:p>
          <a:p>
            <a:pPr algn="l"/>
            <a:r>
              <a:rPr lang="ja-JP" altLang="en-US" sz="1200" dirty="0"/>
              <a:t>暗号化の安全性や動作特性が大きく変わります。</a:t>
            </a:r>
          </a:p>
          <a:p>
            <a:pPr algn="l"/>
            <a:endParaRPr lang="ja-JP" altLang="en-US" sz="1200" dirty="0"/>
          </a:p>
          <a:p>
            <a:pPr algn="l"/>
            <a:r>
              <a:rPr lang="ja-JP" altLang="en-US" sz="1200" dirty="0"/>
              <a:t>参考</a:t>
            </a:r>
          </a:p>
          <a:p>
            <a:pPr algn="l"/>
            <a:r>
              <a:rPr lang="ja-JP" altLang="en-US" sz="1200" dirty="0"/>
              <a:t>詳細な暗号モードの説明はこのクラスの範囲外ですが、</a:t>
            </a:r>
          </a:p>
          <a:p>
            <a:pPr algn="l"/>
            <a:r>
              <a:rPr lang="ja-JP" altLang="en-US" sz="1200" dirty="0"/>
              <a:t>興味があれば以下を参照できます：</a:t>
            </a:r>
          </a:p>
          <a:p>
            <a:pPr algn="l"/>
            <a:r>
              <a:rPr lang="ja-JP" altLang="en-US" sz="1200" dirty="0"/>
              <a:t>https://en.wikipedia.org/wiki/Block_cipher_mode_of_operation</a:t>
            </a:r>
          </a:p>
        </p:txBody>
      </p:sp>
      <p:pic>
        <p:nvPicPr>
          <p:cNvPr id="2" name="図 1">
            <a:extLst>
              <a:ext uri="{FF2B5EF4-FFF2-40B4-BE49-F238E27FC236}">
                <a16:creationId xmlns:a16="http://schemas.microsoft.com/office/drawing/2014/main" id="{A6DA82A5-63E1-4DB4-8A3C-9395709BC67F}"/>
              </a:ext>
            </a:extLst>
          </p:cNvPr>
          <p:cNvPicPr>
            <a:picLocks noChangeAspect="1"/>
          </p:cNvPicPr>
          <p:nvPr/>
        </p:nvPicPr>
        <p:blipFill>
          <a:blip r:embed="rId2"/>
          <a:stretch>
            <a:fillRect/>
          </a:stretch>
        </p:blipFill>
        <p:spPr>
          <a:xfrm>
            <a:off x="437709" y="90805"/>
            <a:ext cx="5982581" cy="338666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2753061"/>
            <a:ext cx="6852285" cy="9371203"/>
          </a:xfrm>
        </p:spPr>
        <p:txBody>
          <a:bodyPr>
            <a:noAutofit/>
          </a:bodyPr>
          <a:lstStyle/>
          <a:p>
            <a:pPr algn="l"/>
            <a:r>
              <a:rPr lang="ja-JP" altLang="en-US" sz="1050" dirty="0"/>
              <a:t>暗号アルゴリズムには 3 種類 あります：</a:t>
            </a:r>
          </a:p>
          <a:p>
            <a:pPr algn="l"/>
            <a:r>
              <a:rPr lang="ja-JP" altLang="en-US" sz="1050" dirty="0"/>
              <a:t>- 秘密鍵暗号（Secret key）</a:t>
            </a:r>
          </a:p>
          <a:p>
            <a:pPr algn="l"/>
            <a:r>
              <a:rPr lang="ja-JP" altLang="en-US" sz="1050" dirty="0"/>
              <a:t>- 公開鍵暗号（Public key）</a:t>
            </a:r>
          </a:p>
          <a:p>
            <a:pPr algn="l"/>
            <a:r>
              <a:rPr lang="ja-JP" altLang="en-US" sz="1050" dirty="0"/>
              <a:t>- ハッシュ関数（Hash functions）</a:t>
            </a:r>
          </a:p>
          <a:p>
            <a:pPr algn="l"/>
            <a:r>
              <a:rPr lang="ja-JP" altLang="en-US" sz="1050" dirty="0"/>
              <a:t>秘密鍵暗号や公開鍵暗号とは異なり、</a:t>
            </a:r>
          </a:p>
          <a:p>
            <a:pPr algn="l"/>
            <a:r>
              <a:rPr lang="ja-JP" altLang="en-US" sz="1050" dirty="0"/>
              <a:t>ハッシュ関数（メッセージダイジェスト）は鍵を使いません。</a:t>
            </a:r>
          </a:p>
          <a:p>
            <a:pPr algn="l"/>
            <a:r>
              <a:rPr lang="ja-JP" altLang="en-US" sz="1050" dirty="0"/>
              <a:t>ハッシュ関数は、平文（plaintext）から 固定長のハッシュ値 を計算します。</a:t>
            </a:r>
          </a:p>
          <a:p>
            <a:pPr algn="l"/>
            <a:r>
              <a:rPr lang="ja-JP" altLang="en-US" sz="1050" dirty="0"/>
              <a:t>このハッシュ値からは、元の平文の内容や長さを復元することはできません。</a:t>
            </a:r>
          </a:p>
          <a:p>
            <a:pPr algn="l"/>
            <a:endParaRPr lang="ja-JP" altLang="en-US" sz="1050" dirty="0"/>
          </a:p>
          <a:p>
            <a:pPr algn="l"/>
            <a:r>
              <a:rPr lang="ja-JP" altLang="en-US" sz="1050" dirty="0"/>
              <a:t>ハッシュ関数の主な用途：メッセージ完全性（Integrity）</a:t>
            </a:r>
          </a:p>
          <a:p>
            <a:pPr algn="l"/>
            <a:r>
              <a:rPr lang="ja-JP" altLang="en-US" sz="1050" dirty="0"/>
              <a:t>ハッシュ値はメッセージの デジタル指紋 のようなもので、</a:t>
            </a:r>
          </a:p>
          <a:p>
            <a:pPr algn="l"/>
            <a:r>
              <a:rPr lang="ja-JP" altLang="en-US" sz="1050" dirty="0"/>
              <a:t>メッセージが攻撃者やウイルスなどによって 改ざんされていないことを確認 できます。</a:t>
            </a:r>
          </a:p>
          <a:p>
            <a:pPr algn="l"/>
            <a:r>
              <a:rPr lang="ja-JP" altLang="en-US" sz="1050" dirty="0"/>
              <a:t>ハッシュ関数が有効なのは、</a:t>
            </a:r>
          </a:p>
          <a:p>
            <a:pPr algn="l"/>
            <a:r>
              <a:rPr lang="ja-JP" altLang="en-US" sz="1050" dirty="0"/>
              <a:t>異なる平文が同じハッシュ値を生成する確率が極めて低い ためです。</a:t>
            </a:r>
          </a:p>
          <a:p>
            <a:pPr algn="l"/>
            <a:endParaRPr lang="ja-JP" altLang="en-US" sz="1050" dirty="0"/>
          </a:p>
          <a:p>
            <a:pPr algn="l"/>
            <a:r>
              <a:rPr lang="ja-JP" altLang="en-US" sz="1050" dirty="0"/>
              <a:t>代表的なハッシュ関数</a:t>
            </a:r>
          </a:p>
          <a:p>
            <a:pPr algn="l"/>
            <a:r>
              <a:rPr lang="ja-JP" altLang="en-US" sz="1050" dirty="0"/>
              <a:t>MD2</a:t>
            </a:r>
          </a:p>
          <a:p>
            <a:pPr algn="l"/>
            <a:r>
              <a:rPr lang="ja-JP" altLang="en-US" sz="1050" dirty="0"/>
              <a:t>- バイト指向</a:t>
            </a:r>
          </a:p>
          <a:p>
            <a:pPr algn="l"/>
            <a:r>
              <a:rPr lang="ja-JP" altLang="en-US" sz="1050" dirty="0"/>
              <a:t>- 任意長メッセージから 128 ビットのハッシュ値</a:t>
            </a:r>
          </a:p>
          <a:p>
            <a:pPr algn="l"/>
            <a:r>
              <a:rPr lang="ja-JP" altLang="en-US" sz="1050" dirty="0"/>
              <a:t>- スマートカード向けに設計</a:t>
            </a:r>
          </a:p>
          <a:p>
            <a:pPr algn="l"/>
            <a:r>
              <a:rPr lang="ja-JP" altLang="en-US" sz="1050" dirty="0"/>
              <a:t>MD4</a:t>
            </a:r>
          </a:p>
          <a:p>
            <a:pPr algn="l"/>
            <a:r>
              <a:rPr lang="ja-JP" altLang="en-US" sz="1050" dirty="0"/>
              <a:t>- MD2 に似ているが、ソフトウェアで高速処理できるよう設計</a:t>
            </a:r>
          </a:p>
          <a:p>
            <a:pPr algn="l"/>
            <a:r>
              <a:rPr lang="ja-JP" altLang="en-US" sz="1050" dirty="0"/>
              <a:t>MD5</a:t>
            </a:r>
          </a:p>
          <a:p>
            <a:pPr algn="l"/>
            <a:r>
              <a:rPr lang="ja-JP" altLang="en-US" sz="1050" dirty="0"/>
              <a:t>- MD4 を改良したもの</a:t>
            </a:r>
          </a:p>
          <a:p>
            <a:pPr algn="l"/>
            <a:r>
              <a:rPr lang="ja-JP" altLang="en-US" sz="1050" dirty="0"/>
              <a:t>- より多くのデータ操作を行うため MD4 より遅い</a:t>
            </a:r>
          </a:p>
          <a:p>
            <a:pPr algn="l"/>
            <a:r>
              <a:rPr lang="ja-JP" altLang="en-US" sz="1050" dirty="0"/>
              <a:t>- MD4 の弱点が指摘された後に開発</a:t>
            </a:r>
          </a:p>
          <a:p>
            <a:pPr algn="l"/>
            <a:r>
              <a:rPr lang="ja-JP" altLang="en-US" sz="1050" dirty="0"/>
              <a:t>SHA（Secure Hash Algorithm）</a:t>
            </a:r>
          </a:p>
          <a:p>
            <a:pPr algn="l"/>
            <a:r>
              <a:rPr lang="ja-JP" altLang="en-US" sz="1050" dirty="0"/>
              <a:t>- MD4 をモデルに NIST が SHS（Secure Hash Standard）として提案</a:t>
            </a:r>
          </a:p>
          <a:p>
            <a:pPr algn="l"/>
            <a:r>
              <a:rPr lang="ja-JP" altLang="en-US" sz="1050" dirty="0"/>
              <a:t>- SHA-1（160 ビット）として FIPS PUB 180-1 に掲載</a:t>
            </a:r>
          </a:p>
          <a:p>
            <a:pPr algn="l"/>
            <a:r>
              <a:rPr lang="ja-JP" altLang="en-US" sz="1050" dirty="0"/>
              <a:t>- その後、FIPS PUB 180-2（2002 年）で以下が追加：</a:t>
            </a:r>
          </a:p>
          <a:p>
            <a:pPr algn="l"/>
            <a:r>
              <a:rPr lang="ja-JP" altLang="en-US" sz="1050" dirty="0"/>
              <a:t>- SHA-256</a:t>
            </a:r>
          </a:p>
          <a:p>
            <a:pPr algn="l"/>
            <a:r>
              <a:rPr lang="ja-JP" altLang="en-US" sz="1050" dirty="0"/>
              <a:t>- SHA-384</a:t>
            </a:r>
          </a:p>
          <a:p>
            <a:pPr algn="l"/>
            <a:r>
              <a:rPr lang="ja-JP" altLang="en-US" sz="1050" dirty="0"/>
              <a:t>- SHA-512</a:t>
            </a:r>
          </a:p>
          <a:p>
            <a:pPr algn="l"/>
            <a:r>
              <a:rPr lang="ja-JP" altLang="en-US" sz="1050" dirty="0"/>
              <a:t>- さらに後続文書で追加の修正あり</a:t>
            </a:r>
          </a:p>
          <a:p>
            <a:pPr algn="l"/>
            <a:endParaRPr lang="ja-JP" altLang="en-US" sz="1050" dirty="0"/>
          </a:p>
          <a:p>
            <a:pPr algn="l"/>
            <a:r>
              <a:rPr lang="ja-JP" altLang="en-US" sz="1050" dirty="0"/>
              <a:t>参考資料</a:t>
            </a:r>
          </a:p>
          <a:p>
            <a:pPr algn="l"/>
            <a:r>
              <a:rPr lang="ja-JP" altLang="en-US" sz="1050" dirty="0"/>
              <a:t>SHA 標準の詳細：</a:t>
            </a:r>
          </a:p>
          <a:p>
            <a:pPr algn="l"/>
            <a:r>
              <a:rPr lang="ja-JP" altLang="en-US" sz="1050" dirty="0"/>
              <a:t>https://nvlpubs.nist.gov/nistpubs/FIPS/NIST.FIPS.180-4.pdf</a:t>
            </a:r>
          </a:p>
        </p:txBody>
      </p:sp>
      <p:pic>
        <p:nvPicPr>
          <p:cNvPr id="2" name="図 1">
            <a:extLst>
              <a:ext uri="{FF2B5EF4-FFF2-40B4-BE49-F238E27FC236}">
                <a16:creationId xmlns:a16="http://schemas.microsoft.com/office/drawing/2014/main" id="{B9A603D2-189A-4FC1-8D34-B7B5DFBE313F}"/>
              </a:ext>
            </a:extLst>
          </p:cNvPr>
          <p:cNvPicPr>
            <a:picLocks noChangeAspect="1"/>
          </p:cNvPicPr>
          <p:nvPr/>
        </p:nvPicPr>
        <p:blipFill>
          <a:blip r:embed="rId2"/>
          <a:stretch>
            <a:fillRect/>
          </a:stretch>
        </p:blipFill>
        <p:spPr>
          <a:xfrm>
            <a:off x="1135742" y="67732"/>
            <a:ext cx="4586514" cy="260066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278806"/>
            <a:ext cx="6852285" cy="8862392"/>
          </a:xfrm>
        </p:spPr>
        <p:txBody>
          <a:bodyPr>
            <a:noAutofit/>
          </a:bodyPr>
          <a:lstStyle/>
          <a:p>
            <a:pPr algn="l"/>
            <a:r>
              <a:rPr lang="ja-JP" altLang="en-US" sz="800" dirty="0"/>
              <a:t>通常のハッシュ関数を「認証」に使う場合、大きな問題があります。</a:t>
            </a:r>
          </a:p>
          <a:p>
            <a:pPr algn="l"/>
            <a:r>
              <a:rPr lang="ja-JP" altLang="en-US" sz="800" dirty="0"/>
              <a:t>送信者が メッセージ本体とハッシュ値をセットで送る と、</a:t>
            </a:r>
          </a:p>
          <a:p>
            <a:pPr algn="l"/>
            <a:r>
              <a:rPr lang="ja-JP" altLang="en-US" sz="800" dirty="0"/>
              <a:t>MITM（中間者）攻撃者は次のことができてしまいます：</a:t>
            </a:r>
          </a:p>
          <a:p>
            <a:pPr algn="l"/>
            <a:r>
              <a:rPr lang="ja-JP" altLang="en-US" sz="800" dirty="0"/>
              <a:t>1. 	メッセージとハッシュを途中で盗み見る</a:t>
            </a:r>
          </a:p>
          <a:p>
            <a:pPr algn="l"/>
            <a:r>
              <a:rPr lang="ja-JP" altLang="en-US" sz="800" dirty="0"/>
              <a:t>2. 	メッセージを書き換える</a:t>
            </a:r>
          </a:p>
          <a:p>
            <a:pPr algn="l"/>
            <a:r>
              <a:rPr lang="ja-JP" altLang="en-US" sz="800" dirty="0"/>
              <a:t>3. 	書き換えたメッセージに対して 新しいハッシュ値を計算し直して差し替える</a:t>
            </a:r>
          </a:p>
          <a:p>
            <a:pPr algn="l"/>
            <a:r>
              <a:rPr lang="ja-JP" altLang="en-US" sz="800" dirty="0"/>
              <a:t>受信者は「届いたハッシュ値が正しい」ことしか確認できないため、</a:t>
            </a:r>
          </a:p>
          <a:p>
            <a:pPr algn="l"/>
            <a:r>
              <a:rPr lang="ja-JP" altLang="en-US" sz="800" dirty="0"/>
              <a:t>メッセージが改ざんされたことに気づけません。</a:t>
            </a:r>
          </a:p>
          <a:p>
            <a:pPr algn="l"/>
            <a:endParaRPr lang="ja-JP" altLang="en-US" sz="800" dirty="0"/>
          </a:p>
          <a:p>
            <a:pPr algn="l"/>
            <a:r>
              <a:rPr lang="ja-JP" altLang="en-US" sz="800" dirty="0"/>
              <a:t>HMAC（Hash-based Message Authentication Code）による解決</a:t>
            </a:r>
          </a:p>
          <a:p>
            <a:pPr algn="l"/>
            <a:r>
              <a:rPr lang="ja-JP" altLang="en-US" sz="800" dirty="0"/>
              <a:t>この問題を解決するために、IETF は HMAC という仕組みを開発しました。</a:t>
            </a:r>
          </a:p>
          <a:p>
            <a:pPr algn="l"/>
            <a:r>
              <a:rPr lang="ja-JP" altLang="en-US" sz="800" dirty="0"/>
              <a:t>HMAC では、送信者と受信者だけが知っている 秘密値（secret key） を使って</a:t>
            </a:r>
          </a:p>
          <a:p>
            <a:pPr algn="l"/>
            <a:r>
              <a:rPr lang="ja-JP" altLang="en-US" sz="800" dirty="0"/>
              <a:t>ハッシュ値を計算します。</a:t>
            </a:r>
          </a:p>
          <a:p>
            <a:pPr algn="l"/>
            <a:r>
              <a:rPr lang="ja-JP" altLang="en-US" sz="800" dirty="0"/>
              <a:t>そのため、攻撃者がメッセージを改ざんしても：</a:t>
            </a:r>
          </a:p>
          <a:p>
            <a:pPr algn="l"/>
            <a:r>
              <a:rPr lang="ja-JP" altLang="en-US" sz="800" dirty="0"/>
              <a:t>• 	秘密値を知らないため</a:t>
            </a:r>
          </a:p>
          <a:p>
            <a:pPr algn="l"/>
            <a:r>
              <a:rPr lang="ja-JP" altLang="en-US" sz="800" dirty="0"/>
              <a:t>• 	正しい HMAC を再計算できない</a:t>
            </a:r>
          </a:p>
          <a:p>
            <a:pPr algn="l"/>
            <a:r>
              <a:rPr lang="ja-JP" altLang="en-US" sz="800" dirty="0"/>
              <a:t>つまり、改ざんが確実に検出できる という仕組みです。</a:t>
            </a:r>
          </a:p>
          <a:p>
            <a:pPr algn="l"/>
            <a:endParaRPr lang="ja-JP" altLang="en-US" sz="800" dirty="0"/>
          </a:p>
          <a:p>
            <a:pPr algn="l"/>
            <a:r>
              <a:rPr lang="ja-JP" altLang="en-US" sz="800" dirty="0"/>
              <a:t>HMAC の特徴</a:t>
            </a:r>
          </a:p>
          <a:p>
            <a:pPr algn="l"/>
            <a:r>
              <a:rPr lang="ja-JP" altLang="en-US" sz="800" dirty="0"/>
              <a:t>• 	HMAC はハッシュ関数とは独立した仕組み</a:t>
            </a:r>
          </a:p>
          <a:p>
            <a:pPr algn="l"/>
            <a:r>
              <a:rPr lang="ja-JP" altLang="en-US" sz="800" dirty="0"/>
              <a:t>• 	どのハッシュ関数でも HMAC を構成できる</a:t>
            </a:r>
          </a:p>
          <a:p>
            <a:pPr algn="l"/>
            <a:r>
              <a:rPr lang="ja-JP" altLang="en-US" sz="800" dirty="0"/>
              <a:t>• 	例：HMAC-MD5、HMAC-SHA-512 など</a:t>
            </a:r>
          </a:p>
          <a:p>
            <a:pPr algn="l"/>
            <a:endParaRPr lang="ja-JP" altLang="en-US" sz="800" dirty="0"/>
          </a:p>
          <a:p>
            <a:pPr algn="l"/>
            <a:r>
              <a:rPr lang="ja-JP" altLang="en-US" sz="800" dirty="0"/>
              <a:t>HMAC の計算手順（概要）</a:t>
            </a:r>
          </a:p>
          <a:p>
            <a:pPr algn="l"/>
            <a:r>
              <a:rPr lang="ja-JP" altLang="en-US" sz="800" dirty="0"/>
              <a:t>HMAC はハッシュ関数を 2 回 使います。</a:t>
            </a:r>
          </a:p>
          <a:p>
            <a:pPr algn="l"/>
            <a:r>
              <a:rPr lang="ja-JP" altLang="en-US" sz="800" dirty="0"/>
              <a:t>1. 	内側ハッシュ（inner hash）</a:t>
            </a:r>
          </a:p>
          <a:p>
            <a:pPr algn="l"/>
            <a:r>
              <a:rPr lang="ja-JP" altLang="en-US" sz="800" dirty="0"/>
              <a:t>• 	秘密鍵 K を 0x36（IAD）と XOR</a:t>
            </a:r>
          </a:p>
          <a:p>
            <a:pPr algn="l"/>
            <a:r>
              <a:rPr lang="ja-JP" altLang="en-US" sz="800" dirty="0"/>
              <a:t>• 	それをメッセージ M と連結</a:t>
            </a:r>
          </a:p>
          <a:p>
            <a:pPr algn="l"/>
            <a:r>
              <a:rPr lang="ja-JP" altLang="en-US" sz="800" dirty="0"/>
              <a:t>• 	ハッシュ関数で計算 → inner hash</a:t>
            </a:r>
          </a:p>
          <a:p>
            <a:pPr algn="l"/>
            <a:r>
              <a:rPr lang="ja-JP" altLang="en-US" sz="800" dirty="0"/>
              <a:t>2. 	外側ハッシュ（outer hash）</a:t>
            </a:r>
          </a:p>
          <a:p>
            <a:pPr algn="l"/>
            <a:r>
              <a:rPr lang="ja-JP" altLang="en-US" sz="800" dirty="0"/>
              <a:t>• 	秘密鍵 K を 0x5c（opad）と XOR</a:t>
            </a:r>
          </a:p>
          <a:p>
            <a:pPr algn="l"/>
            <a:r>
              <a:rPr lang="ja-JP" altLang="en-US" sz="800" dirty="0"/>
              <a:t>• 	inner hash と連結</a:t>
            </a:r>
          </a:p>
          <a:p>
            <a:pPr algn="l"/>
            <a:r>
              <a:rPr lang="ja-JP" altLang="en-US" sz="800" dirty="0"/>
              <a:t>• 	再度ハッシュ関数で計算 → HMAC 完成</a:t>
            </a:r>
          </a:p>
          <a:p>
            <a:pPr algn="l"/>
            <a:r>
              <a:rPr lang="ja-JP" altLang="en-US" sz="800" dirty="0"/>
              <a:t>この二重構造により、</a:t>
            </a:r>
          </a:p>
          <a:p>
            <a:pPr algn="l"/>
            <a:r>
              <a:rPr lang="ja-JP" altLang="en-US" sz="800" dirty="0"/>
              <a:t>鍵の漏洩を防ぎつつ、改ざん検知能力を強化 しています。</a:t>
            </a:r>
          </a:p>
          <a:p>
            <a:pPr algn="l"/>
            <a:endParaRPr lang="ja-JP" altLang="en-US" sz="800" dirty="0"/>
          </a:p>
          <a:p>
            <a:pPr algn="l"/>
            <a:r>
              <a:rPr lang="ja-JP" altLang="en-US" sz="800" dirty="0"/>
              <a:t>HMAC の計算ツール</a:t>
            </a:r>
          </a:p>
          <a:p>
            <a:pPr algn="l"/>
            <a:r>
              <a:rPr lang="ja-JP" altLang="en-US" sz="800" dirty="0"/>
              <a:t>UNIX 系 OS に標準搭載されている  や  は</a:t>
            </a:r>
          </a:p>
          <a:p>
            <a:pPr algn="l"/>
            <a:r>
              <a:rPr lang="ja-JP" altLang="en-US" sz="800" dirty="0"/>
              <a:t>通常のハッシュ値しか計算できず、HMAC には対応していません。</a:t>
            </a:r>
          </a:p>
          <a:p>
            <a:pPr algn="l"/>
            <a:r>
              <a:rPr lang="ja-JP" altLang="en-US" sz="800" dirty="0"/>
              <a:t>HMAC を計算するには、</a:t>
            </a:r>
          </a:p>
          <a:p>
            <a:pPr algn="l"/>
            <a:r>
              <a:rPr lang="ja-JP" altLang="en-US" sz="800" dirty="0"/>
              <a:t>OpenSSL のコマンドラインツール を使用します。</a:t>
            </a:r>
          </a:p>
          <a:p>
            <a:pPr algn="l"/>
            <a:r>
              <a:rPr lang="ja-JP" altLang="en-US" sz="800" dirty="0"/>
              <a:t>例（秘密値とファイル名を指定して HMAC を計算）：</a:t>
            </a:r>
          </a:p>
        </p:txBody>
      </p:sp>
      <p:pic>
        <p:nvPicPr>
          <p:cNvPr id="4" name="図形 3"/>
          <p:cNvPicPr>
            <a:picLocks noChangeAspect="1"/>
          </p:cNvPicPr>
          <p:nvPr/>
        </p:nvPicPr>
        <p:blipFill>
          <a:blip r:embed="rId2"/>
          <a:stretch>
            <a:fillRect/>
          </a:stretch>
        </p:blipFill>
        <p:spPr>
          <a:xfrm>
            <a:off x="1016003" y="2854362"/>
            <a:ext cx="4846320" cy="337820"/>
          </a:xfrm>
          <a:prstGeom prst="rect">
            <a:avLst/>
          </a:prstGeom>
        </p:spPr>
      </p:pic>
      <p:pic>
        <p:nvPicPr>
          <p:cNvPr id="2" name="図 1">
            <a:extLst>
              <a:ext uri="{FF2B5EF4-FFF2-40B4-BE49-F238E27FC236}">
                <a16:creationId xmlns:a16="http://schemas.microsoft.com/office/drawing/2014/main" id="{FBF1B2EE-8B14-483B-948C-1EC37B187591}"/>
              </a:ext>
            </a:extLst>
          </p:cNvPr>
          <p:cNvPicPr>
            <a:picLocks noChangeAspect="1"/>
          </p:cNvPicPr>
          <p:nvPr/>
        </p:nvPicPr>
        <p:blipFill>
          <a:blip r:embed="rId3"/>
          <a:stretch>
            <a:fillRect/>
          </a:stretch>
        </p:blipFill>
        <p:spPr>
          <a:xfrm>
            <a:off x="968123" y="50800"/>
            <a:ext cx="4916036" cy="278662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956079"/>
            <a:ext cx="3429000" cy="9185122"/>
          </a:xfrm>
        </p:spPr>
        <p:txBody>
          <a:bodyPr>
            <a:noAutofit/>
          </a:bodyPr>
          <a:lstStyle/>
          <a:p>
            <a:pPr algn="l"/>
            <a:r>
              <a:rPr lang="ja-JP" altLang="en-US" sz="1200" dirty="0"/>
              <a:t>対称鍵暗号は、鍵の管理が非常に難しい という問題があります。</a:t>
            </a:r>
          </a:p>
          <a:p>
            <a:pPr algn="l"/>
            <a:r>
              <a:rPr lang="ja-JP" altLang="en-US" sz="1200" dirty="0"/>
              <a:t>特に e コマースのような大規模環境では、</a:t>
            </a:r>
          </a:p>
          <a:p>
            <a:pPr algn="l"/>
            <a:r>
              <a:rPr lang="ja-JP" altLang="en-US" sz="1200" dirty="0"/>
              <a:t>対称鍵だけで安全な通信を成立させるのはほぼ不可能です。</a:t>
            </a:r>
          </a:p>
          <a:p>
            <a:pPr algn="l"/>
            <a:r>
              <a:rPr lang="ja-JP" altLang="en-US" sz="1200" dirty="0"/>
              <a:t>そこで、公開鍵暗号を使って 共有メッセージ鍵（セッション鍵） を生成したり、</a:t>
            </a:r>
          </a:p>
          <a:p>
            <a:pPr algn="l"/>
            <a:r>
              <a:rPr lang="ja-JP" altLang="en-US" sz="1200" dirty="0"/>
              <a:t>Diffie-Hellman のようなアルゴリズムで 秘密鍵を安全に交換 します。</a:t>
            </a:r>
          </a:p>
          <a:p>
            <a:pPr algn="l"/>
            <a:r>
              <a:rPr lang="ja-JP" altLang="en-US" sz="1200" dirty="0"/>
              <a:t>一般的な考え方はこうです：</a:t>
            </a:r>
          </a:p>
          <a:p>
            <a:pPr algn="l"/>
            <a:r>
              <a:rPr lang="ja-JP" altLang="en-US" sz="1200" dirty="0"/>
              <a:t>• 	セッション開始時に 一度だけ 鍵交換を行う</a:t>
            </a:r>
          </a:p>
          <a:p>
            <a:pPr algn="l"/>
            <a:r>
              <a:rPr lang="ja-JP" altLang="en-US" sz="1200" dirty="0"/>
              <a:t>• 	その後の通信は高速な 対称鍵暗号 で保護する</a:t>
            </a:r>
          </a:p>
          <a:p>
            <a:pPr algn="l"/>
            <a:r>
              <a:rPr lang="ja-JP" altLang="en-US" sz="1200" dirty="0"/>
              <a:t>たとえば、クレジットカード決済のために Web サイトへアクセスする場合などが典型例です。</a:t>
            </a:r>
          </a:p>
          <a:p>
            <a:pPr algn="l"/>
            <a:endParaRPr lang="ja-JP" altLang="en-US" sz="1200" dirty="0"/>
          </a:p>
          <a:p>
            <a:pPr algn="l"/>
            <a:r>
              <a:rPr lang="ja-JP" altLang="en-US" sz="1200" dirty="0"/>
              <a:t>公開鍵暗号（非対称暗号）とは</a:t>
            </a:r>
          </a:p>
          <a:p>
            <a:pPr algn="l"/>
            <a:r>
              <a:rPr lang="ja-JP" altLang="en-US" sz="1200" dirty="0"/>
              <a:t>公開鍵暗号（asymmetric encryption）は 2 </a:t>
            </a:r>
            <a:r>
              <a:rPr lang="ja-JP" altLang="en-US" sz="1200" dirty="0" err="1"/>
              <a:t>つの</a:t>
            </a:r>
            <a:r>
              <a:rPr lang="ja-JP" altLang="en-US" sz="1200" dirty="0"/>
              <a:t>鍵 を使います：</a:t>
            </a:r>
          </a:p>
          <a:p>
            <a:pPr algn="l"/>
            <a:r>
              <a:rPr lang="ja-JP" altLang="en-US" sz="1200" dirty="0"/>
              <a:t>• 	暗号化に使う鍵</a:t>
            </a:r>
          </a:p>
          <a:p>
            <a:pPr algn="l"/>
            <a:r>
              <a:rPr lang="ja-JP" altLang="en-US" sz="1200" dirty="0"/>
              <a:t>• 	復号に使う鍵</a:t>
            </a:r>
          </a:p>
          <a:p>
            <a:pPr algn="l"/>
            <a:r>
              <a:rPr lang="ja-JP" altLang="en-US" sz="1200" dirty="0"/>
              <a:t>数学的には、片方の鍵で暗号化したものは、もう片方の鍵でしか復号できません。</a:t>
            </a:r>
          </a:p>
          <a:p>
            <a:pPr algn="l"/>
            <a:r>
              <a:rPr lang="ja-JP" altLang="en-US" sz="1200" dirty="0"/>
              <a:t>公開鍵暗号の主な用途：</a:t>
            </a:r>
          </a:p>
          <a:p>
            <a:pPr algn="l"/>
            <a:r>
              <a:rPr lang="ja-JP" altLang="en-US" sz="1200" dirty="0"/>
              <a:t>• 	鍵交換（対称鍵のための鍵配送）</a:t>
            </a:r>
          </a:p>
          <a:p>
            <a:pPr algn="l"/>
            <a:r>
              <a:rPr lang="ja-JP" altLang="en-US" sz="1200" dirty="0"/>
              <a:t>• 	認証（相手が本物であることの証明）</a:t>
            </a:r>
          </a:p>
          <a:p>
            <a:pPr algn="l"/>
            <a:r>
              <a:rPr lang="ja-JP" altLang="en-US" sz="1200" dirty="0"/>
              <a:t>• 	否認防止（送信者が後から否定できないようにする）</a:t>
            </a:r>
          </a:p>
          <a:p>
            <a:pPr algn="l"/>
            <a:endParaRPr lang="ja-JP" altLang="en-US" sz="1200" dirty="0"/>
          </a:p>
          <a:p>
            <a:pPr algn="l"/>
            <a:r>
              <a:rPr lang="ja-JP" altLang="en-US" sz="1200" dirty="0"/>
              <a:t>公開鍵暗号の誕生：Diffie-Hellman と Hellman の功績</a:t>
            </a:r>
          </a:p>
          <a:p>
            <a:pPr algn="l"/>
            <a:r>
              <a:rPr lang="ja-JP" altLang="en-US" sz="1200" dirty="0"/>
              <a:t>スタンフォード大学の Martin Hellman 教授と</a:t>
            </a:r>
          </a:p>
          <a:p>
            <a:pPr algn="l"/>
            <a:r>
              <a:rPr lang="ja-JP" altLang="en-US" sz="1200" dirty="0"/>
              <a:t>大学院生 Whitfield Diffie は 1976 年に</a:t>
            </a:r>
          </a:p>
          <a:p>
            <a:pPr algn="l"/>
            <a:r>
              <a:rPr lang="ja-JP" altLang="en-US" sz="1200" dirty="0"/>
              <a:t>現代的な公開鍵暗号の概念を初めて公開しました。</a:t>
            </a:r>
          </a:p>
          <a:p>
            <a:pPr algn="l"/>
            <a:r>
              <a:rPr lang="ja-JP" altLang="en-US" sz="1200" dirty="0"/>
              <a:t>彼らの論文では、</a:t>
            </a:r>
          </a:p>
          <a:p>
            <a:pPr algn="l"/>
            <a:r>
              <a:rPr lang="ja-JP" altLang="en-US" sz="1200" dirty="0"/>
              <a:t>秘密鍵を事前共有しなくても、安全な通信ができる仕組み</a:t>
            </a:r>
          </a:p>
          <a:p>
            <a:pPr algn="l"/>
            <a:r>
              <a:rPr lang="ja-JP" altLang="en-US" sz="1200" dirty="0"/>
              <a:t>が説明されました。</a:t>
            </a:r>
          </a:p>
        </p:txBody>
      </p:sp>
      <p:pic>
        <p:nvPicPr>
          <p:cNvPr id="2" name="図 1">
            <a:extLst>
              <a:ext uri="{FF2B5EF4-FFF2-40B4-BE49-F238E27FC236}">
                <a16:creationId xmlns:a16="http://schemas.microsoft.com/office/drawing/2014/main" id="{CE1FDCFD-DF89-496F-9688-A331F91F1719}"/>
              </a:ext>
            </a:extLst>
          </p:cNvPr>
          <p:cNvPicPr>
            <a:picLocks noChangeAspect="1"/>
          </p:cNvPicPr>
          <p:nvPr/>
        </p:nvPicPr>
        <p:blipFill>
          <a:blip r:embed="rId2"/>
          <a:stretch>
            <a:fillRect/>
          </a:stretch>
        </p:blipFill>
        <p:spPr>
          <a:xfrm>
            <a:off x="935397" y="67732"/>
            <a:ext cx="4987206" cy="2827867"/>
          </a:xfrm>
          <a:prstGeom prst="rect">
            <a:avLst/>
          </a:prstGeom>
        </p:spPr>
      </p:pic>
      <p:sp>
        <p:nvSpPr>
          <p:cNvPr id="4" name="サブタイトル 2">
            <a:extLst>
              <a:ext uri="{FF2B5EF4-FFF2-40B4-BE49-F238E27FC236}">
                <a16:creationId xmlns:a16="http://schemas.microsoft.com/office/drawing/2014/main" id="{AB4A5868-9232-4425-A675-26DE57E48471}"/>
              </a:ext>
            </a:extLst>
          </p:cNvPr>
          <p:cNvSpPr txBox="1">
            <a:spLocks/>
          </p:cNvSpPr>
          <p:nvPr/>
        </p:nvSpPr>
        <p:spPr>
          <a:xfrm>
            <a:off x="3429000" y="2956080"/>
            <a:ext cx="3429000" cy="5087254"/>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公開鍵暗号を支える数学：トラップドア関数</a:t>
            </a:r>
          </a:p>
          <a:p>
            <a:pPr algn="l"/>
            <a:r>
              <a:rPr lang="ja-JP" altLang="en-US" sz="1200" dirty="0"/>
              <a:t>公開鍵暗号は トラップドア関数（trapdoor function） と呼ばれる</a:t>
            </a:r>
          </a:p>
          <a:p>
            <a:pPr algn="l"/>
            <a:r>
              <a:rPr lang="ja-JP" altLang="en-US" sz="1200" dirty="0"/>
              <a:t>数学的性質に基づいています。</a:t>
            </a:r>
          </a:p>
          <a:p>
            <a:pPr algn="l"/>
            <a:r>
              <a:rPr lang="ja-JP" altLang="en-US" sz="1200" dirty="0"/>
              <a:t>トラップドア関数とは：</a:t>
            </a:r>
          </a:p>
          <a:p>
            <a:pPr algn="l"/>
            <a:r>
              <a:rPr lang="ja-JP" altLang="en-US" sz="1200" dirty="0"/>
              <a:t>• 	正方向の計算は簡単</a:t>
            </a:r>
          </a:p>
          <a:p>
            <a:pPr algn="l"/>
            <a:r>
              <a:rPr lang="ja-JP" altLang="en-US" sz="1200" dirty="0"/>
              <a:t>• 	逆方向（元に戻す計算）は非常に難しい</a:t>
            </a:r>
          </a:p>
          <a:p>
            <a:pPr algn="l"/>
            <a:r>
              <a:rPr lang="ja-JP" altLang="en-US" sz="1200" dirty="0"/>
              <a:t>という特徴を持つ関数です。</a:t>
            </a:r>
          </a:p>
          <a:p>
            <a:pPr algn="l"/>
            <a:r>
              <a:rPr lang="ja-JP" altLang="en-US" sz="1200" dirty="0"/>
              <a:t>例として：</a:t>
            </a:r>
          </a:p>
          <a:p>
            <a:pPr algn="l"/>
            <a:r>
              <a:rPr lang="ja-JP" altLang="en-US" sz="1200" dirty="0"/>
              <a:t>● 1. 乗算 vs 因数分解</a:t>
            </a:r>
          </a:p>
          <a:p>
            <a:pPr algn="l"/>
            <a:r>
              <a:rPr lang="ja-JP" altLang="en-US" sz="1200" dirty="0"/>
              <a:t>• 	9 × 16 = 144 は簡単</a:t>
            </a:r>
          </a:p>
          <a:p>
            <a:pPr algn="l"/>
            <a:r>
              <a:rPr lang="ja-JP" altLang="en-US" sz="1200" dirty="0"/>
              <a:t>• 	144 を因数分解して元の 9 と 16 を特定するのは難しい</a:t>
            </a:r>
          </a:p>
          <a:p>
            <a:pPr algn="l"/>
            <a:r>
              <a:rPr lang="ja-JP" altLang="en-US" sz="1200" dirty="0"/>
              <a:t>● 2. 累乗 vs 対数</a:t>
            </a:r>
          </a:p>
          <a:p>
            <a:pPr algn="l"/>
            <a:r>
              <a:rPr lang="ja-JP" altLang="en-US" sz="1200" dirty="0"/>
              <a:t>• 	3⁶ = 729 は簡単</a:t>
            </a:r>
          </a:p>
          <a:p>
            <a:pPr algn="l"/>
            <a:r>
              <a:rPr lang="ja-JP" altLang="en-US" sz="1200" dirty="0"/>
              <a:t>• 	729 から「どの x と y の組で x^y = 729 になるか」を求めるのは難しい</a:t>
            </a:r>
          </a:p>
          <a:p>
            <a:pPr algn="l"/>
            <a:r>
              <a:rPr lang="ja-JP" altLang="en-US" sz="1200" dirty="0"/>
              <a:t>これらは単純な例ですが、</a:t>
            </a:r>
          </a:p>
          <a:p>
            <a:pPr algn="l"/>
            <a:r>
              <a:rPr lang="ja-JP" altLang="en-US" sz="1200" dirty="0"/>
              <a:t>「正方向は簡単・逆方向は難しい」という</a:t>
            </a:r>
          </a:p>
          <a:p>
            <a:pPr algn="l"/>
            <a:r>
              <a:rPr lang="ja-JP" altLang="en-US" sz="1200" dirty="0"/>
              <a:t>公開鍵暗号の本質を示しています。</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0"/>
            <a:ext cx="3429000" cy="6587067"/>
          </a:xfrm>
        </p:spPr>
        <p:txBody>
          <a:bodyPr>
            <a:noAutofit/>
          </a:bodyPr>
          <a:lstStyle/>
          <a:p>
            <a:pPr algn="l"/>
            <a:r>
              <a:rPr lang="ja-JP" altLang="en-US" sz="1200" dirty="0"/>
              <a:t>実際の非対称暗号アルゴリズムでは、</a:t>
            </a:r>
          </a:p>
          <a:p>
            <a:pPr algn="l"/>
            <a:r>
              <a:rPr lang="ja-JP" altLang="en-US" sz="1200" dirty="0"/>
              <a:t>数百桁にもなる巨大な素数 が使われます。</a:t>
            </a:r>
          </a:p>
          <a:p>
            <a:pPr algn="l"/>
            <a:r>
              <a:rPr lang="ja-JP" altLang="en-US" sz="1200" dirty="0"/>
              <a:t>例えば、300 桁の素数を 2 </a:t>
            </a:r>
            <a:r>
              <a:rPr lang="ja-JP" altLang="en-US" sz="1200" dirty="0" err="1"/>
              <a:t>つ</a:t>
            </a:r>
            <a:r>
              <a:rPr lang="ja-JP" altLang="en-US" sz="1200" dirty="0"/>
              <a:t>掛け合わせると 600 桁の数になりますが、</a:t>
            </a:r>
          </a:p>
          <a:p>
            <a:pPr algn="l"/>
            <a:r>
              <a:rPr lang="ja-JP" altLang="en-US" sz="1200" dirty="0"/>
              <a:t>この 600 桁の数を 元の 2 </a:t>
            </a:r>
            <a:r>
              <a:rPr lang="ja-JP" altLang="en-US" sz="1200" dirty="0" err="1"/>
              <a:t>つの</a:t>
            </a:r>
            <a:r>
              <a:rPr lang="ja-JP" altLang="en-US" sz="1200" dirty="0"/>
              <a:t>素数に因数分解することは、</a:t>
            </a:r>
          </a:p>
          <a:p>
            <a:pPr algn="l"/>
            <a:r>
              <a:rPr lang="ja-JP" altLang="en-US" sz="1200" dirty="0"/>
              <a:t>現在の既知の手法では不可能に近い とされています。</a:t>
            </a:r>
          </a:p>
          <a:p>
            <a:pPr algn="l"/>
            <a:r>
              <a:rPr lang="ja-JP" altLang="en-US" sz="1200" dirty="0"/>
              <a:t>このように、問題を現実的な時間内に解くことができない場合、</a:t>
            </a:r>
          </a:p>
          <a:p>
            <a:pPr algn="l"/>
            <a:r>
              <a:rPr lang="ja-JP" altLang="en-US" sz="1200" dirty="0"/>
              <a:t>その問題は 「計算困難（intractable）」 と呼ばれます。</a:t>
            </a:r>
          </a:p>
          <a:p>
            <a:pPr algn="l"/>
            <a:endParaRPr lang="ja-JP" altLang="en-US" sz="1200" dirty="0"/>
          </a:p>
          <a:p>
            <a:pPr algn="l"/>
            <a:r>
              <a:rPr lang="ja-JP" altLang="en-US" sz="1200" dirty="0"/>
              <a:t>非対称鍵の性質</a:t>
            </a:r>
          </a:p>
          <a:p>
            <a:pPr algn="l"/>
            <a:r>
              <a:rPr lang="ja-JP" altLang="en-US" sz="1200" dirty="0"/>
              <a:t>非対称暗号では、鍵は ペアで生成 され、数学的に関連しています。</a:t>
            </a:r>
          </a:p>
          <a:p>
            <a:pPr algn="l"/>
            <a:r>
              <a:rPr lang="ja-JP" altLang="en-US" sz="1200" dirty="0"/>
              <a:t>しかし、第三者が片方の鍵を知っても、</a:t>
            </a:r>
          </a:p>
          <a:p>
            <a:pPr algn="l"/>
            <a:r>
              <a:rPr lang="ja-JP" altLang="en-US" sz="1200" dirty="0"/>
              <a:t>もう片方の鍵を導き出すことはできません。</a:t>
            </a:r>
          </a:p>
          <a:p>
            <a:pPr algn="l"/>
            <a:r>
              <a:rPr lang="ja-JP" altLang="en-US" sz="1200" dirty="0"/>
              <a:t>- 一方の鍵で暗号化</a:t>
            </a:r>
          </a:p>
          <a:p>
            <a:pPr algn="l"/>
            <a:r>
              <a:rPr lang="ja-JP" altLang="en-US" sz="1200" dirty="0"/>
              <a:t>- もう一方の鍵で復号</a:t>
            </a:r>
          </a:p>
          <a:p>
            <a:pPr algn="l"/>
            <a:r>
              <a:rPr lang="ja-JP" altLang="en-US" sz="1200" dirty="0"/>
              <a:t>という仕組みで、どちらを先に使っても成立します。</a:t>
            </a:r>
          </a:p>
          <a:p>
            <a:pPr algn="l"/>
            <a:r>
              <a:rPr lang="ja-JP" altLang="en-US" sz="1200" dirty="0"/>
              <a:t>現実の利用では、非対称暗号は主に：</a:t>
            </a:r>
          </a:p>
          <a:p>
            <a:pPr algn="l"/>
            <a:r>
              <a:rPr lang="ja-JP" altLang="en-US" sz="1200" dirty="0"/>
              <a:t>- 対称鍵暗号の鍵交換</a:t>
            </a:r>
          </a:p>
          <a:p>
            <a:pPr algn="l"/>
            <a:r>
              <a:rPr lang="ja-JP" altLang="en-US" sz="1200" dirty="0"/>
              <a:t>- 認証</a:t>
            </a:r>
          </a:p>
          <a:p>
            <a:pPr algn="l"/>
            <a:r>
              <a:rPr lang="ja-JP" altLang="en-US" sz="1200" dirty="0"/>
              <a:t>- 否認防止（デジタル署名）</a:t>
            </a:r>
          </a:p>
          <a:p>
            <a:pPr algn="l"/>
            <a:r>
              <a:rPr lang="ja-JP" altLang="en-US" sz="1200" dirty="0"/>
              <a:t>に使われます。</a:t>
            </a:r>
          </a:p>
        </p:txBody>
      </p:sp>
      <p:sp>
        <p:nvSpPr>
          <p:cNvPr id="4" name="サブタイトル 2">
            <a:extLst>
              <a:ext uri="{FF2B5EF4-FFF2-40B4-BE49-F238E27FC236}">
                <a16:creationId xmlns:a16="http://schemas.microsoft.com/office/drawing/2014/main" id="{0F9F937F-92ED-4594-BEE3-8D0367F0B088}"/>
              </a:ext>
            </a:extLst>
          </p:cNvPr>
          <p:cNvSpPr txBox="1">
            <a:spLocks/>
          </p:cNvSpPr>
          <p:nvPr/>
        </p:nvSpPr>
        <p:spPr>
          <a:xfrm>
            <a:off x="3428998" y="0"/>
            <a:ext cx="3429001" cy="1219200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まとめ：非対称暗号は遅いが不可欠</a:t>
            </a:r>
          </a:p>
          <a:p>
            <a:pPr algn="l"/>
            <a:r>
              <a:rPr lang="ja-JP" altLang="en-US" sz="1200" dirty="0"/>
              <a:t>非対称暗号は対称鍵暗号に比べて 非常に遅い ですが、</a:t>
            </a:r>
          </a:p>
          <a:p>
            <a:pPr algn="l"/>
            <a:r>
              <a:rPr lang="ja-JP" altLang="en-US" sz="1200" dirty="0"/>
              <a:t>鍵管理やデジタル署名といった強力な機能を持つため、</a:t>
            </a:r>
          </a:p>
          <a:p>
            <a:pPr algn="l"/>
            <a:r>
              <a:rPr lang="ja-JP" altLang="en-US" sz="1200" dirty="0"/>
              <a:t>対称鍵暗号と組み合わせて広く利用されています。</a:t>
            </a:r>
          </a:p>
          <a:p>
            <a:pPr algn="l"/>
            <a:endParaRPr lang="ja-JP" altLang="en-US" sz="1200" dirty="0"/>
          </a:p>
          <a:p>
            <a:pPr algn="l"/>
            <a:r>
              <a:rPr lang="ja-JP" altLang="en-US" sz="1200" dirty="0"/>
              <a:t>非対称暗号の歴史：誰が本当に発明したのか？</a:t>
            </a:r>
          </a:p>
          <a:p>
            <a:pPr algn="l"/>
            <a:r>
              <a:rPr lang="ja-JP" altLang="en-US" sz="1200" dirty="0"/>
              <a:t>この分野の歴史は少し複雑です。</a:t>
            </a:r>
          </a:p>
          <a:p>
            <a:pPr algn="l"/>
            <a:r>
              <a:rPr lang="ja-JP" altLang="en-US" sz="1200" dirty="0"/>
              <a:t>Diffie と Hellman（1976）</a:t>
            </a:r>
          </a:p>
          <a:p>
            <a:pPr algn="l"/>
            <a:r>
              <a:rPr lang="ja-JP" altLang="en-US" sz="1200" dirty="0"/>
              <a:t>- 公開鍵暗号の概念を初めて「公開」した人物</a:t>
            </a:r>
          </a:p>
          <a:p>
            <a:pPr algn="l"/>
            <a:r>
              <a:rPr lang="ja-JP" altLang="en-US" sz="1200" dirty="0"/>
              <a:t>- 論文「New Directions in Cryptography」で</a:t>
            </a:r>
          </a:p>
          <a:p>
            <a:pPr algn="l"/>
            <a:r>
              <a:rPr lang="ja-JP" altLang="en-US" sz="1200" dirty="0"/>
              <a:t>暗号化鍵と復号鍵を分ける「スプリットキー方式」を提案</a:t>
            </a:r>
          </a:p>
          <a:p>
            <a:pPr algn="l"/>
            <a:r>
              <a:rPr lang="ja-JP" altLang="en-US" sz="1200" dirty="0"/>
              <a:t>- ただし、実際に動作する関数は提示していない</a:t>
            </a:r>
          </a:p>
          <a:p>
            <a:pPr algn="l"/>
            <a:r>
              <a:rPr lang="ja-JP" altLang="en-US" sz="1200" dirty="0"/>
              <a:t>RSA（Rivest, Shamir, Adleman）1978</a:t>
            </a:r>
          </a:p>
          <a:p>
            <a:pPr algn="l"/>
            <a:r>
              <a:rPr lang="ja-JP" altLang="en-US" sz="1200" dirty="0"/>
              <a:t>- 論文「A Method for Obtaining Digital Signatures and Public-Key Cryptosystems」で</a:t>
            </a:r>
          </a:p>
          <a:p>
            <a:pPr algn="l"/>
            <a:r>
              <a:rPr lang="ja-JP" altLang="en-US" sz="1200" dirty="0"/>
              <a:t>実用的な公開鍵暗号（RSA）を発表</a:t>
            </a:r>
          </a:p>
          <a:p>
            <a:pPr algn="l"/>
            <a:r>
              <a:rPr lang="ja-JP" altLang="en-US" sz="1200" dirty="0"/>
              <a:t>- これが現在の公開鍵暗号の基礎となる</a:t>
            </a:r>
          </a:p>
          <a:p>
            <a:pPr algn="l"/>
            <a:r>
              <a:rPr lang="ja-JP" altLang="en-US" sz="1200" dirty="0"/>
              <a:t>Ralph Merkle</a:t>
            </a:r>
          </a:p>
          <a:p>
            <a:pPr algn="l"/>
            <a:r>
              <a:rPr lang="ja-JP" altLang="en-US" sz="1200" dirty="0"/>
              <a:t>- 「Merkle Puzzle」により、秘密共有の仕組みを早期に提案</a:t>
            </a:r>
          </a:p>
          <a:p>
            <a:pPr algn="l"/>
            <a:r>
              <a:rPr lang="ja-JP" altLang="en-US" sz="1200" dirty="0"/>
              <a:t>- しかし当時は理解されず、論文掲載も遅れた</a:t>
            </a:r>
          </a:p>
          <a:p>
            <a:pPr algn="l"/>
            <a:r>
              <a:rPr lang="ja-JP" altLang="en-US" sz="1200" dirty="0"/>
              <a:t>- 実は Diffie-Hellman より先にアイデアを持っていた可能性もある</a:t>
            </a:r>
          </a:p>
          <a:p>
            <a:pPr algn="l"/>
            <a:endParaRPr lang="ja-JP" altLang="en-US" sz="1200" dirty="0"/>
          </a:p>
          <a:p>
            <a:pPr algn="l"/>
            <a:r>
              <a:rPr lang="ja-JP" altLang="en-US" sz="1200" dirty="0"/>
              <a:t>さらに遡ると：英国 GCHQ が最初だった可能性</a:t>
            </a:r>
          </a:p>
          <a:p>
            <a:pPr algn="l"/>
            <a:r>
              <a:rPr lang="ja-JP" altLang="en-US" sz="1200" dirty="0"/>
              <a:t>WIRED（1999 年）の記事「The Open Secret」によると：</a:t>
            </a:r>
          </a:p>
          <a:p>
            <a:pPr algn="l"/>
            <a:r>
              <a:rPr lang="ja-JP" altLang="en-US" sz="1200" dirty="0"/>
              <a:t>- 英国 GCHQ の James Ellis が</a:t>
            </a:r>
          </a:p>
          <a:p>
            <a:pPr algn="l"/>
            <a:r>
              <a:rPr lang="ja-JP" altLang="en-US" sz="1200" dirty="0"/>
              <a:t>1969 年に公開鍵暗号を発明していた可能性が高い</a:t>
            </a:r>
          </a:p>
          <a:p>
            <a:pPr algn="l"/>
            <a:r>
              <a:rPr lang="ja-JP" altLang="en-US" sz="1200" dirty="0"/>
              <a:t>- しかし彼の研究は機密扱いで、1990 年代後半まで公開されなかった</a:t>
            </a:r>
          </a:p>
          <a:p>
            <a:pPr algn="l"/>
            <a:r>
              <a:rPr lang="ja-JP" altLang="en-US" sz="1200" dirty="0"/>
              <a:t>- そのため、Diffie-Hellman に影響を与えた可能性もある</a:t>
            </a:r>
          </a:p>
          <a:p>
            <a:pPr algn="l"/>
            <a:r>
              <a:rPr lang="ja-JP" altLang="en-US" sz="1200" dirty="0"/>
              <a:t>また、米国 NSA も 1966 年の時点で</a:t>
            </a:r>
          </a:p>
          <a:p>
            <a:pPr algn="l"/>
            <a:r>
              <a:rPr lang="ja-JP" altLang="en-US" sz="1200" dirty="0"/>
              <a:t>スプリットキー暗号を知っていた と主張しているが、</a:t>
            </a:r>
          </a:p>
          <a:p>
            <a:pPr algn="l"/>
            <a:r>
              <a:rPr lang="ja-JP" altLang="en-US" sz="1200" dirty="0"/>
              <a:t>裏付けとなる文書は存在しない。</a:t>
            </a:r>
          </a:p>
          <a:p>
            <a:pPr algn="l"/>
            <a:endParaRPr lang="ja-JP" altLang="en-US" sz="1200" dirty="0"/>
          </a:p>
          <a:p>
            <a:pPr algn="l"/>
            <a:r>
              <a:rPr lang="ja-JP" altLang="en-US" sz="1200" dirty="0"/>
              <a:t>結論：発明者は一人ではない</a:t>
            </a:r>
          </a:p>
          <a:p>
            <a:pPr algn="l"/>
            <a:r>
              <a:rPr lang="ja-JP" altLang="en-US" sz="1200" dirty="0"/>
              <a:t>公開鍵暗号の発明は、</a:t>
            </a:r>
          </a:p>
          <a:p>
            <a:pPr algn="l"/>
            <a:r>
              <a:rPr lang="ja-JP" altLang="en-US" sz="1200" dirty="0"/>
              <a:t>- Ellis（GCHQ）</a:t>
            </a:r>
          </a:p>
          <a:p>
            <a:pPr algn="l"/>
            <a:r>
              <a:rPr lang="ja-JP" altLang="en-US" sz="1200" dirty="0"/>
              <a:t>- Diffie &amp; Hellman</a:t>
            </a:r>
          </a:p>
          <a:p>
            <a:pPr algn="l"/>
            <a:r>
              <a:rPr lang="ja-JP" altLang="en-US" sz="1200" dirty="0"/>
              <a:t>- Merkle</a:t>
            </a:r>
          </a:p>
          <a:p>
            <a:pPr algn="l"/>
            <a:r>
              <a:rPr lang="ja-JP" altLang="en-US" sz="1200" dirty="0"/>
              <a:t>- RSA の 3 人</a:t>
            </a:r>
          </a:p>
          <a:p>
            <a:pPr algn="l"/>
            <a:r>
              <a:rPr lang="ja-JP" altLang="en-US" sz="1200" dirty="0"/>
              <a:t>など複数の研究者が独立に、あるいは影響し合いながら</a:t>
            </a:r>
          </a:p>
          <a:p>
            <a:pPr algn="l"/>
            <a:r>
              <a:rPr lang="ja-JP" altLang="en-US" sz="1200" dirty="0"/>
              <a:t>徐々に形になっていったものと考えられています。</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7477" y="3877733"/>
            <a:ext cx="6852285" cy="8314267"/>
          </a:xfrm>
        </p:spPr>
        <p:txBody>
          <a:bodyPr>
            <a:normAutofit fontScale="95000" lnSpcReduction="10000"/>
          </a:bodyPr>
          <a:lstStyle/>
          <a:p>
            <a:pPr algn="l"/>
            <a:r>
              <a:rPr lang="ja-JP" altLang="en-US" sz="1400" dirty="0"/>
              <a:t>セマンティック・デジタル署名（Semantic Digital Signatures） は、</a:t>
            </a:r>
          </a:p>
          <a:p>
            <a:pPr algn="l"/>
            <a:r>
              <a:rPr lang="ja-JP" altLang="en-US" sz="1400" dirty="0"/>
              <a:t>紙の文書にペンで署名する行為と同じ意味を持ちます。</a:t>
            </a:r>
          </a:p>
          <a:p>
            <a:pPr algn="l"/>
            <a:r>
              <a:rPr lang="ja-JP" altLang="en-US" sz="1400" dirty="0"/>
              <a:t>つまり、署名者を一意に識別するためのもの です。</a:t>
            </a:r>
          </a:p>
          <a:p>
            <a:pPr algn="l"/>
            <a:r>
              <a:rPr lang="ja-JP" altLang="en-US" sz="1400" dirty="0"/>
              <a:t>しかし、電子環境ではペンとインクは使えません。</a:t>
            </a:r>
          </a:p>
          <a:p>
            <a:pPr algn="l"/>
            <a:r>
              <a:rPr lang="ja-JP" altLang="en-US" sz="1400" dirty="0"/>
              <a:t>そこで、暗号技術（特に非対称暗号） を使って、</a:t>
            </a:r>
          </a:p>
          <a:p>
            <a:pPr algn="l"/>
            <a:r>
              <a:rPr lang="ja-JP" altLang="en-US" sz="1400" dirty="0"/>
              <a:t>電子文書における「唯一性」と「偽造の困難さ」を実現します。</a:t>
            </a:r>
          </a:p>
          <a:p>
            <a:pPr algn="l"/>
            <a:r>
              <a:rPr lang="ja-JP" altLang="en-US" sz="1400" dirty="0"/>
              <a:t>手書き署名は法的に強い効力を持っていますが、</a:t>
            </a:r>
          </a:p>
          <a:p>
            <a:pPr algn="l"/>
            <a:r>
              <a:rPr lang="ja-JP" altLang="en-US" sz="1400" dirty="0"/>
              <a:t>実際には簡単に偽造できてしまいます。</a:t>
            </a:r>
          </a:p>
          <a:p>
            <a:pPr algn="l"/>
            <a:r>
              <a:rPr lang="ja-JP" altLang="en-US" sz="1400" dirty="0"/>
              <a:t>そのため、デジタル時代には より安全で偽造が難しい署名方法 が必要になります。</a:t>
            </a:r>
          </a:p>
          <a:p>
            <a:pPr algn="l"/>
            <a:endParaRPr lang="ja-JP" altLang="en-US" sz="1400" dirty="0"/>
          </a:p>
          <a:p>
            <a:pPr algn="l"/>
            <a:r>
              <a:rPr lang="ja-JP" altLang="en-US" sz="1400" dirty="0"/>
              <a:t>非対称暗号によるデジタル署名の仕組み</a:t>
            </a:r>
          </a:p>
          <a:p>
            <a:pPr algn="l"/>
            <a:r>
              <a:rPr lang="ja-JP" altLang="en-US" sz="1400" dirty="0"/>
              <a:t>公開鍵暗号では、ユーザーは 自分の秘密鍵 を使ってデータを暗号化できます。</a:t>
            </a:r>
          </a:p>
          <a:p>
            <a:pPr algn="l"/>
            <a:r>
              <a:rPr lang="ja-JP" altLang="en-US" sz="1400" dirty="0"/>
              <a:t>これは実質的に データへの署名 を意味します。</a:t>
            </a:r>
          </a:p>
          <a:p>
            <a:pPr algn="l"/>
            <a:r>
              <a:rPr lang="ja-JP" altLang="en-US" sz="1400" dirty="0"/>
              <a:t>- 秘密鍵はその所有者だけが持つ</a:t>
            </a:r>
          </a:p>
          <a:p>
            <a:pPr algn="l"/>
            <a:r>
              <a:rPr lang="ja-JP" altLang="en-US" sz="1400" dirty="0"/>
              <a:t>- 秘密鍵で暗号化されたデータは、その人にしか作れない</a:t>
            </a:r>
          </a:p>
          <a:p>
            <a:pPr algn="l"/>
            <a:r>
              <a:rPr lang="ja-JP" altLang="en-US" sz="1400" dirty="0"/>
              <a:t>このため、秘密鍵で署名されたデータは</a:t>
            </a:r>
          </a:p>
          <a:p>
            <a:pPr algn="l"/>
            <a:r>
              <a:rPr lang="ja-JP" altLang="en-US" sz="1400" dirty="0"/>
              <a:t>署名者本人と確実に結びつく ことになります。</a:t>
            </a:r>
          </a:p>
          <a:p>
            <a:pPr algn="l"/>
            <a:r>
              <a:rPr lang="ja-JP" altLang="en-US" sz="1400" dirty="0"/>
              <a:t>これは紙に手書きで署名するのと同じ意味を持ちます。</a:t>
            </a:r>
          </a:p>
          <a:p>
            <a:pPr algn="l"/>
            <a:endParaRPr lang="ja-JP" altLang="en-US" sz="1400" dirty="0"/>
          </a:p>
          <a:p>
            <a:pPr algn="l"/>
            <a:r>
              <a:rPr lang="ja-JP" altLang="en-US" sz="1400" dirty="0"/>
              <a:t>受信者側の検証</a:t>
            </a:r>
          </a:p>
          <a:p>
            <a:pPr algn="l"/>
            <a:r>
              <a:rPr lang="ja-JP" altLang="en-US" sz="1400" dirty="0"/>
              <a:t>受信者は、送信者の 公開鍵 を使って署名を復号し、</a:t>
            </a:r>
          </a:p>
          <a:p>
            <a:pPr algn="l"/>
            <a:r>
              <a:rPr lang="ja-JP" altLang="en-US" sz="1400" dirty="0"/>
              <a:t>その署名が本物であることを確認します。</a:t>
            </a:r>
          </a:p>
          <a:p>
            <a:pPr algn="l"/>
            <a:r>
              <a:rPr lang="ja-JP" altLang="en-US" sz="1400" dirty="0"/>
              <a:t>つまり：</a:t>
            </a:r>
          </a:p>
          <a:p>
            <a:pPr algn="l"/>
            <a:r>
              <a:rPr lang="ja-JP" altLang="en-US" sz="1400" dirty="0"/>
              <a:t>- 秘密鍵 → 署名（暗号化）</a:t>
            </a:r>
          </a:p>
          <a:p>
            <a:pPr algn="l"/>
            <a:r>
              <a:rPr lang="ja-JP" altLang="en-US" sz="1400" dirty="0"/>
              <a:t>- 公開鍵 → 検証（復号）</a:t>
            </a:r>
          </a:p>
          <a:p>
            <a:pPr algn="l"/>
            <a:r>
              <a:rPr lang="ja-JP" altLang="en-US" sz="1400" dirty="0"/>
              <a:t>という関係です。</a:t>
            </a:r>
          </a:p>
          <a:p>
            <a:pPr algn="l"/>
            <a:endParaRPr lang="ja-JP" altLang="en-US" sz="1400" dirty="0"/>
          </a:p>
          <a:p>
            <a:pPr algn="l"/>
            <a:r>
              <a:rPr lang="ja-JP" altLang="en-US" sz="1400" dirty="0"/>
              <a:t>否認防止（Nonrepudiation）</a:t>
            </a:r>
          </a:p>
          <a:p>
            <a:pPr algn="l"/>
            <a:r>
              <a:rPr lang="ja-JP" altLang="en-US" sz="1400" dirty="0"/>
              <a:t>非対称暗号を使うことで、</a:t>
            </a:r>
          </a:p>
          <a:p>
            <a:pPr algn="l"/>
            <a:r>
              <a:rPr lang="ja-JP" altLang="en-US" sz="1400" dirty="0"/>
              <a:t>送信者が後から「自分は署名していない」と否定することができなくなります。</a:t>
            </a:r>
          </a:p>
          <a:p>
            <a:pPr algn="l"/>
            <a:r>
              <a:rPr lang="ja-JP" altLang="en-US" sz="1400" dirty="0"/>
              <a:t>これを 否認防止（nonrepudiation） と呼びます。</a:t>
            </a:r>
          </a:p>
        </p:txBody>
      </p:sp>
      <p:pic>
        <p:nvPicPr>
          <p:cNvPr id="2" name="図 1">
            <a:extLst>
              <a:ext uri="{FF2B5EF4-FFF2-40B4-BE49-F238E27FC236}">
                <a16:creationId xmlns:a16="http://schemas.microsoft.com/office/drawing/2014/main" id="{B73C95AD-BD36-411B-AB91-CF08991582D5}"/>
              </a:ext>
            </a:extLst>
          </p:cNvPr>
          <p:cNvPicPr>
            <a:picLocks noChangeAspect="1"/>
          </p:cNvPicPr>
          <p:nvPr/>
        </p:nvPicPr>
        <p:blipFill>
          <a:blip r:embed="rId2"/>
          <a:stretch>
            <a:fillRect/>
          </a:stretch>
        </p:blipFill>
        <p:spPr>
          <a:xfrm>
            <a:off x="249064" y="135467"/>
            <a:ext cx="6299201" cy="3579092"/>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860798"/>
            <a:ext cx="6852285" cy="5977467"/>
          </a:xfrm>
        </p:spPr>
        <p:txBody>
          <a:bodyPr>
            <a:normAutofit/>
          </a:bodyPr>
          <a:lstStyle/>
          <a:p>
            <a:pPr algn="l"/>
            <a:r>
              <a:rPr lang="ja-JP" altLang="en-US" sz="1400" dirty="0"/>
              <a:t>多くの組織は、セキュリティの重要な要素として暗号技術に依存しています。</a:t>
            </a:r>
          </a:p>
          <a:p>
            <a:pPr algn="l"/>
            <a:r>
              <a:rPr lang="ja-JP" altLang="en-US" sz="1400" dirty="0"/>
              <a:t>しかし、「暗号化を使えば自動的に安全になる」と誤解しているケースが少なくありません。</a:t>
            </a:r>
          </a:p>
          <a:p>
            <a:pPr algn="l"/>
            <a:r>
              <a:rPr lang="ja-JP" altLang="en-US" sz="1400" dirty="0"/>
              <a:t>どんな技術でも同じですが、</a:t>
            </a:r>
          </a:p>
          <a:p>
            <a:pPr algn="l"/>
            <a:r>
              <a:rPr lang="ja-JP" altLang="en-US" sz="1400" dirty="0"/>
              <a:t>設計・設定・導入が正しく行われていなければ、</a:t>
            </a:r>
          </a:p>
          <a:p>
            <a:pPr algn="l"/>
            <a:r>
              <a:rPr lang="ja-JP" altLang="en-US" sz="1400" dirty="0"/>
              <a:t>期待している保護効果を得られない 可能性があります。</a:t>
            </a:r>
          </a:p>
          <a:p>
            <a:pPr algn="l"/>
            <a:r>
              <a:rPr lang="ja-JP" altLang="en-US" sz="1400" dirty="0"/>
              <a:t>特に制御システム（ICS）環境では、</a:t>
            </a:r>
          </a:p>
          <a:p>
            <a:pPr algn="l"/>
            <a:r>
              <a:rPr lang="ja-JP" altLang="en-US" sz="1400" dirty="0"/>
              <a:t>暗号化が正しく実装されているか、</a:t>
            </a:r>
          </a:p>
          <a:p>
            <a:pPr algn="l"/>
            <a:r>
              <a:rPr lang="ja-JP" altLang="en-US" sz="1400" dirty="0"/>
              <a:t>期待どおりの保護を提供しているかを</a:t>
            </a:r>
          </a:p>
          <a:p>
            <a:pPr algn="l"/>
            <a:r>
              <a:rPr lang="ja-JP" altLang="en-US" sz="1400" dirty="0"/>
              <a:t>評価したことがない組織が非常に多い のが現実です。</a:t>
            </a:r>
          </a:p>
          <a:p>
            <a:pPr algn="l"/>
            <a:r>
              <a:rPr lang="ja-JP" altLang="en-US" sz="1400" dirty="0"/>
              <a:t>このクラスで学んだ知識を踏まえ、</a:t>
            </a:r>
          </a:p>
          <a:p>
            <a:pPr algn="l"/>
            <a:r>
              <a:rPr lang="ja-JP" altLang="en-US" sz="1400" dirty="0"/>
              <a:t>あなたの環境に戻ったら次のことを始めるべきです：</a:t>
            </a:r>
          </a:p>
          <a:p>
            <a:pPr algn="l"/>
            <a:r>
              <a:rPr lang="ja-JP" altLang="en-US" sz="1400" dirty="0"/>
              <a:t>- 適切な質問を投げかける</a:t>
            </a:r>
          </a:p>
          <a:p>
            <a:pPr algn="l"/>
            <a:r>
              <a:rPr lang="ja-JP" altLang="en-US" sz="1400" dirty="0"/>
              <a:t>- 暗号化の弱点や設計上の問題を洗い出す</a:t>
            </a:r>
          </a:p>
          <a:p>
            <a:pPr algn="l"/>
            <a:r>
              <a:rPr lang="ja-JP" altLang="en-US" sz="1400" dirty="0"/>
              <a:t>- それらを解決するための計画を立てる</a:t>
            </a:r>
          </a:p>
          <a:p>
            <a:pPr algn="l"/>
            <a:endParaRPr lang="ja-JP" altLang="en-US" sz="1400" dirty="0"/>
          </a:p>
          <a:p>
            <a:pPr algn="l"/>
            <a:r>
              <a:rPr lang="ja-JP" altLang="en-US" sz="1400" dirty="0"/>
              <a:t>ICS/OT の世界では、暗号化は「導入すれば終わり」ではなく、</a:t>
            </a:r>
          </a:p>
          <a:p>
            <a:pPr algn="l"/>
            <a:r>
              <a:rPr lang="ja-JP" altLang="en-US" sz="1400" dirty="0"/>
              <a:t>鍵管理・性能・レイテンシ・プロトコル互換性・装置の計算能力 など</a:t>
            </a:r>
          </a:p>
          <a:p>
            <a:pPr algn="l"/>
            <a:r>
              <a:rPr lang="ja-JP" altLang="en-US" sz="1400" dirty="0"/>
              <a:t>多くの要素が絡むため、継続的な評価が不可欠です。</a:t>
            </a:r>
          </a:p>
        </p:txBody>
      </p:sp>
      <p:pic>
        <p:nvPicPr>
          <p:cNvPr id="4" name="図 3">
            <a:extLst>
              <a:ext uri="{FF2B5EF4-FFF2-40B4-BE49-F238E27FC236}">
                <a16:creationId xmlns:a16="http://schemas.microsoft.com/office/drawing/2014/main" id="{7F8BEF58-69B3-4AD8-9409-D232A2F70D29}"/>
              </a:ext>
            </a:extLst>
          </p:cNvPr>
          <p:cNvPicPr>
            <a:picLocks noChangeAspect="1"/>
          </p:cNvPicPr>
          <p:nvPr/>
        </p:nvPicPr>
        <p:blipFill>
          <a:blip r:embed="rId2"/>
          <a:stretch>
            <a:fillRect/>
          </a:stretch>
        </p:blipFill>
        <p:spPr>
          <a:xfrm>
            <a:off x="207034" y="152400"/>
            <a:ext cx="6443931" cy="3657599"/>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81BCE1B1-B618-4354-8519-97856D053369}"/>
              </a:ext>
            </a:extLst>
          </p:cNvPr>
          <p:cNvPicPr>
            <a:picLocks noChangeAspect="1"/>
          </p:cNvPicPr>
          <p:nvPr/>
        </p:nvPicPr>
        <p:blipFill>
          <a:blip r:embed="rId2"/>
          <a:stretch>
            <a:fillRect/>
          </a:stretch>
        </p:blipFill>
        <p:spPr>
          <a:xfrm>
            <a:off x="0" y="0"/>
            <a:ext cx="6863776" cy="3894667"/>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4478" y="3911599"/>
            <a:ext cx="6852285" cy="6312535"/>
          </a:xfrm>
        </p:spPr>
        <p:txBody>
          <a:bodyPr>
            <a:normAutofit/>
          </a:bodyPr>
          <a:lstStyle/>
          <a:p>
            <a:pPr algn="l"/>
            <a:r>
              <a:rPr lang="ja-JP" altLang="en-US" sz="1400" dirty="0"/>
              <a:t>References:</a:t>
            </a:r>
          </a:p>
          <a:p>
            <a:pPr algn="l"/>
            <a:r>
              <a:rPr lang="ja-JP" altLang="en-US" sz="1400" dirty="0"/>
              <a:t>• https://cryptopals.com</a:t>
            </a:r>
          </a:p>
          <a:p>
            <a:pPr algn="l"/>
            <a:r>
              <a:rPr lang="ja-JP" altLang="en-US" sz="1400" dirty="0"/>
              <a:t>• https://www.coursera.org/learn/crypto</a:t>
            </a:r>
          </a:p>
          <a:p>
            <a:pPr algn="l"/>
            <a:r>
              <a:rPr lang="ja-JP" altLang="en-US" sz="1400" dirty="0"/>
              <a:t>• https://www.coursera.org/learn/crypto2</a:t>
            </a:r>
          </a:p>
          <a:p>
            <a:pPr algn="l"/>
            <a:endParaRPr lang="ja-JP" altLang="en-US" sz="1400" dirty="0"/>
          </a:p>
        </p:txBody>
      </p:sp>
      <p:pic>
        <p:nvPicPr>
          <p:cNvPr id="4" name="図 3">
            <a:extLst>
              <a:ext uri="{FF2B5EF4-FFF2-40B4-BE49-F238E27FC236}">
                <a16:creationId xmlns:a16="http://schemas.microsoft.com/office/drawing/2014/main" id="{585DEB56-54E8-4BAC-8BA8-15939399E032}"/>
              </a:ext>
            </a:extLst>
          </p:cNvPr>
          <p:cNvPicPr>
            <a:picLocks noChangeAspect="1"/>
          </p:cNvPicPr>
          <p:nvPr/>
        </p:nvPicPr>
        <p:blipFill>
          <a:blip r:embed="rId2"/>
          <a:stretch>
            <a:fillRect/>
          </a:stretch>
        </p:blipFill>
        <p:spPr>
          <a:xfrm>
            <a:off x="0" y="15451"/>
            <a:ext cx="6843522" cy="387921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D6B92D2D-610D-4626-9305-2BC397787874}"/>
              </a:ext>
            </a:extLst>
          </p:cNvPr>
          <p:cNvPicPr>
            <a:picLocks noChangeAspect="1"/>
          </p:cNvPicPr>
          <p:nvPr/>
        </p:nvPicPr>
        <p:blipFill>
          <a:blip r:embed="rId2"/>
          <a:stretch>
            <a:fillRect/>
          </a:stretch>
        </p:blipFill>
        <p:spPr>
          <a:xfrm>
            <a:off x="-1" y="0"/>
            <a:ext cx="6824809" cy="387773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165C227D-C046-447E-AC30-3C061A942C24}"/>
              </a:ext>
            </a:extLst>
          </p:cNvPr>
          <p:cNvPicPr>
            <a:picLocks noChangeAspect="1"/>
          </p:cNvPicPr>
          <p:nvPr/>
        </p:nvPicPr>
        <p:blipFill>
          <a:blip r:embed="rId2"/>
          <a:stretch>
            <a:fillRect/>
          </a:stretch>
        </p:blipFill>
        <p:spPr>
          <a:xfrm>
            <a:off x="0" y="-1"/>
            <a:ext cx="6850052" cy="387773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108396"/>
            <a:ext cx="6852285" cy="9025469"/>
          </a:xfrm>
        </p:spPr>
        <p:txBody>
          <a:bodyPr>
            <a:noAutofit/>
          </a:bodyPr>
          <a:lstStyle/>
          <a:p>
            <a:pPr algn="l"/>
            <a:r>
              <a:rPr lang="ja-JP" altLang="en-US" sz="900" dirty="0"/>
              <a:t>近年、遠隔地に設置される ICS 機器が増え、</a:t>
            </a:r>
          </a:p>
          <a:p>
            <a:pPr algn="l"/>
            <a:r>
              <a:rPr lang="ja-JP" altLang="en-US" sz="900" dirty="0"/>
              <a:t>有線の電話回線やネットワークを引けない場所 が多くなっています。</a:t>
            </a:r>
          </a:p>
          <a:p>
            <a:pPr algn="l"/>
            <a:r>
              <a:rPr lang="ja-JP" altLang="en-US" sz="900" dirty="0"/>
              <a:t>そのため、多くの ICS 環境で 無線通信の利用が避けられなくなっています。</a:t>
            </a:r>
          </a:p>
          <a:p>
            <a:pPr algn="l"/>
            <a:endParaRPr lang="ja-JP" altLang="en-US" sz="900" dirty="0"/>
          </a:p>
          <a:p>
            <a:pPr algn="l"/>
            <a:r>
              <a:rPr lang="ja-JP" altLang="en-US" sz="900" dirty="0"/>
              <a:t>企業資産の近くで無線通信が必要な場合</a:t>
            </a:r>
          </a:p>
          <a:p>
            <a:pPr algn="l"/>
            <a:r>
              <a:rPr lang="ja-JP" altLang="en-US" sz="900" dirty="0"/>
              <a:t>企業が所有する他の設備の通信圏内にある場合、</a:t>
            </a:r>
          </a:p>
          <a:p>
            <a:pPr algn="l"/>
            <a:r>
              <a:rPr lang="ja-JP" altLang="en-US" sz="900" dirty="0"/>
              <a:t>多くの企業は次のような無線技術を採用しています：</a:t>
            </a:r>
          </a:p>
          <a:p>
            <a:pPr algn="l"/>
            <a:r>
              <a:rPr lang="ja-JP" altLang="en-US" sz="900" dirty="0"/>
              <a:t>• 	メッシュ無線（Mesh Wireless）</a:t>
            </a:r>
          </a:p>
          <a:p>
            <a:pPr algn="l"/>
            <a:r>
              <a:rPr lang="ja-JP" altLang="en-US" sz="900" dirty="0"/>
              <a:t>• 	ライセンス無線（Licensed Radio）</a:t>
            </a:r>
          </a:p>
          <a:p>
            <a:pPr algn="l"/>
            <a:r>
              <a:rPr lang="ja-JP" altLang="en-US" sz="900" dirty="0"/>
              <a:t>• 	マイクロ波通信（Microwave）</a:t>
            </a:r>
          </a:p>
          <a:p>
            <a:pPr algn="l"/>
            <a:r>
              <a:rPr lang="ja-JP" altLang="en-US" sz="900" dirty="0"/>
              <a:t>これらが使えない、またはコストが高すぎる場合は、</a:t>
            </a:r>
          </a:p>
          <a:p>
            <a:pPr algn="l"/>
            <a:r>
              <a:rPr lang="ja-JP" altLang="en-US" sz="900" dirty="0"/>
              <a:t>セルラー通信（携帯電話網）＋ VPN を使って</a:t>
            </a:r>
          </a:p>
          <a:p>
            <a:pPr algn="l"/>
            <a:r>
              <a:rPr lang="ja-JP" altLang="en-US" sz="900" dirty="0"/>
              <a:t>遠隔地と制御センターを接続するケースが一般的です。</a:t>
            </a:r>
          </a:p>
          <a:p>
            <a:pPr algn="l"/>
            <a:endParaRPr lang="ja-JP" altLang="en-US" sz="900" dirty="0"/>
          </a:p>
          <a:p>
            <a:pPr algn="l"/>
            <a:r>
              <a:rPr lang="ja-JP" altLang="en-US" sz="900" dirty="0"/>
              <a:t>さらに遠隔地の場合：衛星通信</a:t>
            </a:r>
          </a:p>
          <a:p>
            <a:pPr algn="l"/>
            <a:r>
              <a:rPr lang="ja-JP" altLang="en-US" sz="900" dirty="0"/>
              <a:t>オフショアの石油プラットフォームのように、</a:t>
            </a:r>
          </a:p>
          <a:p>
            <a:pPr algn="l"/>
            <a:r>
              <a:rPr lang="ja-JP" altLang="en-US" sz="900" dirty="0"/>
              <a:t>地上の通信網がまったく届かない場所では、</a:t>
            </a:r>
          </a:p>
          <a:p>
            <a:pPr algn="l"/>
            <a:r>
              <a:rPr lang="ja-JP" altLang="en-US" sz="900" dirty="0"/>
              <a:t>衛星アップリンク が唯一の選択肢になることがあります。</a:t>
            </a:r>
          </a:p>
          <a:p>
            <a:pPr algn="l"/>
            <a:endParaRPr lang="ja-JP" altLang="en-US" sz="900" dirty="0"/>
          </a:p>
          <a:p>
            <a:pPr algn="l"/>
            <a:r>
              <a:rPr lang="ja-JP" altLang="en-US" sz="900" dirty="0"/>
              <a:t>電力会社で増えている Bluetooth 利用</a:t>
            </a:r>
          </a:p>
          <a:p>
            <a:pPr algn="l"/>
            <a:r>
              <a:rPr lang="ja-JP" altLang="en-US" sz="900" dirty="0"/>
              <a:t>電力会社では、電柱上の機器に触れること自体が</a:t>
            </a:r>
          </a:p>
          <a:p>
            <a:pPr algn="l"/>
            <a:r>
              <a:rPr lang="ja-JP" altLang="en-US" sz="900" dirty="0"/>
              <a:t>感電リスクを伴う危険作業 です。</a:t>
            </a:r>
          </a:p>
          <a:p>
            <a:pPr algn="l"/>
            <a:r>
              <a:rPr lang="ja-JP" altLang="en-US" sz="900" dirty="0"/>
              <a:t>そのため、機器メーカーは電柱上の装置に</a:t>
            </a:r>
          </a:p>
          <a:p>
            <a:pPr algn="l"/>
            <a:r>
              <a:rPr lang="ja-JP" altLang="en-US" sz="900" dirty="0"/>
              <a:t>Bluetooth インターフェース を組み込み始めています。</a:t>
            </a:r>
          </a:p>
          <a:p>
            <a:pPr algn="l"/>
            <a:r>
              <a:rPr lang="ja-JP" altLang="en-US" sz="900" dirty="0"/>
              <a:t>これにより、作業員は電柱に登らずに</a:t>
            </a:r>
          </a:p>
          <a:p>
            <a:pPr algn="l"/>
            <a:r>
              <a:rPr lang="ja-JP" altLang="en-US" sz="900" dirty="0"/>
              <a:t>社用車の中からノート PC で設定変更 ができるようになります。</a:t>
            </a:r>
          </a:p>
          <a:p>
            <a:pPr algn="l"/>
            <a:endParaRPr lang="ja-JP" altLang="en-US" sz="900" dirty="0"/>
          </a:p>
          <a:p>
            <a:pPr algn="l"/>
            <a:r>
              <a:rPr lang="ja-JP" altLang="en-US" sz="900" dirty="0"/>
              <a:t>変電所での無線利用の“裏事情”</a:t>
            </a:r>
          </a:p>
          <a:p>
            <a:pPr algn="l"/>
            <a:r>
              <a:rPr lang="ja-JP" altLang="en-US" sz="900" dirty="0"/>
              <a:t>変電所では、外部の電話線やネットワーク線を</a:t>
            </a:r>
          </a:p>
          <a:p>
            <a:pPr algn="l"/>
            <a:r>
              <a:rPr lang="ja-JP" altLang="en-US" sz="900" dirty="0"/>
              <a:t>高電圧から隔離するために HVP（High Voltage Protection） を設置する必要があります。</a:t>
            </a:r>
          </a:p>
          <a:p>
            <a:pPr algn="l"/>
            <a:r>
              <a:rPr lang="ja-JP" altLang="en-US" sz="900" dirty="0"/>
              <a:t>しかし：</a:t>
            </a:r>
          </a:p>
          <a:p>
            <a:pPr algn="l"/>
            <a:r>
              <a:rPr lang="ja-JP" altLang="en-US" sz="900" dirty="0"/>
              <a:t>• 	HVP のコストが高い</a:t>
            </a:r>
          </a:p>
          <a:p>
            <a:pPr algn="l"/>
            <a:r>
              <a:rPr lang="ja-JP" altLang="en-US" sz="900" dirty="0"/>
              <a:t>• 	設計・施工に時間がかかる</a:t>
            </a:r>
          </a:p>
          <a:p>
            <a:pPr algn="l"/>
            <a:r>
              <a:rPr lang="ja-JP" altLang="en-US" sz="900" dirty="0"/>
              <a:t>といった理由から、</a:t>
            </a:r>
          </a:p>
          <a:p>
            <a:pPr algn="l"/>
            <a:r>
              <a:rPr lang="ja-JP" altLang="en-US" sz="900" dirty="0"/>
              <a:t>HVP を避けるために無線接続を採用する電力会社もある</a:t>
            </a:r>
          </a:p>
          <a:p>
            <a:pPr algn="l"/>
            <a:r>
              <a:rPr lang="ja-JP" altLang="en-US" sz="900" dirty="0"/>
              <a:t>という興味深い事例があります。</a:t>
            </a:r>
          </a:p>
          <a:p>
            <a:pPr algn="l"/>
            <a:endParaRPr lang="ja-JP" altLang="en-US" sz="900" dirty="0"/>
          </a:p>
          <a:p>
            <a:pPr algn="l"/>
            <a:r>
              <a:rPr lang="ja-JP" altLang="en-US" sz="900" dirty="0"/>
              <a:t>ICS/OT の現場では、</a:t>
            </a:r>
          </a:p>
          <a:p>
            <a:pPr algn="l"/>
            <a:r>
              <a:rPr lang="ja-JP" altLang="en-US" sz="900" dirty="0"/>
              <a:t>「無線は危険だから使わない」ではなく、</a:t>
            </a:r>
          </a:p>
          <a:p>
            <a:pPr algn="l"/>
            <a:r>
              <a:rPr lang="ja-JP" altLang="en-US" sz="900" dirty="0"/>
              <a:t>現実的な制約の中で無線をどう安全に使うか が重要なテーマになっています。</a:t>
            </a:r>
          </a:p>
        </p:txBody>
      </p:sp>
      <p:pic>
        <p:nvPicPr>
          <p:cNvPr id="4" name="図 3">
            <a:extLst>
              <a:ext uri="{FF2B5EF4-FFF2-40B4-BE49-F238E27FC236}">
                <a16:creationId xmlns:a16="http://schemas.microsoft.com/office/drawing/2014/main" id="{FDB37C7A-3F85-458C-8F8F-A240A2807906}"/>
              </a:ext>
            </a:extLst>
          </p:cNvPr>
          <p:cNvPicPr>
            <a:picLocks noChangeAspect="1"/>
          </p:cNvPicPr>
          <p:nvPr/>
        </p:nvPicPr>
        <p:blipFill>
          <a:blip r:embed="rId2"/>
          <a:stretch>
            <a:fillRect/>
          </a:stretch>
        </p:blipFill>
        <p:spPr>
          <a:xfrm>
            <a:off x="791633" y="50708"/>
            <a:ext cx="5274734" cy="2989956"/>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4375" y="3488673"/>
            <a:ext cx="6852285" cy="8652528"/>
          </a:xfrm>
        </p:spPr>
        <p:txBody>
          <a:bodyPr>
            <a:normAutofit fontScale="55000" lnSpcReduction="20000"/>
          </a:bodyPr>
          <a:lstStyle/>
          <a:p>
            <a:pPr algn="l"/>
            <a:r>
              <a:rPr lang="ja-JP" altLang="en-US" sz="1400" dirty="0"/>
              <a:t>以下に、内容を専門的かつ自然で読みやすい 日本語訳（意訳） をまとめます。</a:t>
            </a:r>
          </a:p>
          <a:p>
            <a:pPr algn="l"/>
            <a:r>
              <a:rPr lang="ja-JP" altLang="en-US" sz="1400" dirty="0"/>
              <a:t>セルラー回線を ICS のバックホールに使う際のリスクと推奨事項が非常に明確に説明されている部分です。</a:t>
            </a:r>
          </a:p>
          <a:p>
            <a:pPr algn="l"/>
            <a:endParaRPr lang="ja-JP" altLang="en-US" sz="1400" dirty="0"/>
          </a:p>
          <a:p>
            <a:pPr algn="l"/>
            <a:r>
              <a:rPr lang="ja-JP" altLang="en-US" sz="1400" dirty="0"/>
              <a:t>日本語訳（意訳）</a:t>
            </a:r>
          </a:p>
          <a:p>
            <a:pPr algn="l"/>
            <a:r>
              <a:rPr lang="ja-JP" altLang="en-US" sz="1400" dirty="0"/>
              <a:t>セルラー回線（携帯電話網）は、</a:t>
            </a:r>
          </a:p>
          <a:p>
            <a:pPr algn="l"/>
            <a:r>
              <a:rPr lang="ja-JP" altLang="en-US" sz="1400" dirty="0"/>
              <a:t>低コストで広く利用可能 であることから、</a:t>
            </a:r>
          </a:p>
          <a:p>
            <a:pPr algn="l"/>
            <a:r>
              <a:rPr lang="ja-JP" altLang="en-US" sz="1400" dirty="0"/>
              <a:t>WAN バックホールとして一般的に利用されています。</a:t>
            </a:r>
          </a:p>
          <a:p>
            <a:pPr algn="l"/>
            <a:r>
              <a:rPr lang="ja-JP" altLang="en-US" sz="1400" dirty="0"/>
              <a:t>GSM、CDMA、LTE などの技術は、</a:t>
            </a:r>
          </a:p>
          <a:p>
            <a:pPr algn="l"/>
            <a:r>
              <a:rPr lang="ja-JP" altLang="en-US" sz="1400" dirty="0"/>
              <a:t>利用可能性・カバレッジ・コストに基づいて選択されます。</a:t>
            </a:r>
          </a:p>
          <a:p>
            <a:pPr algn="l"/>
            <a:r>
              <a:rPr lang="ja-JP" altLang="en-US" sz="1400" dirty="0"/>
              <a:t>しかし、いくつかのセルラー技術、特に GSM には</a:t>
            </a:r>
          </a:p>
          <a:p>
            <a:pPr algn="l"/>
            <a:r>
              <a:rPr lang="ja-JP" altLang="en-US" sz="1400" dirty="0"/>
              <a:t>PHY/MAC レイヤでの既知の弱点があり、攻撃に対して脆弱です。</a:t>
            </a:r>
          </a:p>
          <a:p>
            <a:pPr algn="l"/>
            <a:endParaRPr lang="ja-JP" altLang="en-US" sz="1400" dirty="0"/>
          </a:p>
          <a:p>
            <a:pPr algn="l"/>
            <a:r>
              <a:rPr lang="ja-JP" altLang="en-US" sz="1400" dirty="0"/>
              <a:t>GSM の弱点：偽 BTS による盗聴</a:t>
            </a:r>
          </a:p>
          <a:p>
            <a:pPr algn="l"/>
            <a:r>
              <a:rPr lang="ja-JP" altLang="en-US" sz="1400" dirty="0"/>
              <a:t>GSM は、約 800 ドル程度のハードウェアとソフトウェアで</a:t>
            </a:r>
          </a:p>
          <a:p>
            <a:pPr algn="l"/>
            <a:r>
              <a:rPr lang="ja-JP" altLang="en-US" sz="1400" dirty="0"/>
              <a:t>偽の基地局（Fake BTS） を構築することで盗聴が可能です。</a:t>
            </a:r>
          </a:p>
          <a:p>
            <a:pPr algn="l"/>
            <a:r>
              <a:rPr lang="ja-JP" altLang="en-US" sz="1400" dirty="0"/>
              <a:t>偽 BTS は以下のように動作します：</a:t>
            </a:r>
          </a:p>
          <a:p>
            <a:pPr algn="l"/>
            <a:r>
              <a:rPr lang="ja-JP" altLang="en-US" sz="1400" dirty="0"/>
              <a:t>- 正規キャリアの識別子を模倣</a:t>
            </a:r>
          </a:p>
          <a:p>
            <a:pPr algn="l"/>
            <a:r>
              <a:rPr lang="ja-JP" altLang="en-US" sz="1400" dirty="0"/>
              <a:t>- GSM 端末を誤って接続させる</a:t>
            </a:r>
          </a:p>
          <a:p>
            <a:pPr algn="l"/>
            <a:r>
              <a:rPr lang="ja-JP" altLang="en-US" sz="1400" dirty="0"/>
              <a:t>- 接続後、端末に A5/0（暗号なし） を強制</a:t>
            </a:r>
          </a:p>
          <a:p>
            <a:pPr algn="l"/>
            <a:r>
              <a:rPr lang="ja-JP" altLang="en-US" sz="1400" dirty="0"/>
              <a:t>- 通信内容を平文で取得しつつ、別回線を使ってプロキシとして転送</a:t>
            </a:r>
          </a:p>
          <a:p>
            <a:pPr algn="l"/>
            <a:r>
              <a:rPr lang="ja-JP" altLang="en-US" sz="1400" dirty="0"/>
              <a:t>このように、GSM は PHY/MAC レイヤでの攻撃に弱い技術です。</a:t>
            </a:r>
          </a:p>
          <a:p>
            <a:pPr algn="l"/>
            <a:endParaRPr lang="ja-JP" altLang="en-US" sz="1400" dirty="0"/>
          </a:p>
          <a:p>
            <a:pPr algn="l"/>
            <a:r>
              <a:rPr lang="ja-JP" altLang="en-US" sz="1400" dirty="0"/>
              <a:t>他のセルラー技術はより安全だが、上位レイヤの保護が必須</a:t>
            </a:r>
          </a:p>
          <a:p>
            <a:pPr algn="l"/>
            <a:r>
              <a:rPr lang="ja-JP" altLang="en-US" sz="1400" dirty="0"/>
              <a:t>ほとんどのセルラー技術は GSM </a:t>
            </a:r>
            <a:r>
              <a:rPr lang="ja-JP" altLang="en-US" sz="1400" dirty="0" err="1"/>
              <a:t>ほど</a:t>
            </a:r>
            <a:r>
              <a:rPr lang="ja-JP" altLang="en-US" sz="1400" dirty="0"/>
              <a:t>極端な弱点はありません。</a:t>
            </a:r>
          </a:p>
          <a:p>
            <a:pPr algn="l"/>
            <a:r>
              <a:rPr lang="ja-JP" altLang="en-US" sz="1400" dirty="0"/>
              <a:t>しかし、どの技術を使う場合でも、</a:t>
            </a:r>
          </a:p>
          <a:p>
            <a:pPr algn="l"/>
            <a:r>
              <a:rPr lang="ja-JP" altLang="en-US" sz="1400" dirty="0"/>
              <a:t>- 上位レイヤでの暗号化（VPN など）</a:t>
            </a:r>
          </a:p>
          <a:p>
            <a:pPr algn="l"/>
            <a:r>
              <a:rPr lang="ja-JP" altLang="en-US" sz="1400" dirty="0"/>
              <a:t>- 認証の強化</a:t>
            </a:r>
          </a:p>
          <a:p>
            <a:pPr algn="l"/>
            <a:r>
              <a:rPr lang="ja-JP" altLang="en-US" sz="1400" dirty="0"/>
              <a:t>によってリスクを大幅に軽減できます。</a:t>
            </a:r>
          </a:p>
          <a:p>
            <a:pPr algn="l"/>
            <a:endParaRPr lang="ja-JP" altLang="en-US" sz="1400" dirty="0"/>
          </a:p>
          <a:p>
            <a:pPr algn="l"/>
            <a:r>
              <a:rPr lang="ja-JP" altLang="en-US" sz="1400" dirty="0"/>
              <a:t>キャリアのプライベートネットワークの利用</a:t>
            </a:r>
          </a:p>
          <a:p>
            <a:pPr algn="l"/>
            <a:r>
              <a:rPr lang="ja-JP" altLang="en-US" sz="1400" dirty="0"/>
              <a:t>多くのセルラーキャリアは、</a:t>
            </a:r>
          </a:p>
          <a:p>
            <a:pPr algn="l"/>
            <a:r>
              <a:rPr lang="ja-JP" altLang="en-US" sz="1400" dirty="0"/>
              <a:t>制御データを一般データから論理的に分離するプライベートネットワーク を提供しています。</a:t>
            </a:r>
          </a:p>
          <a:p>
            <a:pPr algn="l"/>
            <a:r>
              <a:rPr lang="ja-JP" altLang="en-US" sz="1400" dirty="0"/>
              <a:t>これは ICS での利用に強く推奨されます。</a:t>
            </a:r>
          </a:p>
          <a:p>
            <a:pPr algn="l"/>
            <a:r>
              <a:rPr lang="ja-JP" altLang="en-US" sz="1400" dirty="0"/>
              <a:t>このデータ分離は VLAN や MPLS に似た仕組みで、</a:t>
            </a:r>
          </a:p>
          <a:p>
            <a:pPr algn="l"/>
            <a:r>
              <a:rPr lang="ja-JP" altLang="en-US" sz="1400" dirty="0"/>
              <a:t>「完全にプライベート」ではなく、</a:t>
            </a:r>
          </a:p>
          <a:p>
            <a:pPr algn="l"/>
            <a:r>
              <a:rPr lang="ja-JP" altLang="en-US" sz="1400" dirty="0"/>
              <a:t>ISP には最低限データが見える “準プライベート” 回線 と考えるべきです。</a:t>
            </a:r>
          </a:p>
          <a:p>
            <a:pPr algn="l"/>
            <a:endParaRPr lang="ja-JP" altLang="en-US" sz="1400" dirty="0"/>
          </a:p>
          <a:p>
            <a:pPr algn="l"/>
            <a:r>
              <a:rPr lang="ja-JP" altLang="en-US" sz="1400" dirty="0"/>
              <a:t>参考リンク（原文に記載されていたもの）</a:t>
            </a:r>
          </a:p>
          <a:p>
            <a:pPr algn="l"/>
            <a:r>
              <a:rPr lang="ja-JP" altLang="en-US" sz="1400" dirty="0"/>
              <a:t>- http://www.pittnerovi.com/jiri/hobby/electronics/gsm/</a:t>
            </a:r>
          </a:p>
          <a:p>
            <a:pPr algn="l"/>
            <a:r>
              <a:rPr lang="ja-JP" altLang="en-US" sz="1400" dirty="0"/>
              <a:t>- https://www.youtube.com/watch?v=Cx8iWWg-Ch0</a:t>
            </a:r>
          </a:p>
          <a:p>
            <a:pPr algn="l"/>
            <a:r>
              <a:rPr lang="ja-JP" altLang="en-US" sz="1400" dirty="0"/>
              <a:t>- https://www.youtube.com/watch?v=bO5McFJBg6k</a:t>
            </a:r>
          </a:p>
          <a:p>
            <a:pPr algn="l"/>
            <a:r>
              <a:rPr lang="ja-JP" altLang="en-US" sz="1400" dirty="0"/>
              <a:t>- http://openbts.org/</a:t>
            </a:r>
          </a:p>
          <a:p>
            <a:pPr algn="l"/>
            <a:endParaRPr lang="ja-JP" altLang="en-US" sz="1400" dirty="0"/>
          </a:p>
          <a:p>
            <a:pPr algn="l"/>
            <a:r>
              <a:rPr lang="ja-JP" altLang="en-US" sz="1400" dirty="0"/>
              <a:t>必要であれば、</a:t>
            </a:r>
          </a:p>
        </p:txBody>
      </p:sp>
      <p:pic>
        <p:nvPicPr>
          <p:cNvPr id="4" name="図 3">
            <a:extLst>
              <a:ext uri="{FF2B5EF4-FFF2-40B4-BE49-F238E27FC236}">
                <a16:creationId xmlns:a16="http://schemas.microsoft.com/office/drawing/2014/main" id="{9C5C235D-6854-45E2-8481-C2C3291E3900}"/>
              </a:ext>
            </a:extLst>
          </p:cNvPr>
          <p:cNvPicPr>
            <a:picLocks noChangeAspect="1"/>
          </p:cNvPicPr>
          <p:nvPr/>
        </p:nvPicPr>
        <p:blipFill>
          <a:blip r:embed="rId2"/>
          <a:stretch>
            <a:fillRect/>
          </a:stretch>
        </p:blipFill>
        <p:spPr>
          <a:xfrm>
            <a:off x="416102" y="50799"/>
            <a:ext cx="6011333" cy="3404008"/>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9581" y="3417894"/>
            <a:ext cx="3296285" cy="8740236"/>
          </a:xfrm>
        </p:spPr>
        <p:txBody>
          <a:bodyPr>
            <a:noAutofit/>
          </a:bodyPr>
          <a:lstStyle/>
          <a:p>
            <a:pPr algn="l"/>
            <a:r>
              <a:rPr lang="ja-JP" altLang="en-US" sz="1100" dirty="0"/>
              <a:t>VSAT（Very Small Aperture Terminal）は、</a:t>
            </a:r>
          </a:p>
          <a:p>
            <a:pPr algn="l"/>
            <a:r>
              <a:rPr lang="ja-JP" altLang="en-US" sz="1100" dirty="0"/>
              <a:t>屋外・屋内・移動体向けのフィールド端末を使って衛星と通信し、</a:t>
            </a:r>
          </a:p>
          <a:p>
            <a:pPr algn="l"/>
            <a:r>
              <a:rPr lang="ja-JP" altLang="en-US" sz="1100" dirty="0"/>
              <a:t>遠隔地からデータ・映像・音声を安定して送受信できる 技術です。</a:t>
            </a:r>
          </a:p>
          <a:p>
            <a:pPr algn="l"/>
            <a:r>
              <a:rPr lang="ja-JP" altLang="en-US" sz="1100" dirty="0"/>
              <a:t>VSAT の用途は多岐にわたりますが、産業分野では特に：</a:t>
            </a:r>
          </a:p>
          <a:p>
            <a:pPr algn="l"/>
            <a:r>
              <a:rPr lang="ja-JP" altLang="en-US" sz="1100" dirty="0"/>
              <a:t>- 井戸・油田などのデータ収集</a:t>
            </a:r>
          </a:p>
          <a:p>
            <a:pPr algn="l"/>
            <a:r>
              <a:rPr lang="ja-JP" altLang="en-US" sz="1100" dirty="0"/>
              <a:t>- パイプライン SCADA</a:t>
            </a:r>
          </a:p>
          <a:p>
            <a:pPr algn="l"/>
            <a:r>
              <a:rPr lang="ja-JP" altLang="en-US" sz="1100" dirty="0"/>
              <a:t>- 電力 SCADA（送電・配電／AMI）</a:t>
            </a:r>
          </a:p>
          <a:p>
            <a:pPr algn="l"/>
            <a:r>
              <a:rPr lang="ja-JP" altLang="en-US" sz="1100" dirty="0"/>
              <a:t>- 風力発電所</a:t>
            </a:r>
          </a:p>
          <a:p>
            <a:pPr algn="l"/>
            <a:r>
              <a:rPr lang="ja-JP" altLang="en-US" sz="1100" dirty="0"/>
              <a:t>- 海上設備（石油プラットフォーム、掘削船など）</a:t>
            </a:r>
          </a:p>
          <a:p>
            <a:pPr algn="l"/>
            <a:r>
              <a:rPr lang="ja-JP" altLang="en-US" sz="1100" dirty="0"/>
              <a:t>といった場面で広く利用されています。</a:t>
            </a:r>
          </a:p>
          <a:p>
            <a:pPr algn="l"/>
            <a:r>
              <a:rPr lang="ja-JP" altLang="en-US" sz="1100" dirty="0"/>
              <a:t>VSAT は必要に応じて帯域幅を調整でき、</a:t>
            </a:r>
          </a:p>
          <a:p>
            <a:pPr algn="l"/>
            <a:r>
              <a:rPr lang="ja-JP" altLang="en-US" sz="1100" dirty="0"/>
              <a:t>場所や要件によっては コスト効率の良い選択肢 になります。</a:t>
            </a:r>
          </a:p>
          <a:p>
            <a:pPr algn="l"/>
            <a:r>
              <a:rPr lang="ja-JP" altLang="en-US" sz="1100" dirty="0"/>
              <a:t>また、端末は産業用途向けに堅牢化されたものも提供されています。</a:t>
            </a:r>
          </a:p>
          <a:p>
            <a:pPr algn="l"/>
            <a:endParaRPr lang="ja-JP" altLang="en-US" sz="1100" dirty="0"/>
          </a:p>
          <a:p>
            <a:pPr algn="l"/>
            <a:r>
              <a:rPr lang="ja-JP" altLang="en-US" sz="1100" dirty="0"/>
              <a:t>VSAT の利点</a:t>
            </a:r>
          </a:p>
          <a:p>
            <a:pPr algn="l"/>
            <a:r>
              <a:rPr lang="ja-JP" altLang="en-US" sz="1100" dirty="0"/>
              <a:t>- SCADA／テレメトリの要求に柔軟に対応</a:t>
            </a:r>
          </a:p>
          <a:p>
            <a:pPr algn="l"/>
            <a:r>
              <a:rPr lang="ja-JP" altLang="en-US" sz="1100" dirty="0"/>
              <a:t>- 映像監視（セキュリティカメラ）向けの音声・映像通信も可能</a:t>
            </a:r>
          </a:p>
          <a:p>
            <a:pPr algn="l"/>
            <a:r>
              <a:rPr lang="ja-JP" altLang="en-US" sz="1100" dirty="0"/>
              <a:t>- IP ベースのアプリケーションを安定して運用できる</a:t>
            </a:r>
          </a:p>
          <a:p>
            <a:pPr algn="l"/>
            <a:r>
              <a:rPr lang="ja-JP" altLang="en-US" sz="1100" dirty="0"/>
              <a:t>- FEC（Forward Error Correction）などの技術進歩により</a:t>
            </a:r>
          </a:p>
          <a:p>
            <a:pPr algn="l"/>
            <a:r>
              <a:rPr lang="ja-JP" altLang="en-US" sz="1100" dirty="0"/>
              <a:t>可用性・信頼性が大幅に向上</a:t>
            </a:r>
          </a:p>
          <a:p>
            <a:pPr algn="l"/>
            <a:r>
              <a:rPr lang="ja-JP" altLang="en-US" sz="1100" dirty="0"/>
              <a:t>- TDMA（時分割多元接続）により複数アプリケーションで帯域を共有しつつ</a:t>
            </a:r>
          </a:p>
          <a:p>
            <a:pPr algn="l"/>
            <a:r>
              <a:rPr lang="ja-JP" altLang="en-US" sz="1100" dirty="0"/>
              <a:t>QoS（品質保証） を設定できる</a:t>
            </a:r>
          </a:p>
          <a:p>
            <a:pPr algn="l"/>
            <a:endParaRPr lang="ja-JP" altLang="en-US" sz="1100" dirty="0"/>
          </a:p>
          <a:p>
            <a:pPr algn="l"/>
            <a:r>
              <a:rPr lang="ja-JP" altLang="en-US" sz="1100" dirty="0"/>
              <a:t>対応周波数帯</a:t>
            </a:r>
          </a:p>
          <a:p>
            <a:pPr algn="l"/>
            <a:r>
              <a:rPr lang="ja-JP" altLang="en-US" sz="1100" dirty="0"/>
              <a:t>VSAT は複数の周波数帯で動作します：</a:t>
            </a:r>
          </a:p>
          <a:p>
            <a:pPr algn="l"/>
            <a:r>
              <a:rPr lang="ja-JP" altLang="en-US" sz="1100" dirty="0"/>
              <a:t>- C バンド：4–8 GHz</a:t>
            </a:r>
          </a:p>
          <a:p>
            <a:pPr algn="l"/>
            <a:r>
              <a:rPr lang="ja-JP" altLang="en-US" sz="1100" dirty="0"/>
              <a:t>- Ku バンド：12–18 GHz</a:t>
            </a:r>
          </a:p>
          <a:p>
            <a:pPr algn="l"/>
            <a:r>
              <a:rPr lang="ja-JP" altLang="en-US" sz="1100" dirty="0"/>
              <a:t>- Ka バンド：26.5–40 GHz</a:t>
            </a:r>
          </a:p>
          <a:p>
            <a:pPr algn="l"/>
            <a:r>
              <a:rPr lang="ja-JP" altLang="en-US" sz="1100" dirty="0"/>
              <a:t>WiMax など他の通信システムと周波数が重なる場合もあります。</a:t>
            </a:r>
          </a:p>
        </p:txBody>
      </p:sp>
      <p:pic>
        <p:nvPicPr>
          <p:cNvPr id="4" name="図 3">
            <a:extLst>
              <a:ext uri="{FF2B5EF4-FFF2-40B4-BE49-F238E27FC236}">
                <a16:creationId xmlns:a16="http://schemas.microsoft.com/office/drawing/2014/main" id="{16759BE3-25F2-4935-9082-2A205F521CBB}"/>
              </a:ext>
            </a:extLst>
          </p:cNvPr>
          <p:cNvPicPr>
            <a:picLocks noChangeAspect="1"/>
          </p:cNvPicPr>
          <p:nvPr/>
        </p:nvPicPr>
        <p:blipFill>
          <a:blip r:embed="rId2"/>
          <a:stretch>
            <a:fillRect/>
          </a:stretch>
        </p:blipFill>
        <p:spPr>
          <a:xfrm>
            <a:off x="454036" y="82027"/>
            <a:ext cx="5763660" cy="3268134"/>
          </a:xfrm>
          <a:prstGeom prst="rect">
            <a:avLst/>
          </a:prstGeom>
        </p:spPr>
      </p:pic>
      <p:sp>
        <p:nvSpPr>
          <p:cNvPr id="5" name="サブタイトル 2">
            <a:extLst>
              <a:ext uri="{FF2B5EF4-FFF2-40B4-BE49-F238E27FC236}">
                <a16:creationId xmlns:a16="http://schemas.microsoft.com/office/drawing/2014/main" id="{ABBE12A2-9C35-4E7B-AE6A-8F0679AA4F55}"/>
              </a:ext>
            </a:extLst>
          </p:cNvPr>
          <p:cNvSpPr txBox="1">
            <a:spLocks/>
          </p:cNvSpPr>
          <p:nvPr/>
        </p:nvSpPr>
        <p:spPr>
          <a:xfrm>
            <a:off x="3513665" y="3417893"/>
            <a:ext cx="3296285" cy="6555828"/>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VSAT の課題</a:t>
            </a:r>
          </a:p>
          <a:p>
            <a:pPr algn="l"/>
            <a:r>
              <a:rPr lang="ja-JP" altLang="en-US" sz="1100" dirty="0"/>
              <a:t>VSAT にはいくつかの技術的課題があります：</a:t>
            </a:r>
          </a:p>
          <a:p>
            <a:pPr algn="l"/>
            <a:r>
              <a:rPr lang="ja-JP" altLang="en-US" sz="1100" dirty="0"/>
              <a:t>● レイテンシ（遅延）</a:t>
            </a:r>
          </a:p>
          <a:p>
            <a:pPr algn="l"/>
            <a:r>
              <a:rPr lang="ja-JP" altLang="en-US" sz="1100" dirty="0"/>
              <a:t>- 地上回線より遅延が大きく、数百ミリ秒（一般に 600–700 ms）</a:t>
            </a:r>
          </a:p>
          <a:p>
            <a:pPr algn="l"/>
            <a:r>
              <a:rPr lang="ja-JP" altLang="en-US" sz="1100" dirty="0"/>
              <a:t>- 多くの SCADA／テレメトリ用途では許容範囲</a:t>
            </a:r>
          </a:p>
          <a:p>
            <a:pPr algn="l"/>
            <a:r>
              <a:rPr lang="ja-JP" altLang="en-US" sz="1100" dirty="0"/>
              <a:t>- 遅延を前提にした設計が必要</a:t>
            </a:r>
          </a:p>
          <a:p>
            <a:pPr algn="l"/>
            <a:r>
              <a:rPr lang="ja-JP" altLang="en-US" sz="1100" dirty="0"/>
              <a:t>● 見通し線（LOS：Line of Sight）</a:t>
            </a:r>
          </a:p>
          <a:p>
            <a:pPr algn="l"/>
            <a:r>
              <a:rPr lang="ja-JP" altLang="en-US" sz="1100" dirty="0"/>
              <a:t>- 衛星との LOS が必要</a:t>
            </a:r>
          </a:p>
          <a:p>
            <a:pPr algn="l"/>
            <a:r>
              <a:rPr lang="ja-JP" altLang="en-US" sz="1100" dirty="0"/>
              <a:t>- 動物・地滑りなどでアンテナ位置がずれると通信に影響</a:t>
            </a:r>
          </a:p>
          <a:p>
            <a:pPr algn="l"/>
            <a:r>
              <a:rPr lang="ja-JP" altLang="en-US" sz="1100" dirty="0"/>
              <a:t>● 電波干渉・天候の影響</a:t>
            </a:r>
          </a:p>
          <a:p>
            <a:pPr algn="l"/>
            <a:r>
              <a:rPr lang="ja-JP" altLang="en-US" sz="1100" dirty="0"/>
              <a:t>- RF 干渉</a:t>
            </a:r>
          </a:p>
          <a:p>
            <a:pPr algn="l"/>
            <a:r>
              <a:rPr lang="ja-JP" altLang="en-US" sz="1100" dirty="0"/>
              <a:t>- 雨・天候による信号劣化（特に Ku/Ka バンド）</a:t>
            </a:r>
          </a:p>
          <a:p>
            <a:pPr algn="l"/>
            <a:r>
              <a:rPr lang="ja-JP" altLang="en-US" sz="1100" dirty="0"/>
              <a:t>- 落雷による機器損傷</a:t>
            </a:r>
          </a:p>
          <a:p>
            <a:pPr algn="l"/>
            <a:r>
              <a:rPr lang="ja-JP" altLang="en-US" sz="1100" dirty="0"/>
              <a:t>- 太陽活動による通信障害</a:t>
            </a:r>
          </a:p>
          <a:p>
            <a:pPr algn="l"/>
            <a:endParaRPr lang="ja-JP" altLang="en-US" sz="1100" dirty="0"/>
          </a:p>
          <a:p>
            <a:pPr algn="l"/>
            <a:r>
              <a:rPr lang="ja-JP" altLang="en-US" sz="1100" dirty="0"/>
              <a:t>ネットワーク構成と管理</a:t>
            </a:r>
          </a:p>
          <a:p>
            <a:pPr algn="l"/>
            <a:r>
              <a:rPr lang="ja-JP" altLang="en-US" sz="1100" dirty="0"/>
              <a:t>利用者は：</a:t>
            </a:r>
          </a:p>
          <a:p>
            <a:pPr algn="l"/>
            <a:r>
              <a:rPr lang="ja-JP" altLang="en-US" sz="1100" dirty="0"/>
              <a:t>- 自前の VPN を構築する</a:t>
            </a:r>
          </a:p>
          <a:p>
            <a:pPr algn="l"/>
            <a:r>
              <a:rPr lang="ja-JP" altLang="en-US" sz="1100" dirty="0"/>
              <a:t>- 衛星サービス事業者の Virtual Network Operator（VNO）サービス を利用する</a:t>
            </a:r>
          </a:p>
          <a:p>
            <a:pPr algn="l"/>
            <a:r>
              <a:rPr lang="ja-JP" altLang="en-US" sz="1100" dirty="0"/>
              <a:t>といった選択が可能です。</a:t>
            </a:r>
          </a:p>
          <a:p>
            <a:pPr algn="l"/>
            <a:r>
              <a:rPr lang="ja-JP" altLang="en-US" sz="1100" dirty="0"/>
              <a:t>VNO を使うことでコスト削減や運用の簡素化が期待できます。</a:t>
            </a:r>
          </a:p>
          <a:p>
            <a:pPr algn="l"/>
            <a:r>
              <a:rPr lang="ja-JP" altLang="en-US" sz="1100" dirty="0"/>
              <a:t>また、ネットワーク管理サービス により</a:t>
            </a:r>
          </a:p>
          <a:p>
            <a:pPr algn="l"/>
            <a:r>
              <a:rPr lang="ja-JP" altLang="en-US" sz="1100" dirty="0"/>
              <a:t>VSAT のリンクやチャネルを集中管理できます。</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2828860"/>
            <a:ext cx="3429000" cy="9329272"/>
          </a:xfrm>
        </p:spPr>
        <p:txBody>
          <a:bodyPr>
            <a:normAutofit fontScale="92500" lnSpcReduction="10000"/>
          </a:bodyPr>
          <a:lstStyle/>
          <a:p>
            <a:pPr algn="l"/>
            <a:r>
              <a:rPr lang="ja-JP" altLang="en-US" sz="1200" dirty="0"/>
              <a:t>VSAT 通信のセキュリティは、</a:t>
            </a:r>
          </a:p>
          <a:p>
            <a:pPr algn="l"/>
            <a:r>
              <a:rPr lang="ja-JP" altLang="en-US" sz="1200" dirty="0"/>
              <a:t>- エンドポイント（フィールド端末やハブ） の脆弱性</a:t>
            </a:r>
          </a:p>
          <a:p>
            <a:pPr algn="l"/>
            <a:r>
              <a:rPr lang="ja-JP" altLang="en-US" sz="1200" dirty="0"/>
              <a:t>- 通信リンクの盗聴・妨害</a:t>
            </a:r>
          </a:p>
          <a:p>
            <a:pPr algn="l"/>
            <a:r>
              <a:rPr lang="ja-JP" altLang="en-US" sz="1200" dirty="0"/>
              <a:t>- プロトコルやサービスの弱点の悪用</a:t>
            </a:r>
          </a:p>
          <a:p>
            <a:pPr algn="l"/>
            <a:r>
              <a:rPr lang="ja-JP" altLang="en-US" sz="1200" dirty="0"/>
              <a:t>といった要因によって影響を受けます。</a:t>
            </a:r>
          </a:p>
          <a:p>
            <a:pPr algn="l"/>
            <a:r>
              <a:rPr lang="ja-JP" altLang="en-US" sz="1200" dirty="0"/>
              <a:t>衛星通信である以上、物理的なリスクも考慮しなければなりません。</a:t>
            </a:r>
          </a:p>
          <a:p>
            <a:pPr algn="l"/>
            <a:endParaRPr lang="ja-JP" altLang="en-US" sz="1200" dirty="0"/>
          </a:p>
          <a:p>
            <a:pPr algn="l"/>
            <a:r>
              <a:rPr lang="ja-JP" altLang="en-US" sz="1200" dirty="0"/>
              <a:t>1. 物理・RF レイヤのリスク</a:t>
            </a:r>
          </a:p>
          <a:p>
            <a:pPr algn="l"/>
            <a:r>
              <a:rPr lang="ja-JP" altLang="en-US" sz="1200" dirty="0"/>
              <a:t>VSAT アンテナは、衛星と正しく位置合わせされている必要があります。</a:t>
            </a:r>
          </a:p>
          <a:p>
            <a:pPr algn="l"/>
            <a:r>
              <a:rPr lang="ja-JP" altLang="en-US" sz="1200" dirty="0"/>
              <a:t>そのためには：</a:t>
            </a:r>
          </a:p>
          <a:p>
            <a:pPr algn="l"/>
            <a:r>
              <a:rPr lang="ja-JP" altLang="en-US" sz="1200" dirty="0"/>
              <a:t>- 空が遮られていないこと（LOS：Line of Sight）</a:t>
            </a:r>
          </a:p>
          <a:p>
            <a:pPr algn="l"/>
            <a:r>
              <a:rPr lang="ja-JP" altLang="en-US" sz="1200" dirty="0"/>
              <a:t>- アンテナ位置が維持されていること</a:t>
            </a:r>
          </a:p>
          <a:p>
            <a:pPr algn="l"/>
            <a:r>
              <a:rPr lang="ja-JP" altLang="en-US" sz="1200" dirty="0"/>
              <a:t>が必須です。</a:t>
            </a:r>
          </a:p>
          <a:p>
            <a:pPr algn="l"/>
            <a:r>
              <a:rPr lang="ja-JP" altLang="en-US" sz="1200" dirty="0"/>
              <a:t>RF リンクは以下の影響を受けます：</a:t>
            </a:r>
          </a:p>
          <a:p>
            <a:pPr algn="l"/>
            <a:r>
              <a:rPr lang="ja-JP" altLang="en-US" sz="1200" dirty="0"/>
              <a:t>- 意図的または偶発的な RF 干渉</a:t>
            </a:r>
          </a:p>
          <a:p>
            <a:pPr algn="l"/>
            <a:r>
              <a:rPr lang="ja-JP" altLang="en-US" sz="1200" dirty="0"/>
              <a:t>- 雨・雪などの 天候による信号劣化</a:t>
            </a:r>
          </a:p>
          <a:p>
            <a:pPr algn="l"/>
            <a:r>
              <a:rPr lang="ja-JP" altLang="en-US" sz="1200" dirty="0"/>
              <a:t>- 盗聴・傍受 のリスク</a:t>
            </a:r>
          </a:p>
          <a:p>
            <a:pPr algn="l"/>
            <a:r>
              <a:rPr lang="ja-JP" altLang="en-US" sz="1200" dirty="0"/>
              <a:t>- 太陽活動（Solar Activity） による通信障害</a:t>
            </a:r>
          </a:p>
          <a:p>
            <a:pPr algn="l"/>
            <a:r>
              <a:rPr lang="ja-JP" altLang="en-US" sz="1200" dirty="0"/>
              <a:t>VSAT は無線通信である以上、これらの影響を避けることはできません。</a:t>
            </a:r>
          </a:p>
          <a:p>
            <a:pPr algn="l"/>
            <a:endParaRPr lang="ja-JP" altLang="en-US" sz="1200" dirty="0"/>
          </a:p>
          <a:p>
            <a:pPr algn="l"/>
            <a:r>
              <a:rPr lang="ja-JP" altLang="en-US" sz="1200" dirty="0"/>
              <a:t>2. 暗号化とネットワーク分離のサポート</a:t>
            </a:r>
          </a:p>
          <a:p>
            <a:pPr algn="l"/>
            <a:r>
              <a:rPr lang="ja-JP" altLang="en-US" sz="1200" dirty="0"/>
              <a:t>VSAT は以下をサポートできます：</a:t>
            </a:r>
          </a:p>
          <a:p>
            <a:pPr algn="l"/>
            <a:r>
              <a:rPr lang="ja-JP" altLang="en-US" sz="1200" dirty="0"/>
              <a:t>- 仮想 LAN / プライベートネットワーク</a:t>
            </a:r>
          </a:p>
          <a:p>
            <a:pPr algn="l"/>
            <a:r>
              <a:rPr lang="ja-JP" altLang="en-US" sz="1200" dirty="0"/>
              <a:t>- トラフィックの暗号化</a:t>
            </a:r>
          </a:p>
          <a:p>
            <a:pPr algn="l"/>
            <a:r>
              <a:rPr lang="ja-JP" altLang="en-US" sz="1200" dirty="0"/>
              <a:t>IP ベースのセキュリティ制御（IPSec など）も適用できますが、</a:t>
            </a:r>
          </a:p>
          <a:p>
            <a:pPr algn="l"/>
            <a:r>
              <a:rPr lang="ja-JP" altLang="en-US" sz="1200" dirty="0"/>
              <a:t>いくつかのトレードオフがあります。</a:t>
            </a:r>
          </a:p>
          <a:p>
            <a:pPr algn="l"/>
            <a:r>
              <a:rPr lang="ja-JP" altLang="en-US" sz="1200" dirty="0"/>
              <a:t>● IPSec の課題</a:t>
            </a:r>
          </a:p>
          <a:p>
            <a:pPr algn="l"/>
            <a:r>
              <a:rPr lang="ja-JP" altLang="en-US" sz="1200" dirty="0"/>
              <a:t>古い実装では、TCP ヘッダが暗号化されることで</a:t>
            </a:r>
          </a:p>
          <a:p>
            <a:pPr algn="l"/>
            <a:r>
              <a:rPr lang="ja-JP" altLang="en-US" sz="1200" dirty="0"/>
              <a:t>遅延によるパフォーマンス低下 が発生することがあります。</a:t>
            </a:r>
          </a:p>
          <a:p>
            <a:pPr algn="l"/>
            <a:r>
              <a:rPr lang="ja-JP" altLang="en-US" sz="1200" dirty="0"/>
              <a:t>● アプリケーション側の課題</a:t>
            </a:r>
          </a:p>
          <a:p>
            <a:pPr algn="l"/>
            <a:r>
              <a:rPr lang="ja-JP" altLang="en-US" sz="1200" dirty="0"/>
              <a:t>SSL、SSH、PGP などの暗号化は VSAT で利用できますが、</a:t>
            </a:r>
          </a:p>
          <a:p>
            <a:pPr algn="l"/>
            <a:r>
              <a:rPr lang="ja-JP" altLang="en-US" sz="1200" dirty="0"/>
              <a:t>SCADA アプリケーションとの相性問題 が発生する場合があります。</a:t>
            </a:r>
          </a:p>
          <a:p>
            <a:pPr algn="l"/>
            <a:r>
              <a:rPr lang="ja-JP" altLang="en-US" sz="1200" dirty="0"/>
              <a:t>● サービスプロバイダの暗号化</a:t>
            </a:r>
          </a:p>
          <a:p>
            <a:pPr algn="l"/>
            <a:r>
              <a:rPr lang="ja-JP" altLang="en-US" sz="1200" dirty="0"/>
              <a:t>多くの VSAT 事業者は、</a:t>
            </a:r>
          </a:p>
          <a:p>
            <a:pPr algn="l"/>
            <a:r>
              <a:rPr lang="ja-JP" altLang="en-US" sz="1200" dirty="0"/>
              <a:t>DES 56bit のような一括暗号化（Bulk Encryption） を利用しています。</a:t>
            </a:r>
          </a:p>
          <a:p>
            <a:pPr algn="l"/>
            <a:endParaRPr lang="ja-JP" altLang="en-US" sz="1200" dirty="0"/>
          </a:p>
          <a:p>
            <a:pPr algn="l"/>
            <a:endParaRPr lang="ja-JP" altLang="en-US" sz="1200" dirty="0"/>
          </a:p>
        </p:txBody>
      </p:sp>
      <p:pic>
        <p:nvPicPr>
          <p:cNvPr id="4" name="図 3">
            <a:extLst>
              <a:ext uri="{FF2B5EF4-FFF2-40B4-BE49-F238E27FC236}">
                <a16:creationId xmlns:a16="http://schemas.microsoft.com/office/drawing/2014/main" id="{11FEA557-64DA-427D-BB9A-DC34DA1328E9}"/>
              </a:ext>
            </a:extLst>
          </p:cNvPr>
          <p:cNvPicPr>
            <a:picLocks noChangeAspect="1"/>
          </p:cNvPicPr>
          <p:nvPr/>
        </p:nvPicPr>
        <p:blipFill>
          <a:blip r:embed="rId2"/>
          <a:stretch>
            <a:fillRect/>
          </a:stretch>
        </p:blipFill>
        <p:spPr>
          <a:xfrm>
            <a:off x="1077738" y="50800"/>
            <a:ext cx="4702522" cy="2675465"/>
          </a:xfrm>
          <a:prstGeom prst="rect">
            <a:avLst/>
          </a:prstGeom>
        </p:spPr>
      </p:pic>
      <p:sp>
        <p:nvSpPr>
          <p:cNvPr id="5" name="サブタイトル 2">
            <a:extLst>
              <a:ext uri="{FF2B5EF4-FFF2-40B4-BE49-F238E27FC236}">
                <a16:creationId xmlns:a16="http://schemas.microsoft.com/office/drawing/2014/main" id="{3B4A554A-DE3E-4F27-91A8-74E54435E50F}"/>
              </a:ext>
            </a:extLst>
          </p:cNvPr>
          <p:cNvSpPr txBox="1">
            <a:spLocks/>
          </p:cNvSpPr>
          <p:nvPr/>
        </p:nvSpPr>
        <p:spPr>
          <a:xfrm>
            <a:off x="3428999" y="2828858"/>
            <a:ext cx="3429000" cy="668767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3. 攻撃者による VSAT 盗聴の可能性</a:t>
            </a:r>
          </a:p>
          <a:p>
            <a:pPr algn="l"/>
            <a:r>
              <a:rPr lang="ja-JP" altLang="en-US" sz="1100" dirty="0"/>
              <a:t>攻撃者は VSAT 機器を購入し、端末を改造することで：</a:t>
            </a:r>
          </a:p>
          <a:p>
            <a:pPr algn="l"/>
            <a:r>
              <a:rPr lang="ja-JP" altLang="en-US" sz="1100" dirty="0"/>
              <a:t>- 他ユーザーの通信を傍受</a:t>
            </a:r>
          </a:p>
          <a:p>
            <a:pPr algn="l"/>
            <a:r>
              <a:rPr lang="ja-JP" altLang="en-US" sz="1100" dirty="0"/>
              <a:t>- 周波数やタイムスロットを勝手にチューニング</a:t>
            </a:r>
          </a:p>
          <a:p>
            <a:pPr algn="l"/>
            <a:r>
              <a:rPr lang="ja-JP" altLang="en-US" sz="1100" dirty="0"/>
              <a:t>- 一括暗号化（Bulk Encryption）を総当たりで突破</a:t>
            </a:r>
          </a:p>
          <a:p>
            <a:pPr algn="l"/>
            <a:r>
              <a:rPr lang="ja-JP" altLang="en-US" sz="1100" dirty="0"/>
              <a:t>といった攻撃が可能になります。</a:t>
            </a:r>
          </a:p>
          <a:p>
            <a:pPr algn="l"/>
            <a:r>
              <a:rPr lang="ja-JP" altLang="en-US" sz="1100" dirty="0"/>
              <a:t>特に DES 56bit のような弱い暗号は</a:t>
            </a:r>
          </a:p>
          <a:p>
            <a:pPr algn="l"/>
            <a:r>
              <a:rPr lang="ja-JP" altLang="en-US" sz="1100" dirty="0"/>
              <a:t>単純な brute force で破られる 可能性があります。</a:t>
            </a:r>
          </a:p>
          <a:p>
            <a:pPr algn="l"/>
            <a:endParaRPr lang="ja-JP" altLang="en-US" sz="1100" dirty="0"/>
          </a:p>
          <a:p>
            <a:pPr algn="l"/>
            <a:r>
              <a:rPr lang="ja-JP" altLang="en-US" sz="1100" dirty="0"/>
              <a:t>4. エンドポイントの脆弱性</a:t>
            </a:r>
          </a:p>
          <a:p>
            <a:pPr algn="l"/>
            <a:r>
              <a:rPr lang="ja-JP" altLang="en-US" sz="1100" dirty="0"/>
              <a:t>VSAT のセキュリティは、</a:t>
            </a:r>
          </a:p>
          <a:p>
            <a:pPr algn="l"/>
            <a:r>
              <a:rPr lang="ja-JP" altLang="en-US" sz="1100" dirty="0"/>
              <a:t>端末側（ハブサーバ・PC・アプリケーション）の脆弱性管理 にも依存します。</a:t>
            </a:r>
          </a:p>
          <a:p>
            <a:pPr algn="l"/>
            <a:r>
              <a:rPr lang="ja-JP" altLang="en-US" sz="1100" dirty="0"/>
              <a:t>実際に発生したインシデントでは：</a:t>
            </a:r>
          </a:p>
          <a:p>
            <a:pPr algn="l"/>
            <a:r>
              <a:rPr lang="ja-JP" altLang="en-US" sz="1100" dirty="0"/>
              <a:t>- ネットワークワームが VSAT 経由で端末に感染</a:t>
            </a:r>
          </a:p>
          <a:p>
            <a:pPr algn="l"/>
            <a:r>
              <a:rPr lang="ja-JP" altLang="en-US" sz="1100" dirty="0"/>
              <a:t>- VSAT の通信量（管理ツールや請求情報で確認）が急増</a:t>
            </a:r>
          </a:p>
          <a:p>
            <a:pPr algn="l"/>
            <a:r>
              <a:rPr lang="ja-JP" altLang="en-US" sz="1100" dirty="0"/>
              <a:t>- それが感染の最初の兆候となった</a:t>
            </a:r>
          </a:p>
          <a:p>
            <a:pPr algn="l"/>
            <a:r>
              <a:rPr lang="ja-JP" altLang="en-US" sz="1100" dirty="0"/>
              <a:t>というケースがあります。</a:t>
            </a:r>
          </a:p>
          <a:p>
            <a:pPr algn="l"/>
            <a:r>
              <a:rPr lang="ja-JP" altLang="en-US" sz="1100" dirty="0"/>
              <a:t>特に Conficker によって、</a:t>
            </a:r>
          </a:p>
          <a:p>
            <a:pPr algn="l"/>
            <a:r>
              <a:rPr lang="ja-JP" altLang="en-US" sz="1100" dirty="0"/>
              <a:t>VSAT 利用者が予想外の高額請求を受けた例もあります。</a:t>
            </a:r>
          </a:p>
          <a:p>
            <a:pPr algn="l"/>
            <a:endParaRPr lang="ja-JP" altLang="en-US" sz="1100" dirty="0"/>
          </a:p>
          <a:p>
            <a:pPr algn="l"/>
            <a:r>
              <a:rPr lang="ja-JP" altLang="en-US" sz="1100" dirty="0"/>
              <a:t>ICS/OT の現場では、VSAT は「最後の手段の通信路」であることが多いですが、</a:t>
            </a:r>
          </a:p>
          <a:p>
            <a:pPr algn="l"/>
            <a:r>
              <a:rPr lang="ja-JP" altLang="en-US" sz="1100" dirty="0"/>
              <a:t>その分、エンドポイント・RF・暗号化・運用管理 のすべてを</a:t>
            </a:r>
          </a:p>
          <a:p>
            <a:pPr algn="l"/>
            <a:r>
              <a:rPr lang="ja-JP" altLang="en-US" sz="1100" dirty="0"/>
              <a:t>慎重に設計しないと重大なリスクにつながります。</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0088" y="3826933"/>
            <a:ext cx="6852285" cy="8314268"/>
          </a:xfrm>
        </p:spPr>
        <p:txBody>
          <a:bodyPr>
            <a:normAutofit fontScale="97500"/>
          </a:bodyPr>
          <a:lstStyle/>
          <a:p>
            <a:pPr algn="l"/>
            <a:r>
              <a:rPr lang="ja-JP" altLang="en-US" sz="1400" dirty="0"/>
              <a:t>BGAN（Broadband Global Area Network）は Inmarsat が提供するサービスで、</a:t>
            </a:r>
          </a:p>
          <a:p>
            <a:pPr algn="l"/>
            <a:r>
              <a:rPr lang="ja-JP" altLang="en-US" sz="1400" dirty="0"/>
              <a:t>I-4 と呼ばれる 3 基の静止衛星 を利用して、ほぼ全世界をカバーしています。</a:t>
            </a:r>
          </a:p>
          <a:p>
            <a:pPr algn="l"/>
            <a:r>
              <a:rPr lang="ja-JP" altLang="en-US" sz="1400" dirty="0"/>
              <a:t>BGAN 端末の大きな利点のひとつは 低消費電力 です。</a:t>
            </a:r>
          </a:p>
          <a:p>
            <a:pPr algn="l"/>
            <a:r>
              <a:rPr lang="ja-JP" altLang="en-US" sz="1400" dirty="0"/>
              <a:t>- アイドル時：4W</a:t>
            </a:r>
          </a:p>
          <a:p>
            <a:pPr algn="l"/>
            <a:r>
              <a:rPr lang="ja-JP" altLang="en-US" sz="1400" dirty="0"/>
              <a:t>- 送信バースト時：22W</a:t>
            </a:r>
          </a:p>
          <a:p>
            <a:pPr algn="l"/>
            <a:r>
              <a:rPr lang="ja-JP" altLang="en-US" sz="1400" dirty="0"/>
              <a:t>これは、アイドル時・送信時ともに 90〜150W を消費する衛星ディッシュシステムより</a:t>
            </a:r>
          </a:p>
          <a:p>
            <a:pPr algn="l"/>
            <a:r>
              <a:rPr lang="ja-JP" altLang="en-US" sz="1400" dirty="0"/>
              <a:t>はるかに低消費電力 です。</a:t>
            </a:r>
          </a:p>
          <a:p>
            <a:pPr algn="l"/>
            <a:endParaRPr lang="ja-JP" altLang="en-US" sz="1400" dirty="0"/>
          </a:p>
          <a:p>
            <a:pPr algn="l"/>
            <a:r>
              <a:rPr lang="ja-JP" altLang="en-US" sz="1400" dirty="0"/>
              <a:t>Inmarsat が提供する 3 種類の BGAN サービス</a:t>
            </a:r>
          </a:p>
          <a:p>
            <a:pPr algn="l"/>
            <a:r>
              <a:rPr lang="ja-JP" altLang="en-US" sz="1400" dirty="0"/>
              <a:t>1. Standard BGAN</a:t>
            </a:r>
          </a:p>
          <a:p>
            <a:pPr algn="l"/>
            <a:r>
              <a:rPr lang="ja-JP" altLang="en-US" sz="1400" dirty="0"/>
              <a:t>インターネット、電話、SMS、FAX、ISDN、ストリーミングなど</a:t>
            </a:r>
          </a:p>
          <a:p>
            <a:pPr algn="l"/>
            <a:r>
              <a:rPr lang="ja-JP" altLang="en-US" sz="1400" dirty="0"/>
              <a:t>一般的な通信サービスを提供。</a:t>
            </a:r>
          </a:p>
          <a:p>
            <a:pPr algn="l"/>
            <a:endParaRPr lang="ja-JP" altLang="en-US" sz="1400" dirty="0"/>
          </a:p>
          <a:p>
            <a:pPr algn="l"/>
            <a:r>
              <a:rPr lang="ja-JP" altLang="en-US" sz="1400" dirty="0"/>
              <a:t>2. BGAN M2M（Machine-to-Machine）サービス</a:t>
            </a:r>
          </a:p>
          <a:p>
            <a:pPr algn="l"/>
            <a:r>
              <a:rPr lang="ja-JP" altLang="en-US" sz="1400" dirty="0"/>
              <a:t>2012 年 2 月に開始された、低帯域幅の SCADA／M2M 向けサービス。</a:t>
            </a:r>
          </a:p>
          <a:p>
            <a:pPr algn="l"/>
            <a:r>
              <a:rPr lang="ja-JP" altLang="en-US" sz="1400" dirty="0"/>
              <a:t>- 遠隔 SCADA や M2M 機器の監視・制御向け</a:t>
            </a:r>
          </a:p>
          <a:p>
            <a:pPr algn="l"/>
            <a:r>
              <a:rPr lang="ja-JP" altLang="en-US" sz="1400" dirty="0"/>
              <a:t>- 月間 2 / 5 / 10 / 20 MB のプラン</a:t>
            </a:r>
          </a:p>
          <a:p>
            <a:pPr algn="l"/>
            <a:r>
              <a:rPr lang="ja-JP" altLang="en-US" sz="1400" dirty="0"/>
              <a:t>- 対応端末：Hughes 9502 BGAN</a:t>
            </a:r>
          </a:p>
          <a:p>
            <a:pPr algn="l"/>
            <a:endParaRPr lang="ja-JP" altLang="en-US" sz="1400" dirty="0"/>
          </a:p>
          <a:p>
            <a:pPr algn="l"/>
            <a:r>
              <a:rPr lang="ja-JP" altLang="en-US" sz="1400" dirty="0"/>
              <a:t>3. BGAN Link</a:t>
            </a:r>
          </a:p>
          <a:p>
            <a:pPr algn="l"/>
            <a:r>
              <a:rPr lang="ja-JP" altLang="en-US" sz="1400" dirty="0"/>
              <a:t>2012 年 3 月に開始された、固定拠点向けの大容量サービス。</a:t>
            </a:r>
          </a:p>
          <a:p>
            <a:pPr algn="l"/>
            <a:r>
              <a:rPr lang="ja-JP" altLang="en-US" sz="1400" dirty="0"/>
              <a:t>- 月間 5〜30 GB のデータ転送が必要な場所向け</a:t>
            </a:r>
          </a:p>
          <a:p>
            <a:pPr algn="l"/>
            <a:r>
              <a:rPr lang="ja-JP" altLang="en-US" sz="1400" dirty="0"/>
              <a:t>- Class 1 BGAN 端末のみ対応</a:t>
            </a:r>
          </a:p>
          <a:p>
            <a:pPr algn="l"/>
            <a:r>
              <a:rPr lang="ja-JP" altLang="en-US" sz="1400" dirty="0"/>
              <a:t>- Hughes 9201</a:t>
            </a:r>
          </a:p>
          <a:p>
            <a:pPr algn="l"/>
            <a:r>
              <a:rPr lang="ja-JP" altLang="en-US" sz="1400" dirty="0"/>
              <a:t>- Explorer 700 / 710</a:t>
            </a:r>
          </a:p>
          <a:p>
            <a:pPr algn="l"/>
            <a:endParaRPr lang="ja-JP" altLang="en-US" sz="1400" dirty="0"/>
          </a:p>
          <a:p>
            <a:pPr algn="l"/>
            <a:r>
              <a:rPr lang="ja-JP" altLang="en-US" sz="1400" dirty="0"/>
              <a:t>参考</a:t>
            </a:r>
          </a:p>
          <a:p>
            <a:pPr algn="l"/>
            <a:r>
              <a:rPr lang="ja-JP" altLang="en-US" sz="1400" dirty="0"/>
              <a:t>https://en.wikipedia.org/wiki/Broadband_Global_Area_Network</a:t>
            </a:r>
          </a:p>
        </p:txBody>
      </p:sp>
      <p:pic>
        <p:nvPicPr>
          <p:cNvPr id="4" name="図 3">
            <a:extLst>
              <a:ext uri="{FF2B5EF4-FFF2-40B4-BE49-F238E27FC236}">
                <a16:creationId xmlns:a16="http://schemas.microsoft.com/office/drawing/2014/main" id="{90870327-DA00-4CCC-B92A-0F0D0ED894DF}"/>
              </a:ext>
            </a:extLst>
          </p:cNvPr>
          <p:cNvPicPr>
            <a:picLocks noChangeAspect="1"/>
          </p:cNvPicPr>
          <p:nvPr/>
        </p:nvPicPr>
        <p:blipFill>
          <a:blip r:embed="rId2"/>
          <a:stretch>
            <a:fillRect/>
          </a:stretch>
        </p:blipFill>
        <p:spPr>
          <a:xfrm>
            <a:off x="244296" y="135466"/>
            <a:ext cx="6383867" cy="3614961"/>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191495"/>
            <a:ext cx="6852285" cy="9000505"/>
          </a:xfrm>
        </p:spPr>
        <p:txBody>
          <a:bodyPr>
            <a:normAutofit fontScale="67500" lnSpcReduction="20000"/>
          </a:bodyPr>
          <a:lstStyle/>
          <a:p>
            <a:pPr algn="l"/>
            <a:r>
              <a:rPr lang="ja-JP" altLang="en-US" sz="1400" dirty="0"/>
              <a:t>多くのベンダーは、ISM バンド通信、RF メッシュ、マイクロ波通信など、</a:t>
            </a:r>
          </a:p>
          <a:p>
            <a:pPr algn="l"/>
            <a:r>
              <a:rPr lang="ja-JP" altLang="en-US" sz="1400" dirty="0"/>
              <a:t>さまざまな無線技術を利用したフィールドデバイスを提供しています。</a:t>
            </a:r>
          </a:p>
          <a:p>
            <a:pPr algn="l"/>
            <a:r>
              <a:rPr lang="ja-JP" altLang="en-US" sz="1400" dirty="0"/>
              <a:t>これらの無線リンクでは 独自プロトコル（proprietary protocol） が使われることが多く、</a:t>
            </a:r>
          </a:p>
          <a:p>
            <a:pPr algn="l"/>
            <a:r>
              <a:rPr lang="ja-JP" altLang="en-US" sz="1400" dirty="0"/>
              <a:t>その多くは TCP/IP ベースではありません。</a:t>
            </a:r>
          </a:p>
          <a:p>
            <a:pPr algn="l"/>
            <a:r>
              <a:rPr lang="ja-JP" altLang="en-US" sz="1400" dirty="0"/>
              <a:t>TCP/IP プロトコルのセキュリティ特性は広く研究され、よく理解されていますが、</a:t>
            </a:r>
          </a:p>
          <a:p>
            <a:pPr algn="l"/>
            <a:r>
              <a:rPr lang="ja-JP" altLang="en-US" sz="1400" dirty="0"/>
              <a:t>独自プロトコルのセキュリティは マーケティング資料を信じるしかない ことが多く、</a:t>
            </a:r>
          </a:p>
          <a:p>
            <a:pPr algn="l"/>
            <a:r>
              <a:rPr lang="ja-JP" altLang="en-US" sz="1400" dirty="0"/>
              <a:t>実際には十分に検証されていない場合があります。</a:t>
            </a:r>
          </a:p>
          <a:p>
            <a:pPr algn="l"/>
            <a:r>
              <a:rPr lang="ja-JP" altLang="en-US" sz="1400" dirty="0"/>
              <a:t>これは「独自プロトコル＝弱い」という意味ではありませんが、</a:t>
            </a:r>
          </a:p>
          <a:p>
            <a:pPr algn="l"/>
            <a:r>
              <a:rPr lang="ja-JP" altLang="en-US" sz="1400" dirty="0"/>
              <a:t>“セキュリティが未知数” である という点が重要です。</a:t>
            </a:r>
          </a:p>
          <a:p>
            <a:pPr algn="l"/>
            <a:endParaRPr lang="ja-JP" altLang="en-US" sz="1400" dirty="0"/>
          </a:p>
          <a:p>
            <a:pPr algn="l"/>
            <a:r>
              <a:rPr lang="ja-JP" altLang="en-US" sz="1400" dirty="0"/>
              <a:t>PHY/MAC レイヤのセキュリティは期待できない</a:t>
            </a:r>
          </a:p>
          <a:p>
            <a:pPr algn="l"/>
            <a:r>
              <a:rPr lang="ja-JP" altLang="en-US" sz="1400" dirty="0"/>
              <a:t>Wi-Fi や Bluetooth のような</a:t>
            </a:r>
          </a:p>
          <a:p>
            <a:pPr algn="l"/>
            <a:r>
              <a:rPr lang="ja-JP" altLang="en-US" sz="1400" dirty="0"/>
              <a:t>PHY/MAC レイヤでのセキュリティ（暗号化・認証）は、</a:t>
            </a:r>
          </a:p>
          <a:p>
            <a:pPr algn="l"/>
            <a:r>
              <a:rPr lang="ja-JP" altLang="en-US" sz="1400" dirty="0"/>
              <a:t>独自無線プロトコルでは ほとんど提供されません。</a:t>
            </a:r>
          </a:p>
          <a:p>
            <a:pPr algn="l"/>
            <a:r>
              <a:rPr lang="ja-JP" altLang="en-US" sz="1400" dirty="0"/>
              <a:t>そのため、通信の安全性は</a:t>
            </a:r>
          </a:p>
          <a:p>
            <a:pPr algn="l"/>
            <a:r>
              <a:rPr lang="ja-JP" altLang="en-US" sz="1400" dirty="0"/>
              <a:t>ベンダーが上位レイヤでどんな暗号化・認証を実装しているか</a:t>
            </a:r>
          </a:p>
          <a:p>
            <a:pPr algn="l"/>
            <a:r>
              <a:rPr lang="ja-JP" altLang="en-US" sz="1400" dirty="0"/>
              <a:t>に大きく依存します。</a:t>
            </a:r>
          </a:p>
          <a:p>
            <a:pPr algn="l"/>
            <a:r>
              <a:rPr lang="ja-JP" altLang="en-US" sz="1400" dirty="0"/>
              <a:t>可能であれば、</a:t>
            </a:r>
          </a:p>
          <a:p>
            <a:pPr algn="l"/>
            <a:r>
              <a:rPr lang="ja-JP" altLang="en-US" sz="1400" dirty="0"/>
              <a:t>上位レイヤで暗号化と認証を提供する製品を優先すべき です。</a:t>
            </a:r>
          </a:p>
          <a:p>
            <a:pPr algn="l"/>
            <a:endParaRPr lang="ja-JP" altLang="en-US" sz="1400" dirty="0"/>
          </a:p>
          <a:p>
            <a:pPr algn="l"/>
            <a:r>
              <a:rPr lang="ja-JP" altLang="en-US" sz="1400" dirty="0"/>
              <a:t>周波数ホッピングやライセンスバンドは“セキュリティ”ではない</a:t>
            </a:r>
          </a:p>
          <a:p>
            <a:pPr algn="l"/>
            <a:r>
              <a:rPr lang="ja-JP" altLang="en-US" sz="1400" dirty="0"/>
              <a:t>多くのベンダーは次のように主張します：</a:t>
            </a:r>
          </a:p>
          <a:p>
            <a:pPr algn="l"/>
            <a:r>
              <a:rPr lang="ja-JP" altLang="en-US" sz="1400" dirty="0"/>
              <a:t>• 	周波数ホッピングを使っているから安全</a:t>
            </a:r>
          </a:p>
          <a:p>
            <a:pPr algn="l"/>
            <a:r>
              <a:rPr lang="ja-JP" altLang="en-US" sz="1400" dirty="0"/>
              <a:t>• 	ライセンスバンドだから安全</a:t>
            </a:r>
          </a:p>
          <a:p>
            <a:pPr algn="l"/>
            <a:r>
              <a:rPr lang="ja-JP" altLang="en-US" sz="1400" dirty="0"/>
              <a:t>しかし、これらは本質的には 通信品質向上のための技術 であり、</a:t>
            </a:r>
          </a:p>
          <a:p>
            <a:pPr algn="l"/>
            <a:r>
              <a:rPr lang="ja-JP" altLang="en-US" sz="1400" dirty="0"/>
              <a:t>• 	帯域幅の向上</a:t>
            </a:r>
          </a:p>
          <a:p>
            <a:pPr algn="l"/>
            <a:r>
              <a:rPr lang="ja-JP" altLang="en-US" sz="1400" dirty="0"/>
              <a:t>• 	送信出力の増加</a:t>
            </a:r>
          </a:p>
          <a:p>
            <a:pPr algn="l"/>
            <a:r>
              <a:rPr lang="ja-JP" altLang="en-US" sz="1400" dirty="0"/>
              <a:t>• 	ノイズの低減</a:t>
            </a:r>
          </a:p>
          <a:p>
            <a:pPr algn="l"/>
            <a:r>
              <a:rPr lang="ja-JP" altLang="en-US" sz="1400" dirty="0"/>
              <a:t>といったメリットはありますが、</a:t>
            </a:r>
          </a:p>
          <a:p>
            <a:pPr algn="l"/>
            <a:r>
              <a:rPr lang="ja-JP" altLang="en-US" sz="1400" dirty="0"/>
              <a:t>セキュリティ対策としては非常に弱く、簡単に回避されます。</a:t>
            </a:r>
          </a:p>
          <a:p>
            <a:pPr algn="l"/>
            <a:r>
              <a:rPr lang="ja-JP" altLang="en-US" sz="1400" dirty="0"/>
              <a:t>したがって、</a:t>
            </a:r>
          </a:p>
          <a:p>
            <a:pPr algn="l"/>
            <a:r>
              <a:rPr lang="ja-JP" altLang="en-US" sz="1400" dirty="0"/>
              <a:t>周波数ホッピングやライセンスバンドを “セキュリティ” と考えてはいけません。</a:t>
            </a:r>
          </a:p>
          <a:p>
            <a:pPr algn="l"/>
            <a:endParaRPr lang="ja-JP" altLang="en-US" sz="1400" dirty="0"/>
          </a:p>
          <a:p>
            <a:pPr algn="l"/>
            <a:r>
              <a:rPr lang="ja-JP" altLang="en-US" sz="1400" dirty="0"/>
              <a:t>最も安全な無線通信を実現するために</a:t>
            </a:r>
          </a:p>
          <a:p>
            <a:pPr algn="l"/>
            <a:r>
              <a:rPr lang="ja-JP" altLang="en-US" sz="1400" dirty="0"/>
              <a:t>無線通信をできる限り安全にするには：</a:t>
            </a:r>
          </a:p>
          <a:p>
            <a:pPr algn="l"/>
            <a:r>
              <a:rPr lang="ja-JP" altLang="en-US" sz="1400" dirty="0"/>
              <a:t>• 	ベンダーが提供するセキュリティ機能（暗号化・認証）を必ず有効化する</a:t>
            </a:r>
          </a:p>
          <a:p>
            <a:pPr algn="l"/>
            <a:r>
              <a:rPr lang="ja-JP" altLang="en-US" sz="1400" dirty="0"/>
              <a:t>• 	ただし、ICS の通信要件と互換性があるか 事前に十分テストする</a:t>
            </a:r>
          </a:p>
          <a:p>
            <a:pPr algn="l"/>
            <a:r>
              <a:rPr lang="ja-JP" altLang="en-US" sz="1400" dirty="0"/>
              <a:t>これが重要です。</a:t>
            </a:r>
          </a:p>
          <a:p>
            <a:pPr algn="l"/>
            <a:endParaRPr lang="ja-JP" altLang="en-US" sz="1400" dirty="0"/>
          </a:p>
          <a:p>
            <a:pPr algn="l"/>
            <a:r>
              <a:rPr lang="ja-JP" altLang="en-US" sz="1400" dirty="0"/>
              <a:t>ICS/OT の無線は「便利だから使う」ではなく、</a:t>
            </a:r>
          </a:p>
          <a:p>
            <a:pPr algn="l"/>
            <a:r>
              <a:rPr lang="ja-JP" altLang="en-US" sz="1400" dirty="0"/>
              <a:t>“どこまで安全にできるか” を理解したうえで設計する必要がある</a:t>
            </a:r>
          </a:p>
          <a:p>
            <a:pPr algn="l"/>
            <a:r>
              <a:rPr lang="ja-JP" altLang="en-US" sz="1400" dirty="0"/>
              <a:t>という点がよく表現された内容ですね。</a:t>
            </a:r>
          </a:p>
        </p:txBody>
      </p:sp>
      <p:pic>
        <p:nvPicPr>
          <p:cNvPr id="4" name="図 3">
            <a:extLst>
              <a:ext uri="{FF2B5EF4-FFF2-40B4-BE49-F238E27FC236}">
                <a16:creationId xmlns:a16="http://schemas.microsoft.com/office/drawing/2014/main" id="{ACCF7683-1D3C-4881-8D32-4EADFE7D9A51}"/>
              </a:ext>
            </a:extLst>
          </p:cNvPr>
          <p:cNvPicPr>
            <a:picLocks noChangeAspect="1"/>
          </p:cNvPicPr>
          <p:nvPr/>
        </p:nvPicPr>
        <p:blipFill>
          <a:blip r:embed="rId2"/>
          <a:stretch>
            <a:fillRect/>
          </a:stretch>
        </p:blipFill>
        <p:spPr>
          <a:xfrm>
            <a:off x="725275" y="33866"/>
            <a:ext cx="5401733" cy="3069167"/>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776131"/>
            <a:ext cx="6852285" cy="6908800"/>
          </a:xfrm>
        </p:spPr>
        <p:txBody>
          <a:bodyPr>
            <a:normAutofit/>
          </a:bodyPr>
          <a:lstStyle/>
          <a:p>
            <a:pPr algn="l"/>
            <a:r>
              <a:rPr lang="ja-JP" altLang="en-US" sz="1400" dirty="0"/>
              <a:t>RF メッシュネットワークでは、</a:t>
            </a:r>
          </a:p>
          <a:p>
            <a:pPr algn="l"/>
            <a:r>
              <a:rPr lang="ja-JP" altLang="en-US" sz="1400" dirty="0"/>
              <a:t>参加している各デバイス（ノード）が 他のデバイスへデータを中継（ルーティング） できます。</a:t>
            </a:r>
          </a:p>
          <a:p>
            <a:pPr algn="l"/>
            <a:r>
              <a:rPr lang="ja-JP" altLang="en-US" sz="1400" dirty="0"/>
              <a:t>これにより、すべてのデバイスが中央のアクセスポイントを直接見られない場合でも</a:t>
            </a:r>
          </a:p>
          <a:p>
            <a:pPr algn="l"/>
            <a:r>
              <a:rPr lang="ja-JP" altLang="en-US" sz="1400" dirty="0"/>
              <a:t>通信が成立します。</a:t>
            </a:r>
          </a:p>
          <a:p>
            <a:pPr algn="l"/>
            <a:r>
              <a:rPr lang="ja-JP" altLang="en-US" sz="1400" dirty="0"/>
              <a:t>少数のノードが ゲートウェイ として機能し、</a:t>
            </a:r>
          </a:p>
          <a:p>
            <a:pPr algn="l"/>
            <a:r>
              <a:rPr lang="ja-JP" altLang="en-US" sz="1400" dirty="0"/>
              <a:t>他のノードからのデータを中継して、</a:t>
            </a:r>
          </a:p>
          <a:p>
            <a:pPr algn="l"/>
            <a:r>
              <a:rPr lang="ja-JP" altLang="en-US" sz="1400" dirty="0"/>
              <a:t>最終的にセルラーなどの WAN ネットワークへ到達させます。</a:t>
            </a:r>
          </a:p>
          <a:p>
            <a:pPr algn="l"/>
            <a:endParaRPr lang="ja-JP" altLang="en-US" sz="1400" dirty="0"/>
          </a:p>
          <a:p>
            <a:pPr algn="l"/>
            <a:r>
              <a:rPr lang="ja-JP" altLang="en-US" sz="1400" dirty="0"/>
              <a:t>RF メッシュがよく使われる場面</a:t>
            </a:r>
          </a:p>
          <a:p>
            <a:pPr algn="l"/>
            <a:r>
              <a:rPr lang="ja-JP" altLang="en-US" sz="1400" dirty="0"/>
              <a:t>RF メッシュは次のような無線ネットワークで特に有効です：</a:t>
            </a:r>
          </a:p>
          <a:p>
            <a:pPr algn="l"/>
            <a:r>
              <a:rPr lang="ja-JP" altLang="en-US" sz="1400" dirty="0"/>
              <a:t>• 	大量のデバイス が存在する場合</a:t>
            </a:r>
          </a:p>
          <a:p>
            <a:pPr algn="l"/>
            <a:r>
              <a:rPr lang="ja-JP" altLang="en-US" sz="1400" dirty="0"/>
              <a:t>• 	すべてのデバイスが 中央アクセスポイントを直接見られない 場合</a:t>
            </a:r>
          </a:p>
          <a:p>
            <a:pPr algn="l"/>
            <a:r>
              <a:rPr lang="ja-JP" altLang="en-US" sz="1400" dirty="0"/>
              <a:t>• 	自己修復（self‑healing） できる柔軟なネットワークが求められる場合</a:t>
            </a:r>
          </a:p>
          <a:p>
            <a:pPr algn="l"/>
            <a:r>
              <a:rPr lang="ja-JP" altLang="en-US" sz="1400" dirty="0"/>
              <a:t>• 	レイテンシ（遅延）があまり問題にならない 場合</a:t>
            </a:r>
          </a:p>
          <a:p>
            <a:pPr algn="l"/>
            <a:endParaRPr lang="ja-JP" altLang="en-US" sz="1400" dirty="0"/>
          </a:p>
          <a:p>
            <a:pPr algn="l"/>
            <a:r>
              <a:rPr lang="ja-JP" altLang="en-US" sz="1400" dirty="0"/>
              <a:t>ICS で使われる代表的なメッシュ対応プロトコル</a:t>
            </a:r>
          </a:p>
          <a:p>
            <a:pPr algn="l"/>
            <a:r>
              <a:rPr lang="ja-JP" altLang="en-US" sz="1400" dirty="0"/>
              <a:t>• 	WirelessHART</a:t>
            </a:r>
          </a:p>
          <a:p>
            <a:pPr algn="l"/>
            <a:r>
              <a:rPr lang="ja-JP" altLang="en-US" sz="1400" dirty="0"/>
              <a:t>• 	ISA100.11a</a:t>
            </a:r>
          </a:p>
          <a:p>
            <a:pPr algn="l"/>
            <a:r>
              <a:rPr lang="ja-JP" altLang="en-US" sz="1400" dirty="0"/>
              <a:t>• 	ZigBee</a:t>
            </a:r>
          </a:p>
          <a:p>
            <a:pPr algn="l"/>
            <a:r>
              <a:rPr lang="ja-JP" altLang="en-US" sz="1400" dirty="0"/>
              <a:t>これらのプロトコルは、</a:t>
            </a:r>
          </a:p>
          <a:p>
            <a:pPr algn="l"/>
            <a:r>
              <a:rPr lang="ja-JP" altLang="en-US" sz="1400" dirty="0"/>
              <a:t>フィールドデバイスが多数存在し、</a:t>
            </a:r>
          </a:p>
          <a:p>
            <a:pPr algn="l"/>
            <a:r>
              <a:rPr lang="ja-JP" altLang="en-US" sz="1400" dirty="0"/>
              <a:t>配線が困難な ICS/OT 環境で広く利用されています。</a:t>
            </a:r>
          </a:p>
        </p:txBody>
      </p:sp>
      <p:pic>
        <p:nvPicPr>
          <p:cNvPr id="4" name="図 3">
            <a:extLst>
              <a:ext uri="{FF2B5EF4-FFF2-40B4-BE49-F238E27FC236}">
                <a16:creationId xmlns:a16="http://schemas.microsoft.com/office/drawing/2014/main" id="{9B5E9E9A-7C14-440D-95C2-860A8CC2464B}"/>
              </a:ext>
            </a:extLst>
          </p:cNvPr>
          <p:cNvPicPr>
            <a:picLocks noChangeAspect="1"/>
          </p:cNvPicPr>
          <p:nvPr/>
        </p:nvPicPr>
        <p:blipFill>
          <a:blip r:embed="rId2"/>
          <a:stretch>
            <a:fillRect/>
          </a:stretch>
        </p:blipFill>
        <p:spPr>
          <a:xfrm>
            <a:off x="259223" y="135465"/>
            <a:ext cx="6339553" cy="3589867"/>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501488"/>
            <a:ext cx="3429000" cy="8639699"/>
          </a:xfrm>
        </p:spPr>
        <p:txBody>
          <a:bodyPr>
            <a:normAutofit/>
          </a:bodyPr>
          <a:lstStyle/>
          <a:p>
            <a:pPr algn="l"/>
            <a:r>
              <a:rPr lang="ja-JP" altLang="en-US" sz="1200" dirty="0"/>
              <a:t>WirelessHART は IEC 62591 としても知られています。</a:t>
            </a:r>
          </a:p>
          <a:p>
            <a:pPr algn="l"/>
            <a:r>
              <a:rPr lang="ja-JP" altLang="en-US" sz="1200" dirty="0"/>
              <a:t>これは ICS メーカーが共同で策定した 無線センサーネットワーク向けのマルチベンダー標準 です。</a:t>
            </a:r>
          </a:p>
          <a:p>
            <a:pPr algn="l"/>
            <a:r>
              <a:rPr lang="ja-JP" altLang="en-US" sz="1200" dirty="0"/>
              <a:t>この標準は WiTECK（Wireless Industrial Technology Konsortium） によって管理されており、</a:t>
            </a:r>
          </a:p>
          <a:p>
            <a:pPr algn="l"/>
            <a:r>
              <a:rPr lang="ja-JP" altLang="en-US" sz="1200" dirty="0"/>
              <a:t>37 社以上が参加しています。</a:t>
            </a:r>
          </a:p>
          <a:p>
            <a:pPr algn="l"/>
            <a:r>
              <a:rPr lang="ja-JP" altLang="en-US" sz="1200" dirty="0"/>
              <a:t>プロモーターメンバーには ABB、Emerson、Endress+Hauser、Pepperl+Fuchs、Siemens、Softing など</a:t>
            </a:r>
          </a:p>
          <a:p>
            <a:pPr algn="l"/>
            <a:r>
              <a:rPr lang="ja-JP" altLang="en-US" sz="1200" dirty="0"/>
              <a:t>著名な ICS メーカーが含まれます。</a:t>
            </a:r>
          </a:p>
          <a:p>
            <a:pPr algn="l"/>
            <a:endParaRPr lang="ja-JP" altLang="en-US" sz="1200" dirty="0"/>
          </a:p>
          <a:p>
            <a:pPr algn="l"/>
            <a:r>
              <a:rPr lang="ja-JP" altLang="en-US" sz="1200" dirty="0"/>
              <a:t>WirelessHART の通信方式</a:t>
            </a:r>
          </a:p>
          <a:p>
            <a:pPr algn="l"/>
            <a:r>
              <a:rPr lang="ja-JP" altLang="en-US" sz="1200" dirty="0"/>
              <a:t>WirelessHART は Wi-Fi、Bluetooth、ZigBee と同様に</a:t>
            </a:r>
          </a:p>
          <a:p>
            <a:pPr algn="l"/>
            <a:r>
              <a:rPr lang="ja-JP" altLang="en-US" sz="1200" dirty="0"/>
              <a:t>2.4 GHz ISM バンド を使用します。</a:t>
            </a:r>
          </a:p>
          <a:p>
            <a:pPr algn="l"/>
            <a:r>
              <a:rPr lang="ja-JP" altLang="en-US" sz="1200" dirty="0"/>
              <a:t>• 	PHY/MAC（OSI レイヤ 1・2）は IEEE 802.15.4（ZigBee と同じ）</a:t>
            </a:r>
          </a:p>
          <a:p>
            <a:pPr algn="l"/>
            <a:r>
              <a:rPr lang="ja-JP" altLang="en-US" sz="1200" dirty="0"/>
              <a:t>• 	その上に独自の メッシュプロトコル を実装</a:t>
            </a:r>
          </a:p>
          <a:p>
            <a:pPr algn="l"/>
            <a:r>
              <a:rPr lang="ja-JP" altLang="en-US" sz="1200" dirty="0"/>
              <a:t>• 	自己修復（self‑healing）</a:t>
            </a:r>
          </a:p>
          <a:p>
            <a:pPr algn="l"/>
            <a:r>
              <a:rPr lang="ja-JP" altLang="en-US" sz="1200" dirty="0"/>
              <a:t>• 	単一障害点の排除</a:t>
            </a:r>
          </a:p>
          <a:p>
            <a:pPr algn="l"/>
            <a:r>
              <a:rPr lang="ja-JP" altLang="en-US" sz="1200" dirty="0"/>
              <a:t>• 	チャネルホッピング により、他の 2.4GHz プロトコルと同じ空間でも動作可能</a:t>
            </a:r>
          </a:p>
          <a:p>
            <a:pPr algn="l"/>
            <a:endParaRPr lang="ja-JP" altLang="en-US" sz="1200" dirty="0"/>
          </a:p>
          <a:p>
            <a:pPr algn="l"/>
            <a:r>
              <a:rPr lang="ja-JP" altLang="en-US" sz="1200" dirty="0"/>
              <a:t>WirelessHART のセキュリティ設計</a:t>
            </a:r>
          </a:p>
          <a:p>
            <a:pPr algn="l"/>
            <a:r>
              <a:rPr lang="ja-JP" altLang="en-US" sz="1200" dirty="0"/>
              <a:t>WirelessHART は、近代的な ICS プロトコルとして</a:t>
            </a:r>
          </a:p>
          <a:p>
            <a:pPr algn="l"/>
            <a:r>
              <a:rPr lang="ja-JP" altLang="en-US" sz="1200" dirty="0"/>
              <a:t>セキュリティをプロトコル内部に組み込んでいる 点が特徴です。</a:t>
            </a:r>
          </a:p>
          <a:p>
            <a:pPr algn="l"/>
            <a:r>
              <a:rPr lang="ja-JP" altLang="en-US" sz="1200" dirty="0"/>
              <a:t>1. Join Key（参加鍵）</a:t>
            </a:r>
          </a:p>
          <a:p>
            <a:pPr algn="l"/>
            <a:r>
              <a:rPr lang="ja-JP" altLang="en-US" sz="1200" dirty="0"/>
              <a:t>各フィールドデバイスは、ネットワーク参加のための</a:t>
            </a:r>
          </a:p>
          <a:p>
            <a:pPr algn="l"/>
            <a:r>
              <a:rPr lang="ja-JP" altLang="en-US" sz="1200" dirty="0"/>
              <a:t>固有の Join Key を持ちます。</a:t>
            </a:r>
          </a:p>
          <a:p>
            <a:pPr algn="l"/>
            <a:r>
              <a:rPr lang="ja-JP" altLang="en-US" sz="1200" dirty="0"/>
              <a:t>• 	Join Key は 有線インターフェース（ローカルメンテナンスポート） で設定</a:t>
            </a:r>
          </a:p>
          <a:p>
            <a:pPr algn="l"/>
            <a:r>
              <a:rPr lang="ja-JP" altLang="en-US" sz="1200" dirty="0"/>
              <a:t>• 	ネットワーク参加時、Join Key で暗号化した Join Request を送信</a:t>
            </a:r>
          </a:p>
          <a:p>
            <a:pPr algn="l"/>
            <a:r>
              <a:rPr lang="ja-JP" altLang="en-US" sz="1200" dirty="0"/>
              <a:t>• 	認証に成功すると、ネットワーク共有鍵（Network Key）が付与される</a:t>
            </a:r>
          </a:p>
        </p:txBody>
      </p:sp>
      <p:pic>
        <p:nvPicPr>
          <p:cNvPr id="4" name="図 3">
            <a:extLst>
              <a:ext uri="{FF2B5EF4-FFF2-40B4-BE49-F238E27FC236}">
                <a16:creationId xmlns:a16="http://schemas.microsoft.com/office/drawing/2014/main" id="{E421428D-BE4C-4E6D-BB44-366DE87B121E}"/>
              </a:ext>
            </a:extLst>
          </p:cNvPr>
          <p:cNvPicPr>
            <a:picLocks noChangeAspect="1"/>
          </p:cNvPicPr>
          <p:nvPr/>
        </p:nvPicPr>
        <p:blipFill>
          <a:blip r:embed="rId2"/>
          <a:stretch>
            <a:fillRect/>
          </a:stretch>
        </p:blipFill>
        <p:spPr>
          <a:xfrm>
            <a:off x="467600" y="47090"/>
            <a:ext cx="5922798" cy="3369732"/>
          </a:xfrm>
          <a:prstGeom prst="rect">
            <a:avLst/>
          </a:prstGeom>
        </p:spPr>
      </p:pic>
      <p:sp>
        <p:nvSpPr>
          <p:cNvPr id="5" name="サブタイトル 2">
            <a:extLst>
              <a:ext uri="{FF2B5EF4-FFF2-40B4-BE49-F238E27FC236}">
                <a16:creationId xmlns:a16="http://schemas.microsoft.com/office/drawing/2014/main" id="{CD22A467-531A-4141-9AF9-253F01A26DFC}"/>
              </a:ext>
            </a:extLst>
          </p:cNvPr>
          <p:cNvSpPr txBox="1">
            <a:spLocks/>
          </p:cNvSpPr>
          <p:nvPr/>
        </p:nvSpPr>
        <p:spPr>
          <a:xfrm>
            <a:off x="3429000" y="3501487"/>
            <a:ext cx="3429000" cy="651271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2. Key Management（鍵管理）</a:t>
            </a:r>
          </a:p>
          <a:p>
            <a:pPr algn="l"/>
            <a:r>
              <a:rPr lang="ja-JP" altLang="en-US" sz="1200" dirty="0"/>
              <a:t>Join Key 以外の鍵（ネットワーク鍵・セッション鍵など）は</a:t>
            </a:r>
          </a:p>
          <a:p>
            <a:pPr algn="l"/>
            <a:r>
              <a:rPr lang="ja-JP" altLang="en-US" sz="1200" dirty="0"/>
              <a:t>ネットワークコーディネータが自動的に配布 します。</a:t>
            </a:r>
          </a:p>
          <a:p>
            <a:pPr algn="l"/>
            <a:r>
              <a:rPr lang="ja-JP" altLang="en-US" sz="1200" dirty="0"/>
              <a:t>管理者はさらに、以下の条件でデバイス認証を制限できます：</a:t>
            </a:r>
          </a:p>
          <a:p>
            <a:pPr algn="l"/>
            <a:r>
              <a:rPr lang="ja-JP" altLang="en-US" sz="1200" dirty="0"/>
              <a:t>• 	デバイス固有鍵</a:t>
            </a:r>
          </a:p>
          <a:p>
            <a:pPr algn="l"/>
            <a:r>
              <a:rPr lang="ja-JP" altLang="en-US" sz="1200" dirty="0"/>
              <a:t>• 	メーカー名</a:t>
            </a:r>
          </a:p>
          <a:p>
            <a:pPr algn="l"/>
            <a:r>
              <a:rPr lang="ja-JP" altLang="en-US" sz="1200" dirty="0"/>
              <a:t>• 	製品名／タグ</a:t>
            </a:r>
          </a:p>
          <a:p>
            <a:pPr algn="l"/>
            <a:endParaRPr lang="ja-JP" altLang="en-US" sz="1200" dirty="0"/>
          </a:p>
          <a:p>
            <a:pPr algn="l"/>
            <a:r>
              <a:rPr lang="ja-JP" altLang="en-US" sz="1200" dirty="0"/>
              <a:t>3. セッション鍵によるデータ保護</a:t>
            </a:r>
          </a:p>
          <a:p>
            <a:pPr algn="l"/>
            <a:r>
              <a:rPr lang="ja-JP" altLang="en-US" sz="1200" dirty="0"/>
              <a:t>ネットワークに参加したデバイスには</a:t>
            </a:r>
          </a:p>
          <a:p>
            <a:pPr algn="l"/>
            <a:r>
              <a:rPr lang="ja-JP" altLang="en-US" sz="1200" dirty="0"/>
              <a:t>固有のセッション鍵 が割り当てられます。</a:t>
            </a:r>
          </a:p>
          <a:p>
            <a:pPr algn="l"/>
            <a:r>
              <a:rPr lang="ja-JP" altLang="en-US" sz="1200" dirty="0"/>
              <a:t>• 	各デバイスは自分専用の鍵でペイロードを暗号化</a:t>
            </a:r>
          </a:p>
          <a:p>
            <a:pPr algn="l"/>
            <a:r>
              <a:rPr lang="ja-JP" altLang="en-US" sz="1200" dirty="0"/>
              <a:t>• 	Join Key を盗んだだけの不正デバイスが</a:t>
            </a:r>
          </a:p>
          <a:p>
            <a:pPr algn="l"/>
            <a:r>
              <a:rPr lang="ja-JP" altLang="en-US" sz="1200" dirty="0"/>
              <a:t>他デバイスを なりすまし（spoofing） することを防止</a:t>
            </a:r>
          </a:p>
          <a:p>
            <a:pPr algn="l"/>
            <a:r>
              <a:rPr lang="ja-JP" altLang="en-US" sz="1200" dirty="0"/>
              <a:t>• 	デバイス固有のセッション鍵により</a:t>
            </a:r>
          </a:p>
          <a:p>
            <a:pPr algn="l"/>
            <a:r>
              <a:rPr lang="ja-JP" altLang="en-US" sz="1200" dirty="0"/>
              <a:t>暗号学的な否認防止（nonrepudiation） を実現</a:t>
            </a:r>
          </a:p>
          <a:p>
            <a:pPr algn="l"/>
            <a:r>
              <a:rPr lang="ja-JP" altLang="en-US" sz="1200" dirty="0"/>
              <a:t>• 	「このデータは確かにこのデバイスから送られた」ことを検証できる</a:t>
            </a:r>
          </a:p>
          <a:p>
            <a:pPr algn="l"/>
            <a:endParaRPr lang="ja-JP" altLang="en-US" sz="1200" dirty="0"/>
          </a:p>
          <a:p>
            <a:pPr algn="l"/>
            <a:r>
              <a:rPr lang="ja-JP" altLang="en-US" sz="1200" dirty="0"/>
              <a:t>WirelessHART は、ICS 無線プロトコルの中でも</a:t>
            </a:r>
          </a:p>
          <a:p>
            <a:pPr algn="l"/>
            <a:r>
              <a:rPr lang="ja-JP" altLang="en-US" sz="1200" dirty="0"/>
              <a:t>セキュリティ設計が最も体系的で強固なプロトコルの一つ と言えます。</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3866" y="3241760"/>
            <a:ext cx="3378473" cy="7832638"/>
          </a:xfrm>
        </p:spPr>
        <p:txBody>
          <a:bodyPr>
            <a:normAutofit/>
          </a:bodyPr>
          <a:lstStyle/>
          <a:p>
            <a:pPr algn="l"/>
            <a:r>
              <a:rPr lang="ja-JP" altLang="en-US" sz="1400" dirty="0"/>
              <a:t>ISA100.11a は、WirelessHART と同じ時期に</a:t>
            </a:r>
          </a:p>
          <a:p>
            <a:pPr algn="l"/>
            <a:r>
              <a:rPr lang="ja-JP" altLang="en-US" sz="1400" dirty="0"/>
              <a:t>ISA（International Society of Automation） が開発した無線標準です。</a:t>
            </a:r>
          </a:p>
          <a:p>
            <a:pPr algn="l"/>
            <a:r>
              <a:rPr lang="ja-JP" altLang="en-US" sz="1400" dirty="0"/>
              <a:t>ISA は 2005 年に ISA100 委員会 を設立し、</a:t>
            </a:r>
          </a:p>
          <a:p>
            <a:pPr algn="l"/>
            <a:r>
              <a:rPr lang="ja-JP" altLang="en-US" sz="1400" dirty="0"/>
              <a:t>250 社以上・400 名以上の自動化専門家が参加しました。</a:t>
            </a:r>
          </a:p>
          <a:p>
            <a:pPr algn="l"/>
            <a:r>
              <a:rPr lang="ja-JP" altLang="en-US" sz="1400" dirty="0"/>
              <a:t>WirelessHART が 2008 年に標準化された後、</a:t>
            </a:r>
          </a:p>
          <a:p>
            <a:pPr algn="l"/>
            <a:r>
              <a:rPr lang="ja-JP" altLang="en-US" sz="1400" dirty="0"/>
              <a:t>その所有者である HART Communication Foundation（HCF） は</a:t>
            </a:r>
          </a:p>
          <a:p>
            <a:pPr algn="l"/>
            <a:r>
              <a:rPr lang="ja-JP" altLang="en-US" sz="1400" dirty="0"/>
              <a:t>ISA に対して WirelessHART の 無制限・ロイヤリティフリーのライセンス を提供しました。</a:t>
            </a:r>
          </a:p>
          <a:p>
            <a:pPr algn="l"/>
            <a:r>
              <a:rPr lang="ja-JP" altLang="en-US" sz="1400" dirty="0"/>
              <a:t>目的は、両規格の互換性と整合性を高めることでしたが、</a:t>
            </a:r>
          </a:p>
          <a:p>
            <a:pPr algn="l"/>
            <a:r>
              <a:rPr lang="ja-JP" altLang="en-US" sz="1400" dirty="0"/>
              <a:t>ISA100 はすでにいくつかの設計判断を行っており、</a:t>
            </a:r>
          </a:p>
          <a:p>
            <a:pPr algn="l"/>
            <a:r>
              <a:rPr lang="ja-JP" altLang="en-US" sz="1400" dirty="0"/>
              <a:t>結果として HART プロトコルとは互換性がなくなっていました。</a:t>
            </a:r>
          </a:p>
          <a:p>
            <a:pPr algn="l"/>
            <a:r>
              <a:rPr lang="ja-JP" altLang="en-US" sz="1400" dirty="0"/>
              <a:t>最大の違いは、ISA100 が 6LoWPAN（IPv6 対応） を採用した点で、</a:t>
            </a:r>
          </a:p>
          <a:p>
            <a:pPr algn="l"/>
            <a:r>
              <a:rPr lang="ja-JP" altLang="en-US" sz="1400" dirty="0"/>
              <a:t>HART プロトコルは IPv6 を使用しません。</a:t>
            </a:r>
          </a:p>
          <a:p>
            <a:pPr algn="l"/>
            <a:r>
              <a:rPr lang="ja-JP" altLang="en-US" sz="1400" dirty="0"/>
              <a:t>ISA100 は 2009 年に最初の標準 ISA100.11a を公開しました。</a:t>
            </a:r>
          </a:p>
          <a:p>
            <a:pPr algn="l"/>
            <a:endParaRPr lang="ja-JP" altLang="en-US" sz="1400" dirty="0"/>
          </a:p>
          <a:p>
            <a:pPr algn="l"/>
            <a:r>
              <a:rPr lang="ja-JP" altLang="en-US" sz="1400" dirty="0"/>
              <a:t>ISA100.11a と WirelessHART の技術比較</a:t>
            </a:r>
          </a:p>
          <a:p>
            <a:pPr algn="l"/>
            <a:r>
              <a:rPr lang="ja-JP" altLang="en-US" sz="1400" dirty="0"/>
              <a:t>両者は下位レイヤでは似ています：</a:t>
            </a:r>
          </a:p>
          <a:p>
            <a:pPr algn="l"/>
            <a:r>
              <a:rPr lang="ja-JP" altLang="en-US" sz="1400" dirty="0"/>
              <a:t>- PHY レイヤ：IEEE 802.15.4、DSSS</a:t>
            </a:r>
          </a:p>
          <a:p>
            <a:pPr algn="l"/>
            <a:r>
              <a:rPr lang="ja-JP" altLang="en-US" sz="1400" dirty="0"/>
              <a:t>- MAC レイヤ：TDMA、メッシュトポロジー</a:t>
            </a:r>
          </a:p>
          <a:p>
            <a:pPr algn="l"/>
            <a:r>
              <a:rPr lang="ja-JP" altLang="en-US" sz="1400" dirty="0"/>
              <a:t>しかし、それ以降のレイヤで大きく異なります。</a:t>
            </a:r>
          </a:p>
        </p:txBody>
      </p:sp>
      <p:pic>
        <p:nvPicPr>
          <p:cNvPr id="4" name="図 3">
            <a:extLst>
              <a:ext uri="{FF2B5EF4-FFF2-40B4-BE49-F238E27FC236}">
                <a16:creationId xmlns:a16="http://schemas.microsoft.com/office/drawing/2014/main" id="{4CF9A770-4AB3-4B3A-8169-3371AB723964}"/>
              </a:ext>
            </a:extLst>
          </p:cNvPr>
          <p:cNvPicPr>
            <a:picLocks noChangeAspect="1"/>
          </p:cNvPicPr>
          <p:nvPr/>
        </p:nvPicPr>
        <p:blipFill>
          <a:blip r:embed="rId2"/>
          <a:stretch>
            <a:fillRect/>
          </a:stretch>
        </p:blipFill>
        <p:spPr>
          <a:xfrm>
            <a:off x="670483" y="50798"/>
            <a:ext cx="5545394" cy="3140163"/>
          </a:xfrm>
          <a:prstGeom prst="rect">
            <a:avLst/>
          </a:prstGeom>
        </p:spPr>
      </p:pic>
      <p:sp>
        <p:nvSpPr>
          <p:cNvPr id="5" name="サブタイトル 2">
            <a:extLst>
              <a:ext uri="{FF2B5EF4-FFF2-40B4-BE49-F238E27FC236}">
                <a16:creationId xmlns:a16="http://schemas.microsoft.com/office/drawing/2014/main" id="{3F09E25C-692F-488C-928C-D5C1C61E0F4D}"/>
              </a:ext>
            </a:extLst>
          </p:cNvPr>
          <p:cNvSpPr txBox="1">
            <a:spLocks/>
          </p:cNvSpPr>
          <p:nvPr/>
        </p:nvSpPr>
        <p:spPr>
          <a:xfrm>
            <a:off x="3443180" y="3241760"/>
            <a:ext cx="3378473" cy="891637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ISA100.11a の特徴</a:t>
            </a:r>
          </a:p>
          <a:p>
            <a:pPr algn="l"/>
            <a:r>
              <a:rPr lang="ja-JP" altLang="en-US" sz="1400" dirty="0"/>
              <a:t>1. 6LoWPAN + IPv6 を採用</a:t>
            </a:r>
          </a:p>
          <a:p>
            <a:pPr algn="l"/>
            <a:r>
              <a:rPr lang="ja-JP" altLang="en-US" sz="1400" dirty="0"/>
              <a:t>- IPv6 によるサブネット化</a:t>
            </a:r>
          </a:p>
          <a:p>
            <a:pPr algn="l"/>
            <a:r>
              <a:rPr lang="ja-JP" altLang="en-US" sz="1400" dirty="0"/>
              <a:t>- 高いスケーラビリティ</a:t>
            </a:r>
          </a:p>
          <a:p>
            <a:pPr algn="l"/>
            <a:r>
              <a:rPr lang="ja-JP" altLang="en-US" sz="1400" dirty="0"/>
              <a:t>- レガシープロトコルのトンネリングが可能</a:t>
            </a:r>
          </a:p>
          <a:p>
            <a:pPr algn="l"/>
            <a:r>
              <a:rPr lang="ja-JP" altLang="en-US" sz="1400" dirty="0"/>
              <a:t>2. QoS の強化</a:t>
            </a:r>
          </a:p>
          <a:p>
            <a:pPr algn="l"/>
            <a:r>
              <a:rPr lang="ja-JP" altLang="en-US" sz="1400" dirty="0"/>
              <a:t>- より高度な QoS 制御</a:t>
            </a:r>
          </a:p>
          <a:p>
            <a:pPr algn="l"/>
            <a:r>
              <a:rPr lang="ja-JP" altLang="en-US" sz="1400" dirty="0"/>
              <a:t>- 10ms を超えるタイムスロット設定が可能</a:t>
            </a:r>
          </a:p>
          <a:p>
            <a:pPr algn="l"/>
            <a:r>
              <a:rPr lang="ja-JP" altLang="en-US" sz="1400" dirty="0"/>
              <a:t>3. セキュリティ設定の簡素化</a:t>
            </a:r>
          </a:p>
          <a:p>
            <a:pPr algn="l"/>
            <a:r>
              <a:rPr lang="ja-JP" altLang="en-US" sz="1400" dirty="0"/>
              <a:t>WirelessHART では、</a:t>
            </a:r>
          </a:p>
          <a:p>
            <a:pPr algn="l"/>
            <a:r>
              <a:rPr lang="ja-JP" altLang="en-US" sz="1400" dirty="0"/>
              <a:t>デバイスのメンテナンスポートから 有線で鍵を設定 する必要がありますが、</a:t>
            </a:r>
          </a:p>
          <a:p>
            <a:pPr algn="l"/>
            <a:r>
              <a:rPr lang="ja-JP" altLang="en-US" sz="1400" dirty="0"/>
              <a:t>ISA100.11a では：</a:t>
            </a:r>
          </a:p>
          <a:p>
            <a:pPr algn="l"/>
            <a:r>
              <a:rPr lang="ja-JP" altLang="en-US" sz="1400" dirty="0"/>
              <a:t>- 非対称鍵方式の Join</a:t>
            </a:r>
          </a:p>
          <a:p>
            <a:pPr algn="l"/>
            <a:r>
              <a:rPr lang="ja-JP" altLang="en-US" sz="1400" dirty="0"/>
              <a:t>- OTA（Over-the-Air）でのデバイス設定</a:t>
            </a:r>
          </a:p>
          <a:p>
            <a:pPr algn="l"/>
            <a:r>
              <a:rPr lang="ja-JP" altLang="en-US" sz="1400" dirty="0"/>
              <a:t>が可能になり、運用性が大幅に向上しています。</a:t>
            </a:r>
          </a:p>
          <a:p>
            <a:pPr algn="l"/>
            <a:endParaRPr lang="ja-JP" altLang="en-US" sz="1400" dirty="0"/>
          </a:p>
          <a:p>
            <a:pPr algn="l"/>
            <a:r>
              <a:rPr lang="ja-JP" altLang="en-US" sz="1400" dirty="0"/>
              <a:t>業界への影響：2 </a:t>
            </a:r>
            <a:r>
              <a:rPr lang="ja-JP" altLang="en-US" sz="1400" dirty="0" err="1"/>
              <a:t>つの</a:t>
            </a:r>
            <a:r>
              <a:rPr lang="ja-JP" altLang="en-US" sz="1400" dirty="0"/>
              <a:t>標準が混乱を招いた</a:t>
            </a:r>
          </a:p>
          <a:p>
            <a:pPr algn="l"/>
            <a:r>
              <a:rPr lang="ja-JP" altLang="en-US" sz="1400" dirty="0"/>
              <a:t>WirelessHART と ISA100.11a の 2 つの ICS 無線標準が存在したことで、</a:t>
            </a:r>
          </a:p>
          <a:p>
            <a:pPr algn="l"/>
            <a:r>
              <a:rPr lang="ja-JP" altLang="en-US" sz="1400" dirty="0"/>
              <a:t>業界では混乱と不満が生じました。</a:t>
            </a:r>
          </a:p>
          <a:p>
            <a:pPr algn="l"/>
            <a:r>
              <a:rPr lang="ja-JP" altLang="en-US" sz="1400" dirty="0"/>
              <a:t>そのため、両者を統合するために ISA100.12 が設立されましたが、</a:t>
            </a:r>
          </a:p>
          <a:p>
            <a:pPr algn="l"/>
            <a:r>
              <a:rPr lang="ja-JP" altLang="en-US" sz="1400" dirty="0"/>
              <a:t>この取り組みは 2013 年に中止 されました。</a:t>
            </a:r>
          </a:p>
          <a:p>
            <a:pPr algn="l"/>
            <a:endParaRPr lang="ja-JP" altLang="en-US" sz="1400" dirty="0"/>
          </a:p>
          <a:p>
            <a:pPr algn="l"/>
            <a:r>
              <a:rPr lang="ja-JP" altLang="en-US" sz="1400" dirty="0"/>
              <a:t>参考（原文に記載されていたリンク）</a:t>
            </a:r>
          </a:p>
          <a:p>
            <a:pPr algn="l"/>
            <a:r>
              <a:rPr lang="ja-JP" altLang="en-US" sz="1400" dirty="0"/>
              <a:t>ISA による詳細な比較記事：</a:t>
            </a:r>
          </a:p>
          <a:p>
            <a:pPr algn="l"/>
            <a:r>
              <a:rPr lang="ja-JP" altLang="en-US" sz="1400" dirty="0"/>
              <a:t>https://www.controlglobal.com/articles/2012/nixon-wireless-isa/</a:t>
            </a:r>
          </a:p>
          <a:p>
            <a:pPr algn="l"/>
            <a:endParaRPr lang="ja-JP" altLang="en-US" sz="1400" dirty="0"/>
          </a:p>
          <a:p>
            <a:pPr algn="l"/>
            <a:r>
              <a:rPr lang="ja-JP" altLang="en-US" sz="1400" dirty="0"/>
              <a:t>必要であれば、</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6" y="3526506"/>
            <a:ext cx="3423284" cy="8445351"/>
          </a:xfrm>
        </p:spPr>
        <p:txBody>
          <a:bodyPr>
            <a:normAutofit/>
          </a:bodyPr>
          <a:lstStyle/>
          <a:p>
            <a:pPr algn="l"/>
            <a:r>
              <a:rPr lang="ja-JP" altLang="en-US" sz="1400" dirty="0"/>
              <a:t>以下に、内容を専門的かつ自然で読みやすい 日本語訳（意訳） をまとめます。</a:t>
            </a:r>
          </a:p>
          <a:p>
            <a:pPr algn="l"/>
            <a:r>
              <a:rPr lang="ja-JP" altLang="en-US" sz="1400" dirty="0"/>
              <a:t>ZigBee のセキュリティ構造と鍵管理の特徴が非常に分かりやすく説明されている部分です。</a:t>
            </a:r>
          </a:p>
          <a:p>
            <a:pPr algn="l"/>
            <a:endParaRPr lang="ja-JP" altLang="en-US" sz="1400" dirty="0"/>
          </a:p>
          <a:p>
            <a:pPr algn="l"/>
            <a:r>
              <a:rPr lang="ja-JP" altLang="en-US" sz="1400" dirty="0"/>
              <a:t>日本語訳（意訳）</a:t>
            </a:r>
          </a:p>
          <a:p>
            <a:pPr algn="l"/>
            <a:r>
              <a:rPr lang="ja-JP" altLang="en-US" sz="1400" dirty="0"/>
              <a:t>ZigBee は IEEE 802.15.4 をベースにした無線技術の一つです。</a:t>
            </a:r>
          </a:p>
          <a:p>
            <a:pPr algn="l"/>
            <a:r>
              <a:rPr lang="ja-JP" altLang="en-US" sz="1400" dirty="0"/>
              <a:t>Honeywell International は HVAC システムに ZigBee 無線を組み込み、</a:t>
            </a:r>
          </a:p>
          <a:p>
            <a:pPr algn="l"/>
            <a:r>
              <a:rPr lang="ja-JP" altLang="en-US" sz="1400" dirty="0"/>
              <a:t>管理者が ZigBee クライアントカードを使って</a:t>
            </a:r>
          </a:p>
          <a:p>
            <a:pPr algn="l"/>
            <a:r>
              <a:rPr lang="ja-JP" altLang="en-US" sz="1400" dirty="0"/>
              <a:t>メンテナンス履歴、利用状況、制御情報を</a:t>
            </a:r>
          </a:p>
          <a:p>
            <a:pPr algn="l"/>
            <a:r>
              <a:rPr lang="ja-JP" altLang="en-US" sz="1400" dirty="0"/>
              <a:t>ワイヤレスで管理・監視できる仕組みを公開しています。</a:t>
            </a:r>
          </a:p>
          <a:p>
            <a:pPr algn="l"/>
            <a:endParaRPr lang="ja-JP" altLang="en-US" sz="1400" dirty="0"/>
          </a:p>
          <a:p>
            <a:pPr algn="l"/>
            <a:r>
              <a:rPr lang="ja-JP" altLang="en-US" sz="1400" dirty="0"/>
              <a:t>ZigBee のセキュリティ構造</a:t>
            </a:r>
          </a:p>
          <a:p>
            <a:pPr algn="l"/>
            <a:r>
              <a:rPr lang="ja-JP" altLang="en-US" sz="1400" dirty="0"/>
              <a:t>ZigBee 仕様には、ZigBee ネットワークのセキュリティに関する専用セクションがあり、</a:t>
            </a:r>
          </a:p>
          <a:p>
            <a:pPr algn="l"/>
            <a:r>
              <a:rPr lang="ja-JP" altLang="en-US" sz="1400" dirty="0"/>
              <a:t>MAC 層・ネットワーク層・アプリケーション層 のいずれでも</a:t>
            </a:r>
          </a:p>
          <a:p>
            <a:pPr algn="l"/>
            <a:r>
              <a:rPr lang="ja-JP" altLang="en-US" sz="1400" dirty="0"/>
              <a:t>セキュリティ機能を実装できるようになっています。</a:t>
            </a:r>
          </a:p>
          <a:p>
            <a:pPr algn="l"/>
            <a:r>
              <a:rPr lang="ja-JP" altLang="en-US" sz="1400" dirty="0"/>
              <a:t>これにより、アプリケーション開発者は</a:t>
            </a:r>
          </a:p>
          <a:p>
            <a:pPr algn="l"/>
            <a:r>
              <a:rPr lang="ja-JP" altLang="en-US" sz="1400" dirty="0"/>
              <a:t>どのレイヤでセキュリティを実装するか柔軟に選択できます。</a:t>
            </a:r>
          </a:p>
          <a:p>
            <a:pPr algn="l"/>
            <a:r>
              <a:rPr lang="ja-JP" altLang="en-US" sz="1400" dirty="0"/>
              <a:t>しかし、仕様上は 3 </a:t>
            </a:r>
            <a:r>
              <a:rPr lang="ja-JP" altLang="en-US" sz="1400" dirty="0" err="1"/>
              <a:t>つの</a:t>
            </a:r>
            <a:r>
              <a:rPr lang="ja-JP" altLang="en-US" sz="1400" dirty="0"/>
              <a:t>レイヤすべてで同じ鍵を使用する 必要があります。</a:t>
            </a:r>
          </a:p>
          <a:p>
            <a:pPr algn="l"/>
            <a:r>
              <a:rPr lang="ja-JP" altLang="en-US" sz="1400" dirty="0"/>
              <a:t>つまり、攻撃者が MAC 層のリンクキーを取得すると、</a:t>
            </a:r>
          </a:p>
          <a:p>
            <a:pPr algn="l"/>
            <a:r>
              <a:rPr lang="ja-JP" altLang="en-US" sz="1400" dirty="0"/>
              <a:t>ネットワーク層・アプリケーション層の通信も同じ鍵で復号できてしまう</a:t>
            </a:r>
          </a:p>
          <a:p>
            <a:pPr algn="l"/>
            <a:r>
              <a:rPr lang="ja-JP" altLang="en-US" sz="1400" dirty="0"/>
              <a:t>という弱点があります。</a:t>
            </a:r>
          </a:p>
        </p:txBody>
      </p:sp>
      <p:pic>
        <p:nvPicPr>
          <p:cNvPr id="4" name="図 3">
            <a:extLst>
              <a:ext uri="{FF2B5EF4-FFF2-40B4-BE49-F238E27FC236}">
                <a16:creationId xmlns:a16="http://schemas.microsoft.com/office/drawing/2014/main" id="{301AE8E5-FDD2-4476-84D9-AC5D08811CBA}"/>
              </a:ext>
            </a:extLst>
          </p:cNvPr>
          <p:cNvPicPr>
            <a:picLocks noChangeAspect="1"/>
          </p:cNvPicPr>
          <p:nvPr/>
        </p:nvPicPr>
        <p:blipFill>
          <a:blip r:embed="rId2"/>
          <a:stretch>
            <a:fillRect/>
          </a:stretch>
        </p:blipFill>
        <p:spPr>
          <a:xfrm>
            <a:off x="481586" y="118535"/>
            <a:ext cx="5860961" cy="3323306"/>
          </a:xfrm>
          <a:prstGeom prst="rect">
            <a:avLst/>
          </a:prstGeom>
        </p:spPr>
      </p:pic>
      <p:sp>
        <p:nvSpPr>
          <p:cNvPr id="5" name="サブタイトル 2">
            <a:extLst>
              <a:ext uri="{FF2B5EF4-FFF2-40B4-BE49-F238E27FC236}">
                <a16:creationId xmlns:a16="http://schemas.microsoft.com/office/drawing/2014/main" id="{739341C2-B895-4753-AB8E-51D7BAE3DF2A}"/>
              </a:ext>
            </a:extLst>
          </p:cNvPr>
          <p:cNvSpPr txBox="1">
            <a:spLocks/>
          </p:cNvSpPr>
          <p:nvPr/>
        </p:nvSpPr>
        <p:spPr>
          <a:xfrm>
            <a:off x="3412067" y="3526506"/>
            <a:ext cx="3423284" cy="810668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ZigBee の鍵管理</a:t>
            </a:r>
          </a:p>
          <a:p>
            <a:pPr algn="l"/>
            <a:r>
              <a:rPr lang="ja-JP" altLang="en-US" sz="1400" dirty="0"/>
              <a:t>鍵の選択はインストール時に行われ、</a:t>
            </a:r>
          </a:p>
          <a:p>
            <a:pPr algn="l"/>
            <a:r>
              <a:rPr lang="ja-JP" altLang="en-US" sz="1400" dirty="0"/>
              <a:t>メーカー、施工業者、またはエンドユーザーが設定します。</a:t>
            </a:r>
          </a:p>
          <a:p>
            <a:pPr algn="l"/>
            <a:r>
              <a:rPr lang="ja-JP" altLang="en-US" sz="1400" dirty="0"/>
              <a:t>- まず 管理鍵（management key） を設定</a:t>
            </a:r>
          </a:p>
          <a:p>
            <a:pPr algn="l"/>
            <a:r>
              <a:rPr lang="ja-JP" altLang="en-US" sz="1400" dirty="0"/>
              <a:t>- その後、2 台の ZigBee デバイスが</a:t>
            </a:r>
          </a:p>
          <a:p>
            <a:pPr algn="l"/>
            <a:r>
              <a:rPr lang="ja-JP" altLang="en-US" sz="1400" dirty="0"/>
              <a:t>相互リンクキー（mutual link key） を生成</a:t>
            </a:r>
          </a:p>
          <a:p>
            <a:pPr algn="l"/>
            <a:r>
              <a:rPr lang="ja-JP" altLang="en-US" sz="1400" dirty="0"/>
              <a:t>- 他の ZigBee ノードの認証に使用</a:t>
            </a:r>
          </a:p>
          <a:p>
            <a:pPr algn="l"/>
            <a:r>
              <a:rPr lang="ja-JP" altLang="en-US" sz="1400" dirty="0"/>
              <a:t>- 通信の暗号化・復号にも使用</a:t>
            </a:r>
          </a:p>
          <a:p>
            <a:pPr algn="l"/>
            <a:r>
              <a:rPr lang="ja-JP" altLang="en-US" sz="1400" dirty="0"/>
              <a:t>この方式の利点は、</a:t>
            </a:r>
          </a:p>
          <a:p>
            <a:pPr algn="l"/>
            <a:r>
              <a:rPr lang="ja-JP" altLang="en-US" sz="1400" dirty="0"/>
              <a:t>リンクキーが漏洩しても、その 2 ノード間の通信しか解読されない</a:t>
            </a:r>
          </a:p>
          <a:p>
            <a:pPr algn="l"/>
            <a:r>
              <a:rPr lang="ja-JP" altLang="en-US" sz="1400" dirty="0"/>
              <a:t>という点です。</a:t>
            </a:r>
          </a:p>
          <a:p>
            <a:pPr algn="l"/>
            <a:r>
              <a:rPr lang="ja-JP" altLang="en-US" sz="1400" dirty="0"/>
              <a:t>管理鍵や他デバイス間のリンクキーは保護され続けます。</a:t>
            </a:r>
          </a:p>
          <a:p>
            <a:pPr algn="l"/>
            <a:endParaRPr lang="ja-JP" altLang="en-US" sz="1400" dirty="0"/>
          </a:p>
          <a:p>
            <a:pPr algn="l"/>
            <a:r>
              <a:rPr lang="ja-JP" altLang="en-US" sz="1400" dirty="0"/>
              <a:t>KillerBee フレームワーク</a:t>
            </a:r>
          </a:p>
          <a:p>
            <a:pPr algn="l"/>
            <a:r>
              <a:rPr lang="ja-JP" altLang="en-US" sz="1400" dirty="0"/>
              <a:t>KillerBee は Joshua Wright によって開発された</a:t>
            </a:r>
          </a:p>
          <a:p>
            <a:pPr algn="l"/>
            <a:r>
              <a:rPr lang="ja-JP" altLang="en-US" sz="1400" dirty="0"/>
              <a:t>Python ベースのフレームワークで、</a:t>
            </a:r>
          </a:p>
          <a:p>
            <a:pPr algn="l"/>
            <a:r>
              <a:rPr lang="ja-JP" altLang="en-US" sz="1400" dirty="0"/>
              <a:t>ZigBee やその他の IEEE 802.15.4 プロトコルの</a:t>
            </a:r>
          </a:p>
          <a:p>
            <a:pPr algn="l"/>
            <a:r>
              <a:rPr lang="ja-JP" altLang="en-US" sz="1400" dirty="0"/>
              <a:t>セキュリティ調査・解析に利用されます。</a:t>
            </a:r>
          </a:p>
          <a:p>
            <a:pPr algn="l"/>
            <a:endParaRPr lang="ja-JP" altLang="en-US" sz="1400" dirty="0"/>
          </a:p>
          <a:p>
            <a:pPr algn="l"/>
            <a:r>
              <a:rPr lang="ja-JP" altLang="en-US" sz="1400" dirty="0"/>
              <a:t>参考リンク（原文に記載）</a:t>
            </a:r>
          </a:p>
          <a:p>
            <a:pPr algn="l"/>
            <a:r>
              <a:rPr lang="ja-JP" altLang="en-US" sz="1400" dirty="0"/>
              <a:t>- https://zigbeealliance.org/</a:t>
            </a:r>
          </a:p>
          <a:p>
            <a:pPr algn="l"/>
            <a:r>
              <a:rPr lang="ja-JP" altLang="en-US" sz="1400" dirty="0"/>
              <a:t>- https://en.wikipedia.org/wiki/Zigbee</a:t>
            </a:r>
          </a:p>
          <a:p>
            <a:pPr algn="l"/>
            <a:r>
              <a:rPr lang="ja-JP" altLang="en-US" sz="1400" dirty="0"/>
              <a:t>- KillerBee プロジェクトページ：</a:t>
            </a:r>
          </a:p>
          <a:p>
            <a:pPr algn="l"/>
            <a:r>
              <a:rPr lang="ja-JP" altLang="en-US" sz="1400" dirty="0"/>
              <a:t>https://github.com/riverloopsec/killerbee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385797"/>
            <a:ext cx="6852285" cy="8586068"/>
          </a:xfrm>
        </p:spPr>
        <p:txBody>
          <a:bodyPr>
            <a:normAutofit fontScale="62500" lnSpcReduction="20000"/>
          </a:bodyPr>
          <a:lstStyle/>
          <a:p>
            <a:pPr algn="l"/>
            <a:r>
              <a:rPr lang="ja-JP" altLang="en-US" sz="1400" dirty="0"/>
              <a:t>Bluetooth は 1998 年に初めて発表されました。</a:t>
            </a:r>
          </a:p>
          <a:p>
            <a:pPr algn="l"/>
            <a:r>
              <a:rPr lang="ja-JP" altLang="en-US" sz="1400" dirty="0"/>
              <a:t>「安価で低消費電力の無線技術」として、</a:t>
            </a:r>
          </a:p>
          <a:p>
            <a:pPr algn="l"/>
            <a:r>
              <a:rPr lang="ja-JP" altLang="en-US" sz="1400" dirty="0"/>
              <a:t>ケーブルを置き換える技術として大きな期待を集めました。</a:t>
            </a:r>
          </a:p>
          <a:p>
            <a:pPr algn="l"/>
            <a:r>
              <a:rPr lang="ja-JP" altLang="en-US" sz="1400" dirty="0"/>
              <a:t>Bluetooth を使えば、ベンダーは製品ごとに専用の通信ケーブルを同梱する必要がなくなり、</a:t>
            </a:r>
          </a:p>
          <a:p>
            <a:pPr algn="l"/>
            <a:r>
              <a:rPr lang="ja-JP" altLang="en-US" sz="1400" dirty="0"/>
              <a:t>安価な内蔵無線カードだけで接続ニーズを満たせるようになります。</a:t>
            </a:r>
          </a:p>
          <a:p>
            <a:pPr algn="l"/>
            <a:endParaRPr lang="ja-JP" altLang="en-US" sz="1400" dirty="0"/>
          </a:p>
          <a:p>
            <a:pPr algn="l"/>
            <a:r>
              <a:rPr lang="ja-JP" altLang="en-US" sz="1400" dirty="0"/>
              <a:t>Bluetooth の利点</a:t>
            </a:r>
          </a:p>
          <a:p>
            <a:pPr algn="l"/>
            <a:r>
              <a:rPr lang="ja-JP" altLang="en-US" sz="1400" dirty="0"/>
              <a:t>赤外線通信とは異なり、Bluetooth には 見通し線（Line-of-Sight） が不要です。</a:t>
            </a:r>
          </a:p>
          <a:p>
            <a:pPr algn="l"/>
            <a:r>
              <a:rPr lang="ja-JP" altLang="en-US" sz="1400" dirty="0"/>
              <a:t>そのため、柔軟でユーザーフレンドリーな無線技術として普及しました。</a:t>
            </a:r>
          </a:p>
          <a:p>
            <a:pPr algn="l"/>
            <a:r>
              <a:rPr lang="ja-JP" altLang="en-US" sz="1400" dirty="0"/>
              <a:t>Bluetooth は以下のような用途をサポートします：</a:t>
            </a:r>
          </a:p>
          <a:p>
            <a:pPr algn="l"/>
            <a:r>
              <a:rPr lang="ja-JP" altLang="en-US" sz="1400" dirty="0"/>
              <a:t>- データ通信</a:t>
            </a:r>
          </a:p>
          <a:p>
            <a:pPr algn="l"/>
            <a:r>
              <a:rPr lang="ja-JP" altLang="en-US" sz="1400" dirty="0"/>
              <a:t>- 音声通信</a:t>
            </a:r>
          </a:p>
          <a:p>
            <a:pPr algn="l"/>
            <a:r>
              <a:rPr lang="ja-JP" altLang="en-US" sz="1400" dirty="0"/>
              <a:t>- 動画ストリーミングなどのコンテンツ系アプリケーション</a:t>
            </a:r>
          </a:p>
          <a:p>
            <a:pPr algn="l"/>
            <a:r>
              <a:rPr lang="ja-JP" altLang="en-US" sz="1400" dirty="0"/>
              <a:t>1 台の Bluetooth アダプタで 最大 7 台のデバイスと同時接続 できるため、</a:t>
            </a:r>
          </a:p>
          <a:p>
            <a:pPr algn="l"/>
            <a:r>
              <a:rPr lang="ja-JP" altLang="en-US" sz="1400" dirty="0"/>
              <a:t>接続と切断を繰り返す必要がありません。</a:t>
            </a:r>
          </a:p>
          <a:p>
            <a:pPr algn="l"/>
            <a:r>
              <a:rPr lang="ja-JP" altLang="en-US" sz="1400" dirty="0"/>
              <a:t>2010 年には数十億台の Bluetooth デバイスが展開されており、</a:t>
            </a:r>
          </a:p>
          <a:p>
            <a:pPr algn="l"/>
            <a:r>
              <a:rPr lang="ja-JP" altLang="en-US" sz="1400" dirty="0"/>
              <a:t>今後も増加が続くと見込まれています。</a:t>
            </a:r>
          </a:p>
          <a:p>
            <a:pPr algn="l"/>
            <a:endParaRPr lang="ja-JP" altLang="en-US" sz="1400" dirty="0"/>
          </a:p>
          <a:p>
            <a:pPr algn="l"/>
            <a:r>
              <a:rPr lang="ja-JP" altLang="en-US" sz="1400" dirty="0"/>
              <a:t>Secure Simple Pairing（SSP）</a:t>
            </a:r>
          </a:p>
          <a:p>
            <a:pPr algn="l"/>
            <a:r>
              <a:rPr lang="ja-JP" altLang="en-US" sz="1400" dirty="0"/>
              <a:t>Bluetooth 2.1 で導入された SSP は、</a:t>
            </a:r>
          </a:p>
          <a:p>
            <a:pPr algn="l"/>
            <a:r>
              <a:rPr lang="ja-JP" altLang="en-US" sz="1400" dirty="0"/>
              <a:t>複数のペアリング方式を提供します：</a:t>
            </a:r>
          </a:p>
          <a:p>
            <a:pPr algn="l"/>
            <a:r>
              <a:rPr lang="ja-JP" altLang="en-US" sz="1400" dirty="0"/>
              <a:t>- Just Works</a:t>
            </a:r>
          </a:p>
          <a:p>
            <a:pPr algn="l"/>
            <a:r>
              <a:rPr lang="ja-JP" altLang="en-US" sz="1400" dirty="0"/>
              <a:t>- ユーザー操作なし</a:t>
            </a:r>
          </a:p>
          <a:p>
            <a:pPr algn="l"/>
            <a:r>
              <a:rPr lang="ja-JP" altLang="en-US" sz="1400" dirty="0"/>
              <a:t>- 多くのヘッドホンが採用</a:t>
            </a:r>
          </a:p>
          <a:p>
            <a:pPr algn="l"/>
            <a:r>
              <a:rPr lang="ja-JP" altLang="en-US" sz="1400" dirty="0"/>
              <a:t>- Numeric Comparison</a:t>
            </a:r>
          </a:p>
          <a:p>
            <a:pPr algn="l"/>
            <a:r>
              <a:rPr lang="ja-JP" altLang="en-US" sz="1400" dirty="0"/>
              <a:t>- 両デバイスに表示される数字が一致するか確認</a:t>
            </a:r>
          </a:p>
          <a:p>
            <a:pPr algn="l"/>
            <a:r>
              <a:rPr lang="ja-JP" altLang="en-US" sz="1400" dirty="0"/>
              <a:t>- 車載 Bluetooth で一般的</a:t>
            </a:r>
          </a:p>
          <a:p>
            <a:pPr algn="l"/>
            <a:r>
              <a:rPr lang="ja-JP" altLang="en-US" sz="1400" dirty="0"/>
              <a:t>- Passkey Entry</a:t>
            </a:r>
          </a:p>
          <a:p>
            <a:pPr algn="l"/>
            <a:r>
              <a:rPr lang="ja-JP" altLang="en-US" sz="1400" dirty="0"/>
              <a:t>- 片方のデバイスにコードを入力</a:t>
            </a:r>
          </a:p>
          <a:p>
            <a:pPr algn="l"/>
            <a:r>
              <a:rPr lang="ja-JP" altLang="en-US" sz="1400" dirty="0"/>
              <a:t>- Out of Band（OOB）</a:t>
            </a:r>
          </a:p>
          <a:p>
            <a:pPr algn="l"/>
            <a:r>
              <a:rPr lang="ja-JP" altLang="en-US" sz="1400" dirty="0"/>
              <a:t>- NFC など別の通信手段でペアリング情報を交換</a:t>
            </a:r>
          </a:p>
          <a:p>
            <a:pPr algn="l"/>
            <a:r>
              <a:rPr lang="ja-JP" altLang="en-US" sz="1400" dirty="0"/>
              <a:t>- 最新のヘッドホンなどで採用</a:t>
            </a:r>
          </a:p>
          <a:p>
            <a:pPr algn="l"/>
            <a:endParaRPr lang="ja-JP" altLang="en-US" sz="1400" dirty="0"/>
          </a:p>
          <a:p>
            <a:pPr algn="l"/>
            <a:r>
              <a:rPr lang="ja-JP" altLang="en-US" sz="1400" dirty="0"/>
              <a:t>電力業界での Bluetooth 活用</a:t>
            </a:r>
          </a:p>
          <a:p>
            <a:pPr algn="l"/>
            <a:r>
              <a:rPr lang="ja-JP" altLang="en-US" sz="1400" dirty="0"/>
              <a:t>電力会社では、電柱上の機器に触れること自体が</a:t>
            </a:r>
          </a:p>
          <a:p>
            <a:pPr algn="l"/>
            <a:r>
              <a:rPr lang="ja-JP" altLang="en-US" sz="1400" dirty="0"/>
              <a:t>感電リスクを伴う危険作業 です。</a:t>
            </a:r>
          </a:p>
          <a:p>
            <a:pPr algn="l"/>
            <a:r>
              <a:rPr lang="ja-JP" altLang="en-US" sz="1400" dirty="0"/>
              <a:t>そのため、機器メーカーは電柱上の装置に</a:t>
            </a:r>
          </a:p>
          <a:p>
            <a:pPr algn="l"/>
            <a:r>
              <a:rPr lang="ja-JP" altLang="en-US" sz="1400" dirty="0"/>
              <a:t>Bluetooth インターフェース を組み込み始めています。</a:t>
            </a:r>
          </a:p>
          <a:p>
            <a:pPr algn="l"/>
            <a:r>
              <a:rPr lang="ja-JP" altLang="en-US" sz="1400" dirty="0"/>
              <a:t>これにより、作業員は電柱に登らずに：</a:t>
            </a:r>
          </a:p>
          <a:p>
            <a:pPr algn="l"/>
            <a:r>
              <a:rPr lang="ja-JP" altLang="en-US" sz="1400" dirty="0"/>
              <a:t>- 会社のトラックの中から</a:t>
            </a:r>
          </a:p>
          <a:p>
            <a:pPr algn="l"/>
            <a:r>
              <a:rPr lang="ja-JP" altLang="en-US" sz="1400" dirty="0"/>
              <a:t>- ノート PC を使って</a:t>
            </a:r>
          </a:p>
          <a:p>
            <a:pPr algn="l"/>
            <a:r>
              <a:rPr lang="ja-JP" altLang="en-US" sz="1400" dirty="0"/>
              <a:t>- 機器の設定変更や状態確認ができる</a:t>
            </a:r>
          </a:p>
          <a:p>
            <a:pPr algn="l"/>
            <a:r>
              <a:rPr lang="ja-JP" altLang="en-US" sz="1400" dirty="0"/>
              <a:t>という安全性と効率性の向上が実現されています。</a:t>
            </a:r>
          </a:p>
        </p:txBody>
      </p:sp>
      <p:pic>
        <p:nvPicPr>
          <p:cNvPr id="4" name="図 3">
            <a:extLst>
              <a:ext uri="{FF2B5EF4-FFF2-40B4-BE49-F238E27FC236}">
                <a16:creationId xmlns:a16="http://schemas.microsoft.com/office/drawing/2014/main" id="{669844C6-839F-4207-9FEB-731D2CC55E27}"/>
              </a:ext>
            </a:extLst>
          </p:cNvPr>
          <p:cNvPicPr>
            <a:picLocks noChangeAspect="1"/>
          </p:cNvPicPr>
          <p:nvPr/>
        </p:nvPicPr>
        <p:blipFill>
          <a:blip r:embed="rId2"/>
          <a:stretch>
            <a:fillRect/>
          </a:stretch>
        </p:blipFill>
        <p:spPr>
          <a:xfrm>
            <a:off x="545690" y="50800"/>
            <a:ext cx="5766620" cy="3284198"/>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893188"/>
            <a:ext cx="6852285" cy="7994015"/>
          </a:xfrm>
        </p:spPr>
        <p:txBody>
          <a:bodyPr>
            <a:normAutofit fontScale="90000" lnSpcReduction="10000"/>
          </a:bodyPr>
          <a:lstStyle/>
          <a:p>
            <a:pPr algn="l"/>
            <a:r>
              <a:rPr lang="ja-JP" altLang="en-US" sz="1400" dirty="0"/>
              <a:t>以下に、内容を専門的かつ自然で読みやすい 日本語訳（意訳） をまとめます。</a:t>
            </a:r>
          </a:p>
          <a:p>
            <a:pPr algn="l"/>
            <a:r>
              <a:rPr lang="ja-JP" altLang="en-US" sz="1400" dirty="0"/>
              <a:t>802.11（Wi‑Fi）の基本機能と、近年の世代表記・技術進化が端的に説明されている部分です。</a:t>
            </a:r>
          </a:p>
          <a:p>
            <a:pPr algn="l"/>
            <a:endParaRPr lang="ja-JP" altLang="en-US" sz="1400" dirty="0"/>
          </a:p>
          <a:p>
            <a:pPr algn="l"/>
            <a:r>
              <a:rPr lang="ja-JP" altLang="en-US" sz="1400" dirty="0"/>
              <a:t>日本語訳（意訳）</a:t>
            </a:r>
          </a:p>
          <a:p>
            <a:pPr algn="l"/>
            <a:r>
              <a:rPr lang="ja-JP" altLang="en-US" sz="1400" dirty="0"/>
              <a:t>802.11 規格は 1997 年に IEEE 802 委員会によって承認されました。</a:t>
            </a:r>
          </a:p>
          <a:p>
            <a:pPr algn="l"/>
            <a:r>
              <a:rPr lang="ja-JP" altLang="en-US" sz="1400" dirty="0"/>
              <a:t>この規格には、現在最も広く採用されている無線 LAN 規格となるための</a:t>
            </a:r>
          </a:p>
          <a:p>
            <a:pPr algn="l"/>
            <a:r>
              <a:rPr lang="ja-JP" altLang="en-US" sz="1400" dirty="0"/>
              <a:t>いくつかの重要な要素が含まれています。</a:t>
            </a:r>
          </a:p>
          <a:p>
            <a:pPr algn="l"/>
            <a:endParaRPr lang="ja-JP" altLang="en-US" sz="1400" dirty="0"/>
          </a:p>
          <a:p>
            <a:pPr algn="l"/>
            <a:r>
              <a:rPr lang="ja-JP" altLang="en-US" sz="1400" dirty="0"/>
              <a:t>802.11（Wi‑Fi）が広く普及した理由</a:t>
            </a:r>
          </a:p>
          <a:p>
            <a:pPr algn="l"/>
            <a:r>
              <a:rPr lang="ja-JP" altLang="en-US" sz="1400" dirty="0"/>
              <a:t>- アドホックモードとインフラストラクチャモード の両方をサポート</a:t>
            </a:r>
          </a:p>
          <a:p>
            <a:pPr algn="l"/>
            <a:r>
              <a:rPr lang="ja-JP" altLang="en-US" sz="1400" dirty="0"/>
              <a:t>- 複数のアクセスポイント間で ローミング が可能で、接続が途切れにくい</a:t>
            </a:r>
          </a:p>
          <a:p>
            <a:pPr algn="l"/>
            <a:r>
              <a:rPr lang="ja-JP" altLang="en-US" sz="1400" dirty="0"/>
              <a:t>- レイヤ 2 の フラグメンテーション により、大きなデータパケットを扱える</a:t>
            </a:r>
          </a:p>
          <a:p>
            <a:pPr algn="l"/>
            <a:r>
              <a:rPr lang="ja-JP" altLang="en-US" sz="1400" dirty="0"/>
              <a:t>- 干渉が発生しても、AP やクライアントが受信したデータを</a:t>
            </a:r>
          </a:p>
          <a:p>
            <a:pPr algn="l"/>
            <a:r>
              <a:rPr lang="ja-JP" altLang="en-US" sz="1400" dirty="0"/>
              <a:t>必ず ACK（肯定応答） する仕組みにより信頼性を確保</a:t>
            </a:r>
          </a:p>
          <a:p>
            <a:pPr algn="l"/>
            <a:r>
              <a:rPr lang="ja-JP" altLang="en-US" sz="1400" dirty="0"/>
              <a:t>- 802.2 LLC など既存のデータカプセル化標準を活用</a:t>
            </a:r>
          </a:p>
          <a:p>
            <a:pPr algn="l"/>
            <a:r>
              <a:rPr lang="ja-JP" altLang="en-US" sz="1400" dirty="0"/>
              <a:t>- 省電力技術 により、無線デバイスのバッテリー寿命を延長</a:t>
            </a:r>
          </a:p>
          <a:p>
            <a:pPr algn="l"/>
            <a:endParaRPr lang="ja-JP" altLang="en-US" sz="1400" dirty="0"/>
          </a:p>
          <a:p>
            <a:pPr algn="l"/>
            <a:r>
              <a:rPr lang="ja-JP" altLang="en-US" sz="1400" dirty="0"/>
              <a:t>現代の Wi‑Fi：世代表記と技術進化</a:t>
            </a:r>
          </a:p>
          <a:p>
            <a:pPr algn="l"/>
            <a:r>
              <a:rPr lang="ja-JP" altLang="en-US" sz="1400" dirty="0"/>
              <a:t>2019 年から、Wi‑Fi は「Wi‑Fi 4 / 5 / 6 / 6E / 7」といった</a:t>
            </a:r>
          </a:p>
          <a:p>
            <a:pPr algn="l"/>
            <a:r>
              <a:rPr lang="ja-JP" altLang="en-US" sz="1400" dirty="0"/>
              <a:t>世代（generation）表記 が導入されました。</a:t>
            </a:r>
          </a:p>
          <a:p>
            <a:pPr algn="l"/>
            <a:r>
              <a:rPr lang="ja-JP" altLang="en-US" sz="1400" dirty="0"/>
              <a:t>最新の Wi‑Fi 規格では：</a:t>
            </a:r>
          </a:p>
          <a:p>
            <a:pPr algn="l"/>
            <a:r>
              <a:rPr lang="ja-JP" altLang="en-US" sz="1400" dirty="0"/>
              <a:t>- 各エンドポイントが 複数ストリーム（アンテナ 1 本＝1 ストリーム） を扱える</a:t>
            </a:r>
          </a:p>
          <a:p>
            <a:pPr algn="l"/>
            <a:r>
              <a:rPr lang="ja-JP" altLang="en-US" sz="1400" dirty="0"/>
              <a:t>- → 理論上の総帯域幅がストリーム数に比例して増加</a:t>
            </a:r>
          </a:p>
          <a:p>
            <a:pPr algn="l"/>
            <a:r>
              <a:rPr lang="ja-JP" altLang="en-US" sz="1400" dirty="0"/>
              <a:t>- MU‑MIMO（Multi‑User MIMO） をサポート</a:t>
            </a:r>
          </a:p>
          <a:p>
            <a:pPr algn="l"/>
            <a:r>
              <a:rPr lang="ja-JP" altLang="en-US" sz="1400" dirty="0"/>
              <a:t>- → 複数の端末に同時通信が可能</a:t>
            </a:r>
          </a:p>
          <a:p>
            <a:pPr algn="l"/>
            <a:r>
              <a:rPr lang="ja-JP" altLang="en-US" sz="1400" dirty="0"/>
              <a:t>- → 混雑環境でもスループットが向上</a:t>
            </a:r>
          </a:p>
          <a:p>
            <a:pPr algn="l"/>
            <a:r>
              <a:rPr lang="ja-JP" altLang="en-US" sz="1400" dirty="0"/>
              <a:t>これらの技術により、Wi‑Fi は高速化・高効率化を続けています。</a:t>
            </a:r>
          </a:p>
          <a:p>
            <a:pPr algn="l"/>
            <a:endParaRPr lang="ja-JP" altLang="en-US" sz="1400" dirty="0"/>
          </a:p>
          <a:p>
            <a:pPr algn="l"/>
            <a:r>
              <a:rPr lang="ja-JP" altLang="en-US" sz="1400" dirty="0"/>
              <a:t>参考</a:t>
            </a:r>
          </a:p>
          <a:p>
            <a:pPr algn="l"/>
            <a:r>
              <a:rPr lang="ja-JP" altLang="en-US" sz="1400" dirty="0"/>
              <a:t>https://standards.ieee.org/search/?q=802.11</a:t>
            </a:r>
          </a:p>
        </p:txBody>
      </p:sp>
      <p:pic>
        <p:nvPicPr>
          <p:cNvPr id="4" name="図 3">
            <a:extLst>
              <a:ext uri="{FF2B5EF4-FFF2-40B4-BE49-F238E27FC236}">
                <a16:creationId xmlns:a16="http://schemas.microsoft.com/office/drawing/2014/main" id="{6D2711AE-6660-4FDC-8830-1CDCF4882CAE}"/>
              </a:ext>
            </a:extLst>
          </p:cNvPr>
          <p:cNvPicPr>
            <a:picLocks noChangeAspect="1"/>
          </p:cNvPicPr>
          <p:nvPr/>
        </p:nvPicPr>
        <p:blipFill>
          <a:blip r:embed="rId2"/>
          <a:stretch>
            <a:fillRect/>
          </a:stretch>
        </p:blipFill>
        <p:spPr>
          <a:xfrm>
            <a:off x="152399" y="135467"/>
            <a:ext cx="6553201" cy="372341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0" y="3496136"/>
            <a:ext cx="3403600" cy="7916919"/>
          </a:xfrm>
        </p:spPr>
        <p:txBody>
          <a:bodyPr>
            <a:noAutofit/>
          </a:bodyPr>
          <a:lstStyle/>
          <a:p>
            <a:pPr algn="l"/>
            <a:r>
              <a:rPr lang="ja-JP" altLang="en-US" sz="1200" dirty="0"/>
              <a:t>WPA（Wi‑Fi Protected Access）は、IEEE 802.11i 規格が完成する前に</a:t>
            </a:r>
          </a:p>
          <a:p>
            <a:pPr algn="l"/>
            <a:r>
              <a:rPr lang="ja-JP" altLang="en-US" sz="1200" dirty="0"/>
              <a:t>Wi‑Fi Alliance によって採用された仕様です。</a:t>
            </a:r>
          </a:p>
          <a:p>
            <a:pPr algn="l"/>
            <a:r>
              <a:rPr lang="ja-JP" altLang="en-US" sz="1200" dirty="0"/>
              <a:t>これは、無線ネットワークのセキュリティを改善したい組織に</a:t>
            </a:r>
          </a:p>
          <a:p>
            <a:pPr algn="l"/>
            <a:r>
              <a:rPr lang="ja-JP" altLang="en-US" sz="1200" dirty="0"/>
              <a:t>WEP の代替手段を早期に提供するため でした。</a:t>
            </a:r>
          </a:p>
          <a:p>
            <a:pPr algn="l"/>
            <a:r>
              <a:rPr lang="ja-JP" altLang="en-US" sz="1200" dirty="0"/>
              <a:t>2003 年当時、多くの組織が無線 LAN のセキュリティに不安を抱えていましたが、</a:t>
            </a:r>
          </a:p>
          <a:p>
            <a:pPr algn="l"/>
            <a:r>
              <a:rPr lang="ja-JP" altLang="en-US" sz="1200" dirty="0"/>
              <a:t>IEEE からはまだ WEP に代わる明確な解決策が提示されていませんでした。</a:t>
            </a:r>
          </a:p>
          <a:p>
            <a:pPr algn="l"/>
            <a:r>
              <a:rPr lang="ja-JP" altLang="en-US" sz="1200" dirty="0"/>
              <a:t>802.11i 委員会は WEP の後継を定義していたものの、</a:t>
            </a:r>
          </a:p>
          <a:p>
            <a:pPr algn="l"/>
            <a:r>
              <a:rPr lang="ja-JP" altLang="en-US" sz="1200" dirty="0"/>
              <a:t>仕様はまだ完成していませんでした。</a:t>
            </a:r>
          </a:p>
          <a:p>
            <a:pPr algn="l"/>
            <a:endParaRPr lang="ja-JP" altLang="en-US" sz="1200" dirty="0"/>
          </a:p>
          <a:p>
            <a:pPr algn="l"/>
            <a:r>
              <a:rPr lang="ja-JP" altLang="en-US" sz="1200" dirty="0"/>
              <a:t>WPA（TKIP）誕生の経緯</a:t>
            </a:r>
          </a:p>
          <a:p>
            <a:pPr algn="l"/>
            <a:r>
              <a:rPr lang="ja-JP" altLang="en-US" sz="1200" dirty="0"/>
              <a:t>Wi‑Fi Alliance は 2003 年版の 802.11i 草案を採用し、</a:t>
            </a:r>
          </a:p>
          <a:p>
            <a:pPr algn="l"/>
            <a:r>
              <a:rPr lang="ja-JP" altLang="en-US" sz="1200" dirty="0"/>
              <a:t>TKIP（Temporal Key Integrity Protocol） を使うベンダー製品の</a:t>
            </a:r>
          </a:p>
          <a:p>
            <a:pPr algn="l"/>
            <a:r>
              <a:rPr lang="ja-JP" altLang="en-US" sz="1200" dirty="0"/>
              <a:t>相互運用性テストを開始しました。</a:t>
            </a:r>
          </a:p>
          <a:p>
            <a:pPr algn="l"/>
            <a:r>
              <a:rPr lang="ja-JP" altLang="en-US" sz="1200" dirty="0"/>
              <a:t>このテストに合格した製品が WPA 準拠 と認定されました。</a:t>
            </a:r>
          </a:p>
          <a:p>
            <a:pPr algn="l"/>
            <a:r>
              <a:rPr lang="ja-JP" altLang="en-US" sz="1200" dirty="0"/>
              <a:t>WPA は、既存ハードウェアで WEP を置き換えるために</a:t>
            </a:r>
          </a:p>
          <a:p>
            <a:pPr algn="l"/>
            <a:r>
              <a:rPr lang="ja-JP" altLang="en-US" sz="1200" dirty="0"/>
              <a:t>TKIP を中心に設計された暫定的なセキュリティ強化策 でした。</a:t>
            </a:r>
          </a:p>
          <a:p>
            <a:pPr algn="l"/>
            <a:endParaRPr lang="ja-JP" altLang="en-US" sz="1200" dirty="0"/>
          </a:p>
          <a:p>
            <a:pPr algn="l"/>
            <a:r>
              <a:rPr lang="ja-JP" altLang="en-US" sz="1200" dirty="0"/>
              <a:t>WPA2（AES‑CCMP）の登場</a:t>
            </a:r>
          </a:p>
          <a:p>
            <a:pPr algn="l"/>
            <a:r>
              <a:rPr lang="ja-JP" altLang="en-US" sz="1200" dirty="0"/>
              <a:t>2004 年 6 月に 802.11i が正式に標準化されると、</a:t>
            </a:r>
          </a:p>
          <a:p>
            <a:pPr algn="l"/>
            <a:r>
              <a:rPr lang="ja-JP" altLang="en-US" sz="1200" dirty="0"/>
              <a:t>Wi‑Fi Alliance は新しいハードウェア向けに設計された</a:t>
            </a:r>
          </a:p>
          <a:p>
            <a:pPr algn="l"/>
            <a:r>
              <a:rPr lang="ja-JP" altLang="en-US" sz="1200" dirty="0"/>
              <a:t>AES‑CCMP を採用しました。</a:t>
            </a:r>
          </a:p>
          <a:p>
            <a:pPr algn="l"/>
            <a:r>
              <a:rPr lang="ja-JP" altLang="en-US" sz="1200" dirty="0"/>
              <a:t>AES‑CCMP の適合テストに合格した製品が WPA2 と呼ばれるようになりました。</a:t>
            </a:r>
          </a:p>
        </p:txBody>
      </p:sp>
      <p:pic>
        <p:nvPicPr>
          <p:cNvPr id="4" name="図 3">
            <a:extLst>
              <a:ext uri="{FF2B5EF4-FFF2-40B4-BE49-F238E27FC236}">
                <a16:creationId xmlns:a16="http://schemas.microsoft.com/office/drawing/2014/main" id="{63F5C7E6-223D-49AE-BE8F-D9969B2F6634}"/>
              </a:ext>
            </a:extLst>
          </p:cNvPr>
          <p:cNvPicPr>
            <a:picLocks noChangeAspect="1"/>
          </p:cNvPicPr>
          <p:nvPr/>
        </p:nvPicPr>
        <p:blipFill>
          <a:blip r:embed="rId2"/>
          <a:stretch>
            <a:fillRect/>
          </a:stretch>
        </p:blipFill>
        <p:spPr>
          <a:xfrm>
            <a:off x="520280" y="101610"/>
            <a:ext cx="5817440" cy="3302000"/>
          </a:xfrm>
          <a:prstGeom prst="rect">
            <a:avLst/>
          </a:prstGeom>
        </p:spPr>
      </p:pic>
      <p:sp>
        <p:nvSpPr>
          <p:cNvPr id="5" name="サブタイトル 2">
            <a:extLst>
              <a:ext uri="{FF2B5EF4-FFF2-40B4-BE49-F238E27FC236}">
                <a16:creationId xmlns:a16="http://schemas.microsoft.com/office/drawing/2014/main" id="{C1378DAC-1F7D-40C9-A64F-9FB15DAC129D}"/>
              </a:ext>
            </a:extLst>
          </p:cNvPr>
          <p:cNvSpPr txBox="1">
            <a:spLocks/>
          </p:cNvSpPr>
          <p:nvPr/>
        </p:nvSpPr>
        <p:spPr>
          <a:xfrm>
            <a:off x="3564464" y="3496136"/>
            <a:ext cx="3211619" cy="5403001"/>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2017 年：KRACK（Key Reinstallation Attack）</a:t>
            </a:r>
          </a:p>
          <a:p>
            <a:pPr algn="l"/>
            <a:r>
              <a:rPr lang="ja-JP" altLang="en-US" sz="1200" dirty="0"/>
              <a:t>2017 年、KRACK 攻撃が発表されました。</a:t>
            </a:r>
          </a:p>
          <a:p>
            <a:pPr algn="l"/>
            <a:r>
              <a:rPr lang="ja-JP" altLang="en-US" sz="1200" dirty="0"/>
              <a:t>これは CCMP の 4‑way ハンドシェイクの 3 番目のステップの欠陥 を悪用するものです。</a:t>
            </a:r>
          </a:p>
          <a:p>
            <a:pPr algn="l"/>
            <a:r>
              <a:rPr lang="ja-JP" altLang="en-US" sz="1200" dirty="0"/>
              <a:t>KRACK から保護するには：</a:t>
            </a:r>
          </a:p>
          <a:p>
            <a:pPr algn="l"/>
            <a:r>
              <a:rPr lang="ja-JP" altLang="en-US" sz="1200" dirty="0"/>
              <a:t>- アクセスポイント（AP）</a:t>
            </a:r>
          </a:p>
          <a:p>
            <a:pPr algn="l"/>
            <a:r>
              <a:rPr lang="ja-JP" altLang="en-US" sz="1200" dirty="0"/>
              <a:t>- クライアント（Host）</a:t>
            </a:r>
          </a:p>
          <a:p>
            <a:pPr algn="l"/>
            <a:r>
              <a:rPr lang="ja-JP" altLang="en-US" sz="1200" dirty="0"/>
              <a:t>のどちらか一方、または両方をパッチ適用する必要があります。</a:t>
            </a:r>
          </a:p>
          <a:p>
            <a:pPr algn="l"/>
            <a:endParaRPr lang="ja-JP" altLang="en-US" sz="1200" dirty="0"/>
          </a:p>
          <a:p>
            <a:pPr algn="l"/>
            <a:r>
              <a:rPr lang="ja-JP" altLang="en-US" sz="1200" dirty="0"/>
              <a:t>参考リンク（原文に記載）</a:t>
            </a:r>
          </a:p>
          <a:p>
            <a:pPr algn="l"/>
            <a:r>
              <a:rPr lang="ja-JP" altLang="en-US" sz="1200" dirty="0"/>
              <a:t>- WEP</a:t>
            </a:r>
          </a:p>
          <a:p>
            <a:pPr algn="l"/>
            <a:r>
              <a:rPr lang="ja-JP" altLang="en-US" sz="1200" dirty="0"/>
              <a:t>https://en.wikipedia.org/wiki/Wired_Equivalent_Privacy</a:t>
            </a:r>
          </a:p>
          <a:p>
            <a:pPr algn="l"/>
            <a:r>
              <a:rPr lang="ja-JP" altLang="en-US" sz="1200" dirty="0"/>
              <a:t>- WPA</a:t>
            </a:r>
          </a:p>
          <a:p>
            <a:pPr algn="l"/>
            <a:r>
              <a:rPr lang="ja-JP" altLang="en-US" sz="1200" dirty="0"/>
              <a:t>https://en.wikipedia.org/wiki/Wi-Fi_Protected_Access</a:t>
            </a:r>
          </a:p>
          <a:p>
            <a:pPr algn="l"/>
            <a:r>
              <a:rPr lang="ja-JP" altLang="en-US" sz="1200" dirty="0"/>
              <a:t>- KRACK</a:t>
            </a:r>
          </a:p>
          <a:p>
            <a:pPr algn="l"/>
            <a:r>
              <a:rPr lang="ja-JP" altLang="en-US" sz="1200" dirty="0"/>
              <a:t>https://en.wikipedia.org/wiki/KRACK</a:t>
            </a:r>
          </a:p>
          <a:p>
            <a:pPr algn="l"/>
            <a:r>
              <a:rPr lang="ja-JP" altLang="en-US" sz="1200" dirty="0"/>
              <a:t>- EAP（Extensible Authentication Protocol）</a:t>
            </a:r>
          </a:p>
          <a:p>
            <a:pPr algn="l"/>
            <a:r>
              <a:rPr lang="ja-JP" altLang="en-US" sz="1200" dirty="0"/>
              <a:t>https://en.wikipedia.org/wiki/Extensible_Authentication_Protocol</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177E4066-D216-434C-9170-9D50F3DAA4F5}"/>
              </a:ext>
            </a:extLst>
          </p:cNvPr>
          <p:cNvPicPr>
            <a:picLocks noChangeAspect="1"/>
          </p:cNvPicPr>
          <p:nvPr/>
        </p:nvPicPr>
        <p:blipFill>
          <a:blip r:embed="rId2"/>
          <a:stretch>
            <a:fillRect/>
          </a:stretch>
        </p:blipFill>
        <p:spPr>
          <a:xfrm>
            <a:off x="-1" y="-1"/>
            <a:ext cx="6857079" cy="3877733"/>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FDB7B036-C7E9-42F7-8BDD-0807FDBCFAC8}"/>
              </a:ext>
            </a:extLst>
          </p:cNvPr>
          <p:cNvPicPr>
            <a:picLocks noChangeAspect="1"/>
          </p:cNvPicPr>
          <p:nvPr/>
        </p:nvPicPr>
        <p:blipFill>
          <a:blip r:embed="rId2"/>
          <a:stretch>
            <a:fillRect/>
          </a:stretch>
        </p:blipFill>
        <p:spPr>
          <a:xfrm>
            <a:off x="0" y="0"/>
            <a:ext cx="6801930" cy="38608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0A34CB64-0BC9-4795-9F3A-D6FBEA98CA98}"/>
              </a:ext>
            </a:extLst>
          </p:cNvPr>
          <p:cNvPicPr>
            <a:picLocks noChangeAspect="1"/>
          </p:cNvPicPr>
          <p:nvPr/>
        </p:nvPicPr>
        <p:blipFill>
          <a:blip r:embed="rId2"/>
          <a:stretch>
            <a:fillRect/>
          </a:stretch>
        </p:blipFill>
        <p:spPr>
          <a:xfrm>
            <a:off x="0" y="0"/>
            <a:ext cx="6792823" cy="38608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633565"/>
            <a:ext cx="3429000" cy="7627099"/>
          </a:xfrm>
        </p:spPr>
        <p:txBody>
          <a:bodyPr>
            <a:normAutofit/>
          </a:bodyPr>
          <a:lstStyle/>
          <a:p>
            <a:pPr algn="l"/>
            <a:r>
              <a:rPr lang="ja-JP" altLang="en-US" sz="1400" dirty="0"/>
              <a:t>ICS ネットワークが無線通信に依存する場合、</a:t>
            </a:r>
          </a:p>
          <a:p>
            <a:pPr algn="l"/>
            <a:r>
              <a:rPr lang="ja-JP" altLang="en-US" sz="1400" dirty="0"/>
              <a:t>次の弱点が 本質的に存在する と考えるべきです。</a:t>
            </a:r>
          </a:p>
          <a:p>
            <a:pPr algn="l"/>
            <a:endParaRPr lang="ja-JP" altLang="en-US" sz="1400" dirty="0"/>
          </a:p>
          <a:p>
            <a:pPr algn="l"/>
            <a:r>
              <a:rPr lang="ja-JP" altLang="en-US" sz="1400" dirty="0"/>
              <a:t>1. DoS（サービス妨害）攻撃が非常に容易で、防御はほぼ不可能</a:t>
            </a:r>
          </a:p>
          <a:p>
            <a:pPr algn="l"/>
            <a:r>
              <a:rPr lang="ja-JP" altLang="en-US" sz="1400" dirty="0"/>
              <a:t>無線通信は、同じ周波数帯で ノイズを発生させるだけで妨害できる ため、</a:t>
            </a:r>
          </a:p>
          <a:p>
            <a:pPr algn="l"/>
            <a:r>
              <a:rPr lang="ja-JP" altLang="en-US" sz="1400" dirty="0"/>
              <a:t>DoS 攻撃が極めて簡単です。</a:t>
            </a:r>
          </a:p>
          <a:p>
            <a:pPr algn="l"/>
            <a:r>
              <a:rPr lang="ja-JP" altLang="en-US" sz="1400" dirty="0"/>
              <a:t>これは ICS でも例外ではありません。</a:t>
            </a:r>
          </a:p>
          <a:p>
            <a:pPr algn="l"/>
            <a:endParaRPr lang="ja-JP" altLang="en-US" sz="1400" dirty="0"/>
          </a:p>
          <a:p>
            <a:pPr algn="l"/>
            <a:r>
              <a:rPr lang="ja-JP" altLang="en-US" sz="1400" dirty="0"/>
              <a:t>2. 周波数帯やホッピング方式に関係なく、通信の傍受は可能</a:t>
            </a:r>
          </a:p>
          <a:p>
            <a:pPr algn="l"/>
            <a:r>
              <a:rPr lang="ja-JP" altLang="en-US" sz="1400" dirty="0"/>
              <a:t>- RF 周波数が何であっても</a:t>
            </a:r>
          </a:p>
          <a:p>
            <a:pPr algn="l"/>
            <a:r>
              <a:rPr lang="ja-JP" altLang="en-US" sz="1400" dirty="0"/>
              <a:t>- 周波数ホッピングを使っていても</a:t>
            </a:r>
          </a:p>
          <a:p>
            <a:pPr algn="l"/>
            <a:r>
              <a:rPr lang="ja-JP" altLang="en-US" sz="1400" dirty="0"/>
              <a:t>通信キャプチャは可能 です。</a:t>
            </a:r>
          </a:p>
          <a:p>
            <a:pPr algn="l"/>
            <a:r>
              <a:rPr lang="ja-JP" altLang="en-US" sz="1400" dirty="0"/>
              <a:t>周波数ホッピングは「セキュリティのため」ではなく：</a:t>
            </a:r>
          </a:p>
          <a:p>
            <a:pPr algn="l"/>
            <a:r>
              <a:rPr lang="ja-JP" altLang="en-US" sz="1400" dirty="0"/>
              <a:t>- 帯域幅の向上</a:t>
            </a:r>
          </a:p>
          <a:p>
            <a:pPr algn="l"/>
            <a:r>
              <a:rPr lang="ja-JP" altLang="en-US" sz="1400" dirty="0"/>
              <a:t>- ノイズ耐性の向上</a:t>
            </a:r>
          </a:p>
          <a:p>
            <a:pPr algn="l"/>
            <a:r>
              <a:rPr lang="ja-JP" altLang="en-US" sz="1400" dirty="0"/>
              <a:t>が本来の目的です。</a:t>
            </a:r>
          </a:p>
          <a:p>
            <a:pPr algn="l"/>
            <a:r>
              <a:rPr lang="ja-JP" altLang="en-US" sz="1400" dirty="0"/>
              <a:t>熟練した無線攻撃者であれば、</a:t>
            </a:r>
          </a:p>
          <a:p>
            <a:pPr algn="l"/>
            <a:r>
              <a:rPr lang="ja-JP" altLang="en-US" sz="1400" dirty="0"/>
              <a:t>ホッピングパターンを追跡することは時間の問題 です。</a:t>
            </a:r>
          </a:p>
          <a:p>
            <a:pPr algn="l"/>
            <a:r>
              <a:rPr lang="ja-JP" altLang="en-US" sz="1400" dirty="0"/>
              <a:t>Bluetooth の高速ホッピングでさえ、</a:t>
            </a:r>
          </a:p>
          <a:p>
            <a:pPr algn="l"/>
            <a:r>
              <a:rPr lang="ja-JP" altLang="en-US" sz="1400" dirty="0"/>
              <a:t>Mike Ossmann の Ubertooth プロジェクトが示すように</a:t>
            </a:r>
          </a:p>
          <a:p>
            <a:pPr algn="l"/>
            <a:r>
              <a:rPr lang="ja-JP" altLang="en-US" sz="1400" dirty="0"/>
              <a:t>追跡可能 です。</a:t>
            </a:r>
          </a:p>
        </p:txBody>
      </p:sp>
      <p:pic>
        <p:nvPicPr>
          <p:cNvPr id="4" name="図 3">
            <a:extLst>
              <a:ext uri="{FF2B5EF4-FFF2-40B4-BE49-F238E27FC236}">
                <a16:creationId xmlns:a16="http://schemas.microsoft.com/office/drawing/2014/main" id="{8B4B4FB8-7068-48BA-9A63-46605CE0FF64}"/>
              </a:ext>
            </a:extLst>
          </p:cNvPr>
          <p:cNvPicPr>
            <a:picLocks noChangeAspect="1"/>
          </p:cNvPicPr>
          <p:nvPr/>
        </p:nvPicPr>
        <p:blipFill>
          <a:blip r:embed="rId2"/>
          <a:stretch>
            <a:fillRect/>
          </a:stretch>
        </p:blipFill>
        <p:spPr>
          <a:xfrm>
            <a:off x="435929" y="135464"/>
            <a:ext cx="5986142" cy="3406878"/>
          </a:xfrm>
          <a:prstGeom prst="rect">
            <a:avLst/>
          </a:prstGeom>
        </p:spPr>
      </p:pic>
      <p:sp>
        <p:nvSpPr>
          <p:cNvPr id="5" name="サブタイトル 2">
            <a:extLst>
              <a:ext uri="{FF2B5EF4-FFF2-40B4-BE49-F238E27FC236}">
                <a16:creationId xmlns:a16="http://schemas.microsoft.com/office/drawing/2014/main" id="{C2A8D03E-2050-4D00-A0AB-F9C838797CC4}"/>
              </a:ext>
            </a:extLst>
          </p:cNvPr>
          <p:cNvSpPr txBox="1">
            <a:spLocks/>
          </p:cNvSpPr>
          <p:nvPr/>
        </p:nvSpPr>
        <p:spPr>
          <a:xfrm>
            <a:off x="3429000" y="3633565"/>
            <a:ext cx="3429001" cy="762709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3. 攻撃者は “限定的ながら” 無線ネットワークにアクセスできる</a:t>
            </a:r>
          </a:p>
          <a:p>
            <a:pPr algn="l"/>
            <a:r>
              <a:rPr lang="ja-JP" altLang="en-US" sz="1400" dirty="0"/>
              <a:t>認証や暗号化があっても、</a:t>
            </a:r>
          </a:p>
          <a:p>
            <a:pPr algn="l"/>
            <a:r>
              <a:rPr lang="ja-JP" altLang="en-US" sz="1400" dirty="0"/>
              <a:t>攻撃者は次のようなポイントに入力を与えることができます：</a:t>
            </a:r>
          </a:p>
          <a:p>
            <a:pPr algn="l"/>
            <a:r>
              <a:rPr lang="ja-JP" altLang="en-US" sz="1400" dirty="0"/>
              <a:t>- 認証プロセス</a:t>
            </a:r>
          </a:p>
          <a:p>
            <a:pPr algn="l"/>
            <a:r>
              <a:rPr lang="ja-JP" altLang="en-US" sz="1400" dirty="0"/>
              <a:t>- 復号処理</a:t>
            </a:r>
          </a:p>
          <a:p>
            <a:pPr algn="l"/>
            <a:r>
              <a:rPr lang="ja-JP" altLang="en-US" sz="1400" dirty="0"/>
              <a:t>- プロトコルの入力フィールド</a:t>
            </a:r>
          </a:p>
          <a:p>
            <a:pPr algn="l"/>
            <a:r>
              <a:rPr lang="ja-JP" altLang="en-US" sz="1400" dirty="0"/>
              <a:t>これらは ファジング（fuzzing） に利用され、</a:t>
            </a:r>
          </a:p>
          <a:p>
            <a:pPr algn="l"/>
            <a:r>
              <a:rPr lang="ja-JP" altLang="en-US" sz="1400" dirty="0"/>
              <a:t>脆弱性を探す足がかりになります。</a:t>
            </a:r>
          </a:p>
          <a:p>
            <a:pPr algn="l"/>
            <a:endParaRPr lang="ja-JP" altLang="en-US" sz="1400" dirty="0"/>
          </a:p>
          <a:p>
            <a:pPr algn="l"/>
            <a:r>
              <a:rPr lang="ja-JP" altLang="en-US" sz="1400" dirty="0"/>
              <a:t>結論：防御の中心は「上位レイヤ」に置くべき</a:t>
            </a:r>
          </a:p>
          <a:p>
            <a:pPr algn="l"/>
            <a:r>
              <a:rPr lang="ja-JP" altLang="en-US" sz="1400" dirty="0"/>
              <a:t>多くの無線プロトコルは、</a:t>
            </a:r>
          </a:p>
          <a:p>
            <a:pPr algn="l"/>
            <a:r>
              <a:rPr lang="ja-JP" altLang="en-US" sz="1400" dirty="0"/>
              <a:t>MAC レイヤに部分的なアクセスを許してしまう と考えるべきです。</a:t>
            </a:r>
          </a:p>
          <a:p>
            <a:pPr algn="l"/>
            <a:r>
              <a:rPr lang="ja-JP" altLang="en-US" sz="1400" dirty="0"/>
              <a:t>そのため、セキュリティ対策は：</a:t>
            </a:r>
          </a:p>
          <a:p>
            <a:pPr algn="l"/>
            <a:r>
              <a:rPr lang="ja-JP" altLang="en-US" sz="1400" dirty="0"/>
              <a:t>- ネットワーク層</a:t>
            </a:r>
          </a:p>
          <a:p>
            <a:pPr algn="l"/>
            <a:r>
              <a:rPr lang="ja-JP" altLang="en-US" sz="1400" dirty="0"/>
              <a:t>- アプリケーション層</a:t>
            </a:r>
          </a:p>
          <a:p>
            <a:pPr algn="l"/>
            <a:r>
              <a:rPr lang="ja-JP" altLang="en-US" sz="1400" dirty="0"/>
              <a:t>- 暗号化・認証の強化</a:t>
            </a:r>
          </a:p>
          <a:p>
            <a:pPr algn="l"/>
            <a:r>
              <a:rPr lang="ja-JP" altLang="en-US" sz="1400" dirty="0"/>
              <a:t>- プロトコルレベルの堅牢化</a:t>
            </a:r>
          </a:p>
          <a:p>
            <a:pPr algn="l"/>
            <a:r>
              <a:rPr lang="ja-JP" altLang="en-US" sz="1400" dirty="0"/>
              <a:t>といった 上位レイヤに重点を置く必要があります。</a:t>
            </a:r>
          </a:p>
          <a:p>
            <a:pPr algn="l"/>
            <a:endParaRPr lang="ja-JP" altLang="en-US" sz="1400" dirty="0"/>
          </a:p>
          <a:p>
            <a:pPr algn="l"/>
            <a:r>
              <a:rPr lang="ja-JP" altLang="en-US" sz="1400" dirty="0"/>
              <a:t>ICS/OT の無線は「便利だから使う」のではなく、</a:t>
            </a:r>
          </a:p>
          <a:p>
            <a:pPr algn="l"/>
            <a:r>
              <a:rPr lang="ja-JP" altLang="en-US" sz="1400" dirty="0"/>
              <a:t>“攻撃者にどこまで見られる／触られる前提で設計するか” が本質になります。</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674532"/>
            <a:ext cx="6852285" cy="8161867"/>
          </a:xfrm>
        </p:spPr>
        <p:txBody>
          <a:bodyPr>
            <a:normAutofit fontScale="95000" lnSpcReduction="10000"/>
          </a:bodyPr>
          <a:lstStyle/>
          <a:p>
            <a:pPr algn="l"/>
            <a:r>
              <a:rPr lang="ja-JP" altLang="en-US" sz="1400" dirty="0"/>
              <a:t>前述の表は、世界中で 産業・科学・医療（ISM）用途 に割り当てられている</a:t>
            </a:r>
          </a:p>
          <a:p>
            <a:pPr algn="l"/>
            <a:r>
              <a:rPr lang="ja-JP" altLang="en-US" sz="1400" dirty="0"/>
              <a:t>一般的な RF 周波数帯の一覧です。</a:t>
            </a:r>
          </a:p>
          <a:p>
            <a:pPr algn="l"/>
            <a:r>
              <a:rPr lang="ja-JP" altLang="en-US" sz="1400" dirty="0"/>
              <a:t>別の言い方をすると、</a:t>
            </a:r>
          </a:p>
          <a:p>
            <a:pPr algn="l"/>
            <a:r>
              <a:rPr lang="ja-JP" altLang="en-US" sz="1400" dirty="0"/>
              <a:t>高額な専用帯域を購入しないデバイスは、ほぼすべてこの ISM バンドを使う</a:t>
            </a:r>
          </a:p>
          <a:p>
            <a:pPr algn="l"/>
            <a:r>
              <a:rPr lang="ja-JP" altLang="en-US" sz="1400" dirty="0"/>
              <a:t>ということです。</a:t>
            </a:r>
          </a:p>
          <a:p>
            <a:pPr algn="l"/>
            <a:r>
              <a:rPr lang="ja-JP" altLang="en-US" sz="1400" dirty="0"/>
              <a:t>そのため、攻撃者が 独自無線プロトコルを探すときに最初に調べるのが ISM バンド です。</a:t>
            </a:r>
          </a:p>
          <a:p>
            <a:pPr algn="l"/>
            <a:r>
              <a:rPr lang="ja-JP" altLang="en-US" sz="1400" dirty="0"/>
              <a:t>実際、私たちが利用する RF 通信の 95% が ISM バンド に集中しています。</a:t>
            </a:r>
          </a:p>
          <a:p>
            <a:pPr algn="l"/>
            <a:endParaRPr lang="ja-JP" altLang="en-US" sz="1400" dirty="0"/>
          </a:p>
          <a:p>
            <a:pPr algn="l"/>
            <a:r>
              <a:rPr lang="ja-JP" altLang="en-US" sz="1400" dirty="0"/>
              <a:t>地域別に一般的な ISM バンド</a:t>
            </a:r>
          </a:p>
          <a:p>
            <a:pPr algn="l"/>
            <a:r>
              <a:rPr lang="ja-JP" altLang="en-US" sz="1400" dirty="0"/>
              <a:t>米国</a:t>
            </a:r>
          </a:p>
          <a:p>
            <a:pPr algn="l"/>
            <a:r>
              <a:rPr lang="ja-JP" altLang="en-US" sz="1400" dirty="0"/>
              <a:t>Wi‑Fi や Bluetooth の 2.4 GHz に次いでよく使われるのは：</a:t>
            </a:r>
          </a:p>
          <a:p>
            <a:pPr algn="l"/>
            <a:r>
              <a:rPr lang="ja-JP" altLang="en-US" sz="1400" dirty="0"/>
              <a:t>- 915 MHz 帯（実際は 902–928 MHz）</a:t>
            </a:r>
          </a:p>
          <a:p>
            <a:pPr algn="l"/>
            <a:r>
              <a:rPr lang="ja-JP" altLang="en-US" sz="1400" dirty="0"/>
              <a:t>→ 中心周波数の 915 MHz と呼ばれることが多い</a:t>
            </a:r>
          </a:p>
          <a:p>
            <a:pPr algn="l"/>
            <a:r>
              <a:rPr lang="ja-JP" altLang="en-US" sz="1400" dirty="0"/>
              <a:t>- 433.920 MHz 帯</a:t>
            </a:r>
          </a:p>
          <a:p>
            <a:pPr algn="l"/>
            <a:r>
              <a:rPr lang="ja-JP" altLang="en-US" sz="1400" dirty="0"/>
              <a:t>ヨーロッパ</a:t>
            </a:r>
          </a:p>
          <a:p>
            <a:pPr algn="l"/>
            <a:r>
              <a:rPr lang="ja-JP" altLang="en-US" sz="1400" dirty="0"/>
              <a:t>- 869 MHz 帯 が最も一般的な ISM バンド</a:t>
            </a:r>
          </a:p>
          <a:p>
            <a:pPr algn="l"/>
            <a:r>
              <a:rPr lang="ja-JP" altLang="en-US" sz="1400" dirty="0"/>
              <a:t>これらの帯域は、独自無線プロトコルや ICS 用無線機器が</a:t>
            </a:r>
          </a:p>
          <a:p>
            <a:pPr algn="l"/>
            <a:r>
              <a:rPr lang="ja-JP" altLang="en-US" sz="1400" dirty="0"/>
              <a:t>非常に多く利用している周波数帯です。</a:t>
            </a:r>
          </a:p>
          <a:p>
            <a:pPr algn="l"/>
            <a:endParaRPr lang="ja-JP" altLang="en-US" sz="1400" dirty="0"/>
          </a:p>
          <a:p>
            <a:pPr algn="l"/>
            <a:r>
              <a:rPr lang="ja-JP" altLang="en-US" sz="1400" dirty="0"/>
              <a:t>ICS でよく使われる RF 技術：マイクロ波</a:t>
            </a:r>
          </a:p>
          <a:p>
            <a:pPr algn="l"/>
            <a:r>
              <a:rPr lang="ja-JP" altLang="en-US" sz="1400" dirty="0"/>
              <a:t>ICS の世界では マイクロ波通信 もよく利用されます。</a:t>
            </a:r>
          </a:p>
          <a:p>
            <a:pPr algn="l"/>
            <a:r>
              <a:rPr lang="ja-JP" altLang="en-US" sz="1400" dirty="0"/>
              <a:t>一般的には：</a:t>
            </a:r>
          </a:p>
          <a:p>
            <a:pPr algn="l"/>
            <a:r>
              <a:rPr lang="ja-JP" altLang="en-US" sz="1400" dirty="0"/>
              <a:t>- 3 GHz ～ 300 GHz をマイクロ波と呼びますが</a:t>
            </a:r>
          </a:p>
          <a:p>
            <a:pPr algn="l"/>
            <a:r>
              <a:rPr lang="ja-JP" altLang="en-US" sz="1400" dirty="0"/>
              <a:t>- 文脈によっては 300 MHz 付近 まで含む場合もあります</a:t>
            </a:r>
          </a:p>
          <a:p>
            <a:pPr algn="l"/>
            <a:r>
              <a:rPr lang="ja-JP" altLang="en-US" sz="1400" dirty="0"/>
              <a:t>そのため、ベンダーとマイクロ波通信について話す際は、</a:t>
            </a:r>
          </a:p>
          <a:p>
            <a:pPr algn="l"/>
            <a:r>
              <a:rPr lang="ja-JP" altLang="en-US" sz="1400" dirty="0"/>
              <a:t>「具体的にどの周波数帯を指しているのか」 を</a:t>
            </a:r>
          </a:p>
          <a:p>
            <a:pPr algn="l"/>
            <a:r>
              <a:rPr lang="ja-JP" altLang="en-US" sz="1400" dirty="0"/>
              <a:t>最初に確認することが非常に重要です。</a:t>
            </a:r>
          </a:p>
          <a:p>
            <a:pPr algn="l"/>
            <a:endParaRPr lang="ja-JP" altLang="en-US" sz="1400" dirty="0"/>
          </a:p>
          <a:p>
            <a:pPr algn="l"/>
            <a:r>
              <a:rPr lang="ja-JP" altLang="en-US" sz="1400" dirty="0"/>
              <a:t>ICS/OT の無線は、周波数帯の選択だけでなく、</a:t>
            </a:r>
          </a:p>
          <a:p>
            <a:pPr algn="l"/>
            <a:r>
              <a:rPr lang="ja-JP" altLang="en-US" sz="1400" dirty="0"/>
              <a:t>干渉・盗聴・DoS・規制 など多くの要素が絡むため、</a:t>
            </a:r>
          </a:p>
          <a:p>
            <a:pPr algn="l"/>
            <a:r>
              <a:rPr lang="ja-JP" altLang="en-US" sz="1400" dirty="0"/>
              <a:t>周波数の意味を正確に理解しておくことが安全設計の第一歩になります。</a:t>
            </a:r>
          </a:p>
        </p:txBody>
      </p:sp>
      <p:pic>
        <p:nvPicPr>
          <p:cNvPr id="4" name="図 3">
            <a:extLst>
              <a:ext uri="{FF2B5EF4-FFF2-40B4-BE49-F238E27FC236}">
                <a16:creationId xmlns:a16="http://schemas.microsoft.com/office/drawing/2014/main" id="{531BB4A7-3B9A-47F8-A73A-BF9C62D32399}"/>
              </a:ext>
            </a:extLst>
          </p:cNvPr>
          <p:cNvPicPr>
            <a:picLocks noChangeAspect="1"/>
          </p:cNvPicPr>
          <p:nvPr/>
        </p:nvPicPr>
        <p:blipFill>
          <a:blip r:embed="rId2"/>
          <a:stretch>
            <a:fillRect/>
          </a:stretch>
        </p:blipFill>
        <p:spPr>
          <a:xfrm>
            <a:off x="262466" y="50803"/>
            <a:ext cx="6333067" cy="3586194"/>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02F61965-5AA8-4B7F-96FF-2EFAD923D109}"/>
              </a:ext>
            </a:extLst>
          </p:cNvPr>
          <p:cNvPicPr>
            <a:picLocks noChangeAspect="1"/>
          </p:cNvPicPr>
          <p:nvPr/>
        </p:nvPicPr>
        <p:blipFill>
          <a:blip r:embed="rId2"/>
          <a:stretch>
            <a:fillRect/>
          </a:stretch>
        </p:blipFill>
        <p:spPr>
          <a:xfrm>
            <a:off x="0" y="-1"/>
            <a:ext cx="6788106" cy="3843867"/>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717663"/>
            <a:ext cx="6852285" cy="9423538"/>
          </a:xfrm>
        </p:spPr>
        <p:txBody>
          <a:bodyPr>
            <a:noAutofit/>
          </a:bodyPr>
          <a:lstStyle/>
          <a:p>
            <a:pPr algn="l"/>
            <a:r>
              <a:rPr lang="ja-JP" altLang="en-US" sz="900" dirty="0"/>
              <a:t>概念的に見ると、RF（無線周波数）通信は比較的シンプルです。</a:t>
            </a:r>
          </a:p>
          <a:p>
            <a:pPr algn="l"/>
            <a:r>
              <a:rPr lang="ja-JP" altLang="en-US" sz="900" dirty="0"/>
              <a:t>無線データは 変調（modulation） と呼ばれるプロセスによって</a:t>
            </a:r>
          </a:p>
          <a:p>
            <a:pPr algn="l"/>
            <a:r>
              <a:rPr lang="ja-JP" altLang="en-US" sz="900" dirty="0"/>
              <a:t>無線キャリア信号にエンコードされます。</a:t>
            </a:r>
          </a:p>
          <a:p>
            <a:pPr algn="l"/>
            <a:r>
              <a:rPr lang="ja-JP" altLang="en-US" sz="900" dirty="0"/>
              <a:t>変調方式には大きく分けて 2 種類あります。</a:t>
            </a:r>
          </a:p>
          <a:p>
            <a:pPr algn="l"/>
            <a:endParaRPr lang="ja-JP" altLang="en-US" sz="900" dirty="0"/>
          </a:p>
          <a:p>
            <a:pPr algn="l"/>
            <a:r>
              <a:rPr lang="ja-JP" altLang="en-US" sz="900" dirty="0"/>
              <a:t>1. 振幅変調（AM：Amplitude Modulation）</a:t>
            </a:r>
          </a:p>
          <a:p>
            <a:pPr algn="l"/>
            <a:r>
              <a:rPr lang="ja-JP" altLang="en-US" sz="900" dirty="0"/>
              <a:t>信号の 強さ（パワー） を変えることでデータを表現します。</a:t>
            </a:r>
          </a:p>
          <a:p>
            <a:pPr algn="l"/>
            <a:r>
              <a:rPr lang="ja-JP" altLang="en-US" sz="900" dirty="0"/>
              <a:t>例：</a:t>
            </a:r>
          </a:p>
          <a:p>
            <a:pPr algn="l"/>
            <a:r>
              <a:rPr lang="ja-JP" altLang="en-US" sz="900" dirty="0"/>
              <a:t>• 	パワー 2.0 → 1</a:t>
            </a:r>
          </a:p>
          <a:p>
            <a:pPr algn="l"/>
            <a:r>
              <a:rPr lang="ja-JP" altLang="en-US" sz="900" dirty="0"/>
              <a:t>• 	パワー 1.0 → 0</a:t>
            </a:r>
          </a:p>
          <a:p>
            <a:pPr algn="l"/>
            <a:r>
              <a:rPr lang="ja-JP" altLang="en-US" sz="900" dirty="0"/>
              <a:t>もちろん実際の AM はもっと複雑ですが、</a:t>
            </a:r>
          </a:p>
          <a:p>
            <a:pPr algn="l"/>
            <a:r>
              <a:rPr lang="ja-JP" altLang="en-US" sz="900" dirty="0"/>
              <a:t>この例で AM が「信号の強さでビットを表す」ことが理解できます。</a:t>
            </a:r>
          </a:p>
          <a:p>
            <a:pPr algn="l"/>
            <a:endParaRPr lang="ja-JP" altLang="en-US" sz="900" dirty="0"/>
          </a:p>
          <a:p>
            <a:pPr algn="l"/>
            <a:r>
              <a:rPr lang="ja-JP" altLang="en-US" sz="900" dirty="0"/>
              <a:t>2. 周波数変調（FM：Frequency Modulation）</a:t>
            </a:r>
          </a:p>
          <a:p>
            <a:pPr algn="l"/>
            <a:r>
              <a:rPr lang="ja-JP" altLang="en-US" sz="900" dirty="0"/>
              <a:t>キャリア波の 周波数をわずかに変化させる ことでデータを表現します。</a:t>
            </a:r>
          </a:p>
          <a:p>
            <a:pPr algn="l"/>
            <a:r>
              <a:rPr lang="ja-JP" altLang="en-US" sz="900" dirty="0"/>
              <a:t>例：</a:t>
            </a:r>
          </a:p>
          <a:p>
            <a:pPr algn="l"/>
            <a:r>
              <a:rPr lang="ja-JP" altLang="en-US" sz="900" dirty="0"/>
              <a:t>• 	キャリア周波数が 915 MHz の場合</a:t>
            </a:r>
          </a:p>
          <a:p>
            <a:pPr algn="l"/>
            <a:r>
              <a:rPr lang="ja-JP" altLang="en-US" sz="900" dirty="0"/>
              <a:t>• 	916 MHz → 1</a:t>
            </a:r>
          </a:p>
          <a:p>
            <a:pPr algn="l"/>
            <a:r>
              <a:rPr lang="ja-JP" altLang="en-US" sz="900" dirty="0"/>
              <a:t>• 	914 MHz → 0</a:t>
            </a:r>
          </a:p>
          <a:p>
            <a:pPr algn="l"/>
            <a:r>
              <a:rPr lang="ja-JP" altLang="en-US" sz="900" dirty="0"/>
              <a:t>こちらも実際の FM はもっと高度ですが、</a:t>
            </a:r>
          </a:p>
          <a:p>
            <a:pPr algn="l"/>
            <a:r>
              <a:rPr lang="ja-JP" altLang="en-US" sz="900" dirty="0"/>
              <a:t>「周波数の変化でビットを表す」という基本概念が理解できます。</a:t>
            </a:r>
          </a:p>
          <a:p>
            <a:pPr algn="l"/>
            <a:endParaRPr lang="ja-JP" altLang="en-US" sz="900" dirty="0"/>
          </a:p>
          <a:p>
            <a:pPr algn="l"/>
            <a:r>
              <a:rPr lang="ja-JP" altLang="en-US" sz="900" dirty="0"/>
              <a:t>攻撃者が信号を解析する方法</a:t>
            </a:r>
          </a:p>
          <a:p>
            <a:pPr algn="l"/>
            <a:r>
              <a:rPr lang="ja-JP" altLang="en-US" sz="900" dirty="0"/>
              <a:t>攻撃者が無線信号をキャプチャすると、</a:t>
            </a:r>
          </a:p>
          <a:p>
            <a:pPr algn="l"/>
            <a:r>
              <a:rPr lang="ja-JP" altLang="en-US" sz="900" dirty="0"/>
              <a:t>あとは 逆変調（demodulation） するだけで</a:t>
            </a:r>
          </a:p>
          <a:p>
            <a:pPr algn="l"/>
            <a:r>
              <a:rPr lang="ja-JP" altLang="en-US" sz="900" dirty="0"/>
              <a:t>送信されているバイナリパケットを復元できます。</a:t>
            </a:r>
          </a:p>
          <a:p>
            <a:pPr algn="l"/>
            <a:r>
              <a:rPr lang="ja-JP" altLang="en-US" sz="900" dirty="0"/>
              <a:t>攻撃者は以下の方法で変調方式を特定できます：</a:t>
            </a:r>
          </a:p>
          <a:p>
            <a:pPr algn="l"/>
            <a:r>
              <a:rPr lang="ja-JP" altLang="en-US" sz="900" dirty="0"/>
              <a:t>• 	ベンダーの公開資料を調べる</a:t>
            </a:r>
          </a:p>
          <a:p>
            <a:pPr algn="l"/>
            <a:r>
              <a:rPr lang="ja-JP" altLang="en-US" sz="900" dirty="0"/>
              <a:t>• 	FCC（米国連邦通信委員会）の認証文書を読む</a:t>
            </a:r>
          </a:p>
          <a:p>
            <a:pPr algn="l"/>
            <a:r>
              <a:rPr lang="ja-JP" altLang="en-US" sz="900" dirty="0"/>
              <a:t>• 	特許文書を調べる</a:t>
            </a:r>
          </a:p>
          <a:p>
            <a:pPr algn="l"/>
            <a:r>
              <a:rPr lang="ja-JP" altLang="en-US" sz="900" dirty="0"/>
              <a:t>• 	デバイスを物理的に解析する</a:t>
            </a:r>
          </a:p>
          <a:p>
            <a:pPr algn="l"/>
            <a:r>
              <a:rPr lang="ja-JP" altLang="en-US" sz="900" dirty="0"/>
              <a:t>• 	それでも分からなければ、全ての変調方式を試して逆解析 する</a:t>
            </a:r>
          </a:p>
          <a:p>
            <a:pPr algn="l"/>
            <a:endParaRPr lang="ja-JP" altLang="en-US" sz="900" dirty="0"/>
          </a:p>
          <a:p>
            <a:pPr algn="l"/>
            <a:r>
              <a:rPr lang="ja-JP" altLang="en-US" sz="900" dirty="0"/>
              <a:t>周波数ホッピングは難易度を上げるが、突破は可能</a:t>
            </a:r>
          </a:p>
          <a:p>
            <a:pPr algn="l"/>
            <a:r>
              <a:rPr lang="ja-JP" altLang="en-US" sz="900" dirty="0"/>
              <a:t>周波数ホッピングは解析を難しくしますが、</a:t>
            </a:r>
          </a:p>
          <a:p>
            <a:pPr algn="l"/>
            <a:r>
              <a:rPr lang="ja-JP" altLang="en-US" sz="900" dirty="0"/>
              <a:t>攻撃者が追跡不可能にするほど強力ではありません。</a:t>
            </a:r>
          </a:p>
          <a:p>
            <a:pPr algn="l"/>
            <a:r>
              <a:rPr lang="ja-JP" altLang="en-US" sz="900" dirty="0"/>
              <a:t>前のページでも触れたように、</a:t>
            </a:r>
          </a:p>
          <a:p>
            <a:pPr algn="l"/>
            <a:r>
              <a:rPr lang="ja-JP" altLang="en-US" sz="900" dirty="0"/>
              <a:t>熟練した攻撃者であればホッピングパターンを追跡し、</a:t>
            </a:r>
          </a:p>
          <a:p>
            <a:pPr algn="l"/>
            <a:r>
              <a:rPr lang="ja-JP" altLang="en-US" sz="900" dirty="0"/>
              <a:t>最終的には信号を復元できます。</a:t>
            </a:r>
          </a:p>
          <a:p>
            <a:pPr algn="l"/>
            <a:endParaRPr lang="ja-JP" altLang="en-US" sz="900" dirty="0"/>
          </a:p>
          <a:p>
            <a:pPr algn="l"/>
            <a:r>
              <a:rPr lang="ja-JP" altLang="en-US" sz="900" dirty="0"/>
              <a:t>RF 通信の本質は「物理層は攻撃者に見られる前提で設計すべき」という点にあります。</a:t>
            </a:r>
          </a:p>
          <a:p>
            <a:pPr algn="l"/>
            <a:r>
              <a:rPr lang="ja-JP" altLang="en-US" sz="900" dirty="0"/>
              <a:t>ICS/OT の無線設計でも、上位レイヤの暗号化・認証が必須になる理由がここにあります。</a:t>
            </a:r>
          </a:p>
        </p:txBody>
      </p:sp>
      <p:pic>
        <p:nvPicPr>
          <p:cNvPr id="4" name="図 3">
            <a:extLst>
              <a:ext uri="{FF2B5EF4-FFF2-40B4-BE49-F238E27FC236}">
                <a16:creationId xmlns:a16="http://schemas.microsoft.com/office/drawing/2014/main" id="{75A76576-FFF6-427B-972D-2EA4E65CA800}"/>
              </a:ext>
            </a:extLst>
          </p:cNvPr>
          <p:cNvPicPr>
            <a:picLocks noChangeAspect="1"/>
          </p:cNvPicPr>
          <p:nvPr/>
        </p:nvPicPr>
        <p:blipFill>
          <a:blip r:embed="rId2"/>
          <a:stretch>
            <a:fillRect/>
          </a:stretch>
        </p:blipFill>
        <p:spPr>
          <a:xfrm>
            <a:off x="890253" y="50799"/>
            <a:ext cx="4528414" cy="2582469"/>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657599"/>
            <a:ext cx="6852285" cy="8314268"/>
          </a:xfrm>
        </p:spPr>
        <p:txBody>
          <a:bodyPr>
            <a:normAutofit fontScale="97500"/>
          </a:bodyPr>
          <a:lstStyle/>
          <a:p>
            <a:pPr algn="l"/>
            <a:r>
              <a:rPr lang="ja-JP" altLang="en-US" sz="1400" dirty="0"/>
              <a:t>攻撃者が使用されている変調方式を特定できれば、</a:t>
            </a:r>
          </a:p>
          <a:p>
            <a:pPr algn="l"/>
            <a:r>
              <a:rPr lang="ja-JP" altLang="en-US" sz="1400" dirty="0"/>
              <a:t>あとは その変調処理を逆に適用するだけで送信側を再現できます。</a:t>
            </a:r>
          </a:p>
          <a:p>
            <a:pPr algn="l"/>
            <a:r>
              <a:rPr lang="ja-JP" altLang="en-US" sz="1400" dirty="0"/>
              <a:t>GNU Radio のようなソフトウェアや、</a:t>
            </a:r>
          </a:p>
          <a:p>
            <a:pPr algn="l"/>
            <a:r>
              <a:rPr lang="ja-JP" altLang="en-US" sz="1400" dirty="0"/>
              <a:t>SDR（Software-Defined Radio）と呼ばれる専用ハードウェアを使えば、</a:t>
            </a:r>
          </a:p>
          <a:p>
            <a:pPr algn="l"/>
            <a:r>
              <a:rPr lang="ja-JP" altLang="en-US" sz="1400" dirty="0"/>
              <a:t>無線信号のキャプチャも送信も可能 です。</a:t>
            </a:r>
          </a:p>
          <a:p>
            <a:pPr algn="l"/>
            <a:r>
              <a:rPr lang="ja-JP" altLang="en-US" sz="1400" dirty="0"/>
              <a:t>• 	GNU Radio：無料・オープンソース</a:t>
            </a:r>
          </a:p>
          <a:p>
            <a:pPr algn="l"/>
            <a:r>
              <a:rPr lang="ja-JP" altLang="en-US" sz="1400" dirty="0"/>
              <a:t>• 	SDR ハードウェア：</a:t>
            </a:r>
          </a:p>
          <a:p>
            <a:pPr algn="l"/>
            <a:r>
              <a:rPr lang="ja-JP" altLang="en-US" sz="1400" dirty="0"/>
              <a:t>• 	受信専用なら 20ドル程度</a:t>
            </a:r>
          </a:p>
          <a:p>
            <a:pPr algn="l"/>
            <a:r>
              <a:rPr lang="ja-JP" altLang="en-US" sz="1400" dirty="0"/>
              <a:t>• 	送信可能な機器でも 300ドル程度</a:t>
            </a:r>
          </a:p>
          <a:p>
            <a:pPr algn="l"/>
            <a:r>
              <a:rPr lang="ja-JP" altLang="en-US" sz="1400" dirty="0"/>
              <a:t>つまり、RF 通信の解析・模倣は</a:t>
            </a:r>
          </a:p>
          <a:p>
            <a:pPr algn="l"/>
            <a:r>
              <a:rPr lang="ja-JP" altLang="en-US" sz="1400" dirty="0"/>
              <a:t>非常に低コストで誰でも実行できる ということです。</a:t>
            </a:r>
          </a:p>
          <a:p>
            <a:pPr algn="l"/>
            <a:endParaRPr lang="ja-JP" altLang="en-US" sz="1400" dirty="0"/>
          </a:p>
          <a:p>
            <a:pPr algn="l"/>
            <a:r>
              <a:rPr lang="ja-JP" altLang="en-US" sz="1400" dirty="0"/>
              <a:t>PHY/MAC レイヤのセキュリティでは攻撃を防ぎきれない</a:t>
            </a:r>
          </a:p>
          <a:p>
            <a:pPr algn="l"/>
            <a:r>
              <a:rPr lang="ja-JP" altLang="en-US" sz="1400" dirty="0"/>
              <a:t>Wi‑Fi のように PHY/MAC レイヤでセキュリティを提供する技術もありますが、</a:t>
            </a:r>
          </a:p>
          <a:p>
            <a:pPr algn="l"/>
            <a:r>
              <a:rPr lang="ja-JP" altLang="en-US" sz="1400" dirty="0"/>
              <a:t>それでも 攻撃面を完全に排除することはできません。</a:t>
            </a:r>
          </a:p>
          <a:p>
            <a:pPr algn="l"/>
            <a:r>
              <a:rPr lang="ja-JP" altLang="en-US" sz="1400" dirty="0"/>
              <a:t>• 	無線は本質的に「誰でも受信できる」</a:t>
            </a:r>
          </a:p>
          <a:p>
            <a:pPr algn="l"/>
            <a:r>
              <a:rPr lang="ja-JP" altLang="en-US" sz="1400" dirty="0"/>
              <a:t>• 	送信も SDR で容易に模倣できる</a:t>
            </a:r>
          </a:p>
          <a:p>
            <a:pPr algn="l"/>
            <a:r>
              <a:rPr lang="ja-JP" altLang="en-US" sz="1400" dirty="0"/>
              <a:t>• 	PHY/MAC の防御は限定的で、突破される可能性がある</a:t>
            </a:r>
          </a:p>
          <a:p>
            <a:pPr algn="l"/>
            <a:r>
              <a:rPr lang="ja-JP" altLang="en-US" sz="1400" dirty="0"/>
              <a:t>これらの理由から、</a:t>
            </a:r>
          </a:p>
          <a:p>
            <a:pPr algn="l"/>
            <a:r>
              <a:rPr lang="ja-JP" altLang="en-US" sz="1400" dirty="0"/>
              <a:t>上位レイヤ（ネットワーク層・アプリケーション層）のセキュリティが必須 であることが</a:t>
            </a:r>
          </a:p>
          <a:p>
            <a:pPr algn="l"/>
            <a:r>
              <a:rPr lang="ja-JP" altLang="en-US" sz="1400" dirty="0"/>
              <a:t>改めて強調されています。</a:t>
            </a:r>
          </a:p>
          <a:p>
            <a:pPr algn="l"/>
            <a:endParaRPr lang="ja-JP" altLang="en-US" sz="1400" dirty="0"/>
          </a:p>
          <a:p>
            <a:pPr algn="l"/>
            <a:r>
              <a:rPr lang="ja-JP" altLang="en-US" sz="1400" dirty="0"/>
              <a:t>ICS/OT の無線通信は、</a:t>
            </a:r>
          </a:p>
          <a:p>
            <a:pPr algn="l"/>
            <a:r>
              <a:rPr lang="ja-JP" altLang="en-US" sz="1400" dirty="0"/>
              <a:t>「物理層は攻撃者に見られる前提」で設計する必要があります。</a:t>
            </a:r>
          </a:p>
          <a:p>
            <a:pPr algn="l"/>
            <a:r>
              <a:rPr lang="ja-JP" altLang="en-US" sz="1400" dirty="0"/>
              <a:t>そのため、暗号化・認証・プロトコル堅牢化といった</a:t>
            </a:r>
          </a:p>
          <a:p>
            <a:pPr algn="l"/>
            <a:r>
              <a:rPr lang="ja-JP" altLang="en-US" sz="1400" dirty="0"/>
              <a:t>上位レイヤの防御が最も重要 になります。</a:t>
            </a:r>
          </a:p>
        </p:txBody>
      </p:sp>
      <p:pic>
        <p:nvPicPr>
          <p:cNvPr id="4" name="図 3">
            <a:extLst>
              <a:ext uri="{FF2B5EF4-FFF2-40B4-BE49-F238E27FC236}">
                <a16:creationId xmlns:a16="http://schemas.microsoft.com/office/drawing/2014/main" id="{CE071BB6-6BB7-4B2E-BAF9-DDB055464129}"/>
              </a:ext>
            </a:extLst>
          </p:cNvPr>
          <p:cNvPicPr>
            <a:picLocks noChangeAspect="1"/>
          </p:cNvPicPr>
          <p:nvPr/>
        </p:nvPicPr>
        <p:blipFill>
          <a:blip r:embed="rId2"/>
          <a:stretch>
            <a:fillRect/>
          </a:stretch>
        </p:blipFill>
        <p:spPr>
          <a:xfrm>
            <a:off x="304078" y="50799"/>
            <a:ext cx="6249844" cy="3539068"/>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366453"/>
            <a:ext cx="3428999" cy="7233807"/>
          </a:xfrm>
        </p:spPr>
        <p:txBody>
          <a:bodyPr>
            <a:normAutofit/>
          </a:bodyPr>
          <a:lstStyle/>
          <a:p>
            <a:pPr algn="l"/>
            <a:r>
              <a:rPr lang="ja-JP" altLang="en-US" sz="1200" dirty="0"/>
              <a:t>Masquerading（なりすまし） とは、攻撃者が無線ネットワーク上で</a:t>
            </a:r>
          </a:p>
          <a:p>
            <a:pPr algn="l"/>
            <a:r>
              <a:rPr lang="ja-JP" altLang="en-US" sz="1200" dirty="0"/>
              <a:t>正規のノードやアクセスポイント（AP）になりすます行為を指します。</a:t>
            </a:r>
          </a:p>
          <a:p>
            <a:pPr algn="l"/>
            <a:r>
              <a:rPr lang="ja-JP" altLang="en-US" sz="1200" dirty="0"/>
              <a:t>攻撃者は、正規クライアントや AP の 識別情報を偽装（spoofing） することで、</a:t>
            </a:r>
          </a:p>
          <a:p>
            <a:pPr algn="l"/>
            <a:r>
              <a:rPr lang="ja-JP" altLang="en-US" sz="1200" dirty="0"/>
              <a:t>ユーザーや AP に「正規の相手と通信している」と思い込ませます。</a:t>
            </a:r>
          </a:p>
          <a:p>
            <a:pPr algn="l"/>
            <a:r>
              <a:rPr lang="ja-JP" altLang="en-US" sz="1200" dirty="0"/>
              <a:t>これにより攻撃者は：</a:t>
            </a:r>
          </a:p>
          <a:p>
            <a:pPr algn="l"/>
            <a:r>
              <a:rPr lang="ja-JP" altLang="en-US" sz="1200" dirty="0"/>
              <a:t>• 	ユーザーから機密情報を盗み出す</a:t>
            </a:r>
          </a:p>
          <a:p>
            <a:pPr algn="l"/>
            <a:r>
              <a:rPr lang="ja-JP" altLang="en-US" sz="1200" dirty="0"/>
              <a:t>• 	AP に「正規クライアントだ」と信じ込ませる</a:t>
            </a:r>
          </a:p>
          <a:p>
            <a:pPr algn="l"/>
            <a:r>
              <a:rPr lang="ja-JP" altLang="en-US" sz="1200" dirty="0"/>
              <a:t>• 	DoS 攻撃を仕掛ける</a:t>
            </a:r>
          </a:p>
          <a:p>
            <a:pPr algn="l"/>
            <a:r>
              <a:rPr lang="ja-JP" altLang="en-US" sz="1200" dirty="0"/>
              <a:t>といった攻撃を実行できます。</a:t>
            </a:r>
          </a:p>
          <a:p>
            <a:pPr algn="l"/>
            <a:endParaRPr lang="ja-JP" altLang="en-US" sz="1200" dirty="0"/>
          </a:p>
          <a:p>
            <a:pPr algn="l"/>
            <a:r>
              <a:rPr lang="ja-JP" altLang="en-US" sz="1200" dirty="0"/>
              <a:t>MAC アドレス偽装によるアクセス制御の突破</a:t>
            </a:r>
          </a:p>
          <a:p>
            <a:pPr algn="l"/>
            <a:r>
              <a:rPr lang="ja-JP" altLang="en-US" sz="1200" dirty="0"/>
              <a:t>攻撃者は、単に MAC アドレスを変更するだけで</a:t>
            </a:r>
          </a:p>
          <a:p>
            <a:pPr algn="l"/>
            <a:r>
              <a:rPr lang="ja-JP" altLang="en-US" sz="1200" dirty="0"/>
              <a:t>認証済みクライアントになりすますことができます。</a:t>
            </a:r>
          </a:p>
          <a:p>
            <a:pPr algn="l"/>
            <a:r>
              <a:rPr lang="ja-JP" altLang="en-US" sz="1200" dirty="0"/>
              <a:t>さらに DoS 攻撃と組み合わせると効果が高まります。</a:t>
            </a:r>
          </a:p>
          <a:p>
            <a:pPr algn="l"/>
            <a:r>
              <a:rPr lang="ja-JP" altLang="en-US" sz="1200" dirty="0"/>
              <a:t>例：</a:t>
            </a:r>
          </a:p>
          <a:p>
            <a:pPr algn="l"/>
            <a:r>
              <a:rPr lang="ja-JP" altLang="en-US" sz="1200" dirty="0"/>
              <a:t>1. 	攻撃者がターゲットの正規クライアントに DoS を仕掛けて通信不能にする</a:t>
            </a:r>
          </a:p>
          <a:p>
            <a:pPr algn="l"/>
            <a:r>
              <a:rPr lang="ja-JP" altLang="en-US" sz="1200" dirty="0"/>
              <a:t>2. 	そのクライアントの MAC アドレスに変更する</a:t>
            </a:r>
          </a:p>
          <a:p>
            <a:pPr algn="l"/>
            <a:r>
              <a:rPr lang="ja-JP" altLang="en-US" sz="1200" dirty="0"/>
              <a:t>3. 	Captive Portal（ログイン画面）は MAC アドレスで判断するため、</a:t>
            </a:r>
          </a:p>
          <a:p>
            <a:pPr algn="l"/>
            <a:r>
              <a:rPr lang="ja-JP" altLang="en-US" sz="1200" dirty="0"/>
              <a:t>攻撃者を正規ユーザーと区別できず、フルアクセスを許可してしまう</a:t>
            </a:r>
          </a:p>
          <a:p>
            <a:pPr algn="l"/>
            <a:r>
              <a:rPr lang="ja-JP" altLang="en-US" sz="1200" dirty="0"/>
              <a:t>このように、MAC アドレスベースのアクセス制御は非常に脆弱です。</a:t>
            </a:r>
          </a:p>
        </p:txBody>
      </p:sp>
      <p:pic>
        <p:nvPicPr>
          <p:cNvPr id="4" name="図 3">
            <a:extLst>
              <a:ext uri="{FF2B5EF4-FFF2-40B4-BE49-F238E27FC236}">
                <a16:creationId xmlns:a16="http://schemas.microsoft.com/office/drawing/2014/main" id="{BC4467D6-4BC2-442D-AEDD-85FEDF768FAA}"/>
              </a:ext>
            </a:extLst>
          </p:cNvPr>
          <p:cNvPicPr>
            <a:picLocks noChangeAspect="1"/>
          </p:cNvPicPr>
          <p:nvPr/>
        </p:nvPicPr>
        <p:blipFill>
          <a:blip r:embed="rId2"/>
          <a:stretch>
            <a:fillRect/>
          </a:stretch>
        </p:blipFill>
        <p:spPr>
          <a:xfrm>
            <a:off x="599331" y="81388"/>
            <a:ext cx="5659336" cy="3200400"/>
          </a:xfrm>
          <a:prstGeom prst="rect">
            <a:avLst/>
          </a:prstGeom>
        </p:spPr>
      </p:pic>
      <p:sp>
        <p:nvSpPr>
          <p:cNvPr id="5" name="サブタイトル 2">
            <a:extLst>
              <a:ext uri="{FF2B5EF4-FFF2-40B4-BE49-F238E27FC236}">
                <a16:creationId xmlns:a16="http://schemas.microsoft.com/office/drawing/2014/main" id="{ABF9C410-8077-4516-BB15-F7381A5D4497}"/>
              </a:ext>
            </a:extLst>
          </p:cNvPr>
          <p:cNvSpPr txBox="1">
            <a:spLocks/>
          </p:cNvSpPr>
          <p:nvPr/>
        </p:nvSpPr>
        <p:spPr>
          <a:xfrm>
            <a:off x="3429000" y="3366453"/>
            <a:ext cx="3429000" cy="8554607"/>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なりすまし攻撃への対策</a:t>
            </a:r>
          </a:p>
          <a:p>
            <a:pPr algn="l"/>
            <a:r>
              <a:rPr lang="ja-JP" altLang="en-US" sz="1200" dirty="0"/>
              <a:t>防御の基本は、</a:t>
            </a:r>
          </a:p>
          <a:p>
            <a:pPr algn="l"/>
            <a:r>
              <a:rPr lang="ja-JP" altLang="en-US" sz="1200" dirty="0"/>
              <a:t>ユーザーが AP を認証し、AP がユーザーを認証する「相互認証」 を導入することです。</a:t>
            </a:r>
          </a:p>
          <a:p>
            <a:pPr algn="l"/>
            <a:r>
              <a:rPr lang="ja-JP" altLang="en-US" sz="1200" dirty="0"/>
              <a:t>これにより、AirSnarf のような攻撃ツールを使った</a:t>
            </a:r>
          </a:p>
          <a:p>
            <a:pPr algn="l"/>
            <a:r>
              <a:rPr lang="ja-JP" altLang="en-US" sz="1200" dirty="0"/>
              <a:t>偽 AP 攻撃を大幅に防ぐことができます。</a:t>
            </a:r>
          </a:p>
          <a:p>
            <a:pPr algn="l"/>
            <a:r>
              <a:rPr lang="ja-JP" altLang="en-US" sz="1200" dirty="0"/>
              <a:t>代表的な相互認証方式：</a:t>
            </a:r>
          </a:p>
          <a:p>
            <a:pPr algn="l"/>
            <a:r>
              <a:rPr lang="ja-JP" altLang="en-US" sz="1200" dirty="0"/>
              <a:t>• 	IEEE 802.1X</a:t>
            </a:r>
          </a:p>
          <a:p>
            <a:pPr algn="l"/>
            <a:r>
              <a:rPr lang="ja-JP" altLang="en-US" sz="1200" dirty="0"/>
              <a:t>• 	EAP/TLS</a:t>
            </a:r>
          </a:p>
          <a:p>
            <a:pPr algn="l"/>
            <a:r>
              <a:rPr lang="ja-JP" altLang="en-US" sz="1200" dirty="0"/>
              <a:t>• 	PEAP</a:t>
            </a:r>
          </a:p>
          <a:p>
            <a:pPr algn="l"/>
            <a:r>
              <a:rPr lang="ja-JP" altLang="en-US" sz="1200" dirty="0"/>
              <a:t>• 	TTLS</a:t>
            </a:r>
          </a:p>
          <a:p>
            <a:pPr algn="l"/>
            <a:r>
              <a:rPr lang="ja-JP" altLang="en-US" sz="1200" dirty="0"/>
              <a:t>これらは、ユーザーと AP の双方が証明書などの資格情報を提示し合うことで</a:t>
            </a:r>
          </a:p>
          <a:p>
            <a:pPr algn="l"/>
            <a:r>
              <a:rPr lang="ja-JP" altLang="en-US" sz="1200" dirty="0"/>
              <a:t>なりすましを防ぎます。</a:t>
            </a:r>
          </a:p>
          <a:p>
            <a:pPr algn="l"/>
            <a:endParaRPr lang="ja-JP" altLang="en-US" sz="1200" dirty="0"/>
          </a:p>
          <a:p>
            <a:pPr algn="l"/>
            <a:r>
              <a:rPr lang="ja-JP" altLang="en-US" sz="1200" dirty="0"/>
              <a:t>ただし、相互認証が現実的でないケースもある</a:t>
            </a:r>
          </a:p>
          <a:p>
            <a:pPr algn="l"/>
            <a:r>
              <a:rPr lang="ja-JP" altLang="en-US" sz="1200" dirty="0"/>
              <a:t>例えば、公共のホットスポットでは：</a:t>
            </a:r>
          </a:p>
          <a:p>
            <a:pPr algn="l"/>
            <a:r>
              <a:rPr lang="ja-JP" altLang="en-US" sz="1200" dirty="0"/>
              <a:t>• 	利用者に 802.1X クライアント設定を求めることは現実的ではない</a:t>
            </a:r>
          </a:p>
          <a:p>
            <a:pPr algn="l"/>
            <a:r>
              <a:rPr lang="ja-JP" altLang="en-US" sz="1200" dirty="0"/>
              <a:t>• 	そのため、別の方法が必要になる</a:t>
            </a:r>
          </a:p>
          <a:p>
            <a:pPr algn="l"/>
            <a:r>
              <a:rPr lang="ja-JP" altLang="en-US" sz="1200" dirty="0"/>
              <a:t>このような場合は：</a:t>
            </a:r>
          </a:p>
          <a:p>
            <a:pPr algn="l"/>
            <a:r>
              <a:rPr lang="ja-JP" altLang="en-US" sz="1200" dirty="0"/>
              <a:t>• 	SSL/TLS（証明書ベース） を使って</a:t>
            </a:r>
          </a:p>
          <a:p>
            <a:pPr algn="l"/>
            <a:r>
              <a:rPr lang="ja-JP" altLang="en-US" sz="1200" dirty="0"/>
              <a:t>• 	Web サーバーや Captive Portal を認証する</a:t>
            </a:r>
          </a:p>
          <a:p>
            <a:pPr algn="l"/>
            <a:r>
              <a:rPr lang="ja-JP" altLang="en-US" sz="1200" dirty="0"/>
              <a:t>という方法が有効です。</a:t>
            </a:r>
          </a:p>
          <a:p>
            <a:pPr algn="l"/>
            <a:r>
              <a:rPr lang="ja-JP" altLang="en-US" sz="1200" dirty="0"/>
              <a:t>デジタル証明書を使うことで、</a:t>
            </a:r>
          </a:p>
          <a:p>
            <a:pPr algn="l"/>
            <a:r>
              <a:rPr lang="ja-JP" altLang="en-US" sz="1200" dirty="0"/>
              <a:t>攻撃者が正規のネットワークリソースになりすますことが</a:t>
            </a:r>
          </a:p>
          <a:p>
            <a:pPr algn="l"/>
            <a:r>
              <a:rPr lang="ja-JP" altLang="en-US" sz="1200" dirty="0"/>
              <a:t>非常に困難 になります。</a:t>
            </a:r>
          </a:p>
          <a:p>
            <a:pPr algn="l"/>
            <a:endParaRPr lang="ja-JP" altLang="en-US" sz="1200" dirty="0"/>
          </a:p>
          <a:p>
            <a:pPr algn="l"/>
            <a:r>
              <a:rPr lang="ja-JP" altLang="en-US" sz="1200" dirty="0"/>
              <a:t>ICS/OT の無線環境でも、</a:t>
            </a:r>
          </a:p>
          <a:p>
            <a:pPr algn="l"/>
            <a:r>
              <a:rPr lang="ja-JP" altLang="en-US" sz="1200" dirty="0"/>
              <a:t>「MAC アドレスは信用できない」「無線は偽装される前提」</a:t>
            </a:r>
          </a:p>
          <a:p>
            <a:pPr algn="l"/>
            <a:r>
              <a:rPr lang="ja-JP" altLang="en-US" sz="1200" dirty="0"/>
              <a:t>という考え方が重要になります。</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338613"/>
            <a:ext cx="6852285" cy="8785655"/>
          </a:xfrm>
        </p:spPr>
        <p:txBody>
          <a:bodyPr>
            <a:normAutofit fontScale="75000" lnSpcReduction="20000"/>
          </a:bodyPr>
          <a:lstStyle/>
          <a:p>
            <a:pPr algn="l"/>
            <a:r>
              <a:rPr lang="ja-JP" altLang="en-US" sz="1400" dirty="0"/>
              <a:t>無線ネットワークは DoS（サービス妨害）攻撃の標的になりやすい という特徴があります。</a:t>
            </a:r>
          </a:p>
          <a:p>
            <a:pPr algn="l"/>
            <a:r>
              <a:rPr lang="ja-JP" altLang="en-US" sz="1400" dirty="0"/>
              <a:t>無線仕様そのものの脆弱性、一般的な無線カードのファームウェアの欠陥、</a:t>
            </a:r>
          </a:p>
          <a:p>
            <a:pPr algn="l"/>
            <a:r>
              <a:rPr lang="ja-JP" altLang="en-US" sz="1400" dirty="0"/>
              <a:t>そして無線通信という仕組み自体の弱点によって、</a:t>
            </a:r>
          </a:p>
          <a:p>
            <a:pPr algn="l"/>
            <a:r>
              <a:rPr lang="ja-JP" altLang="en-US" sz="1400" dirty="0"/>
              <a:t>攻撃者は比較的容易に無線ネットワークを停止させることができます。</a:t>
            </a:r>
          </a:p>
          <a:p>
            <a:pPr algn="l"/>
            <a:r>
              <a:rPr lang="ja-JP" altLang="en-US" sz="1400" dirty="0"/>
              <a:t>攻撃者が十分に強力な送受信機を持っていれば、</a:t>
            </a:r>
          </a:p>
          <a:p>
            <a:pPr algn="l"/>
            <a:r>
              <a:rPr lang="ja-JP" altLang="en-US" sz="1400" dirty="0"/>
              <a:t>大量の無線ノイズを発生させることで</a:t>
            </a:r>
          </a:p>
          <a:p>
            <a:pPr algn="l"/>
            <a:r>
              <a:rPr lang="ja-JP" altLang="en-US" sz="1400" dirty="0"/>
              <a:t>ターゲットの無線ネットワークを 正常に通信できない状態に追い込む ことができます。</a:t>
            </a:r>
          </a:p>
          <a:p>
            <a:pPr algn="l"/>
            <a:r>
              <a:rPr lang="ja-JP" altLang="en-US" sz="1400" dirty="0"/>
              <a:t>RF ジャミング装置は市販品を購入することも、自作することも可能で、</a:t>
            </a:r>
          </a:p>
          <a:p>
            <a:pPr algn="l"/>
            <a:r>
              <a:rPr lang="ja-JP" altLang="en-US" sz="1400" dirty="0"/>
              <a:t>一般的に使われる周波数帯をまとめて妨害できます。</a:t>
            </a:r>
          </a:p>
          <a:p>
            <a:pPr algn="l"/>
            <a:r>
              <a:rPr lang="ja-JP" altLang="en-US" sz="1400" dirty="0"/>
              <a:t>これらの攻撃は 特定の規格に依存しない ため、</a:t>
            </a:r>
          </a:p>
          <a:p>
            <a:pPr algn="l"/>
            <a:r>
              <a:rPr lang="ja-JP" altLang="en-US" sz="1400" dirty="0"/>
              <a:t>802.11（Wi‑Fi）でも Bluetooth でも、</a:t>
            </a:r>
          </a:p>
          <a:p>
            <a:pPr algn="l"/>
            <a:r>
              <a:rPr lang="ja-JP" altLang="en-US" sz="1400" dirty="0"/>
              <a:t>同じ周波数帯を使う通信であれば等しく妨害されます。</a:t>
            </a:r>
          </a:p>
          <a:p>
            <a:pPr algn="l"/>
            <a:endParaRPr lang="ja-JP" altLang="en-US" sz="1400" dirty="0"/>
          </a:p>
          <a:p>
            <a:pPr algn="l"/>
            <a:r>
              <a:rPr lang="ja-JP" altLang="en-US" sz="1400" dirty="0"/>
              <a:t>無線カードを使った DoS（偽装パケット攻撃）</a:t>
            </a:r>
          </a:p>
          <a:p>
            <a:pPr algn="l"/>
            <a:r>
              <a:rPr lang="ja-JP" altLang="en-US" sz="1400" dirty="0"/>
              <a:t>市販の無線カードを使えば、</a:t>
            </a:r>
          </a:p>
          <a:p>
            <a:pPr algn="l"/>
            <a:r>
              <a:rPr lang="ja-JP" altLang="en-US" sz="1400" dirty="0"/>
              <a:t>攻撃者は正規のステーションやアクセスポイントを 偽装 して</a:t>
            </a:r>
          </a:p>
          <a:p>
            <a:pPr algn="l"/>
            <a:r>
              <a:rPr lang="ja-JP" altLang="en-US" sz="1400" dirty="0"/>
              <a:t>DoS 攻撃を行うことができます。</a:t>
            </a:r>
          </a:p>
          <a:p>
            <a:pPr algn="l"/>
            <a:r>
              <a:rPr lang="ja-JP" altLang="en-US" sz="1400" dirty="0"/>
              <a:t>多くの無線規格には パケット単位の認証機構がない ため、</a:t>
            </a:r>
          </a:p>
          <a:p>
            <a:pPr algn="l"/>
            <a:r>
              <a:rPr lang="ja-JP" altLang="en-US" sz="1400" dirty="0"/>
              <a:t>アクセスポイントやクライアントは</a:t>
            </a:r>
          </a:p>
          <a:p>
            <a:pPr algn="l"/>
            <a:r>
              <a:rPr lang="ja-JP" altLang="en-US" sz="1400" dirty="0"/>
              <a:t>「そのパケットが本当に送信元を名乗るデバイスから来たのか」を検証できません。</a:t>
            </a:r>
          </a:p>
          <a:p>
            <a:pPr algn="l"/>
            <a:r>
              <a:rPr lang="ja-JP" altLang="en-US" sz="1400" dirty="0"/>
              <a:t>攻撃者はこの弱点を利用し、</a:t>
            </a:r>
          </a:p>
          <a:p>
            <a:pPr algn="l"/>
            <a:r>
              <a:rPr lang="ja-JP" altLang="en-US" sz="1400" dirty="0"/>
              <a:t>アクセスポイントになりすまして 偽の切断パケット（deauth/disassoc） を</a:t>
            </a:r>
          </a:p>
          <a:p>
            <a:pPr algn="l"/>
            <a:r>
              <a:rPr lang="ja-JP" altLang="en-US" sz="1400" dirty="0"/>
              <a:t>クライアントに送りつけます。</a:t>
            </a:r>
          </a:p>
          <a:p>
            <a:pPr algn="l"/>
            <a:r>
              <a:rPr lang="ja-JP" altLang="en-US" sz="1400" dirty="0"/>
              <a:t>クライアントはそれを正規の AP からの指示だと信じて</a:t>
            </a:r>
          </a:p>
          <a:p>
            <a:pPr algn="l"/>
            <a:r>
              <a:rPr lang="ja-JP" altLang="en-US" sz="1400" dirty="0"/>
              <a:t>無線ネットワークから切断されます。</a:t>
            </a:r>
          </a:p>
          <a:p>
            <a:pPr algn="l"/>
            <a:r>
              <a:rPr lang="ja-JP" altLang="en-US" sz="1400" dirty="0"/>
              <a:t>攻撃者がこの切断パケットを LAN のブロードキャスト宛に連続送信 すれば、</a:t>
            </a:r>
          </a:p>
          <a:p>
            <a:pPr algn="l"/>
            <a:r>
              <a:rPr lang="ja-JP" altLang="en-US" sz="1400" dirty="0"/>
              <a:t>すべてのクライアントが次々に切断され、</a:t>
            </a:r>
          </a:p>
          <a:p>
            <a:pPr algn="l"/>
            <a:r>
              <a:rPr lang="ja-JP" altLang="en-US" sz="1400" dirty="0"/>
              <a:t>無線ネットワーク全体が持続的な DoS 状態に陥ります。</a:t>
            </a:r>
          </a:p>
          <a:p>
            <a:pPr algn="l"/>
            <a:endParaRPr lang="ja-JP" altLang="en-US" sz="1400" dirty="0"/>
          </a:p>
          <a:p>
            <a:pPr algn="l"/>
            <a:r>
              <a:rPr lang="ja-JP" altLang="en-US" sz="1400" dirty="0"/>
              <a:t>最も重要な対策：DoS を“防ぐ”のではなく、“影響を理解し備える”</a:t>
            </a:r>
          </a:p>
          <a:p>
            <a:pPr algn="l"/>
            <a:r>
              <a:rPr lang="ja-JP" altLang="en-US" sz="1400" dirty="0"/>
              <a:t>無線 LAN に対する DoS 攻撃の最良の対策は、</a:t>
            </a:r>
          </a:p>
          <a:p>
            <a:pPr algn="l"/>
            <a:r>
              <a:rPr lang="ja-JP" altLang="en-US" sz="1400" dirty="0"/>
              <a:t>DoS を完全に防ぐことではなく、影響を理解し、対応策を準備すること です。</a:t>
            </a:r>
          </a:p>
          <a:p>
            <a:pPr algn="l"/>
            <a:r>
              <a:rPr lang="ja-JP" altLang="en-US" sz="1400" dirty="0"/>
              <a:t>• 	DoS が発生した場合、あなたの本番ネットワークにどんな影響が出るのか</a:t>
            </a:r>
          </a:p>
          <a:p>
            <a:pPr algn="l"/>
            <a:r>
              <a:rPr lang="ja-JP" altLang="en-US" sz="1400" dirty="0"/>
              <a:t>• 	攻撃を受けた際、ミッションクリティカルなシステムの接続を</a:t>
            </a:r>
          </a:p>
          <a:p>
            <a:pPr algn="l"/>
            <a:r>
              <a:rPr lang="ja-JP" altLang="en-US" sz="1400" dirty="0"/>
              <a:t>どうやって復旧・代替するのか</a:t>
            </a:r>
          </a:p>
          <a:p>
            <a:pPr algn="l"/>
            <a:r>
              <a:rPr lang="ja-JP" altLang="en-US" sz="1400" dirty="0"/>
              <a:t>これらを事前に明確にしておくことが最も重要です。</a:t>
            </a:r>
          </a:p>
          <a:p>
            <a:pPr algn="l"/>
            <a:endParaRPr lang="ja-JP" altLang="en-US" sz="1400" dirty="0"/>
          </a:p>
          <a:p>
            <a:pPr algn="l"/>
            <a:r>
              <a:rPr lang="ja-JP" altLang="en-US" sz="1400" dirty="0"/>
              <a:t>ICS/OT の現場では、</a:t>
            </a:r>
          </a:p>
          <a:p>
            <a:pPr algn="l"/>
            <a:r>
              <a:rPr lang="ja-JP" altLang="en-US" sz="1400" dirty="0"/>
              <a:t>「無線は DoS に弱い」という前提を受け入れたうえで</a:t>
            </a:r>
          </a:p>
          <a:p>
            <a:pPr algn="l"/>
            <a:r>
              <a:rPr lang="ja-JP" altLang="en-US" sz="1400" dirty="0"/>
              <a:t>冗長化・代替経路・有線バックアップなどの設計が不可欠になります。</a:t>
            </a:r>
          </a:p>
        </p:txBody>
      </p:sp>
      <p:pic>
        <p:nvPicPr>
          <p:cNvPr id="4" name="図 3">
            <a:extLst>
              <a:ext uri="{FF2B5EF4-FFF2-40B4-BE49-F238E27FC236}">
                <a16:creationId xmlns:a16="http://schemas.microsoft.com/office/drawing/2014/main" id="{DC93BC08-E327-4204-8A2F-85EF0E166921}"/>
              </a:ext>
            </a:extLst>
          </p:cNvPr>
          <p:cNvPicPr>
            <a:picLocks noChangeAspect="1"/>
          </p:cNvPicPr>
          <p:nvPr/>
        </p:nvPicPr>
        <p:blipFill>
          <a:blip r:embed="rId2"/>
          <a:stretch>
            <a:fillRect/>
          </a:stretch>
        </p:blipFill>
        <p:spPr>
          <a:xfrm>
            <a:off x="620157" y="87414"/>
            <a:ext cx="5611969" cy="32004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381358"/>
            <a:ext cx="3395133" cy="8692104"/>
          </a:xfrm>
        </p:spPr>
        <p:txBody>
          <a:bodyPr>
            <a:normAutofit/>
          </a:bodyPr>
          <a:lstStyle/>
          <a:p>
            <a:pPr algn="l"/>
            <a:r>
              <a:rPr lang="ja-JP" altLang="en-US" sz="1400" dirty="0"/>
              <a:t>不正アクセスポイント（Rogue AP） とは、</a:t>
            </a:r>
          </a:p>
          <a:p>
            <a:pPr algn="l"/>
            <a:r>
              <a:rPr lang="ja-JP" altLang="en-US" sz="1400" dirty="0"/>
              <a:t>組織の許可なく有線ネットワークに接続され、</a:t>
            </a:r>
          </a:p>
          <a:p>
            <a:pPr algn="l"/>
            <a:r>
              <a:rPr lang="ja-JP" altLang="en-US" sz="1400" dirty="0"/>
              <a:t>ユーザーや攻撃者に無線アクセスを提供してしまうアクセスポイントのことです。</a:t>
            </a:r>
          </a:p>
          <a:p>
            <a:pPr algn="l"/>
            <a:r>
              <a:rPr lang="ja-JP" altLang="en-US" sz="1400" dirty="0"/>
              <a:t>攻撃者が意図的にネットワーク内へ設置するケースもあります。</a:t>
            </a:r>
          </a:p>
          <a:p>
            <a:pPr algn="l"/>
            <a:r>
              <a:rPr lang="ja-JP" altLang="en-US" sz="1400" dirty="0"/>
              <a:t>さらに、攻撃者がステルス性を高めたい場合は、</a:t>
            </a:r>
          </a:p>
          <a:p>
            <a:pPr algn="l"/>
            <a:r>
              <a:rPr lang="ja-JP" altLang="en-US" sz="1400" dirty="0"/>
              <a:t>Wi‑Fi ではなく セルラーや独自 RF デバイス を使って</a:t>
            </a:r>
          </a:p>
          <a:p>
            <a:pPr algn="l"/>
            <a:r>
              <a:rPr lang="ja-JP" altLang="en-US" sz="1400" dirty="0"/>
              <a:t>ネットワークへブリッジすることも可能です。</a:t>
            </a:r>
          </a:p>
          <a:p>
            <a:pPr algn="l"/>
            <a:endParaRPr lang="ja-JP" altLang="en-US" sz="1400" dirty="0"/>
          </a:p>
          <a:p>
            <a:pPr algn="l"/>
            <a:r>
              <a:rPr lang="ja-JP" altLang="en-US" sz="1400" dirty="0"/>
              <a:t>Rogue AP が危険な理由</a:t>
            </a:r>
          </a:p>
          <a:p>
            <a:pPr algn="l"/>
            <a:r>
              <a:rPr lang="ja-JP" altLang="en-US" sz="1400" dirty="0"/>
              <a:t>セキュリティが弱い、あるいは全く設定されていない Rogue AP は</a:t>
            </a:r>
          </a:p>
          <a:p>
            <a:pPr algn="l"/>
            <a:r>
              <a:rPr lang="ja-JP" altLang="en-US" sz="1400" dirty="0"/>
              <a:t>どの組織にとっても重大な脅威です。</a:t>
            </a:r>
          </a:p>
          <a:p>
            <a:pPr algn="l"/>
            <a:r>
              <a:rPr lang="ja-JP" altLang="en-US" sz="1400" dirty="0"/>
              <a:t>特に「無線禁止（No Wireless）」ポリシーを採用している組織では、</a:t>
            </a:r>
          </a:p>
          <a:p>
            <a:pPr algn="l"/>
            <a:r>
              <a:rPr lang="ja-JP" altLang="en-US" sz="1400" dirty="0"/>
              <a:t>ユーザーが勝手に AP を持ち込むケースが多く、</a:t>
            </a:r>
          </a:p>
          <a:p>
            <a:pPr algn="l"/>
            <a:r>
              <a:rPr lang="ja-JP" altLang="en-US" sz="1400" dirty="0"/>
              <a:t>Rogue AP が頻繁に問題になります。</a:t>
            </a:r>
          </a:p>
          <a:p>
            <a:pPr algn="l"/>
            <a:endParaRPr lang="ja-JP" altLang="en-US" sz="1400" dirty="0"/>
          </a:p>
          <a:p>
            <a:pPr algn="l"/>
            <a:r>
              <a:rPr lang="ja-JP" altLang="en-US" sz="1400" dirty="0"/>
              <a:t>Rogue AP の検出方法</a:t>
            </a:r>
          </a:p>
          <a:p>
            <a:pPr algn="l"/>
            <a:r>
              <a:rPr lang="ja-JP" altLang="en-US" sz="1400" dirty="0"/>
              <a:t>1. 無線スキャン（最も一般的）</a:t>
            </a:r>
          </a:p>
          <a:p>
            <a:pPr algn="l"/>
            <a:r>
              <a:rPr lang="ja-JP" altLang="en-US" sz="1400" dirty="0"/>
              <a:t>Kismet や Wireshark などのツールを使い、</a:t>
            </a:r>
          </a:p>
          <a:p>
            <a:pPr algn="l"/>
            <a:r>
              <a:rPr lang="ja-JP" altLang="en-US" sz="1400" dirty="0"/>
              <a:t>管理者がノート PC やハンドヘルド端末を持って</a:t>
            </a:r>
          </a:p>
          <a:p>
            <a:pPr algn="l"/>
            <a:r>
              <a:rPr lang="ja-JP" altLang="en-US" sz="1400" dirty="0"/>
              <a:t>建物内を歩き回り、未許可の無線活動を探します。</a:t>
            </a:r>
          </a:p>
          <a:p>
            <a:pPr algn="l"/>
            <a:r>
              <a:rPr lang="ja-JP" altLang="en-US" sz="1400" dirty="0"/>
              <a:t>ただし、大規模キャンパスでは</a:t>
            </a:r>
          </a:p>
          <a:p>
            <a:pPr algn="l"/>
            <a:r>
              <a:rPr lang="ja-JP" altLang="en-US" sz="1400" dirty="0"/>
              <a:t>この方法は非常に手間がかかり、現実的でない場合があります。</a:t>
            </a:r>
          </a:p>
        </p:txBody>
      </p:sp>
      <p:pic>
        <p:nvPicPr>
          <p:cNvPr id="4" name="図 3">
            <a:extLst>
              <a:ext uri="{FF2B5EF4-FFF2-40B4-BE49-F238E27FC236}">
                <a16:creationId xmlns:a16="http://schemas.microsoft.com/office/drawing/2014/main" id="{76C20E0B-5A37-44EE-9167-7DE78A83165A}"/>
              </a:ext>
            </a:extLst>
          </p:cNvPr>
          <p:cNvPicPr>
            <a:picLocks noChangeAspect="1"/>
          </p:cNvPicPr>
          <p:nvPr/>
        </p:nvPicPr>
        <p:blipFill>
          <a:blip r:embed="rId2"/>
          <a:stretch>
            <a:fillRect/>
          </a:stretch>
        </p:blipFill>
        <p:spPr>
          <a:xfrm>
            <a:off x="719888" y="150923"/>
            <a:ext cx="5418223" cy="3079526"/>
          </a:xfrm>
          <a:prstGeom prst="rect">
            <a:avLst/>
          </a:prstGeom>
        </p:spPr>
      </p:pic>
      <p:sp>
        <p:nvSpPr>
          <p:cNvPr id="5" name="サブタイトル 2">
            <a:extLst>
              <a:ext uri="{FF2B5EF4-FFF2-40B4-BE49-F238E27FC236}">
                <a16:creationId xmlns:a16="http://schemas.microsoft.com/office/drawing/2014/main" id="{1112DCF0-97F2-4198-BB5A-39A6F637AE6C}"/>
              </a:ext>
            </a:extLst>
          </p:cNvPr>
          <p:cNvSpPr txBox="1">
            <a:spLocks/>
          </p:cNvSpPr>
          <p:nvPr/>
        </p:nvSpPr>
        <p:spPr>
          <a:xfrm>
            <a:off x="3462867" y="3348973"/>
            <a:ext cx="3395133" cy="8692104"/>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400" dirty="0"/>
              <a:t>2. 有線ネットワークのスキャン（代替だが信頼性は低い）</a:t>
            </a:r>
          </a:p>
          <a:p>
            <a:pPr algn="l"/>
            <a:r>
              <a:rPr lang="ja-JP" altLang="en-US" sz="1400" dirty="0"/>
              <a:t>Nessus などの脆弱性スキャナを使い、</a:t>
            </a:r>
          </a:p>
          <a:p>
            <a:pPr algn="l"/>
            <a:r>
              <a:rPr lang="ja-JP" altLang="en-US" sz="1400" dirty="0"/>
              <a:t>有線ネットワーク上のノードを調査して：</a:t>
            </a:r>
          </a:p>
          <a:p>
            <a:pPr algn="l"/>
            <a:r>
              <a:rPr lang="ja-JP" altLang="en-US" sz="1400" dirty="0"/>
              <a:t>- Web 管理画面</a:t>
            </a:r>
          </a:p>
          <a:p>
            <a:pPr algn="l"/>
            <a:r>
              <a:rPr lang="ja-JP" altLang="en-US" sz="1400" dirty="0"/>
              <a:t>- ログインバナー</a:t>
            </a:r>
          </a:p>
          <a:p>
            <a:pPr algn="l"/>
            <a:r>
              <a:rPr lang="ja-JP" altLang="en-US" sz="1400" dirty="0"/>
              <a:t>- AP 特有の応答</a:t>
            </a:r>
          </a:p>
          <a:p>
            <a:pPr algn="l"/>
            <a:r>
              <a:rPr lang="ja-JP" altLang="en-US" sz="1400" dirty="0"/>
              <a:t>などを手がかりに Rogue AP を特定する方法です。</a:t>
            </a:r>
          </a:p>
          <a:p>
            <a:pPr algn="l"/>
            <a:r>
              <a:rPr lang="ja-JP" altLang="en-US" sz="1400" dirty="0"/>
              <a:t>ただし、攻撃者が ICMP 応答を無効化したり、</a:t>
            </a:r>
          </a:p>
          <a:p>
            <a:pPr algn="l"/>
            <a:r>
              <a:rPr lang="ja-JP" altLang="en-US" sz="1400" dirty="0"/>
              <a:t>管理インターフェースを隠したりすると検出が難しくなります。</a:t>
            </a:r>
          </a:p>
          <a:p>
            <a:pPr algn="l"/>
            <a:endParaRPr lang="ja-JP" altLang="en-US" sz="1400" dirty="0"/>
          </a:p>
          <a:p>
            <a:pPr algn="l"/>
            <a:r>
              <a:rPr lang="ja-JP" altLang="en-US" sz="1400" dirty="0"/>
              <a:t>3. スペクトラムアナライザ（高度だが強力）</a:t>
            </a:r>
          </a:p>
          <a:p>
            <a:pPr algn="l"/>
            <a:r>
              <a:rPr lang="ja-JP" altLang="en-US" sz="1400" dirty="0"/>
              <a:t>指向性アンテナを備えたスペクトラムアナライザを使えば、</a:t>
            </a:r>
          </a:p>
          <a:p>
            <a:pPr algn="l"/>
            <a:r>
              <a:rPr lang="ja-JP" altLang="en-US" sz="1400" dirty="0"/>
              <a:t>Wi‑Fi 以外の無線技術を使った Rogue AP も検出できます。</a:t>
            </a:r>
          </a:p>
          <a:p>
            <a:pPr algn="l"/>
            <a:r>
              <a:rPr lang="ja-JP" altLang="en-US" sz="1400" dirty="0"/>
              <a:t>ただし、この方法は 高度な RF 知識が必要 であり、</a:t>
            </a:r>
          </a:p>
          <a:p>
            <a:pPr algn="l"/>
            <a:r>
              <a:rPr lang="ja-JP" altLang="en-US" sz="1400" dirty="0"/>
              <a:t>一般的な管理者にはハードルが高い手法です。</a:t>
            </a:r>
          </a:p>
          <a:p>
            <a:pPr algn="l"/>
            <a:endParaRPr lang="ja-JP" altLang="en-US" sz="1400" dirty="0"/>
          </a:p>
          <a:p>
            <a:pPr algn="l"/>
            <a:r>
              <a:rPr lang="ja-JP" altLang="en-US" sz="1400" dirty="0"/>
              <a:t>まとめ</a:t>
            </a:r>
          </a:p>
          <a:p>
            <a:pPr algn="l"/>
            <a:r>
              <a:rPr lang="ja-JP" altLang="en-US" sz="1400" dirty="0"/>
              <a:t>Rogue AP は：</a:t>
            </a:r>
          </a:p>
          <a:p>
            <a:pPr algn="l"/>
            <a:r>
              <a:rPr lang="ja-JP" altLang="en-US" sz="1400" dirty="0"/>
              <a:t>- 攻撃者がネットワークへ侵入する入口になり</a:t>
            </a:r>
          </a:p>
          <a:p>
            <a:pPr algn="l"/>
            <a:r>
              <a:rPr lang="ja-JP" altLang="en-US" sz="1400" dirty="0"/>
              <a:t>- 無線禁止ポリシーの組織でも頻繁に発生し</a:t>
            </a:r>
          </a:p>
          <a:p>
            <a:pPr algn="l"/>
            <a:r>
              <a:rPr lang="ja-JP" altLang="en-US" sz="1400" dirty="0"/>
              <a:t>- Wi‑Fi 以外の無線技術でも設置可能で</a:t>
            </a:r>
          </a:p>
          <a:p>
            <a:pPr algn="l"/>
            <a:r>
              <a:rPr lang="ja-JP" altLang="en-US" sz="1400" dirty="0"/>
              <a:t>- 検出には手間と専門知識が必要</a:t>
            </a:r>
          </a:p>
          <a:p>
            <a:pPr algn="l"/>
            <a:r>
              <a:rPr lang="ja-JP" altLang="en-US" sz="1400" dirty="0"/>
              <a:t>という、非常に厄介な脅威です。</a:t>
            </a:r>
          </a:p>
          <a:p>
            <a:pPr algn="l"/>
            <a:endParaRPr lang="ja-JP" altLang="en-US" sz="1400" dirty="0"/>
          </a:p>
          <a:p>
            <a:pPr algn="l"/>
            <a:endParaRPr lang="ja-JP" altLang="en-US" sz="1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C93AE7D0-DB83-47EF-BA2A-721B6DD169CE}"/>
              </a:ext>
            </a:extLst>
          </p:cNvPr>
          <p:cNvPicPr>
            <a:picLocks noChangeAspect="1"/>
          </p:cNvPicPr>
          <p:nvPr/>
        </p:nvPicPr>
        <p:blipFill>
          <a:blip r:embed="rId2"/>
          <a:stretch>
            <a:fillRect/>
          </a:stretch>
        </p:blipFill>
        <p:spPr>
          <a:xfrm>
            <a:off x="0" y="0"/>
            <a:ext cx="6806561" cy="3877733"/>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539068"/>
            <a:ext cx="6852285" cy="8585199"/>
          </a:xfrm>
        </p:spPr>
        <p:txBody>
          <a:bodyPr>
            <a:normAutofit fontScale="75000" lnSpcReduction="20000"/>
          </a:bodyPr>
          <a:lstStyle/>
          <a:p>
            <a:pPr algn="l"/>
            <a:r>
              <a:rPr lang="ja-JP" altLang="en-US" sz="1400" dirty="0">
                <a:sym typeface="+mn-ea"/>
              </a:rPr>
              <a:t>Justin Searle は InGuardians 社の ICS セキュリティ部門ディレクター であり、</a:t>
            </a:r>
          </a:p>
          <a:p>
            <a:pPr algn="l"/>
            <a:r>
              <a:rPr lang="ja-JP" altLang="en-US" sz="1400" dirty="0">
                <a:sym typeface="+mn-ea"/>
              </a:rPr>
              <a:t>ICS セキュリティアーキテクチャ設計とペネトレーションテストを専門としています。</a:t>
            </a:r>
          </a:p>
          <a:p>
            <a:pPr algn="l"/>
            <a:r>
              <a:rPr lang="ja-JP" altLang="en-US" sz="1400" dirty="0">
                <a:sym typeface="+mn-ea"/>
              </a:rPr>
              <a:t>彼は Smart Grid Security Architecture グループを率いて</a:t>
            </a:r>
          </a:p>
          <a:p>
            <a:pPr algn="l"/>
            <a:r>
              <a:rPr lang="ja-JP" altLang="en-US" sz="1400" dirty="0">
                <a:sym typeface="+mn-ea"/>
              </a:rPr>
              <a:t>NIST Interagency Report 7628 の作成に貢献したほか、</a:t>
            </a:r>
          </a:p>
          <a:p>
            <a:pPr algn="l"/>
            <a:r>
              <a:rPr lang="ja-JP" altLang="en-US" sz="1400" dirty="0">
                <a:sym typeface="+mn-ea"/>
              </a:rPr>
              <a:t>以下の主要プロジェクトでも重要な役割を果たしました：</a:t>
            </a:r>
          </a:p>
          <a:p>
            <a:pPr algn="l"/>
            <a:r>
              <a:rPr lang="ja-JP" altLang="en-US" sz="1400" dirty="0">
                <a:sym typeface="+mn-ea"/>
              </a:rPr>
              <a:t>• 	ASAP-SG（Advanced Security Acceleration Project for the Smart Grid）</a:t>
            </a:r>
          </a:p>
          <a:p>
            <a:pPr algn="l"/>
            <a:r>
              <a:rPr lang="ja-JP" altLang="en-US" sz="1400" dirty="0">
                <a:sym typeface="+mn-ea"/>
              </a:rPr>
              <a:t>• 	NESCOR（National Electric Sector Cybersecurity Organization Resources）</a:t>
            </a:r>
          </a:p>
          <a:p>
            <a:pPr algn="l"/>
            <a:r>
              <a:rPr lang="ja-JP" altLang="en-US" sz="1400" dirty="0">
                <a:sym typeface="+mn-ea"/>
              </a:rPr>
              <a:t>• 	SGIP（Smart Grid Interoperability Panel）</a:t>
            </a:r>
          </a:p>
          <a:p>
            <a:pPr algn="l"/>
            <a:endParaRPr lang="ja-JP" altLang="en-US" sz="1400" dirty="0">
              <a:sym typeface="+mn-ea"/>
            </a:endParaRPr>
          </a:p>
          <a:p>
            <a:pPr algn="l"/>
            <a:r>
              <a:rPr lang="ja-JP" altLang="en-US" sz="1400" dirty="0">
                <a:sym typeface="+mn-ea"/>
              </a:rPr>
              <a:t>教育・講師としての活動</a:t>
            </a:r>
          </a:p>
          <a:p>
            <a:pPr algn="l"/>
            <a:r>
              <a:rPr lang="ja-JP" altLang="en-US" sz="1400" dirty="0">
                <a:sym typeface="+mn-ea"/>
              </a:rPr>
              <a:t>Justin は複数の大学、企業、セキュリティカンファレンスで</a:t>
            </a:r>
          </a:p>
          <a:p>
            <a:pPr algn="l"/>
            <a:r>
              <a:rPr lang="ja-JP" altLang="en-US" sz="1400" dirty="0">
                <a:sym typeface="+mn-ea"/>
              </a:rPr>
              <a:t>以下の分野の講義を行ってきました：</a:t>
            </a:r>
          </a:p>
          <a:p>
            <a:pPr algn="l"/>
            <a:r>
              <a:rPr lang="ja-JP" altLang="en-US" sz="1400" dirty="0">
                <a:sym typeface="+mn-ea"/>
              </a:rPr>
              <a:t>• 	ハッキング技術</a:t>
            </a:r>
          </a:p>
          <a:p>
            <a:pPr algn="l"/>
            <a:r>
              <a:rPr lang="ja-JP" altLang="en-US" sz="1400" dirty="0">
                <a:sym typeface="+mn-ea"/>
              </a:rPr>
              <a:t>• 	フォレンジック</a:t>
            </a:r>
          </a:p>
          <a:p>
            <a:pPr algn="l"/>
            <a:r>
              <a:rPr lang="ja-JP" altLang="en-US" sz="1400" dirty="0">
                <a:sym typeface="+mn-ea"/>
              </a:rPr>
              <a:t>• 	ネットワーキング</a:t>
            </a:r>
          </a:p>
          <a:p>
            <a:pPr algn="l"/>
            <a:r>
              <a:rPr lang="ja-JP" altLang="en-US" sz="1400" dirty="0">
                <a:sym typeface="+mn-ea"/>
              </a:rPr>
              <a:t>• 	侵入検知</a:t>
            </a:r>
          </a:p>
          <a:p>
            <a:pPr algn="l"/>
            <a:r>
              <a:rPr lang="ja-JP" altLang="en-US" sz="1400" dirty="0">
                <a:sym typeface="+mn-ea"/>
              </a:rPr>
              <a:t>現在は：</a:t>
            </a:r>
          </a:p>
          <a:p>
            <a:pPr algn="l"/>
            <a:r>
              <a:rPr lang="ja-JP" altLang="en-US" sz="1400" dirty="0">
                <a:sym typeface="+mn-ea"/>
              </a:rPr>
              <a:t>• 	SANS Institute のシニアインストラクター</a:t>
            </a:r>
          </a:p>
          <a:p>
            <a:pPr algn="l"/>
            <a:r>
              <a:rPr lang="ja-JP" altLang="en-US" sz="1400" dirty="0">
                <a:sym typeface="+mn-ea"/>
              </a:rPr>
              <a:t>• 	IANS の教員</a:t>
            </a:r>
          </a:p>
          <a:p>
            <a:pPr algn="l"/>
            <a:r>
              <a:rPr lang="ja-JP" altLang="en-US" sz="1400" dirty="0">
                <a:sym typeface="+mn-ea"/>
              </a:rPr>
              <a:t>としても活動しています。</a:t>
            </a:r>
          </a:p>
          <a:p>
            <a:pPr algn="l"/>
            <a:r>
              <a:rPr lang="ja-JP" altLang="en-US" sz="1400" dirty="0">
                <a:sym typeface="+mn-ea"/>
              </a:rPr>
              <a:t>また、電力業界のカンファレンスに加え、</a:t>
            </a:r>
          </a:p>
          <a:p>
            <a:pPr algn="l"/>
            <a:r>
              <a:rPr lang="ja-JP" altLang="en-US" sz="1400" dirty="0">
                <a:sym typeface="+mn-ea"/>
              </a:rPr>
              <a:t>Black Hat、DEFCON、OWASP、Nullcon、AusCERT など</a:t>
            </a:r>
          </a:p>
          <a:p>
            <a:pPr algn="l"/>
            <a:r>
              <a:rPr lang="ja-JP" altLang="en-US" sz="1400" dirty="0">
                <a:sym typeface="+mn-ea"/>
              </a:rPr>
              <a:t>世界的なセキュリティカンファレンスでも頻繁に登壇しています。</a:t>
            </a:r>
          </a:p>
          <a:p>
            <a:pPr algn="l"/>
            <a:endParaRPr lang="ja-JP" altLang="en-US" sz="1400" dirty="0">
              <a:sym typeface="+mn-ea"/>
            </a:endParaRPr>
          </a:p>
          <a:p>
            <a:pPr algn="l"/>
            <a:r>
              <a:rPr lang="ja-JP" altLang="en-US" sz="1400" dirty="0">
                <a:sym typeface="+mn-ea"/>
              </a:rPr>
              <a:t>オープンソース活動</a:t>
            </a:r>
          </a:p>
          <a:p>
            <a:pPr algn="l"/>
            <a:r>
              <a:rPr lang="ja-JP" altLang="en-US" sz="1400" dirty="0">
                <a:sym typeface="+mn-ea"/>
              </a:rPr>
              <a:t>Justin は以下の著名な OSS プロジェクトを主導しています：</a:t>
            </a:r>
          </a:p>
          <a:p>
            <a:pPr algn="l"/>
            <a:r>
              <a:rPr lang="ja-JP" altLang="en-US" sz="1400" dirty="0">
                <a:sym typeface="+mn-ea"/>
              </a:rPr>
              <a:t>• 	ControlThings Platform</a:t>
            </a:r>
          </a:p>
          <a:p>
            <a:pPr algn="l"/>
            <a:r>
              <a:rPr lang="ja-JP" altLang="en-US" sz="1400" dirty="0">
                <a:sym typeface="+mn-ea"/>
              </a:rPr>
              <a:t>• 	Samurai Web Testing Framework（SamuraiWTF）</a:t>
            </a:r>
          </a:p>
          <a:p>
            <a:pPr algn="l"/>
            <a:r>
              <a:rPr lang="ja-JP" altLang="en-US" sz="1400" dirty="0">
                <a:sym typeface="+mn-ea"/>
              </a:rPr>
              <a:t>• 	SamuraiSTFU（Samurai Security Testing Framework for Utilities）</a:t>
            </a:r>
          </a:p>
          <a:p>
            <a:pPr algn="l"/>
            <a:endParaRPr lang="ja-JP" altLang="en-US" sz="1400" dirty="0">
              <a:sym typeface="+mn-ea"/>
            </a:endParaRPr>
          </a:p>
          <a:p>
            <a:pPr algn="l"/>
            <a:r>
              <a:rPr lang="ja-JP" altLang="en-US" sz="1400" dirty="0">
                <a:sym typeface="+mn-ea"/>
              </a:rPr>
              <a:t>資格・学歴</a:t>
            </a:r>
          </a:p>
          <a:p>
            <a:pPr algn="l"/>
            <a:r>
              <a:rPr lang="ja-JP" altLang="en-US" sz="1400" dirty="0">
                <a:sym typeface="+mn-ea"/>
              </a:rPr>
              <a:t>• 	MBA（国際テクノロジー専攻）</a:t>
            </a:r>
          </a:p>
          <a:p>
            <a:pPr algn="l"/>
            <a:r>
              <a:rPr lang="ja-JP" altLang="en-US" sz="1400" dirty="0">
                <a:sym typeface="+mn-ea"/>
              </a:rPr>
              <a:t>• 	CISSP</a:t>
            </a:r>
          </a:p>
          <a:p>
            <a:pPr algn="l"/>
            <a:r>
              <a:rPr lang="ja-JP" altLang="en-US" sz="1400" dirty="0">
                <a:sym typeface="+mn-ea"/>
              </a:rPr>
              <a:t>• 	SANS GIAC</a:t>
            </a:r>
          </a:p>
          <a:p>
            <a:pPr algn="l"/>
            <a:r>
              <a:rPr lang="ja-JP" altLang="en-US" sz="1400" dirty="0">
                <a:sym typeface="+mn-ea"/>
              </a:rPr>
              <a:t>• 	GCIH（Incident Handler）</a:t>
            </a:r>
          </a:p>
          <a:p>
            <a:pPr algn="l"/>
            <a:r>
              <a:rPr lang="ja-JP" altLang="en-US" sz="1400" dirty="0">
                <a:sym typeface="+mn-ea"/>
              </a:rPr>
              <a:t>• 	GCIA（Intrusion Analyst）</a:t>
            </a:r>
          </a:p>
          <a:p>
            <a:pPr algn="l"/>
            <a:r>
              <a:rPr lang="ja-JP" altLang="en-US" sz="1400" dirty="0">
                <a:sym typeface="+mn-ea"/>
              </a:rPr>
              <a:t>• 	GWAPT（Web Application Penetration Tester）</a:t>
            </a:r>
          </a:p>
          <a:p>
            <a:pPr algn="l"/>
            <a:r>
              <a:rPr lang="ja-JP" altLang="en-US" sz="1400" dirty="0">
                <a:sym typeface="+mn-ea"/>
              </a:rPr>
              <a:t>• 	GICSP（Industrial Control Security Professional）</a:t>
            </a:r>
          </a:p>
        </p:txBody>
      </p:sp>
      <p:pic>
        <p:nvPicPr>
          <p:cNvPr id="4" name="図 3">
            <a:extLst>
              <a:ext uri="{FF2B5EF4-FFF2-40B4-BE49-F238E27FC236}">
                <a16:creationId xmlns:a16="http://schemas.microsoft.com/office/drawing/2014/main" id="{44286E84-7214-457A-90D2-DEA1CBBB7EBB}"/>
              </a:ext>
            </a:extLst>
          </p:cNvPr>
          <p:cNvPicPr>
            <a:picLocks noChangeAspect="1"/>
          </p:cNvPicPr>
          <p:nvPr/>
        </p:nvPicPr>
        <p:blipFill>
          <a:blip r:embed="rId2"/>
          <a:stretch>
            <a:fillRect/>
          </a:stretch>
        </p:blipFill>
        <p:spPr>
          <a:xfrm>
            <a:off x="425018" y="67736"/>
            <a:ext cx="6007963" cy="3420533"/>
          </a:xfrm>
          <a:prstGeom prst="rect">
            <a:avLst/>
          </a:prstGeom>
        </p:spPr>
      </p:pic>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2143</TotalTime>
  <Words>23537</Words>
  <Application>Microsoft Office PowerPoint</Application>
  <PresentationFormat>ワイド画面</PresentationFormat>
  <Paragraphs>2407</Paragraphs>
  <Slides>94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94</vt:i4>
      </vt:variant>
    </vt:vector>
  </HeadingPairs>
  <TitlesOfParts>
    <vt:vector size="99" baseType="lpstr">
      <vt:lpstr>ＭＳ Ｐゴシック</vt:lpstr>
      <vt:lpstr>ＭＳ Ｐゴシック</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A1251715</cp:lastModifiedBy>
  <cp:revision>71</cp:revision>
  <dcterms:created xsi:type="dcterms:W3CDTF">2026-01-25T22:59:00Z</dcterms:created>
  <dcterms:modified xsi:type="dcterms:W3CDTF">2026-03-04T23:33:57Z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1033-11.2.0.9396</vt:lpwstr>
  </property>
</Properties>
</file>