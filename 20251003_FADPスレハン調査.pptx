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 id="2147483684" r:id="rId3"/>
    <p:sldMasterId id="2147483696" r:id="rId4"/>
    <p:sldMasterId id="2147483702" r:id="rId5"/>
  </p:sldMasterIdLst>
  <p:sldIdLst>
    <p:sldId id="256" r:id="rId6"/>
    <p:sldId id="259" r:id="rId7"/>
    <p:sldId id="318" r:id="rId8"/>
    <p:sldId id="304" r:id="rId9"/>
    <p:sldId id="316" r:id="rId10"/>
    <p:sldId id="317" r:id="rId11"/>
    <p:sldId id="321" r:id="rId12"/>
    <p:sldId id="267" r:id="rId13"/>
    <p:sldId id="331" r:id="rId14"/>
    <p:sldId id="307" r:id="rId15"/>
    <p:sldId id="329" r:id="rId16"/>
    <p:sldId id="326" r:id="rId17"/>
    <p:sldId id="261" r:id="rId18"/>
    <p:sldId id="335" r:id="rId19"/>
    <p:sldId id="336" r:id="rId20"/>
    <p:sldId id="337" r:id="rId21"/>
    <p:sldId id="273" r:id="rId22"/>
    <p:sldId id="286" r:id="rId23"/>
    <p:sldId id="293" r:id="rId24"/>
    <p:sldId id="292" r:id="rId25"/>
    <p:sldId id="339" r:id="rId26"/>
    <p:sldId id="294" r:id="rId27"/>
    <p:sldId id="319" r:id="rId28"/>
    <p:sldId id="308" r:id="rId29"/>
    <p:sldId id="296" r:id="rId30"/>
    <p:sldId id="295" r:id="rId31"/>
    <p:sldId id="340" r:id="rId32"/>
    <p:sldId id="282" r:id="rId33"/>
    <p:sldId id="322" r:id="rId34"/>
    <p:sldId id="309" r:id="rId35"/>
    <p:sldId id="297" r:id="rId36"/>
    <p:sldId id="300" r:id="rId37"/>
    <p:sldId id="341" r:id="rId38"/>
    <p:sldId id="277" r:id="rId39"/>
    <p:sldId id="344" r:id="rId40"/>
    <p:sldId id="278" r:id="rId41"/>
    <p:sldId id="310" r:id="rId42"/>
    <p:sldId id="287" r:id="rId43"/>
    <p:sldId id="289" r:id="rId44"/>
    <p:sldId id="298" r:id="rId45"/>
    <p:sldId id="281" r:id="rId46"/>
    <p:sldId id="342" r:id="rId47"/>
    <p:sldId id="311" r:id="rId48"/>
    <p:sldId id="299" r:id="rId49"/>
    <p:sldId id="285" r:id="rId50"/>
    <p:sldId id="343" r:id="rId51"/>
    <p:sldId id="312" r:id="rId52"/>
    <p:sldId id="306" r:id="rId53"/>
    <p:sldId id="305" r:id="rId54"/>
    <p:sldId id="333" r:id="rId55"/>
    <p:sldId id="332" r:id="rId56"/>
    <p:sldId id="325" r:id="rId57"/>
    <p:sldId id="324" r:id="rId58"/>
    <p:sldId id="288" r:id="rId59"/>
    <p:sldId id="291" r:id="rId60"/>
    <p:sldId id="303" r:id="rId61"/>
    <p:sldId id="262" r:id="rId62"/>
    <p:sldId id="263" r:id="rId63"/>
    <p:sldId id="313" r:id="rId64"/>
    <p:sldId id="302" r:id="rId65"/>
    <p:sldId id="269" r:id="rId66"/>
    <p:sldId id="314" r:id="rId67"/>
    <p:sldId id="301" r:id="rId68"/>
    <p:sldId id="270" r:id="rId69"/>
    <p:sldId id="323" r:id="rId70"/>
    <p:sldId id="334" r:id="rId71"/>
    <p:sldId id="264" r:id="rId72"/>
    <p:sldId id="279" r:id="rId73"/>
    <p:sldId id="260" r:id="rId74"/>
    <p:sldId id="265" r:id="rId75"/>
    <p:sldId id="266" r:id="rId76"/>
    <p:sldId id="276" r:id="rId77"/>
  </p:sldIdLst>
  <p:sldSz cx="12192000" cy="6858000"/>
  <p:notesSz cx="6737350" cy="986948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一覧" id="{363725FD-D20E-4BB5-B3C2-08F7B5A73093}">
          <p14:sldIdLst>
            <p14:sldId id="256"/>
            <p14:sldId id="259"/>
            <p14:sldId id="318"/>
            <p14:sldId id="304"/>
            <p14:sldId id="316"/>
            <p14:sldId id="317"/>
            <p14:sldId id="321"/>
            <p14:sldId id="267"/>
            <p14:sldId id="331"/>
            <p14:sldId id="307"/>
            <p14:sldId id="329"/>
            <p14:sldId id="326"/>
            <p14:sldId id="261"/>
            <p14:sldId id="335"/>
            <p14:sldId id="336"/>
            <p14:sldId id="337"/>
            <p14:sldId id="273"/>
            <p14:sldId id="286"/>
            <p14:sldId id="293"/>
            <p14:sldId id="292"/>
            <p14:sldId id="339"/>
            <p14:sldId id="294"/>
            <p14:sldId id="319"/>
            <p14:sldId id="308"/>
            <p14:sldId id="296"/>
            <p14:sldId id="295"/>
            <p14:sldId id="340"/>
            <p14:sldId id="282"/>
            <p14:sldId id="322"/>
            <p14:sldId id="309"/>
            <p14:sldId id="297"/>
            <p14:sldId id="300"/>
            <p14:sldId id="341"/>
            <p14:sldId id="277"/>
            <p14:sldId id="344"/>
            <p14:sldId id="278"/>
            <p14:sldId id="310"/>
            <p14:sldId id="287"/>
            <p14:sldId id="289"/>
            <p14:sldId id="298"/>
            <p14:sldId id="281"/>
            <p14:sldId id="342"/>
            <p14:sldId id="311"/>
            <p14:sldId id="299"/>
            <p14:sldId id="285"/>
            <p14:sldId id="343"/>
            <p14:sldId id="312"/>
            <p14:sldId id="306"/>
            <p14:sldId id="305"/>
            <p14:sldId id="333"/>
            <p14:sldId id="332"/>
            <p14:sldId id="325"/>
            <p14:sldId id="324"/>
            <p14:sldId id="288"/>
            <p14:sldId id="291"/>
            <p14:sldId id="303"/>
            <p14:sldId id="262"/>
            <p14:sldId id="263"/>
            <p14:sldId id="313"/>
            <p14:sldId id="302"/>
            <p14:sldId id="269"/>
            <p14:sldId id="314"/>
            <p14:sldId id="301"/>
            <p14:sldId id="270"/>
            <p14:sldId id="323"/>
            <p14:sldId id="334"/>
            <p14:sldId id="264"/>
            <p14:sldId id="279"/>
            <p14:sldId id="260"/>
            <p14:sldId id="265"/>
            <p14:sldId id="266"/>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43" autoAdjust="0"/>
    <p:restoredTop sz="94660"/>
  </p:normalViewPr>
  <p:slideViewPr>
    <p:cSldViewPr snapToGrid="0">
      <p:cViewPr>
        <p:scale>
          <a:sx n="125" d="100"/>
          <a:sy n="125" d="100"/>
        </p:scale>
        <p:origin x="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B33C04-9809-4D91-80E2-6353C4162D4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7F09424-2979-4586-83DE-8B8217969A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2316325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173270-EB0E-40C1-89C5-4D06A1BB35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FC66754-C9ED-4C90-945F-47AA0C1439D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355591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FB2613-B761-462B-B49C-46E824908DF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688A9BC-42B1-415F-827C-8486FF135C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Tree>
    <p:extLst>
      <p:ext uri="{BB962C8B-B14F-4D97-AF65-F5344CB8AC3E}">
        <p14:creationId xmlns:p14="http://schemas.microsoft.com/office/powerpoint/2010/main" val="2585480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589A10-7E6D-4E64-9A5E-158B59E19D7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5475DBF-6F3A-4565-B9C3-2D71D6506A5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02626EC-4BA0-4537-909C-541B0CA6116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904249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C2DFCE-552E-4F6B-95A4-F84E91E1B34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11923F-9C4F-4D40-9669-B8F345DE7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6239637-19AD-4348-8832-8F6D73D5C5F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D89D6F8-07EA-4AEB-A587-08B17B7E5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B17D10-2BFB-4D11-B6FC-1055B8D7AA0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174787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D7FB06-A0CA-4B3F-8E48-6C9B93F27E3E}"/>
              </a:ext>
            </a:extLst>
          </p:cNvPr>
          <p:cNvSpPr>
            <a:spLocks noGrp="1"/>
          </p:cNvSpPr>
          <p:nvPr>
            <p:ph type="title"/>
          </p:nvPr>
        </p:nvSpPr>
        <p:spPr/>
        <p:txBody>
          <a:bodyPr/>
          <a:lstStyle/>
          <a:p>
            <a:r>
              <a:rPr kumimoji="1" lang="ja-JP" altLang="en-US" dirty="0"/>
              <a:t>マスター タイトルの書式設定</a:t>
            </a:r>
          </a:p>
        </p:txBody>
      </p:sp>
    </p:spTree>
    <p:extLst>
      <p:ext uri="{BB962C8B-B14F-4D97-AF65-F5344CB8AC3E}">
        <p14:creationId xmlns:p14="http://schemas.microsoft.com/office/powerpoint/2010/main" val="3492893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80293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24E4A8-7746-4F23-80D3-9C40E2CEE2B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BAA5EBD-5DC5-4DEB-982C-DD9DF8C522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650B668-4119-4AED-B29A-EEB0389365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1712881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B4F45D-F3B5-45A7-B13D-06E5212223C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5EAE47E-0161-4A62-A044-E0ABCF0ED1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B2D303A-4DF1-4C96-8269-F7C48BEB1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4089941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DC65D5-6FB1-4F65-A897-6CDE9E11C35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E2E05E2-2CE9-4E4D-9A0E-CB59C16C88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136097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85C138A-2C45-4A7E-85D9-B20E0DBB107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BF6E44F-005C-444A-A2A3-0E744E15B33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288664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BBE3E3-0EEA-4B82-8C07-C0800279018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586C850-13E5-4801-A94D-BA22A0537F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B681FE1-1B19-41D6-BB1C-8FFA47979609}"/>
              </a:ext>
            </a:extLst>
          </p:cNvPr>
          <p:cNvSpPr>
            <a:spLocks noGrp="1"/>
          </p:cNvSpPr>
          <p:nvPr>
            <p:ph type="dt" sz="half" idx="10"/>
          </p:nvPr>
        </p:nvSpPr>
        <p:spPr/>
        <p:txBody>
          <a:bodyPr/>
          <a:lstStyle/>
          <a:p>
            <a:fld id="{66A46830-8AA4-43B2-B259-31ACA4F65965}" type="datetimeFigureOut">
              <a:rPr kumimoji="1" lang="ja-JP" altLang="en-US" smtClean="0"/>
              <a:t>2025/10/3</a:t>
            </a:fld>
            <a:endParaRPr kumimoji="1" lang="ja-JP" altLang="en-US"/>
          </a:p>
        </p:txBody>
      </p:sp>
      <p:sp>
        <p:nvSpPr>
          <p:cNvPr id="5" name="フッター プレースホルダー 4">
            <a:extLst>
              <a:ext uri="{FF2B5EF4-FFF2-40B4-BE49-F238E27FC236}">
                <a16:creationId xmlns:a16="http://schemas.microsoft.com/office/drawing/2014/main" id="{673A8D7F-C544-4B49-B82F-D53D43DE513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22A5F0-5170-4A61-969E-D643EE933AE7}"/>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2004914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47A06A-2B73-4B38-A422-FB731366748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14E7E7C-7429-43AE-9BAE-173BFF274A8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2621D86-6CC7-4A37-BC26-4B5D54D8F745}"/>
              </a:ext>
            </a:extLst>
          </p:cNvPr>
          <p:cNvSpPr>
            <a:spLocks noGrp="1"/>
          </p:cNvSpPr>
          <p:nvPr>
            <p:ph type="dt" sz="half" idx="10"/>
          </p:nvPr>
        </p:nvSpPr>
        <p:spPr/>
        <p:txBody>
          <a:bodyPr/>
          <a:lstStyle/>
          <a:p>
            <a:fld id="{66A46830-8AA4-43B2-B259-31ACA4F65965}" type="datetimeFigureOut">
              <a:rPr kumimoji="1" lang="ja-JP" altLang="en-US" smtClean="0"/>
              <a:t>2025/10/3</a:t>
            </a:fld>
            <a:endParaRPr kumimoji="1" lang="ja-JP" altLang="en-US"/>
          </a:p>
        </p:txBody>
      </p:sp>
      <p:sp>
        <p:nvSpPr>
          <p:cNvPr id="5" name="フッター プレースホルダー 4">
            <a:extLst>
              <a:ext uri="{FF2B5EF4-FFF2-40B4-BE49-F238E27FC236}">
                <a16:creationId xmlns:a16="http://schemas.microsoft.com/office/drawing/2014/main" id="{34203AE1-FE14-46A5-997C-092EE87588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EB2C2BD-AA44-446E-BD22-627025355828}"/>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691699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6C7DE-C1F5-4110-B269-225A4CBE9AD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55B9C15-BC7C-4699-AEFB-FB733FAABE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298CA3B-6448-45A5-87BC-58CDDC02087C}"/>
              </a:ext>
            </a:extLst>
          </p:cNvPr>
          <p:cNvSpPr>
            <a:spLocks noGrp="1"/>
          </p:cNvSpPr>
          <p:nvPr>
            <p:ph type="dt" sz="half" idx="10"/>
          </p:nvPr>
        </p:nvSpPr>
        <p:spPr/>
        <p:txBody>
          <a:bodyPr/>
          <a:lstStyle/>
          <a:p>
            <a:fld id="{66A46830-8AA4-43B2-B259-31ACA4F65965}" type="datetimeFigureOut">
              <a:rPr kumimoji="1" lang="ja-JP" altLang="en-US" smtClean="0"/>
              <a:t>2025/10/3</a:t>
            </a:fld>
            <a:endParaRPr kumimoji="1" lang="ja-JP" altLang="en-US"/>
          </a:p>
        </p:txBody>
      </p:sp>
      <p:sp>
        <p:nvSpPr>
          <p:cNvPr id="5" name="フッター プレースホルダー 4">
            <a:extLst>
              <a:ext uri="{FF2B5EF4-FFF2-40B4-BE49-F238E27FC236}">
                <a16:creationId xmlns:a16="http://schemas.microsoft.com/office/drawing/2014/main" id="{AA4D0989-39C7-4F26-8A14-58CA23E9F20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AB8AB3-E88C-48B5-8EA3-DEB35C5C1259}"/>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9160177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5D9EC6-17E7-4FC3-A018-A42B44F79EE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2A0458C-2F30-4B29-8BEA-078FEA66C0F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AD8A247-6222-46B4-8719-D1AFC854008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53F050E-7C01-4EF3-B42E-45A1E2FB15C2}"/>
              </a:ext>
            </a:extLst>
          </p:cNvPr>
          <p:cNvSpPr>
            <a:spLocks noGrp="1"/>
          </p:cNvSpPr>
          <p:nvPr>
            <p:ph type="dt" sz="half" idx="10"/>
          </p:nvPr>
        </p:nvSpPr>
        <p:spPr/>
        <p:txBody>
          <a:bodyPr/>
          <a:lstStyle/>
          <a:p>
            <a:fld id="{66A46830-8AA4-43B2-B259-31ACA4F65965}" type="datetimeFigureOut">
              <a:rPr kumimoji="1" lang="ja-JP" altLang="en-US" smtClean="0"/>
              <a:t>2025/10/3</a:t>
            </a:fld>
            <a:endParaRPr kumimoji="1" lang="ja-JP" altLang="en-US"/>
          </a:p>
        </p:txBody>
      </p:sp>
      <p:sp>
        <p:nvSpPr>
          <p:cNvPr id="6" name="フッター プレースホルダー 5">
            <a:extLst>
              <a:ext uri="{FF2B5EF4-FFF2-40B4-BE49-F238E27FC236}">
                <a16:creationId xmlns:a16="http://schemas.microsoft.com/office/drawing/2014/main" id="{F23616AE-FD8E-41B4-821C-244AB66366B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60CE6B4-984C-4FF1-84FE-646806D07CF3}"/>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812693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42B0DD-57B6-43D2-B9B4-3EC74A6BDFC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0D060C5-439C-48F8-BF12-84F496BE1E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C339911-FB15-42FD-BC4E-3658ACB2425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5983156-6A2A-4107-9E92-D5F2D4C1B7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C578499-29E1-4411-AA04-FA2385C1170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5E8307-0898-4D27-A690-5312F8898EA1}"/>
              </a:ext>
            </a:extLst>
          </p:cNvPr>
          <p:cNvSpPr>
            <a:spLocks noGrp="1"/>
          </p:cNvSpPr>
          <p:nvPr>
            <p:ph type="dt" sz="half" idx="10"/>
          </p:nvPr>
        </p:nvSpPr>
        <p:spPr/>
        <p:txBody>
          <a:bodyPr/>
          <a:lstStyle/>
          <a:p>
            <a:fld id="{66A46830-8AA4-43B2-B259-31ACA4F65965}" type="datetimeFigureOut">
              <a:rPr kumimoji="1" lang="ja-JP" altLang="en-US" smtClean="0"/>
              <a:t>2025/10/3</a:t>
            </a:fld>
            <a:endParaRPr kumimoji="1" lang="ja-JP" altLang="en-US"/>
          </a:p>
        </p:txBody>
      </p:sp>
      <p:sp>
        <p:nvSpPr>
          <p:cNvPr id="8" name="フッター プレースホルダー 7">
            <a:extLst>
              <a:ext uri="{FF2B5EF4-FFF2-40B4-BE49-F238E27FC236}">
                <a16:creationId xmlns:a16="http://schemas.microsoft.com/office/drawing/2014/main" id="{DE566317-3B4F-4478-8048-D1B7777F92F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28AEE88-CC5E-4B1B-8140-F8E270046859}"/>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035367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9FBF3A-4286-4072-A1F9-4B5DB332DDF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D960A7D-0D5A-4B23-AE22-616961E065DF}"/>
              </a:ext>
            </a:extLst>
          </p:cNvPr>
          <p:cNvSpPr>
            <a:spLocks noGrp="1"/>
          </p:cNvSpPr>
          <p:nvPr>
            <p:ph type="dt" sz="half" idx="10"/>
          </p:nvPr>
        </p:nvSpPr>
        <p:spPr/>
        <p:txBody>
          <a:bodyPr/>
          <a:lstStyle/>
          <a:p>
            <a:fld id="{66A46830-8AA4-43B2-B259-31ACA4F65965}" type="datetimeFigureOut">
              <a:rPr kumimoji="1" lang="ja-JP" altLang="en-US" smtClean="0"/>
              <a:t>2025/10/3</a:t>
            </a:fld>
            <a:endParaRPr kumimoji="1" lang="ja-JP" altLang="en-US"/>
          </a:p>
        </p:txBody>
      </p:sp>
      <p:sp>
        <p:nvSpPr>
          <p:cNvPr id="4" name="フッター プレースホルダー 3">
            <a:extLst>
              <a:ext uri="{FF2B5EF4-FFF2-40B4-BE49-F238E27FC236}">
                <a16:creationId xmlns:a16="http://schemas.microsoft.com/office/drawing/2014/main" id="{CA18DC1F-46E2-410D-B2DE-8075C717DEB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4883FAB-04F4-4799-A7AA-3D20B4ECB5CB}"/>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3397395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1B88127-C17F-4EB8-9F3D-5DBB000C54F4}"/>
              </a:ext>
            </a:extLst>
          </p:cNvPr>
          <p:cNvSpPr>
            <a:spLocks noGrp="1"/>
          </p:cNvSpPr>
          <p:nvPr>
            <p:ph type="dt" sz="half" idx="10"/>
          </p:nvPr>
        </p:nvSpPr>
        <p:spPr/>
        <p:txBody>
          <a:bodyPr/>
          <a:lstStyle/>
          <a:p>
            <a:fld id="{66A46830-8AA4-43B2-B259-31ACA4F65965}" type="datetimeFigureOut">
              <a:rPr kumimoji="1" lang="ja-JP" altLang="en-US" smtClean="0"/>
              <a:t>2025/10/3</a:t>
            </a:fld>
            <a:endParaRPr kumimoji="1" lang="ja-JP" altLang="en-US"/>
          </a:p>
        </p:txBody>
      </p:sp>
      <p:sp>
        <p:nvSpPr>
          <p:cNvPr id="3" name="フッター プレースホルダー 2">
            <a:extLst>
              <a:ext uri="{FF2B5EF4-FFF2-40B4-BE49-F238E27FC236}">
                <a16:creationId xmlns:a16="http://schemas.microsoft.com/office/drawing/2014/main" id="{565D9337-91C3-4D65-89A8-73986E95365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B6CA30C-3F61-46EB-BE77-E2582AEDC776}"/>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38086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EF623F-3D9D-4EA8-AC4B-7D1A4827E76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C469A5B-9205-4BBF-943D-7AAFA7FBB3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47E3398-9439-400F-86E2-58DA9CF6B9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D1E8BA5-EA54-4753-930C-087CE93E6BCD}"/>
              </a:ext>
            </a:extLst>
          </p:cNvPr>
          <p:cNvSpPr>
            <a:spLocks noGrp="1"/>
          </p:cNvSpPr>
          <p:nvPr>
            <p:ph type="dt" sz="half" idx="10"/>
          </p:nvPr>
        </p:nvSpPr>
        <p:spPr/>
        <p:txBody>
          <a:bodyPr/>
          <a:lstStyle/>
          <a:p>
            <a:fld id="{66A46830-8AA4-43B2-B259-31ACA4F65965}" type="datetimeFigureOut">
              <a:rPr kumimoji="1" lang="ja-JP" altLang="en-US" smtClean="0"/>
              <a:t>2025/10/3</a:t>
            </a:fld>
            <a:endParaRPr kumimoji="1" lang="ja-JP" altLang="en-US"/>
          </a:p>
        </p:txBody>
      </p:sp>
      <p:sp>
        <p:nvSpPr>
          <p:cNvPr id="6" name="フッター プレースホルダー 5">
            <a:extLst>
              <a:ext uri="{FF2B5EF4-FFF2-40B4-BE49-F238E27FC236}">
                <a16:creationId xmlns:a16="http://schemas.microsoft.com/office/drawing/2014/main" id="{C0516814-B2CB-4007-84F6-573578B95B3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BDBFE6C-F57E-4BD6-8274-46CEB5BFB295}"/>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8643818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D7A6F7-AAB8-4E62-957D-E47F77D68E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0E4FE5C-64F7-46BC-B622-D3BED76DA5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0A213FE-294F-4A64-8F6E-1D1FF1CC5B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4213A07-CA93-4D7D-B0AD-917D43F18CDA}"/>
              </a:ext>
            </a:extLst>
          </p:cNvPr>
          <p:cNvSpPr>
            <a:spLocks noGrp="1"/>
          </p:cNvSpPr>
          <p:nvPr>
            <p:ph type="dt" sz="half" idx="10"/>
          </p:nvPr>
        </p:nvSpPr>
        <p:spPr/>
        <p:txBody>
          <a:bodyPr/>
          <a:lstStyle/>
          <a:p>
            <a:fld id="{66A46830-8AA4-43B2-B259-31ACA4F65965}" type="datetimeFigureOut">
              <a:rPr kumimoji="1" lang="ja-JP" altLang="en-US" smtClean="0"/>
              <a:t>2025/10/3</a:t>
            </a:fld>
            <a:endParaRPr kumimoji="1" lang="ja-JP" altLang="en-US"/>
          </a:p>
        </p:txBody>
      </p:sp>
      <p:sp>
        <p:nvSpPr>
          <p:cNvPr id="6" name="フッター プレースホルダー 5">
            <a:extLst>
              <a:ext uri="{FF2B5EF4-FFF2-40B4-BE49-F238E27FC236}">
                <a16:creationId xmlns:a16="http://schemas.microsoft.com/office/drawing/2014/main" id="{FB794F00-B18C-409E-A49D-3F511C62C8C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285A460-CF6C-4EEA-B632-A539A8C82E5B}"/>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20984204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597AA4-4467-43E5-981E-782ED9D5B39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DB98564-82A8-41CA-B165-492545D8872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AC6EF7A-8B3E-4218-8A94-25AE9EBFBADE}"/>
              </a:ext>
            </a:extLst>
          </p:cNvPr>
          <p:cNvSpPr>
            <a:spLocks noGrp="1"/>
          </p:cNvSpPr>
          <p:nvPr>
            <p:ph type="dt" sz="half" idx="10"/>
          </p:nvPr>
        </p:nvSpPr>
        <p:spPr/>
        <p:txBody>
          <a:bodyPr/>
          <a:lstStyle/>
          <a:p>
            <a:fld id="{66A46830-8AA4-43B2-B259-31ACA4F65965}" type="datetimeFigureOut">
              <a:rPr kumimoji="1" lang="ja-JP" altLang="en-US" smtClean="0"/>
              <a:t>2025/10/3</a:t>
            </a:fld>
            <a:endParaRPr kumimoji="1" lang="ja-JP" altLang="en-US"/>
          </a:p>
        </p:txBody>
      </p:sp>
      <p:sp>
        <p:nvSpPr>
          <p:cNvPr id="5" name="フッター プレースホルダー 4">
            <a:extLst>
              <a:ext uri="{FF2B5EF4-FFF2-40B4-BE49-F238E27FC236}">
                <a16:creationId xmlns:a16="http://schemas.microsoft.com/office/drawing/2014/main" id="{E9FF6C10-F033-4D98-9D04-D3FD9CF5952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F53E618-A735-4F62-88D1-B9D54C349FD5}"/>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2803066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786EE02-8A30-43A8-BCEF-3B3B853D85D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6EA7EE8-B98A-4A60-8020-CB65169DFCD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22D00EA-2523-4B38-9513-90B876C8CE40}"/>
              </a:ext>
            </a:extLst>
          </p:cNvPr>
          <p:cNvSpPr>
            <a:spLocks noGrp="1"/>
          </p:cNvSpPr>
          <p:nvPr>
            <p:ph type="dt" sz="half" idx="10"/>
          </p:nvPr>
        </p:nvSpPr>
        <p:spPr/>
        <p:txBody>
          <a:bodyPr/>
          <a:lstStyle/>
          <a:p>
            <a:fld id="{66A46830-8AA4-43B2-B259-31ACA4F65965}" type="datetimeFigureOut">
              <a:rPr kumimoji="1" lang="ja-JP" altLang="en-US" smtClean="0"/>
              <a:t>2025/10/3</a:t>
            </a:fld>
            <a:endParaRPr kumimoji="1" lang="ja-JP" altLang="en-US"/>
          </a:p>
        </p:txBody>
      </p:sp>
      <p:sp>
        <p:nvSpPr>
          <p:cNvPr id="5" name="フッター プレースホルダー 4">
            <a:extLst>
              <a:ext uri="{FF2B5EF4-FFF2-40B4-BE49-F238E27FC236}">
                <a16:creationId xmlns:a16="http://schemas.microsoft.com/office/drawing/2014/main" id="{9600BEE2-AA4E-4ADC-B971-6EAE221289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E30320-E472-42B1-9CBA-9E7465A8F89F}"/>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41881427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59DB68-E3C6-46D7-AF23-FBC813A895B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D26D68D-1E89-4642-A323-54C434F364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82DF435-F0AA-4ADA-AEFD-E619FC9FD82B}"/>
              </a:ext>
            </a:extLst>
          </p:cNvPr>
          <p:cNvSpPr>
            <a:spLocks noGrp="1"/>
          </p:cNvSpPr>
          <p:nvPr>
            <p:ph type="dt" sz="half" idx="10"/>
          </p:nvPr>
        </p:nvSpPr>
        <p:spPr/>
        <p:txBody>
          <a:bodyPr/>
          <a:lstStyle/>
          <a:p>
            <a:fld id="{D4434EAC-051A-4BA5-9748-9745F9DBECB0}" type="datetimeFigureOut">
              <a:rPr kumimoji="1" lang="ja-JP" altLang="en-US" smtClean="0"/>
              <a:t>2025/10/3</a:t>
            </a:fld>
            <a:endParaRPr kumimoji="1" lang="ja-JP" altLang="en-US"/>
          </a:p>
        </p:txBody>
      </p:sp>
      <p:sp>
        <p:nvSpPr>
          <p:cNvPr id="5" name="フッター プレースホルダー 4">
            <a:extLst>
              <a:ext uri="{FF2B5EF4-FFF2-40B4-BE49-F238E27FC236}">
                <a16:creationId xmlns:a16="http://schemas.microsoft.com/office/drawing/2014/main" id="{3FEE3DDB-FF4E-4A18-B731-382E0C1006E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2E5D8B0-9DED-4CA5-A29F-9270AD981683}"/>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475556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E12CA2-5405-4F98-BC9D-06B378F9C63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AE3FFF2-609A-4E2D-8104-5E586D0BD82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251D4F6-E4D4-473D-A25A-F44D8C0538D9}"/>
              </a:ext>
            </a:extLst>
          </p:cNvPr>
          <p:cNvSpPr>
            <a:spLocks noGrp="1"/>
          </p:cNvSpPr>
          <p:nvPr>
            <p:ph type="dt" sz="half" idx="10"/>
          </p:nvPr>
        </p:nvSpPr>
        <p:spPr/>
        <p:txBody>
          <a:bodyPr/>
          <a:lstStyle/>
          <a:p>
            <a:fld id="{D4434EAC-051A-4BA5-9748-9745F9DBECB0}" type="datetimeFigureOut">
              <a:rPr kumimoji="1" lang="ja-JP" altLang="en-US" smtClean="0"/>
              <a:t>2025/10/3</a:t>
            </a:fld>
            <a:endParaRPr kumimoji="1" lang="ja-JP" altLang="en-US"/>
          </a:p>
        </p:txBody>
      </p:sp>
      <p:sp>
        <p:nvSpPr>
          <p:cNvPr id="5" name="フッター プレースホルダー 4">
            <a:extLst>
              <a:ext uri="{FF2B5EF4-FFF2-40B4-BE49-F238E27FC236}">
                <a16:creationId xmlns:a16="http://schemas.microsoft.com/office/drawing/2014/main" id="{F77DA020-6D14-4C9A-AFA0-AFA24569F3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550A82D-CFA5-4413-B967-A4208AC6BD27}"/>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33147381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500A4C-A750-4B3A-97C1-ED613CC6C94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4710F46-6713-4692-A977-4E9FC8269E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874157D-7869-4C68-B13A-AC4888EC7B1C}"/>
              </a:ext>
            </a:extLst>
          </p:cNvPr>
          <p:cNvSpPr>
            <a:spLocks noGrp="1"/>
          </p:cNvSpPr>
          <p:nvPr>
            <p:ph type="dt" sz="half" idx="10"/>
          </p:nvPr>
        </p:nvSpPr>
        <p:spPr/>
        <p:txBody>
          <a:bodyPr/>
          <a:lstStyle/>
          <a:p>
            <a:fld id="{D4434EAC-051A-4BA5-9748-9745F9DBECB0}" type="datetimeFigureOut">
              <a:rPr kumimoji="1" lang="ja-JP" altLang="en-US" smtClean="0"/>
              <a:t>2025/10/3</a:t>
            </a:fld>
            <a:endParaRPr kumimoji="1" lang="ja-JP" altLang="en-US"/>
          </a:p>
        </p:txBody>
      </p:sp>
      <p:sp>
        <p:nvSpPr>
          <p:cNvPr id="5" name="フッター プレースホルダー 4">
            <a:extLst>
              <a:ext uri="{FF2B5EF4-FFF2-40B4-BE49-F238E27FC236}">
                <a16:creationId xmlns:a16="http://schemas.microsoft.com/office/drawing/2014/main" id="{47D01520-2655-4856-98FF-08D0BF3AFF5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D31C10A-F85A-4922-B74A-82AF64BA4D85}"/>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42116634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6F011A-F92A-4D8F-AE37-1BF614987E0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216384-A9F9-4A8E-BEFE-2E39D137CF4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F0314DA-7D23-460C-A084-5FB52FDE7D9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4B42481-C948-43D4-93EC-FDA407FCE93E}"/>
              </a:ext>
            </a:extLst>
          </p:cNvPr>
          <p:cNvSpPr>
            <a:spLocks noGrp="1"/>
          </p:cNvSpPr>
          <p:nvPr>
            <p:ph type="dt" sz="half" idx="10"/>
          </p:nvPr>
        </p:nvSpPr>
        <p:spPr/>
        <p:txBody>
          <a:bodyPr/>
          <a:lstStyle/>
          <a:p>
            <a:fld id="{D4434EAC-051A-4BA5-9748-9745F9DBECB0}" type="datetimeFigureOut">
              <a:rPr kumimoji="1" lang="ja-JP" altLang="en-US" smtClean="0"/>
              <a:t>2025/10/3</a:t>
            </a:fld>
            <a:endParaRPr kumimoji="1" lang="ja-JP" altLang="en-US"/>
          </a:p>
        </p:txBody>
      </p:sp>
      <p:sp>
        <p:nvSpPr>
          <p:cNvPr id="6" name="フッター プレースホルダー 5">
            <a:extLst>
              <a:ext uri="{FF2B5EF4-FFF2-40B4-BE49-F238E27FC236}">
                <a16:creationId xmlns:a16="http://schemas.microsoft.com/office/drawing/2014/main" id="{C42B66B5-8033-4373-8543-D15E35A94E5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8FD8700-B1E5-4B93-9D3B-193BFC90A171}"/>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671488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625819-BC2E-4E8B-87A7-29A2DA1A18E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0AF79A3-1D67-42B6-B707-9B3521E67B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2E6391C-44E3-487A-8228-5F7CF42B406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B70B465-3F0E-4A64-AB60-A4465EFEC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640B408-0E63-4B14-985D-8137F621426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8826D2D-63AF-457C-9492-10A5186165E8}"/>
              </a:ext>
            </a:extLst>
          </p:cNvPr>
          <p:cNvSpPr>
            <a:spLocks noGrp="1"/>
          </p:cNvSpPr>
          <p:nvPr>
            <p:ph type="dt" sz="half" idx="10"/>
          </p:nvPr>
        </p:nvSpPr>
        <p:spPr/>
        <p:txBody>
          <a:bodyPr/>
          <a:lstStyle/>
          <a:p>
            <a:fld id="{D4434EAC-051A-4BA5-9748-9745F9DBECB0}" type="datetimeFigureOut">
              <a:rPr kumimoji="1" lang="ja-JP" altLang="en-US" smtClean="0"/>
              <a:t>2025/10/3</a:t>
            </a:fld>
            <a:endParaRPr kumimoji="1" lang="ja-JP" altLang="en-US"/>
          </a:p>
        </p:txBody>
      </p:sp>
      <p:sp>
        <p:nvSpPr>
          <p:cNvPr id="8" name="フッター プレースホルダー 7">
            <a:extLst>
              <a:ext uri="{FF2B5EF4-FFF2-40B4-BE49-F238E27FC236}">
                <a16:creationId xmlns:a16="http://schemas.microsoft.com/office/drawing/2014/main" id="{D9111B03-2E95-4241-AB8E-CA25CC7E96B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AB84ADA-0AE4-48CE-BB7E-06551E8B1EC5}"/>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5735097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2F955A-2F9F-4FA8-8CD0-42689757685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A8B380B-4889-466A-92D4-CF2792CB557A}"/>
              </a:ext>
            </a:extLst>
          </p:cNvPr>
          <p:cNvSpPr>
            <a:spLocks noGrp="1"/>
          </p:cNvSpPr>
          <p:nvPr>
            <p:ph type="dt" sz="half" idx="10"/>
          </p:nvPr>
        </p:nvSpPr>
        <p:spPr/>
        <p:txBody>
          <a:bodyPr/>
          <a:lstStyle/>
          <a:p>
            <a:fld id="{D4434EAC-051A-4BA5-9748-9745F9DBECB0}" type="datetimeFigureOut">
              <a:rPr kumimoji="1" lang="ja-JP" altLang="en-US" smtClean="0"/>
              <a:t>2025/10/3</a:t>
            </a:fld>
            <a:endParaRPr kumimoji="1" lang="ja-JP" altLang="en-US"/>
          </a:p>
        </p:txBody>
      </p:sp>
      <p:sp>
        <p:nvSpPr>
          <p:cNvPr id="4" name="フッター プレースホルダー 3">
            <a:extLst>
              <a:ext uri="{FF2B5EF4-FFF2-40B4-BE49-F238E27FC236}">
                <a16:creationId xmlns:a16="http://schemas.microsoft.com/office/drawing/2014/main" id="{A3D55B97-AB8B-4783-A1C9-17990264938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277BC9F-968F-4D50-AADE-6E86FB9BB1DE}"/>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5525693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83BD247-D601-43C9-8D4D-A31F7185B4F8}"/>
              </a:ext>
            </a:extLst>
          </p:cNvPr>
          <p:cNvSpPr>
            <a:spLocks noGrp="1"/>
          </p:cNvSpPr>
          <p:nvPr>
            <p:ph type="dt" sz="half" idx="10"/>
          </p:nvPr>
        </p:nvSpPr>
        <p:spPr/>
        <p:txBody>
          <a:bodyPr/>
          <a:lstStyle/>
          <a:p>
            <a:fld id="{D4434EAC-051A-4BA5-9748-9745F9DBECB0}" type="datetimeFigureOut">
              <a:rPr kumimoji="1" lang="ja-JP" altLang="en-US" smtClean="0"/>
              <a:t>2025/10/3</a:t>
            </a:fld>
            <a:endParaRPr kumimoji="1" lang="ja-JP" altLang="en-US"/>
          </a:p>
        </p:txBody>
      </p:sp>
      <p:sp>
        <p:nvSpPr>
          <p:cNvPr id="3" name="フッター プレースホルダー 2">
            <a:extLst>
              <a:ext uri="{FF2B5EF4-FFF2-40B4-BE49-F238E27FC236}">
                <a16:creationId xmlns:a16="http://schemas.microsoft.com/office/drawing/2014/main" id="{3216ABB8-909E-4BDE-BE6E-E32EF568E71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7F015C5-88F7-4BD9-8BEA-459FA5386BEC}"/>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7873137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B85CA6-F67E-4DC5-AEFA-EB8B0E842E2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A1004C-EB6D-4DBD-92CA-718F84B12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AE2190D-67A9-48AD-BCA0-91B4A0859C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5FE975C-F457-4DE2-8B82-716E1427B4DB}"/>
              </a:ext>
            </a:extLst>
          </p:cNvPr>
          <p:cNvSpPr>
            <a:spLocks noGrp="1"/>
          </p:cNvSpPr>
          <p:nvPr>
            <p:ph type="dt" sz="half" idx="10"/>
          </p:nvPr>
        </p:nvSpPr>
        <p:spPr/>
        <p:txBody>
          <a:bodyPr/>
          <a:lstStyle/>
          <a:p>
            <a:fld id="{D4434EAC-051A-4BA5-9748-9745F9DBECB0}" type="datetimeFigureOut">
              <a:rPr kumimoji="1" lang="ja-JP" altLang="en-US" smtClean="0"/>
              <a:t>2025/10/3</a:t>
            </a:fld>
            <a:endParaRPr kumimoji="1" lang="ja-JP" altLang="en-US"/>
          </a:p>
        </p:txBody>
      </p:sp>
      <p:sp>
        <p:nvSpPr>
          <p:cNvPr id="6" name="フッター プレースホルダー 5">
            <a:extLst>
              <a:ext uri="{FF2B5EF4-FFF2-40B4-BE49-F238E27FC236}">
                <a16:creationId xmlns:a16="http://schemas.microsoft.com/office/drawing/2014/main" id="{52457126-352A-4CC2-8A9E-B2F8ADC5014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003C05-1581-446A-B1C3-07D1A70F0EA2}"/>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128677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1B5E4A-6541-46CA-A34B-7C1160D077F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3C5E752-44E6-4040-B48D-814B0742D8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571D196-E7B4-4F84-A6E6-42383A540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890D2F4-F0C4-4F8F-877E-31208CFCCB52}"/>
              </a:ext>
            </a:extLst>
          </p:cNvPr>
          <p:cNvSpPr>
            <a:spLocks noGrp="1"/>
          </p:cNvSpPr>
          <p:nvPr>
            <p:ph type="dt" sz="half" idx="10"/>
          </p:nvPr>
        </p:nvSpPr>
        <p:spPr/>
        <p:txBody>
          <a:bodyPr/>
          <a:lstStyle/>
          <a:p>
            <a:fld id="{D4434EAC-051A-4BA5-9748-9745F9DBECB0}" type="datetimeFigureOut">
              <a:rPr kumimoji="1" lang="ja-JP" altLang="en-US" smtClean="0"/>
              <a:t>2025/10/3</a:t>
            </a:fld>
            <a:endParaRPr kumimoji="1" lang="ja-JP" altLang="en-US"/>
          </a:p>
        </p:txBody>
      </p:sp>
      <p:sp>
        <p:nvSpPr>
          <p:cNvPr id="6" name="フッター プレースホルダー 5">
            <a:extLst>
              <a:ext uri="{FF2B5EF4-FFF2-40B4-BE49-F238E27FC236}">
                <a16:creationId xmlns:a16="http://schemas.microsoft.com/office/drawing/2014/main" id="{1E009372-E1AC-4470-AB8C-3586CEDBFBB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6EBBE4-AD98-4C65-9198-FFCDAF954276}"/>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707099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3154EC-89EA-4A45-ACDA-D193AB3E99A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80F9937-B971-40C3-A311-CF2B578AB48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1E7D36-F223-47F0-83AF-6F3A167EF23B}"/>
              </a:ext>
            </a:extLst>
          </p:cNvPr>
          <p:cNvSpPr>
            <a:spLocks noGrp="1"/>
          </p:cNvSpPr>
          <p:nvPr>
            <p:ph type="dt" sz="half" idx="10"/>
          </p:nvPr>
        </p:nvSpPr>
        <p:spPr/>
        <p:txBody>
          <a:bodyPr/>
          <a:lstStyle/>
          <a:p>
            <a:fld id="{D4434EAC-051A-4BA5-9748-9745F9DBECB0}" type="datetimeFigureOut">
              <a:rPr kumimoji="1" lang="ja-JP" altLang="en-US" smtClean="0"/>
              <a:t>2025/10/3</a:t>
            </a:fld>
            <a:endParaRPr kumimoji="1" lang="ja-JP" altLang="en-US"/>
          </a:p>
        </p:txBody>
      </p:sp>
      <p:sp>
        <p:nvSpPr>
          <p:cNvPr id="5" name="フッター プレースホルダー 4">
            <a:extLst>
              <a:ext uri="{FF2B5EF4-FFF2-40B4-BE49-F238E27FC236}">
                <a16:creationId xmlns:a16="http://schemas.microsoft.com/office/drawing/2014/main" id="{DD4966A1-BBD1-4F0C-9A91-600755EF29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07D0A5F-3E2C-477D-85FA-8C3FD6EF084B}"/>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9546697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17770D-BDB0-4EEB-BA7D-67863E079A6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F17CD1-9D51-4B59-B076-A001ABD62AC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E9C6921-CC7A-40E8-A4EC-1A47393AC049}"/>
              </a:ext>
            </a:extLst>
          </p:cNvPr>
          <p:cNvSpPr>
            <a:spLocks noGrp="1"/>
          </p:cNvSpPr>
          <p:nvPr>
            <p:ph type="dt" sz="half" idx="10"/>
          </p:nvPr>
        </p:nvSpPr>
        <p:spPr/>
        <p:txBody>
          <a:bodyPr/>
          <a:lstStyle/>
          <a:p>
            <a:fld id="{D4434EAC-051A-4BA5-9748-9745F9DBECB0}" type="datetimeFigureOut">
              <a:rPr kumimoji="1" lang="ja-JP" altLang="en-US" smtClean="0"/>
              <a:t>2025/10/3</a:t>
            </a:fld>
            <a:endParaRPr kumimoji="1" lang="ja-JP" altLang="en-US"/>
          </a:p>
        </p:txBody>
      </p:sp>
      <p:sp>
        <p:nvSpPr>
          <p:cNvPr id="5" name="フッター プレースホルダー 4">
            <a:extLst>
              <a:ext uri="{FF2B5EF4-FFF2-40B4-BE49-F238E27FC236}">
                <a16:creationId xmlns:a16="http://schemas.microsoft.com/office/drawing/2014/main" id="{190B501B-EBEC-4A44-A378-D800433E171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87E09B4-7BD6-47E3-8E09-F2CE1676EEFC}"/>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42241686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5404075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FE68D6C1-B07F-410E-B194-A5CE3B2A1E11}"/>
              </a:ext>
            </a:extLst>
          </p:cNvPr>
          <p:cNvSpPr>
            <a:spLocks noGrp="1"/>
          </p:cNvSpPr>
          <p:nvPr>
            <p:ph type="sldNum" sz="quarter" idx="12"/>
          </p:nvPr>
        </p:nvSpPr>
        <p:spPr/>
        <p:txBody>
          <a:bodyPr/>
          <a:lstStyle/>
          <a:p>
            <a:fld id="{5B7081D9-8F3A-4C2A-8F7E-FB0E45FE6BE0}" type="slidenum">
              <a:rPr kumimoji="1" lang="ja-JP" altLang="en-US" smtClean="0"/>
              <a:t>‹#›</a:t>
            </a:fld>
            <a:endParaRPr kumimoji="1" lang="ja-JP" altLang="en-US"/>
          </a:p>
        </p:txBody>
      </p:sp>
    </p:spTree>
    <p:extLst>
      <p:ext uri="{BB962C8B-B14F-4D97-AF65-F5344CB8AC3E}">
        <p14:creationId xmlns:p14="http://schemas.microsoft.com/office/powerpoint/2010/main" val="16634534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15401585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目次スライド">
    <p:spTree>
      <p:nvGrpSpPr>
        <p:cNvPr id="1" name=""/>
        <p:cNvGrpSpPr/>
        <p:nvPr/>
      </p:nvGrpSpPr>
      <p:grpSpPr>
        <a:xfrm>
          <a:off x="0" y="0"/>
          <a:ext cx="0" cy="0"/>
          <a:chOff x="0" y="0"/>
          <a:chExt cx="0" cy="0"/>
        </a:xfrm>
      </p:grpSpPr>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7" name="スライド番号プレースホルダー 5">
            <a:extLst>
              <a:ext uri="{FF2B5EF4-FFF2-40B4-BE49-F238E27FC236}">
                <a16:creationId xmlns:a16="http://schemas.microsoft.com/office/drawing/2014/main" id="{BC7B947E-7309-4E90-BC14-4E921A8827A3}"/>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1400"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4758182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37829799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01552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Tree>
    <p:extLst>
      <p:ext uri="{BB962C8B-B14F-4D97-AF65-F5344CB8AC3E}">
        <p14:creationId xmlns:p14="http://schemas.microsoft.com/office/powerpoint/2010/main" val="9131331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17690177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目次スライド">
    <p:spTree>
      <p:nvGrpSpPr>
        <p:cNvPr id="1" name=""/>
        <p:cNvGrpSpPr/>
        <p:nvPr/>
      </p:nvGrpSpPr>
      <p:grpSpPr>
        <a:xfrm>
          <a:off x="0" y="0"/>
          <a:ext cx="0" cy="0"/>
          <a:chOff x="0" y="0"/>
          <a:chExt cx="0" cy="0"/>
        </a:xfrm>
      </p:grpSpPr>
      <p:cxnSp>
        <p:nvCxnSpPr>
          <p:cNvPr id="8" name="直線コネクタ 7"/>
          <p:cNvCxnSpPr/>
          <p:nvPr userDrawn="1"/>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7" name="スライド番号プレースホルダー 5">
            <a:extLst>
              <a:ext uri="{FF2B5EF4-FFF2-40B4-BE49-F238E27FC236}">
                <a16:creationId xmlns:a16="http://schemas.microsoft.com/office/drawing/2014/main" id="{BC7B947E-7309-4E90-BC14-4E921A8827A3}"/>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1400"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28512319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4514E3-AA6A-40E8-9BCC-4B1FE39F1CA5}"/>
              </a:ext>
            </a:extLst>
          </p:cNvPr>
          <p:cNvSpPr>
            <a:spLocks noGrp="1"/>
          </p:cNvSpPr>
          <p:nvPr>
            <p:ph type="title"/>
          </p:nvPr>
        </p:nvSpPr>
        <p:spPr>
          <a:xfrm>
            <a:off x="2002366" y="109009"/>
            <a:ext cx="8373533" cy="482600"/>
          </a:xfrm>
          <a:prstGeom prst="rect">
            <a:avLst/>
          </a:prstGeom>
        </p:spPr>
        <p:txBody>
          <a:bodyPr/>
          <a:lstStyle>
            <a:lvl1pPr algn="ctr">
              <a:defRPr sz="2800">
                <a:latin typeface="ＭＳ ゴシック" panose="020B0609070205080204" pitchFamily="49" charset="-128"/>
                <a:ea typeface="ＭＳ ゴシック" panose="020B0609070205080204" pitchFamily="49" charset="-128"/>
              </a:defRPr>
            </a:lvl1pPr>
          </a:lstStyle>
          <a:p>
            <a:r>
              <a:rPr kumimoji="1" lang="ja-JP" altLang="en-US"/>
              <a:t>マスター タイトルの書式設定</a:t>
            </a:r>
          </a:p>
        </p:txBody>
      </p:sp>
    </p:spTree>
    <p:extLst>
      <p:ext uri="{BB962C8B-B14F-4D97-AF65-F5344CB8AC3E}">
        <p14:creationId xmlns:p14="http://schemas.microsoft.com/office/powerpoint/2010/main" val="847501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6.xml"/><Relationship Id="rId7" Type="http://schemas.openxmlformats.org/officeDocument/2006/relationships/image" Target="../media/image2.png"/><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theme" Target="../theme/theme4.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slideLayout" Target="../slideLayouts/slideLayout41.xml"/><Relationship Id="rId7" Type="http://schemas.openxmlformats.org/officeDocument/2006/relationships/image" Target="../media/image3.png"/><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theme" Target="../theme/theme5.xml"/><Relationship Id="rId5" Type="http://schemas.openxmlformats.org/officeDocument/2006/relationships/slideLayout" Target="../slideLayouts/slideLayout43.xml"/><Relationship Id="rId4"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28A5448-7F15-4869-BD86-AD13E7E8F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8" name="円柱 7">
            <a:extLst>
              <a:ext uri="{FF2B5EF4-FFF2-40B4-BE49-F238E27FC236}">
                <a16:creationId xmlns:a16="http://schemas.microsoft.com/office/drawing/2014/main" id="{DE3E81C7-C7FA-4334-8F56-35279D4470A2}"/>
              </a:ext>
            </a:extLst>
          </p:cNvPr>
          <p:cNvSpPr/>
          <p:nvPr userDrawn="1"/>
        </p:nvSpPr>
        <p:spPr>
          <a:xfrm rot="5400000">
            <a:off x="6027767" y="-4114284"/>
            <a:ext cx="492066" cy="8923868"/>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2" name="タイトル プレースホルダー 1">
            <a:extLst>
              <a:ext uri="{FF2B5EF4-FFF2-40B4-BE49-F238E27FC236}">
                <a16:creationId xmlns:a16="http://schemas.microsoft.com/office/drawing/2014/main" id="{2FF4A1AE-8454-40D5-B600-9A70B2A2C5A2}"/>
              </a:ext>
            </a:extLst>
          </p:cNvPr>
          <p:cNvSpPr>
            <a:spLocks noGrp="1"/>
          </p:cNvSpPr>
          <p:nvPr>
            <p:ph type="title"/>
          </p:nvPr>
        </p:nvSpPr>
        <p:spPr>
          <a:xfrm>
            <a:off x="1968499" y="101617"/>
            <a:ext cx="8255002" cy="492066"/>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9" name="スライド番号プレースホルダー 5">
            <a:extLst>
              <a:ext uri="{FF2B5EF4-FFF2-40B4-BE49-F238E27FC236}">
                <a16:creationId xmlns:a16="http://schemas.microsoft.com/office/drawing/2014/main" id="{2B64D2B2-2A34-4C26-840E-C8E271813E07}"/>
              </a:ext>
            </a:extLst>
          </p:cNvPr>
          <p:cNvSpPr txBox="1">
            <a:spLocks/>
          </p:cNvSpPr>
          <p:nvPr userDrawn="1"/>
        </p:nvSpPr>
        <p:spPr>
          <a:xfrm>
            <a:off x="11832000" y="6570000"/>
            <a:ext cx="360000" cy="288000"/>
          </a:xfrm>
          <a:prstGeom prst="rect">
            <a:avLst/>
          </a:prstGeom>
          <a:solidFill>
            <a:schemeClr val="tx1"/>
          </a:solidFill>
          <a:ln>
            <a:solidFill>
              <a:schemeClr val="tx1"/>
            </a:solidFill>
          </a:ln>
        </p:spPr>
        <p:txBody>
          <a:bodyPr vert="horz" lIns="36000" tIns="36000" rIns="36000" bIns="36000" rtlCol="0" anchor="ctr"/>
          <a:lstStyle>
            <a:defPPr>
              <a:defRPr lang="ja-JP"/>
            </a:defPPr>
            <a:lvl1pPr marL="0" algn="ctr" defTabSz="914400" rtl="0" eaLnBrk="1" latinLnBrk="0" hangingPunct="1">
              <a:defRPr kumimoji="1" sz="788"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mtClean="0"/>
              <a:pPr/>
              <a:t>‹#›</a:t>
            </a:fld>
            <a:endParaRPr lang="ja-JP" altLang="en-US" dirty="0"/>
          </a:p>
        </p:txBody>
      </p:sp>
      <p:pic>
        <p:nvPicPr>
          <p:cNvPr id="10" name="図 9">
            <a:extLst>
              <a:ext uri="{FF2B5EF4-FFF2-40B4-BE49-F238E27FC236}">
                <a16:creationId xmlns:a16="http://schemas.microsoft.com/office/drawing/2014/main" id="{F5669AF3-2D23-4C12-886F-421A8ABAACF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60867" y="0"/>
            <a:ext cx="601133" cy="593683"/>
          </a:xfrm>
          <a:prstGeom prst="rect">
            <a:avLst/>
          </a:prstGeom>
        </p:spPr>
      </p:pic>
    </p:spTree>
    <p:extLst>
      <p:ext uri="{BB962C8B-B14F-4D97-AF65-F5344CB8AC3E}">
        <p14:creationId xmlns:p14="http://schemas.microsoft.com/office/powerpoint/2010/main" val="13959944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4636F6A-077A-4BFE-B78F-A805AB3E40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C7B3BB-87CF-4FD3-AEC5-EB7168429C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0801AA7-E7A5-49DB-BAE4-076D9FFE07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A46830-8AA4-43B2-B259-31ACA4F65965}" type="datetimeFigureOut">
              <a:rPr kumimoji="1" lang="ja-JP" altLang="en-US" smtClean="0"/>
              <a:t>2025/10/3</a:t>
            </a:fld>
            <a:endParaRPr kumimoji="1" lang="ja-JP" altLang="en-US"/>
          </a:p>
        </p:txBody>
      </p:sp>
      <p:sp>
        <p:nvSpPr>
          <p:cNvPr id="5" name="フッター プレースホルダー 4">
            <a:extLst>
              <a:ext uri="{FF2B5EF4-FFF2-40B4-BE49-F238E27FC236}">
                <a16:creationId xmlns:a16="http://schemas.microsoft.com/office/drawing/2014/main" id="{BD174AAC-48D2-4996-B095-35C92E9D34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09B80C4-6560-467E-B9B3-0102856C1D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0762DD-1B69-48C9-A635-1F8398D530E4}" type="slidenum">
              <a:rPr kumimoji="1" lang="ja-JP" altLang="en-US" smtClean="0"/>
              <a:t>‹#›</a:t>
            </a:fld>
            <a:endParaRPr kumimoji="1" lang="ja-JP" altLang="en-US"/>
          </a:p>
        </p:txBody>
      </p:sp>
      <p:pic>
        <p:nvPicPr>
          <p:cNvPr id="8" name="図 7">
            <a:extLst>
              <a:ext uri="{FF2B5EF4-FFF2-40B4-BE49-F238E27FC236}">
                <a16:creationId xmlns:a16="http://schemas.microsoft.com/office/drawing/2014/main" id="{EB553949-5D9C-48F4-8FC2-E7694D31196D}"/>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88429" y="-53926"/>
            <a:ext cx="3081304" cy="3413062"/>
          </a:xfrm>
          <a:prstGeom prst="rect">
            <a:avLst/>
          </a:prstGeom>
        </p:spPr>
      </p:pic>
    </p:spTree>
    <p:extLst>
      <p:ext uri="{BB962C8B-B14F-4D97-AF65-F5344CB8AC3E}">
        <p14:creationId xmlns:p14="http://schemas.microsoft.com/office/powerpoint/2010/main" val="34981772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7967724-491C-4775-99A6-678CEB0F3E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A594CAA-C4EA-43E9-8335-F6A35EAA24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F4B2B8F-9736-49FD-82C5-14C4FAEC28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434EAC-051A-4BA5-9748-9745F9DBECB0}" type="datetimeFigureOut">
              <a:rPr kumimoji="1" lang="ja-JP" altLang="en-US" smtClean="0"/>
              <a:t>2025/10/3</a:t>
            </a:fld>
            <a:endParaRPr kumimoji="1" lang="ja-JP" altLang="en-US"/>
          </a:p>
        </p:txBody>
      </p:sp>
      <p:sp>
        <p:nvSpPr>
          <p:cNvPr id="5" name="フッター プレースホルダー 4">
            <a:extLst>
              <a:ext uri="{FF2B5EF4-FFF2-40B4-BE49-F238E27FC236}">
                <a16:creationId xmlns:a16="http://schemas.microsoft.com/office/drawing/2014/main" id="{07007413-76CA-496B-B793-4A43655FFF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34DD03C-9F62-4D64-B741-3378E1322B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82BEDA-FC73-43FB-8705-8E0CB56C2A53}" type="slidenum">
              <a:rPr kumimoji="1" lang="ja-JP" altLang="en-US" smtClean="0"/>
              <a:t>‹#›</a:t>
            </a:fld>
            <a:endParaRPr kumimoji="1" lang="ja-JP" altLang="en-US"/>
          </a:p>
        </p:txBody>
      </p:sp>
      <p:pic>
        <p:nvPicPr>
          <p:cNvPr id="9" name="図 8">
            <a:extLst>
              <a:ext uri="{FF2B5EF4-FFF2-40B4-BE49-F238E27FC236}">
                <a16:creationId xmlns:a16="http://schemas.microsoft.com/office/drawing/2014/main" id="{F4CD2BCD-EEAF-4277-A75A-7DA625C3D34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2337907"/>
            <a:ext cx="3886200" cy="4304620"/>
          </a:xfrm>
          <a:prstGeom prst="rect">
            <a:avLst/>
          </a:prstGeom>
        </p:spPr>
      </p:pic>
      <p:sp>
        <p:nvSpPr>
          <p:cNvPr id="10" name="正方形/長方形 9">
            <a:extLst>
              <a:ext uri="{FF2B5EF4-FFF2-40B4-BE49-F238E27FC236}">
                <a16:creationId xmlns:a16="http://schemas.microsoft.com/office/drawing/2014/main" id="{472AEDA5-21D1-42C4-9CFF-93984654A8D2}"/>
              </a:ext>
            </a:extLst>
          </p:cNvPr>
          <p:cNvSpPr/>
          <p:nvPr userDrawn="1"/>
        </p:nvSpPr>
        <p:spPr>
          <a:xfrm>
            <a:off x="0" y="2304039"/>
            <a:ext cx="4114800" cy="4417435"/>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145451227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AutoShape 7">
            <a:extLst>
              <a:ext uri="{FF2B5EF4-FFF2-40B4-BE49-F238E27FC236}">
                <a16:creationId xmlns:a16="http://schemas.microsoft.com/office/drawing/2014/main" id="{7060C165-0842-4D84-94BC-1EB1D052AD35}"/>
              </a:ext>
            </a:extLst>
          </p:cNvPr>
          <p:cNvSpPr>
            <a:spLocks noChangeArrowheads="1"/>
          </p:cNvSpPr>
          <p:nvPr userDrawn="1"/>
        </p:nvSpPr>
        <p:spPr bwMode="auto">
          <a:xfrm>
            <a:off x="0" y="4763"/>
            <a:ext cx="12194875"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900" i="1" dirty="0">
                <a:solidFill>
                  <a:srgbClr val="0000FF"/>
                </a:solidFill>
                <a:ea typeface="ＭＳ Ｐゴシック" pitchFamily="50" charset="-128"/>
              </a:rPr>
              <a:t>入間サイバーステーション</a:t>
            </a:r>
          </a:p>
        </p:txBody>
      </p:sp>
      <p:sp>
        <p:nvSpPr>
          <p:cNvPr id="14" name="円柱 13">
            <a:extLst>
              <a:ext uri="{FF2B5EF4-FFF2-40B4-BE49-F238E27FC236}">
                <a16:creationId xmlns:a16="http://schemas.microsoft.com/office/drawing/2014/main" id="{1B6FA56B-5CB5-4B30-AC97-5E70AD5D2EA6}"/>
              </a:ext>
            </a:extLst>
          </p:cNvPr>
          <p:cNvSpPr/>
          <p:nvPr userDrawn="1"/>
        </p:nvSpPr>
        <p:spPr>
          <a:xfrm rot="5400000">
            <a:off x="6094537" y="-4575133"/>
            <a:ext cx="492066" cy="10085082"/>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pic>
        <p:nvPicPr>
          <p:cNvPr id="16" name="図 15">
            <a:extLst>
              <a:ext uri="{FF2B5EF4-FFF2-40B4-BE49-F238E27FC236}">
                <a16:creationId xmlns:a16="http://schemas.microsoft.com/office/drawing/2014/main" id="{78D86DE7-2DC2-4DB4-B31D-0FED692BF933}"/>
              </a:ext>
            </a:extLst>
          </p:cNvPr>
          <p:cNvPicPr>
            <a:picLocks noChangeAspect="1"/>
          </p:cNvPicPr>
          <p:nvPr userDrawn="1"/>
        </p:nvPicPr>
        <p:blipFill rotWithShape="1">
          <a:blip r:embed="rId7"/>
          <a:srcRect l="10091"/>
          <a:stretch/>
        </p:blipFill>
        <p:spPr>
          <a:xfrm>
            <a:off x="357809" y="208606"/>
            <a:ext cx="654738" cy="565523"/>
          </a:xfrm>
          <a:prstGeom prst="rect">
            <a:avLst/>
          </a:prstGeom>
        </p:spPr>
      </p:pic>
      <p:cxnSp>
        <p:nvCxnSpPr>
          <p:cNvPr id="17" name="直線コネクタ 16">
            <a:extLst>
              <a:ext uri="{FF2B5EF4-FFF2-40B4-BE49-F238E27FC236}">
                <a16:creationId xmlns:a16="http://schemas.microsoft.com/office/drawing/2014/main" id="{9C775FC5-8A00-4AE4-86AE-ECBD3B67661A}"/>
              </a:ext>
            </a:extLst>
          </p:cNvPr>
          <p:cNvCxnSpPr>
            <a:cxnSpLocks/>
          </p:cNvCxnSpPr>
          <p:nvPr userDrawn="1"/>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23" name="スライド番号プレースホルダー 20">
            <a:extLst>
              <a:ext uri="{FF2B5EF4-FFF2-40B4-BE49-F238E27FC236}">
                <a16:creationId xmlns:a16="http://schemas.microsoft.com/office/drawing/2014/main" id="{A4C56DBE-C7F1-47F2-A892-C1668535692F}"/>
              </a:ext>
            </a:extLst>
          </p:cNvPr>
          <p:cNvSpPr>
            <a:spLocks noGrp="1"/>
          </p:cNvSpPr>
          <p:nvPr>
            <p:ph type="sldNum" sz="quarter" idx="4"/>
          </p:nvPr>
        </p:nvSpPr>
        <p:spPr>
          <a:xfrm>
            <a:off x="11885644" y="6687666"/>
            <a:ext cx="306356" cy="170334"/>
          </a:xfrm>
          <a:prstGeom prst="rect">
            <a:avLst/>
          </a:prstGeom>
          <a:solidFill>
            <a:schemeClr val="tx1"/>
          </a:solidFill>
        </p:spPr>
        <p:txBody>
          <a:bodyPr vert="horz" lIns="36000" tIns="36000" rIns="36000" bIns="36000" rtlCol="0" anchor="ctr"/>
          <a:lstStyle>
            <a:lvl1pPr algn="ctr">
              <a:defRPr sz="1100" b="1">
                <a:solidFill>
                  <a:schemeClr val="bg1"/>
                </a:solidFill>
              </a:defRPr>
            </a:lvl1p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369947203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スライド番号プレースホルダー 2">
            <a:extLst>
              <a:ext uri="{FF2B5EF4-FFF2-40B4-BE49-F238E27FC236}">
                <a16:creationId xmlns:a16="http://schemas.microsoft.com/office/drawing/2014/main" id="{D66DF391-5BDC-4F73-BDB5-8F81A7EAAF53}"/>
              </a:ext>
            </a:extLst>
          </p:cNvPr>
          <p:cNvSpPr txBox="1">
            <a:spLocks/>
          </p:cNvSpPr>
          <p:nvPr userDrawn="1"/>
        </p:nvSpPr>
        <p:spPr>
          <a:xfrm>
            <a:off x="11832000" y="6570001"/>
            <a:ext cx="360000" cy="288000"/>
          </a:xfrm>
          <a:prstGeom prst="rect">
            <a:avLst/>
          </a:prstGeom>
          <a:solidFill>
            <a:schemeClr val="tx1"/>
          </a:solidFill>
        </p:spPr>
        <p:txBody>
          <a:bodyPr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80709F25-3440-4B76-B09C-B07F16B95057}" type="slidenum">
              <a:rPr kumimoji="1" lang="ja-JP" altLang="en-US" sz="1050" b="1"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801"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6" name="円柱 15">
            <a:extLst>
              <a:ext uri="{FF2B5EF4-FFF2-40B4-BE49-F238E27FC236}">
                <a16:creationId xmlns:a16="http://schemas.microsoft.com/office/drawing/2014/main" id="{4580238A-4FFF-4D95-97A4-1F68DE6647C6}"/>
              </a:ext>
            </a:extLst>
          </p:cNvPr>
          <p:cNvSpPr/>
          <p:nvPr userDrawn="1"/>
        </p:nvSpPr>
        <p:spPr>
          <a:xfrm rot="5400000">
            <a:off x="5991511" y="-3987650"/>
            <a:ext cx="492066" cy="8648151"/>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19" name="タイトル 1">
            <a:extLst>
              <a:ext uri="{FF2B5EF4-FFF2-40B4-BE49-F238E27FC236}">
                <a16:creationId xmlns:a16="http://schemas.microsoft.com/office/drawing/2014/main" id="{29E2B44E-4187-4FCC-945A-0176A66F2172}"/>
              </a:ext>
            </a:extLst>
          </p:cNvPr>
          <p:cNvSpPr txBox="1">
            <a:spLocks/>
          </p:cNvSpPr>
          <p:nvPr userDrawn="1"/>
        </p:nvSpPr>
        <p:spPr>
          <a:xfrm>
            <a:off x="1524000" y="300046"/>
            <a:ext cx="9144000" cy="473465"/>
          </a:xfrm>
        </p:spPr>
        <p:txBody>
          <a:bodyPr anchor="ctr">
            <a:normAutofit lnSpcReduction="10000"/>
          </a:bodyPr>
          <a:lstStyle>
            <a:lvl1pPr algn="ctr" defTabSz="914400" rtl="0" eaLnBrk="1" latinLnBrk="0" hangingPunct="1">
              <a:lnSpc>
                <a:spcPct val="90000"/>
              </a:lnSpc>
              <a:spcBef>
                <a:spcPct val="0"/>
              </a:spcBef>
              <a:buNone/>
              <a:defRPr kumimoji="1" sz="2800" b="1" kern="1200">
                <a:solidFill>
                  <a:schemeClr val="tx1"/>
                </a:solidFill>
                <a:latin typeface="游ゴシック" panose="020B0400000000000000" pitchFamily="50" charset="-128"/>
                <a:ea typeface="游ゴシック" panose="020B0400000000000000" pitchFamily="50" charset="-128"/>
                <a:cs typeface="+mj-cs"/>
              </a:defRPr>
            </a:lvl1pPr>
          </a:lstStyle>
          <a:p>
            <a:endParaRPr lang="ja-JP" altLang="en-US" dirty="0"/>
          </a:p>
        </p:txBody>
      </p:sp>
      <p:pic>
        <p:nvPicPr>
          <p:cNvPr id="8" name="図 7">
            <a:extLst>
              <a:ext uri="{FF2B5EF4-FFF2-40B4-BE49-F238E27FC236}">
                <a16:creationId xmlns:a16="http://schemas.microsoft.com/office/drawing/2014/main" id="{48DB3EB4-2CD9-4564-9C42-D24AEF35CB63}"/>
              </a:ext>
            </a:extLst>
          </p:cNvPr>
          <p:cNvPicPr>
            <a:picLocks noChangeAspect="1"/>
          </p:cNvPicPr>
          <p:nvPr userDrawn="1"/>
        </p:nvPicPr>
        <p:blipFill>
          <a:blip r:embed="rId7">
            <a:extLst>
              <a:ext uri="{BEBA8EAE-BF5A-486C-A8C5-ECC9F3942E4B}">
                <a14:imgProps xmlns:a14="http://schemas.microsoft.com/office/drawing/2010/main">
                  <a14:imgLayer r:embed="rId8">
                    <a14:imgEffect>
                      <a14:backgroundRemoval t="4488" b="98205" l="5526" r="90196">
                        <a14:foregroundMark x1="50089" y1="11670" x2="9091" y2="25314"/>
                        <a14:foregroundMark x1="46881" y1="5386" x2="12656" y2="12567"/>
                        <a14:foregroundMark x1="12656" y1="12567" x2="8253" y2="16226"/>
                        <a14:foregroundMark x1="6904" y1="38082" x2="6883" y2="40036"/>
                        <a14:foregroundMark x1="7064" y1="22920" x2="7027" y2="26412"/>
                        <a14:foregroundMark x1="15013" y1="67680" x2="15865" y2="69479"/>
                        <a14:foregroundMark x1="12699" y1="62790" x2="12887" y2="63186"/>
                        <a14:foregroundMark x1="9450" y1="55923" x2="11795" y2="60879"/>
                        <a14:foregroundMark x1="15508" y1="72531" x2="8378" y2="74686"/>
                        <a14:foregroundMark x1="8378" y1="75045" x2="15865" y2="82226"/>
                        <a14:foregroundMark x1="15865" y1="82226" x2="47594" y2="92460"/>
                        <a14:foregroundMark x1="47594" y1="92460" x2="57932" y2="93537"/>
                        <a14:foregroundMark x1="68767" y1="91655" x2="71555" y2="91171"/>
                        <a14:foregroundMark x1="57932" y1="93537" x2="68630" y2="91679"/>
                        <a14:foregroundMark x1="65241" y1="65709" x2="53364" y2="96640"/>
                        <a14:foregroundMark x1="72014" y1="44345" x2="56863" y2="57989"/>
                        <a14:foregroundMark x1="56863" y1="57989" x2="47772" y2="59066"/>
                        <a14:foregroundMark x1="47772" y1="59066" x2="32442" y2="34650"/>
                        <a14:foregroundMark x1="32442" y1="34650" x2="24242" y2="29084"/>
                        <a14:foregroundMark x1="24242" y1="29084" x2="23529" y2="17415"/>
                        <a14:foregroundMark x1="18717" y1="27648" x2="26381" y2="34650"/>
                        <a14:foregroundMark x1="26381" y1="34650" x2="26381" y2="34650"/>
                        <a14:foregroundMark x1="21569" y1="21544" x2="27986" y2="14542"/>
                        <a14:foregroundMark x1="27986" y1="14542" x2="57398" y2="10772"/>
                        <a14:foregroundMark x1="57398" y1="10772" x2="68093" y2="12029"/>
                        <a14:foregroundMark x1="68093" y1="12029" x2="75045" y2="15081"/>
                        <a14:foregroundMark x1="29947" y1="9156" x2="29947" y2="9156"/>
                        <a14:foregroundMark x1="26381" y1="7361" x2="49020" y2="5386"/>
                        <a14:foregroundMark x1="49020" y1="5386" x2="63102" y2="6463"/>
                        <a14:foregroundMark x1="85383" y1="15081" x2="90018" y2="24057"/>
                        <a14:foregroundMark x1="90018" y1="24057" x2="85027" y2="56912"/>
                        <a14:foregroundMark x1="88057" y1="74147" x2="90374" y2="73968"/>
                        <a14:foregroundMark x1="6826" y1="21544" x2="6952" y2="23698"/>
                        <a14:foregroundMark x1="7436" y1="43192" x2="8200" y2="47935"/>
                        <a14:foregroundMark x1="8913" y1="54219" x2="9626" y2="57092"/>
                        <a14:foregroundMark x1="8749" y1="42370" x2="9804" y2="57451"/>
                        <a14:foregroundMark x1="8451" y1="38106" x2="8586" y2="40036"/>
                        <a14:foregroundMark x1="7291" y1="21544" x2="7633" y2="26421"/>
                        <a14:foregroundMark x1="6975" y1="17027" x2="7165" y2="19749"/>
                        <a14:foregroundMark x1="9804" y1="57451" x2="10770" y2="60715"/>
                        <a14:foregroundMark x1="13530" y1="68348" x2="16221" y2="70916"/>
                        <a14:foregroundMark x1="13109" y1="61793" x2="8378" y2="47756"/>
                        <a14:foregroundMark x1="13487" y1="62915" x2="13130" y2="61857"/>
                        <a14:foregroundMark x1="9271" y1="40678" x2="11196" y2="60440"/>
                        <a14:foregroundMark x1="8914" y1="37013" x2="9208" y2="40036"/>
                        <a14:foregroundMark x1="7407" y1="21544" x2="7882" y2="26425"/>
                        <a14:foregroundMark x1="6952" y1="16876" x2="7232" y2="19749"/>
                        <a14:foregroundMark x1="8913" y1="77020" x2="11078" y2="80563"/>
                        <a14:foregroundMark x1="27389" y1="92803" x2="56205" y2="96276"/>
                        <a14:foregroundMark x1="86186" y1="81871" x2="88948" y2="74865"/>
                        <a14:foregroundMark x1="8221" y1="17015" x2="28699" y2="9515"/>
                        <a14:foregroundMark x1="7130" y1="17415" x2="7439" y2="17302"/>
                        <a14:foregroundMark x1="8065" y1="16923" x2="34759" y2="5925"/>
                        <a14:foregroundMark x1="34759" y1="5925" x2="44742" y2="4488"/>
                        <a14:foregroundMark x1="44742" y1="4488" x2="45098" y2="4488"/>
                        <a14:foregroundMark x1="60428" y1="4488" x2="52050" y2="4488"/>
                        <a14:foregroundMark x1="55971" y1="4847" x2="87879" y2="14542"/>
                        <a14:foregroundMark x1="87879" y1="14542" x2="88592" y2="14901"/>
                        <a14:foregroundMark x1="7923" y1="21544" x2="8274" y2="26431"/>
                        <a14:foregroundMark x1="7665" y1="17953" x2="7794" y2="19749"/>
                        <a14:foregroundMark x1="9804" y1="49192" x2="15686" y2="64452"/>
                        <a14:foregroundMark x1="69715" y1="93155" x2="68984" y2="93537"/>
                        <a14:foregroundMark x1="78253" y1="88689" x2="70384" y2="92805"/>
                        <a14:foregroundMark x1="69994" y1="93597" x2="68093" y2="94075"/>
                        <a14:foregroundMark x1="68984" y1="93716" x2="66667" y2="94434"/>
                        <a14:foregroundMark x1="7651" y1="42370" x2="8021" y2="50269"/>
                        <a14:foregroundMark x1="7428" y1="37614" x2="7541" y2="40036"/>
                        <a14:foregroundMark x1="7130" y1="31239" x2="7256" y2="33939"/>
                        <a14:foregroundMark x1="8021" y1="50269" x2="9091" y2="53142"/>
                        <a14:foregroundMark x1="7679" y1="42370" x2="7665" y2="42729"/>
                        <a14:foregroundMark x1="7867" y1="37637" x2="7772" y2="40036"/>
                        <a14:foregroundMark x1="7665" y1="42729" x2="7665" y2="42729"/>
                        <a14:foregroundMark x1="8083" y1="42370" x2="9982" y2="53321"/>
                        <a14:foregroundMark x1="7256" y1="37605" x2="7678" y2="40036"/>
                        <a14:foregroundMark x1="7389" y1="42370" x2="8378" y2="52424"/>
                        <a14:foregroundMark x1="6852" y1="36907" x2="7160" y2="40036"/>
                        <a14:backgroundMark x1="1604" y1="40754" x2="4278" y2="50987"/>
                        <a14:backgroundMark x1="4278" y1="50987" x2="5299" y2="52092"/>
                        <a14:backgroundMark x1="5704" y1="16338" x2="5723" y2="16784"/>
                        <a14:backgroundMark x1="52228" y1="98564" x2="52423" y2="98542"/>
                        <a14:backgroundMark x1="10873" y1="64093" x2="13012" y2="68582"/>
                        <a14:backgroundMark x1="8913" y1="62478" x2="10873" y2="63914"/>
                        <a14:backgroundMark x1="10695" y1="63734" x2="11052" y2="64093"/>
                        <a14:backgroundMark x1="12121" y1="67504" x2="13369" y2="68223"/>
                        <a14:backgroundMark x1="11052" y1="82226" x2="17291" y2="89587"/>
                        <a14:backgroundMark x1="17291" y1="89587" x2="24242" y2="92998"/>
                        <a14:backgroundMark x1="10695" y1="80790" x2="11765" y2="82406"/>
                        <a14:backgroundMark x1="23173" y1="91741" x2="26916" y2="93357"/>
                        <a14:backgroundMark x1="55080" y1="98205" x2="64528" y2="96948"/>
                        <a14:backgroundMark x1="78844" y1="89338" x2="83779" y2="86715"/>
                        <a14:backgroundMark x1="64528" y1="96948" x2="67426" y2="95408"/>
                        <a14:backgroundMark x1="83779" y1="86715" x2="86631" y2="83303"/>
                        <a14:backgroundMark x1="70792" y1="96034" x2="75045" y2="93178"/>
                        <a14:backgroundMark x1="67558" y1="98205" x2="70506" y2="96226"/>
                        <a14:backgroundMark x1="64349" y1="98205" x2="70766" y2="96768"/>
                        <a14:backgroundMark x1="86988" y1="82765" x2="86275" y2="83124"/>
                        <a14:backgroundMark x1="71301" y1="94255" x2="70410" y2="94255"/>
                        <a14:backgroundMark x1="6774" y1="16158" x2="6417" y2="16697"/>
                        <a14:backgroundMark x1="6239" y1="19749" x2="6239" y2="21544"/>
                        <a14:backgroundMark x1="5526" y1="30162" x2="5640" y2="31310"/>
                        <a14:backgroundMark x1="5882" y1="30880" x2="5882" y2="31298"/>
                        <a14:backgroundMark x1="5704" y1="26391" x2="5629" y2="31310"/>
                        <a14:backgroundMark x1="29590" y1="29982" x2="29590" y2="29982"/>
                        <a14:backgroundMark x1="5882" y1="34111" x2="5704" y2="37522"/>
                        <a14:backgroundMark x1="5882" y1="34111" x2="6239" y2="36984"/>
                        <a14:backgroundMark x1="6239" y1="40036" x2="6239" y2="42370"/>
                      </a14:backgroundRemoval>
                    </a14:imgEffect>
                  </a14:imgLayer>
                </a14:imgProps>
              </a:ext>
            </a:extLst>
          </a:blip>
          <a:stretch>
            <a:fillRect/>
          </a:stretch>
        </p:blipFill>
        <p:spPr>
          <a:xfrm>
            <a:off x="117195" y="3713"/>
            <a:ext cx="670205" cy="665426"/>
          </a:xfrm>
          <a:prstGeom prst="rect">
            <a:avLst/>
          </a:prstGeom>
        </p:spPr>
      </p:pic>
    </p:spTree>
    <p:extLst>
      <p:ext uri="{BB962C8B-B14F-4D97-AF65-F5344CB8AC3E}">
        <p14:creationId xmlns:p14="http://schemas.microsoft.com/office/powerpoint/2010/main" val="421837678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グループ化 7">
            <a:extLst>
              <a:ext uri="{FF2B5EF4-FFF2-40B4-BE49-F238E27FC236}">
                <a16:creationId xmlns:a16="http://schemas.microsoft.com/office/drawing/2014/main" id="{232A3F7F-5FE5-4E20-AB7B-B38159EFF8D7}"/>
              </a:ext>
            </a:extLst>
          </p:cNvPr>
          <p:cNvGrpSpPr/>
          <p:nvPr/>
        </p:nvGrpSpPr>
        <p:grpSpPr>
          <a:xfrm>
            <a:off x="11114293" y="94912"/>
            <a:ext cx="984945" cy="547330"/>
            <a:chOff x="10762108" y="88735"/>
            <a:chExt cx="1183082" cy="729773"/>
          </a:xfrm>
        </p:grpSpPr>
        <p:sp>
          <p:nvSpPr>
            <p:cNvPr id="9" name="正方形/長方形 8">
              <a:extLst>
                <a:ext uri="{FF2B5EF4-FFF2-40B4-BE49-F238E27FC236}">
                  <a16:creationId xmlns:a16="http://schemas.microsoft.com/office/drawing/2014/main" id="{9CBF08CD-3160-411F-82BF-1216E7F1E340}"/>
                </a:ext>
              </a:extLst>
            </p:cNvPr>
            <p:cNvSpPr/>
            <p:nvPr userDrawn="1"/>
          </p:nvSpPr>
          <p:spPr>
            <a:xfrm>
              <a:off x="10762416" y="88735"/>
              <a:ext cx="1182774" cy="36892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0000"/>
                  </a:solidFill>
                  <a:effectLst/>
                  <a:uLnTx/>
                  <a:uFillTx/>
                  <a:latin typeface="游ゴシック" panose="020B0400000000000000" pitchFamily="50" charset="-128"/>
                  <a:ea typeface="游ゴシック" panose="020B0400000000000000" pitchFamily="50" charset="-128"/>
                  <a:cs typeface="+mn-cs"/>
                </a:rPr>
                <a:t>対外厳秘</a:t>
              </a:r>
            </a:p>
          </p:txBody>
        </p:sp>
        <p:sp>
          <p:nvSpPr>
            <p:cNvPr id="10" name="正方形/長方形 9">
              <a:extLst>
                <a:ext uri="{FF2B5EF4-FFF2-40B4-BE49-F238E27FC236}">
                  <a16:creationId xmlns:a16="http://schemas.microsoft.com/office/drawing/2014/main" id="{ACD6C19A-4207-470C-ACAF-51C1210E290B}"/>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675" dirty="0">
                  <a:solidFill>
                    <a:prstClr val="white"/>
                  </a:solidFill>
                  <a:latin typeface="游ゴシック" panose="020B0400000000000000" pitchFamily="50" charset="-128"/>
                  <a:ea typeface="游ゴシック" panose="020B0400000000000000" pitchFamily="50" charset="-128"/>
                </a:rPr>
                <a:t>隊本部及び</a:t>
              </a:r>
              <a:r>
                <a:rPr lang="en-US" altLang="ja-JP" sz="675" dirty="0">
                  <a:solidFill>
                    <a:prstClr val="white"/>
                  </a:solidFill>
                  <a:latin typeface="游ゴシック" panose="020B0400000000000000" pitchFamily="50" charset="-128"/>
                  <a:ea typeface="游ゴシック" panose="020B0400000000000000" pitchFamily="50" charset="-128"/>
                </a:rPr>
                <a: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75" b="0" i="0" u="none" strike="noStrike" kern="120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cs typeface="+mn-cs"/>
                </a:rPr>
                <a:t>に限定</a:t>
              </a:r>
            </a:p>
          </p:txBody>
        </p:sp>
      </p:grpSp>
      <p:sp>
        <p:nvSpPr>
          <p:cNvPr id="15" name="正方形/長方形 14">
            <a:extLst>
              <a:ext uri="{FF2B5EF4-FFF2-40B4-BE49-F238E27FC236}">
                <a16:creationId xmlns:a16="http://schemas.microsoft.com/office/drawing/2014/main" id="{AC9B0570-3F9A-437C-8EF8-44857529BEDC}"/>
              </a:ext>
            </a:extLst>
          </p:cNvPr>
          <p:cNvSpPr/>
          <p:nvPr/>
        </p:nvSpPr>
        <p:spPr>
          <a:xfrm>
            <a:off x="2104946" y="2501493"/>
            <a:ext cx="8360229" cy="9233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5400" b="1" dirty="0">
                <a:solidFill>
                  <a:srgbClr val="0000FF"/>
                </a:solidFill>
                <a:effectLst>
                  <a:glow rad="127000">
                    <a:prstClr val="white"/>
                  </a:glow>
                  <a:outerShdw blurRad="38100" dist="38100" dir="2700000" algn="tl">
                    <a:srgbClr val="000000">
                      <a:alpha val="43137"/>
                    </a:srgbClr>
                  </a:outerShdw>
                </a:effectLst>
                <a:latin typeface="HGｺﾞｼｯｸM" panose="020B0609000000000000" pitchFamily="49" charset="-128"/>
                <a:ea typeface="HGｺﾞｼｯｸM" panose="020B0609000000000000" pitchFamily="49" charset="-128"/>
              </a:rPr>
              <a:t>FADP Threat Hunting</a:t>
            </a:r>
          </a:p>
        </p:txBody>
      </p:sp>
      <p:sp>
        <p:nvSpPr>
          <p:cNvPr id="16" name="サブタイトル 170">
            <a:extLst>
              <a:ext uri="{FF2B5EF4-FFF2-40B4-BE49-F238E27FC236}">
                <a16:creationId xmlns:a16="http://schemas.microsoft.com/office/drawing/2014/main" id="{DFA03429-60D7-4428-AA7E-9536A0AEDB13}"/>
              </a:ext>
            </a:extLst>
          </p:cNvPr>
          <p:cNvSpPr txBox="1">
            <a:spLocks/>
          </p:cNvSpPr>
          <p:nvPr/>
        </p:nvSpPr>
        <p:spPr>
          <a:xfrm>
            <a:off x="3666981" y="5317913"/>
            <a:ext cx="4858038" cy="983346"/>
          </a:xfrm>
          <a:prstGeom prst="rect">
            <a:avLst/>
          </a:prstGeom>
        </p:spPr>
        <p:txBody>
          <a:bodyPr vert="horz" wrap="square" lIns="68580" tIns="34290" rIns="68580" bIns="34290" rtlCol="0">
            <a:spAutoFit/>
          </a:bodyPr>
          <a:lstStyle/>
          <a:p>
            <a:pPr algn="ctr">
              <a:spcBef>
                <a:spcPct val="20000"/>
              </a:spcBef>
              <a:defRPr/>
            </a:pPr>
            <a:r>
              <a:rPr lang="ja-JP" altLang="en-US" sz="2700" b="1" dirty="0">
                <a:latin typeface="ＭＳ ゴシック" panose="020B0609070205080204" pitchFamily="49" charset="-128"/>
                <a:ea typeface="ＭＳ ゴシック" panose="020B0609070205080204" pitchFamily="49" charset="-128"/>
              </a:rPr>
              <a:t>令和７年１０月３日</a:t>
            </a:r>
            <a:endParaRPr lang="en-US" altLang="ja-JP" sz="2700" b="1" dirty="0">
              <a:latin typeface="ＭＳ ゴシック" panose="020B0609070205080204" pitchFamily="49" charset="-128"/>
              <a:ea typeface="ＭＳ ゴシック" panose="020B0609070205080204" pitchFamily="49" charset="-128"/>
            </a:endParaRPr>
          </a:p>
          <a:p>
            <a:pPr algn="ctr">
              <a:spcBef>
                <a:spcPct val="20000"/>
              </a:spcBef>
              <a:defRPr/>
            </a:pPr>
            <a:r>
              <a:rPr lang="ja-JP" altLang="en-US" sz="2700" b="1" dirty="0">
                <a:latin typeface="ＭＳ ゴシック" panose="020B0609070205080204" pitchFamily="49" charset="-128"/>
                <a:ea typeface="ＭＳ ゴシック" panose="020B0609070205080204" pitchFamily="49" charset="-128"/>
              </a:rPr>
              <a:t>ＩＣＳ ＣＰＴ１班</a:t>
            </a:r>
            <a:endParaRPr lang="en-US" altLang="ja-JP" sz="2700" b="1" dirty="0">
              <a:latin typeface="ＭＳ ゴシック" panose="020B0609070205080204" pitchFamily="49" charset="-128"/>
              <a:ea typeface="ＭＳ ゴシック" panose="020B0609070205080204" pitchFamily="49" charset="-128"/>
            </a:endParaRPr>
          </a:p>
        </p:txBody>
      </p:sp>
      <p:sp>
        <p:nvSpPr>
          <p:cNvPr id="20" name="正方形/長方形 19">
            <a:extLst>
              <a:ext uri="{FF2B5EF4-FFF2-40B4-BE49-F238E27FC236}">
                <a16:creationId xmlns:a16="http://schemas.microsoft.com/office/drawing/2014/main" id="{B2CF0D0E-522D-4B26-8603-3CF448556F78}"/>
              </a:ext>
            </a:extLst>
          </p:cNvPr>
          <p:cNvSpPr/>
          <p:nvPr/>
        </p:nvSpPr>
        <p:spPr>
          <a:xfrm>
            <a:off x="3666981" y="3983830"/>
            <a:ext cx="5359698" cy="666019"/>
          </a:xfrm>
          <a:prstGeom prst="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dirty="0">
                <a:solidFill>
                  <a:schemeClr val="tx1"/>
                </a:solidFill>
                <a:latin typeface="ＭＳ ゴシック" panose="020B0609070205080204" pitchFamily="49" charset="-128"/>
                <a:ea typeface="ＭＳ ゴシック" panose="020B0609070205080204" pitchFamily="49" charset="-128"/>
              </a:rPr>
              <a:t>【</a:t>
            </a:r>
            <a:r>
              <a:rPr kumimoji="1" lang="ja-JP" altLang="en-US" dirty="0">
                <a:solidFill>
                  <a:schemeClr val="tx1"/>
                </a:solidFill>
                <a:latin typeface="ＭＳ ゴシック" panose="020B0609070205080204" pitchFamily="49" charset="-128"/>
                <a:ea typeface="ＭＳ ゴシック" panose="020B0609070205080204" pitchFamily="49" charset="-128"/>
              </a:rPr>
              <a:t>趣　旨</a:t>
            </a:r>
            <a:r>
              <a:rPr kumimoji="1" lang="en-US" altLang="ja-JP" dirty="0">
                <a:solidFill>
                  <a:schemeClr val="tx1"/>
                </a:solidFill>
                <a:latin typeface="ＭＳ ゴシック" panose="020B0609070205080204" pitchFamily="49" charset="-128"/>
                <a:ea typeface="ＭＳ ゴシック" panose="020B0609070205080204" pitchFamily="49" charset="-128"/>
              </a:rPr>
              <a:t>】</a:t>
            </a:r>
          </a:p>
          <a:p>
            <a:r>
              <a:rPr lang="en-US" altLang="ja-JP" dirty="0">
                <a:solidFill>
                  <a:schemeClr val="tx1"/>
                </a:solidFill>
                <a:latin typeface="ＭＳ ゴシック" panose="020B0609070205080204" pitchFamily="49" charset="-128"/>
                <a:ea typeface="ＭＳ ゴシック" panose="020B0609070205080204" pitchFamily="49" charset="-128"/>
              </a:rPr>
              <a:t>FADP</a:t>
            </a:r>
            <a:r>
              <a:rPr lang="ja-JP" altLang="en-US" dirty="0">
                <a:solidFill>
                  <a:schemeClr val="tx1"/>
                </a:solidFill>
                <a:latin typeface="ＭＳ ゴシック" panose="020B0609070205080204" pitchFamily="49" charset="-128"/>
                <a:ea typeface="ＭＳ ゴシック" panose="020B0609070205080204" pitchFamily="49" charset="-128"/>
              </a:rPr>
              <a:t>スレットハンティングに資する仮説の構築</a:t>
            </a:r>
            <a:endParaRPr lang="en-US" altLang="ja-JP" dirty="0">
              <a:solidFill>
                <a:schemeClr val="tx1"/>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131571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36A42D-5281-4292-A051-DDD562AF2186}"/>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en-US" altLang="ja-JP" sz="2800" dirty="0">
                <a:latin typeface="ＭＳ ゴシック" panose="020B0609070205080204" pitchFamily="49" charset="-128"/>
                <a:ea typeface="ＭＳ ゴシック" panose="020B0609070205080204" pitchFamily="49" charset="-128"/>
              </a:rPr>
              <a:t>FADP</a:t>
            </a:r>
            <a:r>
              <a:rPr lang="ja-JP" altLang="en-US" sz="2800" dirty="0">
                <a:latin typeface="ＭＳ ゴシック" panose="020B0609070205080204" pitchFamily="49" charset="-128"/>
                <a:ea typeface="ＭＳ ゴシック" panose="020B0609070205080204" pitchFamily="49" charset="-128"/>
              </a:rPr>
              <a:t>スレットハンティングのための仮説構築</a:t>
            </a:r>
          </a:p>
        </p:txBody>
      </p:sp>
      <p:graphicFrame>
        <p:nvGraphicFramePr>
          <p:cNvPr id="3" name="表 2">
            <a:extLst>
              <a:ext uri="{FF2B5EF4-FFF2-40B4-BE49-F238E27FC236}">
                <a16:creationId xmlns:a16="http://schemas.microsoft.com/office/drawing/2014/main" id="{126580C8-0AF8-4267-ABCD-7DCE195B5785}"/>
              </a:ext>
            </a:extLst>
          </p:cNvPr>
          <p:cNvGraphicFramePr>
            <a:graphicFrameLocks noGrp="1"/>
          </p:cNvGraphicFramePr>
          <p:nvPr>
            <p:extLst>
              <p:ext uri="{D42A27DB-BD31-4B8C-83A1-F6EECF244321}">
                <p14:modId xmlns:p14="http://schemas.microsoft.com/office/powerpoint/2010/main" val="4028077915"/>
              </p:ext>
            </p:extLst>
          </p:nvPr>
        </p:nvGraphicFramePr>
        <p:xfrm>
          <a:off x="400830" y="1210633"/>
          <a:ext cx="11390342" cy="539058"/>
        </p:xfrm>
        <a:graphic>
          <a:graphicData uri="http://schemas.openxmlformats.org/drawingml/2006/table">
            <a:tbl>
              <a:tblPr firstRow="1" bandRow="1">
                <a:tableStyleId>{5C22544A-7EE6-4342-B048-85BDC9FD1C3A}</a:tableStyleId>
              </a:tblPr>
              <a:tblGrid>
                <a:gridCol w="1341316">
                  <a:extLst>
                    <a:ext uri="{9D8B030D-6E8A-4147-A177-3AD203B41FA5}">
                      <a16:colId xmlns:a16="http://schemas.microsoft.com/office/drawing/2014/main" val="2583059967"/>
                    </a:ext>
                  </a:extLst>
                </a:gridCol>
                <a:gridCol w="10049026">
                  <a:extLst>
                    <a:ext uri="{9D8B030D-6E8A-4147-A177-3AD203B41FA5}">
                      <a16:colId xmlns:a16="http://schemas.microsoft.com/office/drawing/2014/main" val="3957037575"/>
                    </a:ext>
                  </a:extLst>
                </a:gridCol>
              </a:tblGrid>
              <a:tr h="539058">
                <a:tc>
                  <a:txBody>
                    <a:bodyPr/>
                    <a:lstStyle/>
                    <a:p>
                      <a:pPr algn="ctr"/>
                      <a:r>
                        <a:rPr kumimoji="1" lang="ja-JP" altLang="en-US" sz="2000" b="0" dirty="0">
                          <a:solidFill>
                            <a:schemeClr val="tx1"/>
                          </a:solidFill>
                          <a:latin typeface="ＭＳ ゴシック" panose="020B0609070205080204" pitchFamily="49" charset="-128"/>
                          <a:ea typeface="ＭＳ ゴシック" panose="020B0609070205080204" pitchFamily="49" charset="-128"/>
                        </a:rPr>
                        <a:t>趣　旨</a:t>
                      </a:r>
                      <a:endParaRPr kumimoji="1" lang="en-US" altLang="ja-JP" sz="2000" b="0" dirty="0">
                        <a:solidFill>
                          <a:schemeClr val="tx1"/>
                        </a:solidFill>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180975" marR="0" lvl="0" indent="-180975" algn="l" defTabSz="914400" rtl="0" eaLnBrk="1" fontAlgn="auto" latinLnBrk="0" hangingPunct="1">
                        <a:lnSpc>
                          <a:spcPct val="100000"/>
                        </a:lnSpc>
                        <a:spcBef>
                          <a:spcPts val="0"/>
                        </a:spcBef>
                        <a:spcAft>
                          <a:spcPts val="0"/>
                        </a:spcAft>
                        <a:buClrTx/>
                        <a:buSzTx/>
                        <a:buFontTx/>
                        <a:buNone/>
                        <a:tabLst/>
                        <a:defRPr/>
                      </a:pPr>
                      <a:r>
                        <a:rPr kumimoji="1" lang="ja-JP" altLang="en-US" sz="1600" b="0" dirty="0">
                          <a:solidFill>
                            <a:schemeClr val="tx1"/>
                          </a:solidFill>
                          <a:latin typeface="ＭＳ ゴシック" panose="020B0609070205080204" pitchFamily="49" charset="-128"/>
                          <a:ea typeface="ＭＳ ゴシック" panose="020B0609070205080204" pitchFamily="49" charset="-128"/>
                        </a:rPr>
                        <a:t>　</a:t>
                      </a:r>
                      <a:r>
                        <a:rPr lang="en-US" altLang="ja-JP" b="0" dirty="0">
                          <a:solidFill>
                            <a:schemeClr val="tx1"/>
                          </a:solidFill>
                          <a:latin typeface="ＭＳ ゴシック" panose="020B0609070205080204" pitchFamily="49" charset="-128"/>
                          <a:ea typeface="ＭＳ ゴシック" panose="020B0609070205080204" pitchFamily="49" charset="-128"/>
                        </a:rPr>
                        <a:t>FADP</a:t>
                      </a:r>
                      <a:r>
                        <a:rPr lang="ja-JP" altLang="en-US" b="0" dirty="0">
                          <a:solidFill>
                            <a:schemeClr val="tx1"/>
                          </a:solidFill>
                          <a:latin typeface="ＭＳ ゴシック" panose="020B0609070205080204" pitchFamily="49" charset="-128"/>
                          <a:ea typeface="ＭＳ ゴシック" panose="020B0609070205080204" pitchFamily="49" charset="-128"/>
                        </a:rPr>
                        <a:t>スレットハンティングに資する仮説の構築</a:t>
                      </a:r>
                      <a:endParaRPr lang="en-US" altLang="ja-JP" b="0" dirty="0">
                        <a:solidFill>
                          <a:schemeClr val="tx1"/>
                        </a:solidFill>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9145100"/>
                  </a:ext>
                </a:extLst>
              </a:tr>
            </a:tbl>
          </a:graphicData>
        </a:graphic>
      </p:graphicFrame>
      <p:graphicFrame>
        <p:nvGraphicFramePr>
          <p:cNvPr id="4" name="表 3">
            <a:extLst>
              <a:ext uri="{FF2B5EF4-FFF2-40B4-BE49-F238E27FC236}">
                <a16:creationId xmlns:a16="http://schemas.microsoft.com/office/drawing/2014/main" id="{2AA1E7C2-EEA4-4FB9-9C23-3B014EDF824E}"/>
              </a:ext>
            </a:extLst>
          </p:cNvPr>
          <p:cNvGraphicFramePr>
            <a:graphicFrameLocks noGrp="1"/>
          </p:cNvGraphicFramePr>
          <p:nvPr>
            <p:extLst>
              <p:ext uri="{D42A27DB-BD31-4B8C-83A1-F6EECF244321}">
                <p14:modId xmlns:p14="http://schemas.microsoft.com/office/powerpoint/2010/main" val="1232100516"/>
              </p:ext>
            </p:extLst>
          </p:nvPr>
        </p:nvGraphicFramePr>
        <p:xfrm>
          <a:off x="400829" y="1950671"/>
          <a:ext cx="11390341" cy="3963567"/>
        </p:xfrm>
        <a:graphic>
          <a:graphicData uri="http://schemas.openxmlformats.org/drawingml/2006/table">
            <a:tbl>
              <a:tblPr firstRow="1" bandRow="1"/>
              <a:tblGrid>
                <a:gridCol w="1342646">
                  <a:extLst>
                    <a:ext uri="{9D8B030D-6E8A-4147-A177-3AD203B41FA5}">
                      <a16:colId xmlns:a16="http://schemas.microsoft.com/office/drawing/2014/main" val="3269826848"/>
                    </a:ext>
                  </a:extLst>
                </a:gridCol>
                <a:gridCol w="10047695">
                  <a:extLst>
                    <a:ext uri="{9D8B030D-6E8A-4147-A177-3AD203B41FA5}">
                      <a16:colId xmlns:a16="http://schemas.microsoft.com/office/drawing/2014/main" val="2929057564"/>
                    </a:ext>
                  </a:extLst>
                </a:gridCol>
              </a:tblGrid>
              <a:tr h="397192">
                <a:tc>
                  <a:txBody>
                    <a:bodyPr/>
                    <a:lstStyle>
                      <a:lvl1pPr marL="0" algn="l" defTabSz="514350" rtl="0" eaLnBrk="1" latinLnBrk="0" hangingPunct="1">
                        <a:defRPr kumimoji="1" sz="1013" kern="1200">
                          <a:solidFill>
                            <a:schemeClr val="dk1"/>
                          </a:solidFill>
                          <a:latin typeface="Calibri" panose="020F0502020204030204"/>
                        </a:defRPr>
                      </a:lvl1pPr>
                      <a:lvl2pPr marL="257175" algn="l" defTabSz="514350" rtl="0" eaLnBrk="1" latinLnBrk="0" hangingPunct="1">
                        <a:defRPr kumimoji="1" sz="1013" kern="1200">
                          <a:solidFill>
                            <a:schemeClr val="dk1"/>
                          </a:solidFill>
                          <a:latin typeface="Calibri" panose="020F0502020204030204"/>
                        </a:defRPr>
                      </a:lvl2pPr>
                      <a:lvl3pPr marL="514350" algn="l" defTabSz="514350" rtl="0" eaLnBrk="1" latinLnBrk="0" hangingPunct="1">
                        <a:defRPr kumimoji="1" sz="1013" kern="1200">
                          <a:solidFill>
                            <a:schemeClr val="dk1"/>
                          </a:solidFill>
                          <a:latin typeface="Calibri" panose="020F0502020204030204"/>
                        </a:defRPr>
                      </a:lvl3pPr>
                      <a:lvl4pPr marL="771525" algn="l" defTabSz="514350" rtl="0" eaLnBrk="1" latinLnBrk="0" hangingPunct="1">
                        <a:defRPr kumimoji="1" sz="1013" kern="1200">
                          <a:solidFill>
                            <a:schemeClr val="dk1"/>
                          </a:solidFill>
                          <a:latin typeface="Calibri" panose="020F0502020204030204"/>
                        </a:defRPr>
                      </a:lvl4pPr>
                      <a:lvl5pPr marL="1028700" algn="l" defTabSz="514350" rtl="0" eaLnBrk="1" latinLnBrk="0" hangingPunct="1">
                        <a:defRPr kumimoji="1" sz="1013" kern="1200">
                          <a:solidFill>
                            <a:schemeClr val="dk1"/>
                          </a:solidFill>
                          <a:latin typeface="Calibri" panose="020F0502020204030204"/>
                        </a:defRPr>
                      </a:lvl5pPr>
                      <a:lvl6pPr marL="1285875" algn="l" defTabSz="514350" rtl="0" eaLnBrk="1" latinLnBrk="0" hangingPunct="1">
                        <a:defRPr kumimoji="1" sz="1013" kern="1200">
                          <a:solidFill>
                            <a:schemeClr val="dk1"/>
                          </a:solidFill>
                          <a:latin typeface="Calibri" panose="020F0502020204030204"/>
                        </a:defRPr>
                      </a:lvl6pPr>
                      <a:lvl7pPr marL="1543050" algn="l" defTabSz="514350" rtl="0" eaLnBrk="1" latinLnBrk="0" hangingPunct="1">
                        <a:defRPr kumimoji="1" sz="1013" kern="1200">
                          <a:solidFill>
                            <a:schemeClr val="dk1"/>
                          </a:solidFill>
                          <a:latin typeface="Calibri" panose="020F0502020204030204"/>
                        </a:defRPr>
                      </a:lvl7pPr>
                      <a:lvl8pPr marL="1800225" algn="l" defTabSz="514350" rtl="0" eaLnBrk="1" latinLnBrk="0" hangingPunct="1">
                        <a:defRPr kumimoji="1" sz="1013" kern="1200">
                          <a:solidFill>
                            <a:schemeClr val="dk1"/>
                          </a:solidFill>
                          <a:latin typeface="Calibri" panose="020F0502020204030204"/>
                        </a:defRPr>
                      </a:lvl8pPr>
                      <a:lvl9pPr marL="2057400" algn="l" defTabSz="514350" rtl="0" eaLnBrk="1" latinLnBrk="0" hangingPunct="1">
                        <a:defRPr kumimoji="1" sz="1013" kern="1200">
                          <a:solidFill>
                            <a:schemeClr val="dk1"/>
                          </a:solidFill>
                          <a:latin typeface="Calibri" panose="020F0502020204030204"/>
                        </a:defRPr>
                      </a:lvl9pPr>
                    </a:lstStyle>
                    <a:p>
                      <a:pPr algn="ctr"/>
                      <a:r>
                        <a:rPr kumimoji="1" lang="ja-JP" altLang="en-US" sz="2000" b="0" dirty="0">
                          <a:latin typeface="ＭＳ ゴシック" panose="020B0609070205080204" pitchFamily="49" charset="-128"/>
                          <a:ea typeface="ＭＳ ゴシック" panose="020B0609070205080204" pitchFamily="49" charset="-128"/>
                        </a:rPr>
                        <a:t>背　景</a:t>
                      </a:r>
                      <a:endParaRPr kumimoji="1" lang="en-US" altLang="ja-JP" sz="2000" b="0" dirty="0">
                        <a:latin typeface="ＭＳ ゴシック" panose="020B0609070205080204" pitchFamily="49" charset="-128"/>
                        <a:ea typeface="ＭＳ ゴシック" panose="020B0609070205080204" pitchFamily="49"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lvl1pPr marL="0" algn="l" defTabSz="514350" rtl="0" eaLnBrk="1" latinLnBrk="0" hangingPunct="1">
                        <a:defRPr kumimoji="1" sz="1013" kern="1200">
                          <a:solidFill>
                            <a:schemeClr val="dk1"/>
                          </a:solidFill>
                          <a:latin typeface="Calibri" panose="020F0502020204030204"/>
                        </a:defRPr>
                      </a:lvl1pPr>
                      <a:lvl2pPr marL="257175" algn="l" defTabSz="514350" rtl="0" eaLnBrk="1" latinLnBrk="0" hangingPunct="1">
                        <a:defRPr kumimoji="1" sz="1013" kern="1200">
                          <a:solidFill>
                            <a:schemeClr val="dk1"/>
                          </a:solidFill>
                          <a:latin typeface="Calibri" panose="020F0502020204030204"/>
                        </a:defRPr>
                      </a:lvl2pPr>
                      <a:lvl3pPr marL="514350" algn="l" defTabSz="514350" rtl="0" eaLnBrk="1" latinLnBrk="0" hangingPunct="1">
                        <a:defRPr kumimoji="1" sz="1013" kern="1200">
                          <a:solidFill>
                            <a:schemeClr val="dk1"/>
                          </a:solidFill>
                          <a:latin typeface="Calibri" panose="020F0502020204030204"/>
                        </a:defRPr>
                      </a:lvl3pPr>
                      <a:lvl4pPr marL="771525" algn="l" defTabSz="514350" rtl="0" eaLnBrk="1" latinLnBrk="0" hangingPunct="1">
                        <a:defRPr kumimoji="1" sz="1013" kern="1200">
                          <a:solidFill>
                            <a:schemeClr val="dk1"/>
                          </a:solidFill>
                          <a:latin typeface="Calibri" panose="020F0502020204030204"/>
                        </a:defRPr>
                      </a:lvl4pPr>
                      <a:lvl5pPr marL="1028700" algn="l" defTabSz="514350" rtl="0" eaLnBrk="1" latinLnBrk="0" hangingPunct="1">
                        <a:defRPr kumimoji="1" sz="1013" kern="1200">
                          <a:solidFill>
                            <a:schemeClr val="dk1"/>
                          </a:solidFill>
                          <a:latin typeface="Calibri" panose="020F0502020204030204"/>
                        </a:defRPr>
                      </a:lvl5pPr>
                      <a:lvl6pPr marL="1285875" algn="l" defTabSz="514350" rtl="0" eaLnBrk="1" latinLnBrk="0" hangingPunct="1">
                        <a:defRPr kumimoji="1" sz="1013" kern="1200">
                          <a:solidFill>
                            <a:schemeClr val="dk1"/>
                          </a:solidFill>
                          <a:latin typeface="Calibri" panose="020F0502020204030204"/>
                        </a:defRPr>
                      </a:lvl6pPr>
                      <a:lvl7pPr marL="1543050" algn="l" defTabSz="514350" rtl="0" eaLnBrk="1" latinLnBrk="0" hangingPunct="1">
                        <a:defRPr kumimoji="1" sz="1013" kern="1200">
                          <a:solidFill>
                            <a:schemeClr val="dk1"/>
                          </a:solidFill>
                          <a:latin typeface="Calibri" panose="020F0502020204030204"/>
                        </a:defRPr>
                      </a:lvl7pPr>
                      <a:lvl8pPr marL="1800225" algn="l" defTabSz="514350" rtl="0" eaLnBrk="1" latinLnBrk="0" hangingPunct="1">
                        <a:defRPr kumimoji="1" sz="1013" kern="1200">
                          <a:solidFill>
                            <a:schemeClr val="dk1"/>
                          </a:solidFill>
                          <a:latin typeface="Calibri" panose="020F0502020204030204"/>
                        </a:defRPr>
                      </a:lvl8pPr>
                      <a:lvl9pPr marL="2057400" algn="l" defTabSz="514350" rtl="0" eaLnBrk="1" latinLnBrk="0" hangingPunct="1">
                        <a:defRPr kumimoji="1" sz="1013" kern="1200">
                          <a:solidFill>
                            <a:schemeClr val="dk1"/>
                          </a:solidFill>
                          <a:latin typeface="Calibri" panose="020F0502020204030204"/>
                        </a:defRPr>
                      </a:lvl9pPr>
                    </a:lstStyle>
                    <a:p>
                      <a:r>
                        <a:rPr kumimoji="1" lang="ja-JP" altLang="en-US" sz="1800" dirty="0">
                          <a:latin typeface="ＭＳ ゴシック" panose="020B0609070205080204" pitchFamily="49" charset="-128"/>
                          <a:ea typeface="ＭＳ ゴシック" panose="020B0609070205080204" pitchFamily="49" charset="-128"/>
                        </a:rPr>
                        <a:t>〇 </a:t>
                      </a:r>
                      <a:r>
                        <a:rPr kumimoji="1" lang="en-US" altLang="ja-JP" sz="1800" dirty="0">
                          <a:latin typeface="ＭＳ ゴシック" panose="020B0609070205080204" pitchFamily="49" charset="-128"/>
                          <a:ea typeface="ＭＳ ゴシック" panose="020B0609070205080204" pitchFamily="49" charset="-128"/>
                        </a:rPr>
                        <a:t>10</a:t>
                      </a:r>
                      <a:r>
                        <a:rPr kumimoji="1" lang="ja-JP" altLang="en-US" sz="1800" dirty="0">
                          <a:latin typeface="ＭＳ ゴシック" panose="020B0609070205080204" pitchFamily="49" charset="-128"/>
                          <a:ea typeface="ＭＳ ゴシック" panose="020B0609070205080204" pitchFamily="49" charset="-128"/>
                        </a:rPr>
                        <a:t>月末に</a:t>
                      </a:r>
                      <a:r>
                        <a:rPr kumimoji="1" lang="en-US" altLang="ja-JP" sz="1800" dirty="0">
                          <a:latin typeface="ＭＳ ゴシック" panose="020B0609070205080204" pitchFamily="49" charset="-128"/>
                          <a:ea typeface="ＭＳ ゴシック" panose="020B0609070205080204" pitchFamily="49" charset="-128"/>
                        </a:rPr>
                        <a:t>FADP</a:t>
                      </a:r>
                      <a:r>
                        <a:rPr kumimoji="1" lang="ja-JP" altLang="en-US" sz="1800" dirty="0">
                          <a:latin typeface="ＭＳ ゴシック" panose="020B0609070205080204" pitchFamily="49" charset="-128"/>
                          <a:ea typeface="ＭＳ ゴシック" panose="020B0609070205080204" pitchFamily="49" charset="-128"/>
                        </a:rPr>
                        <a:t>のスレットハンティングを実施する。</a:t>
                      </a:r>
                      <a:endParaRPr kumimoji="1" lang="en-US" altLang="ja-JP" sz="1800" dirty="0">
                        <a:solidFill>
                          <a:schemeClr val="tx1"/>
                        </a:solidFill>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5021186"/>
                  </a:ext>
                </a:extLst>
              </a:tr>
              <a:tr h="3566375">
                <a:tc>
                  <a:txBody>
                    <a:bodyPr/>
                    <a:lstStyle/>
                    <a:p>
                      <a:pPr algn="ctr"/>
                      <a:r>
                        <a:rPr kumimoji="1" lang="ja-JP" altLang="en-US" sz="2000" b="0" dirty="0">
                          <a:latin typeface="ＭＳ ゴシック" panose="020B0609070205080204" pitchFamily="49" charset="-128"/>
                          <a:ea typeface="ＭＳ ゴシック" panose="020B0609070205080204" pitchFamily="49" charset="-128"/>
                        </a:rPr>
                        <a:t>方　針</a:t>
                      </a:r>
                      <a:endParaRPr kumimoji="1" lang="en-US" altLang="ja-JP" sz="2000" b="0" dirty="0">
                        <a:latin typeface="ＭＳ ゴシック" panose="020B0609070205080204" pitchFamily="49" charset="-128"/>
                        <a:ea typeface="ＭＳ ゴシック" panose="020B0609070205080204" pitchFamily="49"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r>
                        <a:rPr lang="ja-JP" altLang="en-US" dirty="0"/>
                        <a:t>侵入経路を３方向選定し、各ベクトルでそれぞれ３件の仮説を設定する。仮説を元に本番でログ調査を実施する。仮説の方向性は初期段階での検知を基準とする。</a:t>
                      </a:r>
                      <a:endParaRPr lang="en-US" altLang="ja-JP" dirty="0"/>
                    </a:p>
                    <a:p>
                      <a:endParaRPr lang="en-US" altLang="ja-JP" dirty="0"/>
                    </a:p>
                    <a:p>
                      <a:r>
                        <a:rPr lang="ja-JP" altLang="en-US" sz="1800" dirty="0">
                          <a:solidFill>
                            <a:schemeClr val="tx1"/>
                          </a:solidFill>
                          <a:latin typeface="ＭＳ ゴシック" panose="020B0609070205080204" pitchFamily="49" charset="-128"/>
                          <a:ea typeface="ＭＳ ゴシック" panose="020B0609070205080204" pitchFamily="49" charset="-128"/>
                        </a:rPr>
                        <a:t>仮説１：</a:t>
                      </a:r>
                      <a:r>
                        <a:rPr lang="en-US" altLang="ja-JP" sz="1800" dirty="0">
                          <a:solidFill>
                            <a:schemeClr val="tx1"/>
                          </a:solidFill>
                          <a:latin typeface="ＭＳ ゴシック" panose="020B0609070205080204" pitchFamily="49" charset="-128"/>
                          <a:ea typeface="ＭＳ ゴシック" panose="020B0609070205080204" pitchFamily="49" charset="-128"/>
                        </a:rPr>
                        <a:t>FW</a:t>
                      </a:r>
                      <a:r>
                        <a:rPr lang="ja-JP" altLang="en-US" sz="1800" dirty="0">
                          <a:solidFill>
                            <a:schemeClr val="tx1"/>
                          </a:solidFill>
                          <a:latin typeface="ＭＳ ゴシック" panose="020B0609070205080204" pitchFamily="49" charset="-128"/>
                          <a:ea typeface="ＭＳ ゴシック" panose="020B0609070205080204" pitchFamily="49" charset="-128"/>
                        </a:rPr>
                        <a:t>ルールの隙をつき端末の調査が行われた。</a:t>
                      </a:r>
                      <a:endParaRPr lang="en-US" altLang="ja-JP" sz="1800" dirty="0">
                        <a:solidFill>
                          <a:schemeClr val="tx1"/>
                        </a:solidFill>
                        <a:latin typeface="ＭＳ ゴシック" panose="020B0609070205080204" pitchFamily="49" charset="-128"/>
                        <a:ea typeface="ＭＳ ゴシック" panose="020B0609070205080204" pitchFamily="49" charset="-128"/>
                      </a:endParaRPr>
                    </a:p>
                    <a:p>
                      <a:r>
                        <a:rPr lang="ja-JP" altLang="en-US" sz="1800" dirty="0">
                          <a:solidFill>
                            <a:schemeClr val="tx1"/>
                          </a:solidFill>
                          <a:latin typeface="ＭＳ ゴシック" panose="020B0609070205080204" pitchFamily="49" charset="-128"/>
                          <a:ea typeface="ＭＳ ゴシック" panose="020B0609070205080204" pitchFamily="49" charset="-128"/>
                        </a:rPr>
                        <a:t>仮説２：</a:t>
                      </a:r>
                      <a:r>
                        <a:rPr lang="en-US" altLang="ja-JP" sz="1800" dirty="0">
                          <a:solidFill>
                            <a:schemeClr val="tx1"/>
                          </a:solidFill>
                          <a:latin typeface="ＭＳ ゴシック" panose="020B0609070205080204" pitchFamily="49" charset="-128"/>
                          <a:ea typeface="ＭＳ ゴシック" panose="020B0609070205080204" pitchFamily="49" charset="-128"/>
                        </a:rPr>
                        <a:t>FW</a:t>
                      </a:r>
                      <a:r>
                        <a:rPr lang="ja-JP" altLang="en-US" sz="1800" dirty="0">
                          <a:solidFill>
                            <a:schemeClr val="tx1"/>
                          </a:solidFill>
                          <a:latin typeface="ＭＳ ゴシック" panose="020B0609070205080204" pitchFamily="49" charset="-128"/>
                          <a:ea typeface="ＭＳ ゴシック" panose="020B0609070205080204" pitchFamily="49" charset="-128"/>
                        </a:rPr>
                        <a:t>ルールの隙をつき</a:t>
                      </a:r>
                      <a:r>
                        <a:rPr lang="en-US" altLang="ja-JP" sz="1800" dirty="0">
                          <a:solidFill>
                            <a:schemeClr val="tx1"/>
                          </a:solidFill>
                          <a:latin typeface="ＭＳ ゴシック" panose="020B0609070205080204" pitchFamily="49" charset="-128"/>
                          <a:ea typeface="ＭＳ ゴシック" panose="020B0609070205080204" pitchFamily="49" charset="-128"/>
                        </a:rPr>
                        <a:t>AD</a:t>
                      </a:r>
                      <a:r>
                        <a:rPr lang="ja-JP" altLang="en-US" sz="1800" dirty="0">
                          <a:solidFill>
                            <a:schemeClr val="tx1"/>
                          </a:solidFill>
                          <a:latin typeface="ＭＳ ゴシック" panose="020B0609070205080204" pitchFamily="49" charset="-128"/>
                          <a:ea typeface="ＭＳ ゴシック" panose="020B0609070205080204" pitchFamily="49" charset="-128"/>
                        </a:rPr>
                        <a:t>から認証情報を</a:t>
                      </a:r>
                      <a:r>
                        <a:rPr lang="ja-JP" altLang="en-US" sz="1800" dirty="0">
                          <a:solidFill>
                            <a:schemeClr val="tx1"/>
                          </a:solidFill>
                          <a:latin typeface="+mj-ea"/>
                          <a:ea typeface="+mj-ea"/>
                        </a:rPr>
                        <a:t>摂取された。</a:t>
                      </a:r>
                      <a:endParaRPr lang="en-US" altLang="ja-JP" sz="1800" dirty="0">
                        <a:solidFill>
                          <a:schemeClr val="tx1"/>
                        </a:solidFill>
                        <a:latin typeface="+mj-ea"/>
                        <a:ea typeface="+mj-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dirty="0">
                          <a:solidFill>
                            <a:schemeClr val="tx1"/>
                          </a:solidFill>
                          <a:latin typeface="+mj-ea"/>
                          <a:ea typeface="+mj-ea"/>
                        </a:rPr>
                        <a:t>仮説３：</a:t>
                      </a:r>
                      <a:r>
                        <a:rPr lang="en-US" altLang="ja-JP" sz="1800" dirty="0">
                          <a:solidFill>
                            <a:schemeClr val="tx1"/>
                          </a:solidFill>
                          <a:latin typeface="+mj-ea"/>
                          <a:ea typeface="+mj-ea"/>
                        </a:rPr>
                        <a:t>FW</a:t>
                      </a:r>
                      <a:r>
                        <a:rPr lang="ja-JP" altLang="en-US" sz="1800" dirty="0">
                          <a:solidFill>
                            <a:schemeClr val="tx1"/>
                          </a:solidFill>
                          <a:latin typeface="+mj-ea"/>
                          <a:ea typeface="+mj-ea"/>
                        </a:rPr>
                        <a:t>の脆弱性</a:t>
                      </a:r>
                      <a:r>
                        <a:rPr lang="en-US" altLang="ja-JP" sz="1800" dirty="0">
                          <a:solidFill>
                            <a:schemeClr val="tx1"/>
                          </a:solidFill>
                          <a:latin typeface="+mj-ea"/>
                          <a:ea typeface="+mj-ea"/>
                        </a:rPr>
                        <a:t>(</a:t>
                      </a:r>
                      <a:r>
                        <a:rPr kumimoji="1" lang="en-US" altLang="ja-JP" sz="1800" kern="1200" dirty="0">
                          <a:solidFill>
                            <a:schemeClr val="tx1"/>
                          </a:solidFill>
                          <a:latin typeface="+mj-ea"/>
                          <a:ea typeface="+mn-ea"/>
                          <a:cs typeface="+mn-cs"/>
                        </a:rPr>
                        <a:t>CVE-2024-21591</a:t>
                      </a:r>
                      <a:r>
                        <a:rPr lang="en-US" altLang="ja-JP" sz="1800" dirty="0">
                          <a:solidFill>
                            <a:schemeClr val="tx1"/>
                          </a:solidFill>
                          <a:latin typeface="+mj-ea"/>
                          <a:ea typeface="+mj-ea"/>
                        </a:rPr>
                        <a:t>)</a:t>
                      </a:r>
                      <a:r>
                        <a:rPr lang="ja-JP" altLang="en-US" sz="1800" dirty="0">
                          <a:solidFill>
                            <a:schemeClr val="tx1"/>
                          </a:solidFill>
                          <a:latin typeface="+mj-ea"/>
                          <a:ea typeface="+mj-ea"/>
                        </a:rPr>
                        <a:t>を利用して特権を取得された。</a:t>
                      </a:r>
                      <a:endParaRPr lang="en-US" altLang="ja-JP" sz="1800" dirty="0">
                        <a:solidFill>
                          <a:schemeClr val="tx1"/>
                        </a:solidFill>
                        <a:latin typeface="+mj-ea"/>
                        <a:ea typeface="+mj-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dirty="0">
                          <a:solidFill>
                            <a:schemeClr val="tx1"/>
                          </a:solidFill>
                          <a:latin typeface="+mj-ea"/>
                          <a:ea typeface="+mj-ea"/>
                        </a:rPr>
                        <a:t>仮説４：</a:t>
                      </a:r>
                      <a:r>
                        <a:rPr lang="en-US" altLang="ja-JP" sz="1800" dirty="0">
                          <a:solidFill>
                            <a:schemeClr val="tx1"/>
                          </a:solidFill>
                          <a:latin typeface="+mj-ea"/>
                          <a:ea typeface="+mj-ea"/>
                        </a:rPr>
                        <a:t>FW</a:t>
                      </a:r>
                      <a:r>
                        <a:rPr lang="ja-JP" altLang="en-US" sz="1800" dirty="0">
                          <a:solidFill>
                            <a:schemeClr val="tx1"/>
                          </a:solidFill>
                          <a:latin typeface="+mj-ea"/>
                          <a:ea typeface="+mj-ea"/>
                        </a:rPr>
                        <a:t>の脆弱性</a:t>
                      </a:r>
                      <a:r>
                        <a:rPr lang="en-US" altLang="ja-JP" sz="1800" dirty="0">
                          <a:solidFill>
                            <a:schemeClr val="tx1"/>
                          </a:solidFill>
                          <a:latin typeface="+mj-ea"/>
                          <a:ea typeface="+mj-ea"/>
                        </a:rPr>
                        <a:t>(</a:t>
                      </a:r>
                      <a:r>
                        <a:rPr kumimoji="1" lang="en-US" altLang="ja-JP" sz="1800" kern="1200" dirty="0">
                          <a:solidFill>
                            <a:schemeClr val="tx1"/>
                          </a:solidFill>
                          <a:latin typeface="+mj-ea"/>
                          <a:ea typeface="+mn-ea"/>
                          <a:cs typeface="+mn-cs"/>
                        </a:rPr>
                        <a:t>CVE-2023-36845</a:t>
                      </a:r>
                      <a:r>
                        <a:rPr lang="en-US" altLang="ja-JP" sz="1800" dirty="0">
                          <a:solidFill>
                            <a:schemeClr val="tx1"/>
                          </a:solidFill>
                          <a:latin typeface="+mj-ea"/>
                          <a:ea typeface="+mj-ea"/>
                        </a:rPr>
                        <a:t>)</a:t>
                      </a:r>
                      <a:r>
                        <a:rPr lang="ja-JP" altLang="en-US" sz="1800" dirty="0">
                          <a:solidFill>
                            <a:schemeClr val="tx1"/>
                          </a:solidFill>
                          <a:latin typeface="+mj-ea"/>
                          <a:ea typeface="+mj-ea"/>
                        </a:rPr>
                        <a:t>を利用して</a:t>
                      </a:r>
                      <a:r>
                        <a:rPr kumimoji="1" lang="ja-JP" altLang="en-US" sz="1800" dirty="0">
                          <a:latin typeface="+mj-ea"/>
                          <a:ea typeface="+mj-ea"/>
                        </a:rPr>
                        <a:t>特権を取得された。</a:t>
                      </a:r>
                      <a:endParaRPr lang="en-US" altLang="ja-JP" sz="1800" dirty="0">
                        <a:solidFill>
                          <a:schemeClr val="tx1"/>
                        </a:solidFill>
                        <a:latin typeface="+mj-ea"/>
                        <a:ea typeface="+mj-ea"/>
                      </a:endParaRPr>
                    </a:p>
                    <a:p>
                      <a:r>
                        <a:rPr lang="ja-JP" altLang="en-US" sz="1800" dirty="0">
                          <a:solidFill>
                            <a:schemeClr val="tx1"/>
                          </a:solidFill>
                          <a:latin typeface="ＭＳ ゴシック" panose="020B0609070205080204" pitchFamily="49" charset="-128"/>
                          <a:ea typeface="ＭＳ ゴシック" panose="020B0609070205080204" pitchFamily="49" charset="-128"/>
                        </a:rPr>
                        <a:t>仮説５：</a:t>
                      </a:r>
                      <a:r>
                        <a:rPr lang="en-US" altLang="ja-JP" sz="1800" dirty="0">
                          <a:solidFill>
                            <a:schemeClr val="tx1"/>
                          </a:solidFill>
                          <a:latin typeface="ＭＳ ゴシック" panose="020B0609070205080204" pitchFamily="49" charset="-128"/>
                          <a:ea typeface="ＭＳ ゴシック" panose="020B0609070205080204" pitchFamily="49" charset="-128"/>
                        </a:rPr>
                        <a:t>telnet</a:t>
                      </a:r>
                      <a:r>
                        <a:rPr lang="ja-JP" altLang="en-US" sz="1800" dirty="0">
                          <a:solidFill>
                            <a:schemeClr val="tx1"/>
                          </a:solidFill>
                          <a:latin typeface="ＭＳ ゴシック" panose="020B0609070205080204" pitchFamily="49" charset="-128"/>
                          <a:ea typeface="ＭＳ ゴシック" panose="020B0609070205080204" pitchFamily="49" charset="-128"/>
                        </a:rPr>
                        <a:t>プロトコルを利用してログイン試行がされた。</a:t>
                      </a:r>
                      <a:endParaRPr lang="en-US" altLang="ja-JP" sz="1800" dirty="0">
                        <a:solidFill>
                          <a:schemeClr val="tx1"/>
                        </a:solidFill>
                        <a:latin typeface="ＭＳ ゴシック" panose="020B0609070205080204" pitchFamily="49" charset="-128"/>
                        <a:ea typeface="ＭＳ ゴシック" panose="020B0609070205080204" pitchFamily="49" charset="-128"/>
                      </a:endParaRPr>
                    </a:p>
                    <a:p>
                      <a:r>
                        <a:rPr lang="ja-JP" altLang="en-US" sz="1800" dirty="0">
                          <a:solidFill>
                            <a:schemeClr val="tx1"/>
                          </a:solidFill>
                          <a:latin typeface="ＭＳ ゴシック" panose="020B0609070205080204" pitchFamily="49" charset="-128"/>
                          <a:ea typeface="ＭＳ ゴシック" panose="020B0609070205080204" pitchFamily="49" charset="-128"/>
                        </a:rPr>
                        <a:t>仮説６：</a:t>
                      </a:r>
                      <a:r>
                        <a:rPr lang="en-US" altLang="ja-JP" sz="1800" dirty="0">
                          <a:solidFill>
                            <a:schemeClr val="tx1"/>
                          </a:solidFill>
                          <a:latin typeface="ＭＳ ゴシック" panose="020B0609070205080204" pitchFamily="49" charset="-128"/>
                          <a:ea typeface="ＭＳ ゴシック" panose="020B0609070205080204" pitchFamily="49" charset="-128"/>
                        </a:rPr>
                        <a:t>FW</a:t>
                      </a:r>
                      <a:r>
                        <a:rPr lang="ja-JP" altLang="en-US" sz="1800" dirty="0">
                          <a:solidFill>
                            <a:schemeClr val="tx1"/>
                          </a:solidFill>
                          <a:latin typeface="ＭＳ ゴシック" panose="020B0609070205080204" pitchFamily="49" charset="-128"/>
                          <a:ea typeface="ＭＳ ゴシック" panose="020B0609070205080204" pitchFamily="49" charset="-128"/>
                        </a:rPr>
                        <a:t>を経由しない場所にある端末の調査が行われた。</a:t>
                      </a:r>
                      <a:endParaRPr lang="en-US" altLang="ja-JP" sz="1800" dirty="0">
                        <a:solidFill>
                          <a:schemeClr val="tx1"/>
                        </a:solidFill>
                        <a:latin typeface="ＭＳ ゴシック" panose="020B0609070205080204" pitchFamily="49" charset="-128"/>
                        <a:ea typeface="ＭＳ ゴシック" panose="020B0609070205080204" pitchFamily="49" charset="-128"/>
                      </a:endParaRPr>
                    </a:p>
                    <a:p>
                      <a:r>
                        <a:rPr lang="ja-JP" altLang="en-US" sz="1800" dirty="0">
                          <a:solidFill>
                            <a:schemeClr val="tx1"/>
                          </a:solidFill>
                          <a:latin typeface="ＭＳ ゴシック" panose="020B0609070205080204" pitchFamily="49" charset="-128"/>
                          <a:ea typeface="ＭＳ ゴシック" panose="020B0609070205080204" pitchFamily="49" charset="-128"/>
                        </a:rPr>
                        <a:t>仮説７：送信元を改ざんした不正メールが送信され誤情報をつかまされた。</a:t>
                      </a:r>
                      <a:endParaRPr lang="en-US" altLang="ja-JP" sz="1800" dirty="0">
                        <a:solidFill>
                          <a:schemeClr val="tx1"/>
                        </a:solidFill>
                        <a:latin typeface="ＭＳ ゴシック" panose="020B0609070205080204" pitchFamily="49" charset="-128"/>
                        <a:ea typeface="ＭＳ ゴシック" panose="020B0609070205080204" pitchFamily="49" charset="-128"/>
                      </a:endParaRPr>
                    </a:p>
                    <a:p>
                      <a:r>
                        <a:rPr lang="ja-JP" altLang="en-US" sz="1800" dirty="0">
                          <a:solidFill>
                            <a:schemeClr val="tx1"/>
                          </a:solidFill>
                          <a:latin typeface="ＭＳ ゴシック" panose="020B0609070205080204" pitchFamily="49" charset="-128"/>
                          <a:ea typeface="ＭＳ ゴシック" panose="020B0609070205080204" pitchFamily="49" charset="-128"/>
                        </a:rPr>
                        <a:t>仮説８：不正なスクリプトを仕込んだメールの実行によりリバースシェルが確立された。</a:t>
                      </a:r>
                      <a:endParaRPr lang="en-US" altLang="ja-JP" sz="1800" dirty="0">
                        <a:solidFill>
                          <a:schemeClr val="tx1"/>
                        </a:solidFill>
                        <a:latin typeface="ＭＳ ゴシック" panose="020B0609070205080204" pitchFamily="49" charset="-128"/>
                        <a:ea typeface="ＭＳ ゴシック" panose="020B0609070205080204" pitchFamily="49" charset="-128"/>
                      </a:endParaRPr>
                    </a:p>
                    <a:p>
                      <a:r>
                        <a:rPr lang="ja-JP" altLang="en-US" sz="1800" dirty="0">
                          <a:solidFill>
                            <a:schemeClr val="tx1"/>
                          </a:solidFill>
                          <a:latin typeface="ＭＳ ゴシック" panose="020B0609070205080204" pitchFamily="49" charset="-128"/>
                          <a:ea typeface="ＭＳ ゴシック" panose="020B0609070205080204" pitchFamily="49" charset="-128"/>
                        </a:rPr>
                        <a:t>仮説９：メールサーバが侵害されデータが改ざんされた。</a:t>
                      </a:r>
                      <a:endParaRPr lang="en-US" altLang="ja-JP" sz="1800" dirty="0">
                        <a:solidFill>
                          <a:schemeClr val="tx1"/>
                        </a:solidFill>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6484619"/>
                  </a:ext>
                </a:extLst>
              </a:tr>
            </a:tbl>
          </a:graphicData>
        </a:graphic>
      </p:graphicFrame>
      <p:graphicFrame>
        <p:nvGraphicFramePr>
          <p:cNvPr id="5" name="表 4">
            <a:extLst>
              <a:ext uri="{FF2B5EF4-FFF2-40B4-BE49-F238E27FC236}">
                <a16:creationId xmlns:a16="http://schemas.microsoft.com/office/drawing/2014/main" id="{1340F3F0-6514-4A42-AD01-32A8742FDDCA}"/>
              </a:ext>
            </a:extLst>
          </p:cNvPr>
          <p:cNvGraphicFramePr>
            <a:graphicFrameLocks noGrp="1"/>
          </p:cNvGraphicFramePr>
          <p:nvPr>
            <p:extLst>
              <p:ext uri="{D42A27DB-BD31-4B8C-83A1-F6EECF244321}">
                <p14:modId xmlns:p14="http://schemas.microsoft.com/office/powerpoint/2010/main" val="389702691"/>
              </p:ext>
            </p:extLst>
          </p:nvPr>
        </p:nvGraphicFramePr>
        <p:xfrm>
          <a:off x="400828" y="6023509"/>
          <a:ext cx="11390342" cy="640080"/>
        </p:xfrm>
        <a:graphic>
          <a:graphicData uri="http://schemas.openxmlformats.org/drawingml/2006/table">
            <a:tbl>
              <a:tblPr firstRow="1" bandRow="1">
                <a:tableStyleId>{5C22544A-7EE6-4342-B048-85BDC9FD1C3A}</a:tableStyleId>
              </a:tblPr>
              <a:tblGrid>
                <a:gridCol w="1362075">
                  <a:extLst>
                    <a:ext uri="{9D8B030D-6E8A-4147-A177-3AD203B41FA5}">
                      <a16:colId xmlns:a16="http://schemas.microsoft.com/office/drawing/2014/main" val="2583059967"/>
                    </a:ext>
                  </a:extLst>
                </a:gridCol>
                <a:gridCol w="10028267">
                  <a:extLst>
                    <a:ext uri="{9D8B030D-6E8A-4147-A177-3AD203B41FA5}">
                      <a16:colId xmlns:a16="http://schemas.microsoft.com/office/drawing/2014/main" val="3957037575"/>
                    </a:ext>
                  </a:extLst>
                </a:gridCol>
              </a:tblGrid>
              <a:tr h="621763">
                <a:tc>
                  <a:txBody>
                    <a:bodyPr/>
                    <a:lstStyle/>
                    <a:p>
                      <a:pPr algn="ctr"/>
                      <a:r>
                        <a:rPr kumimoji="1" lang="ja-JP" altLang="en-US" sz="1800" b="0" dirty="0">
                          <a:solidFill>
                            <a:schemeClr val="tx1"/>
                          </a:solidFill>
                          <a:latin typeface="ＭＳ ゴシック" panose="020B0609070205080204" pitchFamily="49" charset="-128"/>
                          <a:ea typeface="ＭＳ ゴシック" panose="020B0609070205080204" pitchFamily="49" charset="-128"/>
                        </a:rPr>
                        <a:t>総　括</a:t>
                      </a:r>
                      <a:endParaRPr kumimoji="1" lang="en-US" altLang="ja-JP" sz="1800" b="0" dirty="0">
                        <a:solidFill>
                          <a:schemeClr val="tx1"/>
                        </a:solidFill>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marL="180975" indent="-180975" algn="l"/>
                      <a:r>
                        <a:rPr kumimoji="1" lang="ja-JP" altLang="en-US" sz="1800" b="0" dirty="0">
                          <a:solidFill>
                            <a:schemeClr val="tx1"/>
                          </a:solidFill>
                          <a:latin typeface="ＭＳ ゴシック" panose="020B0609070205080204" pitchFamily="49" charset="-128"/>
                          <a:ea typeface="ＭＳ ゴシック" panose="020B0609070205080204" pitchFamily="49" charset="-128"/>
                        </a:rPr>
                        <a:t>攻撃初期段階での有効なハンティングは、後の工程での調査・復旧コストを著しく低減し、</a:t>
                      </a:r>
                      <a:endParaRPr kumimoji="1" lang="en-US" altLang="ja-JP" sz="1800" b="0" dirty="0">
                        <a:solidFill>
                          <a:schemeClr val="tx1"/>
                        </a:solidFill>
                        <a:latin typeface="ＭＳ ゴシック" panose="020B0609070205080204" pitchFamily="49" charset="-128"/>
                        <a:ea typeface="ＭＳ ゴシック" panose="020B0609070205080204" pitchFamily="49" charset="-128"/>
                      </a:endParaRPr>
                    </a:p>
                    <a:p>
                      <a:pPr marL="180975" indent="-180975" algn="l"/>
                      <a:r>
                        <a:rPr kumimoji="1" lang="ja-JP" altLang="en-US" sz="1800" b="0" dirty="0">
                          <a:solidFill>
                            <a:schemeClr val="tx1"/>
                          </a:solidFill>
                          <a:latin typeface="ＭＳ ゴシック" panose="020B0609070205080204" pitchFamily="49" charset="-128"/>
                          <a:ea typeface="ＭＳ ゴシック" panose="020B0609070205080204" pitchFamily="49" charset="-128"/>
                        </a:rPr>
                        <a:t>業務継続性を高めると同時に、攻撃者に対する抑止力を強化する。</a:t>
                      </a:r>
                      <a:endParaRPr kumimoji="1" lang="en-US" altLang="ja-JP" sz="1800" b="0" dirty="0">
                        <a:solidFill>
                          <a:schemeClr val="tx1"/>
                        </a:solidFill>
                        <a:latin typeface="ＭＳ ゴシック" panose="020B0609070205080204" pitchFamily="49" charset="-128"/>
                        <a:ea typeface="ＭＳ ゴシック" panose="020B0609070205080204" pitchFamily="49"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9145100"/>
                  </a:ext>
                </a:extLst>
              </a:tr>
            </a:tbl>
          </a:graphicData>
        </a:graphic>
      </p:graphicFrame>
    </p:spTree>
    <p:extLst>
      <p:ext uri="{BB962C8B-B14F-4D97-AF65-F5344CB8AC3E}">
        <p14:creationId xmlns:p14="http://schemas.microsoft.com/office/powerpoint/2010/main" val="38390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A15C97A6-7720-4C70-9F2D-AE3F7FFDA2DE}"/>
              </a:ext>
            </a:extLst>
          </p:cNvPr>
          <p:cNvPicPr>
            <a:picLocks noChangeAspect="1"/>
          </p:cNvPicPr>
          <p:nvPr/>
        </p:nvPicPr>
        <p:blipFill>
          <a:blip r:embed="rId2"/>
          <a:stretch>
            <a:fillRect/>
          </a:stretch>
        </p:blipFill>
        <p:spPr>
          <a:xfrm>
            <a:off x="1792262" y="1091742"/>
            <a:ext cx="8271918" cy="5517313"/>
          </a:xfrm>
          <a:prstGeom prst="rect">
            <a:avLst/>
          </a:prstGeom>
          <a:ln>
            <a:solidFill>
              <a:schemeClr val="tx1"/>
            </a:solidFill>
          </a:ln>
        </p:spPr>
      </p:pic>
      <p:sp>
        <p:nvSpPr>
          <p:cNvPr id="3" name="タイトル 1">
            <a:extLst>
              <a:ext uri="{FF2B5EF4-FFF2-40B4-BE49-F238E27FC236}">
                <a16:creationId xmlns:a16="http://schemas.microsoft.com/office/drawing/2014/main" id="{EDF969BC-9B05-44B9-B4AE-0C641D26E7A3}"/>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方針</a:t>
            </a:r>
          </a:p>
        </p:txBody>
      </p:sp>
      <p:sp>
        <p:nvSpPr>
          <p:cNvPr id="4" name="テキスト ボックス 3">
            <a:extLst>
              <a:ext uri="{FF2B5EF4-FFF2-40B4-BE49-F238E27FC236}">
                <a16:creationId xmlns:a16="http://schemas.microsoft.com/office/drawing/2014/main" id="{A7E8BCC7-7815-4FEB-8A9D-8389AA5F05D6}"/>
              </a:ext>
            </a:extLst>
          </p:cNvPr>
          <p:cNvSpPr txBox="1"/>
          <p:nvPr/>
        </p:nvSpPr>
        <p:spPr>
          <a:xfrm>
            <a:off x="335560" y="722410"/>
            <a:ext cx="3416320" cy="369332"/>
          </a:xfrm>
          <a:prstGeom prst="rect">
            <a:avLst/>
          </a:prstGeom>
          <a:noFill/>
        </p:spPr>
        <p:txBody>
          <a:bodyPr wrap="none" rtlCol="0">
            <a:spAutoFit/>
          </a:bodyPr>
          <a:lstStyle/>
          <a:p>
            <a:r>
              <a:rPr kumimoji="1" lang="ja-JP" altLang="en-US" dirty="0">
                <a:latin typeface="ＭＳ 明朝" panose="02020609040205080304" pitchFamily="17" charset="-128"/>
                <a:ea typeface="ＭＳ 明朝" panose="02020609040205080304" pitchFamily="17" charset="-128"/>
              </a:rPr>
              <a:t>参考：サイバーフラッグ構成図</a:t>
            </a:r>
          </a:p>
        </p:txBody>
      </p:sp>
    </p:spTree>
    <p:extLst>
      <p:ext uri="{BB962C8B-B14F-4D97-AF65-F5344CB8AC3E}">
        <p14:creationId xmlns:p14="http://schemas.microsoft.com/office/powerpoint/2010/main" val="1617092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25F26C-6CCD-4123-BF42-27307CFC9EF0}"/>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方針</a:t>
            </a:r>
          </a:p>
        </p:txBody>
      </p:sp>
      <p:pic>
        <p:nvPicPr>
          <p:cNvPr id="7" name="図 6">
            <a:extLst>
              <a:ext uri="{FF2B5EF4-FFF2-40B4-BE49-F238E27FC236}">
                <a16:creationId xmlns:a16="http://schemas.microsoft.com/office/drawing/2014/main" id="{7CED4099-0A34-44B7-963E-B707317800DC}"/>
              </a:ext>
            </a:extLst>
          </p:cNvPr>
          <p:cNvPicPr>
            <a:picLocks noChangeAspect="1"/>
          </p:cNvPicPr>
          <p:nvPr/>
        </p:nvPicPr>
        <p:blipFill>
          <a:blip r:embed="rId2"/>
          <a:stretch>
            <a:fillRect/>
          </a:stretch>
        </p:blipFill>
        <p:spPr>
          <a:xfrm>
            <a:off x="293456" y="1379402"/>
            <a:ext cx="11424172" cy="5014610"/>
          </a:xfrm>
          <a:prstGeom prst="rect">
            <a:avLst/>
          </a:prstGeom>
          <a:ln>
            <a:solidFill>
              <a:schemeClr val="tx1"/>
            </a:solidFill>
          </a:ln>
        </p:spPr>
      </p:pic>
      <p:sp>
        <p:nvSpPr>
          <p:cNvPr id="6" name="正方形/長方形 5">
            <a:extLst>
              <a:ext uri="{FF2B5EF4-FFF2-40B4-BE49-F238E27FC236}">
                <a16:creationId xmlns:a16="http://schemas.microsoft.com/office/drawing/2014/main" id="{1D3D5984-FBB2-4DB4-9361-6BACAAC2FD71}"/>
              </a:ext>
            </a:extLst>
          </p:cNvPr>
          <p:cNvSpPr/>
          <p:nvPr/>
        </p:nvSpPr>
        <p:spPr>
          <a:xfrm>
            <a:off x="457186" y="2531435"/>
            <a:ext cx="6446533" cy="3862577"/>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826CEACC-B372-4606-8F11-3E0E1094F8E0}"/>
              </a:ext>
            </a:extLst>
          </p:cNvPr>
          <p:cNvSpPr txBox="1"/>
          <p:nvPr/>
        </p:nvSpPr>
        <p:spPr>
          <a:xfrm>
            <a:off x="457186" y="891540"/>
            <a:ext cx="5500224" cy="369332"/>
          </a:xfrm>
          <a:prstGeom prst="rect">
            <a:avLst/>
          </a:prstGeom>
          <a:noFill/>
        </p:spPr>
        <p:txBody>
          <a:bodyPr wrap="none" rtlCol="0">
            <a:spAutoFit/>
          </a:bodyPr>
          <a:lstStyle/>
          <a:p>
            <a:r>
              <a:rPr kumimoji="1" lang="ja-JP" altLang="en-US" dirty="0">
                <a:latin typeface="ＭＳ 明朝" panose="02020609040205080304" pitchFamily="17" charset="-128"/>
                <a:ea typeface="ＭＳ 明朝" panose="02020609040205080304" pitchFamily="17" charset="-128"/>
              </a:rPr>
              <a:t>私の</a:t>
            </a:r>
            <a:r>
              <a:rPr kumimoji="1" lang="en-US" altLang="ja-JP" b="1" dirty="0">
                <a:solidFill>
                  <a:srgbClr val="FF0000"/>
                </a:solidFill>
                <a:latin typeface="ＭＳ 明朝" panose="02020609040205080304" pitchFamily="17" charset="-128"/>
                <a:ea typeface="ＭＳ 明朝" panose="02020609040205080304" pitchFamily="17" charset="-128"/>
              </a:rPr>
              <a:t>WILL</a:t>
            </a:r>
            <a:r>
              <a:rPr kumimoji="1" lang="ja-JP" altLang="en-US" dirty="0">
                <a:latin typeface="ＭＳ 明朝" panose="02020609040205080304" pitchFamily="17" charset="-128"/>
                <a:ea typeface="ＭＳ 明朝" panose="02020609040205080304" pitchFamily="17" charset="-128"/>
              </a:rPr>
              <a:t>：初期段階での痕跡の発見　→　なぜか？</a:t>
            </a:r>
          </a:p>
        </p:txBody>
      </p:sp>
    </p:spTree>
    <p:extLst>
      <p:ext uri="{BB962C8B-B14F-4D97-AF65-F5344CB8AC3E}">
        <p14:creationId xmlns:p14="http://schemas.microsoft.com/office/powerpoint/2010/main" val="1621153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D7206A5-3A54-4281-B586-20610FF59276}"/>
              </a:ext>
            </a:extLst>
          </p:cNvPr>
          <p:cNvSpPr txBox="1"/>
          <p:nvPr/>
        </p:nvSpPr>
        <p:spPr>
          <a:xfrm>
            <a:off x="744961" y="1030613"/>
            <a:ext cx="11000782" cy="5078313"/>
          </a:xfrm>
          <a:prstGeom prst="rect">
            <a:avLst/>
          </a:prstGeom>
          <a:noFill/>
          <a:ln>
            <a:noFill/>
          </a:ln>
        </p:spPr>
        <p:txBody>
          <a:bodyPr wrap="square" rtlCol="0">
            <a:spAutoFit/>
          </a:bodyPr>
          <a:lstStyle/>
          <a:p>
            <a:pPr algn="l"/>
            <a:r>
              <a:rPr kumimoji="1" lang="ja-JP" altLang="en-US" dirty="0">
                <a:latin typeface="ＭＳ 明朝" panose="02020609040205080304" pitchFamily="17" charset="-128"/>
                <a:ea typeface="ＭＳ 明朝" panose="02020609040205080304" pitchFamily="17" charset="-128"/>
              </a:rPr>
              <a:t>今回の調査のポイント</a:t>
            </a:r>
            <a:endParaRPr kumimoji="1" lang="en-US" altLang="ja-JP" dirty="0">
              <a:latin typeface="ＭＳ 明朝" panose="02020609040205080304" pitchFamily="17" charset="-128"/>
              <a:ea typeface="ＭＳ 明朝" panose="02020609040205080304" pitchFamily="17" charset="-128"/>
            </a:endParaRPr>
          </a:p>
          <a:p>
            <a:pPr algn="l"/>
            <a:endParaRPr kumimoji="1" lang="en-US" altLang="ja-JP" dirty="0">
              <a:latin typeface="ＭＳ 明朝" panose="02020609040205080304" pitchFamily="17" charset="-128"/>
              <a:ea typeface="ＭＳ 明朝" panose="02020609040205080304" pitchFamily="17" charset="-128"/>
            </a:endParaRPr>
          </a:p>
          <a:p>
            <a:pPr algn="l"/>
            <a:r>
              <a:rPr kumimoji="1" lang="ja-JP" altLang="en-US" dirty="0">
                <a:latin typeface="ＭＳ 明朝" panose="02020609040205080304" pitchFamily="17" charset="-128"/>
                <a:ea typeface="ＭＳ 明朝" panose="02020609040205080304" pitchFamily="17" charset="-128"/>
              </a:rPr>
              <a:t>①</a:t>
            </a:r>
            <a:r>
              <a:rPr lang="en-US" altLang="ja-JP" dirty="0">
                <a:latin typeface="ＭＳ 明朝" panose="02020609040205080304" pitchFamily="17" charset="-128"/>
                <a:ea typeface="ＭＳ 明朝" panose="02020609040205080304" pitchFamily="17" charset="-128"/>
              </a:rPr>
              <a:t> </a:t>
            </a:r>
            <a:r>
              <a:rPr kumimoji="1" lang="ja-JP" altLang="en-US" dirty="0">
                <a:latin typeface="ＭＳ 明朝" panose="02020609040205080304" pitchFamily="17" charset="-128"/>
                <a:ea typeface="ＭＳ 明朝" panose="02020609040205080304" pitchFamily="17" charset="-128"/>
              </a:rPr>
              <a:t>監視対象システムに接続して調査を行うのではなくログを取得してオフラインで調査</a:t>
            </a:r>
            <a:endParaRPr kumimoji="1" lang="en-US" altLang="ja-JP" dirty="0">
              <a:latin typeface="ＭＳ 明朝" panose="02020609040205080304" pitchFamily="17" charset="-128"/>
              <a:ea typeface="ＭＳ 明朝" panose="02020609040205080304" pitchFamily="17" charset="-128"/>
            </a:endParaRPr>
          </a:p>
          <a:p>
            <a:pPr algn="l"/>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② 対象システムでは通常サイバーインシデントの監視を行っていない。</a:t>
            </a:r>
            <a:endParaRPr lang="en-US" altLang="ja-JP" dirty="0">
              <a:latin typeface="ＭＳ 明朝" panose="02020609040205080304" pitchFamily="17" charset="-128"/>
              <a:ea typeface="ＭＳ 明朝" panose="02020609040205080304" pitchFamily="17" charset="-128"/>
            </a:endParaRPr>
          </a:p>
          <a:p>
            <a:pPr algn="l"/>
            <a:endParaRPr lang="en-US" altLang="ja-JP" dirty="0">
              <a:latin typeface="ＭＳ 明朝" panose="02020609040205080304" pitchFamily="17" charset="-128"/>
              <a:ea typeface="ＭＳ 明朝" panose="02020609040205080304" pitchFamily="17" charset="-128"/>
            </a:endParaRPr>
          </a:p>
          <a:p>
            <a:pPr algn="l"/>
            <a:r>
              <a:rPr kumimoji="1" lang="ja-JP" altLang="en-US" dirty="0">
                <a:latin typeface="ＭＳ 明朝" panose="02020609040205080304" pitchFamily="17" charset="-128"/>
                <a:ea typeface="ＭＳ 明朝" panose="02020609040205080304" pitchFamily="17" charset="-128"/>
              </a:rPr>
              <a:t>③ 不審な兆候が発見されたシステムではない（だから仮説が必要）</a:t>
            </a:r>
            <a:endParaRPr kumimoji="1" lang="en-US" altLang="ja-JP" dirty="0">
              <a:latin typeface="ＭＳ 明朝" panose="02020609040205080304" pitchFamily="17" charset="-128"/>
              <a:ea typeface="ＭＳ 明朝" panose="02020609040205080304" pitchFamily="17" charset="-128"/>
            </a:endParaRPr>
          </a:p>
          <a:p>
            <a:pPr algn="l"/>
            <a:endParaRPr kumimoji="1" lang="en-US" altLang="ja-JP" dirty="0">
              <a:latin typeface="ＭＳ 明朝" panose="02020609040205080304" pitchFamily="17" charset="-128"/>
              <a:ea typeface="ＭＳ 明朝" panose="02020609040205080304" pitchFamily="17" charset="-128"/>
            </a:endParaRPr>
          </a:p>
          <a:p>
            <a:pPr algn="l"/>
            <a:r>
              <a:rPr kumimoji="1" lang="ja-JP" altLang="en-US" dirty="0">
                <a:latin typeface="ＭＳ 明朝" panose="02020609040205080304" pitchFamily="17" charset="-128"/>
                <a:ea typeface="ＭＳ 明朝" panose="02020609040205080304" pitchFamily="17" charset="-128"/>
              </a:rPr>
              <a:t>④ パケットは取得できない（ネットワークベースラインに基づいた仮説は立てられない）</a:t>
            </a:r>
            <a:endParaRPr kumimoji="1" lang="en-US" altLang="ja-JP" dirty="0">
              <a:latin typeface="ＭＳ 明朝" panose="02020609040205080304" pitchFamily="17" charset="-128"/>
              <a:ea typeface="ＭＳ 明朝" panose="02020609040205080304" pitchFamily="17" charset="-128"/>
            </a:endParaRPr>
          </a:p>
          <a:p>
            <a:pPr algn="l"/>
            <a:endParaRPr kumimoji="1" lang="en-US" altLang="ja-JP" dirty="0">
              <a:latin typeface="ＭＳ 明朝" panose="02020609040205080304" pitchFamily="17" charset="-128"/>
              <a:ea typeface="ＭＳ 明朝" panose="02020609040205080304" pitchFamily="17" charset="-128"/>
            </a:endParaRPr>
          </a:p>
          <a:p>
            <a:pPr algn="l"/>
            <a:r>
              <a:rPr lang="ja-JP" altLang="en-US" dirty="0">
                <a:latin typeface="ＭＳ 明朝" panose="02020609040205080304" pitchFamily="17" charset="-128"/>
                <a:ea typeface="ＭＳ 明朝" panose="02020609040205080304" pitchFamily="17" charset="-128"/>
              </a:rPr>
              <a:t>⑤ レジストリ情報・</a:t>
            </a:r>
            <a:r>
              <a:rPr lang="en-US" altLang="ja-JP" dirty="0">
                <a:latin typeface="ＭＳ 明朝" panose="02020609040205080304" pitchFamily="17" charset="-128"/>
                <a:ea typeface="ＭＳ 明朝" panose="02020609040205080304" pitchFamily="17" charset="-128"/>
              </a:rPr>
              <a:t>$MFT</a:t>
            </a:r>
            <a:r>
              <a:rPr lang="ja-JP" altLang="en-US" dirty="0">
                <a:latin typeface="ＭＳ 明朝" panose="02020609040205080304" pitchFamily="17" charset="-128"/>
                <a:ea typeface="ＭＳ 明朝" panose="02020609040205080304" pitchFamily="17" charset="-128"/>
              </a:rPr>
              <a:t>などのシステム細部情報は取得できない。</a:t>
            </a:r>
            <a:endParaRPr lang="en-US" altLang="ja-JP" dirty="0">
              <a:latin typeface="ＭＳ 明朝" panose="02020609040205080304" pitchFamily="17" charset="-128"/>
              <a:ea typeface="ＭＳ 明朝" panose="02020609040205080304" pitchFamily="17" charset="-128"/>
            </a:endParaRPr>
          </a:p>
          <a:p>
            <a:pPr algn="l"/>
            <a:endParaRPr kumimoji="1" lang="en-US" altLang="ja-JP" dirty="0">
              <a:latin typeface="ＭＳ 明朝" panose="02020609040205080304" pitchFamily="17" charset="-128"/>
              <a:ea typeface="ＭＳ 明朝" panose="02020609040205080304" pitchFamily="17" charset="-128"/>
            </a:endParaRPr>
          </a:p>
          <a:p>
            <a:pPr algn="l"/>
            <a:r>
              <a:rPr kumimoji="1" lang="ja-JP" altLang="en-US" dirty="0">
                <a:latin typeface="ＭＳ 明朝" panose="02020609040205080304" pitchFamily="17" charset="-128"/>
                <a:ea typeface="ＭＳ 明朝" panose="02020609040205080304" pitchFamily="17" charset="-128"/>
              </a:rPr>
              <a:t>⑥ </a:t>
            </a:r>
            <a:r>
              <a:rPr kumimoji="1" lang="en-US" altLang="ja-JP" dirty="0" err="1">
                <a:latin typeface="ＭＳ 明朝" panose="02020609040205080304" pitchFamily="17" charset="-128"/>
                <a:ea typeface="ＭＳ 明朝" panose="02020609040205080304" pitchFamily="17" charset="-128"/>
              </a:rPr>
              <a:t>sysmon</a:t>
            </a:r>
            <a:r>
              <a:rPr kumimoji="1" lang="ja-JP" altLang="en-US" dirty="0">
                <a:latin typeface="ＭＳ 明朝" panose="02020609040205080304" pitchFamily="17" charset="-128"/>
                <a:ea typeface="ＭＳ 明朝" panose="02020609040205080304" pitchFamily="17" charset="-128"/>
              </a:rPr>
              <a:t>導入などは行っておらずイベントの詳細ログは取得できない（ホストのベースライン不十分）</a:t>
            </a:r>
            <a:endParaRPr kumimoji="1" lang="en-US" altLang="ja-JP" dirty="0">
              <a:latin typeface="ＭＳ 明朝" panose="02020609040205080304" pitchFamily="17" charset="-128"/>
              <a:ea typeface="ＭＳ 明朝" panose="02020609040205080304" pitchFamily="17" charset="-128"/>
            </a:endParaRPr>
          </a:p>
          <a:p>
            <a:pPr algn="l"/>
            <a:endParaRPr kumimoji="1" lang="en-US" altLang="ja-JP" dirty="0">
              <a:latin typeface="ＭＳ 明朝" panose="02020609040205080304" pitchFamily="17" charset="-128"/>
              <a:ea typeface="ＭＳ 明朝" panose="02020609040205080304" pitchFamily="17" charset="-128"/>
            </a:endParaRPr>
          </a:p>
          <a:p>
            <a:pPr algn="l"/>
            <a:r>
              <a:rPr kumimoji="1" lang="ja-JP" altLang="en-US" dirty="0">
                <a:latin typeface="ＭＳ 明朝" panose="02020609040205080304" pitchFamily="17" charset="-128"/>
                <a:ea typeface="ＭＳ 明朝" panose="02020609040205080304" pitchFamily="17" charset="-128"/>
              </a:rPr>
              <a:t>⑦ メモリの取得はしない（メモリのベースラインは考えない）</a:t>
            </a:r>
            <a:endParaRPr kumimoji="1" lang="en-US" altLang="ja-JP" dirty="0">
              <a:latin typeface="ＭＳ 明朝" panose="02020609040205080304" pitchFamily="17" charset="-128"/>
              <a:ea typeface="ＭＳ 明朝" panose="02020609040205080304" pitchFamily="17" charset="-128"/>
            </a:endParaRPr>
          </a:p>
          <a:p>
            <a:pPr algn="l"/>
            <a:endParaRPr lang="en-US" altLang="ja-JP" dirty="0">
              <a:latin typeface="ＭＳ 明朝" panose="02020609040205080304" pitchFamily="17" charset="-128"/>
              <a:ea typeface="ＭＳ 明朝" panose="02020609040205080304" pitchFamily="17" charset="-128"/>
            </a:endParaRPr>
          </a:p>
          <a:p>
            <a:pPr algn="l"/>
            <a:r>
              <a:rPr lang="ja-JP" altLang="en-US" dirty="0">
                <a:latin typeface="ＭＳ 明朝" panose="02020609040205080304" pitchFamily="17" charset="-128"/>
                <a:ea typeface="ＭＳ 明朝" panose="02020609040205080304" pitchFamily="17" charset="-128"/>
              </a:rPr>
              <a:t>つまり、基本的なログ調査しかできないため高度な検出が難しい。</a:t>
            </a:r>
            <a:endParaRPr lang="en-US" altLang="ja-JP" dirty="0">
              <a:latin typeface="ＭＳ 明朝" panose="02020609040205080304" pitchFamily="17" charset="-128"/>
              <a:ea typeface="ＭＳ 明朝" panose="02020609040205080304" pitchFamily="17" charset="-128"/>
            </a:endParaRPr>
          </a:p>
          <a:p>
            <a:pPr algn="l"/>
            <a:r>
              <a:rPr lang="ja-JP" altLang="en-US" dirty="0">
                <a:latin typeface="ＭＳ 明朝" panose="02020609040205080304" pitchFamily="17" charset="-128"/>
                <a:ea typeface="ＭＳ 明朝" panose="02020609040205080304" pitchFamily="17" charset="-128"/>
              </a:rPr>
              <a:t>よって、</a:t>
            </a:r>
            <a:r>
              <a:rPr lang="en-US" altLang="ja-JP" dirty="0">
                <a:latin typeface="ＭＳ 明朝" panose="02020609040205080304" pitchFamily="17" charset="-128"/>
                <a:ea typeface="ＭＳ 明朝" panose="02020609040205080304" pitchFamily="17" charset="-128"/>
              </a:rPr>
              <a:t>MITRE</a:t>
            </a:r>
            <a:r>
              <a:rPr lang="ja-JP" altLang="en-US" dirty="0">
                <a:latin typeface="ＭＳ 明朝" panose="02020609040205080304" pitchFamily="17" charset="-128"/>
                <a:ea typeface="ＭＳ 明朝" panose="02020609040205080304" pitchFamily="17" charset="-128"/>
              </a:rPr>
              <a:t>手法の後段での検出ではなく初期段階で検出する方針とする。</a:t>
            </a:r>
          </a:p>
        </p:txBody>
      </p:sp>
      <p:sp>
        <p:nvSpPr>
          <p:cNvPr id="4" name="タイトル 1">
            <a:extLst>
              <a:ext uri="{FF2B5EF4-FFF2-40B4-BE49-F238E27FC236}">
                <a16:creationId xmlns:a16="http://schemas.microsoft.com/office/drawing/2014/main" id="{EB056860-8DB8-4592-80FE-8BE6376D07B5}"/>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方針</a:t>
            </a:r>
          </a:p>
        </p:txBody>
      </p:sp>
    </p:spTree>
    <p:extLst>
      <p:ext uri="{BB962C8B-B14F-4D97-AF65-F5344CB8AC3E}">
        <p14:creationId xmlns:p14="http://schemas.microsoft.com/office/powerpoint/2010/main" val="4078410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E5DBA3D-9B31-4584-AF09-42A885C4A8B8}"/>
              </a:ext>
            </a:extLst>
          </p:cNvPr>
          <p:cNvSpPr txBox="1"/>
          <p:nvPr/>
        </p:nvSpPr>
        <p:spPr>
          <a:xfrm>
            <a:off x="1290994" y="2284681"/>
            <a:ext cx="10443885" cy="1015663"/>
          </a:xfrm>
          <a:prstGeom prst="rect">
            <a:avLst/>
          </a:prstGeom>
          <a:noFill/>
        </p:spPr>
        <p:txBody>
          <a:bodyPr wrap="none" rtlCol="0">
            <a:spAutoFit/>
          </a:bodyPr>
          <a:lstStyle/>
          <a:p>
            <a:r>
              <a:rPr kumimoji="1" lang="ja-JP" altLang="en-US" sz="2000" dirty="0">
                <a:latin typeface="ＭＳ 明朝" panose="02020609040205080304" pitchFamily="17" charset="-128"/>
                <a:ea typeface="ＭＳ 明朝" panose="02020609040205080304" pitchFamily="17" charset="-128"/>
              </a:rPr>
              <a:t>作戦成功のための第一条件（前提）は、まず何よりも、作戦目的の明確化であり、</a:t>
            </a:r>
            <a:endParaRPr kumimoji="1" lang="en-US" altLang="ja-JP" sz="2000" dirty="0">
              <a:latin typeface="ＭＳ 明朝" panose="02020609040205080304" pitchFamily="17" charset="-128"/>
              <a:ea typeface="ＭＳ 明朝" panose="02020609040205080304" pitchFamily="17" charset="-128"/>
            </a:endParaRPr>
          </a:p>
          <a:p>
            <a:r>
              <a:rPr kumimoji="1" lang="ja-JP" altLang="en-US" sz="2000" dirty="0">
                <a:latin typeface="ＭＳ 明朝" panose="02020609040205080304" pitchFamily="17" charset="-128"/>
                <a:ea typeface="ＭＳ 明朝" panose="02020609040205080304" pitchFamily="17" charset="-128"/>
              </a:rPr>
              <a:t>それが作戦参加の主要メンバーによって</a:t>
            </a:r>
            <a:r>
              <a:rPr kumimoji="1" lang="ja-JP" altLang="en-US" sz="2000" dirty="0">
                <a:solidFill>
                  <a:srgbClr val="FF0000"/>
                </a:solidFill>
                <a:latin typeface="ＭＳ 明朝" panose="02020609040205080304" pitchFamily="17" charset="-128"/>
                <a:ea typeface="ＭＳ 明朝" panose="02020609040205080304" pitchFamily="17" charset="-128"/>
              </a:rPr>
              <a:t>共通の認識のもとに共有</a:t>
            </a:r>
            <a:r>
              <a:rPr kumimoji="1" lang="ja-JP" altLang="en-US" sz="2000" dirty="0">
                <a:latin typeface="ＭＳ 明朝" panose="02020609040205080304" pitchFamily="17" charset="-128"/>
                <a:ea typeface="ＭＳ 明朝" panose="02020609040205080304" pitchFamily="17" charset="-128"/>
              </a:rPr>
              <a:t>されていること、</a:t>
            </a:r>
            <a:endParaRPr kumimoji="1" lang="en-US" altLang="ja-JP" sz="2000" dirty="0">
              <a:latin typeface="ＭＳ 明朝" panose="02020609040205080304" pitchFamily="17" charset="-128"/>
              <a:ea typeface="ＭＳ 明朝" panose="02020609040205080304" pitchFamily="17" charset="-128"/>
            </a:endParaRPr>
          </a:p>
          <a:p>
            <a:r>
              <a:rPr kumimoji="1" lang="ja-JP" altLang="en-US" sz="2000" dirty="0">
                <a:latin typeface="ＭＳ 明朝" panose="02020609040205080304" pitchFamily="17" charset="-128"/>
                <a:ea typeface="ＭＳ 明朝" panose="02020609040205080304" pitchFamily="17" charset="-128"/>
              </a:rPr>
              <a:t>さらに、目的遂行のための自己の任務の認識が正確になされていることが不可欠である。</a:t>
            </a:r>
          </a:p>
        </p:txBody>
      </p:sp>
      <p:sp>
        <p:nvSpPr>
          <p:cNvPr id="3" name="テキスト ボックス 2">
            <a:extLst>
              <a:ext uri="{FF2B5EF4-FFF2-40B4-BE49-F238E27FC236}">
                <a16:creationId xmlns:a16="http://schemas.microsoft.com/office/drawing/2014/main" id="{3D87437D-8995-4AAA-A6D7-840FC9871B60}"/>
              </a:ext>
            </a:extLst>
          </p:cNvPr>
          <p:cNvSpPr txBox="1"/>
          <p:nvPr/>
        </p:nvSpPr>
        <p:spPr>
          <a:xfrm>
            <a:off x="1290994" y="3880566"/>
            <a:ext cx="10443885" cy="707886"/>
          </a:xfrm>
          <a:prstGeom prst="rect">
            <a:avLst/>
          </a:prstGeom>
          <a:noFill/>
        </p:spPr>
        <p:txBody>
          <a:bodyPr wrap="none" rtlCol="0">
            <a:spAutoFit/>
          </a:bodyPr>
          <a:lstStyle/>
          <a:p>
            <a:r>
              <a:rPr kumimoji="1" lang="ja-JP" altLang="en-US" sz="2000" dirty="0">
                <a:latin typeface="ＭＳ 明朝" panose="02020609040205080304" pitchFamily="17" charset="-128"/>
                <a:ea typeface="ＭＳ 明朝" panose="02020609040205080304" pitchFamily="17" charset="-128"/>
              </a:rPr>
              <a:t>いかなる軍事上の作戦においても、そこには明確な戦略ないし作戦目的が存在しなければ</a:t>
            </a:r>
            <a:endParaRPr kumimoji="1" lang="en-US" altLang="ja-JP" sz="2000" dirty="0">
              <a:latin typeface="ＭＳ 明朝" panose="02020609040205080304" pitchFamily="17" charset="-128"/>
              <a:ea typeface="ＭＳ 明朝" panose="02020609040205080304" pitchFamily="17" charset="-128"/>
            </a:endParaRPr>
          </a:p>
          <a:p>
            <a:r>
              <a:rPr kumimoji="1" lang="ja-JP" altLang="en-US" sz="2000" dirty="0">
                <a:latin typeface="ＭＳ 明朝" panose="02020609040205080304" pitchFamily="17" charset="-128"/>
                <a:ea typeface="ＭＳ 明朝" panose="02020609040205080304" pitchFamily="17" charset="-128"/>
              </a:rPr>
              <a:t>ならない。</a:t>
            </a:r>
            <a:r>
              <a:rPr kumimoji="1" lang="ja-JP" altLang="en-US" sz="2000" dirty="0">
                <a:solidFill>
                  <a:srgbClr val="FF0000"/>
                </a:solidFill>
                <a:latin typeface="ＭＳ 明朝" panose="02020609040205080304" pitchFamily="17" charset="-128"/>
                <a:ea typeface="ＭＳ 明朝" panose="02020609040205080304" pitchFamily="17" charset="-128"/>
              </a:rPr>
              <a:t>目的のあいまいな作戦は、必ず失敗する</a:t>
            </a:r>
            <a:r>
              <a:rPr kumimoji="1" lang="ja-JP" altLang="en-US" sz="2000" dirty="0">
                <a:latin typeface="ＭＳ 明朝" panose="02020609040205080304" pitchFamily="17" charset="-128"/>
                <a:ea typeface="ＭＳ 明朝" panose="02020609040205080304" pitchFamily="17" charset="-128"/>
              </a:rPr>
              <a:t>。</a:t>
            </a:r>
          </a:p>
        </p:txBody>
      </p:sp>
      <p:sp>
        <p:nvSpPr>
          <p:cNvPr id="4" name="タイトル 1">
            <a:extLst>
              <a:ext uri="{FF2B5EF4-FFF2-40B4-BE49-F238E27FC236}">
                <a16:creationId xmlns:a16="http://schemas.microsoft.com/office/drawing/2014/main" id="{2ADFA826-7FB5-4D74-AC1C-9C30BFF82C9E}"/>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方針</a:t>
            </a:r>
          </a:p>
        </p:txBody>
      </p:sp>
      <p:sp>
        <p:nvSpPr>
          <p:cNvPr id="5" name="テキスト ボックス 4">
            <a:extLst>
              <a:ext uri="{FF2B5EF4-FFF2-40B4-BE49-F238E27FC236}">
                <a16:creationId xmlns:a16="http://schemas.microsoft.com/office/drawing/2014/main" id="{B50F4FD2-BFD8-4B09-AD4F-6A7B69450392}"/>
              </a:ext>
            </a:extLst>
          </p:cNvPr>
          <p:cNvSpPr txBox="1"/>
          <p:nvPr/>
        </p:nvSpPr>
        <p:spPr>
          <a:xfrm>
            <a:off x="859792" y="1447617"/>
            <a:ext cx="10337842" cy="400110"/>
          </a:xfrm>
          <a:prstGeom prst="rect">
            <a:avLst/>
          </a:prstGeom>
          <a:noFill/>
          <a:ln>
            <a:noFill/>
          </a:ln>
        </p:spPr>
        <p:txBody>
          <a:bodyPr wrap="square" rtlCol="0">
            <a:spAutoFit/>
          </a:bodyPr>
          <a:lstStyle/>
          <a:p>
            <a:pPr algn="l"/>
            <a:r>
              <a:rPr kumimoji="1" lang="ja-JP" altLang="en-US" sz="2000" dirty="0">
                <a:latin typeface="ＭＳ 明朝" panose="02020609040205080304" pitchFamily="17" charset="-128"/>
                <a:ea typeface="ＭＳ 明朝" panose="02020609040205080304" pitchFamily="17" charset="-128"/>
              </a:rPr>
              <a:t>格言</a:t>
            </a:r>
            <a:endParaRPr kumimoji="1" lang="en-US" altLang="ja-JP" sz="20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3792717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81B289-F120-42E6-B166-D556EBE6307A}"/>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攻撃者想定</a:t>
            </a:r>
          </a:p>
        </p:txBody>
      </p:sp>
      <p:pic>
        <p:nvPicPr>
          <p:cNvPr id="4" name="図 3">
            <a:extLst>
              <a:ext uri="{FF2B5EF4-FFF2-40B4-BE49-F238E27FC236}">
                <a16:creationId xmlns:a16="http://schemas.microsoft.com/office/drawing/2014/main" id="{9B523D96-1573-4355-A253-1C8B1BDEDFEC}"/>
              </a:ext>
            </a:extLst>
          </p:cNvPr>
          <p:cNvPicPr>
            <a:picLocks noChangeAspect="1"/>
          </p:cNvPicPr>
          <p:nvPr/>
        </p:nvPicPr>
        <p:blipFill>
          <a:blip r:embed="rId2"/>
          <a:stretch>
            <a:fillRect/>
          </a:stretch>
        </p:blipFill>
        <p:spPr>
          <a:xfrm>
            <a:off x="2170764" y="1360560"/>
            <a:ext cx="1095645" cy="1097493"/>
          </a:xfrm>
          <a:prstGeom prst="rect">
            <a:avLst/>
          </a:prstGeom>
        </p:spPr>
      </p:pic>
      <p:graphicFrame>
        <p:nvGraphicFramePr>
          <p:cNvPr id="5" name="表 4">
            <a:extLst>
              <a:ext uri="{FF2B5EF4-FFF2-40B4-BE49-F238E27FC236}">
                <a16:creationId xmlns:a16="http://schemas.microsoft.com/office/drawing/2014/main" id="{3E5AD7E1-FEF0-46E5-BB70-FA90418C2A19}"/>
              </a:ext>
            </a:extLst>
          </p:cNvPr>
          <p:cNvGraphicFramePr>
            <a:graphicFrameLocks noGrp="1"/>
          </p:cNvGraphicFramePr>
          <p:nvPr>
            <p:extLst>
              <p:ext uri="{D42A27DB-BD31-4B8C-83A1-F6EECF244321}">
                <p14:modId xmlns:p14="http://schemas.microsoft.com/office/powerpoint/2010/main" val="3616796489"/>
              </p:ext>
            </p:extLst>
          </p:nvPr>
        </p:nvGraphicFramePr>
        <p:xfrm>
          <a:off x="2018828" y="1198131"/>
          <a:ext cx="9054640" cy="4304366"/>
        </p:xfrm>
        <a:graphic>
          <a:graphicData uri="http://schemas.openxmlformats.org/drawingml/2006/table">
            <a:tbl>
              <a:tblPr firstRow="1" bandRow="1">
                <a:tableStyleId>{5940675A-B579-460E-94D1-54222C63F5DA}</a:tableStyleId>
              </a:tblPr>
              <a:tblGrid>
                <a:gridCol w="1486658">
                  <a:extLst>
                    <a:ext uri="{9D8B030D-6E8A-4147-A177-3AD203B41FA5}">
                      <a16:colId xmlns:a16="http://schemas.microsoft.com/office/drawing/2014/main" val="1448507982"/>
                    </a:ext>
                  </a:extLst>
                </a:gridCol>
                <a:gridCol w="7567982">
                  <a:extLst>
                    <a:ext uri="{9D8B030D-6E8A-4147-A177-3AD203B41FA5}">
                      <a16:colId xmlns:a16="http://schemas.microsoft.com/office/drawing/2014/main" val="4133789666"/>
                    </a:ext>
                  </a:extLst>
                </a:gridCol>
              </a:tblGrid>
              <a:tr h="1413388">
                <a:tc>
                  <a:txBody>
                    <a:bodyPr/>
                    <a:lstStyle/>
                    <a:p>
                      <a:endParaRPr kumimoji="1" lang="ja-JP" altLang="en-US" dirty="0"/>
                    </a:p>
                  </a:txBody>
                  <a:tcPr/>
                </a:tc>
                <a:tc>
                  <a:txBody>
                    <a:bodyPr/>
                    <a:lstStyle/>
                    <a:p>
                      <a:r>
                        <a:rPr kumimoji="1" lang="ja-JP" altLang="en-US" dirty="0">
                          <a:latin typeface="ＭＳ 明朝" panose="02020609040205080304" pitchFamily="17" charset="-128"/>
                          <a:ea typeface="ＭＳ 明朝" panose="02020609040205080304" pitchFamily="17" charset="-128"/>
                        </a:rPr>
                        <a:t>「あなたの横にいるもう一人の事務員」</a:t>
                      </a:r>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事務職やオペレータになりすまして業務の流れに紛れ込む。</a:t>
                      </a:r>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目立たず情報や権限をこっそり抜き取る。</a:t>
                      </a:r>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長期潜伏して静かに価値あるデータを集める。</a:t>
                      </a:r>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人を困らせることが大好きな自衛官。</a:t>
                      </a:r>
                    </a:p>
                  </a:txBody>
                  <a:tcPr anchor="ctr"/>
                </a:tc>
                <a:extLst>
                  <a:ext uri="{0D108BD9-81ED-4DB2-BD59-A6C34878D82A}">
                    <a16:rowId xmlns:a16="http://schemas.microsoft.com/office/drawing/2014/main" val="2959507529"/>
                  </a:ext>
                </a:extLst>
              </a:tr>
              <a:tr h="1504333">
                <a:tc>
                  <a:txBody>
                    <a:bodyPr/>
                    <a:lstStyle/>
                    <a:p>
                      <a:endParaRPr kumimoji="1" lang="ja-JP" altLang="en-US" dirty="0"/>
                    </a:p>
                  </a:txBody>
                  <a:tcPr/>
                </a:tc>
                <a:tc>
                  <a:txBody>
                    <a:bodyPr/>
                    <a:lstStyle/>
                    <a:p>
                      <a:r>
                        <a:rPr kumimoji="1" lang="ja-JP" altLang="en-US" dirty="0">
                          <a:latin typeface="ＭＳ 明朝" panose="02020609040205080304" pitchFamily="17" charset="-128"/>
                          <a:ea typeface="ＭＳ 明朝" panose="02020609040205080304" pitchFamily="17" charset="-128"/>
                        </a:rPr>
                        <a:t>「記録は価値を生む」</a:t>
                      </a:r>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抜き取った認証やログを「台帳」のように整理・保管する。</a:t>
                      </a:r>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価値の高い情報を選別して買い手に売却するのが目的。</a:t>
                      </a:r>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証跡の隠蔽と効率的な情報流通を重視する。モラルのない保守業者</a:t>
                      </a:r>
                    </a:p>
                  </a:txBody>
                  <a:tcPr anchor="ctr"/>
                </a:tc>
                <a:extLst>
                  <a:ext uri="{0D108BD9-81ED-4DB2-BD59-A6C34878D82A}">
                    <a16:rowId xmlns:a16="http://schemas.microsoft.com/office/drawing/2014/main" val="2240887587"/>
                  </a:ext>
                </a:extLst>
              </a:tr>
              <a:tr h="1336993">
                <a:tc>
                  <a:txBody>
                    <a:bodyPr/>
                    <a:lstStyle/>
                    <a:p>
                      <a:endParaRPr kumimoji="1" lang="en-US" altLang="ja-JP" dirty="0"/>
                    </a:p>
                    <a:p>
                      <a:endParaRPr kumimoji="1" lang="ja-JP" altLang="en-US" dirty="0"/>
                    </a:p>
                  </a:txBody>
                  <a:tcPr/>
                </a:tc>
                <a:tc>
                  <a:txBody>
                    <a:bodyPr/>
                    <a:lstStyle/>
                    <a:p>
                      <a:r>
                        <a:rPr kumimoji="1" lang="ja-JP" altLang="en-US" dirty="0">
                          <a:latin typeface="ＭＳ 明朝" panose="02020609040205080304" pitchFamily="17" charset="-128"/>
                          <a:ea typeface="ＭＳ 明朝" panose="02020609040205080304" pitchFamily="17" charset="-128"/>
                        </a:rPr>
                        <a:t>「一羽が一件を運ぶ」</a:t>
                      </a:r>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内部協力者を使って情報を回収し外部へ運ぶブローカー。</a:t>
                      </a:r>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小分けにして確実に届け、即座に取引に回す。</a:t>
                      </a:r>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追跡を逃れる分散した受け手ネットワークを持つ。借財を抱えた自衛官</a:t>
                      </a:r>
                    </a:p>
                  </a:txBody>
                  <a:tcPr anchor="ctr"/>
                </a:tc>
                <a:extLst>
                  <a:ext uri="{0D108BD9-81ED-4DB2-BD59-A6C34878D82A}">
                    <a16:rowId xmlns:a16="http://schemas.microsoft.com/office/drawing/2014/main" val="3025560213"/>
                  </a:ext>
                </a:extLst>
              </a:tr>
            </a:tbl>
          </a:graphicData>
        </a:graphic>
      </p:graphicFrame>
      <p:pic>
        <p:nvPicPr>
          <p:cNvPr id="8" name="図 7">
            <a:extLst>
              <a:ext uri="{FF2B5EF4-FFF2-40B4-BE49-F238E27FC236}">
                <a16:creationId xmlns:a16="http://schemas.microsoft.com/office/drawing/2014/main" id="{AEA982A4-F5F7-4CA8-8812-631AF1F8DB51}"/>
              </a:ext>
            </a:extLst>
          </p:cNvPr>
          <p:cNvPicPr>
            <a:picLocks noChangeAspect="1"/>
          </p:cNvPicPr>
          <p:nvPr/>
        </p:nvPicPr>
        <p:blipFill>
          <a:blip r:embed="rId3"/>
          <a:stretch>
            <a:fillRect/>
          </a:stretch>
        </p:blipFill>
        <p:spPr>
          <a:xfrm>
            <a:off x="2193805" y="2882783"/>
            <a:ext cx="1099343" cy="1097492"/>
          </a:xfrm>
          <a:prstGeom prst="rect">
            <a:avLst/>
          </a:prstGeom>
        </p:spPr>
      </p:pic>
      <p:pic>
        <p:nvPicPr>
          <p:cNvPr id="10" name="図 9">
            <a:extLst>
              <a:ext uri="{FF2B5EF4-FFF2-40B4-BE49-F238E27FC236}">
                <a16:creationId xmlns:a16="http://schemas.microsoft.com/office/drawing/2014/main" id="{37D35A29-C441-43A4-A794-F9D06CA25D99}"/>
              </a:ext>
            </a:extLst>
          </p:cNvPr>
          <p:cNvPicPr>
            <a:picLocks noChangeAspect="1"/>
          </p:cNvPicPr>
          <p:nvPr/>
        </p:nvPicPr>
        <p:blipFill>
          <a:blip r:embed="rId4"/>
          <a:stretch>
            <a:fillRect/>
          </a:stretch>
        </p:blipFill>
        <p:spPr>
          <a:xfrm>
            <a:off x="2193805" y="4238563"/>
            <a:ext cx="1105615" cy="1107480"/>
          </a:xfrm>
          <a:prstGeom prst="rect">
            <a:avLst/>
          </a:prstGeom>
        </p:spPr>
      </p:pic>
    </p:spTree>
    <p:extLst>
      <p:ext uri="{BB962C8B-B14F-4D97-AF65-F5344CB8AC3E}">
        <p14:creationId xmlns:p14="http://schemas.microsoft.com/office/powerpoint/2010/main" val="600402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DE9248-6DA4-436A-9D48-1E7613D93353}"/>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ネットワーク構成図（神の目）</a:t>
            </a:r>
          </a:p>
        </p:txBody>
      </p:sp>
      <p:pic>
        <p:nvPicPr>
          <p:cNvPr id="3" name="図 2">
            <a:extLst>
              <a:ext uri="{FF2B5EF4-FFF2-40B4-BE49-F238E27FC236}">
                <a16:creationId xmlns:a16="http://schemas.microsoft.com/office/drawing/2014/main" id="{0CC10130-D432-4645-B8F0-C0F4E4C96EAF}"/>
              </a:ext>
            </a:extLst>
          </p:cNvPr>
          <p:cNvPicPr>
            <a:picLocks noChangeAspect="1"/>
          </p:cNvPicPr>
          <p:nvPr/>
        </p:nvPicPr>
        <p:blipFill>
          <a:blip r:embed="rId2"/>
          <a:stretch>
            <a:fillRect/>
          </a:stretch>
        </p:blipFill>
        <p:spPr>
          <a:xfrm>
            <a:off x="1671335" y="1008376"/>
            <a:ext cx="8849330" cy="5707698"/>
          </a:xfrm>
          <a:prstGeom prst="rect">
            <a:avLst/>
          </a:prstGeom>
          <a:ln>
            <a:solidFill>
              <a:schemeClr val="tx1"/>
            </a:solidFill>
          </a:ln>
        </p:spPr>
      </p:pic>
      <p:sp>
        <p:nvSpPr>
          <p:cNvPr id="4" name="正方形/長方形 3">
            <a:extLst>
              <a:ext uri="{FF2B5EF4-FFF2-40B4-BE49-F238E27FC236}">
                <a16:creationId xmlns:a16="http://schemas.microsoft.com/office/drawing/2014/main" id="{10134FD2-212B-4064-A08A-FE16F5F98D2C}"/>
              </a:ext>
            </a:extLst>
          </p:cNvPr>
          <p:cNvSpPr/>
          <p:nvPr/>
        </p:nvSpPr>
        <p:spPr>
          <a:xfrm>
            <a:off x="1578731" y="746766"/>
            <a:ext cx="748923" cy="261610"/>
          </a:xfrm>
          <a:prstGeom prst="rect">
            <a:avLst/>
          </a:prstGeom>
        </p:spPr>
        <p:txBody>
          <a:bodyPr wrap="none">
            <a:spAutoFit/>
          </a:bodyPr>
          <a:lstStyle/>
          <a:p>
            <a:r>
              <a:rPr lang="ja-JP" altLang="ja-JP" sz="1050" kern="100" dirty="0">
                <a:latin typeface="Century" panose="02040604050505020304" pitchFamily="18" charset="0"/>
                <a:ea typeface="ＭＳ 明朝" panose="02020609040205080304" pitchFamily="17" charset="-128"/>
                <a:cs typeface="Times New Roman" panose="02020603050405020304" pitchFamily="18" charset="0"/>
              </a:rPr>
              <a:t>７．府中</a:t>
            </a:r>
          </a:p>
        </p:txBody>
      </p:sp>
      <p:sp>
        <p:nvSpPr>
          <p:cNvPr id="5" name="テキスト ボックス 4">
            <a:extLst>
              <a:ext uri="{FF2B5EF4-FFF2-40B4-BE49-F238E27FC236}">
                <a16:creationId xmlns:a16="http://schemas.microsoft.com/office/drawing/2014/main" id="{C29F4C37-73EF-41D3-9EAD-549E0240805F}"/>
              </a:ext>
            </a:extLst>
          </p:cNvPr>
          <p:cNvSpPr txBox="1"/>
          <p:nvPr/>
        </p:nvSpPr>
        <p:spPr>
          <a:xfrm>
            <a:off x="8523214" y="877001"/>
            <a:ext cx="3185487" cy="923330"/>
          </a:xfrm>
          <a:prstGeom prst="rect">
            <a:avLst/>
          </a:prstGeom>
          <a:solidFill>
            <a:srgbClr val="FFFF00"/>
          </a:solidFill>
          <a:ln>
            <a:solidFill>
              <a:schemeClr val="tx1"/>
            </a:solidFill>
          </a:ln>
        </p:spPr>
        <p:txBody>
          <a:bodyPr wrap="none" rtlCol="0">
            <a:spAutoFit/>
          </a:bodyPr>
          <a:lstStyle/>
          <a:p>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水色部分が</a:t>
            </a:r>
            <a:r>
              <a:rPr kumimoji="1" lang="en-US" altLang="ja-JP" dirty="0">
                <a:latin typeface="ＭＳ 明朝" panose="02020609040205080304" pitchFamily="17" charset="-128"/>
                <a:ea typeface="ＭＳ 明朝" panose="02020609040205080304" pitchFamily="17" charset="-128"/>
              </a:rPr>
              <a:t>FADP</a:t>
            </a:r>
            <a:r>
              <a:rPr kumimoji="1" lang="ja-JP" altLang="en-US" dirty="0">
                <a:latin typeface="ＭＳ 明朝" panose="02020609040205080304" pitchFamily="17" charset="-128"/>
                <a:ea typeface="ＭＳ 明朝" panose="02020609040205080304" pitchFamily="17" charset="-128"/>
              </a:rPr>
              <a:t>ネットワーク</a:t>
            </a:r>
            <a:endParaRPr kumimoji="1" lang="en-US" altLang="ja-JP" dirty="0">
              <a:latin typeface="ＭＳ 明朝" panose="02020609040205080304" pitchFamily="17" charset="-128"/>
              <a:ea typeface="ＭＳ 明朝" panose="02020609040205080304" pitchFamily="17" charset="-128"/>
            </a:endParaRPr>
          </a:p>
          <a:p>
            <a:endParaRPr kumimoji="1" lang="ja-JP" altLang="en-US"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3798069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848507-39B8-4B52-A92E-9A10CBF70DC7}"/>
              </a:ext>
            </a:extLst>
          </p:cNvPr>
          <p:cNvSpPr txBox="1">
            <a:spLocks/>
          </p:cNvSpPr>
          <p:nvPr/>
        </p:nvSpPr>
        <p:spPr>
          <a:xfrm>
            <a:off x="1816300"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ネットワーク構成図（神の目）</a:t>
            </a:r>
          </a:p>
        </p:txBody>
      </p:sp>
      <p:pic>
        <p:nvPicPr>
          <p:cNvPr id="3" name="図 2">
            <a:extLst>
              <a:ext uri="{FF2B5EF4-FFF2-40B4-BE49-F238E27FC236}">
                <a16:creationId xmlns:a16="http://schemas.microsoft.com/office/drawing/2014/main" id="{B849AF3D-915E-40F1-89B7-6DD2B6687298}"/>
              </a:ext>
            </a:extLst>
          </p:cNvPr>
          <p:cNvPicPr>
            <a:picLocks noChangeAspect="1"/>
          </p:cNvPicPr>
          <p:nvPr/>
        </p:nvPicPr>
        <p:blipFill rotWithShape="1">
          <a:blip r:embed="rId2">
            <a:extLst>
              <a:ext uri="{28A0092B-C50C-407E-A947-70E740481C1C}">
                <a14:useLocalDpi xmlns:a14="http://schemas.microsoft.com/office/drawing/2010/main" val="0"/>
              </a:ext>
            </a:extLst>
          </a:blip>
          <a:srcRect l="2533" b="18925"/>
          <a:stretch/>
        </p:blipFill>
        <p:spPr>
          <a:xfrm>
            <a:off x="84068" y="726118"/>
            <a:ext cx="9445548" cy="6054244"/>
          </a:xfrm>
          <a:prstGeom prst="rect">
            <a:avLst/>
          </a:prstGeom>
          <a:ln>
            <a:solidFill>
              <a:srgbClr val="0070C0"/>
            </a:solidFill>
          </a:ln>
        </p:spPr>
      </p:pic>
      <p:sp>
        <p:nvSpPr>
          <p:cNvPr id="4" name="楕円 3">
            <a:extLst>
              <a:ext uri="{FF2B5EF4-FFF2-40B4-BE49-F238E27FC236}">
                <a16:creationId xmlns:a16="http://schemas.microsoft.com/office/drawing/2014/main" id="{3D399837-A379-4BD8-B0F3-CD1637740A31}"/>
              </a:ext>
            </a:extLst>
          </p:cNvPr>
          <p:cNvSpPr/>
          <p:nvPr/>
        </p:nvSpPr>
        <p:spPr>
          <a:xfrm>
            <a:off x="2918307" y="3194936"/>
            <a:ext cx="1295400" cy="640080"/>
          </a:xfrm>
          <a:prstGeom prst="ellipse">
            <a:avLst/>
          </a:prstGeom>
          <a:no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016C0DA4-2FBC-4328-BE8D-60376BB2C8BA}"/>
              </a:ext>
            </a:extLst>
          </p:cNvPr>
          <p:cNvSpPr/>
          <p:nvPr/>
        </p:nvSpPr>
        <p:spPr>
          <a:xfrm>
            <a:off x="4416076" y="3444240"/>
            <a:ext cx="309880" cy="327631"/>
          </a:xfrm>
          <a:prstGeom prst="ellipse">
            <a:avLst/>
          </a:prstGeom>
          <a:no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354FCA77-F392-4B2B-9663-66B1EF8647B5}"/>
              </a:ext>
            </a:extLst>
          </p:cNvPr>
          <p:cNvSpPr/>
          <p:nvPr/>
        </p:nvSpPr>
        <p:spPr>
          <a:xfrm>
            <a:off x="1069404" y="3472130"/>
            <a:ext cx="309880" cy="327631"/>
          </a:xfrm>
          <a:prstGeom prst="ellipse">
            <a:avLst/>
          </a:prstGeom>
          <a:no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59F96C4F-C552-43DD-804C-9588E0E78268}"/>
              </a:ext>
            </a:extLst>
          </p:cNvPr>
          <p:cNvSpPr/>
          <p:nvPr/>
        </p:nvSpPr>
        <p:spPr>
          <a:xfrm>
            <a:off x="1868960" y="3489384"/>
            <a:ext cx="309880" cy="327631"/>
          </a:xfrm>
          <a:prstGeom prst="ellipse">
            <a:avLst/>
          </a:prstGeom>
          <a:no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D76452FE-F798-448C-8ED6-5ECC61043AE1}"/>
              </a:ext>
            </a:extLst>
          </p:cNvPr>
          <p:cNvSpPr/>
          <p:nvPr/>
        </p:nvSpPr>
        <p:spPr>
          <a:xfrm>
            <a:off x="2381872" y="3489385"/>
            <a:ext cx="309880" cy="327631"/>
          </a:xfrm>
          <a:prstGeom prst="ellipse">
            <a:avLst/>
          </a:prstGeom>
          <a:no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AF21D12F-ACC6-4BBC-AF00-E15CF36EA4F6}"/>
              </a:ext>
            </a:extLst>
          </p:cNvPr>
          <p:cNvSpPr/>
          <p:nvPr/>
        </p:nvSpPr>
        <p:spPr>
          <a:xfrm>
            <a:off x="359746" y="3425609"/>
            <a:ext cx="309880" cy="327631"/>
          </a:xfrm>
          <a:prstGeom prst="ellipse">
            <a:avLst/>
          </a:prstGeom>
          <a:no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6F3D047A-8C1A-4F75-B665-7CB5D384EB0E}"/>
              </a:ext>
            </a:extLst>
          </p:cNvPr>
          <p:cNvSpPr/>
          <p:nvPr/>
        </p:nvSpPr>
        <p:spPr>
          <a:xfrm>
            <a:off x="2955714" y="5237670"/>
            <a:ext cx="309880" cy="327631"/>
          </a:xfrm>
          <a:prstGeom prst="ellipse">
            <a:avLst/>
          </a:prstGeom>
          <a:no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9D200404-B70F-4F75-8607-706C61217FDE}"/>
              </a:ext>
            </a:extLst>
          </p:cNvPr>
          <p:cNvSpPr/>
          <p:nvPr/>
        </p:nvSpPr>
        <p:spPr>
          <a:xfrm>
            <a:off x="1042017" y="5332560"/>
            <a:ext cx="309880" cy="327631"/>
          </a:xfrm>
          <a:prstGeom prst="ellipse">
            <a:avLst/>
          </a:prstGeom>
          <a:no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05CA891A-FA68-41FB-8A20-03E044A07EBD}"/>
              </a:ext>
            </a:extLst>
          </p:cNvPr>
          <p:cNvSpPr/>
          <p:nvPr/>
        </p:nvSpPr>
        <p:spPr>
          <a:xfrm>
            <a:off x="4576783" y="5315307"/>
            <a:ext cx="309880" cy="327631"/>
          </a:xfrm>
          <a:prstGeom prst="ellipse">
            <a:avLst/>
          </a:prstGeom>
          <a:no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55E0E341-4A3A-454A-B1BE-FD9A4F67A498}"/>
              </a:ext>
            </a:extLst>
          </p:cNvPr>
          <p:cNvSpPr/>
          <p:nvPr/>
        </p:nvSpPr>
        <p:spPr>
          <a:xfrm>
            <a:off x="2637088" y="1971046"/>
            <a:ext cx="309880" cy="327631"/>
          </a:xfrm>
          <a:prstGeom prst="ellipse">
            <a:avLst/>
          </a:prstGeom>
          <a:no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3A71C4CD-CC50-4870-B190-2314B90416D8}"/>
              </a:ext>
            </a:extLst>
          </p:cNvPr>
          <p:cNvSpPr/>
          <p:nvPr/>
        </p:nvSpPr>
        <p:spPr>
          <a:xfrm>
            <a:off x="4083336" y="1971046"/>
            <a:ext cx="309880" cy="327631"/>
          </a:xfrm>
          <a:prstGeom prst="ellipse">
            <a:avLst/>
          </a:prstGeom>
          <a:no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222C2EA4-60D8-4F73-A435-83CC9811234E}"/>
              </a:ext>
            </a:extLst>
          </p:cNvPr>
          <p:cNvSpPr/>
          <p:nvPr/>
        </p:nvSpPr>
        <p:spPr>
          <a:xfrm>
            <a:off x="6561781" y="3072100"/>
            <a:ext cx="309880" cy="327631"/>
          </a:xfrm>
          <a:prstGeom prst="ellipse">
            <a:avLst/>
          </a:prstGeom>
          <a:no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C59C143A-5096-4C77-9DA3-F15E77E2827F}"/>
              </a:ext>
            </a:extLst>
          </p:cNvPr>
          <p:cNvSpPr/>
          <p:nvPr/>
        </p:nvSpPr>
        <p:spPr>
          <a:xfrm>
            <a:off x="303482" y="3097977"/>
            <a:ext cx="1118932" cy="744915"/>
          </a:xfrm>
          <a:prstGeom prst="roundRect">
            <a:avLst>
              <a:gd name="adj" fmla="val 9719"/>
            </a:avLst>
          </a:prstGeom>
          <a:noFill/>
          <a:ln w="38100">
            <a:solidFill>
              <a:schemeClr val="accent6">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E63391BE-9373-420F-9068-2C45450A95C3}"/>
              </a:ext>
            </a:extLst>
          </p:cNvPr>
          <p:cNvSpPr txBox="1"/>
          <p:nvPr/>
        </p:nvSpPr>
        <p:spPr>
          <a:xfrm>
            <a:off x="260352" y="3063474"/>
            <a:ext cx="730249" cy="276999"/>
          </a:xfrm>
          <a:prstGeom prst="rect">
            <a:avLst/>
          </a:prstGeom>
          <a:noFill/>
        </p:spPr>
        <p:txBody>
          <a:bodyPr wrap="square" rtlCol="0">
            <a:spAutoFit/>
          </a:bodyPr>
          <a:lstStyle/>
          <a:p>
            <a:r>
              <a:rPr kumimoji="1" lang="en-US" altLang="ja-JP" sz="1200" dirty="0">
                <a:highlight>
                  <a:srgbClr val="00FF00"/>
                </a:highlight>
              </a:rPr>
              <a:t>DMZ</a:t>
            </a:r>
            <a:endParaRPr kumimoji="1" lang="ja-JP" altLang="en-US" sz="1200" dirty="0">
              <a:highlight>
                <a:srgbClr val="00FF00"/>
              </a:highlight>
            </a:endParaRPr>
          </a:p>
        </p:txBody>
      </p:sp>
      <p:sp>
        <p:nvSpPr>
          <p:cNvPr id="18" name="四角形: 角を丸くする 17">
            <a:extLst>
              <a:ext uri="{FF2B5EF4-FFF2-40B4-BE49-F238E27FC236}">
                <a16:creationId xmlns:a16="http://schemas.microsoft.com/office/drawing/2014/main" id="{02216715-8FBC-4D93-A2D3-DE66CB5F1860}"/>
              </a:ext>
            </a:extLst>
          </p:cNvPr>
          <p:cNvSpPr/>
          <p:nvPr/>
        </p:nvSpPr>
        <p:spPr>
          <a:xfrm>
            <a:off x="1042017" y="2298677"/>
            <a:ext cx="995638" cy="654070"/>
          </a:xfrm>
          <a:prstGeom prst="roundRect">
            <a:avLst>
              <a:gd name="adj" fmla="val 9719"/>
            </a:avLst>
          </a:prstGeom>
          <a:noFill/>
          <a:ln w="38100">
            <a:solidFill>
              <a:schemeClr val="accent6">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E851D4EE-882E-4990-9475-171CEAEEED99}"/>
              </a:ext>
            </a:extLst>
          </p:cNvPr>
          <p:cNvSpPr/>
          <p:nvPr/>
        </p:nvSpPr>
        <p:spPr>
          <a:xfrm>
            <a:off x="4895288" y="2226917"/>
            <a:ext cx="2054345" cy="654070"/>
          </a:xfrm>
          <a:prstGeom prst="roundRect">
            <a:avLst>
              <a:gd name="adj" fmla="val 9719"/>
            </a:avLst>
          </a:prstGeom>
          <a:noFill/>
          <a:ln w="38100">
            <a:solidFill>
              <a:schemeClr val="accent6">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4F5423F1-B828-456D-8342-9E6D7A84EEB1}"/>
              </a:ext>
            </a:extLst>
          </p:cNvPr>
          <p:cNvSpPr/>
          <p:nvPr/>
        </p:nvSpPr>
        <p:spPr>
          <a:xfrm>
            <a:off x="9725344" y="5983395"/>
            <a:ext cx="309880" cy="327631"/>
          </a:xfrm>
          <a:prstGeom prst="ellipse">
            <a:avLst/>
          </a:prstGeom>
          <a:noFill/>
          <a:ln w="38100">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69DEEE81-AF32-4722-A6CF-D717C5E3DF48}"/>
              </a:ext>
            </a:extLst>
          </p:cNvPr>
          <p:cNvSpPr txBox="1"/>
          <p:nvPr/>
        </p:nvSpPr>
        <p:spPr>
          <a:xfrm>
            <a:off x="10030558" y="5943744"/>
            <a:ext cx="1095555" cy="369332"/>
          </a:xfrm>
          <a:prstGeom prst="rect">
            <a:avLst/>
          </a:prstGeom>
          <a:noFill/>
        </p:spPr>
        <p:txBody>
          <a:bodyPr wrap="square" rtlCol="0">
            <a:spAutoFit/>
          </a:bodyPr>
          <a:lstStyle/>
          <a:p>
            <a:r>
              <a:rPr kumimoji="1" lang="en-US" altLang="ja-JP" dirty="0"/>
              <a:t>MRT-C</a:t>
            </a:r>
            <a:endParaRPr kumimoji="1" lang="ja-JP" altLang="en-US" dirty="0"/>
          </a:p>
        </p:txBody>
      </p:sp>
      <p:sp>
        <p:nvSpPr>
          <p:cNvPr id="22" name="四角形: 角を丸くする 21">
            <a:extLst>
              <a:ext uri="{FF2B5EF4-FFF2-40B4-BE49-F238E27FC236}">
                <a16:creationId xmlns:a16="http://schemas.microsoft.com/office/drawing/2014/main" id="{519927CC-F842-4EC1-8D12-4054668E1E0B}"/>
              </a:ext>
            </a:extLst>
          </p:cNvPr>
          <p:cNvSpPr/>
          <p:nvPr/>
        </p:nvSpPr>
        <p:spPr>
          <a:xfrm>
            <a:off x="9725344" y="6431880"/>
            <a:ext cx="319392" cy="327631"/>
          </a:xfrm>
          <a:prstGeom prst="roundRect">
            <a:avLst>
              <a:gd name="adj" fmla="val 9719"/>
            </a:avLst>
          </a:prstGeom>
          <a:noFill/>
          <a:ln w="38100">
            <a:solidFill>
              <a:schemeClr val="accent6">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867C041B-AC68-4B90-AFDE-5C214AE1DB1D}"/>
              </a:ext>
            </a:extLst>
          </p:cNvPr>
          <p:cNvSpPr txBox="1"/>
          <p:nvPr/>
        </p:nvSpPr>
        <p:spPr>
          <a:xfrm>
            <a:off x="10030558" y="6411030"/>
            <a:ext cx="1095555" cy="369332"/>
          </a:xfrm>
          <a:prstGeom prst="rect">
            <a:avLst/>
          </a:prstGeom>
          <a:noFill/>
        </p:spPr>
        <p:txBody>
          <a:bodyPr wrap="square" rtlCol="0">
            <a:spAutoFit/>
          </a:bodyPr>
          <a:lstStyle/>
          <a:p>
            <a:r>
              <a:rPr lang="en-US" altLang="ja-JP" dirty="0"/>
              <a:t>K</a:t>
            </a:r>
            <a:r>
              <a:rPr kumimoji="1" lang="en-US" altLang="ja-JP" dirty="0"/>
              <a:t>T-C</a:t>
            </a:r>
            <a:endParaRPr kumimoji="1" lang="ja-JP" altLang="en-US" dirty="0"/>
          </a:p>
        </p:txBody>
      </p:sp>
      <p:sp>
        <p:nvSpPr>
          <p:cNvPr id="24" name="テキスト ボックス 23">
            <a:extLst>
              <a:ext uri="{FF2B5EF4-FFF2-40B4-BE49-F238E27FC236}">
                <a16:creationId xmlns:a16="http://schemas.microsoft.com/office/drawing/2014/main" id="{56BAF712-74AA-40C0-AEEC-C10BFD6468F2}"/>
              </a:ext>
            </a:extLst>
          </p:cNvPr>
          <p:cNvSpPr txBox="1"/>
          <p:nvPr/>
        </p:nvSpPr>
        <p:spPr>
          <a:xfrm>
            <a:off x="8844347" y="726118"/>
            <a:ext cx="685269" cy="369332"/>
          </a:xfrm>
          <a:prstGeom prst="rect">
            <a:avLst/>
          </a:prstGeom>
          <a:noFill/>
          <a:ln>
            <a:solidFill>
              <a:srgbClr val="00B0F0"/>
            </a:solidFill>
          </a:ln>
        </p:spPr>
        <p:txBody>
          <a:bodyPr wrap="square" rtlCol="0">
            <a:spAutoFit/>
          </a:bodyPr>
          <a:lstStyle/>
          <a:p>
            <a:pPr algn="ctr"/>
            <a:r>
              <a:rPr kumimoji="1" lang="ja-JP" altLang="en-US" dirty="0"/>
              <a:t>府中</a:t>
            </a:r>
          </a:p>
        </p:txBody>
      </p:sp>
      <p:graphicFrame>
        <p:nvGraphicFramePr>
          <p:cNvPr id="25" name="表 24">
            <a:extLst>
              <a:ext uri="{FF2B5EF4-FFF2-40B4-BE49-F238E27FC236}">
                <a16:creationId xmlns:a16="http://schemas.microsoft.com/office/drawing/2014/main" id="{821CE8D8-B73C-4158-B357-99079A70C5F6}"/>
              </a:ext>
            </a:extLst>
          </p:cNvPr>
          <p:cNvGraphicFramePr>
            <a:graphicFrameLocks noGrp="1"/>
          </p:cNvGraphicFramePr>
          <p:nvPr>
            <p:extLst/>
          </p:nvPr>
        </p:nvGraphicFramePr>
        <p:xfrm>
          <a:off x="9574034" y="744131"/>
          <a:ext cx="2584409" cy="4937760"/>
        </p:xfrm>
        <a:graphic>
          <a:graphicData uri="http://schemas.openxmlformats.org/drawingml/2006/table">
            <a:tbl>
              <a:tblPr firstRow="1" bandRow="1">
                <a:tableStyleId>{5940675A-B579-460E-94D1-54222C63F5DA}</a:tableStyleId>
              </a:tblPr>
              <a:tblGrid>
                <a:gridCol w="305255">
                  <a:extLst>
                    <a:ext uri="{9D8B030D-6E8A-4147-A177-3AD203B41FA5}">
                      <a16:colId xmlns:a16="http://schemas.microsoft.com/office/drawing/2014/main" val="410978796"/>
                    </a:ext>
                  </a:extLst>
                </a:gridCol>
                <a:gridCol w="762685">
                  <a:extLst>
                    <a:ext uri="{9D8B030D-6E8A-4147-A177-3AD203B41FA5}">
                      <a16:colId xmlns:a16="http://schemas.microsoft.com/office/drawing/2014/main" val="2877191860"/>
                    </a:ext>
                  </a:extLst>
                </a:gridCol>
                <a:gridCol w="1516469">
                  <a:extLst>
                    <a:ext uri="{9D8B030D-6E8A-4147-A177-3AD203B41FA5}">
                      <a16:colId xmlns:a16="http://schemas.microsoft.com/office/drawing/2014/main" val="3927787337"/>
                    </a:ext>
                  </a:extLst>
                </a:gridCol>
              </a:tblGrid>
              <a:tr h="185741">
                <a:tc gridSpan="3">
                  <a:txBody>
                    <a:bodyPr/>
                    <a:lstStyle/>
                    <a:p>
                      <a:pPr algn="ctr"/>
                      <a:r>
                        <a:rPr kumimoji="1" lang="ja-JP" altLang="en-US" sz="900" b="1" dirty="0">
                          <a:latin typeface="ＭＳ ゴシック" panose="020B0609070205080204" pitchFamily="49" charset="-128"/>
                          <a:ea typeface="ＭＳ ゴシック" panose="020B0609070205080204" pitchFamily="49" charset="-128"/>
                        </a:rPr>
                        <a:t>府　中</a:t>
                      </a:r>
                    </a:p>
                  </a:txBody>
                  <a:tcPr anchor="ctr">
                    <a:solidFill>
                      <a:schemeClr val="accent1">
                        <a:lumMod val="20000"/>
                        <a:lumOff val="80000"/>
                      </a:schemeClr>
                    </a:solidFill>
                  </a:tcPr>
                </a:tc>
                <a:tc hMerge="1">
                  <a:txBody>
                    <a:bodyPr/>
                    <a:lstStyle/>
                    <a:p>
                      <a:pPr algn="ctr"/>
                      <a:endParaRPr kumimoji="1" lang="ja-JP" altLang="en-US" sz="800" b="0" dirty="0">
                        <a:latin typeface="ＭＳ ゴシック" panose="020B0609070205080204" pitchFamily="49" charset="-128"/>
                        <a:ea typeface="ＭＳ ゴシック" panose="020B0609070205080204" pitchFamily="49" charset="-128"/>
                      </a:endParaRPr>
                    </a:p>
                  </a:txBody>
                  <a:tcPr>
                    <a:solidFill>
                      <a:schemeClr val="accent1">
                        <a:lumMod val="20000"/>
                        <a:lumOff val="80000"/>
                      </a:schemeClr>
                    </a:solidFill>
                  </a:tcPr>
                </a:tc>
                <a:tc hMerge="1">
                  <a:txBody>
                    <a:bodyPr/>
                    <a:lstStyle/>
                    <a:p>
                      <a:pPr algn="ctr"/>
                      <a:endParaRPr kumimoji="1" lang="ja-JP" altLang="en-US" sz="800" b="0" dirty="0">
                        <a:latin typeface="ＭＳ ゴシック" panose="020B0609070205080204" pitchFamily="49" charset="-128"/>
                        <a:ea typeface="ＭＳ ゴシック" panose="020B0609070205080204" pitchFamily="49" charset="-128"/>
                      </a:endParaRPr>
                    </a:p>
                  </a:txBody>
                  <a:tcPr>
                    <a:solidFill>
                      <a:schemeClr val="accent1">
                        <a:lumMod val="20000"/>
                        <a:lumOff val="80000"/>
                      </a:schemeClr>
                    </a:solidFill>
                  </a:tcPr>
                </a:tc>
                <a:extLst>
                  <a:ext uri="{0D108BD9-81ED-4DB2-BD59-A6C34878D82A}">
                    <a16:rowId xmlns:a16="http://schemas.microsoft.com/office/drawing/2014/main" val="2236990018"/>
                  </a:ext>
                </a:extLst>
              </a:tr>
              <a:tr h="185741">
                <a:tc>
                  <a:txBody>
                    <a:bodyPr/>
                    <a:lstStyle/>
                    <a:p>
                      <a:pPr algn="l"/>
                      <a:r>
                        <a:rPr kumimoji="1" lang="ja-JP" altLang="en-US" sz="900" b="1" dirty="0">
                          <a:latin typeface="ＭＳ ゴシック" panose="020B0609070205080204" pitchFamily="49" charset="-128"/>
                          <a:ea typeface="ＭＳ ゴシック" panose="020B0609070205080204" pitchFamily="49" charset="-128"/>
                        </a:rPr>
                        <a:t>連番</a:t>
                      </a:r>
                    </a:p>
                  </a:txBody>
                  <a:tcPr anchor="ctr">
                    <a:solidFill>
                      <a:schemeClr val="accent1">
                        <a:lumMod val="20000"/>
                        <a:lumOff val="80000"/>
                      </a:schemeClr>
                    </a:solidFill>
                  </a:tcPr>
                </a:tc>
                <a:tc>
                  <a:txBody>
                    <a:bodyPr/>
                    <a:lstStyle/>
                    <a:p>
                      <a:pPr algn="ctr"/>
                      <a:r>
                        <a:rPr kumimoji="1" lang="ja-JP" altLang="en-US" sz="900" b="1" dirty="0">
                          <a:latin typeface="ＭＳ ゴシック" panose="020B0609070205080204" pitchFamily="49" charset="-128"/>
                          <a:ea typeface="ＭＳ ゴシック" panose="020B0609070205080204" pitchFamily="49" charset="-128"/>
                        </a:rPr>
                        <a:t>資　産</a:t>
                      </a:r>
                    </a:p>
                  </a:txBody>
                  <a:tcPr anchor="ctr">
                    <a:solidFill>
                      <a:schemeClr val="accent1">
                        <a:lumMod val="20000"/>
                        <a:lumOff val="80000"/>
                      </a:schemeClr>
                    </a:solidFill>
                  </a:tcPr>
                </a:tc>
                <a:tc>
                  <a:txBody>
                    <a:bodyPr/>
                    <a:lstStyle/>
                    <a:p>
                      <a:pPr algn="ctr"/>
                      <a:r>
                        <a:rPr kumimoji="1" lang="ja-JP" altLang="en-US" sz="900" b="1" dirty="0">
                          <a:latin typeface="ＭＳ ゴシック" panose="020B0609070205080204" pitchFamily="49" charset="-128"/>
                          <a:ea typeface="ＭＳ ゴシック" panose="020B0609070205080204" pitchFamily="49" charset="-128"/>
                        </a:rPr>
                        <a:t>一般的価値</a:t>
                      </a:r>
                    </a:p>
                  </a:txBody>
                  <a:tcPr anchor="ctr">
                    <a:solidFill>
                      <a:schemeClr val="accent1">
                        <a:lumMod val="20000"/>
                        <a:lumOff val="80000"/>
                      </a:schemeClr>
                    </a:solidFill>
                  </a:tcPr>
                </a:tc>
                <a:extLst>
                  <a:ext uri="{0D108BD9-81ED-4DB2-BD59-A6C34878D82A}">
                    <a16:rowId xmlns:a16="http://schemas.microsoft.com/office/drawing/2014/main" val="1463866529"/>
                  </a:ext>
                </a:extLst>
              </a:tr>
              <a:tr h="291879">
                <a:tc>
                  <a:txBody>
                    <a:bodyPr/>
                    <a:lstStyle/>
                    <a:p>
                      <a:pPr algn="ctr"/>
                      <a:r>
                        <a:rPr kumimoji="1" lang="ja-JP" altLang="en-US" sz="900" b="0" dirty="0">
                          <a:latin typeface="ＭＳ ゴシック" panose="020B0609070205080204" pitchFamily="49" charset="-128"/>
                          <a:ea typeface="ＭＳ ゴシック" panose="020B0609070205080204" pitchFamily="49" charset="-128"/>
                        </a:rPr>
                        <a:t>①</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kern="1200" dirty="0">
                          <a:latin typeface="ＭＳ ゴシック" panose="020B0609070205080204" pitchFamily="49" charset="-128"/>
                          <a:ea typeface="ＭＳ ゴシック" panose="020B0609070205080204" pitchFamily="49" charset="-128"/>
                        </a:rPr>
                        <a:t>運航情報処理装置</a:t>
                      </a:r>
                      <a:endParaRPr kumimoji="1" lang="en-US" altLang="ja-JP" sz="900" b="0" kern="1200" dirty="0">
                        <a:solidFill>
                          <a:schemeClr val="tx1"/>
                        </a:solidFill>
                        <a:latin typeface="ＭＳ ゴシック" panose="020B0609070205080204" pitchFamily="49" charset="-128"/>
                        <a:ea typeface="ＭＳ ゴシック" panose="020B0609070205080204" pitchFamily="49" charset="-128"/>
                        <a:cs typeface="+mn-cs"/>
                      </a:endParaRPr>
                    </a:p>
                  </a:txBody>
                  <a:tcPr anchor="ctr">
                    <a:solidFill>
                      <a:schemeClr val="bg1"/>
                    </a:solidFill>
                  </a:tcPr>
                </a:tc>
                <a:tc>
                  <a:txBody>
                    <a:bodyPr/>
                    <a:lstStyle/>
                    <a:p>
                      <a:pPr algn="l"/>
                      <a:r>
                        <a:rPr kumimoji="1" lang="ja-JP" altLang="en-US" sz="900" b="0" dirty="0">
                          <a:latin typeface="ＭＳ ゴシック" panose="020B0609070205080204" pitchFamily="49" charset="-128"/>
                          <a:ea typeface="ＭＳ ゴシック" panose="020B0609070205080204" pitchFamily="49" charset="-128"/>
                        </a:rPr>
                        <a:t>航空交通業務、航空機の位置、ノータム等の情報が集約する要点</a:t>
                      </a:r>
                    </a:p>
                  </a:txBody>
                  <a:tcPr anchor="ctr">
                    <a:solidFill>
                      <a:schemeClr val="bg1"/>
                    </a:solidFill>
                  </a:tcPr>
                </a:tc>
                <a:extLst>
                  <a:ext uri="{0D108BD9-81ED-4DB2-BD59-A6C34878D82A}">
                    <a16:rowId xmlns:a16="http://schemas.microsoft.com/office/drawing/2014/main" val="3298939918"/>
                  </a:ext>
                </a:extLst>
              </a:tr>
              <a:tr h="291879">
                <a:tc>
                  <a:txBody>
                    <a:bodyPr/>
                    <a:lstStyle/>
                    <a:p>
                      <a:pPr algn="ctr"/>
                      <a:r>
                        <a:rPr kumimoji="1" lang="ja-JP" altLang="en-US" sz="900" b="0" dirty="0">
                          <a:latin typeface="ＭＳ ゴシック" panose="020B0609070205080204" pitchFamily="49" charset="-128"/>
                          <a:ea typeface="ＭＳ ゴシック" panose="020B0609070205080204" pitchFamily="49" charset="-128"/>
                        </a:rPr>
                        <a:t>②</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運航情報等提供</a:t>
                      </a:r>
                      <a:endParaRPr kumimoji="1" lang="en-US" altLang="ja-JP" sz="900" b="0" kern="1200" dirty="0">
                        <a:solidFill>
                          <a:schemeClr val="tx1"/>
                        </a:solidFill>
                        <a:latin typeface="ＭＳ ゴシック" panose="020B0609070205080204" pitchFamily="49" charset="-128"/>
                        <a:ea typeface="ＭＳ ゴシック" panose="020B0609070205080204" pitchFamily="49"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サーバー</a:t>
                      </a:r>
                    </a:p>
                  </a:txBody>
                  <a:tcPr anchor="ctr">
                    <a:solidFill>
                      <a:schemeClr val="bg1"/>
                    </a:solidFill>
                  </a:tcPr>
                </a:tc>
                <a:tc>
                  <a:txBody>
                    <a:bodyPr/>
                    <a:lstStyle/>
                    <a:p>
                      <a:pPr algn="l"/>
                      <a:r>
                        <a:rPr kumimoji="1" lang="ja-JP" altLang="en-US" sz="900" b="0" dirty="0">
                          <a:latin typeface="ＭＳ ゴシック" panose="020B0609070205080204" pitchFamily="49" charset="-128"/>
                          <a:ea typeface="ＭＳ ゴシック" panose="020B0609070205080204" pitchFamily="49" charset="-128"/>
                        </a:rPr>
                        <a:t>運航情報及びノータムが集約する要点</a:t>
                      </a:r>
                    </a:p>
                  </a:txBody>
                  <a:tcPr anchor="ctr">
                    <a:solidFill>
                      <a:schemeClr val="bg1"/>
                    </a:solidFill>
                  </a:tcPr>
                </a:tc>
                <a:extLst>
                  <a:ext uri="{0D108BD9-81ED-4DB2-BD59-A6C34878D82A}">
                    <a16:rowId xmlns:a16="http://schemas.microsoft.com/office/drawing/2014/main" val="2081851780"/>
                  </a:ext>
                </a:extLst>
              </a:tr>
              <a:tr h="291879">
                <a:tc>
                  <a:txBody>
                    <a:bodyPr/>
                    <a:lstStyle/>
                    <a:p>
                      <a:pPr algn="ctr"/>
                      <a:r>
                        <a:rPr kumimoji="1" lang="ja-JP" altLang="en-US" sz="900" b="0" dirty="0">
                          <a:latin typeface="ＭＳ ゴシック" panose="020B0609070205080204" pitchFamily="49" charset="-128"/>
                          <a:ea typeface="ＭＳ ゴシック" panose="020B0609070205080204" pitchFamily="49" charset="-128"/>
                        </a:rPr>
                        <a:t>③</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運航情報等</a:t>
                      </a:r>
                      <a:r>
                        <a:rPr kumimoji="1" lang="en-US" altLang="ja-JP" sz="900" b="0" kern="1200" dirty="0">
                          <a:solidFill>
                            <a:schemeClr val="tx1"/>
                          </a:solidFill>
                          <a:latin typeface="ＭＳ ゴシック" panose="020B0609070205080204" pitchFamily="49" charset="-128"/>
                          <a:ea typeface="ＭＳ ゴシック" panose="020B0609070205080204" pitchFamily="49" charset="-128"/>
                          <a:cs typeface="+mn-cs"/>
                        </a:rPr>
                        <a:t>DB</a:t>
                      </a: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サーバー</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運航情報及びノータムが蓄積する要点</a:t>
                      </a:r>
                    </a:p>
                  </a:txBody>
                  <a:tcPr anchor="ctr">
                    <a:solidFill>
                      <a:schemeClr val="bg1"/>
                    </a:solidFill>
                  </a:tcPr>
                </a:tc>
                <a:extLst>
                  <a:ext uri="{0D108BD9-81ED-4DB2-BD59-A6C34878D82A}">
                    <a16:rowId xmlns:a16="http://schemas.microsoft.com/office/drawing/2014/main" val="1420481777"/>
                  </a:ext>
                </a:extLst>
              </a:tr>
              <a:tr h="291879">
                <a:tc>
                  <a:txBody>
                    <a:bodyPr/>
                    <a:lstStyle/>
                    <a:p>
                      <a:pPr algn="ctr"/>
                      <a:r>
                        <a:rPr kumimoji="1" lang="ja-JP" altLang="en-US" sz="900" b="0" dirty="0">
                          <a:latin typeface="ＭＳ ゴシック" panose="020B0609070205080204" pitchFamily="49" charset="-128"/>
                          <a:ea typeface="ＭＳ ゴシック" panose="020B0609070205080204" pitchFamily="49" charset="-128"/>
                        </a:rPr>
                        <a:t>④</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業務処理用サーバー</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航空交通業務、航空機の位置、ノータム等の情報が集約する要点</a:t>
                      </a:r>
                    </a:p>
                  </a:txBody>
                  <a:tcPr anchor="ctr">
                    <a:solidFill>
                      <a:schemeClr val="bg1"/>
                    </a:solidFill>
                  </a:tcPr>
                </a:tc>
                <a:extLst>
                  <a:ext uri="{0D108BD9-81ED-4DB2-BD59-A6C34878D82A}">
                    <a16:rowId xmlns:a16="http://schemas.microsoft.com/office/drawing/2014/main" val="3065259162"/>
                  </a:ext>
                </a:extLst>
              </a:tr>
              <a:tr h="185741">
                <a:tc>
                  <a:txBody>
                    <a:bodyPr/>
                    <a:lstStyle/>
                    <a:p>
                      <a:pPr algn="ctr"/>
                      <a:r>
                        <a:rPr kumimoji="1" lang="ja-JP" altLang="en-US" sz="900" b="0" dirty="0">
                          <a:latin typeface="ＭＳ ゴシック" panose="020B0609070205080204" pitchFamily="49" charset="-128"/>
                          <a:ea typeface="ＭＳ ゴシック" panose="020B0609070205080204" pitchFamily="49" charset="-128"/>
                        </a:rPr>
                        <a:t>⑤</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kern="1200" dirty="0">
                          <a:solidFill>
                            <a:schemeClr val="tx1"/>
                          </a:solidFill>
                          <a:latin typeface="ＭＳ ゴシック" panose="020B0609070205080204" pitchFamily="49" charset="-128"/>
                          <a:ea typeface="ＭＳ ゴシック" panose="020B0609070205080204" pitchFamily="49" charset="-128"/>
                          <a:cs typeface="+mn-cs"/>
                        </a:rPr>
                        <a:t>FACE</a:t>
                      </a: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対向用</a:t>
                      </a:r>
                    </a:p>
                  </a:txBody>
                  <a:tcPr anchor="ctr">
                    <a:solidFill>
                      <a:schemeClr val="bg1"/>
                    </a:solidFill>
                  </a:tcPr>
                </a:tc>
                <a:tc>
                  <a:txBody>
                    <a:bodyPr/>
                    <a:lstStyle/>
                    <a:p>
                      <a:pPr algn="l"/>
                      <a:r>
                        <a:rPr kumimoji="1" lang="ja-JP" altLang="en-US" sz="900" b="0" dirty="0">
                          <a:latin typeface="ＭＳ ゴシック" panose="020B0609070205080204" pitchFamily="49" charset="-128"/>
                          <a:ea typeface="ＭＳ ゴシック" panose="020B0609070205080204" pitchFamily="49" charset="-128"/>
                        </a:rPr>
                        <a:t>飛行計画情報が集約する要点</a:t>
                      </a:r>
                    </a:p>
                  </a:txBody>
                  <a:tcPr anchor="ctr">
                    <a:solidFill>
                      <a:schemeClr val="bg1"/>
                    </a:solidFill>
                  </a:tcPr>
                </a:tc>
                <a:extLst>
                  <a:ext uri="{0D108BD9-81ED-4DB2-BD59-A6C34878D82A}">
                    <a16:rowId xmlns:a16="http://schemas.microsoft.com/office/drawing/2014/main" val="1695423467"/>
                  </a:ext>
                </a:extLst>
              </a:tr>
              <a:tr h="291879">
                <a:tc>
                  <a:txBody>
                    <a:bodyPr/>
                    <a:lstStyle/>
                    <a:p>
                      <a:pPr algn="ctr"/>
                      <a:r>
                        <a:rPr kumimoji="1" lang="ja-JP" altLang="en-US" sz="900" b="0" dirty="0">
                          <a:latin typeface="ＭＳ ゴシック" panose="020B0609070205080204" pitchFamily="49" charset="-128"/>
                          <a:ea typeface="ＭＳ ゴシック" panose="020B0609070205080204" pitchFamily="49" charset="-128"/>
                        </a:rPr>
                        <a:t>⑥</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運航情報データベースサーバー</a:t>
                      </a:r>
                    </a:p>
                  </a:txBody>
                  <a:tcPr anchor="ctr">
                    <a:solidFill>
                      <a:schemeClr val="bg1"/>
                    </a:solidFill>
                  </a:tcPr>
                </a:tc>
                <a:tc>
                  <a:txBody>
                    <a:bodyPr/>
                    <a:lstStyle/>
                    <a:p>
                      <a:pPr algn="l"/>
                      <a:r>
                        <a:rPr kumimoji="1" lang="ja-JP" altLang="en-US" sz="900" b="0" dirty="0">
                          <a:latin typeface="ＭＳ ゴシック" panose="020B0609070205080204" pitchFamily="49" charset="-128"/>
                          <a:ea typeface="ＭＳ ゴシック" panose="020B0609070205080204" pitchFamily="49" charset="-128"/>
                        </a:rPr>
                        <a:t>運航情報が蓄積する要点</a:t>
                      </a:r>
                    </a:p>
                  </a:txBody>
                  <a:tcPr anchor="ctr">
                    <a:solidFill>
                      <a:schemeClr val="bg1"/>
                    </a:solidFill>
                  </a:tcPr>
                </a:tc>
                <a:extLst>
                  <a:ext uri="{0D108BD9-81ED-4DB2-BD59-A6C34878D82A}">
                    <a16:rowId xmlns:a16="http://schemas.microsoft.com/office/drawing/2014/main" val="379130272"/>
                  </a:ext>
                </a:extLst>
              </a:tr>
              <a:tr h="185741">
                <a:tc>
                  <a:txBody>
                    <a:bodyPr/>
                    <a:lstStyle/>
                    <a:p>
                      <a:pPr algn="ctr"/>
                      <a:r>
                        <a:rPr kumimoji="1" lang="ja-JP" altLang="en-US" sz="900" b="0" dirty="0">
                          <a:latin typeface="ＭＳ ゴシック" panose="020B0609070205080204" pitchFamily="49" charset="-128"/>
                          <a:ea typeface="ＭＳ ゴシック" panose="020B0609070205080204" pitchFamily="49" charset="-128"/>
                        </a:rPr>
                        <a:t>⑦</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仮想化</a:t>
                      </a:r>
                      <a:endParaRPr kumimoji="1" lang="en-US" altLang="ja-JP" sz="900" b="0" kern="1200" dirty="0">
                        <a:solidFill>
                          <a:schemeClr val="tx1"/>
                        </a:solidFill>
                        <a:latin typeface="ＭＳ ゴシック" panose="020B0609070205080204" pitchFamily="49" charset="-128"/>
                        <a:ea typeface="ＭＳ ゴシック" panose="020B0609070205080204" pitchFamily="49"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サーバー</a:t>
                      </a:r>
                      <a:r>
                        <a:rPr kumimoji="1" lang="en-US" altLang="ja-JP" sz="900" b="0" kern="1200" dirty="0">
                          <a:solidFill>
                            <a:schemeClr val="tx1"/>
                          </a:solidFill>
                          <a:latin typeface="ＭＳ ゴシック" panose="020B0609070205080204" pitchFamily="49" charset="-128"/>
                          <a:ea typeface="ＭＳ ゴシック" panose="020B0609070205080204" pitchFamily="49" charset="-128"/>
                          <a:cs typeface="+mn-cs"/>
                        </a:rPr>
                        <a:t>1</a:t>
                      </a:r>
                      <a:endPar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endParaRPr>
                    </a:p>
                  </a:txBody>
                  <a:tcPr anchor="ctr">
                    <a:solidFill>
                      <a:schemeClr val="bg1"/>
                    </a:solidFill>
                  </a:tcPr>
                </a:tc>
                <a:tc>
                  <a:txBody>
                    <a:bodyPr/>
                    <a:lstStyle/>
                    <a:p>
                      <a:pPr algn="l"/>
                      <a:r>
                        <a:rPr kumimoji="1" lang="ja-JP" altLang="en-US" sz="900" b="0" dirty="0">
                          <a:latin typeface="ＭＳ ゴシック" panose="020B0609070205080204" pitchFamily="49" charset="-128"/>
                          <a:ea typeface="ＭＳ ゴシック" panose="020B0609070205080204" pitchFamily="49" charset="-128"/>
                        </a:rPr>
                        <a:t>認証情報が蓄積する要点</a:t>
                      </a:r>
                    </a:p>
                  </a:txBody>
                  <a:tcPr anchor="ctr">
                    <a:solidFill>
                      <a:schemeClr val="bg1"/>
                    </a:solidFill>
                  </a:tcPr>
                </a:tc>
                <a:extLst>
                  <a:ext uri="{0D108BD9-81ED-4DB2-BD59-A6C34878D82A}">
                    <a16:rowId xmlns:a16="http://schemas.microsoft.com/office/drawing/2014/main" val="1288234624"/>
                  </a:ext>
                </a:extLst>
              </a:tr>
              <a:tr h="291879">
                <a:tc>
                  <a:txBody>
                    <a:bodyPr/>
                    <a:lstStyle/>
                    <a:p>
                      <a:pPr algn="ctr"/>
                      <a:r>
                        <a:rPr kumimoji="1" lang="ja-JP" altLang="en-US" sz="900" b="0" dirty="0">
                          <a:latin typeface="ＭＳ ゴシック" panose="020B0609070205080204" pitchFamily="49" charset="-128"/>
                          <a:ea typeface="ＭＳ ゴシック" panose="020B0609070205080204" pitchFamily="49" charset="-128"/>
                        </a:rPr>
                        <a:t>⑧</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仮想化</a:t>
                      </a:r>
                      <a:endParaRPr kumimoji="1" lang="en-US" altLang="ja-JP" sz="900" b="0" kern="1200" dirty="0">
                        <a:solidFill>
                          <a:schemeClr val="tx1"/>
                        </a:solidFill>
                        <a:latin typeface="ＭＳ ゴシック" panose="020B0609070205080204" pitchFamily="49" charset="-128"/>
                        <a:ea typeface="ＭＳ ゴシック" panose="020B0609070205080204" pitchFamily="49"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サーバー</a:t>
                      </a:r>
                      <a:r>
                        <a:rPr kumimoji="1" lang="en-US" altLang="ja-JP" sz="900" b="0" kern="1200" dirty="0">
                          <a:solidFill>
                            <a:schemeClr val="tx1"/>
                          </a:solidFill>
                          <a:latin typeface="ＭＳ ゴシック" panose="020B0609070205080204" pitchFamily="49" charset="-128"/>
                          <a:ea typeface="ＭＳ ゴシック" panose="020B0609070205080204" pitchFamily="49" charset="-128"/>
                          <a:cs typeface="+mn-cs"/>
                        </a:rPr>
                        <a:t>2</a:t>
                      </a:r>
                      <a:endPar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endParaRPr>
                    </a:p>
                  </a:txBody>
                  <a:tcPr anchor="ctr">
                    <a:solidFill>
                      <a:schemeClr val="bg1"/>
                    </a:solidFill>
                  </a:tcPr>
                </a:tc>
                <a:tc>
                  <a:txBody>
                    <a:bodyPr/>
                    <a:lstStyle/>
                    <a:p>
                      <a:pPr algn="l"/>
                      <a:r>
                        <a:rPr kumimoji="1" lang="ja-JP" altLang="en-US" sz="900" b="0" dirty="0">
                          <a:latin typeface="ＭＳ ゴシック" panose="020B0609070205080204" pitchFamily="49" charset="-128"/>
                          <a:ea typeface="ＭＳ ゴシック" panose="020B0609070205080204" pitchFamily="49" charset="-128"/>
                        </a:rPr>
                        <a:t>認証情報、プログラム等のバックアップデータが蓄積する要点</a:t>
                      </a:r>
                    </a:p>
                  </a:txBody>
                  <a:tcPr anchor="ctr">
                    <a:solidFill>
                      <a:schemeClr val="bg1"/>
                    </a:solidFill>
                  </a:tcPr>
                </a:tc>
                <a:extLst>
                  <a:ext uri="{0D108BD9-81ED-4DB2-BD59-A6C34878D82A}">
                    <a16:rowId xmlns:a16="http://schemas.microsoft.com/office/drawing/2014/main" val="1942541364"/>
                  </a:ext>
                </a:extLst>
              </a:tr>
              <a:tr h="185741">
                <a:tc>
                  <a:txBody>
                    <a:bodyPr/>
                    <a:lstStyle/>
                    <a:p>
                      <a:pPr algn="ctr"/>
                      <a:r>
                        <a:rPr kumimoji="1" lang="ja-JP" altLang="en-US" sz="900" b="0" dirty="0">
                          <a:latin typeface="ＭＳ ゴシック" panose="020B0609070205080204" pitchFamily="49" charset="-128"/>
                          <a:ea typeface="ＭＳ ゴシック" panose="020B0609070205080204" pitchFamily="49" charset="-128"/>
                        </a:rPr>
                        <a:t>⑨</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ノータム</a:t>
                      </a:r>
                      <a:endParaRPr kumimoji="1" lang="en-US" altLang="ja-JP" sz="900" b="0" kern="1200" dirty="0">
                        <a:solidFill>
                          <a:schemeClr val="tx1"/>
                        </a:solidFill>
                        <a:latin typeface="ＭＳ ゴシック" panose="020B0609070205080204" pitchFamily="49" charset="-128"/>
                        <a:ea typeface="ＭＳ ゴシック" panose="020B0609070205080204" pitchFamily="49"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処理装置</a:t>
                      </a:r>
                    </a:p>
                  </a:txBody>
                  <a:tcPr anchor="ctr">
                    <a:solidFill>
                      <a:schemeClr val="bg1"/>
                    </a:solidFill>
                  </a:tcPr>
                </a:tc>
                <a:tc>
                  <a:txBody>
                    <a:bodyPr/>
                    <a:lstStyle/>
                    <a:p>
                      <a:pPr algn="l"/>
                      <a:r>
                        <a:rPr kumimoji="1" lang="ja-JP" altLang="en-US" sz="900" b="0" dirty="0">
                          <a:latin typeface="ＭＳ ゴシック" panose="020B0609070205080204" pitchFamily="49" charset="-128"/>
                          <a:ea typeface="ＭＳ ゴシック" panose="020B0609070205080204" pitchFamily="49" charset="-128"/>
                        </a:rPr>
                        <a:t>ノータム、統計データ等が蓄積する要点</a:t>
                      </a:r>
                    </a:p>
                  </a:txBody>
                  <a:tcPr anchor="ctr">
                    <a:solidFill>
                      <a:schemeClr val="bg1"/>
                    </a:solidFill>
                  </a:tcPr>
                </a:tc>
                <a:extLst>
                  <a:ext uri="{0D108BD9-81ED-4DB2-BD59-A6C34878D82A}">
                    <a16:rowId xmlns:a16="http://schemas.microsoft.com/office/drawing/2014/main" val="1899358271"/>
                  </a:ext>
                </a:extLst>
              </a:tr>
              <a:tr h="185741">
                <a:tc>
                  <a:txBody>
                    <a:bodyPr/>
                    <a:lstStyle/>
                    <a:p>
                      <a:pPr algn="ctr"/>
                      <a:r>
                        <a:rPr kumimoji="1" lang="ja-JP" altLang="en-US" sz="900" b="0" dirty="0">
                          <a:latin typeface="ＭＳ ゴシック" panose="020B0609070205080204" pitchFamily="49" charset="-128"/>
                          <a:ea typeface="ＭＳ ゴシック" panose="020B0609070205080204" pitchFamily="49" charset="-128"/>
                        </a:rPr>
                        <a:t>⑩</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kern="1200" dirty="0">
                          <a:solidFill>
                            <a:schemeClr val="tx1"/>
                          </a:solidFill>
                          <a:latin typeface="ＭＳ ゴシック" panose="020B0609070205080204" pitchFamily="49" charset="-128"/>
                          <a:ea typeface="ＭＳ ゴシック" panose="020B0609070205080204" pitchFamily="49" charset="-128"/>
                          <a:cs typeface="+mn-cs"/>
                        </a:rPr>
                        <a:t>米軍対向用</a:t>
                      </a:r>
                    </a:p>
                  </a:txBody>
                  <a:tcPr anchor="ctr">
                    <a:solidFill>
                      <a:schemeClr val="bg1"/>
                    </a:solidFill>
                  </a:tcPr>
                </a:tc>
                <a:tc>
                  <a:txBody>
                    <a:bodyPr/>
                    <a:lstStyle/>
                    <a:p>
                      <a:pPr algn="l"/>
                      <a:r>
                        <a:rPr kumimoji="1" lang="ja-JP" altLang="en-US" sz="900" b="0" dirty="0">
                          <a:latin typeface="ＭＳ ゴシック" panose="020B0609070205080204" pitchFamily="49" charset="-128"/>
                          <a:ea typeface="ＭＳ ゴシック" panose="020B0609070205080204" pitchFamily="49" charset="-128"/>
                        </a:rPr>
                        <a:t>米軍とのメール情報が集約する要点</a:t>
                      </a:r>
                    </a:p>
                  </a:txBody>
                  <a:tcPr anchor="ctr">
                    <a:solidFill>
                      <a:schemeClr val="bg1"/>
                    </a:solidFill>
                  </a:tcPr>
                </a:tc>
                <a:extLst>
                  <a:ext uri="{0D108BD9-81ED-4DB2-BD59-A6C34878D82A}">
                    <a16:rowId xmlns:a16="http://schemas.microsoft.com/office/drawing/2014/main" val="2228568864"/>
                  </a:ext>
                </a:extLst>
              </a:tr>
            </a:tbl>
          </a:graphicData>
        </a:graphic>
      </p:graphicFrame>
      <p:sp>
        <p:nvSpPr>
          <p:cNvPr id="26" name="テキスト ボックス 25">
            <a:extLst>
              <a:ext uri="{FF2B5EF4-FFF2-40B4-BE49-F238E27FC236}">
                <a16:creationId xmlns:a16="http://schemas.microsoft.com/office/drawing/2014/main" id="{50237449-FF69-4636-8E62-6EAA0B604303}"/>
              </a:ext>
            </a:extLst>
          </p:cNvPr>
          <p:cNvSpPr txBox="1"/>
          <p:nvPr/>
        </p:nvSpPr>
        <p:spPr>
          <a:xfrm>
            <a:off x="3314596" y="3799761"/>
            <a:ext cx="465827" cy="369332"/>
          </a:xfrm>
          <a:prstGeom prst="rect">
            <a:avLst/>
          </a:prstGeom>
          <a:noFill/>
        </p:spPr>
        <p:txBody>
          <a:bodyPr wrap="square" rtlCol="0">
            <a:spAutoFit/>
          </a:bodyPr>
          <a:lstStyle/>
          <a:p>
            <a:pPr algn="ctr"/>
            <a:r>
              <a:rPr lang="ja-JP" altLang="en-US" b="1" dirty="0">
                <a:solidFill>
                  <a:srgbClr val="0070C0"/>
                </a:solidFill>
              </a:rPr>
              <a:t>①</a:t>
            </a:r>
            <a:endParaRPr kumimoji="1" lang="ja-JP" altLang="en-US" b="1" dirty="0">
              <a:solidFill>
                <a:srgbClr val="0070C0"/>
              </a:solidFill>
            </a:endParaRPr>
          </a:p>
        </p:txBody>
      </p:sp>
      <p:sp>
        <p:nvSpPr>
          <p:cNvPr id="27" name="テキスト ボックス 26">
            <a:extLst>
              <a:ext uri="{FF2B5EF4-FFF2-40B4-BE49-F238E27FC236}">
                <a16:creationId xmlns:a16="http://schemas.microsoft.com/office/drawing/2014/main" id="{A9E7FE03-591F-4BF9-89EC-9EAE36AA54CB}"/>
              </a:ext>
            </a:extLst>
          </p:cNvPr>
          <p:cNvSpPr txBox="1"/>
          <p:nvPr/>
        </p:nvSpPr>
        <p:spPr>
          <a:xfrm>
            <a:off x="951607" y="3731281"/>
            <a:ext cx="465827" cy="338554"/>
          </a:xfrm>
          <a:prstGeom prst="rect">
            <a:avLst/>
          </a:prstGeom>
          <a:noFill/>
        </p:spPr>
        <p:txBody>
          <a:bodyPr wrap="square" rtlCol="0">
            <a:spAutoFit/>
          </a:bodyPr>
          <a:lstStyle/>
          <a:p>
            <a:pPr algn="ctr"/>
            <a:r>
              <a:rPr lang="ja-JP" altLang="en-US" sz="1600" b="1" dirty="0">
                <a:solidFill>
                  <a:srgbClr val="0070C0"/>
                </a:solidFill>
              </a:rPr>
              <a:t>②</a:t>
            </a:r>
            <a:endParaRPr kumimoji="1" lang="ja-JP" altLang="en-US" sz="1600" b="1" dirty="0">
              <a:solidFill>
                <a:srgbClr val="0070C0"/>
              </a:solidFill>
            </a:endParaRPr>
          </a:p>
        </p:txBody>
      </p:sp>
      <p:sp>
        <p:nvSpPr>
          <p:cNvPr id="28" name="テキスト ボックス 27">
            <a:extLst>
              <a:ext uri="{FF2B5EF4-FFF2-40B4-BE49-F238E27FC236}">
                <a16:creationId xmlns:a16="http://schemas.microsoft.com/office/drawing/2014/main" id="{2A7C3E39-DF78-4CEE-A405-69D9A7FC5F51}"/>
              </a:ext>
            </a:extLst>
          </p:cNvPr>
          <p:cNvSpPr txBox="1"/>
          <p:nvPr/>
        </p:nvSpPr>
        <p:spPr>
          <a:xfrm>
            <a:off x="1790986" y="3747610"/>
            <a:ext cx="465827" cy="338554"/>
          </a:xfrm>
          <a:prstGeom prst="rect">
            <a:avLst/>
          </a:prstGeom>
          <a:noFill/>
        </p:spPr>
        <p:txBody>
          <a:bodyPr wrap="square" rtlCol="0">
            <a:spAutoFit/>
          </a:bodyPr>
          <a:lstStyle/>
          <a:p>
            <a:pPr algn="ctr"/>
            <a:r>
              <a:rPr kumimoji="1" lang="ja-JP" altLang="en-US" sz="1600" b="1" dirty="0">
                <a:solidFill>
                  <a:srgbClr val="0070C0"/>
                </a:solidFill>
              </a:rPr>
              <a:t>③</a:t>
            </a:r>
          </a:p>
        </p:txBody>
      </p:sp>
      <p:sp>
        <p:nvSpPr>
          <p:cNvPr id="29" name="テキスト ボックス 28">
            <a:extLst>
              <a:ext uri="{FF2B5EF4-FFF2-40B4-BE49-F238E27FC236}">
                <a16:creationId xmlns:a16="http://schemas.microsoft.com/office/drawing/2014/main" id="{D2F05A79-4F0C-4A39-B34A-640E02226E1D}"/>
              </a:ext>
            </a:extLst>
          </p:cNvPr>
          <p:cNvSpPr txBox="1"/>
          <p:nvPr/>
        </p:nvSpPr>
        <p:spPr>
          <a:xfrm>
            <a:off x="914527" y="5638246"/>
            <a:ext cx="465827" cy="338554"/>
          </a:xfrm>
          <a:prstGeom prst="rect">
            <a:avLst/>
          </a:prstGeom>
          <a:noFill/>
        </p:spPr>
        <p:txBody>
          <a:bodyPr wrap="square" rtlCol="0">
            <a:spAutoFit/>
          </a:bodyPr>
          <a:lstStyle/>
          <a:p>
            <a:pPr algn="ctr"/>
            <a:r>
              <a:rPr lang="ja-JP" altLang="en-US" sz="1600" b="1" dirty="0">
                <a:solidFill>
                  <a:srgbClr val="0070C0"/>
                </a:solidFill>
              </a:rPr>
              <a:t>④</a:t>
            </a:r>
            <a:endParaRPr kumimoji="1" lang="ja-JP" altLang="en-US" sz="1600" b="1" dirty="0">
              <a:solidFill>
                <a:srgbClr val="0070C0"/>
              </a:solidFill>
            </a:endParaRPr>
          </a:p>
        </p:txBody>
      </p:sp>
      <p:sp>
        <p:nvSpPr>
          <p:cNvPr id="30" name="テキスト ボックス 29">
            <a:extLst>
              <a:ext uri="{FF2B5EF4-FFF2-40B4-BE49-F238E27FC236}">
                <a16:creationId xmlns:a16="http://schemas.microsoft.com/office/drawing/2014/main" id="{324BC4DC-1FB2-4AB1-A208-9F67B2FF1F49}"/>
              </a:ext>
            </a:extLst>
          </p:cNvPr>
          <p:cNvSpPr txBox="1"/>
          <p:nvPr/>
        </p:nvSpPr>
        <p:spPr>
          <a:xfrm>
            <a:off x="4492459" y="5592490"/>
            <a:ext cx="465827" cy="338554"/>
          </a:xfrm>
          <a:prstGeom prst="rect">
            <a:avLst/>
          </a:prstGeom>
          <a:noFill/>
        </p:spPr>
        <p:txBody>
          <a:bodyPr wrap="square" rtlCol="0">
            <a:spAutoFit/>
          </a:bodyPr>
          <a:lstStyle/>
          <a:p>
            <a:pPr algn="ctr"/>
            <a:r>
              <a:rPr lang="ja-JP" altLang="en-US" sz="1600" b="1" dirty="0">
                <a:solidFill>
                  <a:srgbClr val="0070C0"/>
                </a:solidFill>
              </a:rPr>
              <a:t>④</a:t>
            </a:r>
            <a:endParaRPr kumimoji="1" lang="ja-JP" altLang="en-US" sz="1600" b="1" dirty="0">
              <a:solidFill>
                <a:srgbClr val="0070C0"/>
              </a:solidFill>
            </a:endParaRPr>
          </a:p>
        </p:txBody>
      </p:sp>
      <p:sp>
        <p:nvSpPr>
          <p:cNvPr id="31" name="テキスト ボックス 30">
            <a:extLst>
              <a:ext uri="{FF2B5EF4-FFF2-40B4-BE49-F238E27FC236}">
                <a16:creationId xmlns:a16="http://schemas.microsoft.com/office/drawing/2014/main" id="{127A84AA-D301-489A-AC72-6DA954EDB829}"/>
              </a:ext>
            </a:extLst>
          </p:cNvPr>
          <p:cNvSpPr txBox="1"/>
          <p:nvPr/>
        </p:nvSpPr>
        <p:spPr>
          <a:xfrm>
            <a:off x="6483807" y="3340473"/>
            <a:ext cx="465827" cy="338554"/>
          </a:xfrm>
          <a:prstGeom prst="rect">
            <a:avLst/>
          </a:prstGeom>
          <a:noFill/>
        </p:spPr>
        <p:txBody>
          <a:bodyPr wrap="square" rtlCol="0">
            <a:spAutoFit/>
          </a:bodyPr>
          <a:lstStyle/>
          <a:p>
            <a:pPr algn="ctr"/>
            <a:r>
              <a:rPr kumimoji="1" lang="ja-JP" altLang="en-US" sz="1600" b="1" dirty="0">
                <a:solidFill>
                  <a:srgbClr val="0070C0"/>
                </a:solidFill>
              </a:rPr>
              <a:t>⑤</a:t>
            </a:r>
          </a:p>
        </p:txBody>
      </p:sp>
      <p:sp>
        <p:nvSpPr>
          <p:cNvPr id="32" name="テキスト ボックス 31">
            <a:extLst>
              <a:ext uri="{FF2B5EF4-FFF2-40B4-BE49-F238E27FC236}">
                <a16:creationId xmlns:a16="http://schemas.microsoft.com/office/drawing/2014/main" id="{31E77E76-9D3C-48C8-9F11-A5951762E2EC}"/>
              </a:ext>
            </a:extLst>
          </p:cNvPr>
          <p:cNvSpPr txBox="1"/>
          <p:nvPr/>
        </p:nvSpPr>
        <p:spPr>
          <a:xfrm>
            <a:off x="2986266" y="3233915"/>
            <a:ext cx="465827" cy="369332"/>
          </a:xfrm>
          <a:prstGeom prst="rect">
            <a:avLst/>
          </a:prstGeom>
          <a:noFill/>
        </p:spPr>
        <p:txBody>
          <a:bodyPr wrap="square" rtlCol="0">
            <a:spAutoFit/>
          </a:bodyPr>
          <a:lstStyle/>
          <a:p>
            <a:pPr algn="ctr"/>
            <a:r>
              <a:rPr kumimoji="1" lang="ja-JP" altLang="en-US" b="1" dirty="0">
                <a:solidFill>
                  <a:srgbClr val="0070C0"/>
                </a:solidFill>
              </a:rPr>
              <a:t>⑥</a:t>
            </a:r>
          </a:p>
        </p:txBody>
      </p:sp>
      <p:sp>
        <p:nvSpPr>
          <p:cNvPr id="33" name="テキスト ボックス 32">
            <a:extLst>
              <a:ext uri="{FF2B5EF4-FFF2-40B4-BE49-F238E27FC236}">
                <a16:creationId xmlns:a16="http://schemas.microsoft.com/office/drawing/2014/main" id="{801BFB35-B11A-4640-A25B-E8C9C95B9226}"/>
              </a:ext>
            </a:extLst>
          </p:cNvPr>
          <p:cNvSpPr txBox="1"/>
          <p:nvPr/>
        </p:nvSpPr>
        <p:spPr>
          <a:xfrm>
            <a:off x="2299393" y="3764458"/>
            <a:ext cx="465827" cy="338554"/>
          </a:xfrm>
          <a:prstGeom prst="rect">
            <a:avLst/>
          </a:prstGeom>
          <a:noFill/>
        </p:spPr>
        <p:txBody>
          <a:bodyPr wrap="square" rtlCol="0">
            <a:spAutoFit/>
          </a:bodyPr>
          <a:lstStyle/>
          <a:p>
            <a:pPr algn="ctr"/>
            <a:r>
              <a:rPr lang="ja-JP" altLang="en-US" sz="1600" b="1" dirty="0">
                <a:solidFill>
                  <a:srgbClr val="0070C0"/>
                </a:solidFill>
              </a:rPr>
              <a:t>⑦</a:t>
            </a:r>
            <a:endParaRPr kumimoji="1" lang="ja-JP" altLang="en-US" sz="1600" b="1" dirty="0">
              <a:solidFill>
                <a:srgbClr val="0070C0"/>
              </a:solidFill>
            </a:endParaRPr>
          </a:p>
        </p:txBody>
      </p:sp>
      <p:sp>
        <p:nvSpPr>
          <p:cNvPr id="34" name="テキスト ボックス 33">
            <a:extLst>
              <a:ext uri="{FF2B5EF4-FFF2-40B4-BE49-F238E27FC236}">
                <a16:creationId xmlns:a16="http://schemas.microsoft.com/office/drawing/2014/main" id="{B17D7FDB-4BBD-4274-8BB1-A69FA3981840}"/>
              </a:ext>
            </a:extLst>
          </p:cNvPr>
          <p:cNvSpPr txBox="1"/>
          <p:nvPr/>
        </p:nvSpPr>
        <p:spPr>
          <a:xfrm>
            <a:off x="4347849" y="3731488"/>
            <a:ext cx="465827" cy="338554"/>
          </a:xfrm>
          <a:prstGeom prst="rect">
            <a:avLst/>
          </a:prstGeom>
          <a:noFill/>
        </p:spPr>
        <p:txBody>
          <a:bodyPr wrap="square" rtlCol="0">
            <a:spAutoFit/>
          </a:bodyPr>
          <a:lstStyle/>
          <a:p>
            <a:pPr algn="ctr"/>
            <a:r>
              <a:rPr lang="ja-JP" altLang="en-US" sz="1600" b="1" dirty="0">
                <a:solidFill>
                  <a:srgbClr val="0070C0"/>
                </a:solidFill>
              </a:rPr>
              <a:t>⑧</a:t>
            </a:r>
            <a:endParaRPr kumimoji="1" lang="ja-JP" altLang="en-US" sz="1600" b="1" dirty="0">
              <a:solidFill>
                <a:srgbClr val="0070C0"/>
              </a:solidFill>
            </a:endParaRPr>
          </a:p>
        </p:txBody>
      </p:sp>
      <p:sp>
        <p:nvSpPr>
          <p:cNvPr id="35" name="テキスト ボックス 34">
            <a:extLst>
              <a:ext uri="{FF2B5EF4-FFF2-40B4-BE49-F238E27FC236}">
                <a16:creationId xmlns:a16="http://schemas.microsoft.com/office/drawing/2014/main" id="{16E52426-CE75-499F-BEC7-0FC643C541A9}"/>
              </a:ext>
            </a:extLst>
          </p:cNvPr>
          <p:cNvSpPr txBox="1"/>
          <p:nvPr/>
        </p:nvSpPr>
        <p:spPr>
          <a:xfrm>
            <a:off x="246521" y="3708118"/>
            <a:ext cx="465827" cy="338554"/>
          </a:xfrm>
          <a:prstGeom prst="rect">
            <a:avLst/>
          </a:prstGeom>
          <a:noFill/>
        </p:spPr>
        <p:txBody>
          <a:bodyPr wrap="square" rtlCol="0">
            <a:spAutoFit/>
          </a:bodyPr>
          <a:lstStyle/>
          <a:p>
            <a:pPr algn="ctr"/>
            <a:r>
              <a:rPr kumimoji="1" lang="ja-JP" altLang="en-US" sz="1600" b="1" dirty="0">
                <a:solidFill>
                  <a:srgbClr val="0070C0"/>
                </a:solidFill>
              </a:rPr>
              <a:t>⑩</a:t>
            </a:r>
          </a:p>
        </p:txBody>
      </p:sp>
      <p:sp>
        <p:nvSpPr>
          <p:cNvPr id="36" name="テキスト ボックス 35">
            <a:extLst>
              <a:ext uri="{FF2B5EF4-FFF2-40B4-BE49-F238E27FC236}">
                <a16:creationId xmlns:a16="http://schemas.microsoft.com/office/drawing/2014/main" id="{0DD42BA2-6556-4F49-A85A-10C148EB2A5B}"/>
              </a:ext>
            </a:extLst>
          </p:cNvPr>
          <p:cNvSpPr txBox="1"/>
          <p:nvPr/>
        </p:nvSpPr>
        <p:spPr>
          <a:xfrm>
            <a:off x="2559114" y="2210843"/>
            <a:ext cx="465827" cy="338554"/>
          </a:xfrm>
          <a:prstGeom prst="rect">
            <a:avLst/>
          </a:prstGeom>
          <a:noFill/>
        </p:spPr>
        <p:txBody>
          <a:bodyPr wrap="square" rtlCol="0">
            <a:spAutoFit/>
          </a:bodyPr>
          <a:lstStyle/>
          <a:p>
            <a:pPr algn="ctr"/>
            <a:r>
              <a:rPr kumimoji="1" lang="ja-JP" altLang="en-US" sz="1600" b="1" dirty="0">
                <a:solidFill>
                  <a:srgbClr val="0070C0"/>
                </a:solidFill>
              </a:rPr>
              <a:t>⑨</a:t>
            </a:r>
          </a:p>
        </p:txBody>
      </p:sp>
      <p:sp>
        <p:nvSpPr>
          <p:cNvPr id="37" name="テキスト ボックス 36">
            <a:extLst>
              <a:ext uri="{FF2B5EF4-FFF2-40B4-BE49-F238E27FC236}">
                <a16:creationId xmlns:a16="http://schemas.microsoft.com/office/drawing/2014/main" id="{39DC18D1-C4B4-4EF6-A803-F256BE45F1F0}"/>
              </a:ext>
            </a:extLst>
          </p:cNvPr>
          <p:cNvSpPr txBox="1"/>
          <p:nvPr/>
        </p:nvSpPr>
        <p:spPr>
          <a:xfrm>
            <a:off x="3868900" y="2210843"/>
            <a:ext cx="465827" cy="338554"/>
          </a:xfrm>
          <a:prstGeom prst="rect">
            <a:avLst/>
          </a:prstGeom>
          <a:noFill/>
        </p:spPr>
        <p:txBody>
          <a:bodyPr wrap="square" rtlCol="0">
            <a:spAutoFit/>
          </a:bodyPr>
          <a:lstStyle/>
          <a:p>
            <a:pPr algn="ctr"/>
            <a:r>
              <a:rPr lang="ja-JP" altLang="en-US" sz="1600" b="1" dirty="0">
                <a:solidFill>
                  <a:srgbClr val="0070C0"/>
                </a:solidFill>
              </a:rPr>
              <a:t>⑨</a:t>
            </a:r>
            <a:endParaRPr kumimoji="1" lang="ja-JP" altLang="en-US" sz="1600" b="1" dirty="0">
              <a:solidFill>
                <a:srgbClr val="0070C0"/>
              </a:solidFill>
            </a:endParaRPr>
          </a:p>
        </p:txBody>
      </p:sp>
      <p:sp>
        <p:nvSpPr>
          <p:cNvPr id="38" name="テキスト ボックス 37">
            <a:extLst>
              <a:ext uri="{FF2B5EF4-FFF2-40B4-BE49-F238E27FC236}">
                <a16:creationId xmlns:a16="http://schemas.microsoft.com/office/drawing/2014/main" id="{60D41AEB-B702-4435-BA88-E75E34E25732}"/>
              </a:ext>
            </a:extLst>
          </p:cNvPr>
          <p:cNvSpPr txBox="1"/>
          <p:nvPr/>
        </p:nvSpPr>
        <p:spPr>
          <a:xfrm>
            <a:off x="3003090" y="5430257"/>
            <a:ext cx="465827" cy="338554"/>
          </a:xfrm>
          <a:prstGeom prst="rect">
            <a:avLst/>
          </a:prstGeom>
          <a:noFill/>
        </p:spPr>
        <p:txBody>
          <a:bodyPr wrap="square" rtlCol="0">
            <a:spAutoFit/>
          </a:bodyPr>
          <a:lstStyle/>
          <a:p>
            <a:pPr algn="ctr"/>
            <a:r>
              <a:rPr kumimoji="1" lang="ja-JP" altLang="en-US" sz="1600" b="1" dirty="0">
                <a:solidFill>
                  <a:srgbClr val="0070C0"/>
                </a:solidFill>
              </a:rPr>
              <a:t>⑤</a:t>
            </a:r>
          </a:p>
        </p:txBody>
      </p:sp>
      <p:sp>
        <p:nvSpPr>
          <p:cNvPr id="39" name="矢印: 下 38">
            <a:extLst>
              <a:ext uri="{FF2B5EF4-FFF2-40B4-BE49-F238E27FC236}">
                <a16:creationId xmlns:a16="http://schemas.microsoft.com/office/drawing/2014/main" id="{807ACA1C-3AA0-4CD1-B4D9-EE62D4292D29}"/>
              </a:ext>
            </a:extLst>
          </p:cNvPr>
          <p:cNvSpPr/>
          <p:nvPr/>
        </p:nvSpPr>
        <p:spPr>
          <a:xfrm rot="10800000">
            <a:off x="203234" y="6257142"/>
            <a:ext cx="422242" cy="338553"/>
          </a:xfrm>
          <a:prstGeom prst="downArrow">
            <a:avLst/>
          </a:prstGeom>
          <a:solidFill>
            <a:srgbClr val="00B0F0">
              <a:alpha val="50000"/>
            </a:srgbClr>
          </a:solidFill>
          <a:ln w="38100">
            <a:no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sp>
        <p:nvSpPr>
          <p:cNvPr id="40" name="矢印: 下 39">
            <a:extLst>
              <a:ext uri="{FF2B5EF4-FFF2-40B4-BE49-F238E27FC236}">
                <a16:creationId xmlns:a16="http://schemas.microsoft.com/office/drawing/2014/main" id="{3626E869-0307-4E25-A2A6-66F341C0F33F}"/>
              </a:ext>
            </a:extLst>
          </p:cNvPr>
          <p:cNvSpPr/>
          <p:nvPr/>
        </p:nvSpPr>
        <p:spPr>
          <a:xfrm rot="10800000">
            <a:off x="740486" y="6257141"/>
            <a:ext cx="422242" cy="338553"/>
          </a:xfrm>
          <a:prstGeom prst="downArrow">
            <a:avLst/>
          </a:prstGeom>
          <a:solidFill>
            <a:srgbClr val="00B0F0">
              <a:alpha val="50000"/>
            </a:srgbClr>
          </a:solidFill>
          <a:ln w="38100">
            <a:no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sp>
        <p:nvSpPr>
          <p:cNvPr id="41" name="矢印: 下 40">
            <a:extLst>
              <a:ext uri="{FF2B5EF4-FFF2-40B4-BE49-F238E27FC236}">
                <a16:creationId xmlns:a16="http://schemas.microsoft.com/office/drawing/2014/main" id="{F9654424-E386-493E-9EAA-08550A331F52}"/>
              </a:ext>
            </a:extLst>
          </p:cNvPr>
          <p:cNvSpPr/>
          <p:nvPr/>
        </p:nvSpPr>
        <p:spPr>
          <a:xfrm rot="10800000">
            <a:off x="6716720" y="6241753"/>
            <a:ext cx="422242" cy="338553"/>
          </a:xfrm>
          <a:prstGeom prst="downArrow">
            <a:avLst/>
          </a:prstGeom>
          <a:solidFill>
            <a:srgbClr val="00B0F0">
              <a:alpha val="50000"/>
            </a:srgbClr>
          </a:solidFill>
          <a:ln w="38100">
            <a:no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sp>
        <p:nvSpPr>
          <p:cNvPr id="42" name="矢印: 下 41">
            <a:extLst>
              <a:ext uri="{FF2B5EF4-FFF2-40B4-BE49-F238E27FC236}">
                <a16:creationId xmlns:a16="http://schemas.microsoft.com/office/drawing/2014/main" id="{649E02D3-3D1E-40EE-8991-FD3C69BAE0CB}"/>
              </a:ext>
            </a:extLst>
          </p:cNvPr>
          <p:cNvSpPr/>
          <p:nvPr/>
        </p:nvSpPr>
        <p:spPr>
          <a:xfrm>
            <a:off x="988527" y="1675461"/>
            <a:ext cx="1035372" cy="365443"/>
          </a:xfrm>
          <a:prstGeom prst="downArrow">
            <a:avLst/>
          </a:prstGeom>
          <a:solidFill>
            <a:srgbClr val="00B0F0">
              <a:alpha val="50000"/>
            </a:srgbClr>
          </a:solidFill>
          <a:ln w="38100">
            <a:no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sp>
        <p:nvSpPr>
          <p:cNvPr id="43" name="矢印: 下 42">
            <a:extLst>
              <a:ext uri="{FF2B5EF4-FFF2-40B4-BE49-F238E27FC236}">
                <a16:creationId xmlns:a16="http://schemas.microsoft.com/office/drawing/2014/main" id="{2C6D5067-FA71-43C6-BD88-6221D805D275}"/>
              </a:ext>
            </a:extLst>
          </p:cNvPr>
          <p:cNvSpPr/>
          <p:nvPr/>
        </p:nvSpPr>
        <p:spPr>
          <a:xfrm>
            <a:off x="4886663" y="1722882"/>
            <a:ext cx="1035372" cy="365443"/>
          </a:xfrm>
          <a:prstGeom prst="downArrow">
            <a:avLst/>
          </a:prstGeom>
          <a:solidFill>
            <a:srgbClr val="00B0F0">
              <a:alpha val="50000"/>
            </a:srgbClr>
          </a:solidFill>
          <a:ln w="38100">
            <a:no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sp>
        <p:nvSpPr>
          <p:cNvPr id="44" name="四角形: 角を丸くする 43">
            <a:extLst>
              <a:ext uri="{FF2B5EF4-FFF2-40B4-BE49-F238E27FC236}">
                <a16:creationId xmlns:a16="http://schemas.microsoft.com/office/drawing/2014/main" id="{89A4B53B-94E1-4573-A516-6ABB53F012B3}"/>
              </a:ext>
            </a:extLst>
          </p:cNvPr>
          <p:cNvSpPr/>
          <p:nvPr/>
        </p:nvSpPr>
        <p:spPr>
          <a:xfrm>
            <a:off x="6789937" y="5819579"/>
            <a:ext cx="319392" cy="327631"/>
          </a:xfrm>
          <a:prstGeom prst="roundRect">
            <a:avLst>
              <a:gd name="adj" fmla="val 9719"/>
            </a:avLst>
          </a:prstGeom>
          <a:noFill/>
          <a:ln w="38100">
            <a:solidFill>
              <a:schemeClr val="accent6">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四角形: 角を丸くする 44">
            <a:extLst>
              <a:ext uri="{FF2B5EF4-FFF2-40B4-BE49-F238E27FC236}">
                <a16:creationId xmlns:a16="http://schemas.microsoft.com/office/drawing/2014/main" id="{B9AB4636-4E36-4484-8B95-14FE1D5DBB0E}"/>
              </a:ext>
            </a:extLst>
          </p:cNvPr>
          <p:cNvSpPr/>
          <p:nvPr/>
        </p:nvSpPr>
        <p:spPr>
          <a:xfrm>
            <a:off x="804836" y="5827839"/>
            <a:ext cx="319392" cy="327631"/>
          </a:xfrm>
          <a:prstGeom prst="roundRect">
            <a:avLst>
              <a:gd name="adj" fmla="val 9719"/>
            </a:avLst>
          </a:prstGeom>
          <a:noFill/>
          <a:ln w="38100">
            <a:solidFill>
              <a:schemeClr val="accent6">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2882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DE9248-6DA4-436A-9D48-1E7613D93353}"/>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構成図（神の目）</a:t>
            </a:r>
          </a:p>
        </p:txBody>
      </p:sp>
      <p:pic>
        <p:nvPicPr>
          <p:cNvPr id="3" name="図 2">
            <a:extLst>
              <a:ext uri="{FF2B5EF4-FFF2-40B4-BE49-F238E27FC236}">
                <a16:creationId xmlns:a16="http://schemas.microsoft.com/office/drawing/2014/main" id="{0CC10130-D432-4645-B8F0-C0F4E4C96EAF}"/>
              </a:ext>
            </a:extLst>
          </p:cNvPr>
          <p:cNvPicPr>
            <a:picLocks noChangeAspect="1"/>
          </p:cNvPicPr>
          <p:nvPr/>
        </p:nvPicPr>
        <p:blipFill>
          <a:blip r:embed="rId2"/>
          <a:stretch>
            <a:fillRect/>
          </a:stretch>
        </p:blipFill>
        <p:spPr>
          <a:xfrm>
            <a:off x="1671335" y="1008376"/>
            <a:ext cx="8849330" cy="5707698"/>
          </a:xfrm>
          <a:prstGeom prst="rect">
            <a:avLst/>
          </a:prstGeom>
          <a:ln>
            <a:solidFill>
              <a:schemeClr val="tx1"/>
            </a:solidFill>
          </a:ln>
        </p:spPr>
      </p:pic>
      <p:sp>
        <p:nvSpPr>
          <p:cNvPr id="4" name="正方形/長方形 3">
            <a:extLst>
              <a:ext uri="{FF2B5EF4-FFF2-40B4-BE49-F238E27FC236}">
                <a16:creationId xmlns:a16="http://schemas.microsoft.com/office/drawing/2014/main" id="{10134FD2-212B-4064-A08A-FE16F5F98D2C}"/>
              </a:ext>
            </a:extLst>
          </p:cNvPr>
          <p:cNvSpPr/>
          <p:nvPr/>
        </p:nvSpPr>
        <p:spPr>
          <a:xfrm>
            <a:off x="1578731" y="746766"/>
            <a:ext cx="748923" cy="261610"/>
          </a:xfrm>
          <a:prstGeom prst="rect">
            <a:avLst/>
          </a:prstGeom>
        </p:spPr>
        <p:txBody>
          <a:bodyPr wrap="none">
            <a:spAutoFit/>
          </a:bodyPr>
          <a:lstStyle/>
          <a:p>
            <a:r>
              <a:rPr lang="ja-JP" altLang="ja-JP" sz="1050" kern="100" dirty="0">
                <a:latin typeface="Century" panose="02040604050505020304" pitchFamily="18" charset="0"/>
                <a:ea typeface="ＭＳ 明朝" panose="02020609040205080304" pitchFamily="17" charset="-128"/>
                <a:cs typeface="Times New Roman" panose="02020603050405020304" pitchFamily="18" charset="0"/>
              </a:rPr>
              <a:t>７．府中</a:t>
            </a:r>
          </a:p>
        </p:txBody>
      </p:sp>
      <p:sp>
        <p:nvSpPr>
          <p:cNvPr id="5" name="楕円 4">
            <a:extLst>
              <a:ext uri="{FF2B5EF4-FFF2-40B4-BE49-F238E27FC236}">
                <a16:creationId xmlns:a16="http://schemas.microsoft.com/office/drawing/2014/main" id="{C8102627-8342-496E-AE10-5AD58BB9C346}"/>
              </a:ext>
            </a:extLst>
          </p:cNvPr>
          <p:cNvSpPr/>
          <p:nvPr/>
        </p:nvSpPr>
        <p:spPr>
          <a:xfrm>
            <a:off x="1953192" y="746766"/>
            <a:ext cx="2780867" cy="13002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431BB4D0-4324-4DD8-9BFE-F4F756E2246B}"/>
              </a:ext>
            </a:extLst>
          </p:cNvPr>
          <p:cNvSpPr/>
          <p:nvPr/>
        </p:nvSpPr>
        <p:spPr>
          <a:xfrm>
            <a:off x="6156078" y="1636000"/>
            <a:ext cx="1301866" cy="71291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E35484B9-3279-4058-B59B-BFF60EBFCAC3}"/>
              </a:ext>
            </a:extLst>
          </p:cNvPr>
          <p:cNvSpPr/>
          <p:nvPr/>
        </p:nvSpPr>
        <p:spPr>
          <a:xfrm>
            <a:off x="1844136" y="6003156"/>
            <a:ext cx="748923" cy="71291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EF29622B-91EE-4D65-A320-C1A70B5F833E}"/>
              </a:ext>
            </a:extLst>
          </p:cNvPr>
          <p:cNvSpPr txBox="1"/>
          <p:nvPr/>
        </p:nvSpPr>
        <p:spPr>
          <a:xfrm>
            <a:off x="191579" y="889080"/>
            <a:ext cx="1338828" cy="1015663"/>
          </a:xfrm>
          <a:prstGeom prst="rect">
            <a:avLst/>
          </a:prstGeom>
          <a:solidFill>
            <a:srgbClr val="FFFF00"/>
          </a:solidFill>
          <a:ln>
            <a:solidFill>
              <a:schemeClr val="tx1"/>
            </a:solidFill>
          </a:ln>
        </p:spPr>
        <p:txBody>
          <a:bodyPr wrap="none" rtlCol="0">
            <a:spAutoFit/>
          </a:bodyPr>
          <a:lstStyle/>
          <a:p>
            <a:r>
              <a:rPr kumimoji="1" lang="en-US" altLang="ja-JP" sz="6000" dirty="0">
                <a:latin typeface="ＭＳ 明朝" panose="02020609040205080304" pitchFamily="17" charset="-128"/>
                <a:ea typeface="ＭＳ 明朝" panose="02020609040205080304" pitchFamily="17" charset="-128"/>
              </a:rPr>
              <a:t>DII</a:t>
            </a:r>
            <a:endParaRPr kumimoji="1" lang="ja-JP" altLang="en-US" sz="6000" dirty="0">
              <a:latin typeface="ＭＳ 明朝" panose="02020609040205080304" pitchFamily="17" charset="-128"/>
              <a:ea typeface="ＭＳ 明朝" panose="02020609040205080304" pitchFamily="17" charset="-128"/>
            </a:endParaRPr>
          </a:p>
        </p:txBody>
      </p:sp>
      <p:sp>
        <p:nvSpPr>
          <p:cNvPr id="9" name="テキスト ボックス 8">
            <a:extLst>
              <a:ext uri="{FF2B5EF4-FFF2-40B4-BE49-F238E27FC236}">
                <a16:creationId xmlns:a16="http://schemas.microsoft.com/office/drawing/2014/main" id="{D1E13A90-5537-48B7-824A-C70C95A437F4}"/>
              </a:ext>
            </a:extLst>
          </p:cNvPr>
          <p:cNvSpPr txBox="1"/>
          <p:nvPr/>
        </p:nvSpPr>
        <p:spPr>
          <a:xfrm>
            <a:off x="7745818" y="952071"/>
            <a:ext cx="2492990" cy="1015663"/>
          </a:xfrm>
          <a:prstGeom prst="rect">
            <a:avLst/>
          </a:prstGeom>
          <a:solidFill>
            <a:srgbClr val="FFFF00"/>
          </a:solidFill>
          <a:ln>
            <a:solidFill>
              <a:schemeClr val="tx1"/>
            </a:solidFill>
          </a:ln>
        </p:spPr>
        <p:txBody>
          <a:bodyPr wrap="none" rtlCol="0">
            <a:spAutoFit/>
          </a:bodyPr>
          <a:lstStyle/>
          <a:p>
            <a:r>
              <a:rPr kumimoji="1" lang="ja-JP" altLang="en-US" sz="6000" dirty="0">
                <a:latin typeface="ＭＳ 明朝" panose="02020609040205080304" pitchFamily="17" charset="-128"/>
                <a:ea typeface="ＭＳ 明朝" panose="02020609040205080304" pitchFamily="17" charset="-128"/>
              </a:rPr>
              <a:t>航空局</a:t>
            </a:r>
          </a:p>
        </p:txBody>
      </p:sp>
      <p:sp>
        <p:nvSpPr>
          <p:cNvPr id="10" name="テキスト ボックス 9">
            <a:extLst>
              <a:ext uri="{FF2B5EF4-FFF2-40B4-BE49-F238E27FC236}">
                <a16:creationId xmlns:a16="http://schemas.microsoft.com/office/drawing/2014/main" id="{B3187452-3006-4BF0-978E-BEC880291532}"/>
              </a:ext>
            </a:extLst>
          </p:cNvPr>
          <p:cNvSpPr txBox="1"/>
          <p:nvPr/>
        </p:nvSpPr>
        <p:spPr>
          <a:xfrm>
            <a:off x="2733987" y="5756716"/>
            <a:ext cx="1723549" cy="1015663"/>
          </a:xfrm>
          <a:prstGeom prst="rect">
            <a:avLst/>
          </a:prstGeom>
          <a:solidFill>
            <a:srgbClr val="FFFF00"/>
          </a:solidFill>
          <a:ln>
            <a:solidFill>
              <a:schemeClr val="tx1"/>
            </a:solidFill>
          </a:ln>
        </p:spPr>
        <p:txBody>
          <a:bodyPr wrap="none" rtlCol="0">
            <a:spAutoFit/>
          </a:bodyPr>
          <a:lstStyle/>
          <a:p>
            <a:r>
              <a:rPr kumimoji="1" lang="ja-JP" altLang="en-US" sz="6000" dirty="0">
                <a:latin typeface="ＭＳ 明朝" panose="02020609040205080304" pitchFamily="17" charset="-128"/>
                <a:ea typeface="ＭＳ 明朝" panose="02020609040205080304" pitchFamily="17" charset="-128"/>
              </a:rPr>
              <a:t>米軍</a:t>
            </a:r>
          </a:p>
        </p:txBody>
      </p:sp>
      <p:sp>
        <p:nvSpPr>
          <p:cNvPr id="11" name="正方形/長方形 10">
            <a:extLst>
              <a:ext uri="{FF2B5EF4-FFF2-40B4-BE49-F238E27FC236}">
                <a16:creationId xmlns:a16="http://schemas.microsoft.com/office/drawing/2014/main" id="{13DF3EF9-726C-450C-B344-D1ED36831F8A}"/>
              </a:ext>
            </a:extLst>
          </p:cNvPr>
          <p:cNvSpPr/>
          <p:nvPr/>
        </p:nvSpPr>
        <p:spPr>
          <a:xfrm>
            <a:off x="8480827" y="2015529"/>
            <a:ext cx="3045738" cy="1200329"/>
          </a:xfrm>
          <a:prstGeom prst="rect">
            <a:avLst/>
          </a:prstGeom>
          <a:solidFill>
            <a:srgbClr val="FFFF00"/>
          </a:solidFill>
          <a:ln>
            <a:solidFill>
              <a:schemeClr val="tx1"/>
            </a:solidFill>
          </a:ln>
        </p:spPr>
        <p:txBody>
          <a:bodyPr wrap="square">
            <a:spAutoFit/>
          </a:bodyPr>
          <a:lstStyle/>
          <a:p>
            <a:r>
              <a:rPr lang="en-US" altLang="ja-JP" dirty="0">
                <a:latin typeface="ＭＳ 明朝" panose="02020609040205080304" pitchFamily="17" charset="-128"/>
                <a:ea typeface="ＭＳ 明朝" panose="02020609040205080304" pitchFamily="17" charset="-128"/>
              </a:rPr>
              <a:t>FACE (Flight object Administration </a:t>
            </a:r>
            <a:r>
              <a:rPr lang="en-US" altLang="ja-JP" dirty="0" err="1">
                <a:latin typeface="ＭＳ 明朝" panose="02020609040205080304" pitchFamily="17" charset="-128"/>
                <a:ea typeface="ＭＳ 明朝" panose="02020609040205080304" pitchFamily="17" charset="-128"/>
              </a:rPr>
              <a:t>CEnter</a:t>
            </a:r>
            <a:r>
              <a:rPr lang="en-US" altLang="ja-JP" dirty="0">
                <a:latin typeface="ＭＳ 明朝" panose="02020609040205080304" pitchFamily="17" charset="-128"/>
                <a:ea typeface="ＭＳ 明朝" panose="02020609040205080304" pitchFamily="17" charset="-128"/>
              </a:rPr>
              <a:t> system)</a:t>
            </a:r>
            <a:r>
              <a:rPr lang="ja-JP" altLang="en-US" dirty="0">
                <a:latin typeface="ＭＳ 明朝" panose="02020609040205080304" pitchFamily="17" charset="-128"/>
                <a:ea typeface="ＭＳ 明朝" panose="02020609040205080304" pitchFamily="17" charset="-128"/>
              </a:rPr>
              <a:t>日本の航空交通管理を支える重要なシステム</a:t>
            </a:r>
          </a:p>
        </p:txBody>
      </p:sp>
    </p:spTree>
    <p:extLst>
      <p:ext uri="{BB962C8B-B14F-4D97-AF65-F5344CB8AC3E}">
        <p14:creationId xmlns:p14="http://schemas.microsoft.com/office/powerpoint/2010/main" val="859876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28C43062-54B4-4B00-BAE4-40999FE2A1E5}"/>
              </a:ext>
            </a:extLst>
          </p:cNvPr>
          <p:cNvPicPr>
            <a:picLocks noChangeAspect="1"/>
          </p:cNvPicPr>
          <p:nvPr/>
        </p:nvPicPr>
        <p:blipFill>
          <a:blip r:embed="rId2"/>
          <a:stretch>
            <a:fillRect/>
          </a:stretch>
        </p:blipFill>
        <p:spPr>
          <a:xfrm>
            <a:off x="7700726" y="2401080"/>
            <a:ext cx="652223" cy="521778"/>
          </a:xfrm>
          <a:prstGeom prst="rect">
            <a:avLst/>
          </a:prstGeom>
        </p:spPr>
      </p:pic>
      <p:sp>
        <p:nvSpPr>
          <p:cNvPr id="2" name="タイトル 1">
            <a:extLst>
              <a:ext uri="{FF2B5EF4-FFF2-40B4-BE49-F238E27FC236}">
                <a16:creationId xmlns:a16="http://schemas.microsoft.com/office/drawing/2014/main" id="{83F14949-9CE5-45BE-BC5D-3300EEEA9F1F}"/>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構成図（簡略化）想定侵入経路</a:t>
            </a:r>
          </a:p>
        </p:txBody>
      </p:sp>
      <p:cxnSp>
        <p:nvCxnSpPr>
          <p:cNvPr id="3" name="直線コネクタ 2">
            <a:extLst>
              <a:ext uri="{FF2B5EF4-FFF2-40B4-BE49-F238E27FC236}">
                <a16:creationId xmlns:a16="http://schemas.microsoft.com/office/drawing/2014/main" id="{85C36197-3526-4A6D-8E36-9C0A7CAB5B5F}"/>
              </a:ext>
            </a:extLst>
          </p:cNvPr>
          <p:cNvCxnSpPr>
            <a:cxnSpLocks/>
          </p:cNvCxnSpPr>
          <p:nvPr/>
        </p:nvCxnSpPr>
        <p:spPr>
          <a:xfrm>
            <a:off x="3886116" y="927651"/>
            <a:ext cx="0" cy="15320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00452DCD-78B9-40D6-8578-DFF3494CB6BD}"/>
              </a:ext>
            </a:extLst>
          </p:cNvPr>
          <p:cNvSpPr txBox="1"/>
          <p:nvPr/>
        </p:nvSpPr>
        <p:spPr>
          <a:xfrm>
            <a:off x="3275276"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5" name="テキスト ボックス 4">
            <a:extLst>
              <a:ext uri="{FF2B5EF4-FFF2-40B4-BE49-F238E27FC236}">
                <a16:creationId xmlns:a16="http://schemas.microsoft.com/office/drawing/2014/main" id="{EC25BA71-091D-4C25-9737-3F7773015E44}"/>
              </a:ext>
            </a:extLst>
          </p:cNvPr>
          <p:cNvSpPr txBox="1"/>
          <p:nvPr/>
        </p:nvSpPr>
        <p:spPr>
          <a:xfrm>
            <a:off x="3275276" y="2037386"/>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6" name="雲 5">
            <a:extLst>
              <a:ext uri="{FF2B5EF4-FFF2-40B4-BE49-F238E27FC236}">
                <a16:creationId xmlns:a16="http://schemas.microsoft.com/office/drawing/2014/main" id="{B7BC6461-E36C-4433-8B9D-40B66271D6B7}"/>
              </a:ext>
            </a:extLst>
          </p:cNvPr>
          <p:cNvSpPr/>
          <p:nvPr/>
        </p:nvSpPr>
        <p:spPr>
          <a:xfrm>
            <a:off x="3061355" y="742689"/>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mn-ea"/>
              </a:rPr>
              <a:t>DII</a:t>
            </a:r>
            <a:endParaRPr kumimoji="1" lang="ja-JP" altLang="en-US" sz="2400" dirty="0">
              <a:solidFill>
                <a:schemeClr val="tx1"/>
              </a:solidFill>
              <a:latin typeface="+mn-ea"/>
            </a:endParaRPr>
          </a:p>
        </p:txBody>
      </p:sp>
      <p:cxnSp>
        <p:nvCxnSpPr>
          <p:cNvPr id="7" name="直線コネクタ 6">
            <a:extLst>
              <a:ext uri="{FF2B5EF4-FFF2-40B4-BE49-F238E27FC236}">
                <a16:creationId xmlns:a16="http://schemas.microsoft.com/office/drawing/2014/main" id="{CF691258-08DC-41C9-A8A7-F893C0F6DFB0}"/>
              </a:ext>
            </a:extLst>
          </p:cNvPr>
          <p:cNvCxnSpPr>
            <a:cxnSpLocks/>
            <a:endCxn id="16" idx="0"/>
          </p:cNvCxnSpPr>
          <p:nvPr/>
        </p:nvCxnSpPr>
        <p:spPr>
          <a:xfrm>
            <a:off x="8001671" y="818919"/>
            <a:ext cx="0" cy="1582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6A1A08AD-7D7D-4CF7-8D75-DD26E2D3B442}"/>
              </a:ext>
            </a:extLst>
          </p:cNvPr>
          <p:cNvSpPr txBox="1"/>
          <p:nvPr/>
        </p:nvSpPr>
        <p:spPr>
          <a:xfrm>
            <a:off x="7389772"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9" name="テキスト ボックス 8">
            <a:extLst>
              <a:ext uri="{FF2B5EF4-FFF2-40B4-BE49-F238E27FC236}">
                <a16:creationId xmlns:a16="http://schemas.microsoft.com/office/drawing/2014/main" id="{6CD33659-78AC-4077-B2F4-810748427629}"/>
              </a:ext>
            </a:extLst>
          </p:cNvPr>
          <p:cNvSpPr txBox="1"/>
          <p:nvPr/>
        </p:nvSpPr>
        <p:spPr>
          <a:xfrm>
            <a:off x="7389772" y="2047506"/>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10" name="雲 9">
            <a:extLst>
              <a:ext uri="{FF2B5EF4-FFF2-40B4-BE49-F238E27FC236}">
                <a16:creationId xmlns:a16="http://schemas.microsoft.com/office/drawing/2014/main" id="{6CC9B7F5-56AE-497C-9C72-F4F0AEDE82EA}"/>
              </a:ext>
            </a:extLst>
          </p:cNvPr>
          <p:cNvSpPr/>
          <p:nvPr/>
        </p:nvSpPr>
        <p:spPr>
          <a:xfrm>
            <a:off x="7125331" y="763685"/>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n-ea"/>
              </a:rPr>
              <a:t>FACE</a:t>
            </a:r>
            <a:endParaRPr kumimoji="1" lang="ja-JP" altLang="en-US" sz="900" dirty="0">
              <a:solidFill>
                <a:schemeClr val="tx1"/>
              </a:solidFill>
              <a:latin typeface="+mn-ea"/>
            </a:endParaRPr>
          </a:p>
        </p:txBody>
      </p:sp>
      <p:sp>
        <p:nvSpPr>
          <p:cNvPr id="11" name="四角形: 角を丸くする 10">
            <a:extLst>
              <a:ext uri="{FF2B5EF4-FFF2-40B4-BE49-F238E27FC236}">
                <a16:creationId xmlns:a16="http://schemas.microsoft.com/office/drawing/2014/main" id="{DB0BA2E2-1F40-4C6B-B933-FDE65682BEC2}"/>
              </a:ext>
            </a:extLst>
          </p:cNvPr>
          <p:cNvSpPr/>
          <p:nvPr/>
        </p:nvSpPr>
        <p:spPr>
          <a:xfrm>
            <a:off x="75501" y="3106498"/>
            <a:ext cx="11132181" cy="1737912"/>
          </a:xfrm>
          <a:prstGeom prst="roundRect">
            <a:avLst/>
          </a:prstGeom>
          <a:solidFill>
            <a:srgbClr val="CC3399">
              <a:alpha val="49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cxnSp>
        <p:nvCxnSpPr>
          <p:cNvPr id="12" name="直線コネクタ 11">
            <a:extLst>
              <a:ext uri="{FF2B5EF4-FFF2-40B4-BE49-F238E27FC236}">
                <a16:creationId xmlns:a16="http://schemas.microsoft.com/office/drawing/2014/main" id="{8A661DE9-3345-4EAF-83D5-0F8B6FED7CF3}"/>
              </a:ext>
            </a:extLst>
          </p:cNvPr>
          <p:cNvCxnSpPr>
            <a:cxnSpLocks/>
          </p:cNvCxnSpPr>
          <p:nvPr/>
        </p:nvCxnSpPr>
        <p:spPr>
          <a:xfrm>
            <a:off x="1335663" y="2609568"/>
            <a:ext cx="0" cy="7873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FBA80E60-4CD5-445F-922E-9CF18E62EA7B}"/>
              </a:ext>
            </a:extLst>
          </p:cNvPr>
          <p:cNvPicPr>
            <a:picLocks noChangeAspect="1"/>
          </p:cNvPicPr>
          <p:nvPr/>
        </p:nvPicPr>
        <p:blipFill>
          <a:blip r:embed="rId3"/>
          <a:stretch>
            <a:fillRect/>
          </a:stretch>
        </p:blipFill>
        <p:spPr>
          <a:xfrm>
            <a:off x="374164" y="5285486"/>
            <a:ext cx="1018590" cy="533467"/>
          </a:xfrm>
          <a:prstGeom prst="rect">
            <a:avLst/>
          </a:prstGeom>
          <a:ln>
            <a:solidFill>
              <a:schemeClr val="tx1"/>
            </a:solidFill>
          </a:ln>
        </p:spPr>
      </p:pic>
      <p:sp>
        <p:nvSpPr>
          <p:cNvPr id="31" name="正方形/長方形 30">
            <a:extLst>
              <a:ext uri="{FF2B5EF4-FFF2-40B4-BE49-F238E27FC236}">
                <a16:creationId xmlns:a16="http://schemas.microsoft.com/office/drawing/2014/main" id="{A8D3E06E-AEAD-471E-BD06-F50DE5DFB7F0}"/>
              </a:ext>
            </a:extLst>
          </p:cNvPr>
          <p:cNvSpPr/>
          <p:nvPr/>
        </p:nvSpPr>
        <p:spPr>
          <a:xfrm>
            <a:off x="75501" y="5123219"/>
            <a:ext cx="1543574" cy="8824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65CEA6ED-A402-4E96-B3DB-3C991B32552A}"/>
              </a:ext>
            </a:extLst>
          </p:cNvPr>
          <p:cNvSpPr txBox="1"/>
          <p:nvPr/>
        </p:nvSpPr>
        <p:spPr>
          <a:xfrm>
            <a:off x="161641" y="4896575"/>
            <a:ext cx="543739" cy="307777"/>
          </a:xfrm>
          <a:prstGeom prst="rect">
            <a:avLst/>
          </a:prstGeom>
          <a:solidFill>
            <a:schemeClr val="bg1"/>
          </a:solidFill>
          <a:ln>
            <a:noFill/>
          </a:ln>
        </p:spPr>
        <p:txBody>
          <a:bodyPr wrap="none" rtlCol="0">
            <a:spAutoFit/>
          </a:bodyPr>
          <a:lstStyle/>
          <a:p>
            <a:pPr algn="l"/>
            <a:r>
              <a:rPr kumimoji="1" lang="ja-JP" altLang="en-US" sz="1400" dirty="0">
                <a:latin typeface="ＭＳ 明朝" panose="02020609040205080304" pitchFamily="17" charset="-128"/>
                <a:ea typeface="ＭＳ 明朝" panose="02020609040205080304" pitchFamily="17" charset="-128"/>
              </a:rPr>
              <a:t>米軍</a:t>
            </a:r>
          </a:p>
        </p:txBody>
      </p:sp>
      <p:sp>
        <p:nvSpPr>
          <p:cNvPr id="34" name="テキスト ボックス 33">
            <a:extLst>
              <a:ext uri="{FF2B5EF4-FFF2-40B4-BE49-F238E27FC236}">
                <a16:creationId xmlns:a16="http://schemas.microsoft.com/office/drawing/2014/main" id="{B760DD94-3933-4209-B2D4-19C8C4A5B9B0}"/>
              </a:ext>
            </a:extLst>
          </p:cNvPr>
          <p:cNvSpPr txBox="1"/>
          <p:nvPr/>
        </p:nvSpPr>
        <p:spPr>
          <a:xfrm>
            <a:off x="58947" y="4012920"/>
            <a:ext cx="889987" cy="261610"/>
          </a:xfrm>
          <a:prstGeom prst="rect">
            <a:avLst/>
          </a:prstGeom>
          <a:noFill/>
          <a:ln>
            <a:noFill/>
          </a:ln>
        </p:spPr>
        <p:txBody>
          <a:bodyPr wrap="none" rtlCol="0">
            <a:spAutoFit/>
          </a:bodyPr>
          <a:lstStyle/>
          <a:p>
            <a:pPr algn="l"/>
            <a:r>
              <a:rPr kumimoji="1" lang="en-US" altLang="ja-JP" sz="1050" dirty="0">
                <a:latin typeface="+mn-ea"/>
              </a:rPr>
              <a:t>Port25,110</a:t>
            </a:r>
            <a:endParaRPr kumimoji="1" lang="ja-JP" altLang="en-US" sz="1050" dirty="0">
              <a:latin typeface="+mn-ea"/>
            </a:endParaRPr>
          </a:p>
        </p:txBody>
      </p:sp>
      <p:sp>
        <p:nvSpPr>
          <p:cNvPr id="35" name="テキスト ボックス 34">
            <a:extLst>
              <a:ext uri="{FF2B5EF4-FFF2-40B4-BE49-F238E27FC236}">
                <a16:creationId xmlns:a16="http://schemas.microsoft.com/office/drawing/2014/main" id="{1D246377-8A78-4E80-8831-706850A89F1A}"/>
              </a:ext>
            </a:extLst>
          </p:cNvPr>
          <p:cNvSpPr txBox="1"/>
          <p:nvPr/>
        </p:nvSpPr>
        <p:spPr>
          <a:xfrm>
            <a:off x="9103597" y="2947215"/>
            <a:ext cx="543739" cy="307777"/>
          </a:xfrm>
          <a:prstGeom prst="rect">
            <a:avLst/>
          </a:prstGeom>
          <a:solidFill>
            <a:schemeClr val="bg1"/>
          </a:solidFill>
          <a:ln>
            <a:noFill/>
          </a:ln>
        </p:spPr>
        <p:txBody>
          <a:bodyPr wrap="none" rtlCol="0">
            <a:spAutoFit/>
          </a:bodyPr>
          <a:lstStyle/>
          <a:p>
            <a:pPr algn="l"/>
            <a:r>
              <a:rPr lang="en-US" altLang="ja-JP" sz="1400" dirty="0">
                <a:latin typeface="ＭＳ 明朝" panose="02020609040205080304" pitchFamily="17" charset="-128"/>
                <a:ea typeface="ＭＳ 明朝" panose="02020609040205080304" pitchFamily="17" charset="-128"/>
              </a:rPr>
              <a:t>FADP</a:t>
            </a:r>
            <a:endParaRPr kumimoji="1" lang="ja-JP" altLang="en-US" sz="1400" dirty="0">
              <a:latin typeface="ＭＳ 明朝" panose="02020609040205080304" pitchFamily="17" charset="-128"/>
              <a:ea typeface="ＭＳ 明朝" panose="02020609040205080304" pitchFamily="17" charset="-128"/>
            </a:endParaRPr>
          </a:p>
        </p:txBody>
      </p:sp>
      <p:pic>
        <p:nvPicPr>
          <p:cNvPr id="15" name="図 14">
            <a:extLst>
              <a:ext uri="{FF2B5EF4-FFF2-40B4-BE49-F238E27FC236}">
                <a16:creationId xmlns:a16="http://schemas.microsoft.com/office/drawing/2014/main" id="{0CA186C7-2BB3-4F6A-B059-DC99BB4FD52B}"/>
              </a:ext>
            </a:extLst>
          </p:cNvPr>
          <p:cNvPicPr>
            <a:picLocks noChangeAspect="1"/>
          </p:cNvPicPr>
          <p:nvPr/>
        </p:nvPicPr>
        <p:blipFill>
          <a:blip r:embed="rId2"/>
          <a:stretch>
            <a:fillRect/>
          </a:stretch>
        </p:blipFill>
        <p:spPr>
          <a:xfrm>
            <a:off x="3611894" y="2425437"/>
            <a:ext cx="652223" cy="521778"/>
          </a:xfrm>
          <a:prstGeom prst="rect">
            <a:avLst/>
          </a:prstGeom>
        </p:spPr>
      </p:pic>
      <p:cxnSp>
        <p:nvCxnSpPr>
          <p:cNvPr id="17" name="直線コネクタ 16">
            <a:extLst>
              <a:ext uri="{FF2B5EF4-FFF2-40B4-BE49-F238E27FC236}">
                <a16:creationId xmlns:a16="http://schemas.microsoft.com/office/drawing/2014/main" id="{F16B25B4-DA9B-4C25-9F25-074B7E828687}"/>
              </a:ext>
            </a:extLst>
          </p:cNvPr>
          <p:cNvCxnSpPr>
            <a:cxnSpLocks/>
          </p:cNvCxnSpPr>
          <p:nvPr/>
        </p:nvCxnSpPr>
        <p:spPr>
          <a:xfrm flipH="1">
            <a:off x="3886116" y="2886264"/>
            <a:ext cx="0" cy="6408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C286F3FA-DD47-4CEA-9839-BC4E18872F1A}"/>
              </a:ext>
            </a:extLst>
          </p:cNvPr>
          <p:cNvCxnSpPr>
            <a:cxnSpLocks/>
          </p:cNvCxnSpPr>
          <p:nvPr/>
        </p:nvCxnSpPr>
        <p:spPr>
          <a:xfrm flipH="1">
            <a:off x="1335663" y="2609568"/>
            <a:ext cx="2293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A67A59A9-235B-44C3-BB17-97452841871A}"/>
              </a:ext>
            </a:extLst>
          </p:cNvPr>
          <p:cNvCxnSpPr>
            <a:cxnSpLocks/>
          </p:cNvCxnSpPr>
          <p:nvPr/>
        </p:nvCxnSpPr>
        <p:spPr>
          <a:xfrm>
            <a:off x="765226" y="3396957"/>
            <a:ext cx="11408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777CDB5D-A1AF-48EA-B451-5D333C85AC69}"/>
              </a:ext>
            </a:extLst>
          </p:cNvPr>
          <p:cNvCxnSpPr>
            <a:cxnSpLocks/>
            <a:endCxn id="31" idx="0"/>
          </p:cNvCxnSpPr>
          <p:nvPr/>
        </p:nvCxnSpPr>
        <p:spPr>
          <a:xfrm>
            <a:off x="765226" y="3396957"/>
            <a:ext cx="0" cy="1726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1659967C-5C25-4ABC-A664-55AB2CDD73D0}"/>
              </a:ext>
            </a:extLst>
          </p:cNvPr>
          <p:cNvSpPr txBox="1"/>
          <p:nvPr/>
        </p:nvSpPr>
        <p:spPr>
          <a:xfrm>
            <a:off x="313683" y="4482865"/>
            <a:ext cx="922789"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ルーター</a:t>
            </a:r>
          </a:p>
        </p:txBody>
      </p:sp>
      <p:sp>
        <p:nvSpPr>
          <p:cNvPr id="30" name="テキスト ボックス 29">
            <a:extLst>
              <a:ext uri="{FF2B5EF4-FFF2-40B4-BE49-F238E27FC236}">
                <a16:creationId xmlns:a16="http://schemas.microsoft.com/office/drawing/2014/main" id="{10B1431F-9EA1-4881-BFB6-699EC58CB8F3}"/>
              </a:ext>
            </a:extLst>
          </p:cNvPr>
          <p:cNvSpPr txBox="1"/>
          <p:nvPr/>
        </p:nvSpPr>
        <p:spPr>
          <a:xfrm>
            <a:off x="267514" y="3783244"/>
            <a:ext cx="995425"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米軍対向用端末</a:t>
            </a:r>
          </a:p>
        </p:txBody>
      </p:sp>
      <p:cxnSp>
        <p:nvCxnSpPr>
          <p:cNvPr id="61" name="直線コネクタ 60">
            <a:extLst>
              <a:ext uri="{FF2B5EF4-FFF2-40B4-BE49-F238E27FC236}">
                <a16:creationId xmlns:a16="http://schemas.microsoft.com/office/drawing/2014/main" id="{E59A4E8E-AB14-4662-94EC-F28A61607BCD}"/>
              </a:ext>
            </a:extLst>
          </p:cNvPr>
          <p:cNvCxnSpPr>
            <a:cxnSpLocks/>
          </p:cNvCxnSpPr>
          <p:nvPr/>
        </p:nvCxnSpPr>
        <p:spPr>
          <a:xfrm>
            <a:off x="1906100" y="3396957"/>
            <a:ext cx="0" cy="5247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417725C0-B5D7-4AF6-B0B8-1621524E621C}"/>
              </a:ext>
            </a:extLst>
          </p:cNvPr>
          <p:cNvSpPr txBox="1"/>
          <p:nvPr/>
        </p:nvSpPr>
        <p:spPr>
          <a:xfrm>
            <a:off x="1348541" y="3783244"/>
            <a:ext cx="995425" cy="369332"/>
          </a:xfrm>
          <a:prstGeom prst="rect">
            <a:avLst/>
          </a:prstGeom>
          <a:solidFill>
            <a:schemeClr val="bg1"/>
          </a:solidFill>
          <a:ln>
            <a:solidFill>
              <a:schemeClr val="tx1"/>
            </a:solidFill>
          </a:ln>
        </p:spPr>
        <p:txBody>
          <a:bodyPr wrap="square" rtlCol="0">
            <a:spAutoFit/>
          </a:bodyPr>
          <a:lstStyle/>
          <a:p>
            <a:pPr algn="ctr"/>
            <a:r>
              <a:rPr kumimoji="1" lang="ja-JP" altLang="en-US" sz="900" dirty="0"/>
              <a:t>運用情報等提供サーバー</a:t>
            </a:r>
          </a:p>
        </p:txBody>
      </p:sp>
      <p:sp>
        <p:nvSpPr>
          <p:cNvPr id="19" name="雲 18">
            <a:extLst>
              <a:ext uri="{FF2B5EF4-FFF2-40B4-BE49-F238E27FC236}">
                <a16:creationId xmlns:a16="http://schemas.microsoft.com/office/drawing/2014/main" id="{9116B246-D1B1-4A85-A178-187D30295AA5}"/>
              </a:ext>
            </a:extLst>
          </p:cNvPr>
          <p:cNvSpPr/>
          <p:nvPr/>
        </p:nvSpPr>
        <p:spPr>
          <a:xfrm>
            <a:off x="2595825" y="3373749"/>
            <a:ext cx="7051511" cy="1275374"/>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1D47C34A-3C5B-4F85-B081-448C57609A0B}"/>
              </a:ext>
            </a:extLst>
          </p:cNvPr>
          <p:cNvCxnSpPr>
            <a:cxnSpLocks/>
          </p:cNvCxnSpPr>
          <p:nvPr/>
        </p:nvCxnSpPr>
        <p:spPr>
          <a:xfrm>
            <a:off x="7984893" y="2897691"/>
            <a:ext cx="0" cy="4740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36B8F0C9-34E8-409B-8ACF-344A2E3BE901}"/>
              </a:ext>
            </a:extLst>
          </p:cNvPr>
          <p:cNvSpPr txBox="1"/>
          <p:nvPr/>
        </p:nvSpPr>
        <p:spPr>
          <a:xfrm>
            <a:off x="1653054" y="4802579"/>
            <a:ext cx="1800493" cy="369332"/>
          </a:xfrm>
          <a:prstGeom prst="rect">
            <a:avLst/>
          </a:prstGeom>
          <a:noFill/>
          <a:ln>
            <a:noFill/>
          </a:ln>
        </p:spPr>
        <p:txBody>
          <a:bodyPr wrap="none" rtlCol="0">
            <a:spAutoFit/>
          </a:bodyPr>
          <a:lstStyle/>
          <a:p>
            <a:pPr algn="l"/>
            <a:r>
              <a:rPr kumimoji="1" lang="ja-JP" altLang="en-US" dirty="0">
                <a:latin typeface="ＭＳ 明朝" panose="02020609040205080304" pitchFamily="17" charset="-128"/>
                <a:ea typeface="ＭＳ 明朝" panose="02020609040205080304" pitchFamily="17" charset="-128"/>
              </a:rPr>
              <a:t>想定侵入経路３</a:t>
            </a:r>
          </a:p>
        </p:txBody>
      </p:sp>
      <p:sp>
        <p:nvSpPr>
          <p:cNvPr id="43" name="矢印: 下 42">
            <a:extLst>
              <a:ext uri="{FF2B5EF4-FFF2-40B4-BE49-F238E27FC236}">
                <a16:creationId xmlns:a16="http://schemas.microsoft.com/office/drawing/2014/main" id="{AAE6E2A4-A6FC-409E-963F-4A76A35357AF}"/>
              </a:ext>
            </a:extLst>
          </p:cNvPr>
          <p:cNvSpPr/>
          <p:nvPr/>
        </p:nvSpPr>
        <p:spPr>
          <a:xfrm rot="10800000">
            <a:off x="1291135" y="4439942"/>
            <a:ext cx="361919" cy="602143"/>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C785A3D6-2516-4635-AAB3-F2C62EE9C202}"/>
              </a:ext>
            </a:extLst>
          </p:cNvPr>
          <p:cNvSpPr/>
          <p:nvPr/>
        </p:nvSpPr>
        <p:spPr>
          <a:xfrm>
            <a:off x="2762884" y="1458048"/>
            <a:ext cx="361919" cy="602143"/>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F56C0B2C-E147-4133-95E5-82A818D17401}"/>
              </a:ext>
            </a:extLst>
          </p:cNvPr>
          <p:cNvSpPr txBox="1"/>
          <p:nvPr/>
        </p:nvSpPr>
        <p:spPr>
          <a:xfrm>
            <a:off x="962391" y="1546760"/>
            <a:ext cx="1800493" cy="369332"/>
          </a:xfrm>
          <a:prstGeom prst="rect">
            <a:avLst/>
          </a:prstGeom>
          <a:noFill/>
          <a:ln>
            <a:noFill/>
          </a:ln>
        </p:spPr>
        <p:txBody>
          <a:bodyPr wrap="none" rtlCol="0">
            <a:spAutoFit/>
          </a:bodyPr>
          <a:lstStyle/>
          <a:p>
            <a:pPr algn="l"/>
            <a:r>
              <a:rPr kumimoji="1" lang="ja-JP" altLang="en-US" dirty="0">
                <a:latin typeface="ＭＳ 明朝" panose="02020609040205080304" pitchFamily="17" charset="-128"/>
                <a:ea typeface="ＭＳ 明朝" panose="02020609040205080304" pitchFamily="17" charset="-128"/>
              </a:rPr>
              <a:t>想定侵入経路１</a:t>
            </a:r>
          </a:p>
        </p:txBody>
      </p:sp>
      <p:sp>
        <p:nvSpPr>
          <p:cNvPr id="46" name="矢印: 下 45">
            <a:extLst>
              <a:ext uri="{FF2B5EF4-FFF2-40B4-BE49-F238E27FC236}">
                <a16:creationId xmlns:a16="http://schemas.microsoft.com/office/drawing/2014/main" id="{4BFC3C45-C351-4413-B13A-D0974D782876}"/>
              </a:ext>
            </a:extLst>
          </p:cNvPr>
          <p:cNvSpPr/>
          <p:nvPr/>
        </p:nvSpPr>
        <p:spPr>
          <a:xfrm>
            <a:off x="8878012" y="1541538"/>
            <a:ext cx="361919" cy="602143"/>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50FDB731-47CB-4241-A3A7-B07BE44F83E2}"/>
              </a:ext>
            </a:extLst>
          </p:cNvPr>
          <p:cNvSpPr txBox="1"/>
          <p:nvPr/>
        </p:nvSpPr>
        <p:spPr>
          <a:xfrm>
            <a:off x="9225265" y="1639614"/>
            <a:ext cx="1800493" cy="369332"/>
          </a:xfrm>
          <a:prstGeom prst="rect">
            <a:avLst/>
          </a:prstGeom>
          <a:noFill/>
          <a:ln>
            <a:noFill/>
          </a:ln>
        </p:spPr>
        <p:txBody>
          <a:bodyPr wrap="none" rtlCol="0">
            <a:spAutoFit/>
          </a:bodyPr>
          <a:lstStyle/>
          <a:p>
            <a:pPr algn="l"/>
            <a:r>
              <a:rPr kumimoji="1" lang="ja-JP" altLang="en-US" dirty="0">
                <a:latin typeface="ＭＳ 明朝" panose="02020609040205080304" pitchFamily="17" charset="-128"/>
                <a:ea typeface="ＭＳ 明朝" panose="02020609040205080304" pitchFamily="17" charset="-128"/>
              </a:rPr>
              <a:t>想定侵入経路２</a:t>
            </a:r>
          </a:p>
        </p:txBody>
      </p:sp>
      <p:sp>
        <p:nvSpPr>
          <p:cNvPr id="36" name="テキスト ボックス 35">
            <a:extLst>
              <a:ext uri="{FF2B5EF4-FFF2-40B4-BE49-F238E27FC236}">
                <a16:creationId xmlns:a16="http://schemas.microsoft.com/office/drawing/2014/main" id="{3467561B-6B3B-44D4-9553-2CFD5F2C3E29}"/>
              </a:ext>
            </a:extLst>
          </p:cNvPr>
          <p:cNvSpPr txBox="1"/>
          <p:nvPr/>
        </p:nvSpPr>
        <p:spPr>
          <a:xfrm>
            <a:off x="4435117" y="2636768"/>
            <a:ext cx="2954655" cy="369332"/>
          </a:xfrm>
          <a:prstGeom prst="rect">
            <a:avLst/>
          </a:prstGeom>
          <a:solidFill>
            <a:srgbClr val="FFFF00"/>
          </a:solidFill>
          <a:ln>
            <a:solidFill>
              <a:schemeClr val="tx1"/>
            </a:solidFill>
          </a:ln>
        </p:spPr>
        <p:txBody>
          <a:bodyPr wrap="none" rtlCol="0">
            <a:spAutoFit/>
          </a:bodyPr>
          <a:lstStyle/>
          <a:p>
            <a:r>
              <a:rPr kumimoji="1" lang="ja-JP" altLang="en-US" dirty="0">
                <a:latin typeface="ＭＳ 明朝" panose="02020609040205080304" pitchFamily="17" charset="-128"/>
                <a:ea typeface="ＭＳ 明朝" panose="02020609040205080304" pitchFamily="17" charset="-128"/>
              </a:rPr>
              <a:t>紫枠内が</a:t>
            </a:r>
            <a:r>
              <a:rPr kumimoji="1" lang="en-US" altLang="ja-JP" dirty="0">
                <a:latin typeface="ＭＳ 明朝" panose="02020609040205080304" pitchFamily="17" charset="-128"/>
                <a:ea typeface="ＭＳ 明朝" panose="02020609040205080304" pitchFamily="17" charset="-128"/>
              </a:rPr>
              <a:t>FADP</a:t>
            </a:r>
            <a:r>
              <a:rPr kumimoji="1" lang="ja-JP" altLang="en-US" dirty="0">
                <a:latin typeface="ＭＳ 明朝" panose="02020609040205080304" pitchFamily="17" charset="-128"/>
                <a:ea typeface="ＭＳ 明朝" panose="02020609040205080304" pitchFamily="17" charset="-128"/>
              </a:rPr>
              <a:t>ネットワーク</a:t>
            </a:r>
          </a:p>
        </p:txBody>
      </p:sp>
    </p:spTree>
    <p:extLst>
      <p:ext uri="{BB962C8B-B14F-4D97-AF65-F5344CB8AC3E}">
        <p14:creationId xmlns:p14="http://schemas.microsoft.com/office/powerpoint/2010/main" val="2944495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28C43062-54B4-4B00-BAE4-40999FE2A1E5}"/>
              </a:ext>
            </a:extLst>
          </p:cNvPr>
          <p:cNvPicPr>
            <a:picLocks noChangeAspect="1"/>
          </p:cNvPicPr>
          <p:nvPr/>
        </p:nvPicPr>
        <p:blipFill>
          <a:blip r:embed="rId2"/>
          <a:stretch>
            <a:fillRect/>
          </a:stretch>
        </p:blipFill>
        <p:spPr>
          <a:xfrm>
            <a:off x="7700726" y="2401080"/>
            <a:ext cx="652223" cy="521778"/>
          </a:xfrm>
          <a:prstGeom prst="rect">
            <a:avLst/>
          </a:prstGeom>
        </p:spPr>
      </p:pic>
      <p:sp>
        <p:nvSpPr>
          <p:cNvPr id="2" name="タイトル 1">
            <a:extLst>
              <a:ext uri="{FF2B5EF4-FFF2-40B4-BE49-F238E27FC236}">
                <a16:creationId xmlns:a16="http://schemas.microsoft.com/office/drawing/2014/main" id="{83F14949-9CE5-45BE-BC5D-3300EEEA9F1F}"/>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構成図（簡略化）想定侵入経路</a:t>
            </a:r>
          </a:p>
        </p:txBody>
      </p:sp>
      <p:cxnSp>
        <p:nvCxnSpPr>
          <p:cNvPr id="3" name="直線コネクタ 2">
            <a:extLst>
              <a:ext uri="{FF2B5EF4-FFF2-40B4-BE49-F238E27FC236}">
                <a16:creationId xmlns:a16="http://schemas.microsoft.com/office/drawing/2014/main" id="{85C36197-3526-4A6D-8E36-9C0A7CAB5B5F}"/>
              </a:ext>
            </a:extLst>
          </p:cNvPr>
          <p:cNvCxnSpPr>
            <a:cxnSpLocks/>
          </p:cNvCxnSpPr>
          <p:nvPr/>
        </p:nvCxnSpPr>
        <p:spPr>
          <a:xfrm>
            <a:off x="3886116" y="927651"/>
            <a:ext cx="0" cy="15320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00452DCD-78B9-40D6-8578-DFF3494CB6BD}"/>
              </a:ext>
            </a:extLst>
          </p:cNvPr>
          <p:cNvSpPr txBox="1"/>
          <p:nvPr/>
        </p:nvSpPr>
        <p:spPr>
          <a:xfrm>
            <a:off x="3275276"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5" name="テキスト ボックス 4">
            <a:extLst>
              <a:ext uri="{FF2B5EF4-FFF2-40B4-BE49-F238E27FC236}">
                <a16:creationId xmlns:a16="http://schemas.microsoft.com/office/drawing/2014/main" id="{EC25BA71-091D-4C25-9737-3F7773015E44}"/>
              </a:ext>
            </a:extLst>
          </p:cNvPr>
          <p:cNvSpPr txBox="1"/>
          <p:nvPr/>
        </p:nvSpPr>
        <p:spPr>
          <a:xfrm>
            <a:off x="3275276" y="2037386"/>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6" name="雲 5">
            <a:extLst>
              <a:ext uri="{FF2B5EF4-FFF2-40B4-BE49-F238E27FC236}">
                <a16:creationId xmlns:a16="http://schemas.microsoft.com/office/drawing/2014/main" id="{B7BC6461-E36C-4433-8B9D-40B66271D6B7}"/>
              </a:ext>
            </a:extLst>
          </p:cNvPr>
          <p:cNvSpPr/>
          <p:nvPr/>
        </p:nvSpPr>
        <p:spPr>
          <a:xfrm>
            <a:off x="3061355" y="742689"/>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mn-ea"/>
              </a:rPr>
              <a:t>DII</a:t>
            </a:r>
            <a:endParaRPr kumimoji="1" lang="ja-JP" altLang="en-US" sz="2400" dirty="0">
              <a:solidFill>
                <a:schemeClr val="tx1"/>
              </a:solidFill>
              <a:latin typeface="+mn-ea"/>
            </a:endParaRPr>
          </a:p>
        </p:txBody>
      </p:sp>
      <p:cxnSp>
        <p:nvCxnSpPr>
          <p:cNvPr id="7" name="直線コネクタ 6">
            <a:extLst>
              <a:ext uri="{FF2B5EF4-FFF2-40B4-BE49-F238E27FC236}">
                <a16:creationId xmlns:a16="http://schemas.microsoft.com/office/drawing/2014/main" id="{CF691258-08DC-41C9-A8A7-F893C0F6DFB0}"/>
              </a:ext>
            </a:extLst>
          </p:cNvPr>
          <p:cNvCxnSpPr>
            <a:cxnSpLocks/>
            <a:endCxn id="16" idx="0"/>
          </p:cNvCxnSpPr>
          <p:nvPr/>
        </p:nvCxnSpPr>
        <p:spPr>
          <a:xfrm>
            <a:off x="8001671" y="818919"/>
            <a:ext cx="0" cy="1582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6A1A08AD-7D7D-4CF7-8D75-DD26E2D3B442}"/>
              </a:ext>
            </a:extLst>
          </p:cNvPr>
          <p:cNvSpPr txBox="1"/>
          <p:nvPr/>
        </p:nvSpPr>
        <p:spPr>
          <a:xfrm>
            <a:off x="7389772"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9" name="テキスト ボックス 8">
            <a:extLst>
              <a:ext uri="{FF2B5EF4-FFF2-40B4-BE49-F238E27FC236}">
                <a16:creationId xmlns:a16="http://schemas.microsoft.com/office/drawing/2014/main" id="{6CD33659-78AC-4077-B2F4-810748427629}"/>
              </a:ext>
            </a:extLst>
          </p:cNvPr>
          <p:cNvSpPr txBox="1"/>
          <p:nvPr/>
        </p:nvSpPr>
        <p:spPr>
          <a:xfrm>
            <a:off x="7389772" y="2047506"/>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10" name="雲 9">
            <a:extLst>
              <a:ext uri="{FF2B5EF4-FFF2-40B4-BE49-F238E27FC236}">
                <a16:creationId xmlns:a16="http://schemas.microsoft.com/office/drawing/2014/main" id="{6CC9B7F5-56AE-497C-9C72-F4F0AEDE82EA}"/>
              </a:ext>
            </a:extLst>
          </p:cNvPr>
          <p:cNvSpPr/>
          <p:nvPr/>
        </p:nvSpPr>
        <p:spPr>
          <a:xfrm>
            <a:off x="7125331" y="763685"/>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n-ea"/>
              </a:rPr>
              <a:t>FACE</a:t>
            </a:r>
            <a:endParaRPr kumimoji="1" lang="ja-JP" altLang="en-US" sz="900" dirty="0">
              <a:solidFill>
                <a:schemeClr val="tx1"/>
              </a:solidFill>
              <a:latin typeface="+mn-ea"/>
            </a:endParaRPr>
          </a:p>
        </p:txBody>
      </p:sp>
      <p:sp>
        <p:nvSpPr>
          <p:cNvPr id="11" name="四角形: 角を丸くする 10">
            <a:extLst>
              <a:ext uri="{FF2B5EF4-FFF2-40B4-BE49-F238E27FC236}">
                <a16:creationId xmlns:a16="http://schemas.microsoft.com/office/drawing/2014/main" id="{DB0BA2E2-1F40-4C6B-B933-FDE65682BEC2}"/>
              </a:ext>
            </a:extLst>
          </p:cNvPr>
          <p:cNvSpPr/>
          <p:nvPr/>
        </p:nvSpPr>
        <p:spPr>
          <a:xfrm>
            <a:off x="75501" y="3089002"/>
            <a:ext cx="11848985" cy="173791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cxnSp>
        <p:nvCxnSpPr>
          <p:cNvPr id="12" name="直線コネクタ 11">
            <a:extLst>
              <a:ext uri="{FF2B5EF4-FFF2-40B4-BE49-F238E27FC236}">
                <a16:creationId xmlns:a16="http://schemas.microsoft.com/office/drawing/2014/main" id="{8A661DE9-3345-4EAF-83D5-0F8B6FED7CF3}"/>
              </a:ext>
            </a:extLst>
          </p:cNvPr>
          <p:cNvCxnSpPr>
            <a:cxnSpLocks/>
          </p:cNvCxnSpPr>
          <p:nvPr/>
        </p:nvCxnSpPr>
        <p:spPr>
          <a:xfrm>
            <a:off x="1335663" y="2609568"/>
            <a:ext cx="0" cy="7873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FBA80E60-4CD5-445F-922E-9CF18E62EA7B}"/>
              </a:ext>
            </a:extLst>
          </p:cNvPr>
          <p:cNvPicPr>
            <a:picLocks noChangeAspect="1"/>
          </p:cNvPicPr>
          <p:nvPr/>
        </p:nvPicPr>
        <p:blipFill>
          <a:blip r:embed="rId3"/>
          <a:stretch>
            <a:fillRect/>
          </a:stretch>
        </p:blipFill>
        <p:spPr>
          <a:xfrm>
            <a:off x="374164" y="5285486"/>
            <a:ext cx="1018590" cy="533467"/>
          </a:xfrm>
          <a:prstGeom prst="rect">
            <a:avLst/>
          </a:prstGeom>
          <a:ln>
            <a:solidFill>
              <a:schemeClr val="tx1"/>
            </a:solidFill>
          </a:ln>
        </p:spPr>
      </p:pic>
      <p:sp>
        <p:nvSpPr>
          <p:cNvPr id="31" name="正方形/長方形 30">
            <a:extLst>
              <a:ext uri="{FF2B5EF4-FFF2-40B4-BE49-F238E27FC236}">
                <a16:creationId xmlns:a16="http://schemas.microsoft.com/office/drawing/2014/main" id="{A8D3E06E-AEAD-471E-BD06-F50DE5DFB7F0}"/>
              </a:ext>
            </a:extLst>
          </p:cNvPr>
          <p:cNvSpPr/>
          <p:nvPr/>
        </p:nvSpPr>
        <p:spPr>
          <a:xfrm>
            <a:off x="75501" y="5123219"/>
            <a:ext cx="1543574" cy="8824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65CEA6ED-A402-4E96-B3DB-3C991B32552A}"/>
              </a:ext>
            </a:extLst>
          </p:cNvPr>
          <p:cNvSpPr txBox="1"/>
          <p:nvPr/>
        </p:nvSpPr>
        <p:spPr>
          <a:xfrm>
            <a:off x="161641" y="4896575"/>
            <a:ext cx="543739" cy="307777"/>
          </a:xfrm>
          <a:prstGeom prst="rect">
            <a:avLst/>
          </a:prstGeom>
          <a:solidFill>
            <a:schemeClr val="bg1"/>
          </a:solidFill>
          <a:ln>
            <a:noFill/>
          </a:ln>
        </p:spPr>
        <p:txBody>
          <a:bodyPr wrap="none" rtlCol="0">
            <a:spAutoFit/>
          </a:bodyPr>
          <a:lstStyle/>
          <a:p>
            <a:pPr algn="l"/>
            <a:r>
              <a:rPr kumimoji="1" lang="ja-JP" altLang="en-US" sz="1400" dirty="0">
                <a:latin typeface="ＭＳ 明朝" panose="02020609040205080304" pitchFamily="17" charset="-128"/>
                <a:ea typeface="ＭＳ 明朝" panose="02020609040205080304" pitchFamily="17" charset="-128"/>
              </a:rPr>
              <a:t>米軍</a:t>
            </a:r>
          </a:p>
        </p:txBody>
      </p:sp>
      <p:sp>
        <p:nvSpPr>
          <p:cNvPr id="34" name="テキスト ボックス 33">
            <a:extLst>
              <a:ext uri="{FF2B5EF4-FFF2-40B4-BE49-F238E27FC236}">
                <a16:creationId xmlns:a16="http://schemas.microsoft.com/office/drawing/2014/main" id="{B760DD94-3933-4209-B2D4-19C8C4A5B9B0}"/>
              </a:ext>
            </a:extLst>
          </p:cNvPr>
          <p:cNvSpPr txBox="1"/>
          <p:nvPr/>
        </p:nvSpPr>
        <p:spPr>
          <a:xfrm>
            <a:off x="58947" y="4012920"/>
            <a:ext cx="889987" cy="261610"/>
          </a:xfrm>
          <a:prstGeom prst="rect">
            <a:avLst/>
          </a:prstGeom>
          <a:noFill/>
          <a:ln>
            <a:noFill/>
          </a:ln>
        </p:spPr>
        <p:txBody>
          <a:bodyPr wrap="none" rtlCol="0">
            <a:spAutoFit/>
          </a:bodyPr>
          <a:lstStyle/>
          <a:p>
            <a:pPr algn="l"/>
            <a:r>
              <a:rPr kumimoji="1" lang="en-US" altLang="ja-JP" sz="1050" dirty="0">
                <a:latin typeface="+mn-ea"/>
              </a:rPr>
              <a:t>Port25,110</a:t>
            </a:r>
            <a:endParaRPr kumimoji="1" lang="ja-JP" altLang="en-US" sz="1050" dirty="0">
              <a:latin typeface="+mn-ea"/>
            </a:endParaRPr>
          </a:p>
        </p:txBody>
      </p:sp>
      <p:sp>
        <p:nvSpPr>
          <p:cNvPr id="35" name="テキスト ボックス 34">
            <a:extLst>
              <a:ext uri="{FF2B5EF4-FFF2-40B4-BE49-F238E27FC236}">
                <a16:creationId xmlns:a16="http://schemas.microsoft.com/office/drawing/2014/main" id="{1D246377-8A78-4E80-8831-706850A89F1A}"/>
              </a:ext>
            </a:extLst>
          </p:cNvPr>
          <p:cNvSpPr txBox="1"/>
          <p:nvPr/>
        </p:nvSpPr>
        <p:spPr>
          <a:xfrm>
            <a:off x="2506685" y="2903692"/>
            <a:ext cx="543739" cy="307777"/>
          </a:xfrm>
          <a:prstGeom prst="rect">
            <a:avLst/>
          </a:prstGeom>
          <a:solidFill>
            <a:schemeClr val="bg1"/>
          </a:solidFill>
          <a:ln>
            <a:noFill/>
          </a:ln>
        </p:spPr>
        <p:txBody>
          <a:bodyPr wrap="none" rtlCol="0">
            <a:spAutoFit/>
          </a:bodyPr>
          <a:lstStyle/>
          <a:p>
            <a:pPr algn="l"/>
            <a:r>
              <a:rPr lang="en-US" altLang="ja-JP" sz="1400" dirty="0">
                <a:latin typeface="ＭＳ 明朝" panose="02020609040205080304" pitchFamily="17" charset="-128"/>
                <a:ea typeface="ＭＳ 明朝" panose="02020609040205080304" pitchFamily="17" charset="-128"/>
              </a:rPr>
              <a:t>FADP</a:t>
            </a:r>
            <a:endParaRPr kumimoji="1" lang="ja-JP" altLang="en-US" sz="1400" dirty="0">
              <a:latin typeface="ＭＳ 明朝" panose="02020609040205080304" pitchFamily="17" charset="-128"/>
              <a:ea typeface="ＭＳ 明朝" panose="02020609040205080304" pitchFamily="17" charset="-128"/>
            </a:endParaRPr>
          </a:p>
        </p:txBody>
      </p:sp>
      <p:pic>
        <p:nvPicPr>
          <p:cNvPr id="15" name="図 14">
            <a:extLst>
              <a:ext uri="{FF2B5EF4-FFF2-40B4-BE49-F238E27FC236}">
                <a16:creationId xmlns:a16="http://schemas.microsoft.com/office/drawing/2014/main" id="{0CA186C7-2BB3-4F6A-B059-DC99BB4FD52B}"/>
              </a:ext>
            </a:extLst>
          </p:cNvPr>
          <p:cNvPicPr>
            <a:picLocks noChangeAspect="1"/>
          </p:cNvPicPr>
          <p:nvPr/>
        </p:nvPicPr>
        <p:blipFill>
          <a:blip r:embed="rId2"/>
          <a:stretch>
            <a:fillRect/>
          </a:stretch>
        </p:blipFill>
        <p:spPr>
          <a:xfrm>
            <a:off x="3611894" y="2425437"/>
            <a:ext cx="652223" cy="521778"/>
          </a:xfrm>
          <a:prstGeom prst="rect">
            <a:avLst/>
          </a:prstGeom>
        </p:spPr>
      </p:pic>
      <p:cxnSp>
        <p:nvCxnSpPr>
          <p:cNvPr id="17" name="直線コネクタ 16">
            <a:extLst>
              <a:ext uri="{FF2B5EF4-FFF2-40B4-BE49-F238E27FC236}">
                <a16:creationId xmlns:a16="http://schemas.microsoft.com/office/drawing/2014/main" id="{F16B25B4-DA9B-4C25-9F25-074B7E828687}"/>
              </a:ext>
            </a:extLst>
          </p:cNvPr>
          <p:cNvCxnSpPr>
            <a:cxnSpLocks/>
          </p:cNvCxnSpPr>
          <p:nvPr/>
        </p:nvCxnSpPr>
        <p:spPr>
          <a:xfrm>
            <a:off x="3899453" y="2886264"/>
            <a:ext cx="0" cy="5106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C286F3FA-DD47-4CEA-9839-BC4E18872F1A}"/>
              </a:ext>
            </a:extLst>
          </p:cNvPr>
          <p:cNvCxnSpPr>
            <a:cxnSpLocks/>
          </p:cNvCxnSpPr>
          <p:nvPr/>
        </p:nvCxnSpPr>
        <p:spPr>
          <a:xfrm flipH="1">
            <a:off x="1335663" y="2609568"/>
            <a:ext cx="2293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A67A59A9-235B-44C3-BB17-97452841871A}"/>
              </a:ext>
            </a:extLst>
          </p:cNvPr>
          <p:cNvCxnSpPr>
            <a:cxnSpLocks/>
          </p:cNvCxnSpPr>
          <p:nvPr/>
        </p:nvCxnSpPr>
        <p:spPr>
          <a:xfrm>
            <a:off x="765226" y="3396957"/>
            <a:ext cx="11408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777CDB5D-A1AF-48EA-B451-5D333C85AC69}"/>
              </a:ext>
            </a:extLst>
          </p:cNvPr>
          <p:cNvCxnSpPr>
            <a:cxnSpLocks/>
            <a:endCxn id="31" idx="0"/>
          </p:cNvCxnSpPr>
          <p:nvPr/>
        </p:nvCxnSpPr>
        <p:spPr>
          <a:xfrm>
            <a:off x="765226" y="3396957"/>
            <a:ext cx="0" cy="1726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1659967C-5C25-4ABC-A664-55AB2CDD73D0}"/>
              </a:ext>
            </a:extLst>
          </p:cNvPr>
          <p:cNvSpPr txBox="1"/>
          <p:nvPr/>
        </p:nvSpPr>
        <p:spPr>
          <a:xfrm>
            <a:off x="313683" y="4482865"/>
            <a:ext cx="922789"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ルーター</a:t>
            </a:r>
          </a:p>
        </p:txBody>
      </p:sp>
      <p:sp>
        <p:nvSpPr>
          <p:cNvPr id="30" name="テキスト ボックス 29">
            <a:extLst>
              <a:ext uri="{FF2B5EF4-FFF2-40B4-BE49-F238E27FC236}">
                <a16:creationId xmlns:a16="http://schemas.microsoft.com/office/drawing/2014/main" id="{10B1431F-9EA1-4881-BFB6-699EC58CB8F3}"/>
              </a:ext>
            </a:extLst>
          </p:cNvPr>
          <p:cNvSpPr txBox="1"/>
          <p:nvPr/>
        </p:nvSpPr>
        <p:spPr>
          <a:xfrm>
            <a:off x="267514" y="3783244"/>
            <a:ext cx="995425"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米軍対向用端末</a:t>
            </a:r>
          </a:p>
        </p:txBody>
      </p:sp>
      <p:cxnSp>
        <p:nvCxnSpPr>
          <p:cNvPr id="61" name="直線コネクタ 60">
            <a:extLst>
              <a:ext uri="{FF2B5EF4-FFF2-40B4-BE49-F238E27FC236}">
                <a16:creationId xmlns:a16="http://schemas.microsoft.com/office/drawing/2014/main" id="{E59A4E8E-AB14-4662-94EC-F28A61607BCD}"/>
              </a:ext>
            </a:extLst>
          </p:cNvPr>
          <p:cNvCxnSpPr>
            <a:cxnSpLocks/>
          </p:cNvCxnSpPr>
          <p:nvPr/>
        </p:nvCxnSpPr>
        <p:spPr>
          <a:xfrm>
            <a:off x="1906100" y="3396957"/>
            <a:ext cx="0" cy="5247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417725C0-B5D7-4AF6-B0B8-1621524E621C}"/>
              </a:ext>
            </a:extLst>
          </p:cNvPr>
          <p:cNvSpPr txBox="1"/>
          <p:nvPr/>
        </p:nvSpPr>
        <p:spPr>
          <a:xfrm>
            <a:off x="1348541" y="3783244"/>
            <a:ext cx="995425" cy="369332"/>
          </a:xfrm>
          <a:prstGeom prst="rect">
            <a:avLst/>
          </a:prstGeom>
          <a:solidFill>
            <a:schemeClr val="bg1"/>
          </a:solidFill>
          <a:ln>
            <a:solidFill>
              <a:schemeClr val="tx1"/>
            </a:solidFill>
          </a:ln>
        </p:spPr>
        <p:txBody>
          <a:bodyPr wrap="square" rtlCol="0">
            <a:spAutoFit/>
          </a:bodyPr>
          <a:lstStyle/>
          <a:p>
            <a:pPr algn="ctr"/>
            <a:r>
              <a:rPr kumimoji="1" lang="ja-JP" altLang="en-US" sz="900" dirty="0"/>
              <a:t>運用情報等提供サーバー</a:t>
            </a:r>
          </a:p>
        </p:txBody>
      </p:sp>
      <p:sp>
        <p:nvSpPr>
          <p:cNvPr id="66" name="正方形/長方形 65">
            <a:extLst>
              <a:ext uri="{FF2B5EF4-FFF2-40B4-BE49-F238E27FC236}">
                <a16:creationId xmlns:a16="http://schemas.microsoft.com/office/drawing/2014/main" id="{8BA72C3B-B46D-48EF-9607-BE931D47C147}"/>
              </a:ext>
            </a:extLst>
          </p:cNvPr>
          <p:cNvSpPr/>
          <p:nvPr/>
        </p:nvSpPr>
        <p:spPr>
          <a:xfrm>
            <a:off x="25167" y="2466292"/>
            <a:ext cx="2359111" cy="3716394"/>
          </a:xfrm>
          <a:prstGeom prst="rect">
            <a:avLst/>
          </a:prstGeom>
          <a:solidFill>
            <a:srgbClr val="FFFF00">
              <a:alpha val="25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テキスト ボックス 66">
            <a:extLst>
              <a:ext uri="{FF2B5EF4-FFF2-40B4-BE49-F238E27FC236}">
                <a16:creationId xmlns:a16="http://schemas.microsoft.com/office/drawing/2014/main" id="{0390FB1D-7BF7-45B0-A786-55B8F522DC5D}"/>
              </a:ext>
            </a:extLst>
          </p:cNvPr>
          <p:cNvSpPr txBox="1"/>
          <p:nvPr/>
        </p:nvSpPr>
        <p:spPr>
          <a:xfrm>
            <a:off x="119791" y="2230581"/>
            <a:ext cx="684803" cy="369332"/>
          </a:xfrm>
          <a:prstGeom prst="rect">
            <a:avLst/>
          </a:prstGeom>
          <a:solidFill>
            <a:schemeClr val="bg1"/>
          </a:solidFill>
          <a:ln>
            <a:solidFill>
              <a:schemeClr val="tx1"/>
            </a:solidFill>
          </a:ln>
        </p:spPr>
        <p:txBody>
          <a:bodyPr wrap="none" rtlCol="0">
            <a:spAutoFit/>
          </a:bodyPr>
          <a:lstStyle/>
          <a:p>
            <a:r>
              <a:rPr kumimoji="1" lang="en-US" altLang="ja-JP" dirty="0">
                <a:solidFill>
                  <a:srgbClr val="FF0000"/>
                </a:solidFill>
              </a:rPr>
              <a:t>DMZ</a:t>
            </a:r>
            <a:endParaRPr kumimoji="1" lang="ja-JP" altLang="en-US" dirty="0">
              <a:solidFill>
                <a:srgbClr val="FF0000"/>
              </a:solidFill>
            </a:endParaRPr>
          </a:p>
        </p:txBody>
      </p:sp>
      <p:sp>
        <p:nvSpPr>
          <p:cNvPr id="68" name="正方形/長方形 67">
            <a:extLst>
              <a:ext uri="{FF2B5EF4-FFF2-40B4-BE49-F238E27FC236}">
                <a16:creationId xmlns:a16="http://schemas.microsoft.com/office/drawing/2014/main" id="{89BDAD65-BC5F-4BBB-8C54-1207C6ACDFEE}"/>
              </a:ext>
            </a:extLst>
          </p:cNvPr>
          <p:cNvSpPr/>
          <p:nvPr/>
        </p:nvSpPr>
        <p:spPr>
          <a:xfrm>
            <a:off x="2430054" y="2994410"/>
            <a:ext cx="8806940" cy="1912908"/>
          </a:xfrm>
          <a:prstGeom prst="rect">
            <a:avLst/>
          </a:prstGeom>
          <a:solidFill>
            <a:srgbClr val="00B050">
              <a:alpha val="25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テキスト ボックス 68">
            <a:extLst>
              <a:ext uri="{FF2B5EF4-FFF2-40B4-BE49-F238E27FC236}">
                <a16:creationId xmlns:a16="http://schemas.microsoft.com/office/drawing/2014/main" id="{87D85A68-D207-4802-A0E8-B5186B4F6CBF}"/>
              </a:ext>
            </a:extLst>
          </p:cNvPr>
          <p:cNvSpPr txBox="1"/>
          <p:nvPr/>
        </p:nvSpPr>
        <p:spPr>
          <a:xfrm>
            <a:off x="5919192" y="2791598"/>
            <a:ext cx="954107" cy="369332"/>
          </a:xfrm>
          <a:prstGeom prst="rect">
            <a:avLst/>
          </a:prstGeom>
          <a:solidFill>
            <a:schemeClr val="bg1"/>
          </a:solidFill>
          <a:ln>
            <a:solidFill>
              <a:schemeClr val="tx1"/>
            </a:solidFill>
          </a:ln>
        </p:spPr>
        <p:txBody>
          <a:bodyPr wrap="none" rtlCol="0">
            <a:spAutoFit/>
          </a:bodyPr>
          <a:lstStyle/>
          <a:p>
            <a:r>
              <a:rPr kumimoji="1" lang="en-US" altLang="ja-JP" dirty="0">
                <a:solidFill>
                  <a:srgbClr val="FF0000"/>
                </a:solidFill>
              </a:rPr>
              <a:t>TRUST</a:t>
            </a:r>
            <a:endParaRPr kumimoji="1" lang="ja-JP" altLang="en-US" dirty="0">
              <a:solidFill>
                <a:srgbClr val="FF0000"/>
              </a:solidFill>
            </a:endParaRPr>
          </a:p>
        </p:txBody>
      </p:sp>
      <p:sp>
        <p:nvSpPr>
          <p:cNvPr id="70" name="正方形/長方形 69">
            <a:extLst>
              <a:ext uri="{FF2B5EF4-FFF2-40B4-BE49-F238E27FC236}">
                <a16:creationId xmlns:a16="http://schemas.microsoft.com/office/drawing/2014/main" id="{5A2D4A50-751E-487D-B271-4A4BBDECDDB4}"/>
              </a:ext>
            </a:extLst>
          </p:cNvPr>
          <p:cNvSpPr/>
          <p:nvPr/>
        </p:nvSpPr>
        <p:spPr>
          <a:xfrm>
            <a:off x="2630506" y="622258"/>
            <a:ext cx="2693769" cy="1755984"/>
          </a:xfrm>
          <a:prstGeom prst="rect">
            <a:avLst/>
          </a:prstGeom>
          <a:solidFill>
            <a:schemeClr val="accent2">
              <a:lumMod val="75000"/>
              <a:alpha val="2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テキスト ボックス 70">
            <a:extLst>
              <a:ext uri="{FF2B5EF4-FFF2-40B4-BE49-F238E27FC236}">
                <a16:creationId xmlns:a16="http://schemas.microsoft.com/office/drawing/2014/main" id="{DCFA3381-EFEE-41A0-8473-BAB704C1AAC3}"/>
              </a:ext>
            </a:extLst>
          </p:cNvPr>
          <p:cNvSpPr txBox="1"/>
          <p:nvPr/>
        </p:nvSpPr>
        <p:spPr>
          <a:xfrm>
            <a:off x="1619075" y="1310983"/>
            <a:ext cx="1287532" cy="369332"/>
          </a:xfrm>
          <a:prstGeom prst="rect">
            <a:avLst/>
          </a:prstGeom>
          <a:solidFill>
            <a:schemeClr val="bg1"/>
          </a:solidFill>
          <a:ln>
            <a:solidFill>
              <a:schemeClr val="tx1"/>
            </a:solidFill>
          </a:ln>
        </p:spPr>
        <p:txBody>
          <a:bodyPr wrap="none" rtlCol="0">
            <a:spAutoFit/>
          </a:bodyPr>
          <a:lstStyle/>
          <a:p>
            <a:r>
              <a:rPr kumimoji="1" lang="en-US" altLang="ja-JP" dirty="0">
                <a:solidFill>
                  <a:srgbClr val="FF0000"/>
                </a:solidFill>
              </a:rPr>
              <a:t>UNTRUST</a:t>
            </a:r>
            <a:endParaRPr kumimoji="1" lang="ja-JP" altLang="en-US" dirty="0">
              <a:solidFill>
                <a:srgbClr val="FF0000"/>
              </a:solidFill>
            </a:endParaRPr>
          </a:p>
        </p:txBody>
      </p:sp>
      <p:sp>
        <p:nvSpPr>
          <p:cNvPr id="72" name="楕円 71">
            <a:extLst>
              <a:ext uri="{FF2B5EF4-FFF2-40B4-BE49-F238E27FC236}">
                <a16:creationId xmlns:a16="http://schemas.microsoft.com/office/drawing/2014/main" id="{0FE7AD74-8516-4E91-8D7F-EDB9C13349E5}"/>
              </a:ext>
            </a:extLst>
          </p:cNvPr>
          <p:cNvSpPr/>
          <p:nvPr/>
        </p:nvSpPr>
        <p:spPr>
          <a:xfrm>
            <a:off x="7150187" y="626230"/>
            <a:ext cx="1753299" cy="2287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テキスト ボックス 72">
            <a:extLst>
              <a:ext uri="{FF2B5EF4-FFF2-40B4-BE49-F238E27FC236}">
                <a16:creationId xmlns:a16="http://schemas.microsoft.com/office/drawing/2014/main" id="{18735825-81B9-466B-81AB-91FCD985E36B}"/>
              </a:ext>
            </a:extLst>
          </p:cNvPr>
          <p:cNvSpPr txBox="1"/>
          <p:nvPr/>
        </p:nvSpPr>
        <p:spPr>
          <a:xfrm>
            <a:off x="9118215" y="965537"/>
            <a:ext cx="3185487" cy="1477328"/>
          </a:xfrm>
          <a:prstGeom prst="rect">
            <a:avLst/>
          </a:prstGeom>
          <a:solidFill>
            <a:srgbClr val="FFFF00"/>
          </a:solidFill>
          <a:ln>
            <a:solidFill>
              <a:schemeClr val="tx1"/>
            </a:solidFill>
          </a:ln>
        </p:spPr>
        <p:txBody>
          <a:bodyPr wrap="none" rtlCol="0">
            <a:spAutoFit/>
          </a:bodyPr>
          <a:lstStyle/>
          <a:p>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丸枠部分の機器の設定は</a:t>
            </a:r>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わかっていないので想像で</a:t>
            </a:r>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以降の仮説を立てています。</a:t>
            </a:r>
            <a:endParaRPr kumimoji="1" lang="en-US" altLang="ja-JP" dirty="0">
              <a:latin typeface="ＭＳ 明朝" panose="02020609040205080304" pitchFamily="17" charset="-128"/>
              <a:ea typeface="ＭＳ 明朝" panose="02020609040205080304" pitchFamily="17" charset="-128"/>
            </a:endParaRPr>
          </a:p>
          <a:p>
            <a:endParaRPr kumimoji="1" lang="ja-JP" altLang="en-US" dirty="0">
              <a:latin typeface="ＭＳ 明朝" panose="02020609040205080304" pitchFamily="17" charset="-128"/>
              <a:ea typeface="ＭＳ 明朝" panose="02020609040205080304" pitchFamily="17" charset="-128"/>
            </a:endParaRPr>
          </a:p>
        </p:txBody>
      </p:sp>
      <p:sp>
        <p:nvSpPr>
          <p:cNvPr id="74" name="雲 73">
            <a:extLst>
              <a:ext uri="{FF2B5EF4-FFF2-40B4-BE49-F238E27FC236}">
                <a16:creationId xmlns:a16="http://schemas.microsoft.com/office/drawing/2014/main" id="{CD549789-08E6-4B45-A50D-BCA1CEE11513}"/>
              </a:ext>
            </a:extLst>
          </p:cNvPr>
          <p:cNvSpPr/>
          <p:nvPr/>
        </p:nvSpPr>
        <p:spPr>
          <a:xfrm>
            <a:off x="2570244" y="3258324"/>
            <a:ext cx="7051511" cy="1275374"/>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1D47C34A-3C5B-4F85-B081-448C57609A0B}"/>
              </a:ext>
            </a:extLst>
          </p:cNvPr>
          <p:cNvCxnSpPr>
            <a:cxnSpLocks/>
            <a:stCxn id="16" idx="2"/>
          </p:cNvCxnSpPr>
          <p:nvPr/>
        </p:nvCxnSpPr>
        <p:spPr>
          <a:xfrm flipH="1">
            <a:off x="8026836" y="2922858"/>
            <a:ext cx="2" cy="3354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4838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636F9DCA-F52E-40D1-8721-CA8C0D92021F}"/>
              </a:ext>
            </a:extLst>
          </p:cNvPr>
          <p:cNvSpPr txBox="1"/>
          <p:nvPr/>
        </p:nvSpPr>
        <p:spPr>
          <a:xfrm>
            <a:off x="2513899" y="844879"/>
            <a:ext cx="7164198" cy="646331"/>
          </a:xfrm>
          <a:prstGeom prst="rect">
            <a:avLst/>
          </a:prstGeom>
          <a:noFill/>
          <a:ln>
            <a:solidFill>
              <a:schemeClr val="tx1"/>
            </a:solidFill>
          </a:ln>
        </p:spPr>
        <p:txBody>
          <a:bodyPr wrap="square" rtlCol="0">
            <a:spAutoFit/>
          </a:bodyPr>
          <a:lstStyle/>
          <a:p>
            <a:pPr algn="ctr"/>
            <a:r>
              <a:rPr lang="ja-JP" altLang="en-US" dirty="0">
                <a:latin typeface="ＭＳ 明朝" panose="02020609040205080304" pitchFamily="17" charset="-128"/>
                <a:ea typeface="ＭＳ 明朝" panose="02020609040205080304" pitchFamily="17" charset="-128"/>
              </a:rPr>
              <a:t>対象システム使用ファイアウォール</a:t>
            </a:r>
            <a:endParaRPr lang="en-US" altLang="ja-JP" dirty="0">
              <a:latin typeface="ＭＳ 明朝" panose="02020609040205080304" pitchFamily="17" charset="-128"/>
              <a:ea typeface="ＭＳ 明朝" panose="02020609040205080304" pitchFamily="17" charset="-128"/>
            </a:endParaRPr>
          </a:p>
          <a:p>
            <a:pPr algn="ctr"/>
            <a:r>
              <a:rPr lang="en-US" altLang="ja-JP" dirty="0">
                <a:latin typeface="ＭＳ 明朝" panose="02020609040205080304" pitchFamily="17" charset="-128"/>
                <a:ea typeface="ＭＳ 明朝" panose="02020609040205080304" pitchFamily="17" charset="-128"/>
              </a:rPr>
              <a:t>Juniper SRX320 ver20.4R3-S3.4</a:t>
            </a:r>
          </a:p>
        </p:txBody>
      </p:sp>
      <p:graphicFrame>
        <p:nvGraphicFramePr>
          <p:cNvPr id="4" name="表 3">
            <a:extLst>
              <a:ext uri="{FF2B5EF4-FFF2-40B4-BE49-F238E27FC236}">
                <a16:creationId xmlns:a16="http://schemas.microsoft.com/office/drawing/2014/main" id="{C06BCC99-CA4F-4246-A98B-6B46B8D9B702}"/>
              </a:ext>
            </a:extLst>
          </p:cNvPr>
          <p:cNvGraphicFramePr>
            <a:graphicFrameLocks noGrp="1"/>
          </p:cNvGraphicFramePr>
          <p:nvPr>
            <p:extLst>
              <p:ext uri="{D42A27DB-BD31-4B8C-83A1-F6EECF244321}">
                <p14:modId xmlns:p14="http://schemas.microsoft.com/office/powerpoint/2010/main" val="1536818527"/>
              </p:ext>
            </p:extLst>
          </p:nvPr>
        </p:nvGraphicFramePr>
        <p:xfrm>
          <a:off x="174733" y="3368079"/>
          <a:ext cx="11842525" cy="2312797"/>
        </p:xfrm>
        <a:graphic>
          <a:graphicData uri="http://schemas.openxmlformats.org/drawingml/2006/table">
            <a:tbl>
              <a:tblPr firstRow="1" bandRow="1">
                <a:tableStyleId>{5940675A-B579-460E-94D1-54222C63F5DA}</a:tableStyleId>
              </a:tblPr>
              <a:tblGrid>
                <a:gridCol w="627380">
                  <a:extLst>
                    <a:ext uri="{9D8B030D-6E8A-4147-A177-3AD203B41FA5}">
                      <a16:colId xmlns:a16="http://schemas.microsoft.com/office/drawing/2014/main" val="3032621611"/>
                    </a:ext>
                  </a:extLst>
                </a:gridCol>
                <a:gridCol w="1516380">
                  <a:extLst>
                    <a:ext uri="{9D8B030D-6E8A-4147-A177-3AD203B41FA5}">
                      <a16:colId xmlns:a16="http://schemas.microsoft.com/office/drawing/2014/main" val="3995868737"/>
                    </a:ext>
                  </a:extLst>
                </a:gridCol>
                <a:gridCol w="2798787">
                  <a:extLst>
                    <a:ext uri="{9D8B030D-6E8A-4147-A177-3AD203B41FA5}">
                      <a16:colId xmlns:a16="http://schemas.microsoft.com/office/drawing/2014/main" val="4143132480"/>
                    </a:ext>
                  </a:extLst>
                </a:gridCol>
                <a:gridCol w="6279173">
                  <a:extLst>
                    <a:ext uri="{9D8B030D-6E8A-4147-A177-3AD203B41FA5}">
                      <a16:colId xmlns:a16="http://schemas.microsoft.com/office/drawing/2014/main" val="3585631135"/>
                    </a:ext>
                  </a:extLst>
                </a:gridCol>
                <a:gridCol w="620805">
                  <a:extLst>
                    <a:ext uri="{9D8B030D-6E8A-4147-A177-3AD203B41FA5}">
                      <a16:colId xmlns:a16="http://schemas.microsoft.com/office/drawing/2014/main" val="3375818505"/>
                    </a:ext>
                  </a:extLst>
                </a:gridCol>
              </a:tblGrid>
              <a:tr h="442240">
                <a:tc>
                  <a:txBody>
                    <a:bodyPr/>
                    <a:lstStyle/>
                    <a:p>
                      <a:pPr algn="ctr"/>
                      <a:r>
                        <a:rPr kumimoji="1" lang="ja-JP" altLang="en-US" sz="1400" dirty="0">
                          <a:latin typeface="ＭＳ 明朝" panose="02020609040205080304" pitchFamily="17" charset="-128"/>
                          <a:ea typeface="ＭＳ 明朝" panose="02020609040205080304" pitchFamily="17" charset="-128"/>
                        </a:rPr>
                        <a:t>番号</a:t>
                      </a: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CVE</a:t>
                      </a:r>
                      <a:r>
                        <a:rPr kumimoji="1" lang="ja-JP" altLang="en-US" sz="1400" dirty="0">
                          <a:latin typeface="ＭＳ 明朝" panose="02020609040205080304" pitchFamily="17" charset="-128"/>
                          <a:ea typeface="ＭＳ 明朝" panose="02020609040205080304" pitchFamily="17" charset="-128"/>
                        </a:rPr>
                        <a:t>番号</a:t>
                      </a: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影響を受ける</a:t>
                      </a:r>
                      <a:endParaRPr kumimoji="1" lang="en-US" altLang="ja-JP" sz="1400" dirty="0">
                        <a:latin typeface="ＭＳ 明朝" panose="02020609040205080304" pitchFamily="17" charset="-128"/>
                        <a:ea typeface="ＭＳ 明朝" panose="02020609040205080304" pitchFamily="17" charset="-128"/>
                      </a:endParaRPr>
                    </a:p>
                    <a:p>
                      <a:pPr algn="ctr"/>
                      <a:r>
                        <a:rPr kumimoji="1" lang="ja-JP" altLang="en-US" sz="1400" dirty="0">
                          <a:latin typeface="ＭＳ 明朝" panose="02020609040205080304" pitchFamily="17" charset="-128"/>
                          <a:ea typeface="ＭＳ 明朝" panose="02020609040205080304" pitchFamily="17" charset="-128"/>
                        </a:rPr>
                        <a:t>バージョン</a:t>
                      </a: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影響</a:t>
                      </a: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POC</a:t>
                      </a:r>
                      <a:endParaRPr kumimoji="1" lang="ja-JP" altLang="en-US" sz="1400" dirty="0">
                        <a:latin typeface="ＭＳ 明朝" panose="02020609040205080304" pitchFamily="17" charset="-128"/>
                        <a:ea typeface="ＭＳ 明朝" panose="02020609040205080304" pitchFamily="17" charset="-128"/>
                      </a:endParaRPr>
                    </a:p>
                  </a:txBody>
                  <a:tcPr anchor="ctr"/>
                </a:tc>
                <a:extLst>
                  <a:ext uri="{0D108BD9-81ED-4DB2-BD59-A6C34878D82A}">
                    <a16:rowId xmlns:a16="http://schemas.microsoft.com/office/drawing/2014/main" val="140664658"/>
                  </a:ext>
                </a:extLst>
              </a:tr>
              <a:tr h="6412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１</a:t>
                      </a:r>
                    </a:p>
                  </a:txBody>
                  <a:tcPr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CVE-2024-21591</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20.4R3-S9</a:t>
                      </a:r>
                      <a:r>
                        <a:rPr kumimoji="1" lang="ja-JP" altLang="en-US" sz="1400" dirty="0">
                          <a:latin typeface="ＭＳ 明朝" panose="02020609040205080304" pitchFamily="17" charset="-128"/>
                          <a:ea typeface="ＭＳ 明朝" panose="02020609040205080304" pitchFamily="17" charset="-128"/>
                        </a:rPr>
                        <a:t>以前のバージョン</a:t>
                      </a:r>
                    </a:p>
                  </a:txBody>
                  <a:tcPr anchor="ctr">
                    <a:solidFill>
                      <a:schemeClr val="accent2">
                        <a:lumMod val="20000"/>
                        <a:lumOff val="80000"/>
                      </a:schemeClr>
                    </a:solidFill>
                  </a:tcPr>
                </a:tc>
                <a:tc>
                  <a:txBody>
                    <a:bodyPr/>
                    <a:lstStyle/>
                    <a:p>
                      <a:r>
                        <a:rPr kumimoji="1" lang="en-US" altLang="ja-JP" sz="1400" dirty="0">
                          <a:latin typeface="ＭＳ 明朝" panose="02020609040205080304" pitchFamily="17" charset="-128"/>
                          <a:ea typeface="ＭＳ 明朝" panose="02020609040205080304" pitchFamily="17" charset="-128"/>
                        </a:rPr>
                        <a:t>J-Web</a:t>
                      </a:r>
                      <a:r>
                        <a:rPr kumimoji="1" lang="ja-JP" altLang="en-US" sz="1400" dirty="0">
                          <a:latin typeface="ＭＳ 明朝" panose="02020609040205080304" pitchFamily="17" charset="-128"/>
                          <a:ea typeface="ＭＳ 明朝" panose="02020609040205080304" pitchFamily="17" charset="-128"/>
                        </a:rPr>
                        <a:t>における</a:t>
                      </a:r>
                      <a:r>
                        <a:rPr kumimoji="1" lang="en-US" altLang="ja-JP" sz="1400" dirty="0">
                          <a:latin typeface="ＭＳ 明朝" panose="02020609040205080304" pitchFamily="17" charset="-128"/>
                          <a:ea typeface="ＭＳ 明朝" panose="02020609040205080304" pitchFamily="17" charset="-128"/>
                        </a:rPr>
                        <a:t>Out-of-bounds Write</a:t>
                      </a:r>
                      <a:r>
                        <a:rPr kumimoji="1" lang="ja-JP" altLang="en-US" sz="1400" dirty="0">
                          <a:latin typeface="ＭＳ 明朝" panose="02020609040205080304" pitchFamily="17" charset="-128"/>
                          <a:ea typeface="ＭＳ 明朝" panose="02020609040205080304" pitchFamily="17" charset="-128"/>
                        </a:rPr>
                        <a:t>脆弱性により、未認証のネットワーク攻撃者がリモートでコード実行を行い、</a:t>
                      </a:r>
                      <a:r>
                        <a:rPr kumimoji="1" lang="en-US" altLang="ja-JP" sz="1400" dirty="0">
                          <a:latin typeface="ＭＳ 明朝" panose="02020609040205080304" pitchFamily="17" charset="-128"/>
                          <a:ea typeface="ＭＳ 明朝" panose="02020609040205080304" pitchFamily="17" charset="-128"/>
                        </a:rPr>
                        <a:t>root</a:t>
                      </a:r>
                      <a:r>
                        <a:rPr kumimoji="1" lang="ja-JP" altLang="en-US" sz="1400" dirty="0">
                          <a:latin typeface="ＭＳ 明朝" panose="02020609040205080304" pitchFamily="17" charset="-128"/>
                          <a:ea typeface="ＭＳ 明朝" panose="02020609040205080304" pitchFamily="17" charset="-128"/>
                        </a:rPr>
                        <a:t>権限を取得できる可能性がある。</a:t>
                      </a:r>
                    </a:p>
                  </a:txBody>
                  <a:tcPr anchor="ctr">
                    <a:solidFill>
                      <a:schemeClr val="accent2">
                        <a:lumMod val="20000"/>
                        <a:lumOff val="80000"/>
                      </a:schemeClr>
                    </a:solidFill>
                  </a:tcPr>
                </a:tc>
                <a:tc>
                  <a:txBody>
                    <a:bodyPr/>
                    <a:lstStyle/>
                    <a:p>
                      <a:pPr algn="ctr"/>
                      <a:r>
                        <a:rPr kumimoji="1" lang="ja-JP" altLang="en-US" sz="1400" dirty="0">
                          <a:latin typeface="ＭＳ 明朝" panose="02020609040205080304" pitchFamily="17" charset="-128"/>
                          <a:ea typeface="ＭＳ 明朝" panose="02020609040205080304" pitchFamily="17" charset="-128"/>
                        </a:rPr>
                        <a:t>有</a:t>
                      </a:r>
                    </a:p>
                  </a:txBody>
                  <a:tcPr anchor="ctr">
                    <a:solidFill>
                      <a:schemeClr val="accent2">
                        <a:lumMod val="20000"/>
                        <a:lumOff val="80000"/>
                      </a:schemeClr>
                    </a:solidFill>
                  </a:tcPr>
                </a:tc>
                <a:extLst>
                  <a:ext uri="{0D108BD9-81ED-4DB2-BD59-A6C34878D82A}">
                    <a16:rowId xmlns:a16="http://schemas.microsoft.com/office/drawing/2014/main" val="3070175176"/>
                  </a:ext>
                </a:extLst>
              </a:tr>
              <a:tr h="5766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２</a:t>
                      </a:r>
                    </a:p>
                  </a:txBody>
                  <a:tcPr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CVE-2023-36845</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20.4R3-S9</a:t>
                      </a:r>
                      <a:r>
                        <a:rPr kumimoji="1" lang="ja-JP" altLang="en-US" sz="1400" dirty="0">
                          <a:latin typeface="ＭＳ 明朝" panose="02020609040205080304" pitchFamily="17" charset="-128"/>
                          <a:ea typeface="ＭＳ 明朝" panose="02020609040205080304" pitchFamily="17" charset="-128"/>
                        </a:rPr>
                        <a:t>以前のバージョン</a:t>
                      </a:r>
                    </a:p>
                  </a:txBody>
                  <a:tcPr anchor="ctr">
                    <a:solidFill>
                      <a:schemeClr val="accent2">
                        <a:lumMod val="20000"/>
                        <a:lumOff val="80000"/>
                      </a:schemeClr>
                    </a:solidFill>
                  </a:tcPr>
                </a:tc>
                <a:tc>
                  <a:txBody>
                    <a:bodyPr/>
                    <a:lstStyle/>
                    <a:p>
                      <a:r>
                        <a:rPr kumimoji="1" lang="en-US" altLang="ja-JP" sz="1400" dirty="0">
                          <a:latin typeface="ＭＳ 明朝" panose="02020609040205080304" pitchFamily="17" charset="-128"/>
                          <a:ea typeface="ＭＳ 明朝" panose="02020609040205080304" pitchFamily="17" charset="-128"/>
                        </a:rPr>
                        <a:t>J-Web</a:t>
                      </a:r>
                      <a:r>
                        <a:rPr kumimoji="1" lang="ja-JP" altLang="en-US" sz="1400" dirty="0">
                          <a:latin typeface="ＭＳ 明朝" panose="02020609040205080304" pitchFamily="17" charset="-128"/>
                          <a:ea typeface="ＭＳ 明朝" panose="02020609040205080304" pitchFamily="17" charset="-128"/>
                        </a:rPr>
                        <a:t>における</a:t>
                      </a:r>
                      <a:r>
                        <a:rPr kumimoji="1" lang="en-US" altLang="ja-JP" sz="1400" dirty="0">
                          <a:latin typeface="ＭＳ 明朝" panose="02020609040205080304" pitchFamily="17" charset="-128"/>
                          <a:ea typeface="ＭＳ 明朝" panose="02020609040205080304" pitchFamily="17" charset="-128"/>
                        </a:rPr>
                        <a:t>PHP</a:t>
                      </a:r>
                      <a:r>
                        <a:rPr kumimoji="1" lang="ja-JP" altLang="en-US" sz="1400" dirty="0">
                          <a:latin typeface="ＭＳ 明朝" panose="02020609040205080304" pitchFamily="17" charset="-128"/>
                          <a:ea typeface="ＭＳ 明朝" panose="02020609040205080304" pitchFamily="17" charset="-128"/>
                        </a:rPr>
                        <a:t>環境変数の不正な変更により、未認証のネットワーク攻撃者がリモートでコードを実行する可能性がある。</a:t>
                      </a:r>
                    </a:p>
                  </a:txBody>
                  <a:tcPr anchor="ctr">
                    <a:solidFill>
                      <a:schemeClr val="accent2">
                        <a:lumMod val="20000"/>
                        <a:lumOff val="80000"/>
                      </a:schemeClr>
                    </a:solidFill>
                  </a:tcPr>
                </a:tc>
                <a:tc>
                  <a:txBody>
                    <a:bodyPr/>
                    <a:lstStyle/>
                    <a:p>
                      <a:pPr algn="ctr"/>
                      <a:r>
                        <a:rPr kumimoji="1" lang="ja-JP" altLang="en-US" sz="1400" dirty="0">
                          <a:latin typeface="ＭＳ 明朝" panose="02020609040205080304" pitchFamily="17" charset="-128"/>
                          <a:ea typeface="ＭＳ 明朝" panose="02020609040205080304" pitchFamily="17" charset="-128"/>
                        </a:rPr>
                        <a:t>有</a:t>
                      </a:r>
                    </a:p>
                  </a:txBody>
                  <a:tcPr anchor="ctr">
                    <a:solidFill>
                      <a:schemeClr val="accent2">
                        <a:lumMod val="20000"/>
                        <a:lumOff val="80000"/>
                      </a:schemeClr>
                    </a:solidFill>
                  </a:tcPr>
                </a:tc>
                <a:extLst>
                  <a:ext uri="{0D108BD9-81ED-4DB2-BD59-A6C34878D82A}">
                    <a16:rowId xmlns:a16="http://schemas.microsoft.com/office/drawing/2014/main" val="1059170032"/>
                  </a:ext>
                </a:extLst>
              </a:tr>
              <a:tr h="5766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３</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CVE-2023-36844</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20.4R3-S9</a:t>
                      </a:r>
                      <a:r>
                        <a:rPr kumimoji="1" lang="ja-JP" altLang="en-US" sz="1400" dirty="0">
                          <a:latin typeface="ＭＳ 明朝" panose="02020609040205080304" pitchFamily="17" charset="-128"/>
                          <a:ea typeface="ＭＳ 明朝" panose="02020609040205080304" pitchFamily="17" charset="-128"/>
                        </a:rPr>
                        <a:t>以前のバージョン</a:t>
                      </a:r>
                    </a:p>
                  </a:txBody>
                  <a:tcPr anchor="ctr"/>
                </a:tc>
                <a:tc>
                  <a:txBody>
                    <a:bodyPr/>
                    <a:lstStyle/>
                    <a:p>
                      <a:r>
                        <a:rPr kumimoji="1" lang="en-US" altLang="ja-JP" sz="1400" dirty="0">
                          <a:latin typeface="ＭＳ 明朝" panose="02020609040205080304" pitchFamily="17" charset="-128"/>
                          <a:ea typeface="ＭＳ 明朝" panose="02020609040205080304" pitchFamily="17" charset="-128"/>
                        </a:rPr>
                        <a:t>J-Web</a:t>
                      </a:r>
                      <a:r>
                        <a:rPr kumimoji="1" lang="ja-JP" altLang="en-US" sz="1400" dirty="0">
                          <a:latin typeface="ＭＳ 明朝" panose="02020609040205080304" pitchFamily="17" charset="-128"/>
                          <a:ea typeface="ＭＳ 明朝" panose="02020609040205080304" pitchFamily="17" charset="-128"/>
                        </a:rPr>
                        <a:t>に認証不要でネットワーク経由により</a:t>
                      </a:r>
                      <a:r>
                        <a:rPr kumimoji="1" lang="en-US" altLang="ja-JP" sz="1400" dirty="0">
                          <a:latin typeface="ＭＳ 明朝" panose="02020609040205080304" pitchFamily="17" charset="-128"/>
                          <a:ea typeface="ＭＳ 明朝" panose="02020609040205080304" pitchFamily="17" charset="-128"/>
                        </a:rPr>
                        <a:t>PHPRC</a:t>
                      </a:r>
                      <a:r>
                        <a:rPr kumimoji="1" lang="ja-JP" altLang="en-US" sz="1400" dirty="0">
                          <a:latin typeface="ＭＳ 明朝" panose="02020609040205080304" pitchFamily="17" charset="-128"/>
                          <a:ea typeface="ＭＳ 明朝" panose="02020609040205080304" pitchFamily="17" charset="-128"/>
                        </a:rPr>
                        <a:t>等の環境変数を書き換えられ、</a:t>
                      </a:r>
                      <a:r>
                        <a:rPr kumimoji="1" lang="en-US" altLang="ja-JP" sz="1400" dirty="0">
                          <a:latin typeface="ＭＳ 明朝" panose="02020609040205080304" pitchFamily="17" charset="-128"/>
                          <a:ea typeface="ＭＳ 明朝" panose="02020609040205080304" pitchFamily="17" charset="-128"/>
                        </a:rPr>
                        <a:t>PHP</a:t>
                      </a:r>
                      <a:r>
                        <a:rPr kumimoji="1" lang="ja-JP" altLang="en-US" sz="1400" dirty="0">
                          <a:latin typeface="ＭＳ 明朝" panose="02020609040205080304" pitchFamily="17" charset="-128"/>
                          <a:ea typeface="ＭＳ 明朝" panose="02020609040205080304" pitchFamily="17" charset="-128"/>
                        </a:rPr>
                        <a:t>実行環境を変更他の脆弱性と連鎖して</a:t>
                      </a:r>
                      <a:r>
                        <a:rPr kumimoji="1" lang="en-US" altLang="ja-JP" sz="1400" dirty="0">
                          <a:latin typeface="ＭＳ 明朝" panose="02020609040205080304" pitchFamily="17" charset="-128"/>
                          <a:ea typeface="ＭＳ 明朝" panose="02020609040205080304" pitchFamily="17" charset="-128"/>
                        </a:rPr>
                        <a:t>RCE</a:t>
                      </a:r>
                      <a:r>
                        <a:rPr kumimoji="1" lang="ja-JP" altLang="en-US" sz="1400" dirty="0">
                          <a:latin typeface="ＭＳ 明朝" panose="02020609040205080304" pitchFamily="17" charset="-128"/>
                          <a:ea typeface="ＭＳ 明朝" panose="02020609040205080304" pitchFamily="17" charset="-128"/>
                        </a:rPr>
                        <a:t>につながる可能性あり。</a:t>
                      </a:r>
                      <a:endParaRPr kumimoji="1" lang="en-US" altLang="ja-JP" sz="1400" dirty="0">
                        <a:latin typeface="ＭＳ 明朝" panose="02020609040205080304" pitchFamily="17" charset="-128"/>
                        <a:ea typeface="ＭＳ 明朝" panose="02020609040205080304" pitchFamily="17" charset="-128"/>
                      </a:endParaRP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有</a:t>
                      </a:r>
                    </a:p>
                  </a:txBody>
                  <a:tcPr anchor="ctr"/>
                </a:tc>
                <a:extLst>
                  <a:ext uri="{0D108BD9-81ED-4DB2-BD59-A6C34878D82A}">
                    <a16:rowId xmlns:a16="http://schemas.microsoft.com/office/drawing/2014/main" val="737584678"/>
                  </a:ext>
                </a:extLst>
              </a:tr>
            </a:tbl>
          </a:graphicData>
        </a:graphic>
      </p:graphicFrame>
      <p:sp>
        <p:nvSpPr>
          <p:cNvPr id="5" name="テキスト ボックス 4">
            <a:extLst>
              <a:ext uri="{FF2B5EF4-FFF2-40B4-BE49-F238E27FC236}">
                <a16:creationId xmlns:a16="http://schemas.microsoft.com/office/drawing/2014/main" id="{DB420327-618A-4C5F-96B9-B92CF3A52D35}"/>
              </a:ext>
            </a:extLst>
          </p:cNvPr>
          <p:cNvSpPr txBox="1"/>
          <p:nvPr/>
        </p:nvSpPr>
        <p:spPr>
          <a:xfrm>
            <a:off x="5080337" y="164178"/>
            <a:ext cx="2031325" cy="369332"/>
          </a:xfrm>
          <a:prstGeom prst="rect">
            <a:avLst/>
          </a:prstGeom>
          <a:noFill/>
        </p:spPr>
        <p:txBody>
          <a:bodyPr wrap="none" rtlCol="0">
            <a:spAutoFit/>
          </a:bodyPr>
          <a:lstStyle/>
          <a:p>
            <a:r>
              <a:rPr kumimoji="1" lang="ja-JP" altLang="en-US" dirty="0">
                <a:latin typeface="ＭＳ 明朝" panose="02020609040205080304" pitchFamily="17" charset="-128"/>
                <a:ea typeface="ＭＳ 明朝" panose="02020609040205080304" pitchFamily="17" charset="-128"/>
              </a:rPr>
              <a:t>既知の脆弱性情報</a:t>
            </a:r>
          </a:p>
        </p:txBody>
      </p:sp>
      <p:sp>
        <p:nvSpPr>
          <p:cNvPr id="6" name="テキスト ボックス 5">
            <a:extLst>
              <a:ext uri="{FF2B5EF4-FFF2-40B4-BE49-F238E27FC236}">
                <a16:creationId xmlns:a16="http://schemas.microsoft.com/office/drawing/2014/main" id="{35C156F3-2C5B-4645-A62C-CDF21BC66615}"/>
              </a:ext>
            </a:extLst>
          </p:cNvPr>
          <p:cNvSpPr txBox="1"/>
          <p:nvPr/>
        </p:nvSpPr>
        <p:spPr>
          <a:xfrm>
            <a:off x="3349090" y="6324490"/>
            <a:ext cx="5493812" cy="369332"/>
          </a:xfrm>
          <a:prstGeom prst="rect">
            <a:avLst/>
          </a:prstGeom>
          <a:noFill/>
          <a:ln>
            <a:noFill/>
          </a:ln>
        </p:spPr>
        <p:txBody>
          <a:bodyPr wrap="none" rtlCol="0">
            <a:spAutoFit/>
          </a:bodyPr>
          <a:lstStyle/>
          <a:p>
            <a:pPr algn="l"/>
            <a:r>
              <a:rPr kumimoji="1" lang="en-US" altLang="ja-JP" dirty="0">
                <a:latin typeface="ＭＳ 明朝" panose="02020609040205080304" pitchFamily="17" charset="-128"/>
                <a:ea typeface="ＭＳ 明朝" panose="02020609040205080304" pitchFamily="17" charset="-128"/>
              </a:rPr>
              <a:t>※ J-Web(Juniper Web Interface)</a:t>
            </a:r>
            <a:r>
              <a:rPr kumimoji="1" lang="ja-JP" altLang="en-US" dirty="0">
                <a:latin typeface="ＭＳ 明朝" panose="02020609040205080304" pitchFamily="17" charset="-128"/>
                <a:ea typeface="ＭＳ 明朝" panose="02020609040205080304" pitchFamily="17" charset="-128"/>
              </a:rPr>
              <a:t>は</a:t>
            </a:r>
            <a:r>
              <a:rPr kumimoji="1" lang="en-US" altLang="ja-JP" dirty="0">
                <a:latin typeface="ＭＳ 明朝" panose="02020609040205080304" pitchFamily="17" charset="-128"/>
                <a:ea typeface="ＭＳ 明朝" panose="02020609040205080304" pitchFamily="17" charset="-128"/>
              </a:rPr>
              <a:t>Web</a:t>
            </a:r>
            <a:r>
              <a:rPr kumimoji="1" lang="ja-JP" altLang="en-US" dirty="0">
                <a:latin typeface="ＭＳ 明朝" panose="02020609040205080304" pitchFamily="17" charset="-128"/>
                <a:ea typeface="ＭＳ 明朝" panose="02020609040205080304" pitchFamily="17" charset="-128"/>
              </a:rPr>
              <a:t>の管理画面</a:t>
            </a:r>
          </a:p>
        </p:txBody>
      </p:sp>
      <p:pic>
        <p:nvPicPr>
          <p:cNvPr id="7" name="図 6">
            <a:extLst>
              <a:ext uri="{FF2B5EF4-FFF2-40B4-BE49-F238E27FC236}">
                <a16:creationId xmlns:a16="http://schemas.microsoft.com/office/drawing/2014/main" id="{FCD2650E-29A9-4CFA-AE5E-706E9801E6B9}"/>
              </a:ext>
            </a:extLst>
          </p:cNvPr>
          <p:cNvPicPr>
            <a:picLocks noChangeAspect="1"/>
          </p:cNvPicPr>
          <p:nvPr/>
        </p:nvPicPr>
        <p:blipFill>
          <a:blip r:embed="rId2"/>
          <a:stretch>
            <a:fillRect/>
          </a:stretch>
        </p:blipFill>
        <p:spPr>
          <a:xfrm>
            <a:off x="5144343" y="1690045"/>
            <a:ext cx="1967319" cy="1286955"/>
          </a:xfrm>
          <a:prstGeom prst="rect">
            <a:avLst/>
          </a:prstGeom>
          <a:ln>
            <a:solidFill>
              <a:schemeClr val="tx1"/>
            </a:solidFill>
          </a:ln>
        </p:spPr>
      </p:pic>
    </p:spTree>
    <p:extLst>
      <p:ext uri="{BB962C8B-B14F-4D97-AF65-F5344CB8AC3E}">
        <p14:creationId xmlns:p14="http://schemas.microsoft.com/office/powerpoint/2010/main" val="853195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F976C7C0-EF02-40A0-852E-80825FC3AC71}"/>
              </a:ext>
            </a:extLst>
          </p:cNvPr>
          <p:cNvSpPr txBox="1"/>
          <p:nvPr/>
        </p:nvSpPr>
        <p:spPr>
          <a:xfrm>
            <a:off x="2684478" y="731955"/>
            <a:ext cx="7164198" cy="646331"/>
          </a:xfrm>
          <a:prstGeom prst="rect">
            <a:avLst/>
          </a:prstGeom>
          <a:noFill/>
          <a:ln>
            <a:solidFill>
              <a:schemeClr val="tx1"/>
            </a:solidFill>
          </a:ln>
        </p:spPr>
        <p:txBody>
          <a:bodyPr wrap="square" rtlCol="0">
            <a:spAutoFit/>
          </a:bodyPr>
          <a:lstStyle/>
          <a:p>
            <a:pPr algn="ctr"/>
            <a:r>
              <a:rPr lang="ja-JP" altLang="en-US" dirty="0">
                <a:latin typeface="ＭＳ 明朝" panose="02020609040205080304" pitchFamily="17" charset="-128"/>
                <a:ea typeface="ＭＳ 明朝" panose="02020609040205080304" pitchFamily="17" charset="-128"/>
              </a:rPr>
              <a:t>対象システム使用</a:t>
            </a:r>
            <a:r>
              <a:rPr lang="en-US" altLang="ja-JP" dirty="0">
                <a:latin typeface="ＭＳ 明朝" panose="02020609040205080304" pitchFamily="17" charset="-128"/>
                <a:ea typeface="ＭＳ 明朝" panose="02020609040205080304" pitchFamily="17" charset="-128"/>
              </a:rPr>
              <a:t>Web</a:t>
            </a:r>
            <a:r>
              <a:rPr lang="ja-JP" altLang="en-US" dirty="0">
                <a:latin typeface="ＭＳ 明朝" panose="02020609040205080304" pitchFamily="17" charset="-128"/>
                <a:ea typeface="ＭＳ 明朝" panose="02020609040205080304" pitchFamily="17" charset="-128"/>
              </a:rPr>
              <a:t>サーバ</a:t>
            </a:r>
            <a:endParaRPr lang="en-US" altLang="ja-JP" dirty="0">
              <a:latin typeface="ＭＳ 明朝" panose="02020609040205080304" pitchFamily="17" charset="-128"/>
              <a:ea typeface="ＭＳ 明朝" panose="02020609040205080304" pitchFamily="17" charset="-128"/>
            </a:endParaRPr>
          </a:p>
          <a:p>
            <a:pPr algn="ctr"/>
            <a:r>
              <a:rPr kumimoji="1" lang="en-US" altLang="ja-JP" dirty="0">
                <a:latin typeface="ＭＳ 明朝" panose="02020609040205080304" pitchFamily="17" charset="-128"/>
                <a:ea typeface="ＭＳ 明朝" panose="02020609040205080304" pitchFamily="17" charset="-128"/>
              </a:rPr>
              <a:t>Oracle WebLogic Server 14.1.1</a:t>
            </a:r>
          </a:p>
        </p:txBody>
      </p:sp>
      <p:sp>
        <p:nvSpPr>
          <p:cNvPr id="5" name="テキスト ボックス 4">
            <a:extLst>
              <a:ext uri="{FF2B5EF4-FFF2-40B4-BE49-F238E27FC236}">
                <a16:creationId xmlns:a16="http://schemas.microsoft.com/office/drawing/2014/main" id="{9EE25660-57F6-41C2-85F5-507730B32301}"/>
              </a:ext>
            </a:extLst>
          </p:cNvPr>
          <p:cNvSpPr txBox="1"/>
          <p:nvPr/>
        </p:nvSpPr>
        <p:spPr>
          <a:xfrm>
            <a:off x="5537693" y="155391"/>
            <a:ext cx="1685077" cy="369332"/>
          </a:xfrm>
          <a:prstGeom prst="rect">
            <a:avLst/>
          </a:prstGeom>
          <a:noFill/>
        </p:spPr>
        <p:txBody>
          <a:bodyPr wrap="none" rtlCol="0">
            <a:spAutoFit/>
          </a:bodyPr>
          <a:lstStyle/>
          <a:p>
            <a:r>
              <a:rPr kumimoji="1" lang="en-US" altLang="ja-JP" dirty="0">
                <a:latin typeface="ＭＳ 明朝" panose="02020609040205080304" pitchFamily="17" charset="-128"/>
                <a:ea typeface="ＭＳ 明朝" panose="02020609040205080304" pitchFamily="17" charset="-128"/>
              </a:rPr>
              <a:t>Web</a:t>
            </a:r>
            <a:r>
              <a:rPr kumimoji="1" lang="ja-JP" altLang="en-US" dirty="0" err="1">
                <a:latin typeface="ＭＳ 明朝" panose="02020609040205080304" pitchFamily="17" charset="-128"/>
                <a:ea typeface="ＭＳ 明朝" panose="02020609040205080304" pitchFamily="17" charset="-128"/>
              </a:rPr>
              <a:t>への</a:t>
            </a:r>
            <a:r>
              <a:rPr kumimoji="1" lang="ja-JP" altLang="en-US" dirty="0">
                <a:latin typeface="ＭＳ 明朝" panose="02020609040205080304" pitchFamily="17" charset="-128"/>
                <a:ea typeface="ＭＳ 明朝" panose="02020609040205080304" pitchFamily="17" charset="-128"/>
              </a:rPr>
              <a:t>脆弱性</a:t>
            </a:r>
          </a:p>
        </p:txBody>
      </p:sp>
      <p:graphicFrame>
        <p:nvGraphicFramePr>
          <p:cNvPr id="6" name="表 5">
            <a:extLst>
              <a:ext uri="{FF2B5EF4-FFF2-40B4-BE49-F238E27FC236}">
                <a16:creationId xmlns:a16="http://schemas.microsoft.com/office/drawing/2014/main" id="{B1F98C92-10D1-4F78-916C-9728EF7038FB}"/>
              </a:ext>
            </a:extLst>
          </p:cNvPr>
          <p:cNvGraphicFramePr>
            <a:graphicFrameLocks noGrp="1"/>
          </p:cNvGraphicFramePr>
          <p:nvPr>
            <p:extLst>
              <p:ext uri="{D42A27DB-BD31-4B8C-83A1-F6EECF244321}">
                <p14:modId xmlns:p14="http://schemas.microsoft.com/office/powerpoint/2010/main" val="3455581821"/>
              </p:ext>
            </p:extLst>
          </p:nvPr>
        </p:nvGraphicFramePr>
        <p:xfrm>
          <a:off x="575226" y="1518407"/>
          <a:ext cx="11041548" cy="4475251"/>
        </p:xfrm>
        <a:graphic>
          <a:graphicData uri="http://schemas.openxmlformats.org/drawingml/2006/table">
            <a:tbl>
              <a:tblPr firstRow="1" bandRow="1">
                <a:tableStyleId>{5940675A-B579-460E-94D1-54222C63F5DA}</a:tableStyleId>
              </a:tblPr>
              <a:tblGrid>
                <a:gridCol w="1516380">
                  <a:extLst>
                    <a:ext uri="{9D8B030D-6E8A-4147-A177-3AD203B41FA5}">
                      <a16:colId xmlns:a16="http://schemas.microsoft.com/office/drawing/2014/main" val="3657592400"/>
                    </a:ext>
                  </a:extLst>
                </a:gridCol>
                <a:gridCol w="716280">
                  <a:extLst>
                    <a:ext uri="{9D8B030D-6E8A-4147-A177-3AD203B41FA5}">
                      <a16:colId xmlns:a16="http://schemas.microsoft.com/office/drawing/2014/main" val="2476266775"/>
                    </a:ext>
                  </a:extLst>
                </a:gridCol>
                <a:gridCol w="716280">
                  <a:extLst>
                    <a:ext uri="{9D8B030D-6E8A-4147-A177-3AD203B41FA5}">
                      <a16:colId xmlns:a16="http://schemas.microsoft.com/office/drawing/2014/main" val="730811455"/>
                    </a:ext>
                  </a:extLst>
                </a:gridCol>
                <a:gridCol w="8092608">
                  <a:extLst>
                    <a:ext uri="{9D8B030D-6E8A-4147-A177-3AD203B41FA5}">
                      <a16:colId xmlns:a16="http://schemas.microsoft.com/office/drawing/2014/main" val="1398097854"/>
                    </a:ext>
                  </a:extLst>
                </a:gridCol>
              </a:tblGrid>
              <a:tr h="329971">
                <a:tc>
                  <a:txBody>
                    <a:bodyPr/>
                    <a:lstStyle/>
                    <a:p>
                      <a:pPr algn="ctr"/>
                      <a:r>
                        <a:rPr kumimoji="1" lang="en-US" altLang="ja-JP" sz="1400" dirty="0">
                          <a:latin typeface="ＭＳ 明朝" panose="02020609040205080304" pitchFamily="17" charset="-128"/>
                          <a:ea typeface="ＭＳ 明朝" panose="02020609040205080304" pitchFamily="17" charset="-128"/>
                        </a:rPr>
                        <a:t>CVE</a:t>
                      </a:r>
                      <a:r>
                        <a:rPr kumimoji="1" lang="ja-JP" altLang="en-US" sz="1400" dirty="0">
                          <a:latin typeface="ＭＳ 明朝" panose="02020609040205080304" pitchFamily="17" charset="-128"/>
                          <a:ea typeface="ＭＳ 明朝" panose="02020609040205080304" pitchFamily="17" charset="-128"/>
                        </a:rPr>
                        <a:t>番号</a:t>
                      </a: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Type</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POC</a:t>
                      </a: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概要</a:t>
                      </a:r>
                      <a:endParaRPr kumimoji="1" lang="en-US" altLang="ja-JP" sz="1400" dirty="0">
                        <a:latin typeface="ＭＳ 明朝" panose="02020609040205080304" pitchFamily="17" charset="-128"/>
                        <a:ea typeface="ＭＳ 明朝" panose="02020609040205080304" pitchFamily="17" charset="-128"/>
                      </a:endParaRPr>
                    </a:p>
                  </a:txBody>
                  <a:tcPr anchor="ctr"/>
                </a:tc>
                <a:extLst>
                  <a:ext uri="{0D108BD9-81ED-4DB2-BD59-A6C34878D82A}">
                    <a16:rowId xmlns:a16="http://schemas.microsoft.com/office/drawing/2014/main" val="1527437479"/>
                  </a:ext>
                </a:extLst>
              </a:tr>
              <a:tr h="3873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CVE-2025-21535</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accent4">
                        <a:lumMod val="20000"/>
                        <a:lumOff val="80000"/>
                      </a:schemeClr>
                    </a:solid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RCE</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accent4">
                        <a:lumMod val="20000"/>
                        <a:lumOff val="80000"/>
                      </a:schemeClr>
                    </a:solidFill>
                  </a:tcPr>
                </a:tc>
                <a:tc>
                  <a:txBody>
                    <a:bodyPr/>
                    <a:lstStyle/>
                    <a:p>
                      <a:pPr algn="ctr"/>
                      <a:r>
                        <a:rPr kumimoji="1" lang="ja-JP" altLang="en-US" sz="1400" dirty="0">
                          <a:latin typeface="ＭＳ 明朝" panose="02020609040205080304" pitchFamily="17" charset="-128"/>
                          <a:ea typeface="ＭＳ 明朝" panose="02020609040205080304" pitchFamily="17" charset="-128"/>
                        </a:rPr>
                        <a:t>○</a:t>
                      </a:r>
                    </a:p>
                  </a:txBody>
                  <a:tcPr anchor="ctr">
                    <a:solidFill>
                      <a:schemeClr val="accent4">
                        <a:lumMod val="20000"/>
                        <a:lumOff val="80000"/>
                      </a:schemeClr>
                    </a:solidFill>
                  </a:tcPr>
                </a:tc>
                <a:tc>
                  <a:txBody>
                    <a:bodyPr/>
                    <a:lstStyle/>
                    <a:p>
                      <a:pPr algn="l"/>
                      <a:r>
                        <a:rPr kumimoji="1" lang="ja-JP" altLang="en-US" sz="1400" dirty="0">
                          <a:latin typeface="ＭＳ 明朝" panose="02020609040205080304" pitchFamily="17" charset="-128"/>
                          <a:ea typeface="ＭＳ 明朝" panose="02020609040205080304" pitchFamily="17" charset="-128"/>
                        </a:rPr>
                        <a:t>未認証の</a:t>
                      </a:r>
                      <a:r>
                        <a:rPr kumimoji="1" lang="en-US" altLang="ja-JP" sz="1400" dirty="0">
                          <a:latin typeface="ＭＳ 明朝" panose="02020609040205080304" pitchFamily="17" charset="-128"/>
                          <a:ea typeface="ＭＳ 明朝" panose="02020609040205080304" pitchFamily="17" charset="-128"/>
                        </a:rPr>
                        <a:t>T3/IIOP</a:t>
                      </a:r>
                      <a:r>
                        <a:rPr kumimoji="1" lang="ja-JP" altLang="en-US" sz="1400" dirty="0">
                          <a:latin typeface="ＭＳ 明朝" panose="02020609040205080304" pitchFamily="17" charset="-128"/>
                          <a:ea typeface="ＭＳ 明朝" panose="02020609040205080304" pitchFamily="17" charset="-128"/>
                        </a:rPr>
                        <a:t>経由リモートコード実行</a:t>
                      </a:r>
                      <a:r>
                        <a:rPr kumimoji="1" lang="en-US" altLang="ja-JP" sz="1400" dirty="0">
                          <a:latin typeface="ＭＳ 明朝" panose="02020609040205080304" pitchFamily="17" charset="-128"/>
                          <a:ea typeface="ＭＳ 明朝" panose="02020609040205080304" pitchFamily="17" charset="-128"/>
                        </a:rPr>
                        <a:t>(RCE)</a:t>
                      </a:r>
                      <a:r>
                        <a:rPr kumimoji="1" lang="ja-JP" altLang="en-US" sz="1400" dirty="0">
                          <a:latin typeface="ＭＳ 明朝" panose="02020609040205080304" pitchFamily="17" charset="-128"/>
                          <a:ea typeface="ＭＳ 明朝" panose="02020609040205080304" pitchFamily="17" charset="-128"/>
                        </a:rPr>
                        <a:t>脆弱性で、</a:t>
                      </a:r>
                      <a:endParaRPr kumimoji="1" lang="en-US" altLang="ja-JP" sz="1400" dirty="0">
                        <a:latin typeface="ＭＳ 明朝" panose="02020609040205080304" pitchFamily="17" charset="-128"/>
                        <a:ea typeface="ＭＳ 明朝" panose="02020609040205080304" pitchFamily="17" charset="-128"/>
                      </a:endParaRPr>
                    </a:p>
                    <a:p>
                      <a:pPr algn="l"/>
                      <a:r>
                        <a:rPr kumimoji="1" lang="ja-JP" altLang="en-US" sz="1400" dirty="0">
                          <a:latin typeface="ＭＳ 明朝" panose="02020609040205080304" pitchFamily="17" charset="-128"/>
                          <a:ea typeface="ＭＳ 明朝" panose="02020609040205080304" pitchFamily="17" charset="-128"/>
                        </a:rPr>
                        <a:t>攻撃者が任意のコードを実行してサーバを完全に制御する恐れがある。</a:t>
                      </a:r>
                    </a:p>
                  </a:txBody>
                  <a:tcPr>
                    <a:solidFill>
                      <a:schemeClr val="accent4">
                        <a:lumMod val="20000"/>
                        <a:lumOff val="80000"/>
                      </a:schemeClr>
                    </a:solidFill>
                  </a:tcPr>
                </a:tc>
                <a:extLst>
                  <a:ext uri="{0D108BD9-81ED-4DB2-BD59-A6C34878D82A}">
                    <a16:rowId xmlns:a16="http://schemas.microsoft.com/office/drawing/2014/main" val="3391056804"/>
                  </a:ext>
                </a:extLst>
              </a:tr>
              <a:tr h="3873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CVE-2024-21182</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accent4">
                        <a:lumMod val="20000"/>
                        <a:lumOff val="80000"/>
                      </a:schemeClr>
                    </a:solid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RCE</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accent4">
                        <a:lumMod val="20000"/>
                        <a:lumOff val="80000"/>
                      </a:schemeClr>
                    </a:solidFill>
                  </a:tcPr>
                </a:tc>
                <a:tc>
                  <a:txBody>
                    <a:bodyPr/>
                    <a:lstStyle/>
                    <a:p>
                      <a:pPr algn="ctr"/>
                      <a:r>
                        <a:rPr kumimoji="1" lang="ja-JP" altLang="en-US" sz="1400" dirty="0">
                          <a:latin typeface="ＭＳ 明朝" panose="02020609040205080304" pitchFamily="17" charset="-128"/>
                          <a:ea typeface="ＭＳ 明朝" panose="02020609040205080304" pitchFamily="17" charset="-128"/>
                        </a:rPr>
                        <a:t>○</a:t>
                      </a:r>
                    </a:p>
                  </a:txBody>
                  <a:tcPr anchor="ctr">
                    <a:solidFill>
                      <a:schemeClr val="accent4">
                        <a:lumMod val="20000"/>
                        <a:lumOff val="80000"/>
                      </a:schemeClr>
                    </a:solidFill>
                  </a:tcPr>
                </a:tc>
                <a:tc>
                  <a:txBody>
                    <a:bodyPr/>
                    <a:lstStyle/>
                    <a:p>
                      <a:pPr algn="l"/>
                      <a:r>
                        <a:rPr kumimoji="1" lang="en-US" altLang="ja-JP" sz="1400" dirty="0">
                          <a:latin typeface="ＭＳ 明朝" panose="02020609040205080304" pitchFamily="17" charset="-128"/>
                          <a:ea typeface="ＭＳ 明朝" panose="02020609040205080304" pitchFamily="17" charset="-128"/>
                        </a:rPr>
                        <a:t>WebLogic</a:t>
                      </a:r>
                      <a:r>
                        <a:rPr kumimoji="1" lang="ja-JP" altLang="en-US" sz="1400" dirty="0">
                          <a:latin typeface="ＭＳ 明朝" panose="02020609040205080304" pitchFamily="17" charset="-128"/>
                          <a:ea typeface="ＭＳ 明朝" panose="02020609040205080304" pitchFamily="17" charset="-128"/>
                        </a:rPr>
                        <a:t>の</a:t>
                      </a:r>
                      <a:r>
                        <a:rPr kumimoji="1" lang="en-US" altLang="ja-JP" sz="1400" dirty="0">
                          <a:latin typeface="ＭＳ 明朝" panose="02020609040205080304" pitchFamily="17" charset="-128"/>
                          <a:ea typeface="ＭＳ 明朝" panose="02020609040205080304" pitchFamily="17" charset="-128"/>
                        </a:rPr>
                        <a:t>T3/IIO</a:t>
                      </a:r>
                      <a:r>
                        <a:rPr kumimoji="1" lang="ja-JP" altLang="en-US" sz="1400" dirty="0">
                          <a:latin typeface="ＭＳ 明朝" panose="02020609040205080304" pitchFamily="17" charset="-128"/>
                          <a:ea typeface="ＭＳ 明朝" panose="02020609040205080304" pitchFamily="17" charset="-128"/>
                        </a:rPr>
                        <a:t>関連の致命的脆弱性で、未認証のリモート操作により</a:t>
                      </a:r>
                      <a:endParaRPr kumimoji="1" lang="en-US" altLang="ja-JP" sz="1400" dirty="0">
                        <a:latin typeface="ＭＳ 明朝" panose="02020609040205080304" pitchFamily="17" charset="-128"/>
                        <a:ea typeface="ＭＳ 明朝" panose="02020609040205080304" pitchFamily="17" charset="-128"/>
                      </a:endParaRPr>
                    </a:p>
                    <a:p>
                      <a:pPr algn="l"/>
                      <a:r>
                        <a:rPr kumimoji="1" lang="ja-JP" altLang="en-US" sz="1400" dirty="0">
                          <a:latin typeface="ＭＳ 明朝" panose="02020609040205080304" pitchFamily="17" charset="-128"/>
                          <a:ea typeface="ＭＳ 明朝" panose="02020609040205080304" pitchFamily="17" charset="-128"/>
                        </a:rPr>
                        <a:t>サーバ乗っ取りや機密情報の不正取得に繋がる事例が報告されている。</a:t>
                      </a:r>
                    </a:p>
                  </a:txBody>
                  <a:tcPr>
                    <a:solidFill>
                      <a:schemeClr val="accent4">
                        <a:lumMod val="20000"/>
                        <a:lumOff val="80000"/>
                      </a:schemeClr>
                    </a:solidFill>
                  </a:tcPr>
                </a:tc>
                <a:extLst>
                  <a:ext uri="{0D108BD9-81ED-4DB2-BD59-A6C34878D82A}">
                    <a16:rowId xmlns:a16="http://schemas.microsoft.com/office/drawing/2014/main" val="778785465"/>
                  </a:ext>
                </a:extLst>
              </a:tr>
              <a:tr h="3873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CVE-2020-14882</a:t>
                      </a:r>
                    </a:p>
                  </a:txBody>
                  <a:tcPr anchor="ctr">
                    <a:solidFill>
                      <a:schemeClr val="accent4">
                        <a:lumMod val="20000"/>
                        <a:lumOff val="80000"/>
                      </a:schemeClr>
                    </a:solid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RCE</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accent4">
                        <a:lumMod val="20000"/>
                        <a:lumOff val="80000"/>
                      </a:schemeClr>
                    </a:solidFill>
                  </a:tcPr>
                </a:tc>
                <a:tc>
                  <a:txBody>
                    <a:bodyPr/>
                    <a:lstStyle/>
                    <a:p>
                      <a:pPr algn="ctr"/>
                      <a:r>
                        <a:rPr kumimoji="1" lang="ja-JP" altLang="en-US" sz="1400" dirty="0">
                          <a:latin typeface="ＭＳ 明朝" panose="02020609040205080304" pitchFamily="17" charset="-128"/>
                          <a:ea typeface="ＭＳ 明朝" panose="02020609040205080304" pitchFamily="17" charset="-128"/>
                        </a:rPr>
                        <a:t>○</a:t>
                      </a:r>
                    </a:p>
                  </a:txBody>
                  <a:tcPr anchor="ctr">
                    <a:solidFill>
                      <a:schemeClr val="accent4">
                        <a:lumMod val="20000"/>
                        <a:lumOff val="80000"/>
                      </a:schemeClr>
                    </a:solidFill>
                  </a:tcPr>
                </a:tc>
                <a:tc>
                  <a:txBody>
                    <a:bodyPr/>
                    <a:lstStyle/>
                    <a:p>
                      <a:pPr algn="l"/>
                      <a:r>
                        <a:rPr kumimoji="1" lang="ja-JP" altLang="en-US" sz="1400" dirty="0">
                          <a:latin typeface="ＭＳ 明朝" panose="02020609040205080304" pitchFamily="17" charset="-128"/>
                          <a:ea typeface="ＭＳ 明朝" panose="02020609040205080304" pitchFamily="17" charset="-128"/>
                        </a:rPr>
                        <a:t>管理コンソール</a:t>
                      </a:r>
                      <a:r>
                        <a:rPr kumimoji="1" lang="en-US" altLang="ja-JP" sz="1400" dirty="0">
                          <a:latin typeface="ＭＳ 明朝" panose="02020609040205080304" pitchFamily="17" charset="-128"/>
                          <a:ea typeface="ＭＳ 明朝" panose="02020609040205080304" pitchFamily="17" charset="-128"/>
                        </a:rPr>
                        <a:t>(HTTP)</a:t>
                      </a:r>
                      <a:r>
                        <a:rPr kumimoji="1" lang="ja-JP" altLang="en-US" sz="1400" dirty="0">
                          <a:latin typeface="ＭＳ 明朝" panose="02020609040205080304" pitchFamily="17" charset="-128"/>
                          <a:ea typeface="ＭＳ 明朝" panose="02020609040205080304" pitchFamily="17" charset="-128"/>
                        </a:rPr>
                        <a:t>経由の未認証リモートコード実行脆弱性で、</a:t>
                      </a:r>
                      <a:endParaRPr kumimoji="1" lang="en-US" altLang="ja-JP" sz="1400" dirty="0">
                        <a:latin typeface="ＭＳ 明朝" panose="02020609040205080304" pitchFamily="17" charset="-128"/>
                        <a:ea typeface="ＭＳ 明朝" panose="02020609040205080304" pitchFamily="17" charset="-128"/>
                      </a:endParaRPr>
                    </a:p>
                    <a:p>
                      <a:pPr algn="l"/>
                      <a:r>
                        <a:rPr kumimoji="1" lang="ja-JP" altLang="en-US" sz="1400" dirty="0">
                          <a:latin typeface="ＭＳ 明朝" panose="02020609040205080304" pitchFamily="17" charset="-128"/>
                          <a:ea typeface="ＭＳ 明朝" panose="02020609040205080304" pitchFamily="17" charset="-128"/>
                        </a:rPr>
                        <a:t>過去に広く悪用された多数の侵害を引き起こした重大欠陥。</a:t>
                      </a:r>
                    </a:p>
                  </a:txBody>
                  <a:tcPr>
                    <a:solidFill>
                      <a:schemeClr val="accent4">
                        <a:lumMod val="20000"/>
                        <a:lumOff val="80000"/>
                      </a:schemeClr>
                    </a:solidFill>
                  </a:tcPr>
                </a:tc>
                <a:extLst>
                  <a:ext uri="{0D108BD9-81ED-4DB2-BD59-A6C34878D82A}">
                    <a16:rowId xmlns:a16="http://schemas.microsoft.com/office/drawing/2014/main" val="1437989930"/>
                  </a:ext>
                </a:extLst>
              </a:tr>
              <a:tr h="3873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CVE-2020-14750</a:t>
                      </a:r>
                    </a:p>
                  </a:txBody>
                  <a:tcPr anchor="ctr">
                    <a:solidFill>
                      <a:schemeClr val="accent4">
                        <a:lumMod val="20000"/>
                        <a:lumOff val="80000"/>
                      </a:schemeClr>
                    </a:solid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RCE</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accent4">
                        <a:lumMod val="20000"/>
                        <a:lumOff val="80000"/>
                      </a:schemeClr>
                    </a:solidFill>
                  </a:tcPr>
                </a:tc>
                <a:tc>
                  <a:txBody>
                    <a:bodyPr/>
                    <a:lstStyle/>
                    <a:p>
                      <a:pPr algn="ctr"/>
                      <a:r>
                        <a:rPr kumimoji="1" lang="ja-JP" altLang="en-US" sz="1400" dirty="0">
                          <a:latin typeface="ＭＳ 明朝" panose="02020609040205080304" pitchFamily="17" charset="-128"/>
                          <a:ea typeface="ＭＳ 明朝" panose="02020609040205080304" pitchFamily="17" charset="-128"/>
                        </a:rPr>
                        <a:t>○</a:t>
                      </a:r>
                      <a:endParaRPr kumimoji="1" lang="en-US" altLang="ja-JP" sz="1400" dirty="0">
                        <a:latin typeface="ＭＳ 明朝" panose="02020609040205080304" pitchFamily="17" charset="-128"/>
                        <a:ea typeface="ＭＳ 明朝" panose="02020609040205080304" pitchFamily="17" charset="-128"/>
                      </a:endParaRPr>
                    </a:p>
                  </a:txBody>
                  <a:tcPr anchor="ctr">
                    <a:solidFill>
                      <a:schemeClr val="accent4">
                        <a:lumMod val="20000"/>
                        <a:lumOff val="80000"/>
                      </a:schemeClr>
                    </a:solidFill>
                  </a:tcPr>
                </a:tc>
                <a:tc>
                  <a:txBody>
                    <a:bodyPr/>
                    <a:lstStyle/>
                    <a:p>
                      <a:pPr algn="l"/>
                      <a:r>
                        <a:rPr kumimoji="1" lang="en-US" altLang="ja-JP" sz="1400" dirty="0">
                          <a:latin typeface="ＭＳ 明朝" panose="02020609040205080304" pitchFamily="17" charset="-128"/>
                          <a:ea typeface="ＭＳ 明朝" panose="02020609040205080304" pitchFamily="17" charset="-128"/>
                        </a:rPr>
                        <a:t>WebLogic</a:t>
                      </a:r>
                      <a:r>
                        <a:rPr kumimoji="1" lang="ja-JP" altLang="en-US" sz="1400" dirty="0">
                          <a:latin typeface="ＭＳ 明朝" panose="02020609040205080304" pitchFamily="17" charset="-128"/>
                          <a:ea typeface="ＭＳ 明朝" panose="02020609040205080304" pitchFamily="17" charset="-128"/>
                        </a:rPr>
                        <a:t>の別系統の未認証</a:t>
                      </a:r>
                      <a:r>
                        <a:rPr kumimoji="1" lang="en-US" altLang="ja-JP" sz="1400" dirty="0">
                          <a:latin typeface="ＭＳ 明朝" panose="02020609040205080304" pitchFamily="17" charset="-128"/>
                          <a:ea typeface="ＭＳ 明朝" panose="02020609040205080304" pitchFamily="17" charset="-128"/>
                        </a:rPr>
                        <a:t>RCE</a:t>
                      </a:r>
                      <a:r>
                        <a:rPr kumimoji="1" lang="ja-JP" altLang="en-US" sz="1400" dirty="0">
                          <a:latin typeface="ＭＳ 明朝" panose="02020609040205080304" pitchFamily="17" charset="-128"/>
                          <a:ea typeface="ＭＳ 明朝" panose="02020609040205080304" pitchFamily="17" charset="-128"/>
                        </a:rPr>
                        <a:t>脆弱性で、サーバ乗っ取りや任意</a:t>
                      </a:r>
                      <a:endParaRPr kumimoji="1" lang="en-US" altLang="ja-JP" sz="1400" dirty="0">
                        <a:latin typeface="ＭＳ 明朝" panose="02020609040205080304" pitchFamily="17" charset="-128"/>
                        <a:ea typeface="ＭＳ 明朝" panose="02020609040205080304" pitchFamily="17" charset="-128"/>
                      </a:endParaRPr>
                    </a:p>
                    <a:p>
                      <a:pPr algn="l"/>
                      <a:r>
                        <a:rPr kumimoji="1" lang="ja-JP" altLang="en-US" sz="1400" dirty="0">
                          <a:latin typeface="ＭＳ 明朝" panose="02020609040205080304" pitchFamily="17" charset="-128"/>
                          <a:ea typeface="ＭＳ 明朝" panose="02020609040205080304" pitchFamily="17" charset="-128"/>
                        </a:rPr>
                        <a:t>コマンド実行が可能となる深刻な欠陥</a:t>
                      </a:r>
                      <a:endParaRPr kumimoji="1" lang="en-US" altLang="ja-JP" sz="1400" dirty="0">
                        <a:latin typeface="ＭＳ 明朝" panose="02020609040205080304" pitchFamily="17" charset="-128"/>
                        <a:ea typeface="ＭＳ 明朝" panose="02020609040205080304" pitchFamily="17" charset="-128"/>
                      </a:endParaRPr>
                    </a:p>
                  </a:txBody>
                  <a:tcPr>
                    <a:solidFill>
                      <a:schemeClr val="accent4">
                        <a:lumMod val="20000"/>
                        <a:lumOff val="80000"/>
                      </a:schemeClr>
                    </a:solidFill>
                  </a:tcPr>
                </a:tc>
                <a:extLst>
                  <a:ext uri="{0D108BD9-81ED-4DB2-BD59-A6C34878D82A}">
                    <a16:rowId xmlns:a16="http://schemas.microsoft.com/office/drawing/2014/main" val="2884220533"/>
                  </a:ext>
                </a:extLst>
              </a:tr>
              <a:tr h="3873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CVE-2025-21549</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accent6">
                        <a:lumMod val="20000"/>
                        <a:lumOff val="80000"/>
                      </a:schemeClr>
                    </a:solid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DOS</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accent6">
                        <a:lumMod val="20000"/>
                        <a:lumOff val="80000"/>
                      </a:schemeClr>
                    </a:solid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a:t>
                      </a:r>
                    </a:p>
                  </a:txBody>
                  <a:tcPr anchor="ctr">
                    <a:solidFill>
                      <a:schemeClr val="accent6">
                        <a:lumMod val="20000"/>
                        <a:lumOff val="80000"/>
                      </a:schemeClr>
                    </a:solidFill>
                  </a:tcPr>
                </a:tc>
                <a:tc>
                  <a:txBody>
                    <a:bodyPr/>
                    <a:lstStyle/>
                    <a:p>
                      <a:pPr algn="l"/>
                      <a:r>
                        <a:rPr kumimoji="1" lang="en-US" altLang="ja-JP" sz="1400" dirty="0">
                          <a:latin typeface="ＭＳ 明朝" panose="02020609040205080304" pitchFamily="17" charset="-128"/>
                          <a:ea typeface="ＭＳ 明朝" panose="02020609040205080304" pitchFamily="17" charset="-128"/>
                        </a:rPr>
                        <a:t>HTTP/2</a:t>
                      </a:r>
                      <a:r>
                        <a:rPr kumimoji="1" lang="ja-JP" altLang="en-US" sz="1400" dirty="0">
                          <a:latin typeface="ＭＳ 明朝" panose="02020609040205080304" pitchFamily="17" charset="-128"/>
                          <a:ea typeface="ＭＳ 明朝" panose="02020609040205080304" pitchFamily="17" charset="-128"/>
                        </a:rPr>
                        <a:t>関連の脆弱性で、細工したリクエストによりサービスが</a:t>
                      </a:r>
                      <a:endParaRPr kumimoji="1" lang="en-US" altLang="ja-JP" sz="1400" dirty="0">
                        <a:latin typeface="ＭＳ 明朝" panose="02020609040205080304" pitchFamily="17" charset="-128"/>
                        <a:ea typeface="ＭＳ 明朝" panose="02020609040205080304" pitchFamily="17" charset="-128"/>
                      </a:endParaRPr>
                    </a:p>
                    <a:p>
                      <a:pPr algn="l"/>
                      <a:r>
                        <a:rPr kumimoji="1" lang="ja-JP" altLang="en-US" sz="1400" dirty="0">
                          <a:latin typeface="ＭＳ 明朝" panose="02020609040205080304" pitchFamily="17" charset="-128"/>
                          <a:ea typeface="ＭＳ 明朝" panose="02020609040205080304" pitchFamily="17" charset="-128"/>
                        </a:rPr>
                        <a:t>ハングまたはクラッシュして</a:t>
                      </a:r>
                      <a:r>
                        <a:rPr kumimoji="1" lang="en-US" altLang="ja-JP" sz="1400" dirty="0">
                          <a:latin typeface="ＭＳ 明朝" panose="02020609040205080304" pitchFamily="17" charset="-128"/>
                          <a:ea typeface="ＭＳ 明朝" panose="02020609040205080304" pitchFamily="17" charset="-128"/>
                        </a:rPr>
                        <a:t>DOS</a:t>
                      </a:r>
                      <a:r>
                        <a:rPr kumimoji="1" lang="ja-JP" altLang="en-US" sz="1400" dirty="0">
                          <a:latin typeface="ＭＳ 明朝" panose="02020609040205080304" pitchFamily="17" charset="-128"/>
                          <a:ea typeface="ＭＳ 明朝" panose="02020609040205080304" pitchFamily="17" charset="-128"/>
                        </a:rPr>
                        <a:t>を引き起こす可能性がある。</a:t>
                      </a:r>
                      <a:endParaRPr kumimoji="1" lang="en-US" altLang="ja-JP" sz="1400" dirty="0">
                        <a:latin typeface="ＭＳ 明朝" panose="02020609040205080304" pitchFamily="17" charset="-128"/>
                        <a:ea typeface="ＭＳ 明朝" panose="02020609040205080304" pitchFamily="17" charset="-128"/>
                      </a:endParaRPr>
                    </a:p>
                  </a:txBody>
                  <a:tcPr>
                    <a:solidFill>
                      <a:schemeClr val="accent6">
                        <a:lumMod val="20000"/>
                        <a:lumOff val="80000"/>
                      </a:schemeClr>
                    </a:solidFill>
                  </a:tcPr>
                </a:tc>
                <a:extLst>
                  <a:ext uri="{0D108BD9-81ED-4DB2-BD59-A6C34878D82A}">
                    <a16:rowId xmlns:a16="http://schemas.microsoft.com/office/drawing/2014/main" val="2895772619"/>
                  </a:ext>
                </a:extLst>
              </a:tr>
              <a:tr h="3873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CVE-2020-36518</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accent6">
                        <a:lumMod val="20000"/>
                        <a:lumOff val="80000"/>
                      </a:schemeClr>
                    </a:solid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DOS</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accent6">
                        <a:lumMod val="20000"/>
                        <a:lumOff val="80000"/>
                      </a:schemeClr>
                    </a:solidFill>
                  </a:tcPr>
                </a:tc>
                <a:tc>
                  <a:txBody>
                    <a:bodyPr/>
                    <a:lstStyle/>
                    <a:p>
                      <a:pPr algn="ctr"/>
                      <a:r>
                        <a:rPr kumimoji="1" lang="ja-JP" altLang="en-US" sz="1400" dirty="0">
                          <a:latin typeface="ＭＳ 明朝" panose="02020609040205080304" pitchFamily="17" charset="-128"/>
                          <a:ea typeface="ＭＳ 明朝" panose="02020609040205080304" pitchFamily="17" charset="-128"/>
                        </a:rPr>
                        <a:t>○</a:t>
                      </a:r>
                      <a:endParaRPr kumimoji="1" lang="en-US" altLang="ja-JP" sz="1400" dirty="0">
                        <a:latin typeface="ＭＳ 明朝" panose="02020609040205080304" pitchFamily="17" charset="-128"/>
                        <a:ea typeface="ＭＳ 明朝" panose="02020609040205080304" pitchFamily="17" charset="-128"/>
                      </a:endParaRPr>
                    </a:p>
                  </a:txBody>
                  <a:tcPr anchor="ctr">
                    <a:solidFill>
                      <a:schemeClr val="accent6">
                        <a:lumMod val="20000"/>
                        <a:lumOff val="80000"/>
                      </a:schemeClr>
                    </a:solidFill>
                  </a:tcPr>
                </a:tc>
                <a:tc>
                  <a:txBody>
                    <a:bodyPr/>
                    <a:lstStyle/>
                    <a:p>
                      <a:pPr algn="l"/>
                      <a:r>
                        <a:rPr kumimoji="1" lang="en-US" altLang="ja-JP" sz="1400" dirty="0">
                          <a:latin typeface="ＭＳ 明朝" panose="02020609040205080304" pitchFamily="17" charset="-128"/>
                          <a:ea typeface="ＭＳ 明朝" panose="02020609040205080304" pitchFamily="17" charset="-128"/>
                        </a:rPr>
                        <a:t>Jackson-</a:t>
                      </a:r>
                      <a:r>
                        <a:rPr kumimoji="1" lang="en-US" altLang="ja-JP" sz="1400" dirty="0" err="1">
                          <a:latin typeface="ＭＳ 明朝" panose="02020609040205080304" pitchFamily="17" charset="-128"/>
                          <a:ea typeface="ＭＳ 明朝" panose="02020609040205080304" pitchFamily="17" charset="-128"/>
                        </a:rPr>
                        <a:t>databind</a:t>
                      </a:r>
                      <a:r>
                        <a:rPr kumimoji="1" lang="ja-JP" altLang="en-US" sz="1400" dirty="0">
                          <a:latin typeface="ＭＳ 明朝" panose="02020609040205080304" pitchFamily="17" charset="-128"/>
                          <a:ea typeface="ＭＳ 明朝" panose="02020609040205080304" pitchFamily="17" charset="-128"/>
                        </a:rPr>
                        <a:t>のバグで、深く入れ子になった</a:t>
                      </a:r>
                      <a:r>
                        <a:rPr kumimoji="1" lang="en-US" altLang="ja-JP" sz="1400" dirty="0">
                          <a:latin typeface="ＭＳ 明朝" panose="02020609040205080304" pitchFamily="17" charset="-128"/>
                          <a:ea typeface="ＭＳ 明朝" panose="02020609040205080304" pitchFamily="17" charset="-128"/>
                        </a:rPr>
                        <a:t>JSON</a:t>
                      </a:r>
                      <a:r>
                        <a:rPr kumimoji="1" lang="ja-JP" altLang="en-US" sz="1400" dirty="0">
                          <a:latin typeface="ＭＳ 明朝" panose="02020609040205080304" pitchFamily="17" charset="-128"/>
                          <a:ea typeface="ＭＳ 明朝" panose="02020609040205080304" pitchFamily="17" charset="-128"/>
                        </a:rPr>
                        <a:t>を処理すると</a:t>
                      </a:r>
                      <a:r>
                        <a:rPr kumimoji="1" lang="en-US" altLang="ja-JP" sz="1400" dirty="0">
                          <a:latin typeface="ＭＳ 明朝" panose="02020609040205080304" pitchFamily="17" charset="-128"/>
                          <a:ea typeface="ＭＳ 明朝" panose="02020609040205080304" pitchFamily="17" charset="-128"/>
                        </a:rPr>
                        <a:t>Java</a:t>
                      </a:r>
                      <a:r>
                        <a:rPr kumimoji="1" lang="ja-JP" altLang="en-US" sz="1400" dirty="0">
                          <a:latin typeface="ＭＳ 明朝" panose="02020609040205080304" pitchFamily="17" charset="-128"/>
                          <a:ea typeface="ＭＳ 明朝" panose="02020609040205080304" pitchFamily="17" charset="-128"/>
                        </a:rPr>
                        <a:t>の</a:t>
                      </a:r>
                      <a:endParaRPr kumimoji="1" lang="en-US" altLang="ja-JP" sz="1400" dirty="0">
                        <a:latin typeface="ＭＳ 明朝" panose="02020609040205080304" pitchFamily="17" charset="-128"/>
                        <a:ea typeface="ＭＳ 明朝" panose="02020609040205080304" pitchFamily="17" charset="-128"/>
                      </a:endParaRPr>
                    </a:p>
                    <a:p>
                      <a:pPr algn="l"/>
                      <a:r>
                        <a:rPr kumimoji="1" lang="ja-JP" altLang="en-US" sz="1400" dirty="0">
                          <a:latin typeface="ＭＳ 明朝" panose="02020609040205080304" pitchFamily="17" charset="-128"/>
                          <a:ea typeface="ＭＳ 明朝" panose="02020609040205080304" pitchFamily="17" charset="-128"/>
                        </a:rPr>
                        <a:t>スタックオーバーフローを引き起こし、サービスが停止する。</a:t>
                      </a:r>
                      <a:endParaRPr kumimoji="1" lang="en-US" altLang="ja-JP" sz="1400" dirty="0">
                        <a:latin typeface="ＭＳ 明朝" panose="02020609040205080304" pitchFamily="17" charset="-128"/>
                        <a:ea typeface="ＭＳ 明朝" panose="02020609040205080304" pitchFamily="17" charset="-128"/>
                      </a:endParaRPr>
                    </a:p>
                  </a:txBody>
                  <a:tcPr>
                    <a:solidFill>
                      <a:schemeClr val="accent6">
                        <a:lumMod val="20000"/>
                        <a:lumOff val="80000"/>
                      </a:schemeClr>
                    </a:solidFill>
                  </a:tcPr>
                </a:tc>
                <a:extLst>
                  <a:ext uri="{0D108BD9-81ED-4DB2-BD59-A6C34878D82A}">
                    <a16:rowId xmlns:a16="http://schemas.microsoft.com/office/drawing/2014/main" val="3004724365"/>
                  </a:ext>
                </a:extLst>
              </a:tr>
              <a:tr h="3873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CVE-2024-21183</a:t>
                      </a:r>
                      <a:endParaRPr kumimoji="1" lang="ja-JP" altLang="en-US" sz="1400" dirty="0">
                        <a:latin typeface="ＭＳ 明朝" panose="02020609040205080304" pitchFamily="17" charset="-128"/>
                        <a:ea typeface="ＭＳ 明朝" panose="02020609040205080304" pitchFamily="17" charset="-128"/>
                      </a:endParaRPr>
                    </a:p>
                  </a:txBody>
                  <a:tcPr anchor="ctr">
                    <a:no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OTHER</a:t>
                      </a:r>
                      <a:endParaRPr kumimoji="1" lang="ja-JP" altLang="en-US" sz="1400" dirty="0">
                        <a:latin typeface="ＭＳ 明朝" panose="02020609040205080304" pitchFamily="17" charset="-128"/>
                        <a:ea typeface="ＭＳ 明朝" panose="02020609040205080304" pitchFamily="17" charset="-128"/>
                      </a:endParaRPr>
                    </a:p>
                  </a:txBody>
                  <a:tcPr anchor="ctr">
                    <a:no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a:t>
                      </a:r>
                    </a:p>
                  </a:txBody>
                  <a:tcPr anchor="ctr">
                    <a:noFill/>
                  </a:tcPr>
                </a:tc>
                <a:tc>
                  <a:txBody>
                    <a:bodyPr/>
                    <a:lstStyle/>
                    <a:p>
                      <a:pPr algn="l"/>
                      <a:r>
                        <a:rPr kumimoji="1" lang="en-US" altLang="ja-JP" sz="1400" dirty="0">
                          <a:latin typeface="ＭＳ 明朝" panose="02020609040205080304" pitchFamily="17" charset="-128"/>
                          <a:ea typeface="ＭＳ 明朝" panose="02020609040205080304" pitchFamily="17" charset="-128"/>
                        </a:rPr>
                        <a:t>T3/IIOP</a:t>
                      </a:r>
                      <a:r>
                        <a:rPr kumimoji="1" lang="ja-JP" altLang="en-US" sz="1400" dirty="0">
                          <a:latin typeface="ＭＳ 明朝" panose="02020609040205080304" pitchFamily="17" charset="-128"/>
                          <a:ea typeface="ＭＳ 明朝" panose="02020609040205080304" pitchFamily="17" charset="-128"/>
                        </a:rPr>
                        <a:t>経由での情報漏洩や不正アクセスに関する脆弱性で、機密性や管理機能に</a:t>
                      </a:r>
                      <a:endParaRPr kumimoji="1" lang="en-US" altLang="ja-JP" sz="1400" dirty="0">
                        <a:latin typeface="ＭＳ 明朝" panose="02020609040205080304" pitchFamily="17" charset="-128"/>
                        <a:ea typeface="ＭＳ 明朝" panose="02020609040205080304" pitchFamily="17" charset="-128"/>
                      </a:endParaRPr>
                    </a:p>
                    <a:p>
                      <a:pPr algn="l"/>
                      <a:r>
                        <a:rPr kumimoji="1" lang="ja-JP" altLang="en-US" sz="1400" dirty="0">
                          <a:latin typeface="ＭＳ 明朝" panose="02020609040205080304" pitchFamily="17" charset="-128"/>
                          <a:ea typeface="ＭＳ 明朝" panose="02020609040205080304" pitchFamily="17" charset="-128"/>
                        </a:rPr>
                        <a:t>影響を与える可能性がある。</a:t>
                      </a:r>
                      <a:endParaRPr kumimoji="1" lang="en-US" altLang="ja-JP" sz="1400" dirty="0">
                        <a:latin typeface="ＭＳ 明朝" panose="02020609040205080304" pitchFamily="17" charset="-128"/>
                        <a:ea typeface="ＭＳ 明朝" panose="02020609040205080304" pitchFamily="17" charset="-128"/>
                      </a:endParaRPr>
                    </a:p>
                  </a:txBody>
                  <a:tcPr>
                    <a:noFill/>
                  </a:tcPr>
                </a:tc>
                <a:extLst>
                  <a:ext uri="{0D108BD9-81ED-4DB2-BD59-A6C34878D82A}">
                    <a16:rowId xmlns:a16="http://schemas.microsoft.com/office/drawing/2014/main" val="30725077"/>
                  </a:ext>
                </a:extLst>
              </a:tr>
              <a:tr h="3873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CVE-2024-21216</a:t>
                      </a:r>
                    </a:p>
                  </a:txBody>
                  <a:tcPr anchor="ctr">
                    <a:no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OTHER</a:t>
                      </a:r>
                      <a:endParaRPr kumimoji="1" lang="ja-JP" altLang="en-US" sz="1400" dirty="0">
                        <a:latin typeface="ＭＳ 明朝" panose="02020609040205080304" pitchFamily="17" charset="-128"/>
                        <a:ea typeface="ＭＳ 明朝" panose="02020609040205080304" pitchFamily="17" charset="-128"/>
                      </a:endParaRPr>
                    </a:p>
                  </a:txBody>
                  <a:tcPr anchor="ctr">
                    <a:noFill/>
                  </a:tcPr>
                </a:tc>
                <a:tc>
                  <a:txBody>
                    <a:bodyPr/>
                    <a:lstStyle/>
                    <a:p>
                      <a:pPr algn="ctr"/>
                      <a:r>
                        <a:rPr kumimoji="1" lang="ja-JP" altLang="en-US" sz="1400" dirty="0">
                          <a:latin typeface="ＭＳ 明朝" panose="02020609040205080304" pitchFamily="17" charset="-128"/>
                          <a:ea typeface="ＭＳ 明朝" panose="02020609040205080304" pitchFamily="17" charset="-128"/>
                        </a:rPr>
                        <a:t>○</a:t>
                      </a:r>
                      <a:endParaRPr kumimoji="1" lang="en-US" altLang="ja-JP" sz="1400" dirty="0">
                        <a:latin typeface="ＭＳ 明朝" panose="02020609040205080304" pitchFamily="17" charset="-128"/>
                        <a:ea typeface="ＭＳ 明朝" panose="02020609040205080304" pitchFamily="17" charset="-128"/>
                      </a:endParaRPr>
                    </a:p>
                  </a:txBody>
                  <a:tcPr anchor="ctr">
                    <a:noFill/>
                  </a:tcPr>
                </a:tc>
                <a:tc>
                  <a:txBody>
                    <a:bodyPr/>
                    <a:lstStyle/>
                    <a:p>
                      <a:pPr algn="l"/>
                      <a:r>
                        <a:rPr kumimoji="1" lang="ja-JP" altLang="en-US" sz="1400" dirty="0">
                          <a:latin typeface="ＭＳ 明朝" panose="02020609040205080304" pitchFamily="17" charset="-128"/>
                          <a:ea typeface="ＭＳ 明朝" panose="02020609040205080304" pitchFamily="17" charset="-128"/>
                        </a:rPr>
                        <a:t>複数の</a:t>
                      </a:r>
                      <a:r>
                        <a:rPr kumimoji="1" lang="en-US" altLang="ja-JP" sz="1400" dirty="0">
                          <a:latin typeface="ＭＳ 明朝" panose="02020609040205080304" pitchFamily="17" charset="-128"/>
                          <a:ea typeface="ＭＳ 明朝" panose="02020609040205080304" pitchFamily="17" charset="-128"/>
                        </a:rPr>
                        <a:t>WebLogic</a:t>
                      </a:r>
                      <a:r>
                        <a:rPr kumimoji="1" lang="ja-JP" altLang="en-US" sz="1400" dirty="0">
                          <a:latin typeface="ＭＳ 明朝" panose="02020609040205080304" pitchFamily="17" charset="-128"/>
                          <a:ea typeface="ＭＳ 明朝" panose="02020609040205080304" pitchFamily="17" charset="-128"/>
                        </a:rPr>
                        <a:t>コンポーネントに影響する一連の脆弱性群の一つで、研究者による</a:t>
                      </a:r>
                      <a:endParaRPr kumimoji="1" lang="en-US" altLang="ja-JP" sz="1400" dirty="0">
                        <a:latin typeface="ＭＳ 明朝" panose="02020609040205080304" pitchFamily="17" charset="-128"/>
                        <a:ea typeface="ＭＳ 明朝" panose="02020609040205080304" pitchFamily="17" charset="-128"/>
                      </a:endParaRPr>
                    </a:p>
                    <a:p>
                      <a:pPr algn="l"/>
                      <a:r>
                        <a:rPr kumimoji="1" lang="ja-JP" altLang="en-US" sz="1400" dirty="0">
                          <a:latin typeface="ＭＳ 明朝" panose="02020609040205080304" pitchFamily="17" charset="-128"/>
                          <a:ea typeface="ＭＳ 明朝" panose="02020609040205080304" pitchFamily="17" charset="-128"/>
                        </a:rPr>
                        <a:t>解析・</a:t>
                      </a:r>
                      <a:r>
                        <a:rPr kumimoji="1" lang="en-US" altLang="ja-JP" sz="1400" dirty="0" err="1">
                          <a:latin typeface="ＭＳ 明朝" panose="02020609040205080304" pitchFamily="17" charset="-128"/>
                          <a:ea typeface="ＭＳ 明朝" panose="02020609040205080304" pitchFamily="17" charset="-128"/>
                        </a:rPr>
                        <a:t>PoC</a:t>
                      </a:r>
                      <a:r>
                        <a:rPr kumimoji="1" lang="ja-JP" altLang="en-US" sz="1400" dirty="0">
                          <a:latin typeface="ＭＳ 明朝" panose="02020609040205080304" pitchFamily="17" charset="-128"/>
                          <a:ea typeface="ＭＳ 明朝" panose="02020609040205080304" pitchFamily="17" charset="-128"/>
                        </a:rPr>
                        <a:t>が報告されており、状況によって権限昇格や情報漏洩に繋がる場合がある。</a:t>
                      </a:r>
                      <a:endParaRPr kumimoji="1" lang="en-US" altLang="ja-JP" sz="1400" dirty="0">
                        <a:latin typeface="ＭＳ 明朝" panose="02020609040205080304" pitchFamily="17" charset="-128"/>
                        <a:ea typeface="ＭＳ 明朝" panose="02020609040205080304" pitchFamily="17" charset="-128"/>
                      </a:endParaRPr>
                    </a:p>
                  </a:txBody>
                  <a:tcPr>
                    <a:noFill/>
                  </a:tcPr>
                </a:tc>
                <a:extLst>
                  <a:ext uri="{0D108BD9-81ED-4DB2-BD59-A6C34878D82A}">
                    <a16:rowId xmlns:a16="http://schemas.microsoft.com/office/drawing/2014/main" val="1105282087"/>
                  </a:ext>
                </a:extLst>
              </a:tr>
            </a:tbl>
          </a:graphicData>
        </a:graphic>
      </p:graphicFrame>
      <p:sp>
        <p:nvSpPr>
          <p:cNvPr id="7" name="テキスト ボックス 6">
            <a:extLst>
              <a:ext uri="{FF2B5EF4-FFF2-40B4-BE49-F238E27FC236}">
                <a16:creationId xmlns:a16="http://schemas.microsoft.com/office/drawing/2014/main" id="{6FC67403-D18B-4C66-B411-23AE42D66184}"/>
              </a:ext>
            </a:extLst>
          </p:cNvPr>
          <p:cNvSpPr txBox="1"/>
          <p:nvPr/>
        </p:nvSpPr>
        <p:spPr>
          <a:xfrm>
            <a:off x="2742055" y="6126045"/>
            <a:ext cx="7276351" cy="523220"/>
          </a:xfrm>
          <a:prstGeom prst="rect">
            <a:avLst/>
          </a:prstGeom>
          <a:noFill/>
        </p:spPr>
        <p:txBody>
          <a:bodyPr wrap="none" rtlCol="0">
            <a:spAutoFit/>
          </a:bodyPr>
          <a:lstStyle/>
          <a:p>
            <a:r>
              <a:rPr kumimoji="1" lang="en-US" altLang="ja-JP" sz="1400" dirty="0">
                <a:latin typeface="ＭＳ 明朝" panose="02020609040205080304" pitchFamily="17" charset="-128"/>
                <a:ea typeface="ＭＳ 明朝" panose="02020609040205080304" pitchFamily="17" charset="-128"/>
              </a:rPr>
              <a:t>T3:WebLogic</a:t>
            </a:r>
            <a:r>
              <a:rPr kumimoji="1" lang="ja-JP" altLang="en-US" sz="1400" dirty="0">
                <a:latin typeface="ＭＳ 明朝" panose="02020609040205080304" pitchFamily="17" charset="-128"/>
                <a:ea typeface="ＭＳ 明朝" panose="02020609040205080304" pitchFamily="17" charset="-128"/>
              </a:rPr>
              <a:t>専用の速い内部通信プロトコル</a:t>
            </a:r>
            <a:r>
              <a:rPr kumimoji="1" lang="en-US" altLang="ja-JP" sz="1400" dirty="0">
                <a:latin typeface="ＭＳ 明朝" panose="02020609040205080304" pitchFamily="17" charset="-128"/>
                <a:ea typeface="ＭＳ 明朝" panose="02020609040205080304" pitchFamily="17" charset="-128"/>
              </a:rPr>
              <a:t>(</a:t>
            </a:r>
            <a:r>
              <a:rPr kumimoji="1" lang="ja-JP" altLang="en-US" sz="1400" dirty="0">
                <a:latin typeface="ＭＳ 明朝" panose="02020609040205080304" pitchFamily="17" charset="-128"/>
                <a:ea typeface="ＭＳ 明朝" panose="02020609040205080304" pitchFamily="17" charset="-128"/>
              </a:rPr>
              <a:t>サーバ同士やクライアントとやり取りする</a:t>
            </a:r>
            <a:r>
              <a:rPr lang="en-US" altLang="ja-JP" sz="1400" dirty="0">
                <a:latin typeface="ＭＳ 明朝" panose="02020609040205080304" pitchFamily="17" charset="-128"/>
                <a:ea typeface="ＭＳ 明朝" panose="02020609040205080304" pitchFamily="17" charset="-128"/>
              </a:rPr>
              <a:t>)</a:t>
            </a:r>
          </a:p>
          <a:p>
            <a:r>
              <a:rPr kumimoji="1" lang="en-US" altLang="ja-JP" sz="1400" dirty="0">
                <a:latin typeface="ＭＳ 明朝" panose="02020609040205080304" pitchFamily="17" charset="-128"/>
                <a:ea typeface="ＭＳ 明朝" panose="02020609040205080304" pitchFamily="17" charset="-128"/>
              </a:rPr>
              <a:t>IIOP:CORBA</a:t>
            </a:r>
            <a:r>
              <a:rPr kumimoji="1" lang="ja-JP" altLang="en-US" sz="1400" dirty="0">
                <a:latin typeface="ＭＳ 明朝" panose="02020609040205080304" pitchFamily="17" charset="-128"/>
                <a:ea typeface="ＭＳ 明朝" panose="02020609040205080304" pitchFamily="17" charset="-128"/>
              </a:rPr>
              <a:t>の標準プロトコルで、分散オブジェクト同士の通信に使う</a:t>
            </a:r>
            <a:endParaRPr kumimoji="1" lang="en-US" altLang="ja-JP" sz="14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1682551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D71646D-5AAE-41CC-A549-3607A98403DC}"/>
              </a:ext>
            </a:extLst>
          </p:cNvPr>
          <p:cNvSpPr txBox="1"/>
          <p:nvPr/>
        </p:nvSpPr>
        <p:spPr>
          <a:xfrm>
            <a:off x="218797" y="2036034"/>
            <a:ext cx="3993401" cy="369332"/>
          </a:xfrm>
          <a:prstGeom prst="rect">
            <a:avLst/>
          </a:prstGeom>
          <a:noFill/>
          <a:ln>
            <a:noFill/>
          </a:ln>
        </p:spPr>
        <p:txBody>
          <a:bodyPr wrap="none" rtlCol="0">
            <a:spAutoFit/>
          </a:bodyPr>
          <a:lstStyle/>
          <a:p>
            <a:pPr algn="l"/>
            <a:r>
              <a:rPr lang="ja-JP" altLang="en-US" dirty="0">
                <a:latin typeface="ＭＳ 明朝" panose="02020609040205080304" pitchFamily="17" charset="-128"/>
                <a:ea typeface="ＭＳ 明朝" panose="02020609040205080304" pitchFamily="17" charset="-128"/>
              </a:rPr>
              <a:t>脆弱性のうち</a:t>
            </a:r>
            <a:r>
              <a:rPr lang="en-US" altLang="ja-JP" dirty="0">
                <a:latin typeface="ＭＳ 明朝" panose="02020609040205080304" pitchFamily="17" charset="-128"/>
                <a:ea typeface="ＭＳ 明朝" panose="02020609040205080304" pitchFamily="17" charset="-128"/>
              </a:rPr>
              <a:t>3</a:t>
            </a:r>
            <a:r>
              <a:rPr lang="ja-JP" altLang="en-US" dirty="0">
                <a:latin typeface="ＭＳ 明朝" panose="02020609040205080304" pitchFamily="17" charset="-128"/>
                <a:ea typeface="ＭＳ 明朝" panose="02020609040205080304" pitchFamily="17" charset="-128"/>
              </a:rPr>
              <a:t>件を抽出（使えない）</a:t>
            </a:r>
            <a:endParaRPr kumimoji="1" lang="ja-JP" altLang="en-US" dirty="0">
              <a:latin typeface="ＭＳ 明朝" panose="02020609040205080304" pitchFamily="17" charset="-128"/>
              <a:ea typeface="ＭＳ 明朝" panose="02020609040205080304" pitchFamily="17" charset="-128"/>
            </a:endParaRPr>
          </a:p>
        </p:txBody>
      </p:sp>
      <p:sp>
        <p:nvSpPr>
          <p:cNvPr id="3" name="テキスト ボックス 2">
            <a:extLst>
              <a:ext uri="{FF2B5EF4-FFF2-40B4-BE49-F238E27FC236}">
                <a16:creationId xmlns:a16="http://schemas.microsoft.com/office/drawing/2014/main" id="{0D9DEFFE-94E1-489E-9020-98224584C51D}"/>
              </a:ext>
            </a:extLst>
          </p:cNvPr>
          <p:cNvSpPr txBox="1"/>
          <p:nvPr/>
        </p:nvSpPr>
        <p:spPr>
          <a:xfrm>
            <a:off x="2676089" y="1141879"/>
            <a:ext cx="7164198" cy="646331"/>
          </a:xfrm>
          <a:prstGeom prst="rect">
            <a:avLst/>
          </a:prstGeom>
          <a:noFill/>
          <a:ln>
            <a:solidFill>
              <a:schemeClr val="tx1"/>
            </a:solidFill>
          </a:ln>
        </p:spPr>
        <p:txBody>
          <a:bodyPr wrap="square" rtlCol="0">
            <a:spAutoFit/>
          </a:bodyPr>
          <a:lstStyle/>
          <a:p>
            <a:pPr algn="ctr"/>
            <a:r>
              <a:rPr lang="ja-JP" altLang="en-US" dirty="0">
                <a:latin typeface="ＭＳ 明朝" panose="02020609040205080304" pitchFamily="17" charset="-128"/>
                <a:ea typeface="ＭＳ 明朝" panose="02020609040205080304" pitchFamily="17" charset="-128"/>
              </a:rPr>
              <a:t>対象システム使用</a:t>
            </a:r>
            <a:r>
              <a:rPr lang="en-US" altLang="ja-JP" dirty="0">
                <a:latin typeface="ＭＳ 明朝" panose="02020609040205080304" pitchFamily="17" charset="-128"/>
                <a:ea typeface="ＭＳ 明朝" panose="02020609040205080304" pitchFamily="17" charset="-128"/>
              </a:rPr>
              <a:t>DB</a:t>
            </a:r>
            <a:r>
              <a:rPr lang="ja-JP" altLang="en-US" dirty="0">
                <a:latin typeface="ＭＳ 明朝" panose="02020609040205080304" pitchFamily="17" charset="-128"/>
                <a:ea typeface="ＭＳ 明朝" panose="02020609040205080304" pitchFamily="17" charset="-128"/>
              </a:rPr>
              <a:t>サーバ</a:t>
            </a:r>
            <a:endParaRPr lang="en-US" altLang="ja-JP" dirty="0">
              <a:latin typeface="ＭＳ 明朝" panose="02020609040205080304" pitchFamily="17" charset="-128"/>
              <a:ea typeface="ＭＳ 明朝" panose="02020609040205080304" pitchFamily="17" charset="-128"/>
            </a:endParaRPr>
          </a:p>
          <a:p>
            <a:pPr algn="ctr"/>
            <a:r>
              <a:rPr lang="en-US" altLang="ja-JP" dirty="0">
                <a:latin typeface="ＭＳ 明朝" panose="02020609040205080304" pitchFamily="17" charset="-128"/>
                <a:ea typeface="ＭＳ 明朝" panose="02020609040205080304" pitchFamily="17" charset="-128"/>
              </a:rPr>
              <a:t>Oracle Database 19c Standard Edition 2 Release 19.0.0.0.0</a:t>
            </a:r>
            <a:endParaRPr kumimoji="1" lang="en-US" altLang="ja-JP" dirty="0">
              <a:latin typeface="ＭＳ 明朝" panose="02020609040205080304" pitchFamily="17" charset="-128"/>
              <a:ea typeface="ＭＳ 明朝" panose="02020609040205080304" pitchFamily="17" charset="-128"/>
            </a:endParaRPr>
          </a:p>
        </p:txBody>
      </p:sp>
      <p:graphicFrame>
        <p:nvGraphicFramePr>
          <p:cNvPr id="4" name="表 3">
            <a:extLst>
              <a:ext uri="{FF2B5EF4-FFF2-40B4-BE49-F238E27FC236}">
                <a16:creationId xmlns:a16="http://schemas.microsoft.com/office/drawing/2014/main" id="{62B060A3-C176-4C46-866A-4973E234A6A4}"/>
              </a:ext>
            </a:extLst>
          </p:cNvPr>
          <p:cNvGraphicFramePr>
            <a:graphicFrameLocks noGrp="1"/>
          </p:cNvGraphicFramePr>
          <p:nvPr>
            <p:extLst>
              <p:ext uri="{D42A27DB-BD31-4B8C-83A1-F6EECF244321}">
                <p14:modId xmlns:p14="http://schemas.microsoft.com/office/powerpoint/2010/main" val="3293831069"/>
              </p:ext>
            </p:extLst>
          </p:nvPr>
        </p:nvGraphicFramePr>
        <p:xfrm>
          <a:off x="202018" y="2642532"/>
          <a:ext cx="10636262" cy="2926280"/>
        </p:xfrm>
        <a:graphic>
          <a:graphicData uri="http://schemas.openxmlformats.org/drawingml/2006/table">
            <a:tbl>
              <a:tblPr firstRow="1" bandRow="1">
                <a:tableStyleId>{5940675A-B579-460E-94D1-54222C63F5DA}</a:tableStyleId>
              </a:tblPr>
              <a:tblGrid>
                <a:gridCol w="562886">
                  <a:extLst>
                    <a:ext uri="{9D8B030D-6E8A-4147-A177-3AD203B41FA5}">
                      <a16:colId xmlns:a16="http://schemas.microsoft.com/office/drawing/2014/main" val="3032621611"/>
                    </a:ext>
                  </a:extLst>
                </a:gridCol>
                <a:gridCol w="1516380">
                  <a:extLst>
                    <a:ext uri="{9D8B030D-6E8A-4147-A177-3AD203B41FA5}">
                      <a16:colId xmlns:a16="http://schemas.microsoft.com/office/drawing/2014/main" val="3995868737"/>
                    </a:ext>
                  </a:extLst>
                </a:gridCol>
                <a:gridCol w="627380">
                  <a:extLst>
                    <a:ext uri="{9D8B030D-6E8A-4147-A177-3AD203B41FA5}">
                      <a16:colId xmlns:a16="http://schemas.microsoft.com/office/drawing/2014/main" val="454232602"/>
                    </a:ext>
                  </a:extLst>
                </a:gridCol>
                <a:gridCol w="538480">
                  <a:extLst>
                    <a:ext uri="{9D8B030D-6E8A-4147-A177-3AD203B41FA5}">
                      <a16:colId xmlns:a16="http://schemas.microsoft.com/office/drawing/2014/main" val="4143132480"/>
                    </a:ext>
                  </a:extLst>
                </a:gridCol>
                <a:gridCol w="7391136">
                  <a:extLst>
                    <a:ext uri="{9D8B030D-6E8A-4147-A177-3AD203B41FA5}">
                      <a16:colId xmlns:a16="http://schemas.microsoft.com/office/drawing/2014/main" val="3585631135"/>
                    </a:ext>
                  </a:extLst>
                </a:gridCol>
              </a:tblGrid>
              <a:tr h="620945">
                <a:tc>
                  <a:txBody>
                    <a:bodyPr/>
                    <a:lstStyle/>
                    <a:p>
                      <a:pPr algn="ctr"/>
                      <a:r>
                        <a:rPr kumimoji="1" lang="ja-JP" altLang="en-US" sz="1400" dirty="0">
                          <a:latin typeface="ＭＳ 明朝" panose="02020609040205080304" pitchFamily="17" charset="-128"/>
                          <a:ea typeface="ＭＳ 明朝" panose="02020609040205080304" pitchFamily="17" charset="-128"/>
                        </a:rPr>
                        <a:t>番号</a:t>
                      </a: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CVE</a:t>
                      </a:r>
                      <a:r>
                        <a:rPr kumimoji="1" lang="ja-JP" altLang="en-US" sz="1400" dirty="0">
                          <a:latin typeface="ＭＳ 明朝" panose="02020609040205080304" pitchFamily="17" charset="-128"/>
                          <a:ea typeface="ＭＳ 明朝" panose="02020609040205080304" pitchFamily="17" charset="-128"/>
                        </a:rPr>
                        <a:t>番号</a:t>
                      </a: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Type</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POC</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影響</a:t>
                      </a:r>
                    </a:p>
                  </a:txBody>
                  <a:tcPr anchor="ctr"/>
                </a:tc>
                <a:extLst>
                  <a:ext uri="{0D108BD9-81ED-4DB2-BD59-A6C34878D82A}">
                    <a16:rowId xmlns:a16="http://schemas.microsoft.com/office/drawing/2014/main" val="140664658"/>
                  </a:ext>
                </a:extLst>
              </a:tr>
              <a:tr h="7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1</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CVE-2020-36518</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DoS</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a:t>
                      </a:r>
                    </a:p>
                  </a:txBody>
                  <a:tcPr anchor="ctr"/>
                </a:tc>
                <a:tc>
                  <a:txBody>
                    <a:bodyPr/>
                    <a:lstStyle/>
                    <a:p>
                      <a:r>
                        <a:rPr kumimoji="1" lang="ja-JP" altLang="en-US" sz="1400" dirty="0">
                          <a:latin typeface="ＭＳ 明朝" panose="02020609040205080304" pitchFamily="17" charset="-128"/>
                          <a:ea typeface="ＭＳ 明朝" panose="02020609040205080304" pitchFamily="17" charset="-128"/>
                        </a:rPr>
                        <a:t>攻撃が成功すると、ハングさせたり、頻繁に繰り返しクラッシュさせたりする可能性がある。</a:t>
                      </a:r>
                    </a:p>
                  </a:txBody>
                  <a:tcPr anchor="ctr"/>
                </a:tc>
                <a:extLst>
                  <a:ext uri="{0D108BD9-81ED-4DB2-BD59-A6C34878D82A}">
                    <a16:rowId xmlns:a16="http://schemas.microsoft.com/office/drawing/2014/main" val="3070175176"/>
                  </a:ext>
                </a:extLst>
              </a:tr>
              <a:tr h="7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2</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CVE-2022-21410</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RCE</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r>
                        <a:rPr kumimoji="1" lang="en-US" altLang="ja-JP" sz="1400" dirty="0">
                          <a:latin typeface="ＭＳ 明朝" panose="02020609040205080304" pitchFamily="17" charset="-128"/>
                          <a:ea typeface="ＭＳ 明朝" panose="02020609040205080304" pitchFamily="17" charset="-128"/>
                        </a:rPr>
                        <a:t>CREATE ANY PROCEDURE</a:t>
                      </a:r>
                      <a:r>
                        <a:rPr kumimoji="1" lang="ja-JP" altLang="en-US" sz="1400" dirty="0">
                          <a:latin typeface="ＭＳ 明朝" panose="02020609040205080304" pitchFamily="17" charset="-128"/>
                          <a:ea typeface="ＭＳ 明朝" panose="02020609040205080304" pitchFamily="17" charset="-128"/>
                        </a:rPr>
                        <a:t>等の高権限のある攻撃者がネットワーク経由で悪用するとコンポーネントの完全支配につながる可能性がある。</a:t>
                      </a:r>
                    </a:p>
                  </a:txBody>
                  <a:tcPr anchor="ctr"/>
                </a:tc>
                <a:extLst>
                  <a:ext uri="{0D108BD9-81ED-4DB2-BD59-A6C34878D82A}">
                    <a16:rowId xmlns:a16="http://schemas.microsoft.com/office/drawing/2014/main" val="1083865331"/>
                  </a:ext>
                </a:extLst>
              </a:tr>
              <a:tr h="7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3</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CVE-2019-2749</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RCE</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r>
                        <a:rPr kumimoji="1" lang="ja-JP" altLang="en-US" sz="1400" dirty="0">
                          <a:latin typeface="ＭＳ 明朝" panose="02020609040205080304" pitchFamily="17" charset="-128"/>
                          <a:ea typeface="ＭＳ 明朝" panose="02020609040205080304" pitchFamily="17" charset="-128"/>
                        </a:rPr>
                        <a:t>特定の権限を持つ者が悪用すると</a:t>
                      </a:r>
                      <a:r>
                        <a:rPr kumimoji="1" lang="en-US" altLang="ja-JP" sz="1400" dirty="0">
                          <a:latin typeface="ＭＳ 明朝" panose="02020609040205080304" pitchFamily="17" charset="-128"/>
                          <a:ea typeface="ＭＳ 明朝" panose="02020609040205080304" pitchFamily="17" charset="-128"/>
                        </a:rPr>
                        <a:t>Java VM</a:t>
                      </a:r>
                      <a:r>
                        <a:rPr kumimoji="1" lang="ja-JP" altLang="en-US" sz="1400" dirty="0">
                          <a:latin typeface="ＭＳ 明朝" panose="02020609040205080304" pitchFamily="17" charset="-128"/>
                          <a:ea typeface="ＭＳ 明朝" panose="02020609040205080304" pitchFamily="17" charset="-128"/>
                        </a:rPr>
                        <a:t>を経由した権限奪取につながる可能性がある。</a:t>
                      </a:r>
                    </a:p>
                  </a:txBody>
                  <a:tcPr anchor="ctr"/>
                </a:tc>
                <a:extLst>
                  <a:ext uri="{0D108BD9-81ED-4DB2-BD59-A6C34878D82A}">
                    <a16:rowId xmlns:a16="http://schemas.microsoft.com/office/drawing/2014/main" val="696963753"/>
                  </a:ext>
                </a:extLst>
              </a:tr>
            </a:tbl>
          </a:graphicData>
        </a:graphic>
      </p:graphicFrame>
      <p:sp>
        <p:nvSpPr>
          <p:cNvPr id="5" name="テキスト ボックス 4">
            <a:extLst>
              <a:ext uri="{FF2B5EF4-FFF2-40B4-BE49-F238E27FC236}">
                <a16:creationId xmlns:a16="http://schemas.microsoft.com/office/drawing/2014/main" id="{DD9CBF12-EA92-4B5B-8A03-CC575A8680E1}"/>
              </a:ext>
            </a:extLst>
          </p:cNvPr>
          <p:cNvSpPr txBox="1"/>
          <p:nvPr/>
        </p:nvSpPr>
        <p:spPr>
          <a:xfrm>
            <a:off x="5537693" y="155391"/>
            <a:ext cx="1569660" cy="369332"/>
          </a:xfrm>
          <a:prstGeom prst="rect">
            <a:avLst/>
          </a:prstGeom>
          <a:noFill/>
        </p:spPr>
        <p:txBody>
          <a:bodyPr wrap="none" rtlCol="0">
            <a:spAutoFit/>
          </a:bodyPr>
          <a:lstStyle/>
          <a:p>
            <a:r>
              <a:rPr kumimoji="1" lang="en-US" altLang="ja-JP" dirty="0">
                <a:latin typeface="ＭＳ 明朝" panose="02020609040205080304" pitchFamily="17" charset="-128"/>
                <a:ea typeface="ＭＳ 明朝" panose="02020609040205080304" pitchFamily="17" charset="-128"/>
              </a:rPr>
              <a:t>DB</a:t>
            </a:r>
            <a:r>
              <a:rPr kumimoji="1" lang="ja-JP" altLang="en-US" dirty="0" err="1">
                <a:latin typeface="ＭＳ 明朝" panose="02020609040205080304" pitchFamily="17" charset="-128"/>
                <a:ea typeface="ＭＳ 明朝" panose="02020609040205080304" pitchFamily="17" charset="-128"/>
              </a:rPr>
              <a:t>への</a:t>
            </a:r>
            <a:r>
              <a:rPr kumimoji="1" lang="ja-JP" altLang="en-US" dirty="0">
                <a:latin typeface="ＭＳ 明朝" panose="02020609040205080304" pitchFamily="17" charset="-128"/>
                <a:ea typeface="ＭＳ 明朝" panose="02020609040205080304" pitchFamily="17" charset="-128"/>
              </a:rPr>
              <a:t>脆弱性</a:t>
            </a:r>
          </a:p>
        </p:txBody>
      </p:sp>
    </p:spTree>
    <p:extLst>
      <p:ext uri="{BB962C8B-B14F-4D97-AF65-F5344CB8AC3E}">
        <p14:creationId xmlns:p14="http://schemas.microsoft.com/office/powerpoint/2010/main" val="2034957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8BC633BF-EC6F-4626-9A59-C7ABB80E8C6C}"/>
              </a:ext>
            </a:extLst>
          </p:cNvPr>
          <p:cNvGraphicFramePr>
            <a:graphicFrameLocks noGrp="1"/>
          </p:cNvGraphicFramePr>
          <p:nvPr>
            <p:extLst>
              <p:ext uri="{D42A27DB-BD31-4B8C-83A1-F6EECF244321}">
                <p14:modId xmlns:p14="http://schemas.microsoft.com/office/powerpoint/2010/main" val="1974633941"/>
              </p:ext>
            </p:extLst>
          </p:nvPr>
        </p:nvGraphicFramePr>
        <p:xfrm>
          <a:off x="491336" y="2038525"/>
          <a:ext cx="11041548" cy="3677596"/>
        </p:xfrm>
        <a:graphic>
          <a:graphicData uri="http://schemas.openxmlformats.org/drawingml/2006/table">
            <a:tbl>
              <a:tblPr firstRow="1" bandRow="1">
                <a:tableStyleId>{5940675A-B579-460E-94D1-54222C63F5DA}</a:tableStyleId>
              </a:tblPr>
              <a:tblGrid>
                <a:gridCol w="1516380">
                  <a:extLst>
                    <a:ext uri="{9D8B030D-6E8A-4147-A177-3AD203B41FA5}">
                      <a16:colId xmlns:a16="http://schemas.microsoft.com/office/drawing/2014/main" val="3657592400"/>
                    </a:ext>
                  </a:extLst>
                </a:gridCol>
                <a:gridCol w="716280">
                  <a:extLst>
                    <a:ext uri="{9D8B030D-6E8A-4147-A177-3AD203B41FA5}">
                      <a16:colId xmlns:a16="http://schemas.microsoft.com/office/drawing/2014/main" val="2476266775"/>
                    </a:ext>
                  </a:extLst>
                </a:gridCol>
                <a:gridCol w="716280">
                  <a:extLst>
                    <a:ext uri="{9D8B030D-6E8A-4147-A177-3AD203B41FA5}">
                      <a16:colId xmlns:a16="http://schemas.microsoft.com/office/drawing/2014/main" val="730811455"/>
                    </a:ext>
                  </a:extLst>
                </a:gridCol>
                <a:gridCol w="8092608">
                  <a:extLst>
                    <a:ext uri="{9D8B030D-6E8A-4147-A177-3AD203B41FA5}">
                      <a16:colId xmlns:a16="http://schemas.microsoft.com/office/drawing/2014/main" val="1398097854"/>
                    </a:ext>
                  </a:extLst>
                </a:gridCol>
              </a:tblGrid>
              <a:tr h="506155">
                <a:tc>
                  <a:txBody>
                    <a:bodyPr/>
                    <a:lstStyle/>
                    <a:p>
                      <a:pPr algn="ctr"/>
                      <a:r>
                        <a:rPr kumimoji="1" lang="en-US" altLang="ja-JP" sz="1400" dirty="0">
                          <a:latin typeface="ＭＳ 明朝" panose="02020609040205080304" pitchFamily="17" charset="-128"/>
                          <a:ea typeface="ＭＳ 明朝" panose="02020609040205080304" pitchFamily="17" charset="-128"/>
                        </a:rPr>
                        <a:t>CVE</a:t>
                      </a:r>
                      <a:r>
                        <a:rPr kumimoji="1" lang="ja-JP" altLang="en-US" sz="1400" dirty="0">
                          <a:latin typeface="ＭＳ 明朝" panose="02020609040205080304" pitchFamily="17" charset="-128"/>
                          <a:ea typeface="ＭＳ 明朝" panose="02020609040205080304" pitchFamily="17" charset="-128"/>
                        </a:rPr>
                        <a:t>番号</a:t>
                      </a: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Type</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POC</a:t>
                      </a: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概要</a:t>
                      </a:r>
                      <a:endParaRPr kumimoji="1" lang="en-US" altLang="ja-JP" sz="1400" dirty="0">
                        <a:latin typeface="ＭＳ 明朝" panose="02020609040205080304" pitchFamily="17" charset="-128"/>
                        <a:ea typeface="ＭＳ 明朝" panose="02020609040205080304" pitchFamily="17" charset="-128"/>
                      </a:endParaRPr>
                    </a:p>
                  </a:txBody>
                  <a:tcPr anchor="ctr"/>
                </a:tc>
                <a:extLst>
                  <a:ext uri="{0D108BD9-81ED-4DB2-BD59-A6C34878D82A}">
                    <a16:rowId xmlns:a16="http://schemas.microsoft.com/office/drawing/2014/main" val="1527437479"/>
                  </a:ext>
                </a:extLst>
              </a:tr>
              <a:tr h="5941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CVE-2024-21338</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bg1"/>
                    </a:solid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PE</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bg1"/>
                    </a:solidFill>
                  </a:tcPr>
                </a:tc>
                <a:tc>
                  <a:txBody>
                    <a:bodyPr/>
                    <a:lstStyle/>
                    <a:p>
                      <a:pPr algn="ctr"/>
                      <a:r>
                        <a:rPr kumimoji="1" lang="ja-JP" altLang="en-US" sz="1400" dirty="0">
                          <a:latin typeface="ＭＳ 明朝" panose="02020609040205080304" pitchFamily="17" charset="-128"/>
                          <a:ea typeface="ＭＳ 明朝" panose="02020609040205080304" pitchFamily="17" charset="-128"/>
                        </a:rPr>
                        <a:t>○</a:t>
                      </a:r>
                    </a:p>
                  </a:txBody>
                  <a:tcPr anchor="ctr">
                    <a:solidFill>
                      <a:schemeClr val="bg1"/>
                    </a:solidFill>
                  </a:tcPr>
                </a:tc>
                <a:tc>
                  <a:txBody>
                    <a:bodyPr/>
                    <a:lstStyle/>
                    <a:p>
                      <a:pPr algn="l"/>
                      <a:r>
                        <a:rPr kumimoji="1" lang="en-US" altLang="ja-JP" sz="1400" dirty="0">
                          <a:latin typeface="ＭＳ 明朝" panose="02020609040205080304" pitchFamily="17" charset="-128"/>
                          <a:ea typeface="ＭＳ 明朝" panose="02020609040205080304" pitchFamily="17" charset="-128"/>
                        </a:rPr>
                        <a:t>Windows</a:t>
                      </a:r>
                      <a:r>
                        <a:rPr kumimoji="1" lang="ja-JP" altLang="en-US" sz="1400" dirty="0">
                          <a:latin typeface="ＭＳ 明朝" panose="02020609040205080304" pitchFamily="17" charset="-128"/>
                          <a:ea typeface="ＭＳ 明朝" panose="02020609040205080304" pitchFamily="17" charset="-128"/>
                        </a:rPr>
                        <a:t>カーネルの権限昇格</a:t>
                      </a:r>
                      <a:endParaRPr kumimoji="1" lang="en-US" altLang="ja-JP" sz="1400" dirty="0">
                        <a:latin typeface="ＭＳ 明朝" panose="02020609040205080304" pitchFamily="17" charset="-128"/>
                        <a:ea typeface="ＭＳ 明朝" panose="02020609040205080304" pitchFamily="17" charset="-128"/>
                      </a:endParaRPr>
                    </a:p>
                  </a:txBody>
                  <a:tcPr>
                    <a:solidFill>
                      <a:schemeClr val="bg1"/>
                    </a:solidFill>
                  </a:tcPr>
                </a:tc>
                <a:extLst>
                  <a:ext uri="{0D108BD9-81ED-4DB2-BD59-A6C34878D82A}">
                    <a16:rowId xmlns:a16="http://schemas.microsoft.com/office/drawing/2014/main" val="3391056804"/>
                  </a:ext>
                </a:extLst>
              </a:tr>
              <a:tr h="5941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CVE-2021-40449</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bg1"/>
                    </a:solid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PE</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bg1"/>
                    </a:solidFill>
                  </a:tcPr>
                </a:tc>
                <a:tc>
                  <a:txBody>
                    <a:bodyPr/>
                    <a:lstStyle/>
                    <a:p>
                      <a:pPr algn="ctr"/>
                      <a:r>
                        <a:rPr kumimoji="1" lang="ja-JP" altLang="en-US" sz="1400" dirty="0">
                          <a:latin typeface="ＭＳ 明朝" panose="02020609040205080304" pitchFamily="17" charset="-128"/>
                          <a:ea typeface="ＭＳ 明朝" panose="02020609040205080304" pitchFamily="17" charset="-128"/>
                        </a:rPr>
                        <a:t>○</a:t>
                      </a:r>
                    </a:p>
                  </a:txBody>
                  <a:tcPr anchor="ctr">
                    <a:solidFill>
                      <a:schemeClr val="bg1"/>
                    </a:solidFill>
                  </a:tcPr>
                </a:tc>
                <a:tc>
                  <a:txBody>
                    <a:bodyPr/>
                    <a:lstStyle/>
                    <a:p>
                      <a:pPr algn="l"/>
                      <a:r>
                        <a:rPr kumimoji="1" lang="en-US" altLang="ja-JP" sz="1400" dirty="0">
                          <a:latin typeface="ＭＳ 明朝" panose="02020609040205080304" pitchFamily="17" charset="-128"/>
                          <a:ea typeface="ＭＳ 明朝" panose="02020609040205080304" pitchFamily="17" charset="-128"/>
                        </a:rPr>
                        <a:t>Win32k</a:t>
                      </a:r>
                      <a:r>
                        <a:rPr kumimoji="1" lang="ja-JP" altLang="en-US" sz="1400" dirty="0">
                          <a:latin typeface="ＭＳ 明朝" panose="02020609040205080304" pitchFamily="17" charset="-128"/>
                          <a:ea typeface="ＭＳ 明朝" panose="02020609040205080304" pitchFamily="17" charset="-128"/>
                        </a:rPr>
                        <a:t>の</a:t>
                      </a:r>
                      <a:r>
                        <a:rPr kumimoji="1" lang="en-US" altLang="ja-JP" sz="1400" dirty="0">
                          <a:latin typeface="ＭＳ 明朝" panose="02020609040205080304" pitchFamily="17" charset="-128"/>
                          <a:ea typeface="ＭＳ 明朝" panose="02020609040205080304" pitchFamily="17" charset="-128"/>
                        </a:rPr>
                        <a:t>use-after-free</a:t>
                      </a:r>
                      <a:r>
                        <a:rPr kumimoji="1" lang="ja-JP" altLang="en-US" sz="1400" dirty="0">
                          <a:latin typeface="ＭＳ 明朝" panose="02020609040205080304" pitchFamily="17" charset="-128"/>
                          <a:ea typeface="ＭＳ 明朝" panose="02020609040205080304" pitchFamily="17" charset="-128"/>
                        </a:rPr>
                        <a:t>によるローカル権限昇格</a:t>
                      </a:r>
                    </a:p>
                  </a:txBody>
                  <a:tcPr>
                    <a:solidFill>
                      <a:schemeClr val="bg1"/>
                    </a:solidFill>
                  </a:tcPr>
                </a:tc>
                <a:extLst>
                  <a:ext uri="{0D108BD9-81ED-4DB2-BD59-A6C34878D82A}">
                    <a16:rowId xmlns:a16="http://schemas.microsoft.com/office/drawing/2014/main" val="778785465"/>
                  </a:ext>
                </a:extLst>
              </a:tr>
              <a:tr h="5941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CVE-2021-34527</a:t>
                      </a:r>
                    </a:p>
                  </a:txBody>
                  <a:tcPr anchor="ctr">
                    <a:solidFill>
                      <a:schemeClr val="bg1"/>
                    </a:solid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PE</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bg1"/>
                    </a:solidFill>
                  </a:tcPr>
                </a:tc>
                <a:tc>
                  <a:txBody>
                    <a:bodyPr/>
                    <a:lstStyle/>
                    <a:p>
                      <a:pPr algn="ctr"/>
                      <a:r>
                        <a:rPr kumimoji="1" lang="ja-JP" altLang="en-US" sz="1400" dirty="0">
                          <a:latin typeface="ＭＳ 明朝" panose="02020609040205080304" pitchFamily="17" charset="-128"/>
                          <a:ea typeface="ＭＳ 明朝" panose="02020609040205080304" pitchFamily="17" charset="-128"/>
                        </a:rPr>
                        <a:t>○</a:t>
                      </a:r>
                    </a:p>
                  </a:txBody>
                  <a:tcPr anchor="ctr">
                    <a:solidFill>
                      <a:schemeClr val="bg1"/>
                    </a:solidFill>
                  </a:tcPr>
                </a:tc>
                <a:tc>
                  <a:txBody>
                    <a:bodyPr/>
                    <a:lstStyle/>
                    <a:p>
                      <a:pPr algn="l"/>
                      <a:r>
                        <a:rPr kumimoji="1" lang="en-US" altLang="ja-JP" sz="1400" dirty="0">
                          <a:latin typeface="ＭＳ 明朝" panose="02020609040205080304" pitchFamily="17" charset="-128"/>
                          <a:ea typeface="ＭＳ 明朝" panose="02020609040205080304" pitchFamily="17" charset="-128"/>
                        </a:rPr>
                        <a:t>Print Spooler</a:t>
                      </a:r>
                      <a:r>
                        <a:rPr kumimoji="1" lang="ja-JP" altLang="en-US" sz="1400" dirty="0">
                          <a:latin typeface="ＭＳ 明朝" panose="02020609040205080304" pitchFamily="17" charset="-128"/>
                          <a:ea typeface="ＭＳ 明朝" panose="02020609040205080304" pitchFamily="17" charset="-128"/>
                        </a:rPr>
                        <a:t>経由の権限昇格</a:t>
                      </a:r>
                      <a:r>
                        <a:rPr kumimoji="1" lang="en-US" altLang="ja-JP" sz="1400" dirty="0">
                          <a:latin typeface="ＭＳ 明朝" panose="02020609040205080304" pitchFamily="17" charset="-128"/>
                          <a:ea typeface="ＭＳ 明朝" panose="02020609040205080304" pitchFamily="17" charset="-128"/>
                        </a:rPr>
                        <a:t>/RCE</a:t>
                      </a:r>
                      <a:endParaRPr kumimoji="1" lang="ja-JP" altLang="en-US" sz="1400" dirty="0">
                        <a:latin typeface="ＭＳ 明朝" panose="02020609040205080304" pitchFamily="17" charset="-128"/>
                        <a:ea typeface="ＭＳ 明朝" panose="02020609040205080304" pitchFamily="17" charset="-128"/>
                      </a:endParaRPr>
                    </a:p>
                  </a:txBody>
                  <a:tcPr>
                    <a:solidFill>
                      <a:schemeClr val="bg1"/>
                    </a:solidFill>
                  </a:tcPr>
                </a:tc>
                <a:extLst>
                  <a:ext uri="{0D108BD9-81ED-4DB2-BD59-A6C34878D82A}">
                    <a16:rowId xmlns:a16="http://schemas.microsoft.com/office/drawing/2014/main" val="1437989930"/>
                  </a:ext>
                </a:extLst>
              </a:tr>
              <a:tr h="79482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CVE-2021-36934</a:t>
                      </a:r>
                    </a:p>
                  </a:txBody>
                  <a:tcPr anchor="ctr">
                    <a:solidFill>
                      <a:schemeClr val="bg1"/>
                    </a:solid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PE</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bg1"/>
                    </a:solidFill>
                  </a:tcPr>
                </a:tc>
                <a:tc>
                  <a:txBody>
                    <a:bodyPr/>
                    <a:lstStyle/>
                    <a:p>
                      <a:pPr algn="ctr"/>
                      <a:r>
                        <a:rPr kumimoji="1" lang="ja-JP" altLang="en-US" sz="1400" dirty="0">
                          <a:latin typeface="ＭＳ 明朝" panose="02020609040205080304" pitchFamily="17" charset="-128"/>
                          <a:ea typeface="ＭＳ 明朝" panose="02020609040205080304" pitchFamily="17" charset="-128"/>
                        </a:rPr>
                        <a:t>○</a:t>
                      </a:r>
                      <a:endParaRPr kumimoji="1" lang="en-US" altLang="ja-JP" sz="1400" dirty="0">
                        <a:latin typeface="ＭＳ 明朝" panose="02020609040205080304" pitchFamily="17" charset="-128"/>
                        <a:ea typeface="ＭＳ 明朝" panose="02020609040205080304" pitchFamily="17" charset="-128"/>
                      </a:endParaRPr>
                    </a:p>
                  </a:txBody>
                  <a:tcPr anchor="ctr">
                    <a:solidFill>
                      <a:schemeClr val="bg1"/>
                    </a:solidFill>
                  </a:tcPr>
                </a:tc>
                <a:tc>
                  <a:txBody>
                    <a:bodyPr/>
                    <a:lstStyle/>
                    <a:p>
                      <a:pPr algn="l"/>
                      <a:r>
                        <a:rPr kumimoji="1" lang="ja-JP" altLang="en-US" sz="1400" dirty="0">
                          <a:latin typeface="ＭＳ 明朝" panose="02020609040205080304" pitchFamily="17" charset="-128"/>
                          <a:ea typeface="ＭＳ 明朝" panose="02020609040205080304" pitchFamily="17" charset="-128"/>
                        </a:rPr>
                        <a:t>システムファイルの</a:t>
                      </a:r>
                      <a:r>
                        <a:rPr kumimoji="1" lang="en-US" altLang="ja-JP" sz="1400" dirty="0">
                          <a:latin typeface="ＭＳ 明朝" panose="02020609040205080304" pitchFamily="17" charset="-128"/>
                          <a:ea typeface="ＭＳ 明朝" panose="02020609040205080304" pitchFamily="17" charset="-128"/>
                        </a:rPr>
                        <a:t>ACL</a:t>
                      </a:r>
                      <a:r>
                        <a:rPr kumimoji="1" lang="ja-JP" altLang="en-US" sz="1400" dirty="0">
                          <a:latin typeface="ＭＳ 明朝" panose="02020609040205080304" pitchFamily="17" charset="-128"/>
                          <a:ea typeface="ＭＳ 明朝" panose="02020609040205080304" pitchFamily="17" charset="-128"/>
                        </a:rPr>
                        <a:t>不備により非管理者がレジストリハイブ等にアクセスでき、</a:t>
                      </a:r>
                      <a:endParaRPr kumimoji="1" lang="en-US" altLang="ja-JP" sz="1400" dirty="0">
                        <a:latin typeface="ＭＳ 明朝" panose="02020609040205080304" pitchFamily="17" charset="-128"/>
                        <a:ea typeface="ＭＳ 明朝" panose="02020609040205080304" pitchFamily="17" charset="-128"/>
                      </a:endParaRPr>
                    </a:p>
                    <a:p>
                      <a:pPr algn="l"/>
                      <a:r>
                        <a:rPr kumimoji="1" lang="ja-JP" altLang="en-US" sz="1400" dirty="0">
                          <a:latin typeface="ＭＳ 明朝" panose="02020609040205080304" pitchFamily="17" charset="-128"/>
                          <a:ea typeface="ＭＳ 明朝" panose="02020609040205080304" pitchFamily="17" charset="-128"/>
                        </a:rPr>
                        <a:t>結果として権限昇格につながる。</a:t>
                      </a:r>
                      <a:endParaRPr kumimoji="1" lang="en-US" altLang="ja-JP" sz="1400" dirty="0">
                        <a:latin typeface="ＭＳ 明朝" panose="02020609040205080304" pitchFamily="17" charset="-128"/>
                        <a:ea typeface="ＭＳ 明朝" panose="02020609040205080304" pitchFamily="17" charset="-128"/>
                      </a:endParaRPr>
                    </a:p>
                  </a:txBody>
                  <a:tcPr>
                    <a:solidFill>
                      <a:schemeClr val="bg1"/>
                    </a:solidFill>
                  </a:tcPr>
                </a:tc>
                <a:extLst>
                  <a:ext uri="{0D108BD9-81ED-4DB2-BD59-A6C34878D82A}">
                    <a16:rowId xmlns:a16="http://schemas.microsoft.com/office/drawing/2014/main" val="2884220533"/>
                  </a:ext>
                </a:extLst>
              </a:tr>
              <a:tr h="5941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CVE-2019-0841</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bg1"/>
                    </a:solid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PE</a:t>
                      </a:r>
                      <a:endParaRPr kumimoji="1" lang="ja-JP" altLang="en-US" sz="1400" dirty="0">
                        <a:latin typeface="ＭＳ 明朝" panose="02020609040205080304" pitchFamily="17" charset="-128"/>
                        <a:ea typeface="ＭＳ 明朝" panose="02020609040205080304" pitchFamily="17" charset="-128"/>
                      </a:endParaRPr>
                    </a:p>
                  </a:txBody>
                  <a:tcPr anchor="ctr">
                    <a:solidFill>
                      <a:schemeClr val="bg1"/>
                    </a:solidFill>
                  </a:tcPr>
                </a:tc>
                <a:tc>
                  <a:txBody>
                    <a:bodyPr/>
                    <a:lstStyle/>
                    <a:p>
                      <a:pPr algn="ctr"/>
                      <a:r>
                        <a:rPr kumimoji="1" lang="en-US" altLang="ja-JP" sz="1400" dirty="0">
                          <a:latin typeface="ＭＳ 明朝" panose="02020609040205080304" pitchFamily="17" charset="-128"/>
                          <a:ea typeface="ＭＳ 明朝" panose="02020609040205080304" pitchFamily="17" charset="-128"/>
                        </a:rPr>
                        <a:t>×</a:t>
                      </a:r>
                    </a:p>
                  </a:txBody>
                  <a:tcPr anchor="ctr">
                    <a:solidFill>
                      <a:schemeClr val="bg1"/>
                    </a:solidFill>
                  </a:tcPr>
                </a:tc>
                <a:tc>
                  <a:txBody>
                    <a:bodyPr/>
                    <a:lstStyle/>
                    <a:p>
                      <a:pPr algn="l"/>
                      <a:r>
                        <a:rPr kumimoji="1" lang="en-US" altLang="ja-JP" sz="1400" dirty="0" err="1">
                          <a:latin typeface="ＭＳ 明朝" panose="02020609040205080304" pitchFamily="17" charset="-128"/>
                          <a:ea typeface="ＭＳ 明朝" panose="02020609040205080304" pitchFamily="17" charset="-128"/>
                        </a:rPr>
                        <a:t>AppX</a:t>
                      </a:r>
                      <a:r>
                        <a:rPr kumimoji="1" lang="en-US" altLang="ja-JP" sz="1400" dirty="0">
                          <a:latin typeface="ＭＳ 明朝" panose="02020609040205080304" pitchFamily="17" charset="-128"/>
                          <a:ea typeface="ＭＳ 明朝" panose="02020609040205080304" pitchFamily="17" charset="-128"/>
                        </a:rPr>
                        <a:t> Deployment Service</a:t>
                      </a:r>
                      <a:r>
                        <a:rPr kumimoji="1" lang="ja-JP" altLang="en-US" sz="1400" dirty="0">
                          <a:latin typeface="ＭＳ 明朝" panose="02020609040205080304" pitchFamily="17" charset="-128"/>
                          <a:ea typeface="ＭＳ 明朝" panose="02020609040205080304" pitchFamily="17" charset="-128"/>
                        </a:rPr>
                        <a:t>のハードリンク処理不備による権限昇格。</a:t>
                      </a:r>
                      <a:endParaRPr kumimoji="1" lang="en-US" altLang="ja-JP" sz="1400" dirty="0">
                        <a:latin typeface="ＭＳ 明朝" panose="02020609040205080304" pitchFamily="17" charset="-128"/>
                        <a:ea typeface="ＭＳ 明朝" panose="02020609040205080304" pitchFamily="17" charset="-128"/>
                      </a:endParaRPr>
                    </a:p>
                  </a:txBody>
                  <a:tcPr>
                    <a:solidFill>
                      <a:schemeClr val="bg1"/>
                    </a:solidFill>
                  </a:tcPr>
                </a:tc>
                <a:extLst>
                  <a:ext uri="{0D108BD9-81ED-4DB2-BD59-A6C34878D82A}">
                    <a16:rowId xmlns:a16="http://schemas.microsoft.com/office/drawing/2014/main" val="2895772619"/>
                  </a:ext>
                </a:extLst>
              </a:tr>
            </a:tbl>
          </a:graphicData>
        </a:graphic>
      </p:graphicFrame>
      <p:sp>
        <p:nvSpPr>
          <p:cNvPr id="3" name="テキスト ボックス 2">
            <a:extLst>
              <a:ext uri="{FF2B5EF4-FFF2-40B4-BE49-F238E27FC236}">
                <a16:creationId xmlns:a16="http://schemas.microsoft.com/office/drawing/2014/main" id="{6E8BEC41-D92D-4C5E-9A57-83D0C66EFDD4}"/>
              </a:ext>
            </a:extLst>
          </p:cNvPr>
          <p:cNvSpPr txBox="1"/>
          <p:nvPr/>
        </p:nvSpPr>
        <p:spPr>
          <a:xfrm>
            <a:off x="2583810" y="1016044"/>
            <a:ext cx="7164198" cy="646331"/>
          </a:xfrm>
          <a:prstGeom prst="rect">
            <a:avLst/>
          </a:prstGeom>
          <a:noFill/>
          <a:ln>
            <a:solidFill>
              <a:schemeClr val="tx1"/>
            </a:solidFill>
          </a:ln>
        </p:spPr>
        <p:txBody>
          <a:bodyPr wrap="square" rtlCol="0">
            <a:spAutoFit/>
          </a:bodyPr>
          <a:lstStyle/>
          <a:p>
            <a:pPr algn="ctr"/>
            <a:r>
              <a:rPr lang="en-US" altLang="ja-JP" dirty="0">
                <a:latin typeface="ＭＳ 明朝" panose="02020609040205080304" pitchFamily="17" charset="-128"/>
                <a:ea typeface="ＭＳ 明朝" panose="02020609040205080304" pitchFamily="17" charset="-128"/>
              </a:rPr>
              <a:t>Windows10 Enterprise LTSC</a:t>
            </a:r>
          </a:p>
          <a:p>
            <a:pPr algn="ctr"/>
            <a:r>
              <a:rPr lang="en-US" altLang="ja-JP" dirty="0">
                <a:latin typeface="ＭＳ 明朝" panose="02020609040205080304" pitchFamily="17" charset="-128"/>
                <a:ea typeface="ＭＳ 明朝" panose="02020609040205080304" pitchFamily="17" charset="-128"/>
              </a:rPr>
              <a:t>10.0.17763 N/A </a:t>
            </a:r>
            <a:r>
              <a:rPr lang="ja-JP" altLang="en-US" dirty="0">
                <a:latin typeface="ＭＳ 明朝" panose="02020609040205080304" pitchFamily="17" charset="-128"/>
                <a:ea typeface="ＭＳ 明朝" panose="02020609040205080304" pitchFamily="17" charset="-128"/>
              </a:rPr>
              <a:t>ビルド </a:t>
            </a:r>
            <a:r>
              <a:rPr lang="en-US" altLang="ja-JP" dirty="0">
                <a:latin typeface="ＭＳ 明朝" panose="02020609040205080304" pitchFamily="17" charset="-128"/>
                <a:ea typeface="ＭＳ 明朝" panose="02020609040205080304" pitchFamily="17" charset="-128"/>
              </a:rPr>
              <a:t>17763</a:t>
            </a:r>
            <a:endParaRPr kumimoji="1" lang="en-US" altLang="ja-JP"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3172507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635180D-ED05-45EB-9D64-BA0A82BBA0F6}"/>
              </a:ext>
            </a:extLst>
          </p:cNvPr>
          <p:cNvSpPr txBox="1"/>
          <p:nvPr/>
        </p:nvSpPr>
        <p:spPr>
          <a:xfrm>
            <a:off x="3153784" y="2151727"/>
            <a:ext cx="5884431" cy="2554545"/>
          </a:xfrm>
          <a:prstGeom prst="rect">
            <a:avLst/>
          </a:prstGeom>
          <a:noFill/>
        </p:spPr>
        <p:txBody>
          <a:bodyPr wrap="none" rtlCol="0">
            <a:spAutoFit/>
          </a:bodyPr>
          <a:lstStyle/>
          <a:p>
            <a:pPr algn="ctr"/>
            <a:r>
              <a:rPr kumimoji="1" lang="ja-JP" altLang="en-US" sz="8000" b="1" dirty="0">
                <a:latin typeface="ＭＳ 明朝" panose="02020609040205080304" pitchFamily="17" charset="-128"/>
                <a:ea typeface="ＭＳ 明朝" panose="02020609040205080304" pitchFamily="17" charset="-128"/>
              </a:rPr>
              <a:t>侵入経路１</a:t>
            </a:r>
            <a:endParaRPr kumimoji="1" lang="en-US" altLang="ja-JP" sz="8000" b="1" dirty="0">
              <a:latin typeface="ＭＳ 明朝" panose="02020609040205080304" pitchFamily="17" charset="-128"/>
              <a:ea typeface="ＭＳ 明朝" panose="02020609040205080304" pitchFamily="17" charset="-128"/>
            </a:endParaRPr>
          </a:p>
          <a:p>
            <a:pPr algn="ctr"/>
            <a:r>
              <a:rPr lang="en-US" altLang="ja-JP" sz="8000" b="1" dirty="0">
                <a:latin typeface="ＭＳ 明朝" panose="02020609040205080304" pitchFamily="17" charset="-128"/>
                <a:ea typeface="ＭＳ 明朝" panose="02020609040205080304" pitchFamily="17" charset="-128"/>
              </a:rPr>
              <a:t>(DII</a:t>
            </a:r>
            <a:r>
              <a:rPr lang="ja-JP" altLang="en-US" sz="8000" b="1" dirty="0">
                <a:latin typeface="ＭＳ 明朝" panose="02020609040205080304" pitchFamily="17" charset="-128"/>
                <a:ea typeface="ＭＳ 明朝" panose="02020609040205080304" pitchFamily="17" charset="-128"/>
              </a:rPr>
              <a:t>→</a:t>
            </a:r>
            <a:r>
              <a:rPr lang="en-US" altLang="ja-JP" sz="8000" b="1" dirty="0">
                <a:latin typeface="ＭＳ 明朝" panose="02020609040205080304" pitchFamily="17" charset="-128"/>
                <a:ea typeface="ＭＳ 明朝" panose="02020609040205080304" pitchFamily="17" charset="-128"/>
              </a:rPr>
              <a:t>FADP)</a:t>
            </a:r>
            <a:endParaRPr kumimoji="1" lang="ja-JP" altLang="en-US" sz="8000" b="1" dirty="0">
              <a:latin typeface="ＭＳ 明朝" panose="02020609040205080304" pitchFamily="17" charset="-128"/>
              <a:ea typeface="ＭＳ 明朝" panose="02020609040205080304" pitchFamily="17" charset="-128"/>
            </a:endParaRPr>
          </a:p>
        </p:txBody>
      </p:sp>
      <p:sp>
        <p:nvSpPr>
          <p:cNvPr id="3" name="テキスト ボックス 2">
            <a:extLst>
              <a:ext uri="{FF2B5EF4-FFF2-40B4-BE49-F238E27FC236}">
                <a16:creationId xmlns:a16="http://schemas.microsoft.com/office/drawing/2014/main" id="{12C68BB2-0714-4910-8108-6731D9A12D90}"/>
              </a:ext>
            </a:extLst>
          </p:cNvPr>
          <p:cNvSpPr txBox="1"/>
          <p:nvPr/>
        </p:nvSpPr>
        <p:spPr>
          <a:xfrm>
            <a:off x="5080337" y="164178"/>
            <a:ext cx="1338828" cy="369332"/>
          </a:xfrm>
          <a:prstGeom prst="rect">
            <a:avLst/>
          </a:prstGeom>
          <a:noFill/>
        </p:spPr>
        <p:txBody>
          <a:bodyPr wrap="none" rtlCol="0">
            <a:spAutoFit/>
          </a:bodyPr>
          <a:lstStyle/>
          <a:p>
            <a:r>
              <a:rPr kumimoji="1" lang="ja-JP" altLang="en-US" dirty="0">
                <a:latin typeface="ＭＳ 明朝" panose="02020609040205080304" pitchFamily="17" charset="-128"/>
                <a:ea typeface="ＭＳ 明朝" panose="02020609040205080304" pitchFamily="17" charset="-128"/>
              </a:rPr>
              <a:t>侵入経路１</a:t>
            </a:r>
          </a:p>
        </p:txBody>
      </p:sp>
    </p:spTree>
    <p:extLst>
      <p:ext uri="{BB962C8B-B14F-4D97-AF65-F5344CB8AC3E}">
        <p14:creationId xmlns:p14="http://schemas.microsoft.com/office/powerpoint/2010/main" val="387768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E04792A-049C-48C2-BAB2-DF5C0718709B}"/>
              </a:ext>
            </a:extLst>
          </p:cNvPr>
          <p:cNvSpPr txBox="1"/>
          <p:nvPr/>
        </p:nvSpPr>
        <p:spPr>
          <a:xfrm>
            <a:off x="503337" y="906011"/>
            <a:ext cx="11543253" cy="4893647"/>
          </a:xfrm>
          <a:prstGeom prst="rect">
            <a:avLst/>
          </a:prstGeom>
          <a:noFill/>
        </p:spPr>
        <p:txBody>
          <a:bodyPr wrap="square" rtlCol="0">
            <a:spAutoFit/>
          </a:bodyPr>
          <a:lstStyle/>
          <a:p>
            <a:r>
              <a:rPr kumimoji="1" lang="ja-JP" altLang="en-US" sz="2400" b="1" dirty="0">
                <a:solidFill>
                  <a:srgbClr val="00B050"/>
                </a:solidFill>
                <a:latin typeface="ＭＳ 明朝" panose="02020609040205080304" pitchFamily="17" charset="-128"/>
                <a:ea typeface="ＭＳ 明朝" panose="02020609040205080304" pitchFamily="17" charset="-128"/>
              </a:rPr>
              <a:t>仮説１</a:t>
            </a:r>
            <a:endParaRPr kumimoji="1" lang="en-US" altLang="ja-JP" sz="2400" b="1" dirty="0">
              <a:solidFill>
                <a:srgbClr val="00B050"/>
              </a:solidFill>
              <a:latin typeface="ＭＳ 明朝" panose="02020609040205080304" pitchFamily="17" charset="-128"/>
              <a:ea typeface="ＭＳ 明朝" panose="02020609040205080304" pitchFamily="17" charset="-128"/>
            </a:endParaRPr>
          </a:p>
          <a:p>
            <a:r>
              <a:rPr lang="en-US" altLang="ja-JP" sz="2400" dirty="0">
                <a:latin typeface="ＭＳ 明朝" panose="02020609040205080304" pitchFamily="17" charset="-128"/>
                <a:ea typeface="ＭＳ 明朝" panose="02020609040205080304" pitchFamily="17" charset="-128"/>
              </a:rPr>
              <a:t>DII</a:t>
            </a:r>
            <a:r>
              <a:rPr lang="ja-JP" altLang="en-US" sz="2400" dirty="0">
                <a:latin typeface="ＭＳ 明朝" panose="02020609040205080304" pitchFamily="17" charset="-128"/>
                <a:ea typeface="ＭＳ 明朝" panose="02020609040205080304" pitchFamily="17" charset="-128"/>
              </a:rPr>
              <a:t>上の不正な端末から</a:t>
            </a:r>
            <a:r>
              <a:rPr lang="en-US" altLang="ja-JP" sz="2400" dirty="0">
                <a:latin typeface="ＭＳ 明朝" panose="02020609040205080304" pitchFamily="17" charset="-128"/>
                <a:ea typeface="ＭＳ 明朝" panose="02020609040205080304" pitchFamily="17" charset="-128"/>
              </a:rPr>
              <a:t>FADP</a:t>
            </a:r>
            <a:r>
              <a:rPr lang="ja-JP" altLang="en-US" sz="2400" dirty="0">
                <a:latin typeface="ＭＳ 明朝" panose="02020609040205080304" pitchFamily="17" charset="-128"/>
                <a:ea typeface="ＭＳ 明朝" panose="02020609040205080304" pitchFamily="17" charset="-128"/>
              </a:rPr>
              <a:t>ネットワークにある連接試験用端末</a:t>
            </a:r>
            <a:r>
              <a:rPr lang="en-US" altLang="ja-JP" sz="2400" dirty="0">
                <a:latin typeface="ＭＳ 明朝" panose="02020609040205080304" pitchFamily="17" charset="-128"/>
                <a:ea typeface="ＭＳ 明朝" panose="02020609040205080304" pitchFamily="17" charset="-128"/>
              </a:rPr>
              <a:t>(</a:t>
            </a:r>
            <a:r>
              <a:rPr lang="ja-JP" altLang="en-US" sz="2400" dirty="0">
                <a:latin typeface="ＭＳ 明朝" panose="02020609040205080304" pitchFamily="17" charset="-128"/>
                <a:ea typeface="ＭＳ 明朝" panose="02020609040205080304" pitchFamily="17" charset="-128"/>
              </a:rPr>
              <a:t>タイプ</a:t>
            </a:r>
            <a:r>
              <a:rPr lang="en-US" altLang="ja-JP" sz="2400" dirty="0">
                <a:latin typeface="ＭＳ 明朝" panose="02020609040205080304" pitchFamily="17" charset="-128"/>
                <a:ea typeface="ＭＳ 明朝" panose="02020609040205080304" pitchFamily="17" charset="-128"/>
              </a:rPr>
              <a:t>A</a:t>
            </a:r>
            <a:r>
              <a:rPr lang="ja-JP" altLang="en-US" sz="2400" dirty="0">
                <a:latin typeface="ＭＳ 明朝" panose="02020609040205080304" pitchFamily="17" charset="-128"/>
                <a:ea typeface="ＭＳ 明朝" panose="02020609040205080304" pitchFamily="17" charset="-128"/>
              </a:rPr>
              <a:t>）に</a:t>
            </a:r>
            <a:endParaRPr lang="en-US" altLang="ja-JP" sz="2400" dirty="0">
              <a:latin typeface="ＭＳ 明朝" panose="02020609040205080304" pitchFamily="17" charset="-128"/>
              <a:ea typeface="ＭＳ 明朝" panose="02020609040205080304" pitchFamily="17" charset="-128"/>
            </a:endParaRPr>
          </a:p>
          <a:p>
            <a:r>
              <a:rPr kumimoji="1" lang="ja-JP" altLang="en-US" sz="2400" dirty="0">
                <a:latin typeface="ＭＳ 明朝" panose="02020609040205080304" pitchFamily="17" charset="-128"/>
                <a:ea typeface="ＭＳ 明朝" panose="02020609040205080304" pitchFamily="17" charset="-128"/>
              </a:rPr>
              <a:t>侵入し侵入後にさらに内部ネットワークを侵食された。</a:t>
            </a:r>
            <a:endParaRPr kumimoji="1" lang="en-US" altLang="ja-JP" sz="2400" dirty="0">
              <a:latin typeface="ＭＳ 明朝" panose="02020609040205080304" pitchFamily="17" charset="-128"/>
              <a:ea typeface="ＭＳ 明朝" panose="02020609040205080304" pitchFamily="17" charset="-128"/>
            </a:endParaRPr>
          </a:p>
          <a:p>
            <a:endParaRPr kumimoji="1" lang="en-US" altLang="ja-JP" sz="2400" dirty="0">
              <a:latin typeface="ＭＳ 明朝" panose="02020609040205080304" pitchFamily="17" charset="-128"/>
              <a:ea typeface="ＭＳ 明朝" panose="02020609040205080304" pitchFamily="17" charset="-128"/>
            </a:endParaRPr>
          </a:p>
          <a:p>
            <a:endParaRPr kumimoji="1" lang="en-US" altLang="ja-JP" sz="2400" dirty="0">
              <a:latin typeface="ＭＳ 明朝" panose="02020609040205080304" pitchFamily="17" charset="-128"/>
              <a:ea typeface="ＭＳ 明朝" panose="02020609040205080304" pitchFamily="17" charset="-128"/>
            </a:endParaRPr>
          </a:p>
          <a:p>
            <a:r>
              <a:rPr kumimoji="1" lang="ja-JP" altLang="en-US" sz="2400" b="1" dirty="0">
                <a:solidFill>
                  <a:srgbClr val="00B050"/>
                </a:solidFill>
                <a:latin typeface="ＭＳ 明朝" panose="02020609040205080304" pitchFamily="17" charset="-128"/>
                <a:ea typeface="ＭＳ 明朝" panose="02020609040205080304" pitchFamily="17" charset="-128"/>
              </a:rPr>
              <a:t>仮説２</a:t>
            </a:r>
            <a:endParaRPr kumimoji="1" lang="en-US" altLang="ja-JP" sz="2400" b="1" dirty="0">
              <a:solidFill>
                <a:srgbClr val="00B050"/>
              </a:solidFill>
              <a:latin typeface="ＭＳ 明朝" panose="02020609040205080304" pitchFamily="17" charset="-128"/>
              <a:ea typeface="ＭＳ 明朝" panose="02020609040205080304" pitchFamily="17" charset="-128"/>
            </a:endParaRPr>
          </a:p>
          <a:p>
            <a:r>
              <a:rPr kumimoji="1" lang="en-US" altLang="ja-JP" sz="2400" dirty="0">
                <a:latin typeface="ＭＳ 明朝" panose="02020609040205080304" pitchFamily="17" charset="-128"/>
                <a:ea typeface="ＭＳ 明朝" panose="02020609040205080304" pitchFamily="17" charset="-128"/>
              </a:rPr>
              <a:t>DII</a:t>
            </a:r>
            <a:r>
              <a:rPr kumimoji="1" lang="ja-JP" altLang="en-US" sz="2400" dirty="0">
                <a:latin typeface="ＭＳ 明朝" panose="02020609040205080304" pitchFamily="17" charset="-128"/>
                <a:ea typeface="ＭＳ 明朝" panose="02020609040205080304" pitchFamily="17" charset="-128"/>
              </a:rPr>
              <a:t>上の不正な端末から</a:t>
            </a:r>
            <a:r>
              <a:rPr kumimoji="1" lang="en-US" altLang="ja-JP" sz="2400" dirty="0">
                <a:latin typeface="ＭＳ 明朝" panose="02020609040205080304" pitchFamily="17" charset="-128"/>
                <a:ea typeface="ＭＳ 明朝" panose="02020609040205080304" pitchFamily="17" charset="-128"/>
              </a:rPr>
              <a:t>FADP</a:t>
            </a:r>
            <a:r>
              <a:rPr kumimoji="1" lang="ja-JP" altLang="en-US" sz="2400" dirty="0">
                <a:latin typeface="ＭＳ 明朝" panose="02020609040205080304" pitchFamily="17" charset="-128"/>
                <a:ea typeface="ＭＳ 明朝" panose="02020609040205080304" pitchFamily="17" charset="-128"/>
              </a:rPr>
              <a:t>ネットワークにある仮想化サーバー２上の</a:t>
            </a:r>
            <a:r>
              <a:rPr kumimoji="1" lang="en-US" altLang="ja-JP" sz="2400" dirty="0">
                <a:latin typeface="ＭＳ 明朝" panose="02020609040205080304" pitchFamily="17" charset="-128"/>
                <a:ea typeface="ＭＳ 明朝" panose="02020609040205080304" pitchFamily="17" charset="-128"/>
              </a:rPr>
              <a:t>AD</a:t>
            </a:r>
            <a:r>
              <a:rPr kumimoji="1" lang="ja-JP" altLang="en-US" sz="2400" dirty="0">
                <a:latin typeface="ＭＳ 明朝" panose="02020609040205080304" pitchFamily="17" charset="-128"/>
                <a:ea typeface="ＭＳ 明朝" panose="02020609040205080304" pitchFamily="17" charset="-128"/>
              </a:rPr>
              <a:t>サーバから情報摂取を行いユーザー情報を摂取された。</a:t>
            </a:r>
            <a:endParaRPr kumimoji="1" lang="en-US" altLang="ja-JP" sz="2400" dirty="0">
              <a:latin typeface="ＭＳ 明朝" panose="02020609040205080304" pitchFamily="17" charset="-128"/>
              <a:ea typeface="ＭＳ 明朝" panose="02020609040205080304" pitchFamily="17" charset="-128"/>
            </a:endParaRPr>
          </a:p>
          <a:p>
            <a:endParaRPr kumimoji="1" lang="en-US" altLang="ja-JP" sz="2400" dirty="0">
              <a:latin typeface="ＭＳ 明朝" panose="02020609040205080304" pitchFamily="17" charset="-128"/>
              <a:ea typeface="ＭＳ 明朝" panose="02020609040205080304" pitchFamily="17" charset="-128"/>
            </a:endParaRPr>
          </a:p>
          <a:p>
            <a:endParaRPr kumimoji="1" lang="en-US" altLang="ja-JP" sz="2400" dirty="0">
              <a:latin typeface="ＭＳ 明朝" panose="02020609040205080304" pitchFamily="17" charset="-128"/>
              <a:ea typeface="ＭＳ 明朝" panose="02020609040205080304" pitchFamily="17" charset="-128"/>
            </a:endParaRPr>
          </a:p>
          <a:p>
            <a:r>
              <a:rPr kumimoji="1" lang="ja-JP" altLang="en-US" sz="2400" b="1" dirty="0">
                <a:solidFill>
                  <a:srgbClr val="00B050"/>
                </a:solidFill>
                <a:latin typeface="ＭＳ 明朝" panose="02020609040205080304" pitchFamily="17" charset="-128"/>
                <a:ea typeface="ＭＳ 明朝" panose="02020609040205080304" pitchFamily="17" charset="-128"/>
              </a:rPr>
              <a:t>仮説３</a:t>
            </a:r>
            <a:endParaRPr kumimoji="1" lang="en-US" altLang="ja-JP" sz="2400" b="1" dirty="0">
              <a:solidFill>
                <a:srgbClr val="00B050"/>
              </a:solidFill>
              <a:latin typeface="ＭＳ 明朝" panose="02020609040205080304" pitchFamily="17" charset="-128"/>
              <a:ea typeface="ＭＳ 明朝" panose="02020609040205080304" pitchFamily="17" charset="-128"/>
            </a:endParaRPr>
          </a:p>
          <a:p>
            <a:r>
              <a:rPr kumimoji="1" lang="en-US" altLang="ja-JP" sz="2400" dirty="0">
                <a:latin typeface="ＭＳ 明朝" panose="02020609040205080304" pitchFamily="17" charset="-128"/>
                <a:ea typeface="ＭＳ 明朝" panose="02020609040205080304" pitchFamily="17" charset="-128"/>
              </a:rPr>
              <a:t>DII</a:t>
            </a:r>
            <a:r>
              <a:rPr kumimoji="1" lang="ja-JP" altLang="en-US" sz="2400" dirty="0">
                <a:latin typeface="ＭＳ 明朝" panose="02020609040205080304" pitchFamily="17" charset="-128"/>
                <a:ea typeface="ＭＳ 明朝" panose="02020609040205080304" pitchFamily="17" charset="-128"/>
              </a:rPr>
              <a:t>上の不正な攻撃者の</a:t>
            </a:r>
            <a:r>
              <a:rPr kumimoji="1" lang="en-US" altLang="ja-JP" sz="2400" dirty="0">
                <a:latin typeface="ＭＳ 明朝" panose="02020609040205080304" pitchFamily="17" charset="-128"/>
                <a:ea typeface="ＭＳ 明朝" panose="02020609040205080304" pitchFamily="17" charset="-128"/>
              </a:rPr>
              <a:t>IP</a:t>
            </a:r>
            <a:r>
              <a:rPr kumimoji="1" lang="ja-JP" altLang="en-US" sz="2400" dirty="0">
                <a:latin typeface="ＭＳ 明朝" panose="02020609040205080304" pitchFamily="17" charset="-128"/>
                <a:ea typeface="ＭＳ 明朝" panose="02020609040205080304" pitchFamily="17" charset="-128"/>
              </a:rPr>
              <a:t>を春日のアドレスに偽装し、既知の脆弱性</a:t>
            </a:r>
            <a:r>
              <a:rPr kumimoji="1" lang="en-US" altLang="ja-JP" sz="2400" dirty="0">
                <a:latin typeface="ＭＳ 明朝" panose="02020609040205080304" pitchFamily="17" charset="-128"/>
                <a:ea typeface="ＭＳ 明朝" panose="02020609040205080304" pitchFamily="17" charset="-128"/>
              </a:rPr>
              <a:t>(</a:t>
            </a:r>
            <a:r>
              <a:rPr lang="en-US" altLang="ja-JP" sz="2400" dirty="0">
                <a:latin typeface="ＭＳ 明朝" panose="02020609040205080304" pitchFamily="17" charset="-128"/>
                <a:ea typeface="ＭＳ 明朝" panose="02020609040205080304" pitchFamily="17" charset="-128"/>
              </a:rPr>
              <a:t>CVE-2024-21591)</a:t>
            </a:r>
            <a:r>
              <a:rPr kumimoji="1" lang="ja-JP" altLang="en-US" sz="2400" dirty="0">
                <a:latin typeface="ＭＳ 明朝" panose="02020609040205080304" pitchFamily="17" charset="-128"/>
                <a:ea typeface="ＭＳ 明朝" panose="02020609040205080304" pitchFamily="17" charset="-128"/>
              </a:rPr>
              <a:t>を悪用し</a:t>
            </a:r>
            <a:r>
              <a:rPr kumimoji="1" lang="en-US" altLang="ja-JP" sz="2400" dirty="0">
                <a:latin typeface="ＭＳ 明朝" panose="02020609040205080304" pitchFamily="17" charset="-128"/>
                <a:ea typeface="ＭＳ 明朝" panose="02020609040205080304" pitchFamily="17" charset="-128"/>
              </a:rPr>
              <a:t>FACE</a:t>
            </a:r>
            <a:r>
              <a:rPr kumimoji="1" lang="ja-JP" altLang="en-US" sz="2400" dirty="0">
                <a:latin typeface="ＭＳ 明朝" panose="02020609040205080304" pitchFamily="17" charset="-128"/>
                <a:ea typeface="ＭＳ 明朝" panose="02020609040205080304" pitchFamily="17" charset="-128"/>
              </a:rPr>
              <a:t>ファイアウォールへの侵入を試み情報を改ざんされた</a:t>
            </a:r>
            <a:endParaRPr kumimoji="1" lang="en-US" altLang="ja-JP" sz="2400" dirty="0">
              <a:latin typeface="ＭＳ 明朝" panose="02020609040205080304" pitchFamily="17" charset="-128"/>
              <a:ea typeface="ＭＳ 明朝" panose="02020609040205080304" pitchFamily="17" charset="-128"/>
            </a:endParaRPr>
          </a:p>
        </p:txBody>
      </p:sp>
      <p:sp>
        <p:nvSpPr>
          <p:cNvPr id="3" name="テキスト ボックス 2">
            <a:extLst>
              <a:ext uri="{FF2B5EF4-FFF2-40B4-BE49-F238E27FC236}">
                <a16:creationId xmlns:a16="http://schemas.microsoft.com/office/drawing/2014/main" id="{1AC0A527-8DD1-427B-A2C7-635D9E5F15B7}"/>
              </a:ext>
            </a:extLst>
          </p:cNvPr>
          <p:cNvSpPr txBox="1"/>
          <p:nvPr/>
        </p:nvSpPr>
        <p:spPr>
          <a:xfrm>
            <a:off x="5080337" y="164178"/>
            <a:ext cx="1338828" cy="369332"/>
          </a:xfrm>
          <a:prstGeom prst="rect">
            <a:avLst/>
          </a:prstGeom>
          <a:noFill/>
        </p:spPr>
        <p:txBody>
          <a:bodyPr wrap="none" rtlCol="0">
            <a:spAutoFit/>
          </a:bodyPr>
          <a:lstStyle/>
          <a:p>
            <a:r>
              <a:rPr kumimoji="1" lang="ja-JP" altLang="en-US" dirty="0">
                <a:latin typeface="ＭＳ 明朝" panose="02020609040205080304" pitchFamily="17" charset="-128"/>
                <a:ea typeface="ＭＳ 明朝" panose="02020609040205080304" pitchFamily="17" charset="-128"/>
              </a:rPr>
              <a:t>侵入経路１</a:t>
            </a:r>
          </a:p>
        </p:txBody>
      </p:sp>
    </p:spTree>
    <p:extLst>
      <p:ext uri="{BB962C8B-B14F-4D97-AF65-F5344CB8AC3E}">
        <p14:creationId xmlns:p14="http://schemas.microsoft.com/office/powerpoint/2010/main" val="3816616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219589B-E704-411B-AE52-524793F02BDC}"/>
              </a:ext>
            </a:extLst>
          </p:cNvPr>
          <p:cNvSpPr txBox="1"/>
          <p:nvPr/>
        </p:nvSpPr>
        <p:spPr>
          <a:xfrm>
            <a:off x="4323346" y="2579566"/>
            <a:ext cx="3276859" cy="1323439"/>
          </a:xfrm>
          <a:prstGeom prst="rect">
            <a:avLst/>
          </a:prstGeom>
          <a:noFill/>
        </p:spPr>
        <p:txBody>
          <a:bodyPr wrap="none" rtlCol="0">
            <a:spAutoFit/>
          </a:bodyPr>
          <a:lstStyle/>
          <a:p>
            <a:pPr algn="ctr"/>
            <a:r>
              <a:rPr kumimoji="1" lang="ja-JP" altLang="en-US" sz="8000" b="1" dirty="0">
                <a:latin typeface="ＭＳ 明朝" panose="02020609040205080304" pitchFamily="17" charset="-128"/>
                <a:ea typeface="ＭＳ 明朝" panose="02020609040205080304" pitchFamily="17" charset="-128"/>
              </a:rPr>
              <a:t>仮説１</a:t>
            </a:r>
          </a:p>
        </p:txBody>
      </p:sp>
    </p:spTree>
    <p:extLst>
      <p:ext uri="{BB962C8B-B14F-4D97-AF65-F5344CB8AC3E}">
        <p14:creationId xmlns:p14="http://schemas.microsoft.com/office/powerpoint/2010/main" val="2891764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DDBC902D-587E-416C-A7FF-D09F7D5B9B34}"/>
              </a:ext>
            </a:extLst>
          </p:cNvPr>
          <p:cNvSpPr/>
          <p:nvPr/>
        </p:nvSpPr>
        <p:spPr>
          <a:xfrm>
            <a:off x="1449897" y="788307"/>
            <a:ext cx="9292205" cy="646331"/>
          </a:xfrm>
          <a:prstGeom prst="rect">
            <a:avLst/>
          </a:prstGeom>
        </p:spPr>
        <p:txBody>
          <a:bodyPr wrap="square">
            <a:spAutoFit/>
          </a:bodyPr>
          <a:lstStyle/>
          <a:p>
            <a:r>
              <a:rPr lang="ja-JP" altLang="en-US" dirty="0">
                <a:latin typeface="ＭＳ 明朝" panose="02020609040205080304" pitchFamily="17" charset="-128"/>
                <a:ea typeface="ＭＳ 明朝" panose="02020609040205080304" pitchFamily="17" charset="-128"/>
              </a:rPr>
              <a:t>仮説１：</a:t>
            </a:r>
            <a:r>
              <a:rPr lang="en-US" altLang="ja-JP" dirty="0">
                <a:latin typeface="ＭＳ 明朝" panose="02020609040205080304" pitchFamily="17" charset="-128"/>
                <a:ea typeface="ＭＳ 明朝" panose="02020609040205080304" pitchFamily="17" charset="-128"/>
              </a:rPr>
              <a:t>DII</a:t>
            </a:r>
            <a:r>
              <a:rPr lang="ja-JP" altLang="en-US" dirty="0">
                <a:latin typeface="ＭＳ 明朝" panose="02020609040205080304" pitchFamily="17" charset="-128"/>
                <a:ea typeface="ＭＳ 明朝" panose="02020609040205080304" pitchFamily="17" charset="-128"/>
              </a:rPr>
              <a:t>上の不正な端末から</a:t>
            </a:r>
            <a:r>
              <a:rPr lang="en-US" altLang="ja-JP" dirty="0">
                <a:latin typeface="ＭＳ 明朝" panose="02020609040205080304" pitchFamily="17" charset="-128"/>
                <a:ea typeface="ＭＳ 明朝" panose="02020609040205080304" pitchFamily="17" charset="-128"/>
              </a:rPr>
              <a:t>FADP</a:t>
            </a:r>
            <a:r>
              <a:rPr lang="ja-JP" altLang="en-US" dirty="0">
                <a:latin typeface="ＭＳ 明朝" panose="02020609040205080304" pitchFamily="17" charset="-128"/>
                <a:ea typeface="ＭＳ 明朝" panose="02020609040205080304" pitchFamily="17" charset="-128"/>
              </a:rPr>
              <a:t>ネットワークにある連接試験用端末</a:t>
            </a:r>
            <a:r>
              <a:rPr lang="en-US" altLang="ja-JP" dirty="0">
                <a:latin typeface="ＭＳ 明朝" panose="02020609040205080304" pitchFamily="17" charset="-128"/>
                <a:ea typeface="ＭＳ 明朝" panose="02020609040205080304" pitchFamily="17" charset="-128"/>
              </a:rPr>
              <a:t>(</a:t>
            </a:r>
            <a:r>
              <a:rPr lang="ja-JP" altLang="en-US" dirty="0">
                <a:latin typeface="ＭＳ 明朝" panose="02020609040205080304" pitchFamily="17" charset="-128"/>
                <a:ea typeface="ＭＳ 明朝" panose="02020609040205080304" pitchFamily="17" charset="-128"/>
              </a:rPr>
              <a:t>タイプ</a:t>
            </a:r>
            <a:r>
              <a:rPr lang="en-US" altLang="ja-JP" dirty="0">
                <a:latin typeface="ＭＳ 明朝" panose="02020609040205080304" pitchFamily="17" charset="-128"/>
                <a:ea typeface="ＭＳ 明朝" panose="02020609040205080304" pitchFamily="17" charset="-128"/>
              </a:rPr>
              <a:t>A</a:t>
            </a:r>
            <a:r>
              <a:rPr lang="ja-JP" altLang="en-US" dirty="0">
                <a:latin typeface="ＭＳ 明朝" panose="02020609040205080304" pitchFamily="17" charset="-128"/>
                <a:ea typeface="ＭＳ 明朝" panose="02020609040205080304" pitchFamily="17" charset="-128"/>
              </a:rPr>
              <a:t>）に</a:t>
            </a:r>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　　　　侵入を試みて侵入後にさらに内部ネットワークを侵食された。</a:t>
            </a:r>
            <a:endParaRPr lang="en-US" altLang="ja-JP" dirty="0">
              <a:latin typeface="ＭＳ 明朝" panose="02020609040205080304" pitchFamily="17" charset="-128"/>
              <a:ea typeface="ＭＳ 明朝" panose="02020609040205080304" pitchFamily="17" charset="-128"/>
            </a:endParaRPr>
          </a:p>
        </p:txBody>
      </p:sp>
      <p:pic>
        <p:nvPicPr>
          <p:cNvPr id="13" name="図 12">
            <a:extLst>
              <a:ext uri="{FF2B5EF4-FFF2-40B4-BE49-F238E27FC236}">
                <a16:creationId xmlns:a16="http://schemas.microsoft.com/office/drawing/2014/main" id="{451F6C48-9B35-46FF-B32F-5C13A16D88FA}"/>
              </a:ext>
            </a:extLst>
          </p:cNvPr>
          <p:cNvPicPr>
            <a:picLocks noChangeAspect="1"/>
          </p:cNvPicPr>
          <p:nvPr/>
        </p:nvPicPr>
        <p:blipFill>
          <a:blip r:embed="rId2"/>
          <a:stretch>
            <a:fillRect/>
          </a:stretch>
        </p:blipFill>
        <p:spPr>
          <a:xfrm>
            <a:off x="2317288" y="1514143"/>
            <a:ext cx="7760686" cy="5005537"/>
          </a:xfrm>
          <a:prstGeom prst="rect">
            <a:avLst/>
          </a:prstGeom>
          <a:ln>
            <a:solidFill>
              <a:schemeClr val="tx1"/>
            </a:solidFill>
          </a:ln>
        </p:spPr>
      </p:pic>
      <p:sp>
        <p:nvSpPr>
          <p:cNvPr id="14" name="楕円 13">
            <a:extLst>
              <a:ext uri="{FF2B5EF4-FFF2-40B4-BE49-F238E27FC236}">
                <a16:creationId xmlns:a16="http://schemas.microsoft.com/office/drawing/2014/main" id="{095686D9-B571-4709-AB05-5CBB5A1ABD79}"/>
              </a:ext>
            </a:extLst>
          </p:cNvPr>
          <p:cNvSpPr/>
          <p:nvPr/>
        </p:nvSpPr>
        <p:spPr>
          <a:xfrm>
            <a:off x="4706224" y="4962837"/>
            <a:ext cx="570452" cy="52011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矢印: 下 15">
            <a:extLst>
              <a:ext uri="{FF2B5EF4-FFF2-40B4-BE49-F238E27FC236}">
                <a16:creationId xmlns:a16="http://schemas.microsoft.com/office/drawing/2014/main" id="{7FA3FBBA-527A-46E0-92EA-EC2DC4A4A1EC}"/>
              </a:ext>
            </a:extLst>
          </p:cNvPr>
          <p:cNvSpPr/>
          <p:nvPr/>
        </p:nvSpPr>
        <p:spPr>
          <a:xfrm flipH="1">
            <a:off x="3261672" y="2088158"/>
            <a:ext cx="239975" cy="1114454"/>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矢印: 下 16">
            <a:extLst>
              <a:ext uri="{FF2B5EF4-FFF2-40B4-BE49-F238E27FC236}">
                <a16:creationId xmlns:a16="http://schemas.microsoft.com/office/drawing/2014/main" id="{CCD7314F-C385-4EEB-B48E-755FF13F11F7}"/>
              </a:ext>
            </a:extLst>
          </p:cNvPr>
          <p:cNvSpPr/>
          <p:nvPr/>
        </p:nvSpPr>
        <p:spPr>
          <a:xfrm rot="19270022">
            <a:off x="4012176" y="3099550"/>
            <a:ext cx="251597" cy="2006102"/>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矢印: 下 18">
            <a:extLst>
              <a:ext uri="{FF2B5EF4-FFF2-40B4-BE49-F238E27FC236}">
                <a16:creationId xmlns:a16="http://schemas.microsoft.com/office/drawing/2014/main" id="{309EB36B-A220-49CB-ABBA-0AFD9A873586}"/>
              </a:ext>
            </a:extLst>
          </p:cNvPr>
          <p:cNvSpPr/>
          <p:nvPr/>
        </p:nvSpPr>
        <p:spPr>
          <a:xfrm rot="5400000" flipH="1">
            <a:off x="4017986" y="1398374"/>
            <a:ext cx="239975" cy="1246981"/>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図 19">
            <a:extLst>
              <a:ext uri="{FF2B5EF4-FFF2-40B4-BE49-F238E27FC236}">
                <a16:creationId xmlns:a16="http://schemas.microsoft.com/office/drawing/2014/main" id="{060E7928-1B4F-4533-B0F0-7A2296E4FFD9}"/>
              </a:ext>
            </a:extLst>
          </p:cNvPr>
          <p:cNvPicPr>
            <a:picLocks noChangeAspect="1"/>
          </p:cNvPicPr>
          <p:nvPr/>
        </p:nvPicPr>
        <p:blipFill>
          <a:blip r:embed="rId3"/>
          <a:stretch>
            <a:fillRect/>
          </a:stretch>
        </p:blipFill>
        <p:spPr>
          <a:xfrm>
            <a:off x="4814600" y="1858951"/>
            <a:ext cx="543740" cy="354108"/>
          </a:xfrm>
          <a:prstGeom prst="rect">
            <a:avLst/>
          </a:prstGeom>
          <a:ln>
            <a:solidFill>
              <a:schemeClr val="tx1"/>
            </a:solidFill>
          </a:ln>
        </p:spPr>
      </p:pic>
      <p:sp>
        <p:nvSpPr>
          <p:cNvPr id="21" name="テキスト ボックス 20">
            <a:extLst>
              <a:ext uri="{FF2B5EF4-FFF2-40B4-BE49-F238E27FC236}">
                <a16:creationId xmlns:a16="http://schemas.microsoft.com/office/drawing/2014/main" id="{06DFA6FD-A31D-40EC-935E-6424358F0B06}"/>
              </a:ext>
            </a:extLst>
          </p:cNvPr>
          <p:cNvSpPr txBox="1"/>
          <p:nvPr/>
        </p:nvSpPr>
        <p:spPr>
          <a:xfrm>
            <a:off x="5457315" y="4513662"/>
            <a:ext cx="4416594" cy="1200329"/>
          </a:xfrm>
          <a:prstGeom prst="rect">
            <a:avLst/>
          </a:prstGeom>
          <a:solidFill>
            <a:schemeClr val="bg1"/>
          </a:solidFill>
          <a:ln>
            <a:solidFill>
              <a:schemeClr val="tx1"/>
            </a:solidFill>
          </a:ln>
        </p:spPr>
        <p:txBody>
          <a:bodyPr wrap="none" rtlCol="0">
            <a:spAutoFit/>
          </a:bodyPr>
          <a:lstStyle/>
          <a:p>
            <a:r>
              <a:rPr kumimoji="1" lang="ja-JP" altLang="en-US" sz="1200" dirty="0">
                <a:latin typeface="ＭＳ 明朝" panose="02020609040205080304" pitchFamily="17" charset="-128"/>
                <a:ea typeface="ＭＳ 明朝" panose="02020609040205080304" pitchFamily="17" charset="-128"/>
              </a:rPr>
              <a:t>連接試験用端末（タイプ</a:t>
            </a:r>
            <a:r>
              <a:rPr kumimoji="1" lang="en-US" altLang="ja-JP" sz="1200" dirty="0">
                <a:latin typeface="ＭＳ 明朝" panose="02020609040205080304" pitchFamily="17" charset="-128"/>
                <a:ea typeface="ＭＳ 明朝" panose="02020609040205080304" pitchFamily="17" charset="-128"/>
              </a:rPr>
              <a:t>A)</a:t>
            </a:r>
          </a:p>
          <a:p>
            <a:r>
              <a:rPr lang="en-US" altLang="ja-JP" sz="1200" dirty="0">
                <a:latin typeface="ＭＳ 明朝" panose="02020609040205080304" pitchFamily="17" charset="-128"/>
                <a:ea typeface="ＭＳ 明朝" panose="02020609040205080304" pitchFamily="17" charset="-128"/>
              </a:rPr>
              <a:t>Microsoft Windows 10 Enterprise 2019 LTSC</a:t>
            </a:r>
          </a:p>
          <a:p>
            <a:endParaRPr lang="en-US" altLang="ja-JP" sz="1200" dirty="0">
              <a:latin typeface="ＭＳ 明朝" panose="02020609040205080304" pitchFamily="17" charset="-128"/>
              <a:ea typeface="ＭＳ 明朝" panose="02020609040205080304" pitchFamily="17" charset="-128"/>
            </a:endParaRPr>
          </a:p>
          <a:p>
            <a:r>
              <a:rPr lang="ja-JP" altLang="en-US" sz="1200" dirty="0">
                <a:latin typeface="ＭＳ 明朝" panose="02020609040205080304" pitchFamily="17" charset="-128"/>
                <a:ea typeface="ＭＳ 明朝" panose="02020609040205080304" pitchFamily="17" charset="-128"/>
              </a:rPr>
              <a:t>連接試験において、試験内容に応じた試験データの</a:t>
            </a:r>
            <a:endParaRPr lang="en-US" altLang="ja-JP" sz="1200" dirty="0">
              <a:latin typeface="ＭＳ 明朝" panose="02020609040205080304" pitchFamily="17" charset="-128"/>
              <a:ea typeface="ＭＳ 明朝" panose="02020609040205080304" pitchFamily="17" charset="-128"/>
            </a:endParaRPr>
          </a:p>
          <a:p>
            <a:r>
              <a:rPr lang="ja-JP" altLang="en-US" sz="1200" dirty="0">
                <a:latin typeface="ＭＳ 明朝" panose="02020609040205080304" pitchFamily="17" charset="-128"/>
                <a:ea typeface="ＭＳ 明朝" panose="02020609040205080304" pitchFamily="17" charset="-128"/>
              </a:rPr>
              <a:t>入出力確認用として使用するとともに</a:t>
            </a:r>
            <a:r>
              <a:rPr lang="en-US" altLang="ja-JP" sz="1200" dirty="0">
                <a:latin typeface="ＭＳ 明朝" panose="02020609040205080304" pitchFamily="17" charset="-128"/>
                <a:ea typeface="ＭＳ 明朝" panose="02020609040205080304" pitchFamily="17" charset="-128"/>
              </a:rPr>
              <a:t>GIS</a:t>
            </a:r>
            <a:r>
              <a:rPr lang="ja-JP" altLang="en-US" sz="1200" dirty="0">
                <a:latin typeface="ＭＳ 明朝" panose="02020609040205080304" pitchFamily="17" charset="-128"/>
                <a:ea typeface="ＭＳ 明朝" panose="02020609040205080304" pitchFamily="17" charset="-128"/>
              </a:rPr>
              <a:t>に対応した</a:t>
            </a:r>
            <a:endParaRPr lang="en-US" altLang="ja-JP" sz="1200" dirty="0">
              <a:latin typeface="ＭＳ 明朝" panose="02020609040205080304" pitchFamily="17" charset="-128"/>
              <a:ea typeface="ＭＳ 明朝" panose="02020609040205080304" pitchFamily="17" charset="-128"/>
            </a:endParaRPr>
          </a:p>
          <a:p>
            <a:r>
              <a:rPr lang="ja-JP" altLang="en-US" sz="1200" dirty="0">
                <a:latin typeface="ＭＳ 明朝" panose="02020609040205080304" pitchFamily="17" charset="-128"/>
                <a:ea typeface="ＭＳ 明朝" panose="02020609040205080304" pitchFamily="17" charset="-128"/>
              </a:rPr>
              <a:t>地図を表示するまた、端末部</a:t>
            </a:r>
            <a:r>
              <a:rPr lang="en-US" altLang="ja-JP" sz="1200" dirty="0">
                <a:latin typeface="ＭＳ 明朝" panose="02020609040205080304" pitchFamily="17" charset="-128"/>
                <a:ea typeface="ＭＳ 明朝" panose="02020609040205080304" pitchFamily="17" charset="-128"/>
              </a:rPr>
              <a:t>(FACE</a:t>
            </a:r>
            <a:r>
              <a:rPr lang="ja-JP" altLang="en-US" sz="1200" dirty="0">
                <a:latin typeface="ＭＳ 明朝" panose="02020609040205080304" pitchFamily="17" charset="-128"/>
                <a:ea typeface="ＭＳ 明朝" panose="02020609040205080304" pitchFamily="17" charset="-128"/>
              </a:rPr>
              <a:t>対向用）の機能を有する。</a:t>
            </a:r>
          </a:p>
        </p:txBody>
      </p:sp>
      <p:sp>
        <p:nvSpPr>
          <p:cNvPr id="10" name="矢印: 下 9">
            <a:extLst>
              <a:ext uri="{FF2B5EF4-FFF2-40B4-BE49-F238E27FC236}">
                <a16:creationId xmlns:a16="http://schemas.microsoft.com/office/drawing/2014/main" id="{807C054B-03B6-4F00-908A-0618C1B52096}"/>
              </a:ext>
            </a:extLst>
          </p:cNvPr>
          <p:cNvSpPr/>
          <p:nvPr/>
        </p:nvSpPr>
        <p:spPr>
          <a:xfrm rot="11945667">
            <a:off x="5047230" y="3938225"/>
            <a:ext cx="251597" cy="101128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14097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28C43062-54B4-4B00-BAE4-40999FE2A1E5}"/>
              </a:ext>
            </a:extLst>
          </p:cNvPr>
          <p:cNvPicPr>
            <a:picLocks noChangeAspect="1"/>
          </p:cNvPicPr>
          <p:nvPr/>
        </p:nvPicPr>
        <p:blipFill>
          <a:blip r:embed="rId2"/>
          <a:stretch>
            <a:fillRect/>
          </a:stretch>
        </p:blipFill>
        <p:spPr>
          <a:xfrm>
            <a:off x="7700726" y="2401080"/>
            <a:ext cx="652223" cy="521778"/>
          </a:xfrm>
          <a:prstGeom prst="rect">
            <a:avLst/>
          </a:prstGeom>
        </p:spPr>
      </p:pic>
      <p:sp>
        <p:nvSpPr>
          <p:cNvPr id="2" name="タイトル 1">
            <a:extLst>
              <a:ext uri="{FF2B5EF4-FFF2-40B4-BE49-F238E27FC236}">
                <a16:creationId xmlns:a16="http://schemas.microsoft.com/office/drawing/2014/main" id="{83F14949-9CE5-45BE-BC5D-3300EEEA9F1F}"/>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構成図（簡略化）想定侵入経路</a:t>
            </a:r>
          </a:p>
        </p:txBody>
      </p:sp>
      <p:cxnSp>
        <p:nvCxnSpPr>
          <p:cNvPr id="3" name="直線コネクタ 2">
            <a:extLst>
              <a:ext uri="{FF2B5EF4-FFF2-40B4-BE49-F238E27FC236}">
                <a16:creationId xmlns:a16="http://schemas.microsoft.com/office/drawing/2014/main" id="{85C36197-3526-4A6D-8E36-9C0A7CAB5B5F}"/>
              </a:ext>
            </a:extLst>
          </p:cNvPr>
          <p:cNvCxnSpPr>
            <a:cxnSpLocks/>
          </p:cNvCxnSpPr>
          <p:nvPr/>
        </p:nvCxnSpPr>
        <p:spPr>
          <a:xfrm>
            <a:off x="3886116" y="927651"/>
            <a:ext cx="0" cy="15320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00452DCD-78B9-40D6-8578-DFF3494CB6BD}"/>
              </a:ext>
            </a:extLst>
          </p:cNvPr>
          <p:cNvSpPr txBox="1"/>
          <p:nvPr/>
        </p:nvSpPr>
        <p:spPr>
          <a:xfrm>
            <a:off x="3275276"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5" name="テキスト ボックス 4">
            <a:extLst>
              <a:ext uri="{FF2B5EF4-FFF2-40B4-BE49-F238E27FC236}">
                <a16:creationId xmlns:a16="http://schemas.microsoft.com/office/drawing/2014/main" id="{EC25BA71-091D-4C25-9737-3F7773015E44}"/>
              </a:ext>
            </a:extLst>
          </p:cNvPr>
          <p:cNvSpPr txBox="1"/>
          <p:nvPr/>
        </p:nvSpPr>
        <p:spPr>
          <a:xfrm>
            <a:off x="3275274" y="1919635"/>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6" name="雲 5">
            <a:extLst>
              <a:ext uri="{FF2B5EF4-FFF2-40B4-BE49-F238E27FC236}">
                <a16:creationId xmlns:a16="http://schemas.microsoft.com/office/drawing/2014/main" id="{B7BC6461-E36C-4433-8B9D-40B66271D6B7}"/>
              </a:ext>
            </a:extLst>
          </p:cNvPr>
          <p:cNvSpPr/>
          <p:nvPr/>
        </p:nvSpPr>
        <p:spPr>
          <a:xfrm>
            <a:off x="3061355" y="742689"/>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latin typeface="ＭＳ 明朝" panose="02020609040205080304" pitchFamily="17" charset="-128"/>
                <a:ea typeface="ＭＳ 明朝" panose="02020609040205080304" pitchFamily="17" charset="-128"/>
              </a:rPr>
              <a:t>DII</a:t>
            </a:r>
            <a:endParaRPr kumimoji="1" lang="ja-JP" altLang="en-US" sz="2800" dirty="0">
              <a:solidFill>
                <a:schemeClr val="tx1"/>
              </a:solidFill>
              <a:latin typeface="ＭＳ 明朝" panose="02020609040205080304" pitchFamily="17" charset="-128"/>
              <a:ea typeface="ＭＳ 明朝" panose="02020609040205080304" pitchFamily="17" charset="-128"/>
            </a:endParaRPr>
          </a:p>
        </p:txBody>
      </p:sp>
      <p:cxnSp>
        <p:nvCxnSpPr>
          <p:cNvPr id="7" name="直線コネクタ 6">
            <a:extLst>
              <a:ext uri="{FF2B5EF4-FFF2-40B4-BE49-F238E27FC236}">
                <a16:creationId xmlns:a16="http://schemas.microsoft.com/office/drawing/2014/main" id="{CF691258-08DC-41C9-A8A7-F893C0F6DFB0}"/>
              </a:ext>
            </a:extLst>
          </p:cNvPr>
          <p:cNvCxnSpPr>
            <a:cxnSpLocks/>
            <a:endCxn id="16" idx="0"/>
          </p:cNvCxnSpPr>
          <p:nvPr/>
        </p:nvCxnSpPr>
        <p:spPr>
          <a:xfrm>
            <a:off x="8001671" y="818919"/>
            <a:ext cx="0" cy="1582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6A1A08AD-7D7D-4CF7-8D75-DD26E2D3B442}"/>
              </a:ext>
            </a:extLst>
          </p:cNvPr>
          <p:cNvSpPr txBox="1"/>
          <p:nvPr/>
        </p:nvSpPr>
        <p:spPr>
          <a:xfrm>
            <a:off x="7389772"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9" name="テキスト ボックス 8">
            <a:extLst>
              <a:ext uri="{FF2B5EF4-FFF2-40B4-BE49-F238E27FC236}">
                <a16:creationId xmlns:a16="http://schemas.microsoft.com/office/drawing/2014/main" id="{6CD33659-78AC-4077-B2F4-810748427629}"/>
              </a:ext>
            </a:extLst>
          </p:cNvPr>
          <p:cNvSpPr txBox="1"/>
          <p:nvPr/>
        </p:nvSpPr>
        <p:spPr>
          <a:xfrm>
            <a:off x="7389772" y="1905114"/>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10" name="雲 9">
            <a:extLst>
              <a:ext uri="{FF2B5EF4-FFF2-40B4-BE49-F238E27FC236}">
                <a16:creationId xmlns:a16="http://schemas.microsoft.com/office/drawing/2014/main" id="{6CC9B7F5-56AE-497C-9C72-F4F0AEDE82EA}"/>
              </a:ext>
            </a:extLst>
          </p:cNvPr>
          <p:cNvSpPr/>
          <p:nvPr/>
        </p:nvSpPr>
        <p:spPr>
          <a:xfrm>
            <a:off x="7125331" y="763685"/>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latin typeface="ＭＳ 明朝" panose="02020609040205080304" pitchFamily="17" charset="-128"/>
                <a:ea typeface="ＭＳ 明朝" panose="02020609040205080304" pitchFamily="17" charset="-128"/>
              </a:rPr>
              <a:t>FACE</a:t>
            </a:r>
            <a:endParaRPr kumimoji="1" lang="ja-JP" altLang="en-US" sz="2000" dirty="0">
              <a:solidFill>
                <a:schemeClr val="tx1"/>
              </a:solidFill>
              <a:latin typeface="ＭＳ 明朝" panose="02020609040205080304" pitchFamily="17" charset="-128"/>
              <a:ea typeface="ＭＳ 明朝" panose="02020609040205080304" pitchFamily="17" charset="-128"/>
            </a:endParaRPr>
          </a:p>
        </p:txBody>
      </p:sp>
      <p:sp>
        <p:nvSpPr>
          <p:cNvPr id="11" name="四角形: 角を丸くする 10">
            <a:extLst>
              <a:ext uri="{FF2B5EF4-FFF2-40B4-BE49-F238E27FC236}">
                <a16:creationId xmlns:a16="http://schemas.microsoft.com/office/drawing/2014/main" id="{DB0BA2E2-1F40-4C6B-B933-FDE65682BEC2}"/>
              </a:ext>
            </a:extLst>
          </p:cNvPr>
          <p:cNvSpPr/>
          <p:nvPr/>
        </p:nvSpPr>
        <p:spPr>
          <a:xfrm>
            <a:off x="75501" y="3089002"/>
            <a:ext cx="11848985" cy="173791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cxnSp>
        <p:nvCxnSpPr>
          <p:cNvPr id="12" name="直線コネクタ 11">
            <a:extLst>
              <a:ext uri="{FF2B5EF4-FFF2-40B4-BE49-F238E27FC236}">
                <a16:creationId xmlns:a16="http://schemas.microsoft.com/office/drawing/2014/main" id="{8A661DE9-3345-4EAF-83D5-0F8B6FED7CF3}"/>
              </a:ext>
            </a:extLst>
          </p:cNvPr>
          <p:cNvCxnSpPr>
            <a:cxnSpLocks/>
          </p:cNvCxnSpPr>
          <p:nvPr/>
        </p:nvCxnSpPr>
        <p:spPr>
          <a:xfrm>
            <a:off x="1335663" y="2609568"/>
            <a:ext cx="0" cy="7873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FBA80E60-4CD5-445F-922E-9CF18E62EA7B}"/>
              </a:ext>
            </a:extLst>
          </p:cNvPr>
          <p:cNvPicPr>
            <a:picLocks noChangeAspect="1"/>
          </p:cNvPicPr>
          <p:nvPr/>
        </p:nvPicPr>
        <p:blipFill>
          <a:blip r:embed="rId3"/>
          <a:stretch>
            <a:fillRect/>
          </a:stretch>
        </p:blipFill>
        <p:spPr>
          <a:xfrm>
            <a:off x="374164" y="5285486"/>
            <a:ext cx="1018590" cy="533467"/>
          </a:xfrm>
          <a:prstGeom prst="rect">
            <a:avLst/>
          </a:prstGeom>
          <a:ln>
            <a:solidFill>
              <a:schemeClr val="tx1"/>
            </a:solidFill>
          </a:ln>
        </p:spPr>
      </p:pic>
      <p:sp>
        <p:nvSpPr>
          <p:cNvPr id="31" name="正方形/長方形 30">
            <a:extLst>
              <a:ext uri="{FF2B5EF4-FFF2-40B4-BE49-F238E27FC236}">
                <a16:creationId xmlns:a16="http://schemas.microsoft.com/office/drawing/2014/main" id="{A8D3E06E-AEAD-471E-BD06-F50DE5DFB7F0}"/>
              </a:ext>
            </a:extLst>
          </p:cNvPr>
          <p:cNvSpPr/>
          <p:nvPr/>
        </p:nvSpPr>
        <p:spPr>
          <a:xfrm>
            <a:off x="75501" y="5123219"/>
            <a:ext cx="1543574" cy="8824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65CEA6ED-A402-4E96-B3DB-3C991B32552A}"/>
              </a:ext>
            </a:extLst>
          </p:cNvPr>
          <p:cNvSpPr txBox="1"/>
          <p:nvPr/>
        </p:nvSpPr>
        <p:spPr>
          <a:xfrm>
            <a:off x="161641" y="4896575"/>
            <a:ext cx="543739" cy="307777"/>
          </a:xfrm>
          <a:prstGeom prst="rect">
            <a:avLst/>
          </a:prstGeom>
          <a:solidFill>
            <a:schemeClr val="bg1"/>
          </a:solidFill>
          <a:ln>
            <a:noFill/>
          </a:ln>
        </p:spPr>
        <p:txBody>
          <a:bodyPr wrap="none" rtlCol="0">
            <a:spAutoFit/>
          </a:bodyPr>
          <a:lstStyle/>
          <a:p>
            <a:pPr algn="l"/>
            <a:r>
              <a:rPr kumimoji="1" lang="ja-JP" altLang="en-US" sz="1400" dirty="0">
                <a:latin typeface="ＭＳ 明朝" panose="02020609040205080304" pitchFamily="17" charset="-128"/>
                <a:ea typeface="ＭＳ 明朝" panose="02020609040205080304" pitchFamily="17" charset="-128"/>
              </a:rPr>
              <a:t>米軍</a:t>
            </a:r>
          </a:p>
        </p:txBody>
      </p:sp>
      <p:sp>
        <p:nvSpPr>
          <p:cNvPr id="34" name="テキスト ボックス 33">
            <a:extLst>
              <a:ext uri="{FF2B5EF4-FFF2-40B4-BE49-F238E27FC236}">
                <a16:creationId xmlns:a16="http://schemas.microsoft.com/office/drawing/2014/main" id="{B760DD94-3933-4209-B2D4-19C8C4A5B9B0}"/>
              </a:ext>
            </a:extLst>
          </p:cNvPr>
          <p:cNvSpPr txBox="1"/>
          <p:nvPr/>
        </p:nvSpPr>
        <p:spPr>
          <a:xfrm>
            <a:off x="58947" y="4012920"/>
            <a:ext cx="889987" cy="261610"/>
          </a:xfrm>
          <a:prstGeom prst="rect">
            <a:avLst/>
          </a:prstGeom>
          <a:noFill/>
          <a:ln>
            <a:noFill/>
          </a:ln>
        </p:spPr>
        <p:txBody>
          <a:bodyPr wrap="none" rtlCol="0">
            <a:spAutoFit/>
          </a:bodyPr>
          <a:lstStyle/>
          <a:p>
            <a:pPr algn="l"/>
            <a:r>
              <a:rPr kumimoji="1" lang="en-US" altLang="ja-JP" sz="1050" dirty="0">
                <a:latin typeface="+mn-ea"/>
              </a:rPr>
              <a:t>Port25,110</a:t>
            </a:r>
            <a:endParaRPr kumimoji="1" lang="ja-JP" altLang="en-US" sz="1050" dirty="0">
              <a:latin typeface="+mn-ea"/>
            </a:endParaRPr>
          </a:p>
        </p:txBody>
      </p:sp>
      <p:sp>
        <p:nvSpPr>
          <p:cNvPr id="35" name="テキスト ボックス 34">
            <a:extLst>
              <a:ext uri="{FF2B5EF4-FFF2-40B4-BE49-F238E27FC236}">
                <a16:creationId xmlns:a16="http://schemas.microsoft.com/office/drawing/2014/main" id="{1D246377-8A78-4E80-8831-706850A89F1A}"/>
              </a:ext>
            </a:extLst>
          </p:cNvPr>
          <p:cNvSpPr txBox="1"/>
          <p:nvPr/>
        </p:nvSpPr>
        <p:spPr>
          <a:xfrm>
            <a:off x="2506685" y="2903692"/>
            <a:ext cx="543739" cy="307777"/>
          </a:xfrm>
          <a:prstGeom prst="rect">
            <a:avLst/>
          </a:prstGeom>
          <a:solidFill>
            <a:schemeClr val="bg1"/>
          </a:solidFill>
          <a:ln>
            <a:noFill/>
          </a:ln>
        </p:spPr>
        <p:txBody>
          <a:bodyPr wrap="none" rtlCol="0">
            <a:spAutoFit/>
          </a:bodyPr>
          <a:lstStyle/>
          <a:p>
            <a:pPr algn="l"/>
            <a:r>
              <a:rPr lang="en-US" altLang="ja-JP" sz="1400" dirty="0">
                <a:latin typeface="ＭＳ 明朝" panose="02020609040205080304" pitchFamily="17" charset="-128"/>
                <a:ea typeface="ＭＳ 明朝" panose="02020609040205080304" pitchFamily="17" charset="-128"/>
              </a:rPr>
              <a:t>FADP</a:t>
            </a:r>
            <a:endParaRPr kumimoji="1" lang="ja-JP" altLang="en-US" sz="1400" dirty="0">
              <a:latin typeface="ＭＳ 明朝" panose="02020609040205080304" pitchFamily="17" charset="-128"/>
              <a:ea typeface="ＭＳ 明朝" panose="02020609040205080304" pitchFamily="17" charset="-128"/>
            </a:endParaRPr>
          </a:p>
        </p:txBody>
      </p:sp>
      <p:pic>
        <p:nvPicPr>
          <p:cNvPr id="15" name="図 14">
            <a:extLst>
              <a:ext uri="{FF2B5EF4-FFF2-40B4-BE49-F238E27FC236}">
                <a16:creationId xmlns:a16="http://schemas.microsoft.com/office/drawing/2014/main" id="{0CA186C7-2BB3-4F6A-B059-DC99BB4FD52B}"/>
              </a:ext>
            </a:extLst>
          </p:cNvPr>
          <p:cNvPicPr>
            <a:picLocks noChangeAspect="1"/>
          </p:cNvPicPr>
          <p:nvPr/>
        </p:nvPicPr>
        <p:blipFill>
          <a:blip r:embed="rId2"/>
          <a:stretch>
            <a:fillRect/>
          </a:stretch>
        </p:blipFill>
        <p:spPr>
          <a:xfrm>
            <a:off x="3611894" y="2425437"/>
            <a:ext cx="652223" cy="521778"/>
          </a:xfrm>
          <a:prstGeom prst="rect">
            <a:avLst/>
          </a:prstGeom>
        </p:spPr>
      </p:pic>
      <p:cxnSp>
        <p:nvCxnSpPr>
          <p:cNvPr id="17" name="直線コネクタ 16">
            <a:extLst>
              <a:ext uri="{FF2B5EF4-FFF2-40B4-BE49-F238E27FC236}">
                <a16:creationId xmlns:a16="http://schemas.microsoft.com/office/drawing/2014/main" id="{F16B25B4-DA9B-4C25-9F25-074B7E828687}"/>
              </a:ext>
            </a:extLst>
          </p:cNvPr>
          <p:cNvCxnSpPr>
            <a:cxnSpLocks/>
          </p:cNvCxnSpPr>
          <p:nvPr/>
        </p:nvCxnSpPr>
        <p:spPr>
          <a:xfrm>
            <a:off x="3899453" y="2886264"/>
            <a:ext cx="0" cy="5106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C286F3FA-DD47-4CEA-9839-BC4E18872F1A}"/>
              </a:ext>
            </a:extLst>
          </p:cNvPr>
          <p:cNvCxnSpPr>
            <a:cxnSpLocks/>
          </p:cNvCxnSpPr>
          <p:nvPr/>
        </p:nvCxnSpPr>
        <p:spPr>
          <a:xfrm flipH="1">
            <a:off x="1335663" y="2609568"/>
            <a:ext cx="2293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A67A59A9-235B-44C3-BB17-97452841871A}"/>
              </a:ext>
            </a:extLst>
          </p:cNvPr>
          <p:cNvCxnSpPr>
            <a:cxnSpLocks/>
          </p:cNvCxnSpPr>
          <p:nvPr/>
        </p:nvCxnSpPr>
        <p:spPr>
          <a:xfrm>
            <a:off x="765226" y="3396957"/>
            <a:ext cx="11408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777CDB5D-A1AF-48EA-B451-5D333C85AC69}"/>
              </a:ext>
            </a:extLst>
          </p:cNvPr>
          <p:cNvCxnSpPr>
            <a:cxnSpLocks/>
            <a:endCxn id="31" idx="0"/>
          </p:cNvCxnSpPr>
          <p:nvPr/>
        </p:nvCxnSpPr>
        <p:spPr>
          <a:xfrm>
            <a:off x="765226" y="3396957"/>
            <a:ext cx="0" cy="1726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1659967C-5C25-4ABC-A664-55AB2CDD73D0}"/>
              </a:ext>
            </a:extLst>
          </p:cNvPr>
          <p:cNvSpPr txBox="1"/>
          <p:nvPr/>
        </p:nvSpPr>
        <p:spPr>
          <a:xfrm>
            <a:off x="313683" y="4482865"/>
            <a:ext cx="922789"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ルーター</a:t>
            </a:r>
          </a:p>
        </p:txBody>
      </p:sp>
      <p:sp>
        <p:nvSpPr>
          <p:cNvPr id="30" name="テキスト ボックス 29">
            <a:extLst>
              <a:ext uri="{FF2B5EF4-FFF2-40B4-BE49-F238E27FC236}">
                <a16:creationId xmlns:a16="http://schemas.microsoft.com/office/drawing/2014/main" id="{10B1431F-9EA1-4881-BFB6-699EC58CB8F3}"/>
              </a:ext>
            </a:extLst>
          </p:cNvPr>
          <p:cNvSpPr txBox="1"/>
          <p:nvPr/>
        </p:nvSpPr>
        <p:spPr>
          <a:xfrm>
            <a:off x="267514" y="3783244"/>
            <a:ext cx="995425"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米軍対向用端末</a:t>
            </a:r>
          </a:p>
        </p:txBody>
      </p:sp>
      <p:cxnSp>
        <p:nvCxnSpPr>
          <p:cNvPr id="61" name="直線コネクタ 60">
            <a:extLst>
              <a:ext uri="{FF2B5EF4-FFF2-40B4-BE49-F238E27FC236}">
                <a16:creationId xmlns:a16="http://schemas.microsoft.com/office/drawing/2014/main" id="{E59A4E8E-AB14-4662-94EC-F28A61607BCD}"/>
              </a:ext>
            </a:extLst>
          </p:cNvPr>
          <p:cNvCxnSpPr>
            <a:cxnSpLocks/>
          </p:cNvCxnSpPr>
          <p:nvPr/>
        </p:nvCxnSpPr>
        <p:spPr>
          <a:xfrm>
            <a:off x="1906100" y="3396957"/>
            <a:ext cx="0" cy="5247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417725C0-B5D7-4AF6-B0B8-1621524E621C}"/>
              </a:ext>
            </a:extLst>
          </p:cNvPr>
          <p:cNvSpPr txBox="1"/>
          <p:nvPr/>
        </p:nvSpPr>
        <p:spPr>
          <a:xfrm>
            <a:off x="1348541" y="3783244"/>
            <a:ext cx="995425" cy="369332"/>
          </a:xfrm>
          <a:prstGeom prst="rect">
            <a:avLst/>
          </a:prstGeom>
          <a:solidFill>
            <a:schemeClr val="bg1"/>
          </a:solidFill>
          <a:ln>
            <a:solidFill>
              <a:schemeClr val="tx1"/>
            </a:solidFill>
          </a:ln>
        </p:spPr>
        <p:txBody>
          <a:bodyPr wrap="square" rtlCol="0">
            <a:spAutoFit/>
          </a:bodyPr>
          <a:lstStyle/>
          <a:p>
            <a:pPr algn="ctr"/>
            <a:r>
              <a:rPr kumimoji="1" lang="ja-JP" altLang="en-US" sz="900" dirty="0"/>
              <a:t>運用情報等提供サーバー</a:t>
            </a:r>
          </a:p>
        </p:txBody>
      </p:sp>
      <p:sp>
        <p:nvSpPr>
          <p:cNvPr id="74" name="雲 73">
            <a:extLst>
              <a:ext uri="{FF2B5EF4-FFF2-40B4-BE49-F238E27FC236}">
                <a16:creationId xmlns:a16="http://schemas.microsoft.com/office/drawing/2014/main" id="{CD549789-08E6-4B45-A50D-BCA1CEE11513}"/>
              </a:ext>
            </a:extLst>
          </p:cNvPr>
          <p:cNvSpPr/>
          <p:nvPr/>
        </p:nvSpPr>
        <p:spPr>
          <a:xfrm>
            <a:off x="2570244" y="3258324"/>
            <a:ext cx="7051511" cy="1275374"/>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1D47C34A-3C5B-4F85-B081-448C57609A0B}"/>
              </a:ext>
            </a:extLst>
          </p:cNvPr>
          <p:cNvCxnSpPr>
            <a:cxnSpLocks/>
            <a:stCxn id="16" idx="2"/>
          </p:cNvCxnSpPr>
          <p:nvPr/>
        </p:nvCxnSpPr>
        <p:spPr>
          <a:xfrm flipH="1">
            <a:off x="8026836" y="2922858"/>
            <a:ext cx="2" cy="3354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2AF3AEDC-C87C-4A6E-9803-2E1F769D2608}"/>
              </a:ext>
            </a:extLst>
          </p:cNvPr>
          <p:cNvCxnSpPr>
            <a:cxnSpLocks/>
          </p:cNvCxnSpPr>
          <p:nvPr/>
        </p:nvCxnSpPr>
        <p:spPr>
          <a:xfrm flipV="1">
            <a:off x="9966120" y="1568701"/>
            <a:ext cx="0" cy="1222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CA979F3E-677F-4CB7-A265-C7E9812B1FF2}"/>
              </a:ext>
            </a:extLst>
          </p:cNvPr>
          <p:cNvCxnSpPr>
            <a:cxnSpLocks/>
          </p:cNvCxnSpPr>
          <p:nvPr/>
        </p:nvCxnSpPr>
        <p:spPr>
          <a:xfrm flipH="1">
            <a:off x="8715232" y="1568700"/>
            <a:ext cx="12508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6EED5533-222E-4EB8-98BB-56CE6C9177A8}"/>
              </a:ext>
            </a:extLst>
          </p:cNvPr>
          <p:cNvSpPr txBox="1"/>
          <p:nvPr/>
        </p:nvSpPr>
        <p:spPr>
          <a:xfrm>
            <a:off x="9353608" y="1688437"/>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44" name="テキスト ボックス 43">
            <a:extLst>
              <a:ext uri="{FF2B5EF4-FFF2-40B4-BE49-F238E27FC236}">
                <a16:creationId xmlns:a16="http://schemas.microsoft.com/office/drawing/2014/main" id="{45ADB3AA-C8DD-4204-A376-81FA0FC496F9}"/>
              </a:ext>
            </a:extLst>
          </p:cNvPr>
          <p:cNvSpPr txBox="1"/>
          <p:nvPr/>
        </p:nvSpPr>
        <p:spPr>
          <a:xfrm>
            <a:off x="9353608" y="2029680"/>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latin typeface="+mn-ea"/>
              </a:rPr>
              <a:t>ルーター</a:t>
            </a:r>
          </a:p>
        </p:txBody>
      </p:sp>
      <p:sp>
        <p:nvSpPr>
          <p:cNvPr id="45" name="テキスト ボックス 44">
            <a:extLst>
              <a:ext uri="{FF2B5EF4-FFF2-40B4-BE49-F238E27FC236}">
                <a16:creationId xmlns:a16="http://schemas.microsoft.com/office/drawing/2014/main" id="{B5008524-7A77-44BF-8763-4DA1595363B3}"/>
              </a:ext>
            </a:extLst>
          </p:cNvPr>
          <p:cNvSpPr txBox="1"/>
          <p:nvPr/>
        </p:nvSpPr>
        <p:spPr>
          <a:xfrm>
            <a:off x="9353608" y="2363603"/>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46" name="テキスト ボックス 45">
            <a:extLst>
              <a:ext uri="{FF2B5EF4-FFF2-40B4-BE49-F238E27FC236}">
                <a16:creationId xmlns:a16="http://schemas.microsoft.com/office/drawing/2014/main" id="{7D1634DB-C681-400E-98C4-A4F749BE71E0}"/>
              </a:ext>
            </a:extLst>
          </p:cNvPr>
          <p:cNvSpPr txBox="1"/>
          <p:nvPr/>
        </p:nvSpPr>
        <p:spPr>
          <a:xfrm>
            <a:off x="9362448" y="2712972"/>
            <a:ext cx="1325460" cy="276999"/>
          </a:xfrm>
          <a:prstGeom prst="rect">
            <a:avLst/>
          </a:prstGeom>
          <a:solidFill>
            <a:srgbClr val="FFFF00"/>
          </a:solidFill>
          <a:ln>
            <a:solidFill>
              <a:schemeClr val="tx1"/>
            </a:solidFill>
          </a:ln>
        </p:spPr>
        <p:txBody>
          <a:bodyPr wrap="square" rtlCol="0">
            <a:spAutoFit/>
          </a:bodyPr>
          <a:lstStyle/>
          <a:p>
            <a:pPr algn="ctr"/>
            <a:r>
              <a:rPr kumimoji="1" lang="en-US" altLang="ja-JP" sz="1200" dirty="0">
                <a:latin typeface="+mn-ea"/>
              </a:rPr>
              <a:t>FACE</a:t>
            </a:r>
            <a:r>
              <a:rPr kumimoji="1" lang="ja-JP" altLang="en-US" sz="1200" dirty="0">
                <a:latin typeface="+mn-ea"/>
              </a:rPr>
              <a:t>対向用</a:t>
            </a:r>
          </a:p>
        </p:txBody>
      </p:sp>
      <p:sp>
        <p:nvSpPr>
          <p:cNvPr id="36" name="矢印: 下 35">
            <a:extLst>
              <a:ext uri="{FF2B5EF4-FFF2-40B4-BE49-F238E27FC236}">
                <a16:creationId xmlns:a16="http://schemas.microsoft.com/office/drawing/2014/main" id="{658652FD-BA21-4238-94A9-076E1F2E81BE}"/>
              </a:ext>
            </a:extLst>
          </p:cNvPr>
          <p:cNvSpPr/>
          <p:nvPr/>
        </p:nvSpPr>
        <p:spPr>
          <a:xfrm flipH="1">
            <a:off x="4270878" y="1063791"/>
            <a:ext cx="239975" cy="2613903"/>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4C7B98E0-B3A0-4292-892B-A2E33C9B18E4}"/>
              </a:ext>
            </a:extLst>
          </p:cNvPr>
          <p:cNvSpPr txBox="1"/>
          <p:nvPr/>
        </p:nvSpPr>
        <p:spPr>
          <a:xfrm>
            <a:off x="3466633" y="3851780"/>
            <a:ext cx="1800493" cy="253916"/>
          </a:xfrm>
          <a:prstGeom prst="rect">
            <a:avLst/>
          </a:prstGeom>
          <a:noFill/>
          <a:ln>
            <a:solidFill>
              <a:schemeClr val="tx1"/>
            </a:solidFill>
          </a:ln>
        </p:spPr>
        <p:txBody>
          <a:bodyPr wrap="none" rtlCol="0">
            <a:spAutoFit/>
          </a:bodyPr>
          <a:lstStyle/>
          <a:p>
            <a:r>
              <a:rPr lang="ja-JP" altLang="en-US" sz="1050" dirty="0">
                <a:latin typeface="ＭＳ 明朝" panose="02020609040205080304" pitchFamily="17" charset="-128"/>
                <a:ea typeface="ＭＳ 明朝" panose="02020609040205080304" pitchFamily="17" charset="-128"/>
              </a:rPr>
              <a:t>連接試験用端末</a:t>
            </a:r>
            <a:r>
              <a:rPr lang="en-US" altLang="ja-JP" sz="1050" dirty="0">
                <a:latin typeface="ＭＳ 明朝" panose="02020609040205080304" pitchFamily="17" charset="-128"/>
                <a:ea typeface="ＭＳ 明朝" panose="02020609040205080304" pitchFamily="17" charset="-128"/>
              </a:rPr>
              <a:t>(</a:t>
            </a:r>
            <a:r>
              <a:rPr lang="ja-JP" altLang="en-US" sz="1050" dirty="0">
                <a:latin typeface="ＭＳ 明朝" panose="02020609040205080304" pitchFamily="17" charset="-128"/>
                <a:ea typeface="ＭＳ 明朝" panose="02020609040205080304" pitchFamily="17" charset="-128"/>
              </a:rPr>
              <a:t>タイプ</a:t>
            </a:r>
            <a:r>
              <a:rPr lang="en-US" altLang="ja-JP" sz="1050" dirty="0">
                <a:latin typeface="ＭＳ 明朝" panose="02020609040205080304" pitchFamily="17" charset="-128"/>
                <a:ea typeface="ＭＳ 明朝" panose="02020609040205080304" pitchFamily="17" charset="-128"/>
              </a:rPr>
              <a:t>A</a:t>
            </a:r>
            <a:r>
              <a:rPr lang="ja-JP" altLang="en-US" sz="1050" dirty="0">
                <a:latin typeface="ＭＳ 明朝" panose="02020609040205080304" pitchFamily="17" charset="-128"/>
                <a:ea typeface="ＭＳ 明朝" panose="02020609040205080304" pitchFamily="17" charset="-128"/>
              </a:rPr>
              <a:t>）</a:t>
            </a:r>
            <a:endParaRPr kumimoji="1" lang="ja-JP" altLang="en-US" sz="1050" dirty="0"/>
          </a:p>
        </p:txBody>
      </p:sp>
      <p:sp>
        <p:nvSpPr>
          <p:cNvPr id="40" name="矢印: 下 39">
            <a:extLst>
              <a:ext uri="{FF2B5EF4-FFF2-40B4-BE49-F238E27FC236}">
                <a16:creationId xmlns:a16="http://schemas.microsoft.com/office/drawing/2014/main" id="{1D4CA632-59E0-46A3-9652-F106D018104D}"/>
              </a:ext>
            </a:extLst>
          </p:cNvPr>
          <p:cNvSpPr/>
          <p:nvPr/>
        </p:nvSpPr>
        <p:spPr>
          <a:xfrm rot="16200000" flipH="1">
            <a:off x="5880006" y="3354375"/>
            <a:ext cx="239975" cy="122707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529184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36203566-5821-4F43-83DD-AFA0A12A431B}"/>
              </a:ext>
            </a:extLst>
          </p:cNvPr>
          <p:cNvPicPr>
            <a:picLocks noChangeAspect="1"/>
          </p:cNvPicPr>
          <p:nvPr/>
        </p:nvPicPr>
        <p:blipFill>
          <a:blip r:embed="rId2"/>
          <a:stretch>
            <a:fillRect/>
          </a:stretch>
        </p:blipFill>
        <p:spPr>
          <a:xfrm>
            <a:off x="1079105" y="1450056"/>
            <a:ext cx="10493911" cy="1359745"/>
          </a:xfrm>
          <a:prstGeom prst="rect">
            <a:avLst/>
          </a:prstGeom>
          <a:ln>
            <a:solidFill>
              <a:schemeClr val="tx1"/>
            </a:solidFill>
          </a:ln>
        </p:spPr>
      </p:pic>
      <p:pic>
        <p:nvPicPr>
          <p:cNvPr id="3" name="図 2">
            <a:extLst>
              <a:ext uri="{FF2B5EF4-FFF2-40B4-BE49-F238E27FC236}">
                <a16:creationId xmlns:a16="http://schemas.microsoft.com/office/drawing/2014/main" id="{DFCCAB8B-E7BC-4F51-907E-3B284235922B}"/>
              </a:ext>
            </a:extLst>
          </p:cNvPr>
          <p:cNvPicPr>
            <a:picLocks noChangeAspect="1"/>
          </p:cNvPicPr>
          <p:nvPr/>
        </p:nvPicPr>
        <p:blipFill>
          <a:blip r:embed="rId3"/>
          <a:stretch>
            <a:fillRect/>
          </a:stretch>
        </p:blipFill>
        <p:spPr>
          <a:xfrm>
            <a:off x="3071390" y="3206816"/>
            <a:ext cx="6049219" cy="152421"/>
          </a:xfrm>
          <a:prstGeom prst="rect">
            <a:avLst/>
          </a:prstGeom>
          <a:ln>
            <a:solidFill>
              <a:schemeClr val="tx1"/>
            </a:solidFill>
          </a:ln>
        </p:spPr>
      </p:pic>
      <p:pic>
        <p:nvPicPr>
          <p:cNvPr id="4" name="図 3">
            <a:extLst>
              <a:ext uri="{FF2B5EF4-FFF2-40B4-BE49-F238E27FC236}">
                <a16:creationId xmlns:a16="http://schemas.microsoft.com/office/drawing/2014/main" id="{FCECA3BF-E794-446E-9304-048147D1A4FB}"/>
              </a:ext>
            </a:extLst>
          </p:cNvPr>
          <p:cNvPicPr>
            <a:picLocks noChangeAspect="1"/>
          </p:cNvPicPr>
          <p:nvPr/>
        </p:nvPicPr>
        <p:blipFill>
          <a:blip r:embed="rId4"/>
          <a:stretch>
            <a:fillRect/>
          </a:stretch>
        </p:blipFill>
        <p:spPr>
          <a:xfrm>
            <a:off x="2987779" y="3602336"/>
            <a:ext cx="6199877" cy="170443"/>
          </a:xfrm>
          <a:prstGeom prst="rect">
            <a:avLst/>
          </a:prstGeom>
          <a:ln>
            <a:solidFill>
              <a:schemeClr val="tx1"/>
            </a:solidFill>
          </a:ln>
        </p:spPr>
      </p:pic>
      <p:sp>
        <p:nvSpPr>
          <p:cNvPr id="5" name="テキスト ボックス 4">
            <a:extLst>
              <a:ext uri="{FF2B5EF4-FFF2-40B4-BE49-F238E27FC236}">
                <a16:creationId xmlns:a16="http://schemas.microsoft.com/office/drawing/2014/main" id="{CB0210DA-8076-4C1C-B924-AD4939957C51}"/>
              </a:ext>
            </a:extLst>
          </p:cNvPr>
          <p:cNvSpPr txBox="1"/>
          <p:nvPr/>
        </p:nvSpPr>
        <p:spPr>
          <a:xfrm>
            <a:off x="1586280" y="5407944"/>
            <a:ext cx="9479560" cy="707886"/>
          </a:xfrm>
          <a:prstGeom prst="rect">
            <a:avLst/>
          </a:prstGeom>
          <a:noFill/>
          <a:ln>
            <a:solidFill>
              <a:schemeClr val="tx1"/>
            </a:solidFill>
          </a:ln>
        </p:spPr>
        <p:txBody>
          <a:bodyPr wrap="square" rtlCol="0">
            <a:spAutoFit/>
          </a:bodyPr>
          <a:lstStyle/>
          <a:p>
            <a:r>
              <a:rPr kumimoji="1" lang="en-US" altLang="ja-JP" sz="2000" b="1" dirty="0" err="1">
                <a:solidFill>
                  <a:srgbClr val="0070C0"/>
                </a:solidFill>
                <a:latin typeface="ＭＳ 明朝" panose="02020609040205080304" pitchFamily="17" charset="-128"/>
                <a:ea typeface="ＭＳ 明朝" panose="02020609040205080304" pitchFamily="17" charset="-128"/>
              </a:rPr>
              <a:t>Untrust</a:t>
            </a:r>
            <a:r>
              <a:rPr lang="ja-JP" altLang="en-US" sz="2000" b="1" dirty="0">
                <a:solidFill>
                  <a:srgbClr val="0070C0"/>
                </a:solidFill>
                <a:latin typeface="ＭＳ 明朝" panose="02020609040205080304" pitchFamily="17" charset="-128"/>
                <a:ea typeface="ＭＳ 明朝" panose="02020609040205080304" pitchFamily="17" charset="-128"/>
              </a:rPr>
              <a:t> → </a:t>
            </a:r>
            <a:r>
              <a:rPr lang="en-US" altLang="ja-JP" sz="2000" b="1" dirty="0">
                <a:solidFill>
                  <a:srgbClr val="0070C0"/>
                </a:solidFill>
                <a:latin typeface="ＭＳ 明朝" panose="02020609040205080304" pitchFamily="17" charset="-128"/>
                <a:ea typeface="ＭＳ 明朝" panose="02020609040205080304" pitchFamily="17" charset="-128"/>
              </a:rPr>
              <a:t>Trust</a:t>
            </a:r>
          </a:p>
          <a:p>
            <a:r>
              <a:rPr kumimoji="1" lang="ja-JP" altLang="en-US" sz="2000" dirty="0">
                <a:latin typeface="ＭＳ 明朝" panose="02020609040205080304" pitchFamily="17" charset="-128"/>
                <a:ea typeface="ＭＳ 明朝" panose="02020609040205080304" pitchFamily="17" charset="-128"/>
              </a:rPr>
              <a:t>すべての送信元から連接試験用端末</a:t>
            </a:r>
            <a:r>
              <a:rPr kumimoji="1" lang="en-US" altLang="ja-JP" sz="2000" dirty="0">
                <a:latin typeface="ＭＳ 明朝" panose="02020609040205080304" pitchFamily="17" charset="-128"/>
                <a:ea typeface="ＭＳ 明朝" panose="02020609040205080304" pitchFamily="17" charset="-128"/>
              </a:rPr>
              <a:t>A</a:t>
            </a:r>
            <a:r>
              <a:rPr kumimoji="1" lang="ja-JP" altLang="en-US" sz="2000" dirty="0">
                <a:latin typeface="ＭＳ 明朝" panose="02020609040205080304" pitchFamily="17" charset="-128"/>
                <a:ea typeface="ＭＳ 明朝" panose="02020609040205080304" pitchFamily="17" charset="-128"/>
              </a:rPr>
              <a:t>に対してすべてのポートでの通信が可能</a:t>
            </a:r>
          </a:p>
        </p:txBody>
      </p:sp>
      <p:sp>
        <p:nvSpPr>
          <p:cNvPr id="6" name="テキスト ボックス 5">
            <a:extLst>
              <a:ext uri="{FF2B5EF4-FFF2-40B4-BE49-F238E27FC236}">
                <a16:creationId xmlns:a16="http://schemas.microsoft.com/office/drawing/2014/main" id="{4B5C372D-22FF-4215-8E9D-E7EC37EB07AE}"/>
              </a:ext>
            </a:extLst>
          </p:cNvPr>
          <p:cNvSpPr txBox="1"/>
          <p:nvPr/>
        </p:nvSpPr>
        <p:spPr>
          <a:xfrm>
            <a:off x="1735576" y="4078612"/>
            <a:ext cx="8956298" cy="1015663"/>
          </a:xfrm>
          <a:prstGeom prst="rect">
            <a:avLst/>
          </a:prstGeom>
          <a:noFill/>
          <a:ln>
            <a:solidFill>
              <a:schemeClr val="tx1"/>
            </a:solidFill>
          </a:ln>
        </p:spPr>
        <p:txBody>
          <a:bodyPr wrap="none" rtlCol="0">
            <a:spAutoFit/>
          </a:bodyPr>
          <a:lstStyle/>
          <a:p>
            <a:r>
              <a:rPr kumimoji="1" lang="ja-JP" altLang="en-US" sz="1200" dirty="0">
                <a:latin typeface="ＭＳ 明朝" panose="02020609040205080304" pitchFamily="17" charset="-128"/>
                <a:ea typeface="ＭＳ 明朝" panose="02020609040205080304" pitchFamily="17" charset="-128"/>
              </a:rPr>
              <a:t>連接試験用端末</a:t>
            </a:r>
            <a:r>
              <a:rPr kumimoji="1" lang="en-US" altLang="ja-JP" sz="1200" dirty="0">
                <a:latin typeface="ＭＳ 明朝" panose="02020609040205080304" pitchFamily="17" charset="-128"/>
                <a:ea typeface="ＭＳ 明朝" panose="02020609040205080304" pitchFamily="17" charset="-128"/>
              </a:rPr>
              <a:t>(</a:t>
            </a:r>
            <a:r>
              <a:rPr kumimoji="1" lang="ja-JP" altLang="en-US" sz="1200" dirty="0">
                <a:latin typeface="ＭＳ 明朝" panose="02020609040205080304" pitchFamily="17" charset="-128"/>
                <a:ea typeface="ＭＳ 明朝" panose="02020609040205080304" pitchFamily="17" charset="-128"/>
              </a:rPr>
              <a:t>タイプ</a:t>
            </a:r>
            <a:r>
              <a:rPr kumimoji="1" lang="en-US" altLang="ja-JP" sz="1200" dirty="0">
                <a:latin typeface="ＭＳ 明朝" panose="02020609040205080304" pitchFamily="17" charset="-128"/>
                <a:ea typeface="ＭＳ 明朝" panose="02020609040205080304" pitchFamily="17" charset="-128"/>
              </a:rPr>
              <a:t>A)</a:t>
            </a:r>
          </a:p>
          <a:p>
            <a:r>
              <a:rPr kumimoji="1" lang="ja-JP" altLang="en-US" sz="1200" dirty="0">
                <a:latin typeface="ＭＳ 明朝" panose="02020609040205080304" pitchFamily="17" charset="-128"/>
                <a:ea typeface="ＭＳ 明朝" panose="02020609040205080304" pitchFamily="17" charset="-128"/>
              </a:rPr>
              <a:t>連接試験において、試験内容に応じた試験データの入出力確認用として使用するとともに</a:t>
            </a:r>
            <a:r>
              <a:rPr kumimoji="1" lang="en-US" altLang="ja-JP" sz="1200" dirty="0">
                <a:latin typeface="ＭＳ 明朝" panose="02020609040205080304" pitchFamily="17" charset="-128"/>
                <a:ea typeface="ＭＳ 明朝" panose="02020609040205080304" pitchFamily="17" charset="-128"/>
              </a:rPr>
              <a:t>GIS</a:t>
            </a:r>
            <a:r>
              <a:rPr kumimoji="1" lang="ja-JP" altLang="en-US" sz="1200" dirty="0">
                <a:latin typeface="ＭＳ 明朝" panose="02020609040205080304" pitchFamily="17" charset="-128"/>
                <a:ea typeface="ＭＳ 明朝" panose="02020609040205080304" pitchFamily="17" charset="-128"/>
              </a:rPr>
              <a:t>に対応した地図を表示する</a:t>
            </a:r>
            <a:endParaRPr kumimoji="1" lang="en-US" altLang="ja-JP" sz="1200" dirty="0">
              <a:latin typeface="ＭＳ 明朝" panose="02020609040205080304" pitchFamily="17" charset="-128"/>
              <a:ea typeface="ＭＳ 明朝" panose="02020609040205080304" pitchFamily="17" charset="-128"/>
            </a:endParaRPr>
          </a:p>
          <a:p>
            <a:r>
              <a:rPr kumimoji="1" lang="ja-JP" altLang="en-US" sz="1200" dirty="0">
                <a:latin typeface="ＭＳ 明朝" panose="02020609040205080304" pitchFamily="17" charset="-128"/>
                <a:ea typeface="ＭＳ 明朝" panose="02020609040205080304" pitchFamily="17" charset="-128"/>
              </a:rPr>
              <a:t>また、端末部</a:t>
            </a:r>
            <a:r>
              <a:rPr kumimoji="1" lang="en-US" altLang="ja-JP" sz="1200" dirty="0">
                <a:latin typeface="ＭＳ 明朝" panose="02020609040205080304" pitchFamily="17" charset="-128"/>
                <a:ea typeface="ＭＳ 明朝" panose="02020609040205080304" pitchFamily="17" charset="-128"/>
              </a:rPr>
              <a:t>(FACE</a:t>
            </a:r>
            <a:r>
              <a:rPr kumimoji="1" lang="ja-JP" altLang="en-US" sz="1200" dirty="0">
                <a:latin typeface="ＭＳ 明朝" panose="02020609040205080304" pitchFamily="17" charset="-128"/>
                <a:ea typeface="ＭＳ 明朝" panose="02020609040205080304" pitchFamily="17" charset="-128"/>
              </a:rPr>
              <a:t>対向用）の機能を有する。マルチタッチディスプレイ</a:t>
            </a:r>
            <a:r>
              <a:rPr kumimoji="1" lang="en-US" altLang="ja-JP" sz="1200" dirty="0">
                <a:latin typeface="ＭＳ 明朝" panose="02020609040205080304" pitchFamily="17" charset="-128"/>
                <a:ea typeface="ＭＳ 明朝" panose="02020609040205080304" pitchFamily="17" charset="-128"/>
              </a:rPr>
              <a:t>(21.5</a:t>
            </a:r>
            <a:r>
              <a:rPr kumimoji="1" lang="ja-JP" altLang="en-US" sz="1200" dirty="0">
                <a:latin typeface="ＭＳ 明朝" panose="02020609040205080304" pitchFamily="17" charset="-128"/>
                <a:ea typeface="ＭＳ 明朝" panose="02020609040205080304" pitchFamily="17" charset="-128"/>
              </a:rPr>
              <a:t>型</a:t>
            </a:r>
            <a:r>
              <a:rPr kumimoji="1" lang="en-US" altLang="ja-JP" sz="1200" dirty="0">
                <a:latin typeface="ＭＳ 明朝" panose="02020609040205080304" pitchFamily="17" charset="-128"/>
                <a:ea typeface="ＭＳ 明朝" panose="02020609040205080304" pitchFamily="17" charset="-128"/>
              </a:rPr>
              <a:t>(</a:t>
            </a:r>
            <a:r>
              <a:rPr kumimoji="1" lang="ja-JP" altLang="en-US" sz="1200" dirty="0">
                <a:latin typeface="ＭＳ 明朝" panose="02020609040205080304" pitchFamily="17" charset="-128"/>
                <a:ea typeface="ＭＳ 明朝" panose="02020609040205080304" pitchFamily="17" charset="-128"/>
              </a:rPr>
              <a:t>液晶</a:t>
            </a:r>
            <a:r>
              <a:rPr kumimoji="1" lang="en-US" altLang="ja-JP" sz="1200" dirty="0">
                <a:latin typeface="ＭＳ 明朝" panose="02020609040205080304" pitchFamily="17" charset="-128"/>
                <a:ea typeface="ＭＳ 明朝" panose="02020609040205080304" pitchFamily="17" charset="-128"/>
              </a:rPr>
              <a:t>))2</a:t>
            </a:r>
            <a:r>
              <a:rPr kumimoji="1" lang="ja-JP" altLang="en-US" sz="1200" dirty="0">
                <a:latin typeface="ＭＳ 明朝" panose="02020609040205080304" pitchFamily="17" charset="-128"/>
                <a:ea typeface="ＭＳ 明朝" panose="02020609040205080304" pitchFamily="17" charset="-128"/>
              </a:rPr>
              <a:t>台、カット紙プリンターで構成する。</a:t>
            </a:r>
            <a:endParaRPr kumimoji="1" lang="en-US" altLang="ja-JP" sz="1200" dirty="0">
              <a:latin typeface="ＭＳ 明朝" panose="02020609040205080304" pitchFamily="17" charset="-128"/>
              <a:ea typeface="ＭＳ 明朝" panose="02020609040205080304" pitchFamily="17" charset="-128"/>
            </a:endParaRPr>
          </a:p>
          <a:p>
            <a:endParaRPr lang="en-US" altLang="ja-JP" sz="1200" dirty="0">
              <a:latin typeface="ＭＳ 明朝" panose="02020609040205080304" pitchFamily="17" charset="-128"/>
              <a:ea typeface="ＭＳ 明朝" panose="02020609040205080304" pitchFamily="17" charset="-128"/>
            </a:endParaRPr>
          </a:p>
          <a:p>
            <a:r>
              <a:rPr kumimoji="1" lang="en-US" altLang="ja-JP" sz="1200" dirty="0">
                <a:latin typeface="ＭＳ 明朝" panose="02020609040205080304" pitchFamily="17" charset="-128"/>
                <a:ea typeface="ＭＳ 明朝" panose="02020609040205080304" pitchFamily="17" charset="-128"/>
              </a:rPr>
              <a:t>Microsoft Windows 10 Enterprise 2019 LTSC</a:t>
            </a:r>
            <a:endParaRPr kumimoji="1" lang="ja-JP" altLang="en-US" sz="1200" dirty="0">
              <a:latin typeface="ＭＳ 明朝" panose="02020609040205080304" pitchFamily="17" charset="-128"/>
              <a:ea typeface="ＭＳ 明朝" panose="02020609040205080304" pitchFamily="17" charset="-128"/>
            </a:endParaRPr>
          </a:p>
        </p:txBody>
      </p:sp>
      <p:sp>
        <p:nvSpPr>
          <p:cNvPr id="7" name="テキスト ボックス 6">
            <a:extLst>
              <a:ext uri="{FF2B5EF4-FFF2-40B4-BE49-F238E27FC236}">
                <a16:creationId xmlns:a16="http://schemas.microsoft.com/office/drawing/2014/main" id="{413EA208-7A40-4B37-9253-DC8A4E539788}"/>
              </a:ext>
            </a:extLst>
          </p:cNvPr>
          <p:cNvSpPr txBox="1"/>
          <p:nvPr/>
        </p:nvSpPr>
        <p:spPr>
          <a:xfrm>
            <a:off x="449541" y="956047"/>
            <a:ext cx="2236510" cy="338554"/>
          </a:xfrm>
          <a:prstGeom prst="rect">
            <a:avLst/>
          </a:prstGeom>
          <a:noFill/>
          <a:ln>
            <a:noFill/>
          </a:ln>
        </p:spPr>
        <p:txBody>
          <a:bodyPr wrap="none" rtlCol="0">
            <a:spAutoFit/>
          </a:bodyPr>
          <a:lstStyle/>
          <a:p>
            <a:r>
              <a:rPr kumimoji="1" lang="ja-JP" altLang="en-US" sz="1600" b="1" dirty="0">
                <a:solidFill>
                  <a:srgbClr val="0070C0"/>
                </a:solidFill>
                <a:latin typeface="ＭＳ 明朝" panose="02020609040205080304" pitchFamily="17" charset="-128"/>
                <a:ea typeface="ＭＳ 明朝" panose="02020609040205080304" pitchFamily="17" charset="-128"/>
              </a:rPr>
              <a:t>ファイアウォール情報</a:t>
            </a:r>
          </a:p>
        </p:txBody>
      </p:sp>
      <p:cxnSp>
        <p:nvCxnSpPr>
          <p:cNvPr id="9" name="直線コネクタ 8">
            <a:extLst>
              <a:ext uri="{FF2B5EF4-FFF2-40B4-BE49-F238E27FC236}">
                <a16:creationId xmlns:a16="http://schemas.microsoft.com/office/drawing/2014/main" id="{778AEA5D-F3FE-4894-B4E7-F45B2ABF41A8}"/>
              </a:ext>
            </a:extLst>
          </p:cNvPr>
          <p:cNvCxnSpPr>
            <a:cxnSpLocks/>
          </p:cNvCxnSpPr>
          <p:nvPr/>
        </p:nvCxnSpPr>
        <p:spPr>
          <a:xfrm>
            <a:off x="8086987" y="1803633"/>
            <a:ext cx="347764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CF9D31DC-B8D1-4163-A0F7-9F1B90F9B8DB}"/>
              </a:ext>
            </a:extLst>
          </p:cNvPr>
          <p:cNvCxnSpPr>
            <a:cxnSpLocks/>
          </p:cNvCxnSpPr>
          <p:nvPr/>
        </p:nvCxnSpPr>
        <p:spPr>
          <a:xfrm>
            <a:off x="8086987" y="1635853"/>
            <a:ext cx="197980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B10C6BA1-8E5F-464C-87DA-813F60BB864D}"/>
              </a:ext>
            </a:extLst>
          </p:cNvPr>
          <p:cNvCxnSpPr>
            <a:cxnSpLocks/>
          </p:cNvCxnSpPr>
          <p:nvPr/>
        </p:nvCxnSpPr>
        <p:spPr>
          <a:xfrm>
            <a:off x="8086987" y="2129928"/>
            <a:ext cx="180363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74D0F303-20AE-4D89-AC9C-494FB0D47ED6}"/>
              </a:ext>
            </a:extLst>
          </p:cNvPr>
          <p:cNvCxnSpPr>
            <a:cxnSpLocks/>
          </p:cNvCxnSpPr>
          <p:nvPr/>
        </p:nvCxnSpPr>
        <p:spPr>
          <a:xfrm>
            <a:off x="8086987" y="2297707"/>
            <a:ext cx="98990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タイトル 1">
            <a:extLst>
              <a:ext uri="{FF2B5EF4-FFF2-40B4-BE49-F238E27FC236}">
                <a16:creationId xmlns:a16="http://schemas.microsoft.com/office/drawing/2014/main" id="{5774629A-53DC-47C1-ADD8-84AA6D897921}"/>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仮説１</a:t>
            </a:r>
          </a:p>
        </p:txBody>
      </p:sp>
    </p:spTree>
    <p:extLst>
      <p:ext uri="{BB962C8B-B14F-4D97-AF65-F5344CB8AC3E}">
        <p14:creationId xmlns:p14="http://schemas.microsoft.com/office/powerpoint/2010/main" val="3617689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D386E2-5534-4CA6-AF88-4DBCD3133931}"/>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仮説１</a:t>
            </a:r>
          </a:p>
        </p:txBody>
      </p:sp>
      <p:sp>
        <p:nvSpPr>
          <p:cNvPr id="4" name="テキスト ボックス 3">
            <a:extLst>
              <a:ext uri="{FF2B5EF4-FFF2-40B4-BE49-F238E27FC236}">
                <a16:creationId xmlns:a16="http://schemas.microsoft.com/office/drawing/2014/main" id="{248136E2-C06E-49EB-9A5C-B257A0791213}"/>
              </a:ext>
            </a:extLst>
          </p:cNvPr>
          <p:cNvSpPr txBox="1"/>
          <p:nvPr/>
        </p:nvSpPr>
        <p:spPr>
          <a:xfrm>
            <a:off x="2005632" y="889843"/>
            <a:ext cx="8610049" cy="5078313"/>
          </a:xfrm>
          <a:prstGeom prst="rect">
            <a:avLst/>
          </a:prstGeom>
          <a:noFill/>
        </p:spPr>
        <p:txBody>
          <a:bodyPr wrap="none" rtlCol="0">
            <a:spAutoFit/>
          </a:bodyPr>
          <a:lstStyle/>
          <a:p>
            <a:r>
              <a:rPr lang="ja-JP" altLang="en-US" b="1" dirty="0">
                <a:solidFill>
                  <a:srgbClr val="00B050"/>
                </a:solidFill>
                <a:latin typeface="ＭＳ 明朝" panose="02020609040205080304" pitchFamily="17" charset="-128"/>
                <a:ea typeface="ＭＳ 明朝" panose="02020609040205080304" pitchFamily="17" charset="-128"/>
              </a:rPr>
              <a:t>攻撃手順</a:t>
            </a:r>
            <a:endParaRPr lang="en-US" altLang="ja-JP" b="1" dirty="0">
              <a:solidFill>
                <a:srgbClr val="00B050"/>
              </a:solidFill>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事前準備：内部協力者を通じてユーザー</a:t>
            </a:r>
            <a:r>
              <a:rPr kumimoji="1" lang="en-US" altLang="ja-JP" dirty="0">
                <a:latin typeface="ＭＳ 明朝" panose="02020609040205080304" pitchFamily="17" charset="-128"/>
                <a:ea typeface="ＭＳ 明朝" panose="02020609040205080304" pitchFamily="17" charset="-128"/>
              </a:rPr>
              <a:t>ID</a:t>
            </a:r>
            <a:r>
              <a:rPr kumimoji="1" lang="ja-JP" altLang="en-US" dirty="0">
                <a:latin typeface="ＭＳ 明朝" panose="02020609040205080304" pitchFamily="17" charset="-128"/>
                <a:ea typeface="ＭＳ 明朝" panose="02020609040205080304" pitchFamily="17" charset="-128"/>
              </a:rPr>
              <a:t>の入手</a:t>
            </a:r>
            <a:endParaRPr kumimoji="1" lang="en-US" altLang="ja-JP" dirty="0">
              <a:latin typeface="ＭＳ 明朝" panose="02020609040205080304" pitchFamily="17" charset="-128"/>
              <a:ea typeface="ＭＳ 明朝" panose="02020609040205080304" pitchFamily="17" charset="-128"/>
            </a:endParaRPr>
          </a:p>
          <a:p>
            <a:r>
              <a:rPr lang="en-US" altLang="ja-JP" dirty="0">
                <a:latin typeface="ＭＳ 明朝" panose="02020609040205080304" pitchFamily="17" charset="-128"/>
                <a:ea typeface="ＭＳ 明朝" panose="02020609040205080304" pitchFamily="17" charset="-128"/>
              </a:rPr>
              <a:t>          </a:t>
            </a:r>
            <a:r>
              <a:rPr lang="ja-JP" altLang="en-US" dirty="0">
                <a:latin typeface="ＭＳ 明朝" panose="02020609040205080304" pitchFamily="17" charset="-128"/>
                <a:ea typeface="ＭＳ 明朝" panose="02020609040205080304" pitchFamily="17" charset="-128"/>
              </a:rPr>
              <a:t>ルーティングテーブルなどから対象ネットワークを予想</a:t>
            </a:r>
            <a:endParaRPr kumimoji="1" lang="en-US" altLang="ja-JP" dirty="0">
              <a:latin typeface="ＭＳ 明朝" panose="02020609040205080304" pitchFamily="17" charset="-128"/>
              <a:ea typeface="ＭＳ 明朝" panose="02020609040205080304" pitchFamily="17" charset="-128"/>
            </a:endParaRPr>
          </a:p>
          <a:p>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① ネットワークスキャン</a:t>
            </a:r>
            <a:endParaRPr kumimoji="1" lang="en-US" altLang="ja-JP" dirty="0">
              <a:latin typeface="ＭＳ 明朝" panose="02020609040205080304" pitchFamily="17" charset="-128"/>
              <a:ea typeface="ＭＳ 明朝" panose="02020609040205080304" pitchFamily="17" charset="-128"/>
            </a:endParaRPr>
          </a:p>
          <a:p>
            <a:r>
              <a:rPr lang="en-US" altLang="ja-JP" dirty="0">
                <a:latin typeface="ＭＳ 明朝" panose="02020609040205080304" pitchFamily="17" charset="-128"/>
                <a:ea typeface="ＭＳ 明朝" panose="02020609040205080304" pitchFamily="17" charset="-128"/>
              </a:rPr>
              <a:t> </a:t>
            </a:r>
            <a:r>
              <a:rPr lang="ja-JP" altLang="en-US" dirty="0">
                <a:latin typeface="ＭＳ 明朝" panose="02020609040205080304" pitchFamily="17" charset="-128"/>
                <a:ea typeface="ＭＳ 明朝" panose="02020609040205080304" pitchFamily="17" charset="-128"/>
              </a:rPr>
              <a:t>  → 応答が帰ってきた場合は</a:t>
            </a:r>
            <a:r>
              <a:rPr lang="en-US" altLang="ja-JP" dirty="0">
                <a:latin typeface="ＭＳ 明朝" panose="02020609040205080304" pitchFamily="17" charset="-128"/>
                <a:ea typeface="ＭＳ 明朝" panose="02020609040205080304" pitchFamily="17" charset="-128"/>
              </a:rPr>
              <a:t>TTL</a:t>
            </a:r>
            <a:r>
              <a:rPr lang="ja-JP" altLang="en-US" dirty="0">
                <a:latin typeface="ＭＳ 明朝" panose="02020609040205080304" pitchFamily="17" charset="-128"/>
                <a:ea typeface="ＭＳ 明朝" panose="02020609040205080304" pitchFamily="17" charset="-128"/>
              </a:rPr>
              <a:t>などから</a:t>
            </a:r>
            <a:r>
              <a:rPr lang="en-US" altLang="ja-JP" dirty="0">
                <a:latin typeface="ＭＳ 明朝" panose="02020609040205080304" pitchFamily="17" charset="-128"/>
                <a:ea typeface="ＭＳ 明朝" panose="02020609040205080304" pitchFamily="17" charset="-128"/>
              </a:rPr>
              <a:t>OS</a:t>
            </a:r>
            <a:r>
              <a:rPr lang="ja-JP" altLang="en-US" dirty="0">
                <a:latin typeface="ＭＳ 明朝" panose="02020609040205080304" pitchFamily="17" charset="-128"/>
                <a:ea typeface="ＭＳ 明朝" panose="02020609040205080304" pitchFamily="17" charset="-128"/>
              </a:rPr>
              <a:t>情報などを確認</a:t>
            </a:r>
            <a:endParaRPr kumimoji="1" lang="en-US" altLang="ja-JP" dirty="0">
              <a:latin typeface="ＭＳ 明朝" panose="02020609040205080304" pitchFamily="17" charset="-128"/>
              <a:ea typeface="ＭＳ 明朝" panose="02020609040205080304" pitchFamily="17" charset="-128"/>
            </a:endParaRPr>
          </a:p>
          <a:p>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② ポートスキャン</a:t>
            </a:r>
            <a:endParaRPr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　 → 管理用の</a:t>
            </a:r>
            <a:r>
              <a:rPr kumimoji="1" lang="en-US" altLang="ja-JP" dirty="0">
                <a:latin typeface="ＭＳ 明朝" panose="02020609040205080304" pitchFamily="17" charset="-128"/>
                <a:ea typeface="ＭＳ 明朝" panose="02020609040205080304" pitchFamily="17" charset="-128"/>
              </a:rPr>
              <a:t>port</a:t>
            </a:r>
            <a:r>
              <a:rPr kumimoji="1" lang="ja-JP" altLang="en-US" dirty="0">
                <a:latin typeface="ＭＳ 明朝" panose="02020609040205080304" pitchFamily="17" charset="-128"/>
                <a:ea typeface="ＭＳ 明朝" panose="02020609040205080304" pitchFamily="17" charset="-128"/>
              </a:rPr>
              <a:t>が開いていないかなどを確認</a:t>
            </a:r>
            <a:endParaRPr kumimoji="1" lang="en-US" altLang="ja-JP" dirty="0">
              <a:latin typeface="ＭＳ 明朝" panose="02020609040205080304" pitchFamily="17" charset="-128"/>
              <a:ea typeface="ＭＳ 明朝" panose="02020609040205080304" pitchFamily="17" charset="-128"/>
            </a:endParaRPr>
          </a:p>
          <a:p>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③ 既知ユーザーリストからパスワードを予測しオープンポートに対して接続試行</a:t>
            </a:r>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　 → </a:t>
            </a:r>
            <a:r>
              <a:rPr kumimoji="1" lang="en-US" altLang="ja-JP" dirty="0">
                <a:latin typeface="ＭＳ 明朝" panose="02020609040205080304" pitchFamily="17" charset="-128"/>
                <a:ea typeface="ＭＳ 明朝" panose="02020609040205080304" pitchFamily="17" charset="-128"/>
              </a:rPr>
              <a:t>22,23,445,3389,5985,5986 etc</a:t>
            </a:r>
            <a:r>
              <a:rPr lang="en-US" altLang="ja-JP" dirty="0">
                <a:latin typeface="ＭＳ 明朝" panose="02020609040205080304" pitchFamily="17" charset="-128"/>
                <a:ea typeface="ＭＳ 明朝" panose="02020609040205080304" pitchFamily="17" charset="-128"/>
              </a:rPr>
              <a:t>..</a:t>
            </a:r>
          </a:p>
          <a:p>
            <a:r>
              <a:rPr lang="ja-JP" altLang="en-US" dirty="0">
                <a:latin typeface="ＭＳ 明朝" panose="02020609040205080304" pitchFamily="17" charset="-128"/>
                <a:ea typeface="ＭＳ 明朝" panose="02020609040205080304" pitchFamily="17" charset="-128"/>
              </a:rPr>
              <a:t>　 必要に応じてブルートフォースなどを活用</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④ 接続に成功し、端末内の情報を窃取</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⑤ ネットワーク内部にアクセスできる機器がないかを調査 </a:t>
            </a:r>
            <a:endParaRPr lang="en-US" altLang="ja-JP" dirty="0">
              <a:latin typeface="ＭＳ 明朝" panose="02020609040205080304" pitchFamily="17" charset="-128"/>
              <a:ea typeface="ＭＳ 明朝" panose="02020609040205080304" pitchFamily="17" charset="-128"/>
            </a:endParaRPr>
          </a:p>
          <a:p>
            <a:endParaRPr kumimoji="1" lang="en-US" altLang="ja-JP"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498326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9909B0-488F-490B-8C85-5E5D4D822FF9}"/>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仮説１</a:t>
            </a:r>
          </a:p>
        </p:txBody>
      </p:sp>
      <p:sp>
        <p:nvSpPr>
          <p:cNvPr id="3" name="テキスト ボックス 2">
            <a:extLst>
              <a:ext uri="{FF2B5EF4-FFF2-40B4-BE49-F238E27FC236}">
                <a16:creationId xmlns:a16="http://schemas.microsoft.com/office/drawing/2014/main" id="{FCE9D36F-F6BA-4202-AC8E-F0814F637387}"/>
              </a:ext>
            </a:extLst>
          </p:cNvPr>
          <p:cNvSpPr txBox="1"/>
          <p:nvPr/>
        </p:nvSpPr>
        <p:spPr>
          <a:xfrm>
            <a:off x="901581" y="894280"/>
            <a:ext cx="10802957" cy="5078313"/>
          </a:xfrm>
          <a:prstGeom prst="rect">
            <a:avLst/>
          </a:prstGeom>
          <a:noFill/>
        </p:spPr>
        <p:txBody>
          <a:bodyPr wrap="none" rtlCol="0">
            <a:spAutoFit/>
          </a:bodyPr>
          <a:lstStyle/>
          <a:p>
            <a:r>
              <a:rPr kumimoji="1" lang="ja-JP" altLang="en-US" dirty="0">
                <a:latin typeface="ＭＳ 明朝" panose="02020609040205080304" pitchFamily="17" charset="-128"/>
                <a:ea typeface="ＭＳ 明朝" panose="02020609040205080304" pitchFamily="17" charset="-128"/>
              </a:rPr>
              <a:t>検知手段：</a:t>
            </a:r>
            <a:endParaRPr kumimoji="1" lang="en-US" altLang="ja-JP" dirty="0">
              <a:latin typeface="ＭＳ 明朝" panose="02020609040205080304" pitchFamily="17" charset="-128"/>
              <a:ea typeface="ＭＳ 明朝" panose="02020609040205080304" pitchFamily="17" charset="-128"/>
            </a:endParaRPr>
          </a:p>
          <a:p>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① ファイアウォールの通信ログで不審な端末から</a:t>
            </a:r>
            <a:r>
              <a:rPr lang="ja-JP" altLang="en-US" dirty="0">
                <a:latin typeface="ＭＳ 明朝" panose="02020609040205080304" pitchFamily="17" charset="-128"/>
                <a:ea typeface="ＭＳ 明朝" panose="02020609040205080304" pitchFamily="17" charset="-128"/>
              </a:rPr>
              <a:t>連接試験用端末</a:t>
            </a:r>
            <a:r>
              <a:rPr lang="en-US" altLang="ja-JP" dirty="0">
                <a:latin typeface="ＭＳ 明朝" panose="02020609040205080304" pitchFamily="17" charset="-128"/>
                <a:ea typeface="ＭＳ 明朝" panose="02020609040205080304" pitchFamily="17" charset="-128"/>
              </a:rPr>
              <a:t>A</a:t>
            </a:r>
            <a:r>
              <a:rPr lang="ja-JP" altLang="en-US" dirty="0">
                <a:latin typeface="ＭＳ 明朝" panose="02020609040205080304" pitchFamily="17" charset="-128"/>
                <a:ea typeface="ＭＳ 明朝" panose="02020609040205080304" pitchFamily="17" charset="-128"/>
              </a:rPr>
              <a:t>に対する通信は存在しないかを確認</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② ファイアウォールで連接試験用端末</a:t>
            </a:r>
            <a:r>
              <a:rPr lang="en-US" altLang="ja-JP" dirty="0">
                <a:latin typeface="ＭＳ 明朝" panose="02020609040205080304" pitchFamily="17" charset="-128"/>
                <a:ea typeface="ＭＳ 明朝" panose="02020609040205080304" pitchFamily="17" charset="-128"/>
              </a:rPr>
              <a:t>A</a:t>
            </a:r>
            <a:r>
              <a:rPr lang="ja-JP" altLang="en-US" dirty="0">
                <a:latin typeface="ＭＳ 明朝" panose="02020609040205080304" pitchFamily="17" charset="-128"/>
                <a:ea typeface="ＭＳ 明朝" panose="02020609040205080304" pitchFamily="17" charset="-128"/>
              </a:rPr>
              <a:t>に対する攻撃的な通信は存在しないか（普段見てる？）</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③ 連接試験用端末</a:t>
            </a:r>
            <a:r>
              <a:rPr lang="en-US" altLang="ja-JP" dirty="0">
                <a:latin typeface="ＭＳ 明朝" panose="02020609040205080304" pitchFamily="17" charset="-128"/>
                <a:ea typeface="ＭＳ 明朝" panose="02020609040205080304" pitchFamily="17" charset="-128"/>
              </a:rPr>
              <a:t>A</a:t>
            </a:r>
            <a:r>
              <a:rPr lang="ja-JP" altLang="en-US" dirty="0">
                <a:latin typeface="ＭＳ 明朝" panose="02020609040205080304" pitchFamily="17" charset="-128"/>
                <a:ea typeface="ＭＳ 明朝" panose="02020609040205080304" pitchFamily="17" charset="-128"/>
              </a:rPr>
              <a:t>の</a:t>
            </a:r>
            <a:r>
              <a:rPr lang="en-US" altLang="ja-JP" dirty="0">
                <a:latin typeface="ＭＳ 明朝" panose="02020609040205080304" pitchFamily="17" charset="-128"/>
                <a:ea typeface="ＭＳ 明朝" panose="02020609040205080304" pitchFamily="17" charset="-128"/>
              </a:rPr>
              <a:t>Security</a:t>
            </a:r>
            <a:r>
              <a:rPr lang="ja-JP" altLang="en-US" dirty="0">
                <a:latin typeface="ＭＳ 明朝" panose="02020609040205080304" pitchFamily="17" charset="-128"/>
                <a:ea typeface="ＭＳ 明朝" panose="02020609040205080304" pitchFamily="17" charset="-128"/>
              </a:rPr>
              <a:t>ログで不明なアドレスからアクセスがないかを確認 </a:t>
            </a:r>
            <a:r>
              <a:rPr lang="en-US" altLang="ja-JP" dirty="0">
                <a:latin typeface="ＭＳ 明朝" panose="02020609040205080304" pitchFamily="17" charset="-128"/>
                <a:ea typeface="ＭＳ 明朝" panose="02020609040205080304" pitchFamily="17" charset="-128"/>
              </a:rPr>
              <a:t>(4624/4625)</a:t>
            </a: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④ 連接試験用端末</a:t>
            </a:r>
            <a:r>
              <a:rPr lang="en-US" altLang="ja-JP" dirty="0">
                <a:latin typeface="ＭＳ 明朝" panose="02020609040205080304" pitchFamily="17" charset="-128"/>
                <a:ea typeface="ＭＳ 明朝" panose="02020609040205080304" pitchFamily="17" charset="-128"/>
              </a:rPr>
              <a:t>A</a:t>
            </a:r>
            <a:r>
              <a:rPr lang="ja-JP" altLang="en-US" dirty="0">
                <a:latin typeface="ＭＳ 明朝" panose="02020609040205080304" pitchFamily="17" charset="-128"/>
                <a:ea typeface="ＭＳ 明朝" panose="02020609040205080304" pitchFamily="17" charset="-128"/>
              </a:rPr>
              <a:t>の</a:t>
            </a:r>
            <a:r>
              <a:rPr lang="en-US" altLang="ja-JP" dirty="0">
                <a:latin typeface="ＭＳ 明朝" panose="02020609040205080304" pitchFamily="17" charset="-128"/>
                <a:ea typeface="ＭＳ 明朝" panose="02020609040205080304" pitchFamily="17" charset="-128"/>
              </a:rPr>
              <a:t>Security</a:t>
            </a:r>
            <a:r>
              <a:rPr lang="ja-JP" altLang="en-US" dirty="0">
                <a:latin typeface="ＭＳ 明朝" panose="02020609040205080304" pitchFamily="17" charset="-128"/>
                <a:ea typeface="ＭＳ 明朝" panose="02020609040205080304" pitchFamily="17" charset="-128"/>
              </a:rPr>
              <a:t>ログで不審なサービスやタスクが登録されていないかを確認</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⑤ 連接試験用端末</a:t>
            </a:r>
            <a:r>
              <a:rPr lang="en-US" altLang="ja-JP" dirty="0">
                <a:latin typeface="ＭＳ 明朝" panose="02020609040205080304" pitchFamily="17" charset="-128"/>
                <a:ea typeface="ＭＳ 明朝" panose="02020609040205080304" pitchFamily="17" charset="-128"/>
              </a:rPr>
              <a:t>A</a:t>
            </a:r>
            <a:r>
              <a:rPr lang="ja-JP" altLang="en-US" dirty="0">
                <a:latin typeface="ＭＳ 明朝" panose="02020609040205080304" pitchFamily="17" charset="-128"/>
                <a:ea typeface="ＭＳ 明朝" panose="02020609040205080304" pitchFamily="17" charset="-128"/>
              </a:rPr>
              <a:t>の</a:t>
            </a:r>
            <a:r>
              <a:rPr lang="en-US" altLang="ja-JP" dirty="0">
                <a:latin typeface="ＭＳ 明朝" panose="02020609040205080304" pitchFamily="17" charset="-128"/>
                <a:ea typeface="ＭＳ 明朝" panose="02020609040205080304" pitchFamily="17" charset="-128"/>
              </a:rPr>
              <a:t>Defender</a:t>
            </a:r>
            <a:r>
              <a:rPr lang="ja-JP" altLang="en-US" dirty="0">
                <a:latin typeface="ＭＳ 明朝" panose="02020609040205080304" pitchFamily="17" charset="-128"/>
                <a:ea typeface="ＭＳ 明朝" panose="02020609040205080304" pitchFamily="17" charset="-128"/>
              </a:rPr>
              <a:t>ログで正常に動作しているかを確認</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⑥ 連接試験用端末</a:t>
            </a:r>
            <a:r>
              <a:rPr lang="en-US" altLang="ja-JP" dirty="0">
                <a:latin typeface="ＭＳ 明朝" panose="02020609040205080304" pitchFamily="17" charset="-128"/>
                <a:ea typeface="ＭＳ 明朝" panose="02020609040205080304" pitchFamily="17" charset="-128"/>
              </a:rPr>
              <a:t>A</a:t>
            </a:r>
            <a:r>
              <a:rPr lang="ja-JP" altLang="en-US" dirty="0">
                <a:latin typeface="ＭＳ 明朝" panose="02020609040205080304" pitchFamily="17" charset="-128"/>
                <a:ea typeface="ＭＳ 明朝" panose="02020609040205080304" pitchFamily="17" charset="-128"/>
              </a:rPr>
              <a:t>の</a:t>
            </a:r>
            <a:r>
              <a:rPr lang="en-US" altLang="ja-JP" dirty="0">
                <a:latin typeface="ＭＳ 明朝" panose="02020609040205080304" pitchFamily="17" charset="-128"/>
                <a:ea typeface="ＭＳ 明朝" panose="02020609040205080304" pitchFamily="17" charset="-128"/>
              </a:rPr>
              <a:t>netstat</a:t>
            </a:r>
            <a:r>
              <a:rPr lang="ja-JP" altLang="en-US" dirty="0">
                <a:latin typeface="ＭＳ 明朝" panose="02020609040205080304" pitchFamily="17" charset="-128"/>
                <a:ea typeface="ＭＳ 明朝" panose="02020609040205080304" pitchFamily="17" charset="-128"/>
              </a:rPr>
              <a:t>実行結果に不審な通信先が含まれていないかを確認</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⑦ 連接試験用端末</a:t>
            </a:r>
            <a:r>
              <a:rPr lang="en-US" altLang="ja-JP" dirty="0">
                <a:latin typeface="ＭＳ 明朝" panose="02020609040205080304" pitchFamily="17" charset="-128"/>
                <a:ea typeface="ＭＳ 明朝" panose="02020609040205080304" pitchFamily="17" charset="-128"/>
              </a:rPr>
              <a:t>A</a:t>
            </a:r>
            <a:r>
              <a:rPr lang="ja-JP" altLang="en-US" dirty="0">
                <a:latin typeface="ＭＳ 明朝" panose="02020609040205080304" pitchFamily="17" charset="-128"/>
                <a:ea typeface="ＭＳ 明朝" panose="02020609040205080304" pitchFamily="17" charset="-128"/>
              </a:rPr>
              <a:t>の</a:t>
            </a:r>
            <a:r>
              <a:rPr lang="en-US" altLang="ja-JP" dirty="0" err="1">
                <a:latin typeface="ＭＳ 明朝" panose="02020609040205080304" pitchFamily="17" charset="-128"/>
                <a:ea typeface="ＭＳ 明朝" panose="02020609040205080304" pitchFamily="17" charset="-128"/>
              </a:rPr>
              <a:t>tasklist</a:t>
            </a:r>
            <a:r>
              <a:rPr lang="ja-JP" altLang="en-US" dirty="0">
                <a:latin typeface="ＭＳ 明朝" panose="02020609040205080304" pitchFamily="17" charset="-128"/>
                <a:ea typeface="ＭＳ 明朝" panose="02020609040205080304" pitchFamily="17" charset="-128"/>
              </a:rPr>
              <a:t>実行結果に不審なプロセスが含まれていないかを確認</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緩和策：</a:t>
            </a:r>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連接試験用端末</a:t>
            </a:r>
            <a:r>
              <a:rPr lang="en-US" altLang="ja-JP" dirty="0">
                <a:latin typeface="ＭＳ 明朝" panose="02020609040205080304" pitchFamily="17" charset="-128"/>
                <a:ea typeface="ＭＳ 明朝" panose="02020609040205080304" pitchFamily="17" charset="-128"/>
              </a:rPr>
              <a:t>A</a:t>
            </a:r>
            <a:r>
              <a:rPr lang="ja-JP" altLang="en-US" dirty="0">
                <a:latin typeface="ＭＳ 明朝" panose="02020609040205080304" pitchFamily="17" charset="-128"/>
                <a:ea typeface="ＭＳ 明朝" panose="02020609040205080304" pitchFamily="17" charset="-128"/>
              </a:rPr>
              <a:t>に対する通信元やポートを</a:t>
            </a:r>
            <a:r>
              <a:rPr lang="en-US" altLang="ja-JP" dirty="0">
                <a:latin typeface="ＭＳ 明朝" panose="02020609040205080304" pitchFamily="17" charset="-128"/>
                <a:ea typeface="ＭＳ 明朝" panose="02020609040205080304" pitchFamily="17" charset="-128"/>
              </a:rPr>
              <a:t>FW</a:t>
            </a:r>
            <a:r>
              <a:rPr lang="ja-JP" altLang="en-US" dirty="0">
                <a:latin typeface="ＭＳ 明朝" panose="02020609040205080304" pitchFamily="17" charset="-128"/>
                <a:ea typeface="ＭＳ 明朝" panose="02020609040205080304" pitchFamily="17" charset="-128"/>
              </a:rPr>
              <a:t>ルールで厳しくする。</a:t>
            </a:r>
            <a:endParaRPr lang="en-US" altLang="ja-JP"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3353403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219589B-E704-411B-AE52-524793F02BDC}"/>
              </a:ext>
            </a:extLst>
          </p:cNvPr>
          <p:cNvSpPr txBox="1"/>
          <p:nvPr/>
        </p:nvSpPr>
        <p:spPr>
          <a:xfrm>
            <a:off x="4323346" y="2579566"/>
            <a:ext cx="3276859" cy="1323439"/>
          </a:xfrm>
          <a:prstGeom prst="rect">
            <a:avLst/>
          </a:prstGeom>
          <a:noFill/>
        </p:spPr>
        <p:txBody>
          <a:bodyPr wrap="none" rtlCol="0">
            <a:spAutoFit/>
          </a:bodyPr>
          <a:lstStyle/>
          <a:p>
            <a:pPr algn="ctr"/>
            <a:r>
              <a:rPr kumimoji="1" lang="ja-JP" altLang="en-US" sz="8000" b="1" dirty="0">
                <a:latin typeface="ＭＳ 明朝" panose="02020609040205080304" pitchFamily="17" charset="-128"/>
                <a:ea typeface="ＭＳ 明朝" panose="02020609040205080304" pitchFamily="17" charset="-128"/>
              </a:rPr>
              <a:t>仮説２</a:t>
            </a:r>
          </a:p>
        </p:txBody>
      </p:sp>
    </p:spTree>
    <p:extLst>
      <p:ext uri="{BB962C8B-B14F-4D97-AF65-F5344CB8AC3E}">
        <p14:creationId xmlns:p14="http://schemas.microsoft.com/office/powerpoint/2010/main" val="9814951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E148EEF2-71DB-4675-9011-B7F50493494D}"/>
              </a:ext>
            </a:extLst>
          </p:cNvPr>
          <p:cNvPicPr>
            <a:picLocks noChangeAspect="1"/>
          </p:cNvPicPr>
          <p:nvPr/>
        </p:nvPicPr>
        <p:blipFill>
          <a:blip r:embed="rId2"/>
          <a:stretch>
            <a:fillRect/>
          </a:stretch>
        </p:blipFill>
        <p:spPr>
          <a:xfrm>
            <a:off x="1928374" y="1339951"/>
            <a:ext cx="8335249" cy="5376123"/>
          </a:xfrm>
          <a:prstGeom prst="rect">
            <a:avLst/>
          </a:prstGeom>
          <a:ln>
            <a:solidFill>
              <a:schemeClr val="tx1"/>
            </a:solidFill>
          </a:ln>
        </p:spPr>
      </p:pic>
      <p:sp>
        <p:nvSpPr>
          <p:cNvPr id="5" name="楕円 4">
            <a:extLst>
              <a:ext uri="{FF2B5EF4-FFF2-40B4-BE49-F238E27FC236}">
                <a16:creationId xmlns:a16="http://schemas.microsoft.com/office/drawing/2014/main" id="{8326FAA1-1588-4918-A17F-6F14972EC19F}"/>
              </a:ext>
            </a:extLst>
          </p:cNvPr>
          <p:cNvSpPr/>
          <p:nvPr/>
        </p:nvSpPr>
        <p:spPr>
          <a:xfrm>
            <a:off x="5805257" y="3720813"/>
            <a:ext cx="389070" cy="3942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矢印: 下 5">
            <a:extLst>
              <a:ext uri="{FF2B5EF4-FFF2-40B4-BE49-F238E27FC236}">
                <a16:creationId xmlns:a16="http://schemas.microsoft.com/office/drawing/2014/main" id="{AB70AFAC-8EDB-432F-B3E6-37DE69CF810C}"/>
              </a:ext>
            </a:extLst>
          </p:cNvPr>
          <p:cNvSpPr/>
          <p:nvPr/>
        </p:nvSpPr>
        <p:spPr>
          <a:xfrm>
            <a:off x="2922165" y="1820411"/>
            <a:ext cx="235635" cy="1100158"/>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6F8A05F6-2059-462D-A51F-3F711CE19541}"/>
              </a:ext>
            </a:extLst>
          </p:cNvPr>
          <p:cNvSpPr/>
          <p:nvPr/>
        </p:nvSpPr>
        <p:spPr>
          <a:xfrm rot="17348621">
            <a:off x="4273749" y="2136034"/>
            <a:ext cx="262065" cy="2497306"/>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タイトル 1">
            <a:extLst>
              <a:ext uri="{FF2B5EF4-FFF2-40B4-BE49-F238E27FC236}">
                <a16:creationId xmlns:a16="http://schemas.microsoft.com/office/drawing/2014/main" id="{38F6562A-BD1A-4FBB-8E52-A80EACAD2F72}"/>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仮説２</a:t>
            </a:r>
          </a:p>
        </p:txBody>
      </p:sp>
      <p:sp>
        <p:nvSpPr>
          <p:cNvPr id="12" name="矢印: 下 11">
            <a:extLst>
              <a:ext uri="{FF2B5EF4-FFF2-40B4-BE49-F238E27FC236}">
                <a16:creationId xmlns:a16="http://schemas.microsoft.com/office/drawing/2014/main" id="{BC262EE2-E85C-42F8-951E-33F0749A450D}"/>
              </a:ext>
            </a:extLst>
          </p:cNvPr>
          <p:cNvSpPr/>
          <p:nvPr/>
        </p:nvSpPr>
        <p:spPr>
          <a:xfrm rot="5400000" flipH="1">
            <a:off x="3661303" y="1151930"/>
            <a:ext cx="239975" cy="1246981"/>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a:extLst>
              <a:ext uri="{FF2B5EF4-FFF2-40B4-BE49-F238E27FC236}">
                <a16:creationId xmlns:a16="http://schemas.microsoft.com/office/drawing/2014/main" id="{ED4CA916-A735-4148-BAC0-5757F75A4219}"/>
              </a:ext>
            </a:extLst>
          </p:cNvPr>
          <p:cNvPicPr>
            <a:picLocks noChangeAspect="1"/>
          </p:cNvPicPr>
          <p:nvPr/>
        </p:nvPicPr>
        <p:blipFill>
          <a:blip r:embed="rId3"/>
          <a:stretch>
            <a:fillRect/>
          </a:stretch>
        </p:blipFill>
        <p:spPr>
          <a:xfrm>
            <a:off x="4541422" y="1646958"/>
            <a:ext cx="543740" cy="354108"/>
          </a:xfrm>
          <a:prstGeom prst="rect">
            <a:avLst/>
          </a:prstGeom>
          <a:ln>
            <a:solidFill>
              <a:schemeClr val="tx1"/>
            </a:solidFill>
          </a:ln>
        </p:spPr>
      </p:pic>
      <p:sp>
        <p:nvSpPr>
          <p:cNvPr id="14" name="テキスト ボックス 13">
            <a:extLst>
              <a:ext uri="{FF2B5EF4-FFF2-40B4-BE49-F238E27FC236}">
                <a16:creationId xmlns:a16="http://schemas.microsoft.com/office/drawing/2014/main" id="{A4CEB8F4-3487-481F-90F1-688F7991B626}"/>
              </a:ext>
            </a:extLst>
          </p:cNvPr>
          <p:cNvSpPr txBox="1"/>
          <p:nvPr/>
        </p:nvSpPr>
        <p:spPr>
          <a:xfrm>
            <a:off x="6401154" y="3099433"/>
            <a:ext cx="2185214" cy="1015663"/>
          </a:xfrm>
          <a:prstGeom prst="rect">
            <a:avLst/>
          </a:prstGeom>
          <a:solidFill>
            <a:schemeClr val="bg1"/>
          </a:solidFill>
          <a:ln>
            <a:solidFill>
              <a:schemeClr val="tx1"/>
            </a:solidFill>
          </a:ln>
        </p:spPr>
        <p:txBody>
          <a:bodyPr wrap="none" rtlCol="0">
            <a:spAutoFit/>
          </a:bodyPr>
          <a:lstStyle/>
          <a:p>
            <a:r>
              <a:rPr kumimoji="1" lang="ja-JP" altLang="en-US" sz="1200" dirty="0">
                <a:latin typeface="ＭＳ 明朝" panose="02020609040205080304" pitchFamily="17" charset="-128"/>
                <a:ea typeface="ＭＳ 明朝" panose="02020609040205080304" pitchFamily="17" charset="-128"/>
              </a:rPr>
              <a:t>仮想化サーバー２</a:t>
            </a:r>
            <a:endParaRPr kumimoji="1" lang="en-US" altLang="ja-JP" sz="1200" dirty="0">
              <a:latin typeface="ＭＳ 明朝" panose="02020609040205080304" pitchFamily="17" charset="-128"/>
              <a:ea typeface="ＭＳ 明朝" panose="02020609040205080304" pitchFamily="17" charset="-128"/>
            </a:endParaRPr>
          </a:p>
          <a:p>
            <a:r>
              <a:rPr kumimoji="1" lang="ja-JP" altLang="en-US" sz="1200" dirty="0">
                <a:latin typeface="ＭＳ 明朝" panose="02020609040205080304" pitchFamily="17" charset="-128"/>
                <a:ea typeface="ＭＳ 明朝" panose="02020609040205080304" pitchFamily="17" charset="-128"/>
              </a:rPr>
              <a:t>以下の論理サーバーを有する</a:t>
            </a:r>
            <a:endParaRPr kumimoji="1" lang="en-US" altLang="ja-JP" sz="1200" dirty="0">
              <a:latin typeface="ＭＳ 明朝" panose="02020609040205080304" pitchFamily="17" charset="-128"/>
              <a:ea typeface="ＭＳ 明朝" panose="02020609040205080304" pitchFamily="17" charset="-128"/>
            </a:endParaRPr>
          </a:p>
          <a:p>
            <a:r>
              <a:rPr kumimoji="1" lang="en-US" altLang="ja-JP" sz="1200" dirty="0">
                <a:latin typeface="ＭＳ 明朝" panose="02020609040205080304" pitchFamily="17" charset="-128"/>
                <a:ea typeface="ＭＳ 明朝" panose="02020609040205080304" pitchFamily="17" charset="-128"/>
              </a:rPr>
              <a:t>1. </a:t>
            </a:r>
            <a:r>
              <a:rPr kumimoji="1" lang="ja-JP" altLang="en-US" sz="1200" dirty="0">
                <a:latin typeface="ＭＳ 明朝" panose="02020609040205080304" pitchFamily="17" charset="-128"/>
                <a:ea typeface="ＭＳ 明朝" panose="02020609040205080304" pitchFamily="17" charset="-128"/>
              </a:rPr>
              <a:t>認証サーバ</a:t>
            </a:r>
            <a:endParaRPr kumimoji="1" lang="en-US" altLang="ja-JP" sz="1200" dirty="0">
              <a:latin typeface="ＭＳ 明朝" panose="02020609040205080304" pitchFamily="17" charset="-128"/>
              <a:ea typeface="ＭＳ 明朝" panose="02020609040205080304" pitchFamily="17" charset="-128"/>
            </a:endParaRPr>
          </a:p>
          <a:p>
            <a:r>
              <a:rPr lang="en-US" altLang="ja-JP" sz="1200" dirty="0">
                <a:latin typeface="ＭＳ 明朝" panose="02020609040205080304" pitchFamily="17" charset="-128"/>
                <a:ea typeface="ＭＳ 明朝" panose="02020609040205080304" pitchFamily="17" charset="-128"/>
              </a:rPr>
              <a:t>2.</a:t>
            </a:r>
            <a:r>
              <a:rPr lang="ja-JP" altLang="en-US" sz="1200" dirty="0">
                <a:latin typeface="ＭＳ 明朝" panose="02020609040205080304" pitchFamily="17" charset="-128"/>
                <a:ea typeface="ＭＳ 明朝" panose="02020609040205080304" pitchFamily="17" charset="-128"/>
              </a:rPr>
              <a:t> </a:t>
            </a:r>
            <a:r>
              <a:rPr kumimoji="1" lang="ja-JP" altLang="en-US" sz="1200" dirty="0">
                <a:latin typeface="ＭＳ 明朝" panose="02020609040205080304" pitchFamily="17" charset="-128"/>
                <a:ea typeface="ＭＳ 明朝" panose="02020609040205080304" pitchFamily="17" charset="-128"/>
              </a:rPr>
              <a:t>プログラム等管理サーバ</a:t>
            </a:r>
            <a:endParaRPr kumimoji="1" lang="en-US" altLang="ja-JP" sz="1200" dirty="0">
              <a:latin typeface="ＭＳ 明朝" panose="02020609040205080304" pitchFamily="17" charset="-128"/>
              <a:ea typeface="ＭＳ 明朝" panose="02020609040205080304" pitchFamily="17" charset="-128"/>
            </a:endParaRPr>
          </a:p>
          <a:p>
            <a:r>
              <a:rPr lang="en-US" altLang="ja-JP" sz="1200" dirty="0">
                <a:latin typeface="ＭＳ 明朝" panose="02020609040205080304" pitchFamily="17" charset="-128"/>
                <a:ea typeface="ＭＳ 明朝" panose="02020609040205080304" pitchFamily="17" charset="-128"/>
              </a:rPr>
              <a:t>3.</a:t>
            </a:r>
            <a:r>
              <a:rPr lang="ja-JP" altLang="en-US" sz="1200" dirty="0">
                <a:latin typeface="ＭＳ 明朝" panose="02020609040205080304" pitchFamily="17" charset="-128"/>
                <a:ea typeface="ＭＳ 明朝" panose="02020609040205080304" pitchFamily="17" charset="-128"/>
              </a:rPr>
              <a:t> </a:t>
            </a:r>
            <a:r>
              <a:rPr kumimoji="1" lang="en-US" altLang="ja-JP" sz="1200" dirty="0">
                <a:latin typeface="ＭＳ 明朝" panose="02020609040205080304" pitchFamily="17" charset="-128"/>
                <a:ea typeface="ＭＳ 明朝" panose="02020609040205080304" pitchFamily="17" charset="-128"/>
              </a:rPr>
              <a:t>CPES</a:t>
            </a:r>
            <a:r>
              <a:rPr kumimoji="1" lang="ja-JP" altLang="en-US" sz="1200" dirty="0">
                <a:latin typeface="ＭＳ 明朝" panose="02020609040205080304" pitchFamily="17" charset="-128"/>
                <a:ea typeface="ＭＳ 明朝" panose="02020609040205080304" pitchFamily="17" charset="-128"/>
              </a:rPr>
              <a:t>管理サーバ</a:t>
            </a:r>
          </a:p>
        </p:txBody>
      </p:sp>
      <p:sp>
        <p:nvSpPr>
          <p:cNvPr id="15" name="正方形/長方形 14">
            <a:extLst>
              <a:ext uri="{FF2B5EF4-FFF2-40B4-BE49-F238E27FC236}">
                <a16:creationId xmlns:a16="http://schemas.microsoft.com/office/drawing/2014/main" id="{D5EB3252-2AF9-4963-A5AB-925BBE7581C8}"/>
              </a:ext>
            </a:extLst>
          </p:cNvPr>
          <p:cNvSpPr/>
          <p:nvPr/>
        </p:nvSpPr>
        <p:spPr>
          <a:xfrm>
            <a:off x="1449895" y="693620"/>
            <a:ext cx="9292205" cy="861774"/>
          </a:xfrm>
          <a:prstGeom prst="rect">
            <a:avLst/>
          </a:prstGeom>
        </p:spPr>
        <p:txBody>
          <a:bodyPr wrap="square">
            <a:spAutoFit/>
          </a:bodyPr>
          <a:lstStyle/>
          <a:p>
            <a:r>
              <a:rPr lang="ja-JP" altLang="en-US" sz="1600" dirty="0">
                <a:latin typeface="ＭＳ 明朝" panose="02020609040205080304" pitchFamily="17" charset="-128"/>
                <a:ea typeface="ＭＳ 明朝" panose="02020609040205080304" pitchFamily="17" charset="-128"/>
              </a:rPr>
              <a:t>仮説２：</a:t>
            </a:r>
            <a:r>
              <a:rPr lang="en-US" altLang="ja-JP" sz="1600" dirty="0">
                <a:latin typeface="ＭＳ 明朝" panose="02020609040205080304" pitchFamily="17" charset="-128"/>
                <a:ea typeface="ＭＳ 明朝" panose="02020609040205080304" pitchFamily="17" charset="-128"/>
              </a:rPr>
              <a:t>DII</a:t>
            </a:r>
            <a:r>
              <a:rPr lang="ja-JP" altLang="en-US" sz="1600" dirty="0">
                <a:latin typeface="ＭＳ 明朝" panose="02020609040205080304" pitchFamily="17" charset="-128"/>
                <a:ea typeface="ＭＳ 明朝" panose="02020609040205080304" pitchFamily="17" charset="-128"/>
              </a:rPr>
              <a:t>上の不正な端末から</a:t>
            </a:r>
            <a:r>
              <a:rPr lang="en-US" altLang="ja-JP" sz="1600" dirty="0">
                <a:latin typeface="ＭＳ 明朝" panose="02020609040205080304" pitchFamily="17" charset="-128"/>
                <a:ea typeface="ＭＳ 明朝" panose="02020609040205080304" pitchFamily="17" charset="-128"/>
              </a:rPr>
              <a:t>FADP</a:t>
            </a:r>
            <a:r>
              <a:rPr lang="ja-JP" altLang="en-US" sz="1600" dirty="0">
                <a:latin typeface="ＭＳ 明朝" panose="02020609040205080304" pitchFamily="17" charset="-128"/>
                <a:ea typeface="ＭＳ 明朝" panose="02020609040205080304" pitchFamily="17" charset="-128"/>
              </a:rPr>
              <a:t>ネットワークにある仮想化サーバー２上の認証サーバーからユーザー情報を摂取</a:t>
            </a:r>
            <a:endParaRPr lang="en-US" altLang="ja-JP" sz="1600" dirty="0">
              <a:latin typeface="ＭＳ 明朝" panose="02020609040205080304" pitchFamily="17" charset="-128"/>
              <a:ea typeface="ＭＳ 明朝" panose="02020609040205080304" pitchFamily="17" charset="-128"/>
            </a:endParaRPr>
          </a:p>
          <a:p>
            <a:endParaRPr lang="en-US" altLang="ja-JP" sz="16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2636130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28C43062-54B4-4B00-BAE4-40999FE2A1E5}"/>
              </a:ext>
            </a:extLst>
          </p:cNvPr>
          <p:cNvPicPr>
            <a:picLocks noChangeAspect="1"/>
          </p:cNvPicPr>
          <p:nvPr/>
        </p:nvPicPr>
        <p:blipFill>
          <a:blip r:embed="rId2"/>
          <a:stretch>
            <a:fillRect/>
          </a:stretch>
        </p:blipFill>
        <p:spPr>
          <a:xfrm>
            <a:off x="7700726" y="2401080"/>
            <a:ext cx="652223" cy="521778"/>
          </a:xfrm>
          <a:prstGeom prst="rect">
            <a:avLst/>
          </a:prstGeom>
        </p:spPr>
      </p:pic>
      <p:sp>
        <p:nvSpPr>
          <p:cNvPr id="2" name="タイトル 1">
            <a:extLst>
              <a:ext uri="{FF2B5EF4-FFF2-40B4-BE49-F238E27FC236}">
                <a16:creationId xmlns:a16="http://schemas.microsoft.com/office/drawing/2014/main" id="{83F14949-9CE5-45BE-BC5D-3300EEEA9F1F}"/>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構成図（簡略化）想定侵入経路</a:t>
            </a:r>
          </a:p>
        </p:txBody>
      </p:sp>
      <p:cxnSp>
        <p:nvCxnSpPr>
          <p:cNvPr id="3" name="直線コネクタ 2">
            <a:extLst>
              <a:ext uri="{FF2B5EF4-FFF2-40B4-BE49-F238E27FC236}">
                <a16:creationId xmlns:a16="http://schemas.microsoft.com/office/drawing/2014/main" id="{85C36197-3526-4A6D-8E36-9C0A7CAB5B5F}"/>
              </a:ext>
            </a:extLst>
          </p:cNvPr>
          <p:cNvCxnSpPr>
            <a:cxnSpLocks/>
          </p:cNvCxnSpPr>
          <p:nvPr/>
        </p:nvCxnSpPr>
        <p:spPr>
          <a:xfrm>
            <a:off x="3886116" y="927651"/>
            <a:ext cx="0" cy="15320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00452DCD-78B9-40D6-8578-DFF3494CB6BD}"/>
              </a:ext>
            </a:extLst>
          </p:cNvPr>
          <p:cNvSpPr txBox="1"/>
          <p:nvPr/>
        </p:nvSpPr>
        <p:spPr>
          <a:xfrm>
            <a:off x="3275276"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5" name="テキスト ボックス 4">
            <a:extLst>
              <a:ext uri="{FF2B5EF4-FFF2-40B4-BE49-F238E27FC236}">
                <a16:creationId xmlns:a16="http://schemas.microsoft.com/office/drawing/2014/main" id="{EC25BA71-091D-4C25-9737-3F7773015E44}"/>
              </a:ext>
            </a:extLst>
          </p:cNvPr>
          <p:cNvSpPr txBox="1"/>
          <p:nvPr/>
        </p:nvSpPr>
        <p:spPr>
          <a:xfrm>
            <a:off x="3275274" y="1919635"/>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6" name="雲 5">
            <a:extLst>
              <a:ext uri="{FF2B5EF4-FFF2-40B4-BE49-F238E27FC236}">
                <a16:creationId xmlns:a16="http://schemas.microsoft.com/office/drawing/2014/main" id="{B7BC6461-E36C-4433-8B9D-40B66271D6B7}"/>
              </a:ext>
            </a:extLst>
          </p:cNvPr>
          <p:cNvSpPr/>
          <p:nvPr/>
        </p:nvSpPr>
        <p:spPr>
          <a:xfrm>
            <a:off x="3061355" y="742689"/>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latin typeface="ＭＳ 明朝" panose="02020609040205080304" pitchFamily="17" charset="-128"/>
                <a:ea typeface="ＭＳ 明朝" panose="02020609040205080304" pitchFamily="17" charset="-128"/>
              </a:rPr>
              <a:t>DII</a:t>
            </a:r>
            <a:endParaRPr kumimoji="1" lang="ja-JP" altLang="en-US" sz="2800" dirty="0">
              <a:solidFill>
                <a:schemeClr val="tx1"/>
              </a:solidFill>
              <a:latin typeface="ＭＳ 明朝" panose="02020609040205080304" pitchFamily="17" charset="-128"/>
              <a:ea typeface="ＭＳ 明朝" panose="02020609040205080304" pitchFamily="17" charset="-128"/>
            </a:endParaRPr>
          </a:p>
        </p:txBody>
      </p:sp>
      <p:cxnSp>
        <p:nvCxnSpPr>
          <p:cNvPr id="7" name="直線コネクタ 6">
            <a:extLst>
              <a:ext uri="{FF2B5EF4-FFF2-40B4-BE49-F238E27FC236}">
                <a16:creationId xmlns:a16="http://schemas.microsoft.com/office/drawing/2014/main" id="{CF691258-08DC-41C9-A8A7-F893C0F6DFB0}"/>
              </a:ext>
            </a:extLst>
          </p:cNvPr>
          <p:cNvCxnSpPr>
            <a:cxnSpLocks/>
            <a:endCxn id="16" idx="0"/>
          </p:cNvCxnSpPr>
          <p:nvPr/>
        </p:nvCxnSpPr>
        <p:spPr>
          <a:xfrm>
            <a:off x="8001671" y="818919"/>
            <a:ext cx="0" cy="1582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6A1A08AD-7D7D-4CF7-8D75-DD26E2D3B442}"/>
              </a:ext>
            </a:extLst>
          </p:cNvPr>
          <p:cNvSpPr txBox="1"/>
          <p:nvPr/>
        </p:nvSpPr>
        <p:spPr>
          <a:xfrm>
            <a:off x="7389772"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9" name="テキスト ボックス 8">
            <a:extLst>
              <a:ext uri="{FF2B5EF4-FFF2-40B4-BE49-F238E27FC236}">
                <a16:creationId xmlns:a16="http://schemas.microsoft.com/office/drawing/2014/main" id="{6CD33659-78AC-4077-B2F4-810748427629}"/>
              </a:ext>
            </a:extLst>
          </p:cNvPr>
          <p:cNvSpPr txBox="1"/>
          <p:nvPr/>
        </p:nvSpPr>
        <p:spPr>
          <a:xfrm>
            <a:off x="7389772" y="1905114"/>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10" name="雲 9">
            <a:extLst>
              <a:ext uri="{FF2B5EF4-FFF2-40B4-BE49-F238E27FC236}">
                <a16:creationId xmlns:a16="http://schemas.microsoft.com/office/drawing/2014/main" id="{6CC9B7F5-56AE-497C-9C72-F4F0AEDE82EA}"/>
              </a:ext>
            </a:extLst>
          </p:cNvPr>
          <p:cNvSpPr/>
          <p:nvPr/>
        </p:nvSpPr>
        <p:spPr>
          <a:xfrm>
            <a:off x="7125331" y="763685"/>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latin typeface="ＭＳ 明朝" panose="02020609040205080304" pitchFamily="17" charset="-128"/>
                <a:ea typeface="ＭＳ 明朝" panose="02020609040205080304" pitchFamily="17" charset="-128"/>
              </a:rPr>
              <a:t>FACE</a:t>
            </a:r>
            <a:endParaRPr kumimoji="1" lang="ja-JP" altLang="en-US" sz="2000" dirty="0">
              <a:solidFill>
                <a:schemeClr val="tx1"/>
              </a:solidFill>
              <a:latin typeface="ＭＳ 明朝" panose="02020609040205080304" pitchFamily="17" charset="-128"/>
              <a:ea typeface="ＭＳ 明朝" panose="02020609040205080304" pitchFamily="17" charset="-128"/>
            </a:endParaRPr>
          </a:p>
        </p:txBody>
      </p:sp>
      <p:sp>
        <p:nvSpPr>
          <p:cNvPr id="11" name="四角形: 角を丸くする 10">
            <a:extLst>
              <a:ext uri="{FF2B5EF4-FFF2-40B4-BE49-F238E27FC236}">
                <a16:creationId xmlns:a16="http://schemas.microsoft.com/office/drawing/2014/main" id="{DB0BA2E2-1F40-4C6B-B933-FDE65682BEC2}"/>
              </a:ext>
            </a:extLst>
          </p:cNvPr>
          <p:cNvSpPr/>
          <p:nvPr/>
        </p:nvSpPr>
        <p:spPr>
          <a:xfrm>
            <a:off x="75501" y="3089002"/>
            <a:ext cx="11848985" cy="173791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cxnSp>
        <p:nvCxnSpPr>
          <p:cNvPr id="12" name="直線コネクタ 11">
            <a:extLst>
              <a:ext uri="{FF2B5EF4-FFF2-40B4-BE49-F238E27FC236}">
                <a16:creationId xmlns:a16="http://schemas.microsoft.com/office/drawing/2014/main" id="{8A661DE9-3345-4EAF-83D5-0F8B6FED7CF3}"/>
              </a:ext>
            </a:extLst>
          </p:cNvPr>
          <p:cNvCxnSpPr>
            <a:cxnSpLocks/>
          </p:cNvCxnSpPr>
          <p:nvPr/>
        </p:nvCxnSpPr>
        <p:spPr>
          <a:xfrm>
            <a:off x="1335663" y="2609568"/>
            <a:ext cx="0" cy="7873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FBA80E60-4CD5-445F-922E-9CF18E62EA7B}"/>
              </a:ext>
            </a:extLst>
          </p:cNvPr>
          <p:cNvPicPr>
            <a:picLocks noChangeAspect="1"/>
          </p:cNvPicPr>
          <p:nvPr/>
        </p:nvPicPr>
        <p:blipFill>
          <a:blip r:embed="rId3"/>
          <a:stretch>
            <a:fillRect/>
          </a:stretch>
        </p:blipFill>
        <p:spPr>
          <a:xfrm>
            <a:off x="374164" y="5285486"/>
            <a:ext cx="1018590" cy="533467"/>
          </a:xfrm>
          <a:prstGeom prst="rect">
            <a:avLst/>
          </a:prstGeom>
          <a:ln>
            <a:solidFill>
              <a:schemeClr val="tx1"/>
            </a:solidFill>
          </a:ln>
        </p:spPr>
      </p:pic>
      <p:sp>
        <p:nvSpPr>
          <p:cNvPr id="31" name="正方形/長方形 30">
            <a:extLst>
              <a:ext uri="{FF2B5EF4-FFF2-40B4-BE49-F238E27FC236}">
                <a16:creationId xmlns:a16="http://schemas.microsoft.com/office/drawing/2014/main" id="{A8D3E06E-AEAD-471E-BD06-F50DE5DFB7F0}"/>
              </a:ext>
            </a:extLst>
          </p:cNvPr>
          <p:cNvSpPr/>
          <p:nvPr/>
        </p:nvSpPr>
        <p:spPr>
          <a:xfrm>
            <a:off x="75501" y="5123219"/>
            <a:ext cx="1543574" cy="8824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65CEA6ED-A402-4E96-B3DB-3C991B32552A}"/>
              </a:ext>
            </a:extLst>
          </p:cNvPr>
          <p:cNvSpPr txBox="1"/>
          <p:nvPr/>
        </p:nvSpPr>
        <p:spPr>
          <a:xfrm>
            <a:off x="161641" y="4896575"/>
            <a:ext cx="543739" cy="307777"/>
          </a:xfrm>
          <a:prstGeom prst="rect">
            <a:avLst/>
          </a:prstGeom>
          <a:solidFill>
            <a:schemeClr val="bg1"/>
          </a:solidFill>
          <a:ln>
            <a:noFill/>
          </a:ln>
        </p:spPr>
        <p:txBody>
          <a:bodyPr wrap="none" rtlCol="0">
            <a:spAutoFit/>
          </a:bodyPr>
          <a:lstStyle/>
          <a:p>
            <a:pPr algn="l"/>
            <a:r>
              <a:rPr kumimoji="1" lang="ja-JP" altLang="en-US" sz="1400" dirty="0">
                <a:latin typeface="ＭＳ 明朝" panose="02020609040205080304" pitchFamily="17" charset="-128"/>
                <a:ea typeface="ＭＳ 明朝" panose="02020609040205080304" pitchFamily="17" charset="-128"/>
              </a:rPr>
              <a:t>米軍</a:t>
            </a:r>
          </a:p>
        </p:txBody>
      </p:sp>
      <p:sp>
        <p:nvSpPr>
          <p:cNvPr id="34" name="テキスト ボックス 33">
            <a:extLst>
              <a:ext uri="{FF2B5EF4-FFF2-40B4-BE49-F238E27FC236}">
                <a16:creationId xmlns:a16="http://schemas.microsoft.com/office/drawing/2014/main" id="{B760DD94-3933-4209-B2D4-19C8C4A5B9B0}"/>
              </a:ext>
            </a:extLst>
          </p:cNvPr>
          <p:cNvSpPr txBox="1"/>
          <p:nvPr/>
        </p:nvSpPr>
        <p:spPr>
          <a:xfrm>
            <a:off x="58947" y="4012920"/>
            <a:ext cx="889987" cy="261610"/>
          </a:xfrm>
          <a:prstGeom prst="rect">
            <a:avLst/>
          </a:prstGeom>
          <a:noFill/>
          <a:ln>
            <a:noFill/>
          </a:ln>
        </p:spPr>
        <p:txBody>
          <a:bodyPr wrap="none" rtlCol="0">
            <a:spAutoFit/>
          </a:bodyPr>
          <a:lstStyle/>
          <a:p>
            <a:pPr algn="l"/>
            <a:r>
              <a:rPr kumimoji="1" lang="en-US" altLang="ja-JP" sz="1050" dirty="0">
                <a:latin typeface="+mn-ea"/>
              </a:rPr>
              <a:t>Port25,110</a:t>
            </a:r>
            <a:endParaRPr kumimoji="1" lang="ja-JP" altLang="en-US" sz="1050" dirty="0">
              <a:latin typeface="+mn-ea"/>
            </a:endParaRPr>
          </a:p>
        </p:txBody>
      </p:sp>
      <p:sp>
        <p:nvSpPr>
          <p:cNvPr id="35" name="テキスト ボックス 34">
            <a:extLst>
              <a:ext uri="{FF2B5EF4-FFF2-40B4-BE49-F238E27FC236}">
                <a16:creationId xmlns:a16="http://schemas.microsoft.com/office/drawing/2014/main" id="{1D246377-8A78-4E80-8831-706850A89F1A}"/>
              </a:ext>
            </a:extLst>
          </p:cNvPr>
          <p:cNvSpPr txBox="1"/>
          <p:nvPr/>
        </p:nvSpPr>
        <p:spPr>
          <a:xfrm>
            <a:off x="2506685" y="2903692"/>
            <a:ext cx="543739" cy="307777"/>
          </a:xfrm>
          <a:prstGeom prst="rect">
            <a:avLst/>
          </a:prstGeom>
          <a:solidFill>
            <a:schemeClr val="bg1"/>
          </a:solidFill>
          <a:ln>
            <a:noFill/>
          </a:ln>
        </p:spPr>
        <p:txBody>
          <a:bodyPr wrap="none" rtlCol="0">
            <a:spAutoFit/>
          </a:bodyPr>
          <a:lstStyle/>
          <a:p>
            <a:pPr algn="l"/>
            <a:r>
              <a:rPr lang="en-US" altLang="ja-JP" sz="1400" dirty="0">
                <a:latin typeface="ＭＳ 明朝" panose="02020609040205080304" pitchFamily="17" charset="-128"/>
                <a:ea typeface="ＭＳ 明朝" panose="02020609040205080304" pitchFamily="17" charset="-128"/>
              </a:rPr>
              <a:t>FADP</a:t>
            </a:r>
            <a:endParaRPr kumimoji="1" lang="ja-JP" altLang="en-US" sz="1400" dirty="0">
              <a:latin typeface="ＭＳ 明朝" panose="02020609040205080304" pitchFamily="17" charset="-128"/>
              <a:ea typeface="ＭＳ 明朝" panose="02020609040205080304" pitchFamily="17" charset="-128"/>
            </a:endParaRPr>
          </a:p>
        </p:txBody>
      </p:sp>
      <p:pic>
        <p:nvPicPr>
          <p:cNvPr id="15" name="図 14">
            <a:extLst>
              <a:ext uri="{FF2B5EF4-FFF2-40B4-BE49-F238E27FC236}">
                <a16:creationId xmlns:a16="http://schemas.microsoft.com/office/drawing/2014/main" id="{0CA186C7-2BB3-4F6A-B059-DC99BB4FD52B}"/>
              </a:ext>
            </a:extLst>
          </p:cNvPr>
          <p:cNvPicPr>
            <a:picLocks noChangeAspect="1"/>
          </p:cNvPicPr>
          <p:nvPr/>
        </p:nvPicPr>
        <p:blipFill>
          <a:blip r:embed="rId2"/>
          <a:stretch>
            <a:fillRect/>
          </a:stretch>
        </p:blipFill>
        <p:spPr>
          <a:xfrm>
            <a:off x="3611894" y="2425437"/>
            <a:ext cx="652223" cy="521778"/>
          </a:xfrm>
          <a:prstGeom prst="rect">
            <a:avLst/>
          </a:prstGeom>
        </p:spPr>
      </p:pic>
      <p:cxnSp>
        <p:nvCxnSpPr>
          <p:cNvPr id="17" name="直線コネクタ 16">
            <a:extLst>
              <a:ext uri="{FF2B5EF4-FFF2-40B4-BE49-F238E27FC236}">
                <a16:creationId xmlns:a16="http://schemas.microsoft.com/office/drawing/2014/main" id="{F16B25B4-DA9B-4C25-9F25-074B7E828687}"/>
              </a:ext>
            </a:extLst>
          </p:cNvPr>
          <p:cNvCxnSpPr>
            <a:cxnSpLocks/>
          </p:cNvCxnSpPr>
          <p:nvPr/>
        </p:nvCxnSpPr>
        <p:spPr>
          <a:xfrm>
            <a:off x="3899453" y="2886264"/>
            <a:ext cx="0" cy="5106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C286F3FA-DD47-4CEA-9839-BC4E18872F1A}"/>
              </a:ext>
            </a:extLst>
          </p:cNvPr>
          <p:cNvCxnSpPr>
            <a:cxnSpLocks/>
          </p:cNvCxnSpPr>
          <p:nvPr/>
        </p:nvCxnSpPr>
        <p:spPr>
          <a:xfrm flipH="1">
            <a:off x="1335663" y="2609568"/>
            <a:ext cx="2293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A67A59A9-235B-44C3-BB17-97452841871A}"/>
              </a:ext>
            </a:extLst>
          </p:cNvPr>
          <p:cNvCxnSpPr>
            <a:cxnSpLocks/>
          </p:cNvCxnSpPr>
          <p:nvPr/>
        </p:nvCxnSpPr>
        <p:spPr>
          <a:xfrm>
            <a:off x="765226" y="3396957"/>
            <a:ext cx="11408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777CDB5D-A1AF-48EA-B451-5D333C85AC69}"/>
              </a:ext>
            </a:extLst>
          </p:cNvPr>
          <p:cNvCxnSpPr>
            <a:cxnSpLocks/>
            <a:endCxn id="31" idx="0"/>
          </p:cNvCxnSpPr>
          <p:nvPr/>
        </p:nvCxnSpPr>
        <p:spPr>
          <a:xfrm>
            <a:off x="765226" y="3396957"/>
            <a:ext cx="0" cy="1726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1659967C-5C25-4ABC-A664-55AB2CDD73D0}"/>
              </a:ext>
            </a:extLst>
          </p:cNvPr>
          <p:cNvSpPr txBox="1"/>
          <p:nvPr/>
        </p:nvSpPr>
        <p:spPr>
          <a:xfrm>
            <a:off x="313683" y="4482865"/>
            <a:ext cx="922789"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ルーター</a:t>
            </a:r>
          </a:p>
        </p:txBody>
      </p:sp>
      <p:sp>
        <p:nvSpPr>
          <p:cNvPr id="30" name="テキスト ボックス 29">
            <a:extLst>
              <a:ext uri="{FF2B5EF4-FFF2-40B4-BE49-F238E27FC236}">
                <a16:creationId xmlns:a16="http://schemas.microsoft.com/office/drawing/2014/main" id="{10B1431F-9EA1-4881-BFB6-699EC58CB8F3}"/>
              </a:ext>
            </a:extLst>
          </p:cNvPr>
          <p:cNvSpPr txBox="1"/>
          <p:nvPr/>
        </p:nvSpPr>
        <p:spPr>
          <a:xfrm>
            <a:off x="267514" y="3783244"/>
            <a:ext cx="995425"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米軍対向用端末</a:t>
            </a:r>
          </a:p>
        </p:txBody>
      </p:sp>
      <p:cxnSp>
        <p:nvCxnSpPr>
          <p:cNvPr id="61" name="直線コネクタ 60">
            <a:extLst>
              <a:ext uri="{FF2B5EF4-FFF2-40B4-BE49-F238E27FC236}">
                <a16:creationId xmlns:a16="http://schemas.microsoft.com/office/drawing/2014/main" id="{E59A4E8E-AB14-4662-94EC-F28A61607BCD}"/>
              </a:ext>
            </a:extLst>
          </p:cNvPr>
          <p:cNvCxnSpPr>
            <a:cxnSpLocks/>
          </p:cNvCxnSpPr>
          <p:nvPr/>
        </p:nvCxnSpPr>
        <p:spPr>
          <a:xfrm>
            <a:off x="1906100" y="3396957"/>
            <a:ext cx="0" cy="5247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417725C0-B5D7-4AF6-B0B8-1621524E621C}"/>
              </a:ext>
            </a:extLst>
          </p:cNvPr>
          <p:cNvSpPr txBox="1"/>
          <p:nvPr/>
        </p:nvSpPr>
        <p:spPr>
          <a:xfrm>
            <a:off x="1348541" y="3783244"/>
            <a:ext cx="995425" cy="369332"/>
          </a:xfrm>
          <a:prstGeom prst="rect">
            <a:avLst/>
          </a:prstGeom>
          <a:solidFill>
            <a:schemeClr val="bg1"/>
          </a:solidFill>
          <a:ln>
            <a:solidFill>
              <a:schemeClr val="tx1"/>
            </a:solidFill>
          </a:ln>
        </p:spPr>
        <p:txBody>
          <a:bodyPr wrap="square" rtlCol="0">
            <a:spAutoFit/>
          </a:bodyPr>
          <a:lstStyle/>
          <a:p>
            <a:pPr algn="ctr"/>
            <a:r>
              <a:rPr kumimoji="1" lang="ja-JP" altLang="en-US" sz="900" dirty="0"/>
              <a:t>運用情報等提供サーバー</a:t>
            </a:r>
          </a:p>
        </p:txBody>
      </p:sp>
      <p:sp>
        <p:nvSpPr>
          <p:cNvPr id="74" name="雲 73">
            <a:extLst>
              <a:ext uri="{FF2B5EF4-FFF2-40B4-BE49-F238E27FC236}">
                <a16:creationId xmlns:a16="http://schemas.microsoft.com/office/drawing/2014/main" id="{CD549789-08E6-4B45-A50D-BCA1CEE11513}"/>
              </a:ext>
            </a:extLst>
          </p:cNvPr>
          <p:cNvSpPr/>
          <p:nvPr/>
        </p:nvSpPr>
        <p:spPr>
          <a:xfrm>
            <a:off x="2570244" y="3258324"/>
            <a:ext cx="7051511" cy="1275374"/>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1D47C34A-3C5B-4F85-B081-448C57609A0B}"/>
              </a:ext>
            </a:extLst>
          </p:cNvPr>
          <p:cNvCxnSpPr>
            <a:cxnSpLocks/>
            <a:stCxn id="16" idx="2"/>
          </p:cNvCxnSpPr>
          <p:nvPr/>
        </p:nvCxnSpPr>
        <p:spPr>
          <a:xfrm flipH="1">
            <a:off x="8026836" y="2922858"/>
            <a:ext cx="2" cy="3354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2AF3AEDC-C87C-4A6E-9803-2E1F769D2608}"/>
              </a:ext>
            </a:extLst>
          </p:cNvPr>
          <p:cNvCxnSpPr>
            <a:cxnSpLocks/>
          </p:cNvCxnSpPr>
          <p:nvPr/>
        </p:nvCxnSpPr>
        <p:spPr>
          <a:xfrm flipV="1">
            <a:off x="9966120" y="1568701"/>
            <a:ext cx="0" cy="1222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CA979F3E-677F-4CB7-A265-C7E9812B1FF2}"/>
              </a:ext>
            </a:extLst>
          </p:cNvPr>
          <p:cNvCxnSpPr>
            <a:cxnSpLocks/>
          </p:cNvCxnSpPr>
          <p:nvPr/>
        </p:nvCxnSpPr>
        <p:spPr>
          <a:xfrm flipH="1">
            <a:off x="8715232" y="1568700"/>
            <a:ext cx="12508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6EED5533-222E-4EB8-98BB-56CE6C9177A8}"/>
              </a:ext>
            </a:extLst>
          </p:cNvPr>
          <p:cNvSpPr txBox="1"/>
          <p:nvPr/>
        </p:nvSpPr>
        <p:spPr>
          <a:xfrm>
            <a:off x="9353608" y="1688437"/>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44" name="テキスト ボックス 43">
            <a:extLst>
              <a:ext uri="{FF2B5EF4-FFF2-40B4-BE49-F238E27FC236}">
                <a16:creationId xmlns:a16="http://schemas.microsoft.com/office/drawing/2014/main" id="{45ADB3AA-C8DD-4204-A376-81FA0FC496F9}"/>
              </a:ext>
            </a:extLst>
          </p:cNvPr>
          <p:cNvSpPr txBox="1"/>
          <p:nvPr/>
        </p:nvSpPr>
        <p:spPr>
          <a:xfrm>
            <a:off x="9353608" y="2029680"/>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latin typeface="+mn-ea"/>
              </a:rPr>
              <a:t>ルーター</a:t>
            </a:r>
          </a:p>
        </p:txBody>
      </p:sp>
      <p:sp>
        <p:nvSpPr>
          <p:cNvPr id="45" name="テキスト ボックス 44">
            <a:extLst>
              <a:ext uri="{FF2B5EF4-FFF2-40B4-BE49-F238E27FC236}">
                <a16:creationId xmlns:a16="http://schemas.microsoft.com/office/drawing/2014/main" id="{B5008524-7A77-44BF-8763-4DA1595363B3}"/>
              </a:ext>
            </a:extLst>
          </p:cNvPr>
          <p:cNvSpPr txBox="1"/>
          <p:nvPr/>
        </p:nvSpPr>
        <p:spPr>
          <a:xfrm>
            <a:off x="9353608" y="2363603"/>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46" name="テキスト ボックス 45">
            <a:extLst>
              <a:ext uri="{FF2B5EF4-FFF2-40B4-BE49-F238E27FC236}">
                <a16:creationId xmlns:a16="http://schemas.microsoft.com/office/drawing/2014/main" id="{7D1634DB-C681-400E-98C4-A4F749BE71E0}"/>
              </a:ext>
            </a:extLst>
          </p:cNvPr>
          <p:cNvSpPr txBox="1"/>
          <p:nvPr/>
        </p:nvSpPr>
        <p:spPr>
          <a:xfrm>
            <a:off x="9362448" y="2712972"/>
            <a:ext cx="1325460" cy="276999"/>
          </a:xfrm>
          <a:prstGeom prst="rect">
            <a:avLst/>
          </a:prstGeom>
          <a:solidFill>
            <a:srgbClr val="FFFF00"/>
          </a:solidFill>
          <a:ln>
            <a:solidFill>
              <a:schemeClr val="tx1"/>
            </a:solidFill>
          </a:ln>
        </p:spPr>
        <p:txBody>
          <a:bodyPr wrap="square" rtlCol="0">
            <a:spAutoFit/>
          </a:bodyPr>
          <a:lstStyle/>
          <a:p>
            <a:pPr algn="ctr"/>
            <a:r>
              <a:rPr kumimoji="1" lang="en-US" altLang="ja-JP" sz="1200" dirty="0">
                <a:latin typeface="+mn-ea"/>
              </a:rPr>
              <a:t>FACE</a:t>
            </a:r>
            <a:r>
              <a:rPr kumimoji="1" lang="ja-JP" altLang="en-US" sz="1200" dirty="0">
                <a:latin typeface="+mn-ea"/>
              </a:rPr>
              <a:t>対向用</a:t>
            </a:r>
          </a:p>
        </p:txBody>
      </p:sp>
      <p:sp>
        <p:nvSpPr>
          <p:cNvPr id="36" name="矢印: 下 35">
            <a:extLst>
              <a:ext uri="{FF2B5EF4-FFF2-40B4-BE49-F238E27FC236}">
                <a16:creationId xmlns:a16="http://schemas.microsoft.com/office/drawing/2014/main" id="{658652FD-BA21-4238-94A9-076E1F2E81BE}"/>
              </a:ext>
            </a:extLst>
          </p:cNvPr>
          <p:cNvSpPr/>
          <p:nvPr/>
        </p:nvSpPr>
        <p:spPr>
          <a:xfrm flipH="1">
            <a:off x="4270877" y="1063791"/>
            <a:ext cx="239975" cy="1766531"/>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4C7B98E0-B3A0-4292-892B-A2E33C9B18E4}"/>
              </a:ext>
            </a:extLst>
          </p:cNvPr>
          <p:cNvSpPr txBox="1"/>
          <p:nvPr/>
        </p:nvSpPr>
        <p:spPr>
          <a:xfrm>
            <a:off x="3452491" y="3725602"/>
            <a:ext cx="1800493" cy="253916"/>
          </a:xfrm>
          <a:prstGeom prst="rect">
            <a:avLst/>
          </a:prstGeom>
          <a:noFill/>
          <a:ln>
            <a:solidFill>
              <a:schemeClr val="tx1"/>
            </a:solidFill>
          </a:ln>
        </p:spPr>
        <p:txBody>
          <a:bodyPr wrap="none" rtlCol="0">
            <a:spAutoFit/>
          </a:bodyPr>
          <a:lstStyle/>
          <a:p>
            <a:r>
              <a:rPr lang="ja-JP" altLang="en-US" sz="1050" dirty="0">
                <a:latin typeface="ＭＳ 明朝" panose="02020609040205080304" pitchFamily="17" charset="-128"/>
                <a:ea typeface="ＭＳ 明朝" panose="02020609040205080304" pitchFamily="17" charset="-128"/>
              </a:rPr>
              <a:t>連接試験用端末</a:t>
            </a:r>
            <a:r>
              <a:rPr lang="en-US" altLang="ja-JP" sz="1050" dirty="0">
                <a:latin typeface="ＭＳ 明朝" panose="02020609040205080304" pitchFamily="17" charset="-128"/>
                <a:ea typeface="ＭＳ 明朝" panose="02020609040205080304" pitchFamily="17" charset="-128"/>
              </a:rPr>
              <a:t>(</a:t>
            </a:r>
            <a:r>
              <a:rPr lang="ja-JP" altLang="en-US" sz="1050" dirty="0">
                <a:latin typeface="ＭＳ 明朝" panose="02020609040205080304" pitchFamily="17" charset="-128"/>
                <a:ea typeface="ＭＳ 明朝" panose="02020609040205080304" pitchFamily="17" charset="-128"/>
              </a:rPr>
              <a:t>タイプ</a:t>
            </a:r>
            <a:r>
              <a:rPr lang="en-US" altLang="ja-JP" sz="1050" dirty="0">
                <a:latin typeface="ＭＳ 明朝" panose="02020609040205080304" pitchFamily="17" charset="-128"/>
                <a:ea typeface="ＭＳ 明朝" panose="02020609040205080304" pitchFamily="17" charset="-128"/>
              </a:rPr>
              <a:t>A</a:t>
            </a:r>
            <a:r>
              <a:rPr lang="ja-JP" altLang="en-US" sz="1050" dirty="0">
                <a:latin typeface="ＭＳ 明朝" panose="02020609040205080304" pitchFamily="17" charset="-128"/>
                <a:ea typeface="ＭＳ 明朝" panose="02020609040205080304" pitchFamily="17" charset="-128"/>
              </a:rPr>
              <a:t>）</a:t>
            </a:r>
            <a:endParaRPr kumimoji="1" lang="ja-JP" altLang="en-US" sz="1050" dirty="0"/>
          </a:p>
        </p:txBody>
      </p:sp>
      <p:sp>
        <p:nvSpPr>
          <p:cNvPr id="39" name="テキスト ボックス 38">
            <a:extLst>
              <a:ext uri="{FF2B5EF4-FFF2-40B4-BE49-F238E27FC236}">
                <a16:creationId xmlns:a16="http://schemas.microsoft.com/office/drawing/2014/main" id="{99E1B269-0BB2-4035-962C-743AAC94F546}"/>
              </a:ext>
            </a:extLst>
          </p:cNvPr>
          <p:cNvSpPr txBox="1"/>
          <p:nvPr/>
        </p:nvSpPr>
        <p:spPr>
          <a:xfrm>
            <a:off x="5801856" y="3742640"/>
            <a:ext cx="1079142" cy="253916"/>
          </a:xfrm>
          <a:prstGeom prst="rect">
            <a:avLst/>
          </a:prstGeom>
          <a:noFill/>
          <a:ln>
            <a:solidFill>
              <a:schemeClr val="tx1"/>
            </a:solidFill>
          </a:ln>
        </p:spPr>
        <p:txBody>
          <a:bodyPr wrap="none" rtlCol="0">
            <a:spAutoFit/>
          </a:bodyPr>
          <a:lstStyle/>
          <a:p>
            <a:r>
              <a:rPr kumimoji="1" lang="ja-JP" altLang="en-US" sz="1050" dirty="0"/>
              <a:t>仮想化サーバ２</a:t>
            </a:r>
          </a:p>
        </p:txBody>
      </p:sp>
      <p:sp>
        <p:nvSpPr>
          <p:cNvPr id="42" name="矢印: 下 41">
            <a:extLst>
              <a:ext uri="{FF2B5EF4-FFF2-40B4-BE49-F238E27FC236}">
                <a16:creationId xmlns:a16="http://schemas.microsoft.com/office/drawing/2014/main" id="{9BD5812B-6F66-4EDC-80C9-7D8774427148}"/>
              </a:ext>
            </a:extLst>
          </p:cNvPr>
          <p:cNvSpPr/>
          <p:nvPr/>
        </p:nvSpPr>
        <p:spPr>
          <a:xfrm rot="18630566" flipH="1">
            <a:off x="5048501" y="2591004"/>
            <a:ext cx="239975" cy="1417528"/>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矢印: 下 47">
            <a:extLst>
              <a:ext uri="{FF2B5EF4-FFF2-40B4-BE49-F238E27FC236}">
                <a16:creationId xmlns:a16="http://schemas.microsoft.com/office/drawing/2014/main" id="{81B5DD92-B82A-4857-B3C2-9BA8FAF04DD1}"/>
              </a:ext>
            </a:extLst>
          </p:cNvPr>
          <p:cNvSpPr/>
          <p:nvPr/>
        </p:nvSpPr>
        <p:spPr>
          <a:xfrm rot="16200000" flipH="1">
            <a:off x="7425153" y="3394971"/>
            <a:ext cx="239975" cy="974279"/>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648499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95F0A81E-E7AC-4FAF-834E-851D251F272B}"/>
              </a:ext>
            </a:extLst>
          </p:cNvPr>
          <p:cNvPicPr>
            <a:picLocks noChangeAspect="1"/>
          </p:cNvPicPr>
          <p:nvPr/>
        </p:nvPicPr>
        <p:blipFill>
          <a:blip r:embed="rId2"/>
          <a:stretch>
            <a:fillRect/>
          </a:stretch>
        </p:blipFill>
        <p:spPr>
          <a:xfrm>
            <a:off x="1429792" y="1391526"/>
            <a:ext cx="9631119" cy="1247949"/>
          </a:xfrm>
          <a:prstGeom prst="rect">
            <a:avLst/>
          </a:prstGeom>
          <a:ln>
            <a:solidFill>
              <a:schemeClr val="tx1"/>
            </a:solidFill>
          </a:ln>
        </p:spPr>
      </p:pic>
      <p:pic>
        <p:nvPicPr>
          <p:cNvPr id="7" name="図 6">
            <a:extLst>
              <a:ext uri="{FF2B5EF4-FFF2-40B4-BE49-F238E27FC236}">
                <a16:creationId xmlns:a16="http://schemas.microsoft.com/office/drawing/2014/main" id="{F8ACA121-C592-4246-ACD7-9832C83822BA}"/>
              </a:ext>
            </a:extLst>
          </p:cNvPr>
          <p:cNvPicPr>
            <a:picLocks noChangeAspect="1"/>
          </p:cNvPicPr>
          <p:nvPr/>
        </p:nvPicPr>
        <p:blipFill>
          <a:blip r:embed="rId3"/>
          <a:stretch>
            <a:fillRect/>
          </a:stretch>
        </p:blipFill>
        <p:spPr>
          <a:xfrm>
            <a:off x="2686051" y="2983398"/>
            <a:ext cx="5887272" cy="152421"/>
          </a:xfrm>
          <a:prstGeom prst="rect">
            <a:avLst/>
          </a:prstGeom>
          <a:ln>
            <a:solidFill>
              <a:schemeClr val="tx1"/>
            </a:solidFill>
          </a:ln>
        </p:spPr>
      </p:pic>
      <p:pic>
        <p:nvPicPr>
          <p:cNvPr id="11" name="図 10">
            <a:extLst>
              <a:ext uri="{FF2B5EF4-FFF2-40B4-BE49-F238E27FC236}">
                <a16:creationId xmlns:a16="http://schemas.microsoft.com/office/drawing/2014/main" id="{9AC65444-19FB-4D1F-ACCA-8A22A809644A}"/>
              </a:ext>
            </a:extLst>
          </p:cNvPr>
          <p:cNvPicPr>
            <a:picLocks noChangeAspect="1"/>
          </p:cNvPicPr>
          <p:nvPr/>
        </p:nvPicPr>
        <p:blipFill>
          <a:blip r:embed="rId4"/>
          <a:stretch>
            <a:fillRect/>
          </a:stretch>
        </p:blipFill>
        <p:spPr>
          <a:xfrm>
            <a:off x="1997786" y="3415610"/>
            <a:ext cx="7540498" cy="179147"/>
          </a:xfrm>
          <a:prstGeom prst="rect">
            <a:avLst/>
          </a:prstGeom>
          <a:ln>
            <a:solidFill>
              <a:schemeClr val="tx1"/>
            </a:solidFill>
          </a:ln>
        </p:spPr>
      </p:pic>
      <p:sp>
        <p:nvSpPr>
          <p:cNvPr id="14" name="テキスト ボックス 13">
            <a:extLst>
              <a:ext uri="{FF2B5EF4-FFF2-40B4-BE49-F238E27FC236}">
                <a16:creationId xmlns:a16="http://schemas.microsoft.com/office/drawing/2014/main" id="{B9A609E6-39DD-4093-A2B1-50F2F6B69986}"/>
              </a:ext>
            </a:extLst>
          </p:cNvPr>
          <p:cNvSpPr txBox="1"/>
          <p:nvPr/>
        </p:nvSpPr>
        <p:spPr>
          <a:xfrm>
            <a:off x="1356220" y="5111267"/>
            <a:ext cx="9479560" cy="707886"/>
          </a:xfrm>
          <a:prstGeom prst="rect">
            <a:avLst/>
          </a:prstGeom>
          <a:noFill/>
          <a:ln>
            <a:solidFill>
              <a:schemeClr val="tx1"/>
            </a:solidFill>
          </a:ln>
        </p:spPr>
        <p:txBody>
          <a:bodyPr wrap="square" rtlCol="0">
            <a:spAutoFit/>
          </a:bodyPr>
          <a:lstStyle/>
          <a:p>
            <a:r>
              <a:rPr kumimoji="1" lang="en-US" altLang="ja-JP" sz="2000" b="1" dirty="0" err="1">
                <a:solidFill>
                  <a:srgbClr val="0070C0"/>
                </a:solidFill>
                <a:latin typeface="ＭＳ 明朝" panose="02020609040205080304" pitchFamily="17" charset="-128"/>
                <a:ea typeface="ＭＳ 明朝" panose="02020609040205080304" pitchFamily="17" charset="-128"/>
              </a:rPr>
              <a:t>Untrust</a:t>
            </a:r>
            <a:r>
              <a:rPr lang="ja-JP" altLang="en-US" sz="2000" b="1" dirty="0">
                <a:solidFill>
                  <a:srgbClr val="0070C0"/>
                </a:solidFill>
                <a:latin typeface="ＭＳ 明朝" panose="02020609040205080304" pitchFamily="17" charset="-128"/>
                <a:ea typeface="ＭＳ 明朝" panose="02020609040205080304" pitchFamily="17" charset="-128"/>
              </a:rPr>
              <a:t> → </a:t>
            </a:r>
            <a:r>
              <a:rPr lang="en-US" altLang="ja-JP" sz="2000" b="1" dirty="0">
                <a:solidFill>
                  <a:srgbClr val="0070C0"/>
                </a:solidFill>
                <a:latin typeface="ＭＳ 明朝" panose="02020609040205080304" pitchFamily="17" charset="-128"/>
                <a:ea typeface="ＭＳ 明朝" panose="02020609040205080304" pitchFamily="17" charset="-128"/>
              </a:rPr>
              <a:t>Trust</a:t>
            </a:r>
          </a:p>
          <a:p>
            <a:r>
              <a:rPr kumimoji="1" lang="ja-JP" altLang="en-US" sz="2000" dirty="0">
                <a:latin typeface="ＭＳ 明朝" panose="02020609040205080304" pitchFamily="17" charset="-128"/>
                <a:ea typeface="ＭＳ 明朝" panose="02020609040205080304" pitchFamily="17" charset="-128"/>
              </a:rPr>
              <a:t>すべての送信元から仮想化サーバー２に対してすべてのポートでの通信が可能</a:t>
            </a:r>
          </a:p>
        </p:txBody>
      </p:sp>
      <p:sp>
        <p:nvSpPr>
          <p:cNvPr id="15" name="テキスト ボックス 14">
            <a:extLst>
              <a:ext uri="{FF2B5EF4-FFF2-40B4-BE49-F238E27FC236}">
                <a16:creationId xmlns:a16="http://schemas.microsoft.com/office/drawing/2014/main" id="{934C61E6-C4C3-49D9-BB9A-AA06829B9164}"/>
              </a:ext>
            </a:extLst>
          </p:cNvPr>
          <p:cNvSpPr txBox="1"/>
          <p:nvPr/>
        </p:nvSpPr>
        <p:spPr>
          <a:xfrm>
            <a:off x="4675428" y="3876183"/>
            <a:ext cx="2185214" cy="1015663"/>
          </a:xfrm>
          <a:prstGeom prst="rect">
            <a:avLst/>
          </a:prstGeom>
          <a:solidFill>
            <a:schemeClr val="bg1"/>
          </a:solidFill>
          <a:ln>
            <a:solidFill>
              <a:schemeClr val="tx1"/>
            </a:solidFill>
          </a:ln>
        </p:spPr>
        <p:txBody>
          <a:bodyPr wrap="none" rtlCol="0">
            <a:spAutoFit/>
          </a:bodyPr>
          <a:lstStyle/>
          <a:p>
            <a:r>
              <a:rPr kumimoji="1" lang="ja-JP" altLang="en-US" sz="1200" dirty="0">
                <a:latin typeface="ＭＳ 明朝" panose="02020609040205080304" pitchFamily="17" charset="-128"/>
                <a:ea typeface="ＭＳ 明朝" panose="02020609040205080304" pitchFamily="17" charset="-128"/>
              </a:rPr>
              <a:t>仮想化サーバー２</a:t>
            </a:r>
            <a:endParaRPr kumimoji="1" lang="en-US" altLang="ja-JP" sz="1200" dirty="0">
              <a:latin typeface="ＭＳ 明朝" panose="02020609040205080304" pitchFamily="17" charset="-128"/>
              <a:ea typeface="ＭＳ 明朝" panose="02020609040205080304" pitchFamily="17" charset="-128"/>
            </a:endParaRPr>
          </a:p>
          <a:p>
            <a:r>
              <a:rPr kumimoji="1" lang="ja-JP" altLang="en-US" sz="1200" dirty="0">
                <a:latin typeface="ＭＳ 明朝" panose="02020609040205080304" pitchFamily="17" charset="-128"/>
                <a:ea typeface="ＭＳ 明朝" panose="02020609040205080304" pitchFamily="17" charset="-128"/>
              </a:rPr>
              <a:t>以下の論理サーバーを有する</a:t>
            </a:r>
            <a:endParaRPr kumimoji="1" lang="en-US" altLang="ja-JP" sz="1200" dirty="0">
              <a:latin typeface="ＭＳ 明朝" panose="02020609040205080304" pitchFamily="17" charset="-128"/>
              <a:ea typeface="ＭＳ 明朝" panose="02020609040205080304" pitchFamily="17" charset="-128"/>
            </a:endParaRPr>
          </a:p>
          <a:p>
            <a:r>
              <a:rPr kumimoji="1" lang="en-US" altLang="ja-JP" sz="1200" dirty="0">
                <a:latin typeface="ＭＳ 明朝" panose="02020609040205080304" pitchFamily="17" charset="-128"/>
                <a:ea typeface="ＭＳ 明朝" panose="02020609040205080304" pitchFamily="17" charset="-128"/>
              </a:rPr>
              <a:t>1. </a:t>
            </a:r>
            <a:r>
              <a:rPr kumimoji="1" lang="ja-JP" altLang="en-US" sz="1200" dirty="0">
                <a:latin typeface="ＭＳ 明朝" panose="02020609040205080304" pitchFamily="17" charset="-128"/>
                <a:ea typeface="ＭＳ 明朝" panose="02020609040205080304" pitchFamily="17" charset="-128"/>
              </a:rPr>
              <a:t>認証サーバ</a:t>
            </a:r>
            <a:endParaRPr kumimoji="1" lang="en-US" altLang="ja-JP" sz="1200" dirty="0">
              <a:latin typeface="ＭＳ 明朝" panose="02020609040205080304" pitchFamily="17" charset="-128"/>
              <a:ea typeface="ＭＳ 明朝" panose="02020609040205080304" pitchFamily="17" charset="-128"/>
            </a:endParaRPr>
          </a:p>
          <a:p>
            <a:r>
              <a:rPr lang="en-US" altLang="ja-JP" sz="1200" dirty="0">
                <a:latin typeface="ＭＳ 明朝" panose="02020609040205080304" pitchFamily="17" charset="-128"/>
                <a:ea typeface="ＭＳ 明朝" panose="02020609040205080304" pitchFamily="17" charset="-128"/>
              </a:rPr>
              <a:t>2.</a:t>
            </a:r>
            <a:r>
              <a:rPr lang="ja-JP" altLang="en-US" sz="1200" dirty="0">
                <a:latin typeface="ＭＳ 明朝" panose="02020609040205080304" pitchFamily="17" charset="-128"/>
                <a:ea typeface="ＭＳ 明朝" panose="02020609040205080304" pitchFamily="17" charset="-128"/>
              </a:rPr>
              <a:t> </a:t>
            </a:r>
            <a:r>
              <a:rPr kumimoji="1" lang="ja-JP" altLang="en-US" sz="1200" dirty="0">
                <a:latin typeface="ＭＳ 明朝" panose="02020609040205080304" pitchFamily="17" charset="-128"/>
                <a:ea typeface="ＭＳ 明朝" panose="02020609040205080304" pitchFamily="17" charset="-128"/>
              </a:rPr>
              <a:t>プログラム等管理サーバ</a:t>
            </a:r>
            <a:endParaRPr kumimoji="1" lang="en-US" altLang="ja-JP" sz="1200" dirty="0">
              <a:latin typeface="ＭＳ 明朝" panose="02020609040205080304" pitchFamily="17" charset="-128"/>
              <a:ea typeface="ＭＳ 明朝" panose="02020609040205080304" pitchFamily="17" charset="-128"/>
            </a:endParaRPr>
          </a:p>
          <a:p>
            <a:r>
              <a:rPr lang="en-US" altLang="ja-JP" sz="1200" dirty="0">
                <a:latin typeface="ＭＳ 明朝" panose="02020609040205080304" pitchFamily="17" charset="-128"/>
                <a:ea typeface="ＭＳ 明朝" panose="02020609040205080304" pitchFamily="17" charset="-128"/>
              </a:rPr>
              <a:t>3.</a:t>
            </a:r>
            <a:r>
              <a:rPr lang="ja-JP" altLang="en-US" sz="1200" dirty="0">
                <a:latin typeface="ＭＳ 明朝" panose="02020609040205080304" pitchFamily="17" charset="-128"/>
                <a:ea typeface="ＭＳ 明朝" panose="02020609040205080304" pitchFamily="17" charset="-128"/>
              </a:rPr>
              <a:t> </a:t>
            </a:r>
            <a:r>
              <a:rPr kumimoji="1" lang="en-US" altLang="ja-JP" sz="1200" dirty="0">
                <a:latin typeface="ＭＳ 明朝" panose="02020609040205080304" pitchFamily="17" charset="-128"/>
                <a:ea typeface="ＭＳ 明朝" panose="02020609040205080304" pitchFamily="17" charset="-128"/>
              </a:rPr>
              <a:t>CPES</a:t>
            </a:r>
            <a:r>
              <a:rPr kumimoji="1" lang="ja-JP" altLang="en-US" sz="1200" dirty="0">
                <a:latin typeface="ＭＳ 明朝" panose="02020609040205080304" pitchFamily="17" charset="-128"/>
                <a:ea typeface="ＭＳ 明朝" panose="02020609040205080304" pitchFamily="17" charset="-128"/>
              </a:rPr>
              <a:t>管理サーバ</a:t>
            </a:r>
          </a:p>
        </p:txBody>
      </p:sp>
      <p:sp>
        <p:nvSpPr>
          <p:cNvPr id="16" name="テキスト ボックス 15">
            <a:extLst>
              <a:ext uri="{FF2B5EF4-FFF2-40B4-BE49-F238E27FC236}">
                <a16:creationId xmlns:a16="http://schemas.microsoft.com/office/drawing/2014/main" id="{B076B9E5-AE03-4D8C-AC4E-B6C5701898D4}"/>
              </a:ext>
            </a:extLst>
          </p:cNvPr>
          <p:cNvSpPr txBox="1"/>
          <p:nvPr/>
        </p:nvSpPr>
        <p:spPr>
          <a:xfrm>
            <a:off x="449541" y="956047"/>
            <a:ext cx="2236510" cy="338554"/>
          </a:xfrm>
          <a:prstGeom prst="rect">
            <a:avLst/>
          </a:prstGeom>
          <a:noFill/>
          <a:ln>
            <a:noFill/>
          </a:ln>
        </p:spPr>
        <p:txBody>
          <a:bodyPr wrap="none" rtlCol="0">
            <a:spAutoFit/>
          </a:bodyPr>
          <a:lstStyle/>
          <a:p>
            <a:r>
              <a:rPr kumimoji="1" lang="ja-JP" altLang="en-US" sz="1600" b="1" dirty="0">
                <a:solidFill>
                  <a:srgbClr val="0070C0"/>
                </a:solidFill>
                <a:latin typeface="ＭＳ 明朝" panose="02020609040205080304" pitchFamily="17" charset="-128"/>
                <a:ea typeface="ＭＳ 明朝" panose="02020609040205080304" pitchFamily="17" charset="-128"/>
              </a:rPr>
              <a:t>ファイアウォール情報</a:t>
            </a:r>
          </a:p>
        </p:txBody>
      </p:sp>
      <p:sp>
        <p:nvSpPr>
          <p:cNvPr id="17" name="タイトル 1">
            <a:extLst>
              <a:ext uri="{FF2B5EF4-FFF2-40B4-BE49-F238E27FC236}">
                <a16:creationId xmlns:a16="http://schemas.microsoft.com/office/drawing/2014/main" id="{5C94696E-2082-4839-ADA7-EB887A198147}"/>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仮説２</a:t>
            </a:r>
          </a:p>
        </p:txBody>
      </p:sp>
    </p:spTree>
    <p:extLst>
      <p:ext uri="{BB962C8B-B14F-4D97-AF65-F5344CB8AC3E}">
        <p14:creationId xmlns:p14="http://schemas.microsoft.com/office/powerpoint/2010/main" val="2209660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1973D1F-40CD-4695-A0B5-E061A9BC946E}"/>
              </a:ext>
            </a:extLst>
          </p:cNvPr>
          <p:cNvSpPr txBox="1"/>
          <p:nvPr/>
        </p:nvSpPr>
        <p:spPr>
          <a:xfrm>
            <a:off x="3633628" y="1228397"/>
            <a:ext cx="4673074" cy="4401205"/>
          </a:xfrm>
          <a:prstGeom prst="rect">
            <a:avLst/>
          </a:prstGeom>
          <a:noFill/>
        </p:spPr>
        <p:txBody>
          <a:bodyPr wrap="none" rtlCol="0">
            <a:spAutoFit/>
          </a:bodyPr>
          <a:lstStyle/>
          <a:p>
            <a:r>
              <a:rPr lang="ja-JP" altLang="en-US" sz="2800" dirty="0">
                <a:latin typeface="ＭＳ 明朝" panose="02020609040205080304" pitchFamily="17" charset="-128"/>
                <a:ea typeface="ＭＳ 明朝" panose="02020609040205080304" pitchFamily="17" charset="-128"/>
              </a:rPr>
              <a:t>攻撃例：</a:t>
            </a:r>
            <a:endParaRPr lang="en-US" altLang="ja-JP" sz="2800" dirty="0">
              <a:latin typeface="ＭＳ 明朝" panose="02020609040205080304" pitchFamily="17" charset="-128"/>
              <a:ea typeface="ＭＳ 明朝" panose="02020609040205080304" pitchFamily="17" charset="-128"/>
            </a:endParaRPr>
          </a:p>
          <a:p>
            <a:endParaRPr lang="en-US" altLang="ja-JP" sz="2800" dirty="0">
              <a:latin typeface="ＭＳ 明朝" panose="02020609040205080304" pitchFamily="17" charset="-128"/>
              <a:ea typeface="ＭＳ 明朝" panose="02020609040205080304" pitchFamily="17" charset="-128"/>
            </a:endParaRPr>
          </a:p>
          <a:p>
            <a:r>
              <a:rPr lang="ja-JP" altLang="en-US" sz="2800" dirty="0">
                <a:latin typeface="ＭＳ 明朝" panose="02020609040205080304" pitchFamily="17" charset="-128"/>
                <a:ea typeface="ＭＳ 明朝" panose="02020609040205080304" pitchFamily="17" charset="-128"/>
              </a:rPr>
              <a:t>・ </a:t>
            </a:r>
            <a:r>
              <a:rPr lang="en-US" altLang="ja-JP" sz="2800" dirty="0">
                <a:latin typeface="ＭＳ 明朝" panose="02020609040205080304" pitchFamily="17" charset="-128"/>
                <a:ea typeface="ＭＳ 明朝" panose="02020609040205080304" pitchFamily="17" charset="-128"/>
              </a:rPr>
              <a:t>NETWORK SCAN</a:t>
            </a:r>
          </a:p>
          <a:p>
            <a:r>
              <a:rPr lang="ja-JP" altLang="en-US" sz="2800" dirty="0">
                <a:latin typeface="ＭＳ 明朝" panose="02020609040205080304" pitchFamily="17" charset="-128"/>
                <a:ea typeface="ＭＳ 明朝" panose="02020609040205080304" pitchFamily="17" charset="-128"/>
              </a:rPr>
              <a:t>・ </a:t>
            </a:r>
            <a:r>
              <a:rPr lang="en-US" altLang="ja-JP" sz="2800" dirty="0">
                <a:latin typeface="ＭＳ 明朝" panose="02020609040205080304" pitchFamily="17" charset="-128"/>
                <a:ea typeface="ＭＳ 明朝" panose="02020609040205080304" pitchFamily="17" charset="-128"/>
              </a:rPr>
              <a:t>PORT SCAN</a:t>
            </a:r>
          </a:p>
          <a:p>
            <a:r>
              <a:rPr kumimoji="1" lang="ja-JP" altLang="en-US" sz="2800" dirty="0">
                <a:latin typeface="ＭＳ 明朝" panose="02020609040205080304" pitchFamily="17" charset="-128"/>
                <a:ea typeface="ＭＳ 明朝" panose="02020609040205080304" pitchFamily="17" charset="-128"/>
              </a:rPr>
              <a:t>・ </a:t>
            </a:r>
            <a:r>
              <a:rPr kumimoji="1" lang="en-US" altLang="ja-JP" sz="2800" dirty="0">
                <a:latin typeface="ＭＳ 明朝" panose="02020609040205080304" pitchFamily="17" charset="-128"/>
                <a:ea typeface="ＭＳ 明朝" panose="02020609040205080304" pitchFamily="17" charset="-128"/>
              </a:rPr>
              <a:t>AS-REP Roasting Attack</a:t>
            </a:r>
          </a:p>
          <a:p>
            <a:r>
              <a:rPr kumimoji="1" lang="ja-JP" altLang="en-US" sz="2800" dirty="0">
                <a:latin typeface="ＭＳ 明朝" panose="02020609040205080304" pitchFamily="17" charset="-128"/>
                <a:ea typeface="ＭＳ 明朝" panose="02020609040205080304" pitchFamily="17" charset="-128"/>
              </a:rPr>
              <a:t>・ </a:t>
            </a:r>
            <a:r>
              <a:rPr kumimoji="1" lang="en-US" altLang="ja-JP" sz="2800" dirty="0">
                <a:latin typeface="ＭＳ 明朝" panose="02020609040205080304" pitchFamily="17" charset="-128"/>
                <a:ea typeface="ＭＳ 明朝" panose="02020609040205080304" pitchFamily="17" charset="-128"/>
              </a:rPr>
              <a:t>RDP Connect</a:t>
            </a:r>
          </a:p>
          <a:p>
            <a:r>
              <a:rPr kumimoji="1" lang="ja-JP" altLang="en-US" sz="2800" dirty="0">
                <a:latin typeface="ＭＳ 明朝" panose="02020609040205080304" pitchFamily="17" charset="-128"/>
                <a:ea typeface="ＭＳ 明朝" panose="02020609040205080304" pitchFamily="17" charset="-128"/>
              </a:rPr>
              <a:t>・ </a:t>
            </a:r>
            <a:r>
              <a:rPr kumimoji="1" lang="en-US" altLang="ja-JP" sz="2800" dirty="0" err="1">
                <a:latin typeface="ＭＳ 明朝" panose="02020609040205080304" pitchFamily="17" charset="-128"/>
                <a:ea typeface="ＭＳ 明朝" panose="02020609040205080304" pitchFamily="17" charset="-128"/>
              </a:rPr>
              <a:t>ldapsearch</a:t>
            </a:r>
            <a:endParaRPr kumimoji="1" lang="en-US" altLang="ja-JP" sz="2800" dirty="0">
              <a:latin typeface="ＭＳ 明朝" panose="02020609040205080304" pitchFamily="17" charset="-128"/>
              <a:ea typeface="ＭＳ 明朝" panose="02020609040205080304" pitchFamily="17" charset="-128"/>
            </a:endParaRPr>
          </a:p>
          <a:p>
            <a:r>
              <a:rPr kumimoji="1" lang="ja-JP" altLang="en-US" sz="2800" dirty="0">
                <a:latin typeface="ＭＳ 明朝" panose="02020609040205080304" pitchFamily="17" charset="-128"/>
                <a:ea typeface="ＭＳ 明朝" panose="02020609040205080304" pitchFamily="17" charset="-128"/>
              </a:rPr>
              <a:t>・ </a:t>
            </a:r>
            <a:r>
              <a:rPr kumimoji="1" lang="en-US" altLang="ja-JP" sz="2800" dirty="0" err="1">
                <a:latin typeface="ＭＳ 明朝" panose="02020609040205080304" pitchFamily="17" charset="-128"/>
                <a:ea typeface="ＭＳ 明朝" panose="02020609040205080304" pitchFamily="17" charset="-128"/>
              </a:rPr>
              <a:t>rpcclient</a:t>
            </a:r>
            <a:endParaRPr kumimoji="1" lang="en-US" altLang="ja-JP" sz="2800" dirty="0">
              <a:latin typeface="ＭＳ 明朝" panose="02020609040205080304" pitchFamily="17" charset="-128"/>
              <a:ea typeface="ＭＳ 明朝" panose="02020609040205080304" pitchFamily="17" charset="-128"/>
            </a:endParaRPr>
          </a:p>
          <a:p>
            <a:r>
              <a:rPr kumimoji="1" lang="ja-JP" altLang="en-US" sz="2800" dirty="0">
                <a:latin typeface="ＭＳ 明朝" panose="02020609040205080304" pitchFamily="17" charset="-128"/>
                <a:ea typeface="ＭＳ 明朝" panose="02020609040205080304" pitchFamily="17" charset="-128"/>
              </a:rPr>
              <a:t>・ </a:t>
            </a:r>
            <a:r>
              <a:rPr kumimoji="1" lang="en-US" altLang="ja-JP" sz="2800" dirty="0">
                <a:latin typeface="ＭＳ 明朝" panose="02020609040205080304" pitchFamily="17" charset="-128"/>
                <a:ea typeface="ＭＳ 明朝" panose="02020609040205080304" pitchFamily="17" charset="-128"/>
              </a:rPr>
              <a:t>enum4linux</a:t>
            </a:r>
          </a:p>
          <a:p>
            <a:r>
              <a:rPr kumimoji="1" lang="ja-JP" altLang="en-US" sz="2800" dirty="0">
                <a:latin typeface="ＭＳ 明朝" panose="02020609040205080304" pitchFamily="17" charset="-128"/>
                <a:ea typeface="ＭＳ 明朝" panose="02020609040205080304" pitchFamily="17" charset="-128"/>
              </a:rPr>
              <a:t>・ </a:t>
            </a:r>
            <a:r>
              <a:rPr kumimoji="1" lang="en-US" altLang="ja-JP" sz="2800" dirty="0" err="1">
                <a:latin typeface="ＭＳ 明朝" panose="02020609040205080304" pitchFamily="17" charset="-128"/>
                <a:ea typeface="ＭＳ 明朝" panose="02020609040205080304" pitchFamily="17" charset="-128"/>
              </a:rPr>
              <a:t>ldapdomaindump</a:t>
            </a:r>
            <a:endParaRPr kumimoji="1" lang="en-US" altLang="ja-JP" sz="2800" dirty="0">
              <a:latin typeface="ＭＳ 明朝" panose="02020609040205080304" pitchFamily="17" charset="-128"/>
              <a:ea typeface="ＭＳ 明朝" panose="02020609040205080304" pitchFamily="17" charset="-128"/>
            </a:endParaRPr>
          </a:p>
        </p:txBody>
      </p:sp>
      <p:sp>
        <p:nvSpPr>
          <p:cNvPr id="3" name="タイトル 1">
            <a:extLst>
              <a:ext uri="{FF2B5EF4-FFF2-40B4-BE49-F238E27FC236}">
                <a16:creationId xmlns:a16="http://schemas.microsoft.com/office/drawing/2014/main" id="{87D22709-A413-4BA2-8A27-D3E218EAF434}"/>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仮説２</a:t>
            </a:r>
          </a:p>
        </p:txBody>
      </p:sp>
    </p:spTree>
    <p:extLst>
      <p:ext uri="{BB962C8B-B14F-4D97-AF65-F5344CB8AC3E}">
        <p14:creationId xmlns:p14="http://schemas.microsoft.com/office/powerpoint/2010/main" val="1326822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AC2F54C-778B-4966-87D2-890E61203B29}"/>
              </a:ext>
            </a:extLst>
          </p:cNvPr>
          <p:cNvSpPr txBox="1"/>
          <p:nvPr/>
        </p:nvSpPr>
        <p:spPr>
          <a:xfrm>
            <a:off x="2055303" y="1367405"/>
            <a:ext cx="8725466" cy="4801314"/>
          </a:xfrm>
          <a:prstGeom prst="rect">
            <a:avLst/>
          </a:prstGeom>
          <a:noFill/>
        </p:spPr>
        <p:txBody>
          <a:bodyPr wrap="none" rtlCol="0">
            <a:spAutoFit/>
          </a:bodyPr>
          <a:lstStyle/>
          <a:p>
            <a:r>
              <a:rPr kumimoji="1" lang="ja-JP" altLang="en-US" dirty="0">
                <a:latin typeface="ＭＳ 明朝" panose="02020609040205080304" pitchFamily="17" charset="-128"/>
                <a:ea typeface="ＭＳ 明朝" panose="02020609040205080304" pitchFamily="17" charset="-128"/>
              </a:rPr>
              <a:t>検知手段：</a:t>
            </a:r>
            <a:endParaRPr kumimoji="1" lang="en-US" altLang="ja-JP" dirty="0">
              <a:latin typeface="ＭＳ 明朝" panose="02020609040205080304" pitchFamily="17" charset="-128"/>
              <a:ea typeface="ＭＳ 明朝" panose="02020609040205080304" pitchFamily="17" charset="-128"/>
            </a:endParaRPr>
          </a:p>
          <a:p>
            <a:endParaRPr kumimoji="1" lang="en-US" altLang="ja-JP" dirty="0"/>
          </a:p>
          <a:p>
            <a:r>
              <a:rPr kumimoji="1" lang="ja-JP" altLang="en-US" dirty="0">
                <a:latin typeface="ＭＳ 明朝" panose="02020609040205080304" pitchFamily="17" charset="-128"/>
                <a:ea typeface="ＭＳ 明朝" panose="02020609040205080304" pitchFamily="17" charset="-128"/>
              </a:rPr>
              <a:t>・</a:t>
            </a:r>
            <a:r>
              <a:rPr kumimoji="1" lang="en-US" altLang="ja-JP" dirty="0">
                <a:latin typeface="ＭＳ 明朝" panose="02020609040205080304" pitchFamily="17" charset="-128"/>
                <a:ea typeface="ＭＳ 明朝" panose="02020609040205080304" pitchFamily="17" charset="-128"/>
              </a:rPr>
              <a:t>AD</a:t>
            </a:r>
            <a:r>
              <a:rPr kumimoji="1" lang="ja-JP" altLang="en-US" dirty="0">
                <a:latin typeface="ＭＳ 明朝" panose="02020609040205080304" pitchFamily="17" charset="-128"/>
                <a:ea typeface="ＭＳ 明朝" panose="02020609040205080304" pitchFamily="17" charset="-128"/>
              </a:rPr>
              <a:t>の</a:t>
            </a:r>
            <a:r>
              <a:rPr kumimoji="1" lang="en-US" altLang="ja-JP" dirty="0">
                <a:latin typeface="ＭＳ 明朝" panose="02020609040205080304" pitchFamily="17" charset="-128"/>
                <a:ea typeface="ＭＳ 明朝" panose="02020609040205080304" pitchFamily="17" charset="-128"/>
              </a:rPr>
              <a:t>Security</a:t>
            </a:r>
            <a:r>
              <a:rPr kumimoji="1" lang="ja-JP" altLang="en-US" dirty="0">
                <a:latin typeface="ＭＳ 明朝" panose="02020609040205080304" pitchFamily="17" charset="-128"/>
                <a:ea typeface="ＭＳ 明朝" panose="02020609040205080304" pitchFamily="17" charset="-128"/>
              </a:rPr>
              <a:t>ログに不審なアクセスログはないか確認する（</a:t>
            </a:r>
            <a:r>
              <a:rPr kumimoji="1" lang="en-US" altLang="ja-JP" dirty="0">
                <a:latin typeface="ＭＳ 明朝" panose="02020609040205080304" pitchFamily="17" charset="-128"/>
                <a:ea typeface="ＭＳ 明朝" panose="02020609040205080304" pitchFamily="17" charset="-128"/>
              </a:rPr>
              <a:t>4624/4625)</a:t>
            </a:r>
          </a:p>
          <a:p>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a:t>
            </a:r>
            <a:r>
              <a:rPr kumimoji="1" lang="en-US" altLang="ja-JP" dirty="0">
                <a:latin typeface="ＭＳ 明朝" panose="02020609040205080304" pitchFamily="17" charset="-128"/>
                <a:ea typeface="ＭＳ 明朝" panose="02020609040205080304" pitchFamily="17" charset="-128"/>
              </a:rPr>
              <a:t>AD</a:t>
            </a:r>
            <a:r>
              <a:rPr kumimoji="1" lang="ja-JP" altLang="en-US" dirty="0" err="1">
                <a:latin typeface="ＭＳ 明朝" panose="02020609040205080304" pitchFamily="17" charset="-128"/>
                <a:ea typeface="ＭＳ 明朝" panose="02020609040205080304" pitchFamily="17" charset="-128"/>
              </a:rPr>
              <a:t>での</a:t>
            </a:r>
            <a:r>
              <a:rPr kumimoji="1" lang="en-US" altLang="ja-JP" dirty="0">
                <a:latin typeface="ＭＳ 明朝" panose="02020609040205080304" pitchFamily="17" charset="-128"/>
                <a:ea typeface="ＭＳ 明朝" panose="02020609040205080304" pitchFamily="17" charset="-128"/>
              </a:rPr>
              <a:t>netstat</a:t>
            </a:r>
            <a:r>
              <a:rPr kumimoji="1" lang="ja-JP" altLang="en-US" dirty="0">
                <a:latin typeface="ＭＳ 明朝" panose="02020609040205080304" pitchFamily="17" charset="-128"/>
                <a:ea typeface="ＭＳ 明朝" panose="02020609040205080304" pitchFamily="17" charset="-128"/>
              </a:rPr>
              <a:t>の結果で不審な通信先へのアクセスはないかを確認する。</a:t>
            </a:r>
            <a:endParaRPr kumimoji="1"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a:t>
            </a:r>
            <a:r>
              <a:rPr lang="en-US" altLang="ja-JP" dirty="0">
                <a:latin typeface="ＭＳ 明朝" panose="02020609040205080304" pitchFamily="17" charset="-128"/>
                <a:ea typeface="ＭＳ 明朝" panose="02020609040205080304" pitchFamily="17" charset="-128"/>
              </a:rPr>
              <a:t>AD</a:t>
            </a:r>
            <a:r>
              <a:rPr lang="ja-JP" altLang="en-US" dirty="0">
                <a:latin typeface="ＭＳ 明朝" panose="02020609040205080304" pitchFamily="17" charset="-128"/>
                <a:ea typeface="ＭＳ 明朝" panose="02020609040205080304" pitchFamily="17" charset="-128"/>
              </a:rPr>
              <a:t>に不審なユーザーが作成されていないかを確認</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a:t>
            </a:r>
            <a:r>
              <a:rPr lang="en-US" altLang="ja-JP" dirty="0">
                <a:latin typeface="ＭＳ 明朝" panose="02020609040205080304" pitchFamily="17" charset="-128"/>
                <a:ea typeface="ＭＳ 明朝" panose="02020609040205080304" pitchFamily="17" charset="-128"/>
              </a:rPr>
              <a:t>FW</a:t>
            </a:r>
            <a:r>
              <a:rPr lang="ja-JP" altLang="en-US" dirty="0">
                <a:latin typeface="ＭＳ 明朝" panose="02020609040205080304" pitchFamily="17" charset="-128"/>
                <a:ea typeface="ＭＳ 明朝" panose="02020609040205080304" pitchFamily="17" charset="-128"/>
              </a:rPr>
              <a:t>の通信ログで不審なアドレスからの通信がないかを確認する。</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a:t>
            </a:r>
            <a:r>
              <a:rPr lang="en-US" altLang="ja-JP" dirty="0">
                <a:latin typeface="ＭＳ 明朝" panose="02020609040205080304" pitchFamily="17" charset="-128"/>
                <a:ea typeface="ＭＳ 明朝" panose="02020609040205080304" pitchFamily="17" charset="-128"/>
              </a:rPr>
              <a:t>FW</a:t>
            </a:r>
            <a:r>
              <a:rPr lang="ja-JP" altLang="en-US" dirty="0">
                <a:latin typeface="ＭＳ 明朝" panose="02020609040205080304" pitchFamily="17" charset="-128"/>
                <a:ea typeface="ＭＳ 明朝" panose="02020609040205080304" pitchFamily="17" charset="-128"/>
              </a:rPr>
              <a:t>の検知ログで</a:t>
            </a:r>
            <a:r>
              <a:rPr lang="en-US" altLang="ja-JP" dirty="0">
                <a:latin typeface="ＭＳ 明朝" panose="02020609040205080304" pitchFamily="17" charset="-128"/>
                <a:ea typeface="ＭＳ 明朝" panose="02020609040205080304" pitchFamily="17" charset="-128"/>
              </a:rPr>
              <a:t>AD</a:t>
            </a:r>
            <a:r>
              <a:rPr lang="ja-JP" altLang="en-US" dirty="0">
                <a:latin typeface="ＭＳ 明朝" panose="02020609040205080304" pitchFamily="17" charset="-128"/>
                <a:ea typeface="ＭＳ 明朝" panose="02020609040205080304" pitchFamily="17" charset="-128"/>
              </a:rPr>
              <a:t>に対して攻撃通信が検知していないかを確認する（見てる？）</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a:t>
            </a:r>
            <a:r>
              <a:rPr lang="en-US" altLang="ja-JP" dirty="0">
                <a:latin typeface="ＭＳ 明朝" panose="02020609040205080304" pitchFamily="17" charset="-128"/>
                <a:ea typeface="ＭＳ 明朝" panose="02020609040205080304" pitchFamily="17" charset="-128"/>
              </a:rPr>
              <a:t>AD</a:t>
            </a:r>
            <a:r>
              <a:rPr lang="ja-JP" altLang="en-US" dirty="0">
                <a:latin typeface="ＭＳ 明朝" panose="02020609040205080304" pitchFamily="17" charset="-128"/>
                <a:ea typeface="ＭＳ 明朝" panose="02020609040205080304" pitchFamily="17" charset="-128"/>
              </a:rPr>
              <a:t>に不審なタスクやサービスが登録されていないかを確認。</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緩和策：</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en-US" altLang="ja-JP" dirty="0">
                <a:latin typeface="ＭＳ 明朝" panose="02020609040205080304" pitchFamily="17" charset="-128"/>
                <a:ea typeface="ＭＳ 明朝" panose="02020609040205080304" pitchFamily="17" charset="-128"/>
              </a:rPr>
              <a:t>FW</a:t>
            </a:r>
            <a:r>
              <a:rPr lang="ja-JP" altLang="en-US" dirty="0">
                <a:latin typeface="ＭＳ 明朝" panose="02020609040205080304" pitchFamily="17" charset="-128"/>
                <a:ea typeface="ＭＳ 明朝" panose="02020609040205080304" pitchFamily="17" charset="-128"/>
              </a:rPr>
              <a:t>ルールでアクセスできる端末などを制限する。</a:t>
            </a:r>
            <a:endParaRPr lang="en-US" altLang="ja-JP" dirty="0">
              <a:latin typeface="ＭＳ 明朝" panose="02020609040205080304" pitchFamily="17" charset="-128"/>
              <a:ea typeface="ＭＳ 明朝" panose="02020609040205080304" pitchFamily="17" charset="-128"/>
            </a:endParaRPr>
          </a:p>
        </p:txBody>
      </p:sp>
      <p:sp>
        <p:nvSpPr>
          <p:cNvPr id="3" name="タイトル 1">
            <a:extLst>
              <a:ext uri="{FF2B5EF4-FFF2-40B4-BE49-F238E27FC236}">
                <a16:creationId xmlns:a16="http://schemas.microsoft.com/office/drawing/2014/main" id="{3920B5CF-2A20-4EB4-B2C9-D669EBC51BBB}"/>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仮説２</a:t>
            </a:r>
          </a:p>
        </p:txBody>
      </p:sp>
    </p:spTree>
    <p:extLst>
      <p:ext uri="{BB962C8B-B14F-4D97-AF65-F5344CB8AC3E}">
        <p14:creationId xmlns:p14="http://schemas.microsoft.com/office/powerpoint/2010/main" val="1429061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219589B-E704-411B-AE52-524793F02BDC}"/>
              </a:ext>
            </a:extLst>
          </p:cNvPr>
          <p:cNvSpPr txBox="1"/>
          <p:nvPr/>
        </p:nvSpPr>
        <p:spPr>
          <a:xfrm>
            <a:off x="4323346" y="2579566"/>
            <a:ext cx="3276859" cy="1323439"/>
          </a:xfrm>
          <a:prstGeom prst="rect">
            <a:avLst/>
          </a:prstGeom>
          <a:noFill/>
        </p:spPr>
        <p:txBody>
          <a:bodyPr wrap="none" rtlCol="0">
            <a:spAutoFit/>
          </a:bodyPr>
          <a:lstStyle/>
          <a:p>
            <a:pPr algn="ctr"/>
            <a:r>
              <a:rPr kumimoji="1" lang="ja-JP" altLang="en-US" sz="8000" b="1" dirty="0">
                <a:latin typeface="ＭＳ 明朝" panose="02020609040205080304" pitchFamily="17" charset="-128"/>
                <a:ea typeface="ＭＳ 明朝" panose="02020609040205080304" pitchFamily="17" charset="-128"/>
              </a:rPr>
              <a:t>仮説３</a:t>
            </a:r>
          </a:p>
        </p:txBody>
      </p:sp>
      <p:sp>
        <p:nvSpPr>
          <p:cNvPr id="3" name="タイトル 1">
            <a:extLst>
              <a:ext uri="{FF2B5EF4-FFF2-40B4-BE49-F238E27FC236}">
                <a16:creationId xmlns:a16="http://schemas.microsoft.com/office/drawing/2014/main" id="{68331521-AA01-4863-B5AF-EA011D54087D}"/>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仮説３</a:t>
            </a:r>
          </a:p>
        </p:txBody>
      </p:sp>
    </p:spTree>
    <p:extLst>
      <p:ext uri="{BB962C8B-B14F-4D97-AF65-F5344CB8AC3E}">
        <p14:creationId xmlns:p14="http://schemas.microsoft.com/office/powerpoint/2010/main" val="20053258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BFAE6E1F-AF96-4E46-9A8B-0323146BF719}"/>
              </a:ext>
            </a:extLst>
          </p:cNvPr>
          <p:cNvPicPr>
            <a:picLocks noChangeAspect="1"/>
          </p:cNvPicPr>
          <p:nvPr/>
        </p:nvPicPr>
        <p:blipFill>
          <a:blip r:embed="rId2"/>
          <a:stretch>
            <a:fillRect/>
          </a:stretch>
        </p:blipFill>
        <p:spPr>
          <a:xfrm>
            <a:off x="1928374" y="1339951"/>
            <a:ext cx="8335249" cy="5376123"/>
          </a:xfrm>
          <a:prstGeom prst="rect">
            <a:avLst/>
          </a:prstGeom>
          <a:ln>
            <a:solidFill>
              <a:schemeClr val="tx1"/>
            </a:solidFill>
          </a:ln>
        </p:spPr>
      </p:pic>
      <p:sp>
        <p:nvSpPr>
          <p:cNvPr id="3" name="矢印: 下 2">
            <a:extLst>
              <a:ext uri="{FF2B5EF4-FFF2-40B4-BE49-F238E27FC236}">
                <a16:creationId xmlns:a16="http://schemas.microsoft.com/office/drawing/2014/main" id="{8F6DB4EA-7FA0-46B0-A504-1593B3268649}"/>
              </a:ext>
            </a:extLst>
          </p:cNvPr>
          <p:cNvSpPr/>
          <p:nvPr/>
        </p:nvSpPr>
        <p:spPr>
          <a:xfrm>
            <a:off x="2804162" y="1795243"/>
            <a:ext cx="251597" cy="1493239"/>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矢印: 下 3">
            <a:extLst>
              <a:ext uri="{FF2B5EF4-FFF2-40B4-BE49-F238E27FC236}">
                <a16:creationId xmlns:a16="http://schemas.microsoft.com/office/drawing/2014/main" id="{2BC539EE-223E-4AEE-A5FF-6E00DE0BA549}"/>
              </a:ext>
            </a:extLst>
          </p:cNvPr>
          <p:cNvSpPr/>
          <p:nvPr/>
        </p:nvSpPr>
        <p:spPr>
          <a:xfrm rot="5400000">
            <a:off x="3783471" y="1048623"/>
            <a:ext cx="251597" cy="1493239"/>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矢印: 下 5">
            <a:extLst>
              <a:ext uri="{FF2B5EF4-FFF2-40B4-BE49-F238E27FC236}">
                <a16:creationId xmlns:a16="http://schemas.microsoft.com/office/drawing/2014/main" id="{54C11873-AF65-46D0-92B8-0EE8F4229A7A}"/>
              </a:ext>
            </a:extLst>
          </p:cNvPr>
          <p:cNvSpPr/>
          <p:nvPr/>
        </p:nvSpPr>
        <p:spPr>
          <a:xfrm rot="16200000">
            <a:off x="4655927" y="1669406"/>
            <a:ext cx="251597" cy="323815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371068F5-9463-45C8-BA46-A25BA9699490}"/>
              </a:ext>
            </a:extLst>
          </p:cNvPr>
          <p:cNvPicPr>
            <a:picLocks noChangeAspect="1"/>
          </p:cNvPicPr>
          <p:nvPr/>
        </p:nvPicPr>
        <p:blipFill>
          <a:blip r:embed="rId3"/>
          <a:stretch>
            <a:fillRect/>
          </a:stretch>
        </p:blipFill>
        <p:spPr>
          <a:xfrm>
            <a:off x="4762780" y="1618188"/>
            <a:ext cx="543740" cy="354108"/>
          </a:xfrm>
          <a:prstGeom prst="rect">
            <a:avLst/>
          </a:prstGeom>
          <a:ln>
            <a:solidFill>
              <a:schemeClr val="tx1"/>
            </a:solidFill>
          </a:ln>
        </p:spPr>
      </p:pic>
      <p:sp>
        <p:nvSpPr>
          <p:cNvPr id="8" name="タイトル 1">
            <a:extLst>
              <a:ext uri="{FF2B5EF4-FFF2-40B4-BE49-F238E27FC236}">
                <a16:creationId xmlns:a16="http://schemas.microsoft.com/office/drawing/2014/main" id="{2C857FAF-F9EB-44BA-9D6C-95475D9CF4B2}"/>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仮説３</a:t>
            </a:r>
          </a:p>
        </p:txBody>
      </p:sp>
    </p:spTree>
    <p:extLst>
      <p:ext uri="{BB962C8B-B14F-4D97-AF65-F5344CB8AC3E}">
        <p14:creationId xmlns:p14="http://schemas.microsoft.com/office/powerpoint/2010/main" val="41203987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28C43062-54B4-4B00-BAE4-40999FE2A1E5}"/>
              </a:ext>
            </a:extLst>
          </p:cNvPr>
          <p:cNvPicPr>
            <a:picLocks noChangeAspect="1"/>
          </p:cNvPicPr>
          <p:nvPr/>
        </p:nvPicPr>
        <p:blipFill>
          <a:blip r:embed="rId2"/>
          <a:stretch>
            <a:fillRect/>
          </a:stretch>
        </p:blipFill>
        <p:spPr>
          <a:xfrm>
            <a:off x="7700726" y="2401080"/>
            <a:ext cx="652223" cy="521778"/>
          </a:xfrm>
          <a:prstGeom prst="rect">
            <a:avLst/>
          </a:prstGeom>
        </p:spPr>
      </p:pic>
      <p:sp>
        <p:nvSpPr>
          <p:cNvPr id="2" name="タイトル 1">
            <a:extLst>
              <a:ext uri="{FF2B5EF4-FFF2-40B4-BE49-F238E27FC236}">
                <a16:creationId xmlns:a16="http://schemas.microsoft.com/office/drawing/2014/main" id="{83F14949-9CE5-45BE-BC5D-3300EEEA9F1F}"/>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構成図（簡略化）想定侵入経路</a:t>
            </a:r>
          </a:p>
        </p:txBody>
      </p:sp>
      <p:cxnSp>
        <p:nvCxnSpPr>
          <p:cNvPr id="3" name="直線コネクタ 2">
            <a:extLst>
              <a:ext uri="{FF2B5EF4-FFF2-40B4-BE49-F238E27FC236}">
                <a16:creationId xmlns:a16="http://schemas.microsoft.com/office/drawing/2014/main" id="{85C36197-3526-4A6D-8E36-9C0A7CAB5B5F}"/>
              </a:ext>
            </a:extLst>
          </p:cNvPr>
          <p:cNvCxnSpPr>
            <a:cxnSpLocks/>
          </p:cNvCxnSpPr>
          <p:nvPr/>
        </p:nvCxnSpPr>
        <p:spPr>
          <a:xfrm>
            <a:off x="3886116" y="927651"/>
            <a:ext cx="0" cy="15320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00452DCD-78B9-40D6-8578-DFF3494CB6BD}"/>
              </a:ext>
            </a:extLst>
          </p:cNvPr>
          <p:cNvSpPr txBox="1"/>
          <p:nvPr/>
        </p:nvSpPr>
        <p:spPr>
          <a:xfrm>
            <a:off x="3275276"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5" name="テキスト ボックス 4">
            <a:extLst>
              <a:ext uri="{FF2B5EF4-FFF2-40B4-BE49-F238E27FC236}">
                <a16:creationId xmlns:a16="http://schemas.microsoft.com/office/drawing/2014/main" id="{EC25BA71-091D-4C25-9737-3F7773015E44}"/>
              </a:ext>
            </a:extLst>
          </p:cNvPr>
          <p:cNvSpPr txBox="1"/>
          <p:nvPr/>
        </p:nvSpPr>
        <p:spPr>
          <a:xfrm>
            <a:off x="3275274" y="1919635"/>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6" name="雲 5">
            <a:extLst>
              <a:ext uri="{FF2B5EF4-FFF2-40B4-BE49-F238E27FC236}">
                <a16:creationId xmlns:a16="http://schemas.microsoft.com/office/drawing/2014/main" id="{B7BC6461-E36C-4433-8B9D-40B66271D6B7}"/>
              </a:ext>
            </a:extLst>
          </p:cNvPr>
          <p:cNvSpPr/>
          <p:nvPr/>
        </p:nvSpPr>
        <p:spPr>
          <a:xfrm>
            <a:off x="3061355" y="742689"/>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latin typeface="ＭＳ 明朝" panose="02020609040205080304" pitchFamily="17" charset="-128"/>
                <a:ea typeface="ＭＳ 明朝" panose="02020609040205080304" pitchFamily="17" charset="-128"/>
              </a:rPr>
              <a:t>DII</a:t>
            </a:r>
            <a:endParaRPr kumimoji="1" lang="ja-JP" altLang="en-US" sz="2800" dirty="0">
              <a:solidFill>
                <a:schemeClr val="tx1"/>
              </a:solidFill>
              <a:latin typeface="ＭＳ 明朝" panose="02020609040205080304" pitchFamily="17" charset="-128"/>
              <a:ea typeface="ＭＳ 明朝" panose="02020609040205080304" pitchFamily="17" charset="-128"/>
            </a:endParaRPr>
          </a:p>
        </p:txBody>
      </p:sp>
      <p:cxnSp>
        <p:nvCxnSpPr>
          <p:cNvPr id="7" name="直線コネクタ 6">
            <a:extLst>
              <a:ext uri="{FF2B5EF4-FFF2-40B4-BE49-F238E27FC236}">
                <a16:creationId xmlns:a16="http://schemas.microsoft.com/office/drawing/2014/main" id="{CF691258-08DC-41C9-A8A7-F893C0F6DFB0}"/>
              </a:ext>
            </a:extLst>
          </p:cNvPr>
          <p:cNvCxnSpPr>
            <a:cxnSpLocks/>
            <a:endCxn id="16" idx="0"/>
          </p:cNvCxnSpPr>
          <p:nvPr/>
        </p:nvCxnSpPr>
        <p:spPr>
          <a:xfrm>
            <a:off x="8001671" y="818919"/>
            <a:ext cx="0" cy="1582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6A1A08AD-7D7D-4CF7-8D75-DD26E2D3B442}"/>
              </a:ext>
            </a:extLst>
          </p:cNvPr>
          <p:cNvSpPr txBox="1"/>
          <p:nvPr/>
        </p:nvSpPr>
        <p:spPr>
          <a:xfrm>
            <a:off x="7389772"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9" name="テキスト ボックス 8">
            <a:extLst>
              <a:ext uri="{FF2B5EF4-FFF2-40B4-BE49-F238E27FC236}">
                <a16:creationId xmlns:a16="http://schemas.microsoft.com/office/drawing/2014/main" id="{6CD33659-78AC-4077-B2F4-810748427629}"/>
              </a:ext>
            </a:extLst>
          </p:cNvPr>
          <p:cNvSpPr txBox="1"/>
          <p:nvPr/>
        </p:nvSpPr>
        <p:spPr>
          <a:xfrm>
            <a:off x="7389772" y="1905114"/>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10" name="雲 9">
            <a:extLst>
              <a:ext uri="{FF2B5EF4-FFF2-40B4-BE49-F238E27FC236}">
                <a16:creationId xmlns:a16="http://schemas.microsoft.com/office/drawing/2014/main" id="{6CC9B7F5-56AE-497C-9C72-F4F0AEDE82EA}"/>
              </a:ext>
            </a:extLst>
          </p:cNvPr>
          <p:cNvSpPr/>
          <p:nvPr/>
        </p:nvSpPr>
        <p:spPr>
          <a:xfrm>
            <a:off x="7125331" y="763685"/>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latin typeface="ＭＳ 明朝" panose="02020609040205080304" pitchFamily="17" charset="-128"/>
                <a:ea typeface="ＭＳ 明朝" panose="02020609040205080304" pitchFamily="17" charset="-128"/>
              </a:rPr>
              <a:t>FACE</a:t>
            </a:r>
            <a:endParaRPr kumimoji="1" lang="ja-JP" altLang="en-US" sz="2000" dirty="0">
              <a:solidFill>
                <a:schemeClr val="tx1"/>
              </a:solidFill>
              <a:latin typeface="ＭＳ 明朝" panose="02020609040205080304" pitchFamily="17" charset="-128"/>
              <a:ea typeface="ＭＳ 明朝" panose="02020609040205080304" pitchFamily="17" charset="-128"/>
            </a:endParaRPr>
          </a:p>
        </p:txBody>
      </p:sp>
      <p:sp>
        <p:nvSpPr>
          <p:cNvPr id="11" name="四角形: 角を丸くする 10">
            <a:extLst>
              <a:ext uri="{FF2B5EF4-FFF2-40B4-BE49-F238E27FC236}">
                <a16:creationId xmlns:a16="http://schemas.microsoft.com/office/drawing/2014/main" id="{DB0BA2E2-1F40-4C6B-B933-FDE65682BEC2}"/>
              </a:ext>
            </a:extLst>
          </p:cNvPr>
          <p:cNvSpPr/>
          <p:nvPr/>
        </p:nvSpPr>
        <p:spPr>
          <a:xfrm>
            <a:off x="77258" y="3131346"/>
            <a:ext cx="11848985" cy="173791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cxnSp>
        <p:nvCxnSpPr>
          <p:cNvPr id="12" name="直線コネクタ 11">
            <a:extLst>
              <a:ext uri="{FF2B5EF4-FFF2-40B4-BE49-F238E27FC236}">
                <a16:creationId xmlns:a16="http://schemas.microsoft.com/office/drawing/2014/main" id="{8A661DE9-3345-4EAF-83D5-0F8B6FED7CF3}"/>
              </a:ext>
            </a:extLst>
          </p:cNvPr>
          <p:cNvCxnSpPr>
            <a:cxnSpLocks/>
          </p:cNvCxnSpPr>
          <p:nvPr/>
        </p:nvCxnSpPr>
        <p:spPr>
          <a:xfrm>
            <a:off x="1335663" y="2609568"/>
            <a:ext cx="0" cy="7873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FBA80E60-4CD5-445F-922E-9CF18E62EA7B}"/>
              </a:ext>
            </a:extLst>
          </p:cNvPr>
          <p:cNvPicPr>
            <a:picLocks noChangeAspect="1"/>
          </p:cNvPicPr>
          <p:nvPr/>
        </p:nvPicPr>
        <p:blipFill>
          <a:blip r:embed="rId3"/>
          <a:stretch>
            <a:fillRect/>
          </a:stretch>
        </p:blipFill>
        <p:spPr>
          <a:xfrm>
            <a:off x="374164" y="5285486"/>
            <a:ext cx="1018590" cy="533467"/>
          </a:xfrm>
          <a:prstGeom prst="rect">
            <a:avLst/>
          </a:prstGeom>
          <a:ln>
            <a:solidFill>
              <a:schemeClr val="tx1"/>
            </a:solidFill>
          </a:ln>
        </p:spPr>
      </p:pic>
      <p:sp>
        <p:nvSpPr>
          <p:cNvPr id="31" name="正方形/長方形 30">
            <a:extLst>
              <a:ext uri="{FF2B5EF4-FFF2-40B4-BE49-F238E27FC236}">
                <a16:creationId xmlns:a16="http://schemas.microsoft.com/office/drawing/2014/main" id="{A8D3E06E-AEAD-471E-BD06-F50DE5DFB7F0}"/>
              </a:ext>
            </a:extLst>
          </p:cNvPr>
          <p:cNvSpPr/>
          <p:nvPr/>
        </p:nvSpPr>
        <p:spPr>
          <a:xfrm>
            <a:off x="75501" y="5123219"/>
            <a:ext cx="1543574" cy="8824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65CEA6ED-A402-4E96-B3DB-3C991B32552A}"/>
              </a:ext>
            </a:extLst>
          </p:cNvPr>
          <p:cNvSpPr txBox="1"/>
          <p:nvPr/>
        </p:nvSpPr>
        <p:spPr>
          <a:xfrm>
            <a:off x="161641" y="4896575"/>
            <a:ext cx="543739" cy="307777"/>
          </a:xfrm>
          <a:prstGeom prst="rect">
            <a:avLst/>
          </a:prstGeom>
          <a:solidFill>
            <a:schemeClr val="bg1"/>
          </a:solidFill>
          <a:ln>
            <a:noFill/>
          </a:ln>
        </p:spPr>
        <p:txBody>
          <a:bodyPr wrap="none" rtlCol="0">
            <a:spAutoFit/>
          </a:bodyPr>
          <a:lstStyle/>
          <a:p>
            <a:pPr algn="l"/>
            <a:r>
              <a:rPr kumimoji="1" lang="ja-JP" altLang="en-US" sz="1400" dirty="0">
                <a:latin typeface="ＭＳ 明朝" panose="02020609040205080304" pitchFamily="17" charset="-128"/>
                <a:ea typeface="ＭＳ 明朝" panose="02020609040205080304" pitchFamily="17" charset="-128"/>
              </a:rPr>
              <a:t>米軍</a:t>
            </a:r>
          </a:p>
        </p:txBody>
      </p:sp>
      <p:sp>
        <p:nvSpPr>
          <p:cNvPr id="34" name="テキスト ボックス 33">
            <a:extLst>
              <a:ext uri="{FF2B5EF4-FFF2-40B4-BE49-F238E27FC236}">
                <a16:creationId xmlns:a16="http://schemas.microsoft.com/office/drawing/2014/main" id="{B760DD94-3933-4209-B2D4-19C8C4A5B9B0}"/>
              </a:ext>
            </a:extLst>
          </p:cNvPr>
          <p:cNvSpPr txBox="1"/>
          <p:nvPr/>
        </p:nvSpPr>
        <p:spPr>
          <a:xfrm>
            <a:off x="58947" y="4012920"/>
            <a:ext cx="889987" cy="261610"/>
          </a:xfrm>
          <a:prstGeom prst="rect">
            <a:avLst/>
          </a:prstGeom>
          <a:noFill/>
          <a:ln>
            <a:noFill/>
          </a:ln>
        </p:spPr>
        <p:txBody>
          <a:bodyPr wrap="none" rtlCol="0">
            <a:spAutoFit/>
          </a:bodyPr>
          <a:lstStyle/>
          <a:p>
            <a:pPr algn="l"/>
            <a:r>
              <a:rPr kumimoji="1" lang="en-US" altLang="ja-JP" sz="1050" dirty="0">
                <a:latin typeface="+mn-ea"/>
              </a:rPr>
              <a:t>Port25,110</a:t>
            </a:r>
            <a:endParaRPr kumimoji="1" lang="ja-JP" altLang="en-US" sz="1050" dirty="0">
              <a:latin typeface="+mn-ea"/>
            </a:endParaRPr>
          </a:p>
        </p:txBody>
      </p:sp>
      <p:sp>
        <p:nvSpPr>
          <p:cNvPr id="35" name="テキスト ボックス 34">
            <a:extLst>
              <a:ext uri="{FF2B5EF4-FFF2-40B4-BE49-F238E27FC236}">
                <a16:creationId xmlns:a16="http://schemas.microsoft.com/office/drawing/2014/main" id="{1D246377-8A78-4E80-8831-706850A89F1A}"/>
              </a:ext>
            </a:extLst>
          </p:cNvPr>
          <p:cNvSpPr txBox="1"/>
          <p:nvPr/>
        </p:nvSpPr>
        <p:spPr>
          <a:xfrm>
            <a:off x="2506685" y="2903692"/>
            <a:ext cx="543739" cy="307777"/>
          </a:xfrm>
          <a:prstGeom prst="rect">
            <a:avLst/>
          </a:prstGeom>
          <a:solidFill>
            <a:schemeClr val="bg1"/>
          </a:solidFill>
          <a:ln>
            <a:noFill/>
          </a:ln>
        </p:spPr>
        <p:txBody>
          <a:bodyPr wrap="none" rtlCol="0">
            <a:spAutoFit/>
          </a:bodyPr>
          <a:lstStyle/>
          <a:p>
            <a:pPr algn="l"/>
            <a:r>
              <a:rPr lang="en-US" altLang="ja-JP" sz="1400" dirty="0">
                <a:latin typeface="ＭＳ 明朝" panose="02020609040205080304" pitchFamily="17" charset="-128"/>
                <a:ea typeface="ＭＳ 明朝" panose="02020609040205080304" pitchFamily="17" charset="-128"/>
              </a:rPr>
              <a:t>FADP</a:t>
            </a:r>
            <a:endParaRPr kumimoji="1" lang="ja-JP" altLang="en-US" sz="1400" dirty="0">
              <a:latin typeface="ＭＳ 明朝" panose="02020609040205080304" pitchFamily="17" charset="-128"/>
              <a:ea typeface="ＭＳ 明朝" panose="02020609040205080304" pitchFamily="17" charset="-128"/>
            </a:endParaRPr>
          </a:p>
        </p:txBody>
      </p:sp>
      <p:pic>
        <p:nvPicPr>
          <p:cNvPr id="15" name="図 14">
            <a:extLst>
              <a:ext uri="{FF2B5EF4-FFF2-40B4-BE49-F238E27FC236}">
                <a16:creationId xmlns:a16="http://schemas.microsoft.com/office/drawing/2014/main" id="{0CA186C7-2BB3-4F6A-B059-DC99BB4FD52B}"/>
              </a:ext>
            </a:extLst>
          </p:cNvPr>
          <p:cNvPicPr>
            <a:picLocks noChangeAspect="1"/>
          </p:cNvPicPr>
          <p:nvPr/>
        </p:nvPicPr>
        <p:blipFill>
          <a:blip r:embed="rId2"/>
          <a:stretch>
            <a:fillRect/>
          </a:stretch>
        </p:blipFill>
        <p:spPr>
          <a:xfrm>
            <a:off x="3611894" y="2425437"/>
            <a:ext cx="652223" cy="521778"/>
          </a:xfrm>
          <a:prstGeom prst="rect">
            <a:avLst/>
          </a:prstGeom>
        </p:spPr>
      </p:pic>
      <p:cxnSp>
        <p:nvCxnSpPr>
          <p:cNvPr id="17" name="直線コネクタ 16">
            <a:extLst>
              <a:ext uri="{FF2B5EF4-FFF2-40B4-BE49-F238E27FC236}">
                <a16:creationId xmlns:a16="http://schemas.microsoft.com/office/drawing/2014/main" id="{F16B25B4-DA9B-4C25-9F25-074B7E828687}"/>
              </a:ext>
            </a:extLst>
          </p:cNvPr>
          <p:cNvCxnSpPr>
            <a:cxnSpLocks/>
          </p:cNvCxnSpPr>
          <p:nvPr/>
        </p:nvCxnSpPr>
        <p:spPr>
          <a:xfrm>
            <a:off x="3899453" y="2886264"/>
            <a:ext cx="0" cy="5106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C286F3FA-DD47-4CEA-9839-BC4E18872F1A}"/>
              </a:ext>
            </a:extLst>
          </p:cNvPr>
          <p:cNvCxnSpPr>
            <a:cxnSpLocks/>
          </p:cNvCxnSpPr>
          <p:nvPr/>
        </p:nvCxnSpPr>
        <p:spPr>
          <a:xfrm flipH="1">
            <a:off x="1335663" y="2609568"/>
            <a:ext cx="2293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A67A59A9-235B-44C3-BB17-97452841871A}"/>
              </a:ext>
            </a:extLst>
          </p:cNvPr>
          <p:cNvCxnSpPr>
            <a:cxnSpLocks/>
          </p:cNvCxnSpPr>
          <p:nvPr/>
        </p:nvCxnSpPr>
        <p:spPr>
          <a:xfrm>
            <a:off x="765226" y="3396957"/>
            <a:ext cx="11408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777CDB5D-A1AF-48EA-B451-5D333C85AC69}"/>
              </a:ext>
            </a:extLst>
          </p:cNvPr>
          <p:cNvCxnSpPr>
            <a:cxnSpLocks/>
            <a:endCxn id="31" idx="0"/>
          </p:cNvCxnSpPr>
          <p:nvPr/>
        </p:nvCxnSpPr>
        <p:spPr>
          <a:xfrm>
            <a:off x="765226" y="3396957"/>
            <a:ext cx="0" cy="1726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1659967C-5C25-4ABC-A664-55AB2CDD73D0}"/>
              </a:ext>
            </a:extLst>
          </p:cNvPr>
          <p:cNvSpPr txBox="1"/>
          <p:nvPr/>
        </p:nvSpPr>
        <p:spPr>
          <a:xfrm>
            <a:off x="313683" y="4482865"/>
            <a:ext cx="922789"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ルーター</a:t>
            </a:r>
          </a:p>
        </p:txBody>
      </p:sp>
      <p:sp>
        <p:nvSpPr>
          <p:cNvPr id="30" name="テキスト ボックス 29">
            <a:extLst>
              <a:ext uri="{FF2B5EF4-FFF2-40B4-BE49-F238E27FC236}">
                <a16:creationId xmlns:a16="http://schemas.microsoft.com/office/drawing/2014/main" id="{10B1431F-9EA1-4881-BFB6-699EC58CB8F3}"/>
              </a:ext>
            </a:extLst>
          </p:cNvPr>
          <p:cNvSpPr txBox="1"/>
          <p:nvPr/>
        </p:nvSpPr>
        <p:spPr>
          <a:xfrm>
            <a:off x="267514" y="3783244"/>
            <a:ext cx="995425"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米軍対向用端末</a:t>
            </a:r>
          </a:p>
        </p:txBody>
      </p:sp>
      <p:cxnSp>
        <p:nvCxnSpPr>
          <p:cNvPr id="61" name="直線コネクタ 60">
            <a:extLst>
              <a:ext uri="{FF2B5EF4-FFF2-40B4-BE49-F238E27FC236}">
                <a16:creationId xmlns:a16="http://schemas.microsoft.com/office/drawing/2014/main" id="{E59A4E8E-AB14-4662-94EC-F28A61607BCD}"/>
              </a:ext>
            </a:extLst>
          </p:cNvPr>
          <p:cNvCxnSpPr>
            <a:cxnSpLocks/>
          </p:cNvCxnSpPr>
          <p:nvPr/>
        </p:nvCxnSpPr>
        <p:spPr>
          <a:xfrm>
            <a:off x="1906100" y="3396957"/>
            <a:ext cx="0" cy="5247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417725C0-B5D7-4AF6-B0B8-1621524E621C}"/>
              </a:ext>
            </a:extLst>
          </p:cNvPr>
          <p:cNvSpPr txBox="1"/>
          <p:nvPr/>
        </p:nvSpPr>
        <p:spPr>
          <a:xfrm>
            <a:off x="1348541" y="3783244"/>
            <a:ext cx="995425" cy="369332"/>
          </a:xfrm>
          <a:prstGeom prst="rect">
            <a:avLst/>
          </a:prstGeom>
          <a:solidFill>
            <a:schemeClr val="bg1"/>
          </a:solidFill>
          <a:ln>
            <a:solidFill>
              <a:schemeClr val="tx1"/>
            </a:solidFill>
          </a:ln>
        </p:spPr>
        <p:txBody>
          <a:bodyPr wrap="square" rtlCol="0">
            <a:spAutoFit/>
          </a:bodyPr>
          <a:lstStyle/>
          <a:p>
            <a:pPr algn="ctr"/>
            <a:r>
              <a:rPr kumimoji="1" lang="ja-JP" altLang="en-US" sz="900" dirty="0"/>
              <a:t>運用情報等提供サーバー</a:t>
            </a:r>
          </a:p>
        </p:txBody>
      </p:sp>
      <p:sp>
        <p:nvSpPr>
          <p:cNvPr id="74" name="雲 73">
            <a:extLst>
              <a:ext uri="{FF2B5EF4-FFF2-40B4-BE49-F238E27FC236}">
                <a16:creationId xmlns:a16="http://schemas.microsoft.com/office/drawing/2014/main" id="{CD549789-08E6-4B45-A50D-BCA1CEE11513}"/>
              </a:ext>
            </a:extLst>
          </p:cNvPr>
          <p:cNvSpPr/>
          <p:nvPr/>
        </p:nvSpPr>
        <p:spPr>
          <a:xfrm>
            <a:off x="2570244" y="3258324"/>
            <a:ext cx="7051511" cy="1275374"/>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1D47C34A-3C5B-4F85-B081-448C57609A0B}"/>
              </a:ext>
            </a:extLst>
          </p:cNvPr>
          <p:cNvCxnSpPr>
            <a:cxnSpLocks/>
            <a:stCxn id="16" idx="2"/>
          </p:cNvCxnSpPr>
          <p:nvPr/>
        </p:nvCxnSpPr>
        <p:spPr>
          <a:xfrm flipH="1">
            <a:off x="8026836" y="2922858"/>
            <a:ext cx="2" cy="3354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2AF3AEDC-C87C-4A6E-9803-2E1F769D2608}"/>
              </a:ext>
            </a:extLst>
          </p:cNvPr>
          <p:cNvCxnSpPr>
            <a:cxnSpLocks/>
          </p:cNvCxnSpPr>
          <p:nvPr/>
        </p:nvCxnSpPr>
        <p:spPr>
          <a:xfrm flipV="1">
            <a:off x="9966120" y="1568701"/>
            <a:ext cx="0" cy="1222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CA979F3E-677F-4CB7-A265-C7E9812B1FF2}"/>
              </a:ext>
            </a:extLst>
          </p:cNvPr>
          <p:cNvCxnSpPr>
            <a:cxnSpLocks/>
          </p:cNvCxnSpPr>
          <p:nvPr/>
        </p:nvCxnSpPr>
        <p:spPr>
          <a:xfrm flipH="1">
            <a:off x="8715232" y="1568700"/>
            <a:ext cx="12508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6EED5533-222E-4EB8-98BB-56CE6C9177A8}"/>
              </a:ext>
            </a:extLst>
          </p:cNvPr>
          <p:cNvSpPr txBox="1"/>
          <p:nvPr/>
        </p:nvSpPr>
        <p:spPr>
          <a:xfrm>
            <a:off x="9353608" y="1688437"/>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44" name="テキスト ボックス 43">
            <a:extLst>
              <a:ext uri="{FF2B5EF4-FFF2-40B4-BE49-F238E27FC236}">
                <a16:creationId xmlns:a16="http://schemas.microsoft.com/office/drawing/2014/main" id="{45ADB3AA-C8DD-4204-A376-81FA0FC496F9}"/>
              </a:ext>
            </a:extLst>
          </p:cNvPr>
          <p:cNvSpPr txBox="1"/>
          <p:nvPr/>
        </p:nvSpPr>
        <p:spPr>
          <a:xfrm>
            <a:off x="9353608" y="2029680"/>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latin typeface="+mn-ea"/>
              </a:rPr>
              <a:t>ルーター</a:t>
            </a:r>
          </a:p>
        </p:txBody>
      </p:sp>
      <p:sp>
        <p:nvSpPr>
          <p:cNvPr id="45" name="テキスト ボックス 44">
            <a:extLst>
              <a:ext uri="{FF2B5EF4-FFF2-40B4-BE49-F238E27FC236}">
                <a16:creationId xmlns:a16="http://schemas.microsoft.com/office/drawing/2014/main" id="{B5008524-7A77-44BF-8763-4DA1595363B3}"/>
              </a:ext>
            </a:extLst>
          </p:cNvPr>
          <p:cNvSpPr txBox="1"/>
          <p:nvPr/>
        </p:nvSpPr>
        <p:spPr>
          <a:xfrm>
            <a:off x="9353608" y="2363603"/>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46" name="テキスト ボックス 45">
            <a:extLst>
              <a:ext uri="{FF2B5EF4-FFF2-40B4-BE49-F238E27FC236}">
                <a16:creationId xmlns:a16="http://schemas.microsoft.com/office/drawing/2014/main" id="{7D1634DB-C681-400E-98C4-A4F749BE71E0}"/>
              </a:ext>
            </a:extLst>
          </p:cNvPr>
          <p:cNvSpPr txBox="1"/>
          <p:nvPr/>
        </p:nvSpPr>
        <p:spPr>
          <a:xfrm>
            <a:off x="9362448" y="2712972"/>
            <a:ext cx="1325460" cy="276999"/>
          </a:xfrm>
          <a:prstGeom prst="rect">
            <a:avLst/>
          </a:prstGeom>
          <a:solidFill>
            <a:srgbClr val="FFFF00"/>
          </a:solidFill>
          <a:ln>
            <a:solidFill>
              <a:schemeClr val="tx1"/>
            </a:solidFill>
          </a:ln>
        </p:spPr>
        <p:txBody>
          <a:bodyPr wrap="square" rtlCol="0">
            <a:spAutoFit/>
          </a:bodyPr>
          <a:lstStyle/>
          <a:p>
            <a:pPr algn="ctr"/>
            <a:r>
              <a:rPr kumimoji="1" lang="en-US" altLang="ja-JP" sz="1200" dirty="0">
                <a:latin typeface="+mn-ea"/>
              </a:rPr>
              <a:t>FACE</a:t>
            </a:r>
            <a:r>
              <a:rPr kumimoji="1" lang="ja-JP" altLang="en-US" sz="1200" dirty="0">
                <a:latin typeface="+mn-ea"/>
              </a:rPr>
              <a:t>対向用</a:t>
            </a:r>
          </a:p>
        </p:txBody>
      </p:sp>
      <p:sp>
        <p:nvSpPr>
          <p:cNvPr id="36" name="矢印: 下 35">
            <a:extLst>
              <a:ext uri="{FF2B5EF4-FFF2-40B4-BE49-F238E27FC236}">
                <a16:creationId xmlns:a16="http://schemas.microsoft.com/office/drawing/2014/main" id="{658652FD-BA21-4238-94A9-076E1F2E81BE}"/>
              </a:ext>
            </a:extLst>
          </p:cNvPr>
          <p:cNvSpPr/>
          <p:nvPr/>
        </p:nvSpPr>
        <p:spPr>
          <a:xfrm flipH="1">
            <a:off x="4270877" y="1063791"/>
            <a:ext cx="239975" cy="1766531"/>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9BD5812B-6F66-4EDC-80C9-7D8774427148}"/>
              </a:ext>
            </a:extLst>
          </p:cNvPr>
          <p:cNvSpPr/>
          <p:nvPr/>
        </p:nvSpPr>
        <p:spPr>
          <a:xfrm rot="16200000" flipH="1">
            <a:off x="5998060" y="1416217"/>
            <a:ext cx="239975" cy="2780198"/>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26552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D12EBC5-2E44-4817-8F50-27ACE79B2B98}"/>
              </a:ext>
            </a:extLst>
          </p:cNvPr>
          <p:cNvSpPr/>
          <p:nvPr/>
        </p:nvSpPr>
        <p:spPr>
          <a:xfrm>
            <a:off x="1591962" y="781869"/>
            <a:ext cx="6135013" cy="5509200"/>
          </a:xfrm>
          <a:prstGeom prst="rect">
            <a:avLst/>
          </a:prstGeom>
        </p:spPr>
        <p:txBody>
          <a:bodyPr wrap="none">
            <a:spAutoFit/>
          </a:bodyPr>
          <a:lstStyle/>
          <a:p>
            <a:pPr lvl="0">
              <a:defRPr/>
            </a:pPr>
            <a:r>
              <a:rPr lang="ja-JP" altLang="en-US" b="1" dirty="0">
                <a:latin typeface="ＭＳ 明朝" panose="02020609040205080304" pitchFamily="17" charset="-128"/>
                <a:ea typeface="ＭＳ 明朝" panose="02020609040205080304" pitchFamily="17" charset="-128"/>
              </a:rPr>
              <a:t>手法：</a:t>
            </a:r>
            <a:r>
              <a:rPr lang="en-US" altLang="ja-JP" b="1" dirty="0">
                <a:latin typeface="ＭＳ 明朝" panose="02020609040205080304" pitchFamily="17" charset="-128"/>
                <a:ea typeface="ＭＳ 明朝" panose="02020609040205080304" pitchFamily="17" charset="-128"/>
              </a:rPr>
              <a:t>CVE-2024-21591</a:t>
            </a:r>
          </a:p>
          <a:p>
            <a:pPr lvl="0">
              <a:defRPr/>
            </a:pPr>
            <a:r>
              <a:rPr lang="ja-JP" altLang="en-US" sz="1600" dirty="0">
                <a:latin typeface="ＭＳ 明朝" panose="02020609040205080304" pitchFamily="17" charset="-128"/>
                <a:ea typeface="ＭＳ 明朝" panose="02020609040205080304" pitchFamily="17" charset="-128"/>
              </a:rPr>
              <a:t>攻撃が成立する条件</a:t>
            </a: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① </a:t>
            </a:r>
            <a:r>
              <a:rPr lang="en-US" altLang="ja-JP" sz="1600" dirty="0" err="1">
                <a:latin typeface="ＭＳ 明朝" panose="02020609040205080304" pitchFamily="17" charset="-128"/>
                <a:ea typeface="ＭＳ 明朝" panose="02020609040205080304" pitchFamily="17" charset="-128"/>
              </a:rPr>
              <a:t>Junos</a:t>
            </a:r>
            <a:r>
              <a:rPr lang="en-US" altLang="ja-JP" sz="1600" dirty="0">
                <a:latin typeface="ＭＳ 明朝" panose="02020609040205080304" pitchFamily="17" charset="-128"/>
                <a:ea typeface="ＭＳ 明朝" panose="02020609040205080304" pitchFamily="17" charset="-128"/>
              </a:rPr>
              <a:t> OS</a:t>
            </a:r>
            <a:r>
              <a:rPr lang="ja-JP" altLang="en-US" sz="1600" dirty="0">
                <a:latin typeface="ＭＳ 明朝" panose="02020609040205080304" pitchFamily="17" charset="-128"/>
                <a:ea typeface="ＭＳ 明朝" panose="02020609040205080304" pitchFamily="17" charset="-128"/>
              </a:rPr>
              <a:t>のバージョンが以下のいずれかに該当すること。</a:t>
            </a: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 </a:t>
            </a:r>
            <a:r>
              <a:rPr lang="en-US" altLang="ja-JP" sz="1600" b="1" dirty="0">
                <a:solidFill>
                  <a:srgbClr val="FF0000"/>
                </a:solidFill>
                <a:latin typeface="ＭＳ 明朝" panose="02020609040205080304" pitchFamily="17" charset="-128"/>
                <a:ea typeface="ＭＳ 明朝" panose="02020609040205080304" pitchFamily="17" charset="-128"/>
              </a:rPr>
              <a:t>20.4R3-S9</a:t>
            </a:r>
            <a:r>
              <a:rPr lang="ja-JP" altLang="en-US" sz="1600" b="1" dirty="0">
                <a:solidFill>
                  <a:srgbClr val="FF0000"/>
                </a:solidFill>
                <a:latin typeface="ＭＳ 明朝" panose="02020609040205080304" pitchFamily="17" charset="-128"/>
                <a:ea typeface="ＭＳ 明朝" panose="02020609040205080304" pitchFamily="17" charset="-128"/>
              </a:rPr>
              <a:t>より前のバージョン　← 該当</a:t>
            </a:r>
            <a:endParaRPr lang="en-US" altLang="ja-JP" sz="1600" b="1" dirty="0">
              <a:solidFill>
                <a:srgbClr val="FF0000"/>
              </a:solidFill>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- 21.2R3-S7</a:t>
            </a:r>
            <a:r>
              <a:rPr lang="ja-JP" altLang="en-US" sz="1600" dirty="0">
                <a:latin typeface="ＭＳ 明朝" panose="02020609040205080304" pitchFamily="17" charset="-128"/>
                <a:ea typeface="ＭＳ 明朝" panose="02020609040205080304" pitchFamily="17" charset="-128"/>
              </a:rPr>
              <a:t>より前のバージョン</a:t>
            </a:r>
            <a:endParaRPr lang="en-US" altLang="ja-JP" sz="1600" dirty="0">
              <a:latin typeface="ＭＳ 明朝" panose="02020609040205080304" pitchFamily="17" charset="-128"/>
              <a:ea typeface="ＭＳ 明朝" panose="02020609040205080304" pitchFamily="17" charset="-128"/>
            </a:endParaRPr>
          </a:p>
          <a:p>
            <a:pPr>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- 21.3R3-S5</a:t>
            </a:r>
            <a:r>
              <a:rPr lang="ja-JP" altLang="en-US" sz="1600" dirty="0">
                <a:latin typeface="ＭＳ 明朝" panose="02020609040205080304" pitchFamily="17" charset="-128"/>
                <a:ea typeface="ＭＳ 明朝" panose="02020609040205080304" pitchFamily="17" charset="-128"/>
              </a:rPr>
              <a:t>より前のバージョン</a:t>
            </a:r>
            <a:endParaRPr lang="en-US" altLang="ja-JP" sz="1600" dirty="0">
              <a:latin typeface="ＭＳ 明朝" panose="02020609040205080304" pitchFamily="17" charset="-128"/>
              <a:ea typeface="ＭＳ 明朝" panose="02020609040205080304" pitchFamily="17" charset="-128"/>
            </a:endParaRPr>
          </a:p>
          <a:p>
            <a:pPr>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- 21.4R3-S5</a:t>
            </a:r>
            <a:r>
              <a:rPr lang="ja-JP" altLang="en-US" sz="1600" dirty="0">
                <a:latin typeface="ＭＳ 明朝" panose="02020609040205080304" pitchFamily="17" charset="-128"/>
                <a:ea typeface="ＭＳ 明朝" panose="02020609040205080304" pitchFamily="17" charset="-128"/>
              </a:rPr>
              <a:t>より前のバージョン</a:t>
            </a:r>
            <a:endParaRPr lang="en-US" altLang="ja-JP" sz="1600" dirty="0">
              <a:latin typeface="ＭＳ 明朝" panose="02020609040205080304" pitchFamily="17" charset="-128"/>
              <a:ea typeface="ＭＳ 明朝" panose="02020609040205080304" pitchFamily="17" charset="-128"/>
            </a:endParaRPr>
          </a:p>
          <a:p>
            <a:pPr>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- 22.1R3-S4</a:t>
            </a:r>
            <a:r>
              <a:rPr lang="ja-JP" altLang="en-US" sz="1600" dirty="0">
                <a:latin typeface="ＭＳ 明朝" panose="02020609040205080304" pitchFamily="17" charset="-128"/>
                <a:ea typeface="ＭＳ 明朝" panose="02020609040205080304" pitchFamily="17" charset="-128"/>
              </a:rPr>
              <a:t>より前のバージョン</a:t>
            </a:r>
            <a:endParaRPr lang="en-US" altLang="ja-JP" sz="1600" dirty="0">
              <a:latin typeface="ＭＳ 明朝" panose="02020609040205080304" pitchFamily="17" charset="-128"/>
              <a:ea typeface="ＭＳ 明朝" panose="02020609040205080304" pitchFamily="17" charset="-128"/>
            </a:endParaRPr>
          </a:p>
          <a:p>
            <a:pPr>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- 22.2R3-S3</a:t>
            </a:r>
            <a:r>
              <a:rPr lang="ja-JP" altLang="en-US" sz="1600" dirty="0">
                <a:latin typeface="ＭＳ 明朝" panose="02020609040205080304" pitchFamily="17" charset="-128"/>
                <a:ea typeface="ＭＳ 明朝" panose="02020609040205080304" pitchFamily="17" charset="-128"/>
              </a:rPr>
              <a:t>より前のバージョン</a:t>
            </a:r>
            <a:endParaRPr lang="en-US" altLang="ja-JP" sz="1600" dirty="0">
              <a:latin typeface="ＭＳ 明朝" panose="02020609040205080304" pitchFamily="17" charset="-128"/>
              <a:ea typeface="ＭＳ 明朝" panose="02020609040205080304" pitchFamily="17" charset="-128"/>
            </a:endParaRPr>
          </a:p>
          <a:p>
            <a:pPr>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- 22.3R3-S2</a:t>
            </a:r>
            <a:r>
              <a:rPr lang="ja-JP" altLang="en-US" sz="1600" dirty="0">
                <a:latin typeface="ＭＳ 明朝" panose="02020609040205080304" pitchFamily="17" charset="-128"/>
                <a:ea typeface="ＭＳ 明朝" panose="02020609040205080304" pitchFamily="17" charset="-128"/>
              </a:rPr>
              <a:t>より前のバージョン</a:t>
            </a:r>
            <a:endParaRPr lang="en-US" altLang="ja-JP" sz="1600" dirty="0">
              <a:latin typeface="ＭＳ 明朝" panose="02020609040205080304" pitchFamily="17" charset="-128"/>
              <a:ea typeface="ＭＳ 明朝" panose="02020609040205080304" pitchFamily="17" charset="-128"/>
            </a:endParaRPr>
          </a:p>
          <a:p>
            <a:pPr>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- 22.4R3-S2</a:t>
            </a:r>
            <a:r>
              <a:rPr lang="ja-JP" altLang="en-US" sz="1600" dirty="0">
                <a:latin typeface="ＭＳ 明朝" panose="02020609040205080304" pitchFamily="17" charset="-128"/>
                <a:ea typeface="ＭＳ 明朝" panose="02020609040205080304" pitchFamily="17" charset="-128"/>
              </a:rPr>
              <a:t>または</a:t>
            </a:r>
            <a:r>
              <a:rPr lang="en-US" altLang="ja-JP" sz="1600" dirty="0">
                <a:latin typeface="ＭＳ 明朝" panose="02020609040205080304" pitchFamily="17" charset="-128"/>
                <a:ea typeface="ＭＳ 明朝" panose="02020609040205080304" pitchFamily="17" charset="-128"/>
              </a:rPr>
              <a:t>22.4R3</a:t>
            </a:r>
            <a:r>
              <a:rPr lang="ja-JP" altLang="en-US" sz="1600" dirty="0">
                <a:latin typeface="ＭＳ 明朝" panose="02020609040205080304" pitchFamily="17" charset="-128"/>
                <a:ea typeface="ＭＳ 明朝" panose="02020609040205080304" pitchFamily="17" charset="-128"/>
              </a:rPr>
              <a:t>より前のバージョン</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② </a:t>
            </a:r>
            <a:r>
              <a:rPr lang="en-US" altLang="ja-JP" sz="1600" dirty="0">
                <a:latin typeface="ＭＳ 明朝" panose="02020609040205080304" pitchFamily="17" charset="-128"/>
                <a:ea typeface="ＭＳ 明朝" panose="02020609040205080304" pitchFamily="17" charset="-128"/>
              </a:rPr>
              <a:t>J-Web</a:t>
            </a:r>
            <a:r>
              <a:rPr lang="ja-JP" altLang="en-US" sz="1600" dirty="0">
                <a:latin typeface="ＭＳ 明朝" panose="02020609040205080304" pitchFamily="17" charset="-128"/>
                <a:ea typeface="ＭＳ 明朝" panose="02020609040205080304" pitchFamily="17" charset="-128"/>
              </a:rPr>
              <a:t>が有効であること</a:t>
            </a: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以下は設定ファイルの抜粋</a:t>
            </a:r>
            <a:endParaRPr lang="en-US" altLang="ja-JP" sz="1600" dirty="0">
              <a:latin typeface="ＭＳ 明朝" panose="02020609040205080304" pitchFamily="17" charset="-128"/>
              <a:ea typeface="ＭＳ 明朝" panose="02020609040205080304" pitchFamily="17" charset="-128"/>
            </a:endParaRPr>
          </a:p>
          <a:p>
            <a:pPr lvl="0">
              <a:defRPr/>
            </a:pPr>
            <a:r>
              <a:rPr lang="en-US" altLang="ja-JP" sz="1600" dirty="0">
                <a:latin typeface="ＭＳ 明朝" panose="02020609040205080304" pitchFamily="17" charset="-128"/>
                <a:ea typeface="ＭＳ 明朝" panose="02020609040205080304" pitchFamily="17" charset="-128"/>
              </a:rPr>
              <a:t>     </a:t>
            </a:r>
          </a:p>
          <a:p>
            <a:pPr lvl="0">
              <a:defRPr/>
            </a:pP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上記設定ログより</a:t>
            </a:r>
            <a:r>
              <a:rPr lang="en-US" altLang="ja-JP" sz="1600" dirty="0">
                <a:latin typeface="ＭＳ 明朝" panose="02020609040205080304" pitchFamily="17" charset="-128"/>
                <a:ea typeface="ＭＳ 明朝" panose="02020609040205080304" pitchFamily="17" charset="-128"/>
              </a:rPr>
              <a:t>J-Web</a:t>
            </a:r>
            <a:r>
              <a:rPr lang="ja-JP" altLang="en-US" sz="1600" dirty="0">
                <a:latin typeface="ＭＳ 明朝" panose="02020609040205080304" pitchFamily="17" charset="-128"/>
                <a:ea typeface="ＭＳ 明朝" panose="02020609040205080304" pitchFamily="17" charset="-128"/>
              </a:rPr>
              <a:t>が有効になっていることがわかる。</a:t>
            </a:r>
            <a:endParaRPr lang="en-US" altLang="ja-JP" sz="1600" dirty="0">
              <a:latin typeface="ＭＳ 明朝" panose="02020609040205080304" pitchFamily="17" charset="-128"/>
              <a:ea typeface="ＭＳ 明朝" panose="02020609040205080304" pitchFamily="17" charset="-128"/>
            </a:endParaRPr>
          </a:p>
        </p:txBody>
      </p:sp>
      <p:pic>
        <p:nvPicPr>
          <p:cNvPr id="3" name="図 2">
            <a:extLst>
              <a:ext uri="{FF2B5EF4-FFF2-40B4-BE49-F238E27FC236}">
                <a16:creationId xmlns:a16="http://schemas.microsoft.com/office/drawing/2014/main" id="{19F44A3B-07BD-44E5-AD2D-6914944ED5B8}"/>
              </a:ext>
            </a:extLst>
          </p:cNvPr>
          <p:cNvPicPr>
            <a:picLocks noChangeAspect="1"/>
          </p:cNvPicPr>
          <p:nvPr/>
        </p:nvPicPr>
        <p:blipFill>
          <a:blip r:embed="rId2"/>
          <a:stretch>
            <a:fillRect/>
          </a:stretch>
        </p:blipFill>
        <p:spPr>
          <a:xfrm>
            <a:off x="1862089" y="4322264"/>
            <a:ext cx="6867405" cy="1547814"/>
          </a:xfrm>
          <a:prstGeom prst="rect">
            <a:avLst/>
          </a:prstGeom>
          <a:ln>
            <a:solidFill>
              <a:schemeClr val="tx1"/>
            </a:solidFill>
          </a:ln>
        </p:spPr>
      </p:pic>
      <p:sp>
        <p:nvSpPr>
          <p:cNvPr id="4" name="タイトル 1">
            <a:extLst>
              <a:ext uri="{FF2B5EF4-FFF2-40B4-BE49-F238E27FC236}">
                <a16:creationId xmlns:a16="http://schemas.microsoft.com/office/drawing/2014/main" id="{B4428123-1EFD-405F-A157-0150CD4DD26B}"/>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仮説３</a:t>
            </a:r>
          </a:p>
        </p:txBody>
      </p:sp>
    </p:spTree>
    <p:extLst>
      <p:ext uri="{BB962C8B-B14F-4D97-AF65-F5344CB8AC3E}">
        <p14:creationId xmlns:p14="http://schemas.microsoft.com/office/powerpoint/2010/main" val="22778986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D85D14B6-5498-42D0-A805-6B283B28DB51}"/>
              </a:ext>
            </a:extLst>
          </p:cNvPr>
          <p:cNvSpPr/>
          <p:nvPr/>
        </p:nvSpPr>
        <p:spPr>
          <a:xfrm>
            <a:off x="1294840" y="883231"/>
            <a:ext cx="10125619" cy="1323439"/>
          </a:xfrm>
          <a:prstGeom prst="rect">
            <a:avLst/>
          </a:prstGeom>
          <a:ln>
            <a:solidFill>
              <a:schemeClr val="tx1"/>
            </a:solidFill>
          </a:ln>
        </p:spPr>
        <p:txBody>
          <a:bodyPr wrap="square">
            <a:spAutoFit/>
          </a:bodyPr>
          <a:lstStyle/>
          <a:p>
            <a:r>
              <a:rPr lang="en-US" altLang="ja-JP" sz="2000" dirty="0">
                <a:latin typeface="ＭＳ 明朝" panose="02020609040205080304" pitchFamily="17" charset="-128"/>
                <a:ea typeface="ＭＳ 明朝" panose="02020609040205080304" pitchFamily="17" charset="-128"/>
              </a:rPr>
              <a:t>set system services web-management http interface reth0.0</a:t>
            </a:r>
          </a:p>
          <a:p>
            <a:r>
              <a:rPr lang="en-US" altLang="ja-JP" sz="2000" dirty="0">
                <a:latin typeface="ＭＳ 明朝" panose="02020609040205080304" pitchFamily="17" charset="-128"/>
                <a:ea typeface="ＭＳ 明朝" panose="02020609040205080304" pitchFamily="17" charset="-128"/>
              </a:rPr>
              <a:t>set system services web-management https interface reth0.0</a:t>
            </a:r>
          </a:p>
          <a:p>
            <a:r>
              <a:rPr lang="en-US" altLang="ja-JP" sz="2000" dirty="0">
                <a:latin typeface="ＭＳ 明朝" panose="02020609040205080304" pitchFamily="17" charset="-128"/>
                <a:ea typeface="ＭＳ 明朝" panose="02020609040205080304" pitchFamily="17" charset="-128"/>
              </a:rPr>
              <a:t>set security zones security-zone Trust interfaces reth0.0</a:t>
            </a:r>
          </a:p>
          <a:p>
            <a:r>
              <a:rPr lang="en-US" altLang="ja-JP" sz="2000" dirty="0">
                <a:latin typeface="ＭＳ 明朝" panose="02020609040205080304" pitchFamily="17" charset="-128"/>
                <a:ea typeface="ＭＳ 明朝" panose="02020609040205080304" pitchFamily="17" charset="-128"/>
              </a:rPr>
              <a:t>set routing-instances VR1 interface reth0.0</a:t>
            </a:r>
          </a:p>
        </p:txBody>
      </p:sp>
      <p:sp>
        <p:nvSpPr>
          <p:cNvPr id="5" name="正方形/長方形 4">
            <a:extLst>
              <a:ext uri="{FF2B5EF4-FFF2-40B4-BE49-F238E27FC236}">
                <a16:creationId xmlns:a16="http://schemas.microsoft.com/office/drawing/2014/main" id="{FF84B4AC-C63B-440D-A7C5-54489D654728}"/>
              </a:ext>
            </a:extLst>
          </p:cNvPr>
          <p:cNvSpPr/>
          <p:nvPr/>
        </p:nvSpPr>
        <p:spPr>
          <a:xfrm>
            <a:off x="1294841" y="4651330"/>
            <a:ext cx="10125619" cy="1938992"/>
          </a:xfrm>
          <a:prstGeom prst="rect">
            <a:avLst/>
          </a:prstGeom>
          <a:ln>
            <a:solidFill>
              <a:schemeClr val="tx1"/>
            </a:solidFill>
          </a:ln>
        </p:spPr>
        <p:txBody>
          <a:bodyPr wrap="square">
            <a:spAutoFit/>
          </a:bodyPr>
          <a:lstStyle/>
          <a:p>
            <a:r>
              <a:rPr lang="en-US" altLang="ja-JP" sz="2000" dirty="0">
                <a:solidFill>
                  <a:srgbClr val="FF0000"/>
                </a:solidFill>
                <a:latin typeface="ＭＳ 明朝" panose="02020609040205080304" pitchFamily="17" charset="-128"/>
                <a:ea typeface="ＭＳ 明朝" panose="02020609040205080304" pitchFamily="17" charset="-128"/>
              </a:rPr>
              <a:t>set interfaces ge-0/0/2 </a:t>
            </a:r>
            <a:r>
              <a:rPr lang="en-US" altLang="ja-JP" sz="2000" dirty="0" err="1">
                <a:solidFill>
                  <a:srgbClr val="FF0000"/>
                </a:solidFill>
                <a:latin typeface="ＭＳ 明朝" panose="02020609040205080304" pitchFamily="17" charset="-128"/>
                <a:ea typeface="ＭＳ 明朝" panose="02020609040205080304" pitchFamily="17" charset="-128"/>
              </a:rPr>
              <a:t>gigether</a:t>
            </a:r>
            <a:r>
              <a:rPr lang="en-US" altLang="ja-JP" sz="2000" dirty="0">
                <a:solidFill>
                  <a:srgbClr val="FF0000"/>
                </a:solidFill>
                <a:latin typeface="ＭＳ 明朝" panose="02020609040205080304" pitchFamily="17" charset="-128"/>
                <a:ea typeface="ＭＳ 明朝" panose="02020609040205080304" pitchFamily="17" charset="-128"/>
              </a:rPr>
              <a:t>-options redundant-parent reth0</a:t>
            </a:r>
          </a:p>
          <a:p>
            <a:r>
              <a:rPr lang="en-US" altLang="ja-JP" sz="2000" dirty="0">
                <a:latin typeface="ＭＳ 明朝" panose="02020609040205080304" pitchFamily="17" charset="-128"/>
                <a:ea typeface="ＭＳ 明朝" panose="02020609040205080304" pitchFamily="17" charset="-128"/>
              </a:rPr>
              <a:t>set interfaces ge-0/0/3 </a:t>
            </a:r>
            <a:r>
              <a:rPr lang="en-US" altLang="ja-JP" sz="2000" dirty="0" err="1">
                <a:latin typeface="ＭＳ 明朝" panose="02020609040205080304" pitchFamily="17" charset="-128"/>
                <a:ea typeface="ＭＳ 明朝" panose="02020609040205080304" pitchFamily="17" charset="-128"/>
              </a:rPr>
              <a:t>gigether</a:t>
            </a:r>
            <a:r>
              <a:rPr lang="en-US" altLang="ja-JP" sz="2000" dirty="0">
                <a:latin typeface="ＭＳ 明朝" panose="02020609040205080304" pitchFamily="17" charset="-128"/>
                <a:ea typeface="ＭＳ 明朝" panose="02020609040205080304" pitchFamily="17" charset="-128"/>
              </a:rPr>
              <a:t>-options redundant-parent reth1</a:t>
            </a:r>
          </a:p>
          <a:p>
            <a:r>
              <a:rPr lang="en-US" altLang="ja-JP" sz="2000" dirty="0">
                <a:latin typeface="ＭＳ 明朝" panose="02020609040205080304" pitchFamily="17" charset="-128"/>
                <a:ea typeface="ＭＳ 明朝" panose="02020609040205080304" pitchFamily="17" charset="-128"/>
              </a:rPr>
              <a:t>set interfaces ge-0/0/4 </a:t>
            </a:r>
            <a:r>
              <a:rPr lang="en-US" altLang="ja-JP" sz="2000" dirty="0" err="1">
                <a:latin typeface="ＭＳ 明朝" panose="02020609040205080304" pitchFamily="17" charset="-128"/>
                <a:ea typeface="ＭＳ 明朝" panose="02020609040205080304" pitchFamily="17" charset="-128"/>
              </a:rPr>
              <a:t>gigether</a:t>
            </a:r>
            <a:r>
              <a:rPr lang="en-US" altLang="ja-JP" sz="2000" dirty="0">
                <a:latin typeface="ＭＳ 明朝" panose="02020609040205080304" pitchFamily="17" charset="-128"/>
                <a:ea typeface="ＭＳ 明朝" panose="02020609040205080304" pitchFamily="17" charset="-128"/>
              </a:rPr>
              <a:t>-options redundant-parent reth2</a:t>
            </a:r>
          </a:p>
          <a:p>
            <a:r>
              <a:rPr lang="en-US" altLang="ja-JP" sz="2000" dirty="0">
                <a:solidFill>
                  <a:srgbClr val="FF0000"/>
                </a:solidFill>
                <a:latin typeface="ＭＳ 明朝" panose="02020609040205080304" pitchFamily="17" charset="-128"/>
                <a:ea typeface="ＭＳ 明朝" panose="02020609040205080304" pitchFamily="17" charset="-128"/>
              </a:rPr>
              <a:t>set interfaces ge-3/0/2 </a:t>
            </a:r>
            <a:r>
              <a:rPr lang="en-US" altLang="ja-JP" sz="2000" dirty="0" err="1">
                <a:solidFill>
                  <a:srgbClr val="FF0000"/>
                </a:solidFill>
                <a:latin typeface="ＭＳ 明朝" panose="02020609040205080304" pitchFamily="17" charset="-128"/>
                <a:ea typeface="ＭＳ 明朝" panose="02020609040205080304" pitchFamily="17" charset="-128"/>
              </a:rPr>
              <a:t>gigether</a:t>
            </a:r>
            <a:r>
              <a:rPr lang="en-US" altLang="ja-JP" sz="2000" dirty="0">
                <a:solidFill>
                  <a:srgbClr val="FF0000"/>
                </a:solidFill>
                <a:latin typeface="ＭＳ 明朝" panose="02020609040205080304" pitchFamily="17" charset="-128"/>
                <a:ea typeface="ＭＳ 明朝" panose="02020609040205080304" pitchFamily="17" charset="-128"/>
              </a:rPr>
              <a:t>-options redundant-parent reth0</a:t>
            </a:r>
          </a:p>
          <a:p>
            <a:r>
              <a:rPr lang="en-US" altLang="ja-JP" sz="2000" dirty="0">
                <a:latin typeface="ＭＳ 明朝" panose="02020609040205080304" pitchFamily="17" charset="-128"/>
                <a:ea typeface="ＭＳ 明朝" panose="02020609040205080304" pitchFamily="17" charset="-128"/>
              </a:rPr>
              <a:t>set interfaces ge-3/0/3 </a:t>
            </a:r>
            <a:r>
              <a:rPr lang="en-US" altLang="ja-JP" sz="2000" dirty="0" err="1">
                <a:latin typeface="ＭＳ 明朝" panose="02020609040205080304" pitchFamily="17" charset="-128"/>
                <a:ea typeface="ＭＳ 明朝" panose="02020609040205080304" pitchFamily="17" charset="-128"/>
              </a:rPr>
              <a:t>gigether</a:t>
            </a:r>
            <a:r>
              <a:rPr lang="en-US" altLang="ja-JP" sz="2000" dirty="0">
                <a:latin typeface="ＭＳ 明朝" panose="02020609040205080304" pitchFamily="17" charset="-128"/>
                <a:ea typeface="ＭＳ 明朝" panose="02020609040205080304" pitchFamily="17" charset="-128"/>
              </a:rPr>
              <a:t>-options redundant-parent reth1</a:t>
            </a:r>
          </a:p>
          <a:p>
            <a:r>
              <a:rPr lang="en-US" altLang="ja-JP" sz="2000" dirty="0">
                <a:latin typeface="ＭＳ 明朝" panose="02020609040205080304" pitchFamily="17" charset="-128"/>
                <a:ea typeface="ＭＳ 明朝" panose="02020609040205080304" pitchFamily="17" charset="-128"/>
              </a:rPr>
              <a:t>set interfaces ge-3/0/4 </a:t>
            </a:r>
            <a:r>
              <a:rPr lang="en-US" altLang="ja-JP" sz="2000" dirty="0" err="1">
                <a:latin typeface="ＭＳ 明朝" panose="02020609040205080304" pitchFamily="17" charset="-128"/>
                <a:ea typeface="ＭＳ 明朝" panose="02020609040205080304" pitchFamily="17" charset="-128"/>
              </a:rPr>
              <a:t>gigether</a:t>
            </a:r>
            <a:r>
              <a:rPr lang="en-US" altLang="ja-JP" sz="2000" dirty="0">
                <a:latin typeface="ＭＳ 明朝" panose="02020609040205080304" pitchFamily="17" charset="-128"/>
                <a:ea typeface="ＭＳ 明朝" panose="02020609040205080304" pitchFamily="17" charset="-128"/>
              </a:rPr>
              <a:t>-options redundant-parent reth2</a:t>
            </a:r>
          </a:p>
        </p:txBody>
      </p:sp>
      <p:sp>
        <p:nvSpPr>
          <p:cNvPr id="6" name="正方形/長方形 5">
            <a:extLst>
              <a:ext uri="{FF2B5EF4-FFF2-40B4-BE49-F238E27FC236}">
                <a16:creationId xmlns:a16="http://schemas.microsoft.com/office/drawing/2014/main" id="{CBF6D942-FF53-4AC4-8600-64B2945FFD05}"/>
              </a:ext>
            </a:extLst>
          </p:cNvPr>
          <p:cNvSpPr/>
          <p:nvPr/>
        </p:nvSpPr>
        <p:spPr>
          <a:xfrm>
            <a:off x="1294841" y="2459504"/>
            <a:ext cx="10217899" cy="1938992"/>
          </a:xfrm>
          <a:prstGeom prst="rect">
            <a:avLst/>
          </a:prstGeom>
          <a:ln>
            <a:solidFill>
              <a:schemeClr val="tx1"/>
            </a:solidFill>
          </a:ln>
        </p:spPr>
        <p:txBody>
          <a:bodyPr wrap="square">
            <a:spAutoFit/>
          </a:bodyPr>
          <a:lstStyle/>
          <a:p>
            <a:r>
              <a:rPr lang="en-US" altLang="ja-JP" sz="2000" dirty="0">
                <a:latin typeface="ＭＳ 明朝" panose="02020609040205080304" pitchFamily="17" charset="-128"/>
                <a:ea typeface="ＭＳ 明朝" panose="02020609040205080304" pitchFamily="17" charset="-128"/>
              </a:rPr>
              <a:t>set interfaces reth0 redundant-ether-options redundancy-group 1</a:t>
            </a:r>
          </a:p>
          <a:p>
            <a:r>
              <a:rPr lang="en-US" altLang="ja-JP" sz="2000" dirty="0">
                <a:solidFill>
                  <a:srgbClr val="FF0000"/>
                </a:solidFill>
                <a:latin typeface="ＭＳ 明朝" panose="02020609040205080304" pitchFamily="17" charset="-128"/>
                <a:ea typeface="ＭＳ 明朝" panose="02020609040205080304" pitchFamily="17" charset="-128"/>
              </a:rPr>
              <a:t>set interfaces reth0 unit 0 family </a:t>
            </a:r>
            <a:r>
              <a:rPr lang="en-US" altLang="ja-JP" sz="2000" dirty="0" err="1">
                <a:solidFill>
                  <a:srgbClr val="FF0000"/>
                </a:solidFill>
                <a:latin typeface="ＭＳ 明朝" panose="02020609040205080304" pitchFamily="17" charset="-128"/>
                <a:ea typeface="ＭＳ 明朝" panose="02020609040205080304" pitchFamily="17" charset="-128"/>
              </a:rPr>
              <a:t>inet</a:t>
            </a:r>
            <a:r>
              <a:rPr lang="en-US" altLang="ja-JP" sz="2000" dirty="0">
                <a:solidFill>
                  <a:srgbClr val="FF0000"/>
                </a:solidFill>
                <a:latin typeface="ＭＳ 明朝" panose="02020609040205080304" pitchFamily="17" charset="-128"/>
                <a:ea typeface="ＭＳ 明朝" panose="02020609040205080304" pitchFamily="17" charset="-128"/>
              </a:rPr>
              <a:t> address 10.101.190.254/24</a:t>
            </a:r>
          </a:p>
          <a:p>
            <a:r>
              <a:rPr lang="en-US" altLang="ja-JP" sz="2000" dirty="0">
                <a:latin typeface="ＭＳ 明朝" panose="02020609040205080304" pitchFamily="17" charset="-128"/>
                <a:ea typeface="ＭＳ 明朝" panose="02020609040205080304" pitchFamily="17" charset="-128"/>
              </a:rPr>
              <a:t>set interfaces reth1 redundant-ether-options redundancy-group 2</a:t>
            </a:r>
          </a:p>
          <a:p>
            <a:r>
              <a:rPr lang="en-US" altLang="ja-JP" sz="2000" dirty="0">
                <a:latin typeface="ＭＳ 明朝" panose="02020609040205080304" pitchFamily="17" charset="-128"/>
                <a:ea typeface="ＭＳ 明朝" panose="02020609040205080304" pitchFamily="17" charset="-128"/>
              </a:rPr>
              <a:t>set interfaces reth1 unit 0 family </a:t>
            </a:r>
            <a:r>
              <a:rPr lang="en-US" altLang="ja-JP" sz="2000" dirty="0" err="1">
                <a:latin typeface="ＭＳ 明朝" panose="02020609040205080304" pitchFamily="17" charset="-128"/>
                <a:ea typeface="ＭＳ 明朝" panose="02020609040205080304" pitchFamily="17" charset="-128"/>
              </a:rPr>
              <a:t>inet</a:t>
            </a:r>
            <a:r>
              <a:rPr lang="en-US" altLang="ja-JP" sz="2000" dirty="0">
                <a:latin typeface="ＭＳ 明朝" panose="02020609040205080304" pitchFamily="17" charset="-128"/>
                <a:ea typeface="ＭＳ 明朝" panose="02020609040205080304" pitchFamily="17" charset="-128"/>
              </a:rPr>
              <a:t> address 10.101.189.12/28</a:t>
            </a:r>
          </a:p>
          <a:p>
            <a:r>
              <a:rPr lang="en-US" altLang="ja-JP" sz="2000" dirty="0">
                <a:latin typeface="ＭＳ 明朝" panose="02020609040205080304" pitchFamily="17" charset="-128"/>
                <a:ea typeface="ＭＳ 明朝" panose="02020609040205080304" pitchFamily="17" charset="-128"/>
              </a:rPr>
              <a:t>set interfaces reth2 redundant-ether-options redundancy-group 3</a:t>
            </a:r>
          </a:p>
          <a:p>
            <a:r>
              <a:rPr lang="en-US" altLang="ja-JP" sz="2000" dirty="0">
                <a:latin typeface="ＭＳ 明朝" panose="02020609040205080304" pitchFamily="17" charset="-128"/>
                <a:ea typeface="ＭＳ 明朝" panose="02020609040205080304" pitchFamily="17" charset="-128"/>
              </a:rPr>
              <a:t>set interfaces reth2 unit 0 family </a:t>
            </a:r>
            <a:r>
              <a:rPr lang="en-US" altLang="ja-JP" sz="2000" dirty="0" err="1">
                <a:latin typeface="ＭＳ 明朝" panose="02020609040205080304" pitchFamily="17" charset="-128"/>
                <a:ea typeface="ＭＳ 明朝" panose="02020609040205080304" pitchFamily="17" charset="-128"/>
              </a:rPr>
              <a:t>inet</a:t>
            </a:r>
            <a:r>
              <a:rPr lang="en-US" altLang="ja-JP" sz="2000" dirty="0">
                <a:latin typeface="ＭＳ 明朝" panose="02020609040205080304" pitchFamily="17" charset="-128"/>
                <a:ea typeface="ＭＳ 明朝" panose="02020609040205080304" pitchFamily="17" charset="-128"/>
              </a:rPr>
              <a:t> address 10.101.189.26/28</a:t>
            </a:r>
            <a:endParaRPr lang="ja-JP" altLang="en-US" sz="20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2390936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339391B5-F3A7-4B3A-B167-9B7201836FE3}"/>
              </a:ext>
            </a:extLst>
          </p:cNvPr>
          <p:cNvSpPr/>
          <p:nvPr/>
        </p:nvSpPr>
        <p:spPr>
          <a:xfrm>
            <a:off x="1107264" y="1023648"/>
            <a:ext cx="7571303" cy="923330"/>
          </a:xfrm>
          <a:prstGeom prst="rect">
            <a:avLst/>
          </a:prstGeom>
        </p:spPr>
        <p:txBody>
          <a:bodyPr wrap="none">
            <a:spAutoFit/>
          </a:bodyPr>
          <a:lstStyle/>
          <a:p>
            <a:r>
              <a:rPr lang="ja-JP" altLang="en-US" dirty="0">
                <a:latin typeface="ＭＳ 明朝" panose="02020609040205080304" pitchFamily="17" charset="-128"/>
                <a:ea typeface="ＭＳ 明朝" panose="02020609040205080304" pitchFamily="17" charset="-128"/>
              </a:rPr>
              <a:t>③ </a:t>
            </a:r>
            <a:r>
              <a:rPr lang="en-US" altLang="ja-JP" dirty="0">
                <a:latin typeface="ＭＳ 明朝" panose="02020609040205080304" pitchFamily="17" charset="-128"/>
                <a:ea typeface="ＭＳ 明朝" panose="02020609040205080304" pitchFamily="17" charset="-128"/>
              </a:rPr>
              <a:t>J-Web</a:t>
            </a:r>
            <a:r>
              <a:rPr lang="ja-JP" altLang="en-US" dirty="0">
                <a:latin typeface="ＭＳ 明朝" panose="02020609040205080304" pitchFamily="17" charset="-128"/>
                <a:ea typeface="ＭＳ 明朝" panose="02020609040205080304" pitchFamily="17" charset="-128"/>
              </a:rPr>
              <a:t>が外部からアクセス可能であること</a:t>
            </a:r>
            <a:endParaRPr lang="en-US" altLang="ja-JP" dirty="0">
              <a:latin typeface="ＭＳ 明朝" panose="02020609040205080304" pitchFamily="17" charset="-128"/>
              <a:ea typeface="ＭＳ 明朝" panose="02020609040205080304" pitchFamily="17" charset="-128"/>
            </a:endParaRPr>
          </a:p>
          <a:p>
            <a:r>
              <a:rPr lang="en-US" altLang="ja-JP" dirty="0">
                <a:latin typeface="ＭＳ 明朝" panose="02020609040205080304" pitchFamily="17" charset="-128"/>
                <a:ea typeface="ＭＳ 明朝" panose="02020609040205080304" pitchFamily="17" charset="-128"/>
              </a:rPr>
              <a:t>FW</a:t>
            </a:r>
            <a:r>
              <a:rPr lang="ja-JP" altLang="en-US" dirty="0">
                <a:latin typeface="ＭＳ 明朝" panose="02020609040205080304" pitchFamily="17" charset="-128"/>
                <a:ea typeface="ＭＳ 明朝" panose="02020609040205080304" pitchFamily="17" charset="-128"/>
              </a:rPr>
              <a:t>ルールとルーターのルーティング情報からアクセス可能と思われる</a:t>
            </a:r>
            <a:endParaRPr lang="en-US" altLang="ja-JP" dirty="0">
              <a:latin typeface="ＭＳ 明朝" panose="02020609040205080304" pitchFamily="17" charset="-128"/>
              <a:ea typeface="ＭＳ 明朝" panose="02020609040205080304" pitchFamily="17" charset="-128"/>
            </a:endParaRPr>
          </a:p>
          <a:p>
            <a:endParaRPr lang="ja-JP" altLang="en-US" dirty="0"/>
          </a:p>
        </p:txBody>
      </p:sp>
      <p:pic>
        <p:nvPicPr>
          <p:cNvPr id="64" name="図 63">
            <a:extLst>
              <a:ext uri="{FF2B5EF4-FFF2-40B4-BE49-F238E27FC236}">
                <a16:creationId xmlns:a16="http://schemas.microsoft.com/office/drawing/2014/main" id="{C490217D-3E9A-4E30-A716-863036AE1F4D}"/>
              </a:ext>
            </a:extLst>
          </p:cNvPr>
          <p:cNvPicPr>
            <a:picLocks noChangeAspect="1"/>
          </p:cNvPicPr>
          <p:nvPr/>
        </p:nvPicPr>
        <p:blipFill>
          <a:blip r:embed="rId2"/>
          <a:stretch>
            <a:fillRect/>
          </a:stretch>
        </p:blipFill>
        <p:spPr>
          <a:xfrm>
            <a:off x="6196310" y="1935436"/>
            <a:ext cx="3910463" cy="1467146"/>
          </a:xfrm>
          <a:prstGeom prst="rect">
            <a:avLst/>
          </a:prstGeom>
          <a:ln>
            <a:solidFill>
              <a:schemeClr val="tx1"/>
            </a:solidFill>
          </a:ln>
        </p:spPr>
      </p:pic>
      <p:cxnSp>
        <p:nvCxnSpPr>
          <p:cNvPr id="66" name="直線コネクタ 65">
            <a:extLst>
              <a:ext uri="{FF2B5EF4-FFF2-40B4-BE49-F238E27FC236}">
                <a16:creationId xmlns:a16="http://schemas.microsoft.com/office/drawing/2014/main" id="{5A7BA6AC-2438-4A7A-8D3D-6A53312C6CE1}"/>
              </a:ext>
            </a:extLst>
          </p:cNvPr>
          <p:cNvCxnSpPr/>
          <p:nvPr/>
        </p:nvCxnSpPr>
        <p:spPr>
          <a:xfrm>
            <a:off x="6196310" y="3175671"/>
            <a:ext cx="378092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67" name="図 66">
            <a:extLst>
              <a:ext uri="{FF2B5EF4-FFF2-40B4-BE49-F238E27FC236}">
                <a16:creationId xmlns:a16="http://schemas.microsoft.com/office/drawing/2014/main" id="{1F4FD228-39CE-4D71-BBD3-280E3D6FBBED}"/>
              </a:ext>
            </a:extLst>
          </p:cNvPr>
          <p:cNvPicPr>
            <a:picLocks noChangeAspect="1"/>
          </p:cNvPicPr>
          <p:nvPr/>
        </p:nvPicPr>
        <p:blipFill>
          <a:blip r:embed="rId3"/>
          <a:stretch>
            <a:fillRect/>
          </a:stretch>
        </p:blipFill>
        <p:spPr>
          <a:xfrm>
            <a:off x="182135" y="1935436"/>
            <a:ext cx="5913865" cy="2956932"/>
          </a:xfrm>
          <a:prstGeom prst="rect">
            <a:avLst/>
          </a:prstGeom>
          <a:ln>
            <a:solidFill>
              <a:schemeClr val="tx1"/>
            </a:solidFill>
          </a:ln>
        </p:spPr>
      </p:pic>
      <p:sp>
        <p:nvSpPr>
          <p:cNvPr id="68" name="テキスト ボックス 67">
            <a:extLst>
              <a:ext uri="{FF2B5EF4-FFF2-40B4-BE49-F238E27FC236}">
                <a16:creationId xmlns:a16="http://schemas.microsoft.com/office/drawing/2014/main" id="{67DD93EE-6F22-4A33-AAA7-A7B70E365041}"/>
              </a:ext>
            </a:extLst>
          </p:cNvPr>
          <p:cNvSpPr txBox="1"/>
          <p:nvPr/>
        </p:nvSpPr>
        <p:spPr>
          <a:xfrm>
            <a:off x="6114379" y="1645797"/>
            <a:ext cx="4204997" cy="261610"/>
          </a:xfrm>
          <a:prstGeom prst="rect">
            <a:avLst/>
          </a:prstGeom>
          <a:noFill/>
        </p:spPr>
        <p:txBody>
          <a:bodyPr wrap="none" rtlCol="0">
            <a:spAutoFit/>
          </a:bodyPr>
          <a:lstStyle/>
          <a:p>
            <a:r>
              <a:rPr kumimoji="1" lang="ja-JP" altLang="en-US" sz="1100" dirty="0">
                <a:latin typeface="ＭＳ 明朝" panose="02020609040205080304" pitchFamily="17" charset="-128"/>
                <a:ea typeface="ＭＳ 明朝" panose="02020609040205080304" pitchFamily="17" charset="-128"/>
              </a:rPr>
              <a:t>ルーター</a:t>
            </a:r>
            <a:r>
              <a:rPr kumimoji="1" lang="en-US" altLang="ja-JP" sz="1100" dirty="0">
                <a:latin typeface="ＭＳ 明朝" panose="02020609040205080304" pitchFamily="17" charset="-128"/>
                <a:ea typeface="ＭＳ 明朝" panose="02020609040205080304" pitchFamily="17" charset="-128"/>
              </a:rPr>
              <a:t>RT02</a:t>
            </a:r>
            <a:r>
              <a:rPr kumimoji="1" lang="ja-JP" altLang="en-US" sz="1100" dirty="0" err="1">
                <a:latin typeface="ＭＳ 明朝" panose="02020609040205080304" pitchFamily="17" charset="-128"/>
                <a:ea typeface="ＭＳ 明朝" panose="02020609040205080304" pitchFamily="17" charset="-128"/>
              </a:rPr>
              <a:t>には</a:t>
            </a:r>
            <a:r>
              <a:rPr kumimoji="1" lang="en-US" altLang="ja-JP" sz="1100" dirty="0">
                <a:latin typeface="ＭＳ 明朝" panose="02020609040205080304" pitchFamily="17" charset="-128"/>
                <a:ea typeface="ＭＳ 明朝" panose="02020609040205080304" pitchFamily="17" charset="-128"/>
              </a:rPr>
              <a:t>10.101.190.0/24</a:t>
            </a:r>
            <a:r>
              <a:rPr kumimoji="1" lang="ja-JP" altLang="en-US" sz="1100" dirty="0">
                <a:latin typeface="ＭＳ 明朝" panose="02020609040205080304" pitchFamily="17" charset="-128"/>
                <a:ea typeface="ＭＳ 明朝" panose="02020609040205080304" pitchFamily="17" charset="-128"/>
              </a:rPr>
              <a:t>のネットワーク情報がある。</a:t>
            </a:r>
          </a:p>
        </p:txBody>
      </p:sp>
      <p:sp>
        <p:nvSpPr>
          <p:cNvPr id="70" name="テキスト ボックス 69">
            <a:extLst>
              <a:ext uri="{FF2B5EF4-FFF2-40B4-BE49-F238E27FC236}">
                <a16:creationId xmlns:a16="http://schemas.microsoft.com/office/drawing/2014/main" id="{4FCFF5E0-129F-4F64-A919-39F67A43EF4D}"/>
              </a:ext>
            </a:extLst>
          </p:cNvPr>
          <p:cNvSpPr txBox="1"/>
          <p:nvPr/>
        </p:nvSpPr>
        <p:spPr>
          <a:xfrm>
            <a:off x="6114801" y="3414343"/>
            <a:ext cx="3711272" cy="261610"/>
          </a:xfrm>
          <a:prstGeom prst="rect">
            <a:avLst/>
          </a:prstGeom>
          <a:noFill/>
        </p:spPr>
        <p:txBody>
          <a:bodyPr wrap="none" rtlCol="0">
            <a:spAutoFit/>
          </a:bodyPr>
          <a:lstStyle/>
          <a:p>
            <a:r>
              <a:rPr lang="en-US" altLang="ja-JP" sz="1100" dirty="0" err="1">
                <a:latin typeface="ＭＳ 明朝" panose="02020609040205080304" pitchFamily="17" charset="-128"/>
                <a:ea typeface="ＭＳ 明朝" panose="02020609040205080304" pitchFamily="17" charset="-128"/>
              </a:rPr>
              <a:t>Untrust</a:t>
            </a:r>
            <a:r>
              <a:rPr lang="ja-JP" altLang="en-US" sz="1100" dirty="0">
                <a:latin typeface="ＭＳ 明朝" panose="02020609040205080304" pitchFamily="17" charset="-128"/>
                <a:ea typeface="ＭＳ 明朝" panose="02020609040205080304" pitchFamily="17" charset="-128"/>
              </a:rPr>
              <a:t>から</a:t>
            </a:r>
            <a:r>
              <a:rPr lang="en-US" altLang="ja-JP" sz="1100" dirty="0">
                <a:latin typeface="ＭＳ 明朝" panose="02020609040205080304" pitchFamily="17" charset="-128"/>
                <a:ea typeface="ＭＳ 明朝" panose="02020609040205080304" pitchFamily="17" charset="-128"/>
              </a:rPr>
              <a:t>Trust</a:t>
            </a:r>
            <a:r>
              <a:rPr lang="ja-JP" altLang="en-US" sz="1100" dirty="0">
                <a:latin typeface="ＭＳ 明朝" panose="02020609040205080304" pitchFamily="17" charset="-128"/>
                <a:ea typeface="ＭＳ 明朝" panose="02020609040205080304" pitchFamily="17" charset="-128"/>
              </a:rPr>
              <a:t>への</a:t>
            </a:r>
            <a:r>
              <a:rPr lang="en-US" altLang="ja-JP" sz="1100" dirty="0">
                <a:latin typeface="ＭＳ 明朝" panose="02020609040205080304" pitchFamily="17" charset="-128"/>
                <a:ea typeface="ＭＳ 明朝" panose="02020609040205080304" pitchFamily="17" charset="-128"/>
              </a:rPr>
              <a:t>HTTP</a:t>
            </a:r>
            <a:r>
              <a:rPr lang="ja-JP" altLang="en-US" sz="1100" dirty="0">
                <a:latin typeface="ＭＳ 明朝" panose="02020609040205080304" pitchFamily="17" charset="-128"/>
                <a:ea typeface="ＭＳ 明朝" panose="02020609040205080304" pitchFamily="17" charset="-128"/>
              </a:rPr>
              <a:t>通信を許可 </a:t>
            </a:r>
            <a:r>
              <a:rPr lang="en-US" altLang="ja-JP" sz="1100" dirty="0">
                <a:latin typeface="ＭＳ 明朝" panose="02020609040205080304" pitchFamily="17" charset="-128"/>
                <a:ea typeface="ＭＳ 明朝" panose="02020609040205080304" pitchFamily="17" charset="-128"/>
              </a:rPr>
              <a:t>(RJTZ-DII-FW01)</a:t>
            </a:r>
            <a:endParaRPr kumimoji="1" lang="ja-JP" altLang="en-US" sz="1100" dirty="0">
              <a:latin typeface="ＭＳ 明朝" panose="02020609040205080304" pitchFamily="17" charset="-128"/>
              <a:ea typeface="ＭＳ 明朝" panose="02020609040205080304" pitchFamily="17" charset="-128"/>
            </a:endParaRPr>
          </a:p>
        </p:txBody>
      </p:sp>
      <p:sp>
        <p:nvSpPr>
          <p:cNvPr id="74" name="矢印: 下 73">
            <a:extLst>
              <a:ext uri="{FF2B5EF4-FFF2-40B4-BE49-F238E27FC236}">
                <a16:creationId xmlns:a16="http://schemas.microsoft.com/office/drawing/2014/main" id="{47583582-1978-4A8F-AC6A-E99CAB798BAB}"/>
              </a:ext>
            </a:extLst>
          </p:cNvPr>
          <p:cNvSpPr/>
          <p:nvPr/>
        </p:nvSpPr>
        <p:spPr>
          <a:xfrm>
            <a:off x="1497864" y="3996224"/>
            <a:ext cx="125919" cy="169915"/>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矢印: 下 75">
            <a:extLst>
              <a:ext uri="{FF2B5EF4-FFF2-40B4-BE49-F238E27FC236}">
                <a16:creationId xmlns:a16="http://schemas.microsoft.com/office/drawing/2014/main" id="{FF7F9EFB-2C7E-4497-BBC7-291D56B65AC5}"/>
              </a:ext>
            </a:extLst>
          </p:cNvPr>
          <p:cNvSpPr/>
          <p:nvPr/>
        </p:nvSpPr>
        <p:spPr>
          <a:xfrm rot="16200000">
            <a:off x="1816730" y="4218573"/>
            <a:ext cx="125919" cy="169915"/>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矢印: 下 76">
            <a:extLst>
              <a:ext uri="{FF2B5EF4-FFF2-40B4-BE49-F238E27FC236}">
                <a16:creationId xmlns:a16="http://schemas.microsoft.com/office/drawing/2014/main" id="{7D7E2FCB-2E86-449A-9F9D-5BEBBED5DC5C}"/>
              </a:ext>
            </a:extLst>
          </p:cNvPr>
          <p:cNvSpPr/>
          <p:nvPr/>
        </p:nvSpPr>
        <p:spPr>
          <a:xfrm>
            <a:off x="2251889" y="4319240"/>
            <a:ext cx="125919" cy="169915"/>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矢印: 下 77">
            <a:extLst>
              <a:ext uri="{FF2B5EF4-FFF2-40B4-BE49-F238E27FC236}">
                <a16:creationId xmlns:a16="http://schemas.microsoft.com/office/drawing/2014/main" id="{4B806AB4-38B5-4BC7-A28D-6372CEAB3A7B}"/>
              </a:ext>
            </a:extLst>
          </p:cNvPr>
          <p:cNvSpPr/>
          <p:nvPr/>
        </p:nvSpPr>
        <p:spPr>
          <a:xfrm flipV="1">
            <a:off x="4892915" y="3971574"/>
            <a:ext cx="125919" cy="166713"/>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矢印: 下 79">
            <a:extLst>
              <a:ext uri="{FF2B5EF4-FFF2-40B4-BE49-F238E27FC236}">
                <a16:creationId xmlns:a16="http://schemas.microsoft.com/office/drawing/2014/main" id="{58A974DA-6E33-48AD-B483-A54774B20BF6}"/>
              </a:ext>
            </a:extLst>
          </p:cNvPr>
          <p:cNvSpPr/>
          <p:nvPr/>
        </p:nvSpPr>
        <p:spPr>
          <a:xfrm flipV="1">
            <a:off x="2662997" y="4322442"/>
            <a:ext cx="125919" cy="166713"/>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矢印: 下 80">
            <a:extLst>
              <a:ext uri="{FF2B5EF4-FFF2-40B4-BE49-F238E27FC236}">
                <a16:creationId xmlns:a16="http://schemas.microsoft.com/office/drawing/2014/main" id="{F3F1E5FC-6AD3-4AEA-AE88-B7BFA9633368}"/>
              </a:ext>
            </a:extLst>
          </p:cNvPr>
          <p:cNvSpPr/>
          <p:nvPr/>
        </p:nvSpPr>
        <p:spPr>
          <a:xfrm rot="16200000">
            <a:off x="3521437" y="3996223"/>
            <a:ext cx="125919" cy="169915"/>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矢印: 下 81">
            <a:extLst>
              <a:ext uri="{FF2B5EF4-FFF2-40B4-BE49-F238E27FC236}">
                <a16:creationId xmlns:a16="http://schemas.microsoft.com/office/drawing/2014/main" id="{64573F6D-2002-466B-9BDB-D2B6428C9B58}"/>
              </a:ext>
            </a:extLst>
          </p:cNvPr>
          <p:cNvSpPr/>
          <p:nvPr/>
        </p:nvSpPr>
        <p:spPr>
          <a:xfrm>
            <a:off x="1497863" y="3333519"/>
            <a:ext cx="125919" cy="159750"/>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矢印: 下 82">
            <a:extLst>
              <a:ext uri="{FF2B5EF4-FFF2-40B4-BE49-F238E27FC236}">
                <a16:creationId xmlns:a16="http://schemas.microsoft.com/office/drawing/2014/main" id="{BA849CFF-776E-40F7-8242-DA999EFF76A0}"/>
              </a:ext>
            </a:extLst>
          </p:cNvPr>
          <p:cNvSpPr/>
          <p:nvPr/>
        </p:nvSpPr>
        <p:spPr>
          <a:xfrm>
            <a:off x="1497863" y="2920373"/>
            <a:ext cx="125919" cy="104863"/>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4" name="図 83">
            <a:extLst>
              <a:ext uri="{FF2B5EF4-FFF2-40B4-BE49-F238E27FC236}">
                <a16:creationId xmlns:a16="http://schemas.microsoft.com/office/drawing/2014/main" id="{1159144D-221F-474D-94A0-CFDC56A39FA0}"/>
              </a:ext>
            </a:extLst>
          </p:cNvPr>
          <p:cNvPicPr>
            <a:picLocks noChangeAspect="1"/>
          </p:cNvPicPr>
          <p:nvPr/>
        </p:nvPicPr>
        <p:blipFill>
          <a:blip r:embed="rId4"/>
          <a:stretch>
            <a:fillRect/>
          </a:stretch>
        </p:blipFill>
        <p:spPr>
          <a:xfrm>
            <a:off x="6196732" y="4357384"/>
            <a:ext cx="5883156" cy="690735"/>
          </a:xfrm>
          <a:prstGeom prst="rect">
            <a:avLst/>
          </a:prstGeom>
          <a:ln>
            <a:solidFill>
              <a:schemeClr val="tx1"/>
            </a:solidFill>
          </a:ln>
        </p:spPr>
      </p:pic>
      <p:pic>
        <p:nvPicPr>
          <p:cNvPr id="85" name="図 84">
            <a:extLst>
              <a:ext uri="{FF2B5EF4-FFF2-40B4-BE49-F238E27FC236}">
                <a16:creationId xmlns:a16="http://schemas.microsoft.com/office/drawing/2014/main" id="{279D97C4-5AED-4641-B816-7A18AB2E6120}"/>
              </a:ext>
            </a:extLst>
          </p:cNvPr>
          <p:cNvPicPr>
            <a:picLocks noChangeAspect="1"/>
          </p:cNvPicPr>
          <p:nvPr/>
        </p:nvPicPr>
        <p:blipFill>
          <a:blip r:embed="rId5"/>
          <a:stretch>
            <a:fillRect/>
          </a:stretch>
        </p:blipFill>
        <p:spPr>
          <a:xfrm>
            <a:off x="6196732" y="3757613"/>
            <a:ext cx="5380497" cy="128107"/>
          </a:xfrm>
          <a:prstGeom prst="rect">
            <a:avLst/>
          </a:prstGeom>
          <a:ln>
            <a:solidFill>
              <a:schemeClr val="tx1"/>
            </a:solidFill>
          </a:ln>
        </p:spPr>
      </p:pic>
      <p:pic>
        <p:nvPicPr>
          <p:cNvPr id="87" name="図 86">
            <a:extLst>
              <a:ext uri="{FF2B5EF4-FFF2-40B4-BE49-F238E27FC236}">
                <a16:creationId xmlns:a16="http://schemas.microsoft.com/office/drawing/2014/main" id="{73723EDF-F4B4-405E-9C62-EA4690E01E9B}"/>
              </a:ext>
            </a:extLst>
          </p:cNvPr>
          <p:cNvPicPr>
            <a:picLocks noChangeAspect="1"/>
          </p:cNvPicPr>
          <p:nvPr/>
        </p:nvPicPr>
        <p:blipFill>
          <a:blip r:embed="rId6"/>
          <a:stretch>
            <a:fillRect/>
          </a:stretch>
        </p:blipFill>
        <p:spPr>
          <a:xfrm>
            <a:off x="6196732" y="4143612"/>
            <a:ext cx="4916142" cy="153839"/>
          </a:xfrm>
          <a:prstGeom prst="rect">
            <a:avLst/>
          </a:prstGeom>
          <a:ln>
            <a:solidFill>
              <a:schemeClr val="tx1"/>
            </a:solidFill>
          </a:ln>
        </p:spPr>
      </p:pic>
      <p:sp>
        <p:nvSpPr>
          <p:cNvPr id="88" name="テキスト ボックス 87">
            <a:extLst>
              <a:ext uri="{FF2B5EF4-FFF2-40B4-BE49-F238E27FC236}">
                <a16:creationId xmlns:a16="http://schemas.microsoft.com/office/drawing/2014/main" id="{96C47B38-3140-48DC-8E60-552EF840ED1F}"/>
              </a:ext>
            </a:extLst>
          </p:cNvPr>
          <p:cNvSpPr txBox="1"/>
          <p:nvPr/>
        </p:nvSpPr>
        <p:spPr>
          <a:xfrm>
            <a:off x="6173270" y="3853271"/>
            <a:ext cx="2428870" cy="246221"/>
          </a:xfrm>
          <a:prstGeom prst="rect">
            <a:avLst/>
          </a:prstGeom>
          <a:noFill/>
        </p:spPr>
        <p:txBody>
          <a:bodyPr wrap="none" rtlCol="0">
            <a:spAutoFit/>
          </a:bodyPr>
          <a:lstStyle/>
          <a:p>
            <a:r>
              <a:rPr kumimoji="1" lang="en-US" altLang="ja-JP" sz="1000" dirty="0">
                <a:latin typeface="ＭＳ 明朝" panose="02020609040205080304" pitchFamily="17" charset="-128"/>
                <a:ea typeface="ＭＳ 明朝" panose="02020609040205080304" pitchFamily="17" charset="-128"/>
              </a:rPr>
              <a:t>※10.107.190.* </a:t>
            </a:r>
            <a:r>
              <a:rPr kumimoji="1" lang="ja-JP" altLang="en-US" sz="1000" dirty="0">
                <a:latin typeface="ＭＳ 明朝" panose="02020609040205080304" pitchFamily="17" charset="-128"/>
                <a:ea typeface="ＭＳ 明朝" panose="02020609040205080304" pitchFamily="17" charset="-128"/>
              </a:rPr>
              <a:t>は春日のネットワーク</a:t>
            </a:r>
          </a:p>
        </p:txBody>
      </p:sp>
      <p:sp>
        <p:nvSpPr>
          <p:cNvPr id="20" name="タイトル 1">
            <a:extLst>
              <a:ext uri="{FF2B5EF4-FFF2-40B4-BE49-F238E27FC236}">
                <a16:creationId xmlns:a16="http://schemas.microsoft.com/office/drawing/2014/main" id="{A42CF663-91A0-4F83-93E8-4ACC82B2E14B}"/>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仮説３</a:t>
            </a:r>
          </a:p>
        </p:txBody>
      </p:sp>
    </p:spTree>
    <p:extLst>
      <p:ext uri="{BB962C8B-B14F-4D97-AF65-F5344CB8AC3E}">
        <p14:creationId xmlns:p14="http://schemas.microsoft.com/office/powerpoint/2010/main" val="40419638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D52AD678-A366-42C4-81A8-CB8814A3CEA0}"/>
              </a:ext>
            </a:extLst>
          </p:cNvPr>
          <p:cNvSpPr/>
          <p:nvPr/>
        </p:nvSpPr>
        <p:spPr>
          <a:xfrm>
            <a:off x="1892142" y="706369"/>
            <a:ext cx="8055377" cy="5262979"/>
          </a:xfrm>
          <a:prstGeom prst="rect">
            <a:avLst/>
          </a:prstGeom>
        </p:spPr>
        <p:txBody>
          <a:bodyPr wrap="square">
            <a:spAutoFit/>
          </a:bodyPr>
          <a:lstStyle/>
          <a:p>
            <a:pPr lvl="0">
              <a:defRPr/>
            </a:pPr>
            <a:r>
              <a:rPr lang="ja-JP" altLang="en-US" sz="1600" dirty="0">
                <a:latin typeface="ＭＳ 明朝" panose="02020609040205080304" pitchFamily="17" charset="-128"/>
                <a:ea typeface="ＭＳ 明朝" panose="02020609040205080304" pitchFamily="17" charset="-128"/>
              </a:rPr>
              <a:t>検知手法：</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FW</a:t>
            </a:r>
            <a:r>
              <a:rPr lang="ja-JP" altLang="en-US" sz="1600" dirty="0">
                <a:latin typeface="ＭＳ 明朝" panose="02020609040205080304" pitchFamily="17" charset="-128"/>
                <a:ea typeface="ＭＳ 明朝" panose="02020609040205080304" pitchFamily="17" charset="-128"/>
              </a:rPr>
              <a:t>で該当</a:t>
            </a:r>
            <a:r>
              <a:rPr lang="en-US" altLang="ja-JP" sz="1600" dirty="0">
                <a:latin typeface="ＭＳ 明朝" panose="02020609040205080304" pitchFamily="17" charset="-128"/>
                <a:ea typeface="ＭＳ 明朝" panose="02020609040205080304" pitchFamily="17" charset="-128"/>
              </a:rPr>
              <a:t>CVE</a:t>
            </a:r>
            <a:r>
              <a:rPr lang="ja-JP" altLang="en-US" sz="1600" dirty="0">
                <a:latin typeface="ＭＳ 明朝" panose="02020609040205080304" pitchFamily="17" charset="-128"/>
                <a:ea typeface="ＭＳ 明朝" panose="02020609040205080304" pitchFamily="17" charset="-128"/>
              </a:rPr>
              <a:t>の通信による検知がないかを確認する。</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Web</a:t>
            </a:r>
            <a:r>
              <a:rPr lang="ja-JP" altLang="en-US" sz="1600" dirty="0">
                <a:latin typeface="ＭＳ 明朝" panose="02020609040205080304" pitchFamily="17" charset="-128"/>
                <a:ea typeface="ＭＳ 明朝" panose="02020609040205080304" pitchFamily="17" charset="-128"/>
              </a:rPr>
              <a:t>サーバ（</a:t>
            </a:r>
            <a:r>
              <a:rPr lang="en-US" altLang="ja-JP" sz="1600" dirty="0">
                <a:latin typeface="ＭＳ 明朝" panose="02020609040205080304" pitchFamily="17" charset="-128"/>
                <a:ea typeface="ＭＳ 明朝" panose="02020609040205080304" pitchFamily="17" charset="-128"/>
              </a:rPr>
              <a:t>J-Web)</a:t>
            </a:r>
            <a:r>
              <a:rPr lang="ja-JP" altLang="en-US" sz="1600" dirty="0">
                <a:latin typeface="ＭＳ 明朝" panose="02020609040205080304" pitchFamily="17" charset="-128"/>
                <a:ea typeface="ＭＳ 明朝" panose="02020609040205080304" pitchFamily="17" charset="-128"/>
              </a:rPr>
              <a:t>アクセスログに</a:t>
            </a:r>
            <a:r>
              <a:rPr lang="en-US" altLang="ja-JP" sz="1600" dirty="0">
                <a:latin typeface="ＭＳ 明朝" panose="02020609040205080304" pitchFamily="17" charset="-128"/>
                <a:ea typeface="ＭＳ 明朝" panose="02020609040205080304" pitchFamily="17" charset="-128"/>
              </a:rPr>
              <a:t>PHPRC</a:t>
            </a:r>
            <a:r>
              <a:rPr lang="ja-JP" altLang="en-US" sz="1600" dirty="0">
                <a:latin typeface="ＭＳ 明朝" panose="02020609040205080304" pitchFamily="17" charset="-128"/>
                <a:ea typeface="ＭＳ 明朝" panose="02020609040205080304" pitchFamily="17" charset="-128"/>
              </a:rPr>
              <a:t>を含む</a:t>
            </a:r>
            <a:r>
              <a:rPr lang="en-US" altLang="ja-JP" sz="1600" dirty="0">
                <a:latin typeface="ＭＳ 明朝" panose="02020609040205080304" pitchFamily="17" charset="-128"/>
                <a:ea typeface="ＭＳ 明朝" panose="02020609040205080304" pitchFamily="17" charset="-128"/>
              </a:rPr>
              <a:t>POST</a:t>
            </a:r>
            <a:r>
              <a:rPr lang="ja-JP" altLang="en-US" sz="1600" dirty="0">
                <a:latin typeface="ＭＳ 明朝" panose="02020609040205080304" pitchFamily="17" charset="-128"/>
                <a:ea typeface="ＭＳ 明朝" panose="02020609040205080304" pitchFamily="17" charset="-128"/>
              </a:rPr>
              <a:t>（最も決定的</a:t>
            </a:r>
            <a:r>
              <a:rPr lang="en-US" altLang="ja-JP" sz="1600" dirty="0">
                <a:latin typeface="ＭＳ 明朝" panose="02020609040205080304" pitchFamily="17" charset="-128"/>
                <a:ea typeface="ＭＳ 明朝" panose="02020609040205080304" pitchFamily="17" charset="-128"/>
              </a:rPr>
              <a:t>)</a:t>
            </a: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新しいプロセス／子プロセスの生成、</a:t>
            </a:r>
            <a:r>
              <a:rPr lang="en-US" altLang="ja-JP" sz="1600" dirty="0">
                <a:latin typeface="ＭＳ 明朝" panose="02020609040205080304" pitchFamily="17" charset="-128"/>
                <a:ea typeface="ＭＳ 明朝" panose="02020609040205080304" pitchFamily="17" charset="-128"/>
              </a:rPr>
              <a:t>PHP</a:t>
            </a:r>
            <a:r>
              <a:rPr lang="ja-JP" altLang="en-US" sz="1600" dirty="0">
                <a:latin typeface="ＭＳ 明朝" panose="02020609040205080304" pitchFamily="17" charset="-128"/>
                <a:ea typeface="ＭＳ 明朝" panose="02020609040205080304" pitchFamily="17" charset="-128"/>
              </a:rPr>
              <a:t>実行プロセスの異常起動はないか。</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FW</a:t>
            </a:r>
            <a:r>
              <a:rPr lang="ja-JP" altLang="en-US" sz="1600" dirty="0">
                <a:latin typeface="ＭＳ 明朝" panose="02020609040205080304" pitchFamily="17" charset="-128"/>
                <a:ea typeface="ＭＳ 明朝" panose="02020609040205080304" pitchFamily="17" charset="-128"/>
              </a:rPr>
              <a:t>のアクセスログで不審な</a:t>
            </a:r>
            <a:r>
              <a:rPr lang="en-US" altLang="ja-JP" sz="1600" dirty="0">
                <a:latin typeface="ＭＳ 明朝" panose="02020609040205080304" pitchFamily="17" charset="-128"/>
                <a:ea typeface="ＭＳ 明朝" panose="02020609040205080304" pitchFamily="17" charset="-128"/>
              </a:rPr>
              <a:t>IP</a:t>
            </a:r>
            <a:r>
              <a:rPr lang="ja-JP" altLang="en-US" sz="1600" dirty="0">
                <a:latin typeface="ＭＳ 明朝" panose="02020609040205080304" pitchFamily="17" charset="-128"/>
                <a:ea typeface="ＭＳ 明朝" panose="02020609040205080304" pitchFamily="17" charset="-128"/>
              </a:rPr>
              <a:t>からのアクセスがないかを確認する。</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FW</a:t>
            </a:r>
            <a:r>
              <a:rPr lang="ja-JP" altLang="en-US" sz="1600" dirty="0">
                <a:latin typeface="ＭＳ 明朝" panose="02020609040205080304" pitchFamily="17" charset="-128"/>
                <a:ea typeface="ＭＳ 明朝" panose="02020609040205080304" pitchFamily="17" charset="-128"/>
              </a:rPr>
              <a:t>のフィルタルールが変更されていないことを確認</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FW</a:t>
            </a:r>
            <a:r>
              <a:rPr lang="ja-JP" altLang="en-US" sz="1600" dirty="0">
                <a:latin typeface="ＭＳ 明朝" panose="02020609040205080304" pitchFamily="17" charset="-128"/>
                <a:ea typeface="ＭＳ 明朝" panose="02020609040205080304" pitchFamily="17" charset="-128"/>
              </a:rPr>
              <a:t>の過去ログが消去されていないことを確認</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FW</a:t>
            </a:r>
            <a:r>
              <a:rPr lang="ja-JP" altLang="en-US" sz="1600" dirty="0">
                <a:latin typeface="ＭＳ 明朝" panose="02020609040205080304" pitchFamily="17" charset="-128"/>
                <a:ea typeface="ＭＳ 明朝" panose="02020609040205080304" pitchFamily="17" charset="-128"/>
              </a:rPr>
              <a:t>が予定外の再起動などされていないことを確認</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FW</a:t>
            </a:r>
            <a:r>
              <a:rPr lang="ja-JP" altLang="en-US" sz="1600" dirty="0">
                <a:latin typeface="ＭＳ 明朝" panose="02020609040205080304" pitchFamily="17" charset="-128"/>
                <a:ea typeface="ＭＳ 明朝" panose="02020609040205080304" pitchFamily="17" charset="-128"/>
              </a:rPr>
              <a:t>でサービス再開の痕跡がないことを確認</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緩和策：</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a:t>
            </a:r>
            <a:r>
              <a:rPr lang="en-US" altLang="ja-JP" sz="1600" dirty="0">
                <a:latin typeface="ＭＳ 明朝" panose="02020609040205080304" pitchFamily="17" charset="-128"/>
                <a:ea typeface="ＭＳ 明朝" panose="02020609040205080304" pitchFamily="17" charset="-128"/>
              </a:rPr>
              <a:t>FW</a:t>
            </a:r>
            <a:r>
              <a:rPr lang="ja-JP" altLang="en-US" sz="1600" dirty="0">
                <a:latin typeface="ＭＳ 明朝" panose="02020609040205080304" pitchFamily="17" charset="-128"/>
                <a:ea typeface="ＭＳ 明朝" panose="02020609040205080304" pitchFamily="17" charset="-128"/>
              </a:rPr>
              <a:t>ルールでアクセス先を制限する。</a:t>
            </a:r>
            <a:endParaRPr lang="en-US" altLang="ja-JP" sz="1600" dirty="0">
              <a:latin typeface="ＭＳ 明朝" panose="02020609040205080304" pitchFamily="17" charset="-128"/>
              <a:ea typeface="ＭＳ 明朝" panose="02020609040205080304" pitchFamily="17" charset="-128"/>
            </a:endParaRPr>
          </a:p>
        </p:txBody>
      </p:sp>
      <p:sp>
        <p:nvSpPr>
          <p:cNvPr id="3" name="タイトル 1">
            <a:extLst>
              <a:ext uri="{FF2B5EF4-FFF2-40B4-BE49-F238E27FC236}">
                <a16:creationId xmlns:a16="http://schemas.microsoft.com/office/drawing/2014/main" id="{CEBA114A-0E0B-423A-AE09-756E84D05CD0}"/>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仮説３</a:t>
            </a:r>
          </a:p>
        </p:txBody>
      </p:sp>
    </p:spTree>
    <p:extLst>
      <p:ext uri="{BB962C8B-B14F-4D97-AF65-F5344CB8AC3E}">
        <p14:creationId xmlns:p14="http://schemas.microsoft.com/office/powerpoint/2010/main" val="27395833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635180D-ED05-45EB-9D64-BA0A82BBA0F6}"/>
              </a:ext>
            </a:extLst>
          </p:cNvPr>
          <p:cNvSpPr txBox="1"/>
          <p:nvPr/>
        </p:nvSpPr>
        <p:spPr>
          <a:xfrm>
            <a:off x="2899451" y="2151727"/>
            <a:ext cx="6393097" cy="2554545"/>
          </a:xfrm>
          <a:prstGeom prst="rect">
            <a:avLst/>
          </a:prstGeom>
          <a:noFill/>
        </p:spPr>
        <p:txBody>
          <a:bodyPr wrap="none" rtlCol="0">
            <a:spAutoFit/>
          </a:bodyPr>
          <a:lstStyle/>
          <a:p>
            <a:pPr algn="ctr"/>
            <a:r>
              <a:rPr kumimoji="1" lang="ja-JP" altLang="en-US" sz="8000" b="1" dirty="0">
                <a:latin typeface="ＭＳ 明朝" panose="02020609040205080304" pitchFamily="17" charset="-128"/>
                <a:ea typeface="ＭＳ 明朝" panose="02020609040205080304" pitchFamily="17" charset="-128"/>
              </a:rPr>
              <a:t>侵入経路２</a:t>
            </a:r>
            <a:endParaRPr kumimoji="1" lang="en-US" altLang="ja-JP" sz="8000" b="1" dirty="0">
              <a:latin typeface="ＭＳ 明朝" panose="02020609040205080304" pitchFamily="17" charset="-128"/>
              <a:ea typeface="ＭＳ 明朝" panose="02020609040205080304" pitchFamily="17" charset="-128"/>
            </a:endParaRPr>
          </a:p>
          <a:p>
            <a:pPr algn="ctr"/>
            <a:r>
              <a:rPr lang="en-US" altLang="ja-JP" sz="8000" b="1" dirty="0">
                <a:latin typeface="ＭＳ 明朝" panose="02020609040205080304" pitchFamily="17" charset="-128"/>
                <a:ea typeface="ＭＳ 明朝" panose="02020609040205080304" pitchFamily="17" charset="-128"/>
              </a:rPr>
              <a:t>(FACE</a:t>
            </a:r>
            <a:r>
              <a:rPr lang="ja-JP" altLang="en-US" sz="8000" b="1" dirty="0">
                <a:latin typeface="ＭＳ 明朝" panose="02020609040205080304" pitchFamily="17" charset="-128"/>
                <a:ea typeface="ＭＳ 明朝" panose="02020609040205080304" pitchFamily="17" charset="-128"/>
              </a:rPr>
              <a:t>→</a:t>
            </a:r>
            <a:r>
              <a:rPr lang="en-US" altLang="ja-JP" sz="8000" b="1" dirty="0">
                <a:latin typeface="ＭＳ 明朝" panose="02020609040205080304" pitchFamily="17" charset="-128"/>
                <a:ea typeface="ＭＳ 明朝" panose="02020609040205080304" pitchFamily="17" charset="-128"/>
              </a:rPr>
              <a:t>FADP)</a:t>
            </a:r>
            <a:endParaRPr kumimoji="1" lang="ja-JP" altLang="en-US" sz="8000" b="1"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8907508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E04792A-049C-48C2-BAB2-DF5C0718709B}"/>
              </a:ext>
            </a:extLst>
          </p:cNvPr>
          <p:cNvSpPr txBox="1"/>
          <p:nvPr/>
        </p:nvSpPr>
        <p:spPr>
          <a:xfrm>
            <a:off x="478173" y="1149291"/>
            <a:ext cx="11501306" cy="4893647"/>
          </a:xfrm>
          <a:prstGeom prst="rect">
            <a:avLst/>
          </a:prstGeom>
          <a:noFill/>
        </p:spPr>
        <p:txBody>
          <a:bodyPr wrap="square" rtlCol="0">
            <a:spAutoFit/>
          </a:bodyPr>
          <a:lstStyle/>
          <a:p>
            <a:r>
              <a:rPr kumimoji="1" lang="ja-JP" altLang="en-US" sz="2400" b="1" dirty="0">
                <a:solidFill>
                  <a:srgbClr val="00B050"/>
                </a:solidFill>
                <a:latin typeface="ＭＳ 明朝" panose="02020609040205080304" pitchFamily="17" charset="-128"/>
                <a:ea typeface="ＭＳ 明朝" panose="02020609040205080304" pitchFamily="17" charset="-128"/>
              </a:rPr>
              <a:t>仮説４</a:t>
            </a:r>
            <a:endParaRPr kumimoji="1" lang="en-US" altLang="ja-JP" sz="2400" b="1" dirty="0">
              <a:solidFill>
                <a:srgbClr val="00B050"/>
              </a:solidFill>
              <a:latin typeface="ＭＳ 明朝" panose="02020609040205080304" pitchFamily="17" charset="-128"/>
              <a:ea typeface="ＭＳ 明朝" panose="02020609040205080304" pitchFamily="17" charset="-128"/>
            </a:endParaRPr>
          </a:p>
          <a:p>
            <a:r>
              <a:rPr lang="en-US" altLang="ja-JP" sz="2400" dirty="0">
                <a:latin typeface="ＭＳ 明朝" panose="02020609040205080304" pitchFamily="17" charset="-128"/>
                <a:ea typeface="ＭＳ 明朝" panose="02020609040205080304" pitchFamily="17" charset="-128"/>
              </a:rPr>
              <a:t>CVE-2023-36845</a:t>
            </a:r>
            <a:r>
              <a:rPr lang="ja-JP" altLang="en-US" sz="2400" dirty="0">
                <a:latin typeface="ＭＳ 明朝" panose="02020609040205080304" pitchFamily="17" charset="-128"/>
                <a:ea typeface="ＭＳ 明朝" panose="02020609040205080304" pitchFamily="17" charset="-128"/>
              </a:rPr>
              <a:t>の脆弱性を使用し、</a:t>
            </a:r>
            <a:r>
              <a:rPr lang="en-US" altLang="ja-JP" sz="2400" dirty="0">
                <a:latin typeface="ＭＳ 明朝" panose="02020609040205080304" pitchFamily="17" charset="-128"/>
                <a:ea typeface="ＭＳ 明朝" panose="02020609040205080304" pitchFamily="17" charset="-128"/>
              </a:rPr>
              <a:t>DII</a:t>
            </a:r>
            <a:r>
              <a:rPr lang="ja-JP" altLang="en-US" sz="2400" dirty="0">
                <a:latin typeface="ＭＳ 明朝" panose="02020609040205080304" pitchFamily="17" charset="-128"/>
                <a:ea typeface="ＭＳ 明朝" panose="02020609040205080304" pitchFamily="17" charset="-128"/>
              </a:rPr>
              <a:t>側ファイアウォールの設定情報を改ざんされ</a:t>
            </a:r>
            <a:r>
              <a:rPr kumimoji="1" lang="ja-JP" altLang="en-US" sz="2400" dirty="0">
                <a:latin typeface="ＭＳ 明朝" panose="02020609040205080304" pitchFamily="17" charset="-128"/>
                <a:ea typeface="ＭＳ 明朝" panose="02020609040205080304" pitchFamily="17" charset="-128"/>
              </a:rPr>
              <a:t>業務に著しい影響を受けた。</a:t>
            </a:r>
            <a:endParaRPr kumimoji="1" lang="en-US" altLang="ja-JP" sz="2400" dirty="0">
              <a:latin typeface="ＭＳ 明朝" panose="02020609040205080304" pitchFamily="17" charset="-128"/>
              <a:ea typeface="ＭＳ 明朝" panose="02020609040205080304" pitchFamily="17" charset="-128"/>
            </a:endParaRPr>
          </a:p>
          <a:p>
            <a:endParaRPr kumimoji="1" lang="en-US" altLang="ja-JP" sz="2400" dirty="0">
              <a:latin typeface="ＭＳ 明朝" panose="02020609040205080304" pitchFamily="17" charset="-128"/>
              <a:ea typeface="ＭＳ 明朝" panose="02020609040205080304" pitchFamily="17" charset="-128"/>
            </a:endParaRPr>
          </a:p>
          <a:p>
            <a:endParaRPr kumimoji="1" lang="en-US" altLang="ja-JP" sz="2400" dirty="0">
              <a:latin typeface="ＭＳ 明朝" panose="02020609040205080304" pitchFamily="17" charset="-128"/>
              <a:ea typeface="ＭＳ 明朝" panose="02020609040205080304" pitchFamily="17" charset="-128"/>
            </a:endParaRPr>
          </a:p>
          <a:p>
            <a:r>
              <a:rPr kumimoji="1" lang="ja-JP" altLang="en-US" sz="2400" b="1" dirty="0">
                <a:solidFill>
                  <a:srgbClr val="00B050"/>
                </a:solidFill>
                <a:latin typeface="ＭＳ 明朝" panose="02020609040205080304" pitchFamily="17" charset="-128"/>
                <a:ea typeface="ＭＳ 明朝" panose="02020609040205080304" pitchFamily="17" charset="-128"/>
              </a:rPr>
              <a:t>仮説５</a:t>
            </a:r>
            <a:endParaRPr kumimoji="1" lang="en-US" altLang="ja-JP" sz="2400" b="1" dirty="0">
              <a:solidFill>
                <a:srgbClr val="00B050"/>
              </a:solidFill>
              <a:latin typeface="ＭＳ 明朝" panose="02020609040205080304" pitchFamily="17" charset="-128"/>
              <a:ea typeface="ＭＳ 明朝" panose="02020609040205080304" pitchFamily="17" charset="-128"/>
            </a:endParaRPr>
          </a:p>
          <a:p>
            <a:r>
              <a:rPr kumimoji="1" lang="en-US" altLang="ja-JP" sz="2400" dirty="0">
                <a:latin typeface="ＭＳ 明朝" panose="02020609040205080304" pitchFamily="17" charset="-128"/>
                <a:ea typeface="ＭＳ 明朝" panose="02020609040205080304" pitchFamily="17" charset="-128"/>
              </a:rPr>
              <a:t>FACE</a:t>
            </a:r>
            <a:r>
              <a:rPr kumimoji="1" lang="ja-JP" altLang="en-US" sz="2400" dirty="0">
                <a:latin typeface="ＭＳ 明朝" panose="02020609040205080304" pitchFamily="17" charset="-128"/>
                <a:ea typeface="ＭＳ 明朝" panose="02020609040205080304" pitchFamily="17" charset="-128"/>
              </a:rPr>
              <a:t>上の不正な端末から</a:t>
            </a:r>
            <a:r>
              <a:rPr kumimoji="1" lang="en-US" altLang="ja-JP" sz="2400" dirty="0">
                <a:latin typeface="ＭＳ 明朝" panose="02020609040205080304" pitchFamily="17" charset="-128"/>
                <a:ea typeface="ＭＳ 明朝" panose="02020609040205080304" pitchFamily="17" charset="-128"/>
              </a:rPr>
              <a:t>telnet</a:t>
            </a:r>
            <a:r>
              <a:rPr kumimoji="1" lang="ja-JP" altLang="en-US" sz="2400" dirty="0">
                <a:latin typeface="ＭＳ 明朝" panose="02020609040205080304" pitchFamily="17" charset="-128"/>
                <a:ea typeface="ＭＳ 明朝" panose="02020609040205080304" pitchFamily="17" charset="-128"/>
              </a:rPr>
              <a:t>でアクセスされ一部の機器の情報を摂取または設定変更された。</a:t>
            </a:r>
            <a:endParaRPr kumimoji="1" lang="en-US" altLang="ja-JP" sz="2400" dirty="0">
              <a:latin typeface="ＭＳ 明朝" panose="02020609040205080304" pitchFamily="17" charset="-128"/>
              <a:ea typeface="ＭＳ 明朝" panose="02020609040205080304" pitchFamily="17" charset="-128"/>
            </a:endParaRPr>
          </a:p>
          <a:p>
            <a:endParaRPr kumimoji="1" lang="en-US" altLang="ja-JP" sz="2400" dirty="0">
              <a:latin typeface="ＭＳ 明朝" panose="02020609040205080304" pitchFamily="17" charset="-128"/>
              <a:ea typeface="ＭＳ 明朝" panose="02020609040205080304" pitchFamily="17" charset="-128"/>
            </a:endParaRPr>
          </a:p>
          <a:p>
            <a:endParaRPr kumimoji="1" lang="en-US" altLang="ja-JP" sz="2400" dirty="0">
              <a:latin typeface="ＭＳ 明朝" panose="02020609040205080304" pitchFamily="17" charset="-128"/>
              <a:ea typeface="ＭＳ 明朝" panose="02020609040205080304" pitchFamily="17" charset="-128"/>
            </a:endParaRPr>
          </a:p>
          <a:p>
            <a:r>
              <a:rPr kumimoji="1" lang="ja-JP" altLang="en-US" sz="2400" b="1" dirty="0">
                <a:solidFill>
                  <a:srgbClr val="00B050"/>
                </a:solidFill>
                <a:latin typeface="ＭＳ 明朝" panose="02020609040205080304" pitchFamily="17" charset="-128"/>
                <a:ea typeface="ＭＳ 明朝" panose="02020609040205080304" pitchFamily="17" charset="-128"/>
              </a:rPr>
              <a:t>仮説６</a:t>
            </a:r>
            <a:endParaRPr kumimoji="1" lang="en-US" altLang="ja-JP" sz="2400" b="1" dirty="0">
              <a:solidFill>
                <a:srgbClr val="00B050"/>
              </a:solidFill>
              <a:latin typeface="ＭＳ 明朝" panose="02020609040205080304" pitchFamily="17" charset="-128"/>
              <a:ea typeface="ＭＳ 明朝" panose="02020609040205080304" pitchFamily="17" charset="-128"/>
            </a:endParaRPr>
          </a:p>
          <a:p>
            <a:r>
              <a:rPr kumimoji="1" lang="en-US" altLang="ja-JP" sz="2400" dirty="0">
                <a:latin typeface="ＭＳ 明朝" panose="02020609040205080304" pitchFamily="17" charset="-128"/>
                <a:ea typeface="ＭＳ 明朝" panose="02020609040205080304" pitchFamily="17" charset="-128"/>
              </a:rPr>
              <a:t>FACE</a:t>
            </a:r>
            <a:r>
              <a:rPr kumimoji="1" lang="ja-JP" altLang="en-US" sz="2400" dirty="0">
                <a:latin typeface="ＭＳ 明朝" panose="02020609040205080304" pitchFamily="17" charset="-128"/>
                <a:ea typeface="ＭＳ 明朝" panose="02020609040205080304" pitchFamily="17" charset="-128"/>
              </a:rPr>
              <a:t>上の不正な端末から</a:t>
            </a:r>
            <a:r>
              <a:rPr kumimoji="1" lang="en-US" altLang="ja-JP" sz="2400" dirty="0">
                <a:latin typeface="ＭＳ 明朝" panose="02020609040205080304" pitchFamily="17" charset="-128"/>
                <a:ea typeface="ＭＳ 明朝" panose="02020609040205080304" pitchFamily="17" charset="-128"/>
              </a:rPr>
              <a:t>FACE</a:t>
            </a:r>
            <a:r>
              <a:rPr kumimoji="1" lang="ja-JP" altLang="en-US" sz="2400" dirty="0">
                <a:latin typeface="ＭＳ 明朝" panose="02020609040205080304" pitchFamily="17" charset="-128"/>
                <a:ea typeface="ＭＳ 明朝" panose="02020609040205080304" pitchFamily="17" charset="-128"/>
              </a:rPr>
              <a:t>対向用端末にアクセスしそこを踏み台として</a:t>
            </a:r>
            <a:r>
              <a:rPr kumimoji="1" lang="en-US" altLang="ja-JP" sz="2400" dirty="0">
                <a:latin typeface="ＭＳ 明朝" panose="02020609040205080304" pitchFamily="17" charset="-128"/>
                <a:ea typeface="ＭＳ 明朝" panose="02020609040205080304" pitchFamily="17" charset="-128"/>
              </a:rPr>
              <a:t>FADP</a:t>
            </a:r>
            <a:r>
              <a:rPr kumimoji="1" lang="ja-JP" altLang="en-US" sz="2400" dirty="0">
                <a:latin typeface="ＭＳ 明朝" panose="02020609040205080304" pitchFamily="17" charset="-128"/>
                <a:ea typeface="ＭＳ 明朝" panose="02020609040205080304" pitchFamily="17" charset="-128"/>
              </a:rPr>
              <a:t>内部</a:t>
            </a:r>
            <a:endParaRPr kumimoji="1" lang="en-US" altLang="ja-JP" sz="2400" dirty="0">
              <a:latin typeface="ＭＳ 明朝" panose="02020609040205080304" pitchFamily="17" charset="-128"/>
              <a:ea typeface="ＭＳ 明朝" panose="02020609040205080304" pitchFamily="17" charset="-128"/>
            </a:endParaRPr>
          </a:p>
          <a:p>
            <a:r>
              <a:rPr kumimoji="1" lang="ja-JP" altLang="en-US" sz="2400" dirty="0">
                <a:latin typeface="ＭＳ 明朝" panose="02020609040205080304" pitchFamily="17" charset="-128"/>
                <a:ea typeface="ＭＳ 明朝" panose="02020609040205080304" pitchFamily="17" charset="-128"/>
              </a:rPr>
              <a:t>ネットワークに侵入された。</a:t>
            </a:r>
            <a:endParaRPr kumimoji="1" lang="en-US" altLang="ja-JP" sz="24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6507493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219589B-E704-411B-AE52-524793F02BDC}"/>
              </a:ext>
            </a:extLst>
          </p:cNvPr>
          <p:cNvSpPr txBox="1"/>
          <p:nvPr/>
        </p:nvSpPr>
        <p:spPr>
          <a:xfrm>
            <a:off x="4323346" y="2579566"/>
            <a:ext cx="3276859" cy="1323439"/>
          </a:xfrm>
          <a:prstGeom prst="rect">
            <a:avLst/>
          </a:prstGeom>
          <a:noFill/>
        </p:spPr>
        <p:txBody>
          <a:bodyPr wrap="none" rtlCol="0">
            <a:spAutoFit/>
          </a:bodyPr>
          <a:lstStyle/>
          <a:p>
            <a:pPr algn="ctr"/>
            <a:r>
              <a:rPr kumimoji="1" lang="ja-JP" altLang="en-US" sz="8000" b="1" dirty="0">
                <a:latin typeface="ＭＳ 明朝" panose="02020609040205080304" pitchFamily="17" charset="-128"/>
                <a:ea typeface="ＭＳ 明朝" panose="02020609040205080304" pitchFamily="17" charset="-128"/>
              </a:rPr>
              <a:t>仮説４</a:t>
            </a:r>
            <a:endParaRPr kumimoji="1" lang="en-US" altLang="ja-JP" sz="8000" b="1" dirty="0">
              <a:latin typeface="ＭＳ 明朝" panose="02020609040205080304" pitchFamily="17" charset="-128"/>
              <a:ea typeface="ＭＳ 明朝" panose="02020609040205080304" pitchFamily="17" charset="-128"/>
            </a:endParaRPr>
          </a:p>
        </p:txBody>
      </p:sp>
      <p:sp>
        <p:nvSpPr>
          <p:cNvPr id="3" name="タイトル 1">
            <a:extLst>
              <a:ext uri="{FF2B5EF4-FFF2-40B4-BE49-F238E27FC236}">
                <a16:creationId xmlns:a16="http://schemas.microsoft.com/office/drawing/2014/main" id="{A86D00B3-B3F9-4E75-AB46-43E58D84DCE5}"/>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仮説４</a:t>
            </a:r>
          </a:p>
        </p:txBody>
      </p:sp>
    </p:spTree>
    <p:extLst>
      <p:ext uri="{BB962C8B-B14F-4D97-AF65-F5344CB8AC3E}">
        <p14:creationId xmlns:p14="http://schemas.microsoft.com/office/powerpoint/2010/main" val="14329071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A2450CBC-5B35-4F68-A274-7298EA9858CD}"/>
              </a:ext>
            </a:extLst>
          </p:cNvPr>
          <p:cNvSpPr/>
          <p:nvPr/>
        </p:nvSpPr>
        <p:spPr>
          <a:xfrm>
            <a:off x="233636" y="948536"/>
            <a:ext cx="2752677" cy="615553"/>
          </a:xfrm>
          <a:prstGeom prst="rect">
            <a:avLst/>
          </a:prstGeom>
        </p:spPr>
        <p:txBody>
          <a:bodyPr wrap="none">
            <a:spAutoFit/>
          </a:bodyPr>
          <a:lstStyle/>
          <a:p>
            <a:pPr>
              <a:defRPr/>
            </a:pPr>
            <a:r>
              <a:rPr lang="ja-JP" altLang="en-US" b="1" dirty="0">
                <a:latin typeface="ＭＳ 明朝" panose="02020609040205080304" pitchFamily="17" charset="-128"/>
                <a:ea typeface="ＭＳ 明朝" panose="02020609040205080304" pitchFamily="17" charset="-128"/>
              </a:rPr>
              <a:t>仮説４：</a:t>
            </a:r>
            <a:r>
              <a:rPr lang="en-US" altLang="ja-JP" b="1" dirty="0">
                <a:latin typeface="ＭＳ 明朝" panose="02020609040205080304" pitchFamily="17" charset="-128"/>
                <a:ea typeface="ＭＳ 明朝" panose="02020609040205080304" pitchFamily="17" charset="-128"/>
              </a:rPr>
              <a:t>CVE-2023-36846</a:t>
            </a:r>
          </a:p>
          <a:p>
            <a:pPr lvl="0">
              <a:defRPr/>
            </a:pPr>
            <a:endParaRPr lang="en-US" altLang="ja-JP" sz="1600" dirty="0">
              <a:latin typeface="ＭＳ 明朝" panose="02020609040205080304" pitchFamily="17" charset="-128"/>
              <a:ea typeface="ＭＳ 明朝" panose="02020609040205080304" pitchFamily="17" charset="-128"/>
            </a:endParaRPr>
          </a:p>
        </p:txBody>
      </p:sp>
      <p:sp>
        <p:nvSpPr>
          <p:cNvPr id="4" name="タイトル 1">
            <a:extLst>
              <a:ext uri="{FF2B5EF4-FFF2-40B4-BE49-F238E27FC236}">
                <a16:creationId xmlns:a16="http://schemas.microsoft.com/office/drawing/2014/main" id="{87EA2E5E-0B17-4D0A-8BD3-23546E73AD6D}"/>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仮説４</a:t>
            </a:r>
          </a:p>
        </p:txBody>
      </p:sp>
      <p:pic>
        <p:nvPicPr>
          <p:cNvPr id="22" name="図 21">
            <a:extLst>
              <a:ext uri="{FF2B5EF4-FFF2-40B4-BE49-F238E27FC236}">
                <a16:creationId xmlns:a16="http://schemas.microsoft.com/office/drawing/2014/main" id="{83A46910-64DE-4D54-87EE-5B7F8502E4D8}"/>
              </a:ext>
            </a:extLst>
          </p:cNvPr>
          <p:cNvPicPr>
            <a:picLocks noChangeAspect="1"/>
          </p:cNvPicPr>
          <p:nvPr/>
        </p:nvPicPr>
        <p:blipFill>
          <a:blip r:embed="rId2"/>
          <a:stretch>
            <a:fillRect/>
          </a:stretch>
        </p:blipFill>
        <p:spPr>
          <a:xfrm>
            <a:off x="6172310" y="1404069"/>
            <a:ext cx="3910463" cy="1467146"/>
          </a:xfrm>
          <a:prstGeom prst="rect">
            <a:avLst/>
          </a:prstGeom>
          <a:ln>
            <a:solidFill>
              <a:schemeClr val="tx1"/>
            </a:solidFill>
          </a:ln>
        </p:spPr>
      </p:pic>
      <p:cxnSp>
        <p:nvCxnSpPr>
          <p:cNvPr id="23" name="直線コネクタ 22">
            <a:extLst>
              <a:ext uri="{FF2B5EF4-FFF2-40B4-BE49-F238E27FC236}">
                <a16:creationId xmlns:a16="http://schemas.microsoft.com/office/drawing/2014/main" id="{38E7EB95-C4B9-491E-8055-A4E5525F694E}"/>
              </a:ext>
            </a:extLst>
          </p:cNvPr>
          <p:cNvCxnSpPr/>
          <p:nvPr/>
        </p:nvCxnSpPr>
        <p:spPr>
          <a:xfrm>
            <a:off x="6172310" y="2644304"/>
            <a:ext cx="378092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24" name="図 23">
            <a:extLst>
              <a:ext uri="{FF2B5EF4-FFF2-40B4-BE49-F238E27FC236}">
                <a16:creationId xmlns:a16="http://schemas.microsoft.com/office/drawing/2014/main" id="{EEC88D6F-A9EB-4118-9CCE-B7AADF14F0D3}"/>
              </a:ext>
            </a:extLst>
          </p:cNvPr>
          <p:cNvPicPr>
            <a:picLocks noChangeAspect="1"/>
          </p:cNvPicPr>
          <p:nvPr/>
        </p:nvPicPr>
        <p:blipFill>
          <a:blip r:embed="rId3"/>
          <a:stretch>
            <a:fillRect/>
          </a:stretch>
        </p:blipFill>
        <p:spPr>
          <a:xfrm>
            <a:off x="158135" y="1404069"/>
            <a:ext cx="5913865" cy="2956932"/>
          </a:xfrm>
          <a:prstGeom prst="rect">
            <a:avLst/>
          </a:prstGeom>
          <a:ln>
            <a:solidFill>
              <a:schemeClr val="tx1"/>
            </a:solidFill>
          </a:ln>
        </p:spPr>
      </p:pic>
      <p:sp>
        <p:nvSpPr>
          <p:cNvPr id="25" name="テキスト ボックス 24">
            <a:extLst>
              <a:ext uri="{FF2B5EF4-FFF2-40B4-BE49-F238E27FC236}">
                <a16:creationId xmlns:a16="http://schemas.microsoft.com/office/drawing/2014/main" id="{55833035-2FC7-448A-8E88-21B1D72295E1}"/>
              </a:ext>
            </a:extLst>
          </p:cNvPr>
          <p:cNvSpPr txBox="1"/>
          <p:nvPr/>
        </p:nvSpPr>
        <p:spPr>
          <a:xfrm>
            <a:off x="6149270" y="1142459"/>
            <a:ext cx="4204997" cy="261610"/>
          </a:xfrm>
          <a:prstGeom prst="rect">
            <a:avLst/>
          </a:prstGeom>
          <a:noFill/>
        </p:spPr>
        <p:txBody>
          <a:bodyPr wrap="none" rtlCol="0">
            <a:spAutoFit/>
          </a:bodyPr>
          <a:lstStyle/>
          <a:p>
            <a:r>
              <a:rPr kumimoji="1" lang="ja-JP" altLang="en-US" sz="1100" dirty="0">
                <a:latin typeface="ＭＳ 明朝" panose="02020609040205080304" pitchFamily="17" charset="-128"/>
                <a:ea typeface="ＭＳ 明朝" panose="02020609040205080304" pitchFamily="17" charset="-128"/>
              </a:rPr>
              <a:t>ルーター</a:t>
            </a:r>
            <a:r>
              <a:rPr kumimoji="1" lang="en-US" altLang="ja-JP" sz="1100" dirty="0">
                <a:latin typeface="ＭＳ 明朝" panose="02020609040205080304" pitchFamily="17" charset="-128"/>
                <a:ea typeface="ＭＳ 明朝" panose="02020609040205080304" pitchFamily="17" charset="-128"/>
              </a:rPr>
              <a:t>RT02</a:t>
            </a:r>
            <a:r>
              <a:rPr kumimoji="1" lang="ja-JP" altLang="en-US" sz="1100" dirty="0" err="1">
                <a:latin typeface="ＭＳ 明朝" panose="02020609040205080304" pitchFamily="17" charset="-128"/>
                <a:ea typeface="ＭＳ 明朝" panose="02020609040205080304" pitchFamily="17" charset="-128"/>
              </a:rPr>
              <a:t>には</a:t>
            </a:r>
            <a:r>
              <a:rPr kumimoji="1" lang="en-US" altLang="ja-JP" sz="1100" dirty="0">
                <a:latin typeface="ＭＳ 明朝" panose="02020609040205080304" pitchFamily="17" charset="-128"/>
                <a:ea typeface="ＭＳ 明朝" panose="02020609040205080304" pitchFamily="17" charset="-128"/>
              </a:rPr>
              <a:t>10.101.190.0/24</a:t>
            </a:r>
            <a:r>
              <a:rPr kumimoji="1" lang="ja-JP" altLang="en-US" sz="1100" dirty="0">
                <a:latin typeface="ＭＳ 明朝" panose="02020609040205080304" pitchFamily="17" charset="-128"/>
                <a:ea typeface="ＭＳ 明朝" panose="02020609040205080304" pitchFamily="17" charset="-128"/>
              </a:rPr>
              <a:t>のネットワーク情報がある。</a:t>
            </a:r>
          </a:p>
        </p:txBody>
      </p:sp>
      <p:sp>
        <p:nvSpPr>
          <p:cNvPr id="26" name="テキスト ボックス 25">
            <a:extLst>
              <a:ext uri="{FF2B5EF4-FFF2-40B4-BE49-F238E27FC236}">
                <a16:creationId xmlns:a16="http://schemas.microsoft.com/office/drawing/2014/main" id="{8A658F35-78F9-408E-A14B-AEA51C9429F2}"/>
              </a:ext>
            </a:extLst>
          </p:cNvPr>
          <p:cNvSpPr txBox="1"/>
          <p:nvPr/>
        </p:nvSpPr>
        <p:spPr>
          <a:xfrm>
            <a:off x="6090801" y="2882976"/>
            <a:ext cx="3711272" cy="261610"/>
          </a:xfrm>
          <a:prstGeom prst="rect">
            <a:avLst/>
          </a:prstGeom>
          <a:noFill/>
        </p:spPr>
        <p:txBody>
          <a:bodyPr wrap="none" rtlCol="0">
            <a:spAutoFit/>
          </a:bodyPr>
          <a:lstStyle/>
          <a:p>
            <a:r>
              <a:rPr lang="en-US" altLang="ja-JP" sz="1100" dirty="0" err="1">
                <a:latin typeface="ＭＳ 明朝" panose="02020609040205080304" pitchFamily="17" charset="-128"/>
                <a:ea typeface="ＭＳ 明朝" panose="02020609040205080304" pitchFamily="17" charset="-128"/>
              </a:rPr>
              <a:t>Untrust</a:t>
            </a:r>
            <a:r>
              <a:rPr lang="ja-JP" altLang="en-US" sz="1100" dirty="0">
                <a:latin typeface="ＭＳ 明朝" panose="02020609040205080304" pitchFamily="17" charset="-128"/>
                <a:ea typeface="ＭＳ 明朝" panose="02020609040205080304" pitchFamily="17" charset="-128"/>
              </a:rPr>
              <a:t>から</a:t>
            </a:r>
            <a:r>
              <a:rPr lang="en-US" altLang="ja-JP" sz="1100" dirty="0">
                <a:latin typeface="ＭＳ 明朝" panose="02020609040205080304" pitchFamily="17" charset="-128"/>
                <a:ea typeface="ＭＳ 明朝" panose="02020609040205080304" pitchFamily="17" charset="-128"/>
              </a:rPr>
              <a:t>Trust</a:t>
            </a:r>
            <a:r>
              <a:rPr lang="ja-JP" altLang="en-US" sz="1100" dirty="0">
                <a:latin typeface="ＭＳ 明朝" panose="02020609040205080304" pitchFamily="17" charset="-128"/>
                <a:ea typeface="ＭＳ 明朝" panose="02020609040205080304" pitchFamily="17" charset="-128"/>
              </a:rPr>
              <a:t>への</a:t>
            </a:r>
            <a:r>
              <a:rPr lang="en-US" altLang="ja-JP" sz="1100" dirty="0">
                <a:latin typeface="ＭＳ 明朝" panose="02020609040205080304" pitchFamily="17" charset="-128"/>
                <a:ea typeface="ＭＳ 明朝" panose="02020609040205080304" pitchFamily="17" charset="-128"/>
              </a:rPr>
              <a:t>HTTP</a:t>
            </a:r>
            <a:r>
              <a:rPr lang="ja-JP" altLang="en-US" sz="1100" dirty="0">
                <a:latin typeface="ＭＳ 明朝" panose="02020609040205080304" pitchFamily="17" charset="-128"/>
                <a:ea typeface="ＭＳ 明朝" panose="02020609040205080304" pitchFamily="17" charset="-128"/>
              </a:rPr>
              <a:t>通信を許可 </a:t>
            </a:r>
            <a:r>
              <a:rPr lang="en-US" altLang="ja-JP" sz="1100" dirty="0">
                <a:latin typeface="ＭＳ 明朝" panose="02020609040205080304" pitchFamily="17" charset="-128"/>
                <a:ea typeface="ＭＳ 明朝" panose="02020609040205080304" pitchFamily="17" charset="-128"/>
              </a:rPr>
              <a:t>(RJTZ-DII-FW01)</a:t>
            </a:r>
            <a:endParaRPr kumimoji="1" lang="ja-JP" altLang="en-US" sz="1100" dirty="0">
              <a:latin typeface="ＭＳ 明朝" panose="02020609040205080304" pitchFamily="17" charset="-128"/>
              <a:ea typeface="ＭＳ 明朝" panose="02020609040205080304" pitchFamily="17" charset="-128"/>
            </a:endParaRPr>
          </a:p>
        </p:txBody>
      </p:sp>
      <p:sp>
        <p:nvSpPr>
          <p:cNvPr id="27" name="矢印: 下 26">
            <a:extLst>
              <a:ext uri="{FF2B5EF4-FFF2-40B4-BE49-F238E27FC236}">
                <a16:creationId xmlns:a16="http://schemas.microsoft.com/office/drawing/2014/main" id="{E3FE90B9-5679-4AF8-AE3E-DEB97D5A92CC}"/>
              </a:ext>
            </a:extLst>
          </p:cNvPr>
          <p:cNvSpPr/>
          <p:nvPr/>
        </p:nvSpPr>
        <p:spPr>
          <a:xfrm rot="10800000">
            <a:off x="1473864" y="3464857"/>
            <a:ext cx="125919" cy="169915"/>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1BC23C71-65F2-4E90-BBD2-2170CD688ECD}"/>
              </a:ext>
            </a:extLst>
          </p:cNvPr>
          <p:cNvSpPr/>
          <p:nvPr/>
        </p:nvSpPr>
        <p:spPr>
          <a:xfrm rot="5400000">
            <a:off x="1792730" y="3687206"/>
            <a:ext cx="125919" cy="169915"/>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矢印: 下 28">
            <a:extLst>
              <a:ext uri="{FF2B5EF4-FFF2-40B4-BE49-F238E27FC236}">
                <a16:creationId xmlns:a16="http://schemas.microsoft.com/office/drawing/2014/main" id="{B0830C6F-A137-4646-A9CB-1F634CACA28B}"/>
              </a:ext>
            </a:extLst>
          </p:cNvPr>
          <p:cNvSpPr/>
          <p:nvPr/>
        </p:nvSpPr>
        <p:spPr>
          <a:xfrm rot="10800000">
            <a:off x="2227889" y="3787873"/>
            <a:ext cx="125919" cy="169915"/>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矢印: 下 29">
            <a:extLst>
              <a:ext uri="{FF2B5EF4-FFF2-40B4-BE49-F238E27FC236}">
                <a16:creationId xmlns:a16="http://schemas.microsoft.com/office/drawing/2014/main" id="{C6154618-B267-4D11-8984-FDC6C44D9F13}"/>
              </a:ext>
            </a:extLst>
          </p:cNvPr>
          <p:cNvSpPr/>
          <p:nvPr/>
        </p:nvSpPr>
        <p:spPr>
          <a:xfrm rot="10800000" flipV="1">
            <a:off x="4317731" y="3403497"/>
            <a:ext cx="125919" cy="166713"/>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矢印: 下 30">
            <a:extLst>
              <a:ext uri="{FF2B5EF4-FFF2-40B4-BE49-F238E27FC236}">
                <a16:creationId xmlns:a16="http://schemas.microsoft.com/office/drawing/2014/main" id="{C81E9F8A-86B5-4DB2-A74F-381B43DEA3F9}"/>
              </a:ext>
            </a:extLst>
          </p:cNvPr>
          <p:cNvSpPr/>
          <p:nvPr/>
        </p:nvSpPr>
        <p:spPr>
          <a:xfrm rot="10800000" flipV="1">
            <a:off x="2638997" y="3791075"/>
            <a:ext cx="125919" cy="166713"/>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矢印: 下 31">
            <a:extLst>
              <a:ext uri="{FF2B5EF4-FFF2-40B4-BE49-F238E27FC236}">
                <a16:creationId xmlns:a16="http://schemas.microsoft.com/office/drawing/2014/main" id="{C14F1BE5-0369-4C87-B4A8-9FF3FC15CFBF}"/>
              </a:ext>
            </a:extLst>
          </p:cNvPr>
          <p:cNvSpPr/>
          <p:nvPr/>
        </p:nvSpPr>
        <p:spPr>
          <a:xfrm rot="5400000">
            <a:off x="3497437" y="3464856"/>
            <a:ext cx="125919" cy="169915"/>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矢印: 下 32">
            <a:extLst>
              <a:ext uri="{FF2B5EF4-FFF2-40B4-BE49-F238E27FC236}">
                <a16:creationId xmlns:a16="http://schemas.microsoft.com/office/drawing/2014/main" id="{7618FA1E-681B-4EDF-9174-67E2C21FD431}"/>
              </a:ext>
            </a:extLst>
          </p:cNvPr>
          <p:cNvSpPr/>
          <p:nvPr/>
        </p:nvSpPr>
        <p:spPr>
          <a:xfrm>
            <a:off x="4321256" y="2876257"/>
            <a:ext cx="125919" cy="159750"/>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矢印: 下 33">
            <a:extLst>
              <a:ext uri="{FF2B5EF4-FFF2-40B4-BE49-F238E27FC236}">
                <a16:creationId xmlns:a16="http://schemas.microsoft.com/office/drawing/2014/main" id="{3BDA3BF7-DA1C-4368-84F1-11B6247BFAC6}"/>
              </a:ext>
            </a:extLst>
          </p:cNvPr>
          <p:cNvSpPr/>
          <p:nvPr/>
        </p:nvSpPr>
        <p:spPr>
          <a:xfrm>
            <a:off x="4317731" y="2336038"/>
            <a:ext cx="125919" cy="104863"/>
          </a:xfrm>
          <a:prstGeom prst="down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5" name="図 34">
            <a:extLst>
              <a:ext uri="{FF2B5EF4-FFF2-40B4-BE49-F238E27FC236}">
                <a16:creationId xmlns:a16="http://schemas.microsoft.com/office/drawing/2014/main" id="{FBFED98E-4EC1-4E7D-978B-15AF7DFE5140}"/>
              </a:ext>
            </a:extLst>
          </p:cNvPr>
          <p:cNvPicPr>
            <a:picLocks noChangeAspect="1"/>
          </p:cNvPicPr>
          <p:nvPr/>
        </p:nvPicPr>
        <p:blipFill>
          <a:blip r:embed="rId4"/>
          <a:stretch>
            <a:fillRect/>
          </a:stretch>
        </p:blipFill>
        <p:spPr>
          <a:xfrm>
            <a:off x="6172732" y="3826017"/>
            <a:ext cx="5883156" cy="690735"/>
          </a:xfrm>
          <a:prstGeom prst="rect">
            <a:avLst/>
          </a:prstGeom>
          <a:ln>
            <a:solidFill>
              <a:schemeClr val="tx1"/>
            </a:solidFill>
          </a:ln>
        </p:spPr>
      </p:pic>
      <p:pic>
        <p:nvPicPr>
          <p:cNvPr id="36" name="図 35">
            <a:extLst>
              <a:ext uri="{FF2B5EF4-FFF2-40B4-BE49-F238E27FC236}">
                <a16:creationId xmlns:a16="http://schemas.microsoft.com/office/drawing/2014/main" id="{9AA64DF4-2CCE-4A6D-B281-922BD95D588A}"/>
              </a:ext>
            </a:extLst>
          </p:cNvPr>
          <p:cNvPicPr>
            <a:picLocks noChangeAspect="1"/>
          </p:cNvPicPr>
          <p:nvPr/>
        </p:nvPicPr>
        <p:blipFill>
          <a:blip r:embed="rId5"/>
          <a:stretch>
            <a:fillRect/>
          </a:stretch>
        </p:blipFill>
        <p:spPr>
          <a:xfrm>
            <a:off x="6172732" y="3226246"/>
            <a:ext cx="5380497" cy="128107"/>
          </a:xfrm>
          <a:prstGeom prst="rect">
            <a:avLst/>
          </a:prstGeom>
          <a:ln>
            <a:solidFill>
              <a:schemeClr val="tx1"/>
            </a:solidFill>
          </a:ln>
        </p:spPr>
      </p:pic>
      <p:pic>
        <p:nvPicPr>
          <p:cNvPr id="37" name="図 36">
            <a:extLst>
              <a:ext uri="{FF2B5EF4-FFF2-40B4-BE49-F238E27FC236}">
                <a16:creationId xmlns:a16="http://schemas.microsoft.com/office/drawing/2014/main" id="{F265085E-6E34-4FB7-8ADD-5B3264C1CABD}"/>
              </a:ext>
            </a:extLst>
          </p:cNvPr>
          <p:cNvPicPr>
            <a:picLocks noChangeAspect="1"/>
          </p:cNvPicPr>
          <p:nvPr/>
        </p:nvPicPr>
        <p:blipFill>
          <a:blip r:embed="rId6"/>
          <a:stretch>
            <a:fillRect/>
          </a:stretch>
        </p:blipFill>
        <p:spPr>
          <a:xfrm>
            <a:off x="6172732" y="3612245"/>
            <a:ext cx="4916142" cy="153839"/>
          </a:xfrm>
          <a:prstGeom prst="rect">
            <a:avLst/>
          </a:prstGeom>
          <a:ln>
            <a:solidFill>
              <a:schemeClr val="tx1"/>
            </a:solidFill>
          </a:ln>
        </p:spPr>
      </p:pic>
      <p:sp>
        <p:nvSpPr>
          <p:cNvPr id="38" name="テキスト ボックス 37">
            <a:extLst>
              <a:ext uri="{FF2B5EF4-FFF2-40B4-BE49-F238E27FC236}">
                <a16:creationId xmlns:a16="http://schemas.microsoft.com/office/drawing/2014/main" id="{37A44BAA-8AF9-4F23-A6AF-18BD7B0838EA}"/>
              </a:ext>
            </a:extLst>
          </p:cNvPr>
          <p:cNvSpPr txBox="1"/>
          <p:nvPr/>
        </p:nvSpPr>
        <p:spPr>
          <a:xfrm>
            <a:off x="6149270" y="3321904"/>
            <a:ext cx="2428870" cy="246221"/>
          </a:xfrm>
          <a:prstGeom prst="rect">
            <a:avLst/>
          </a:prstGeom>
          <a:noFill/>
        </p:spPr>
        <p:txBody>
          <a:bodyPr wrap="none" rtlCol="0">
            <a:spAutoFit/>
          </a:bodyPr>
          <a:lstStyle/>
          <a:p>
            <a:r>
              <a:rPr kumimoji="1" lang="en-US" altLang="ja-JP" sz="1000" dirty="0">
                <a:latin typeface="ＭＳ 明朝" panose="02020609040205080304" pitchFamily="17" charset="-128"/>
                <a:ea typeface="ＭＳ 明朝" panose="02020609040205080304" pitchFamily="17" charset="-128"/>
              </a:rPr>
              <a:t>※10.107.190.* </a:t>
            </a:r>
            <a:r>
              <a:rPr kumimoji="1" lang="ja-JP" altLang="en-US" sz="1000" dirty="0">
                <a:latin typeface="ＭＳ 明朝" panose="02020609040205080304" pitchFamily="17" charset="-128"/>
                <a:ea typeface="ＭＳ 明朝" panose="02020609040205080304" pitchFamily="17" charset="-128"/>
              </a:rPr>
              <a:t>は春日のネットワーク</a:t>
            </a:r>
          </a:p>
        </p:txBody>
      </p:sp>
      <p:sp>
        <p:nvSpPr>
          <p:cNvPr id="2" name="正方形/長方形 1">
            <a:extLst>
              <a:ext uri="{FF2B5EF4-FFF2-40B4-BE49-F238E27FC236}">
                <a16:creationId xmlns:a16="http://schemas.microsoft.com/office/drawing/2014/main" id="{98EA5049-0495-4926-8AC2-FA406E7398A9}"/>
              </a:ext>
            </a:extLst>
          </p:cNvPr>
          <p:cNvSpPr/>
          <p:nvPr/>
        </p:nvSpPr>
        <p:spPr>
          <a:xfrm>
            <a:off x="3024000" y="4956026"/>
            <a:ext cx="6096000" cy="1754326"/>
          </a:xfrm>
          <a:prstGeom prst="rect">
            <a:avLst/>
          </a:prstGeom>
        </p:spPr>
        <p:txBody>
          <a:bodyPr>
            <a:spAutoFit/>
          </a:bodyPr>
          <a:lstStyle/>
          <a:p>
            <a:pPr lvl="0">
              <a:defRPr/>
            </a:pPr>
            <a:r>
              <a:rPr lang="ja-JP" altLang="en-US" sz="1200" dirty="0">
                <a:latin typeface="ＭＳ 明朝" panose="02020609040205080304" pitchFamily="17" charset="-128"/>
                <a:ea typeface="ＭＳ 明朝" panose="02020609040205080304" pitchFamily="17" charset="-128"/>
              </a:rPr>
              <a:t>攻撃が成立する条件</a:t>
            </a:r>
            <a:endParaRPr lang="en-US" altLang="ja-JP" sz="1200" dirty="0">
              <a:latin typeface="ＭＳ 明朝" panose="02020609040205080304" pitchFamily="17" charset="-128"/>
              <a:ea typeface="ＭＳ 明朝" panose="02020609040205080304" pitchFamily="17" charset="-128"/>
            </a:endParaRPr>
          </a:p>
          <a:p>
            <a:pPr lvl="0">
              <a:defRPr/>
            </a:pPr>
            <a:r>
              <a:rPr lang="ja-JP" altLang="en-US" sz="1200" dirty="0">
                <a:latin typeface="ＭＳ 明朝" panose="02020609040205080304" pitchFamily="17" charset="-128"/>
                <a:ea typeface="ＭＳ 明朝" panose="02020609040205080304" pitchFamily="17" charset="-128"/>
              </a:rPr>
              <a:t>　① </a:t>
            </a:r>
            <a:r>
              <a:rPr lang="en-US" altLang="ja-JP" sz="1200" dirty="0" err="1">
                <a:latin typeface="ＭＳ 明朝" panose="02020609040205080304" pitchFamily="17" charset="-128"/>
                <a:ea typeface="ＭＳ 明朝" panose="02020609040205080304" pitchFamily="17" charset="-128"/>
              </a:rPr>
              <a:t>Junos</a:t>
            </a:r>
            <a:r>
              <a:rPr lang="en-US" altLang="ja-JP" sz="1200" dirty="0">
                <a:latin typeface="ＭＳ 明朝" panose="02020609040205080304" pitchFamily="17" charset="-128"/>
                <a:ea typeface="ＭＳ 明朝" panose="02020609040205080304" pitchFamily="17" charset="-128"/>
              </a:rPr>
              <a:t> OS</a:t>
            </a:r>
            <a:r>
              <a:rPr lang="ja-JP" altLang="en-US" sz="1200" dirty="0">
                <a:latin typeface="ＭＳ 明朝" panose="02020609040205080304" pitchFamily="17" charset="-128"/>
                <a:ea typeface="ＭＳ 明朝" panose="02020609040205080304" pitchFamily="17" charset="-128"/>
              </a:rPr>
              <a:t>のバージョンが以下のいずれかに該当すること。</a:t>
            </a:r>
            <a:endParaRPr lang="en-US" altLang="ja-JP" sz="1200" dirty="0">
              <a:latin typeface="ＭＳ 明朝" panose="02020609040205080304" pitchFamily="17" charset="-128"/>
              <a:ea typeface="ＭＳ 明朝" panose="02020609040205080304" pitchFamily="17" charset="-128"/>
            </a:endParaRPr>
          </a:p>
          <a:p>
            <a:pPr lvl="0">
              <a:defRPr/>
            </a:pPr>
            <a:r>
              <a:rPr lang="ja-JP" altLang="en-US" sz="1200" dirty="0">
                <a:latin typeface="ＭＳ 明朝" panose="02020609040205080304" pitchFamily="17" charset="-128"/>
                <a:ea typeface="ＭＳ 明朝" panose="02020609040205080304" pitchFamily="17" charset="-128"/>
              </a:rPr>
              <a:t>　　 </a:t>
            </a:r>
            <a:r>
              <a:rPr lang="en-US" altLang="ja-JP" sz="1200" dirty="0">
                <a:latin typeface="ＭＳ 明朝" panose="02020609040205080304" pitchFamily="17" charset="-128"/>
                <a:ea typeface="ＭＳ 明朝" panose="02020609040205080304" pitchFamily="17" charset="-128"/>
              </a:rPr>
              <a:t>- </a:t>
            </a:r>
            <a:r>
              <a:rPr lang="en-US" altLang="ja-JP" sz="1200" b="1" dirty="0">
                <a:solidFill>
                  <a:srgbClr val="FF0000"/>
                </a:solidFill>
                <a:latin typeface="ＭＳ 明朝" panose="02020609040205080304" pitchFamily="17" charset="-128"/>
                <a:ea typeface="ＭＳ 明朝" panose="02020609040205080304" pitchFamily="17" charset="-128"/>
              </a:rPr>
              <a:t>20.4R3-S8</a:t>
            </a:r>
            <a:r>
              <a:rPr lang="ja-JP" altLang="en-US" sz="1200" b="1" dirty="0">
                <a:solidFill>
                  <a:srgbClr val="FF0000"/>
                </a:solidFill>
                <a:latin typeface="ＭＳ 明朝" panose="02020609040205080304" pitchFamily="17" charset="-128"/>
                <a:ea typeface="ＭＳ 明朝" panose="02020609040205080304" pitchFamily="17" charset="-128"/>
              </a:rPr>
              <a:t>より前のバージョン　← 該当</a:t>
            </a:r>
            <a:endParaRPr lang="en-US" altLang="ja-JP" sz="1200" b="1" dirty="0">
              <a:solidFill>
                <a:srgbClr val="FF0000"/>
              </a:solidFill>
              <a:latin typeface="ＭＳ 明朝" panose="02020609040205080304" pitchFamily="17" charset="-128"/>
              <a:ea typeface="ＭＳ 明朝" panose="02020609040205080304" pitchFamily="17" charset="-128"/>
            </a:endParaRPr>
          </a:p>
          <a:p>
            <a:pPr lvl="0">
              <a:defRPr/>
            </a:pPr>
            <a:endParaRPr lang="en-US" altLang="ja-JP" sz="1200" dirty="0">
              <a:latin typeface="ＭＳ 明朝" panose="02020609040205080304" pitchFamily="17" charset="-128"/>
              <a:ea typeface="ＭＳ 明朝" panose="02020609040205080304" pitchFamily="17" charset="-128"/>
            </a:endParaRPr>
          </a:p>
          <a:p>
            <a:pPr lvl="0">
              <a:defRPr/>
            </a:pPr>
            <a:r>
              <a:rPr lang="ja-JP" altLang="en-US" sz="1200" dirty="0">
                <a:latin typeface="ＭＳ 明朝" panose="02020609040205080304" pitchFamily="17" charset="-128"/>
                <a:ea typeface="ＭＳ 明朝" panose="02020609040205080304" pitchFamily="17" charset="-128"/>
              </a:rPr>
              <a:t>　② </a:t>
            </a:r>
            <a:r>
              <a:rPr lang="en-US" altLang="ja-JP" sz="1200" dirty="0">
                <a:latin typeface="ＭＳ 明朝" panose="02020609040205080304" pitchFamily="17" charset="-128"/>
                <a:ea typeface="ＭＳ 明朝" panose="02020609040205080304" pitchFamily="17" charset="-128"/>
              </a:rPr>
              <a:t>J-Web</a:t>
            </a:r>
            <a:r>
              <a:rPr lang="ja-JP" altLang="en-US" sz="1200" dirty="0">
                <a:latin typeface="ＭＳ 明朝" panose="02020609040205080304" pitchFamily="17" charset="-128"/>
                <a:ea typeface="ＭＳ 明朝" panose="02020609040205080304" pitchFamily="17" charset="-128"/>
              </a:rPr>
              <a:t>が有効であること</a:t>
            </a:r>
            <a:endParaRPr lang="en-US" altLang="ja-JP" sz="1200" dirty="0">
              <a:latin typeface="ＭＳ 明朝" panose="02020609040205080304" pitchFamily="17" charset="-128"/>
              <a:ea typeface="ＭＳ 明朝" panose="02020609040205080304" pitchFamily="17" charset="-128"/>
            </a:endParaRPr>
          </a:p>
          <a:p>
            <a:pPr lvl="0">
              <a:defRPr/>
            </a:pPr>
            <a:r>
              <a:rPr lang="ja-JP" altLang="en-US" sz="1200" dirty="0">
                <a:latin typeface="ＭＳ 明朝" panose="02020609040205080304" pitchFamily="17" charset="-128"/>
                <a:ea typeface="ＭＳ 明朝" panose="02020609040205080304" pitchFamily="17" charset="-128"/>
              </a:rPr>
              <a:t>　   手法１より有効である。</a:t>
            </a:r>
            <a:endParaRPr lang="en-US" altLang="ja-JP" sz="1200" dirty="0">
              <a:latin typeface="ＭＳ 明朝" panose="02020609040205080304" pitchFamily="17" charset="-128"/>
              <a:ea typeface="ＭＳ 明朝" panose="02020609040205080304" pitchFamily="17" charset="-128"/>
            </a:endParaRPr>
          </a:p>
          <a:p>
            <a:pPr lvl="0">
              <a:defRPr/>
            </a:pPr>
            <a:endParaRPr lang="en-US" altLang="ja-JP" sz="1200" dirty="0">
              <a:latin typeface="ＭＳ 明朝" panose="02020609040205080304" pitchFamily="17" charset="-128"/>
              <a:ea typeface="ＭＳ 明朝" panose="02020609040205080304" pitchFamily="17" charset="-128"/>
            </a:endParaRPr>
          </a:p>
          <a:p>
            <a:r>
              <a:rPr lang="ja-JP" altLang="en-US" sz="1200" dirty="0">
                <a:latin typeface="ＭＳ 明朝" panose="02020609040205080304" pitchFamily="17" charset="-128"/>
                <a:ea typeface="ＭＳ 明朝" panose="02020609040205080304" pitchFamily="17" charset="-128"/>
              </a:rPr>
              <a:t>　③ </a:t>
            </a:r>
            <a:r>
              <a:rPr lang="en-US" altLang="ja-JP" sz="1200" dirty="0">
                <a:latin typeface="ＭＳ 明朝" panose="02020609040205080304" pitchFamily="17" charset="-128"/>
                <a:ea typeface="ＭＳ 明朝" panose="02020609040205080304" pitchFamily="17" charset="-128"/>
              </a:rPr>
              <a:t>J-Web</a:t>
            </a:r>
            <a:r>
              <a:rPr lang="ja-JP" altLang="en-US" sz="1200" dirty="0">
                <a:latin typeface="ＭＳ 明朝" panose="02020609040205080304" pitchFamily="17" charset="-128"/>
                <a:ea typeface="ＭＳ 明朝" panose="02020609040205080304" pitchFamily="17" charset="-128"/>
              </a:rPr>
              <a:t>が外部からアクセス可能であること</a:t>
            </a:r>
            <a:endParaRPr lang="en-US" altLang="ja-JP" sz="1200" dirty="0">
              <a:latin typeface="ＭＳ 明朝" panose="02020609040205080304" pitchFamily="17" charset="-128"/>
              <a:ea typeface="ＭＳ 明朝" panose="02020609040205080304" pitchFamily="17" charset="-128"/>
            </a:endParaRPr>
          </a:p>
          <a:p>
            <a:r>
              <a:rPr lang="ja-JP" altLang="en-US" sz="1200" dirty="0">
                <a:latin typeface="ＭＳ 明朝" panose="02020609040205080304" pitchFamily="17" charset="-128"/>
                <a:ea typeface="ＭＳ 明朝" panose="02020609040205080304" pitchFamily="17" charset="-128"/>
              </a:rPr>
              <a:t>　　 手法１よりアクセス可能である。</a:t>
            </a:r>
            <a:endParaRPr lang="en-US" altLang="ja-JP" sz="1200" dirty="0">
              <a:latin typeface="ＭＳ 明朝" panose="02020609040205080304" pitchFamily="17" charset="-128"/>
              <a:ea typeface="ＭＳ 明朝" panose="02020609040205080304" pitchFamily="17" charset="-128"/>
            </a:endParaRPr>
          </a:p>
        </p:txBody>
      </p:sp>
      <p:sp>
        <p:nvSpPr>
          <p:cNvPr id="39" name="正方形/長方形 38">
            <a:extLst>
              <a:ext uri="{FF2B5EF4-FFF2-40B4-BE49-F238E27FC236}">
                <a16:creationId xmlns:a16="http://schemas.microsoft.com/office/drawing/2014/main" id="{42A5D88C-9015-44BE-8584-588D8B710E0D}"/>
              </a:ext>
            </a:extLst>
          </p:cNvPr>
          <p:cNvSpPr/>
          <p:nvPr/>
        </p:nvSpPr>
        <p:spPr>
          <a:xfrm>
            <a:off x="6189187" y="4521933"/>
            <a:ext cx="6096000" cy="461665"/>
          </a:xfrm>
          <a:prstGeom prst="rect">
            <a:avLst/>
          </a:prstGeom>
        </p:spPr>
        <p:txBody>
          <a:bodyPr>
            <a:spAutoFit/>
          </a:bodyPr>
          <a:lstStyle/>
          <a:p>
            <a:pPr lvl="0">
              <a:defRPr/>
            </a:pPr>
            <a:r>
              <a:rPr lang="ja-JP" altLang="en-US" sz="1200" dirty="0">
                <a:latin typeface="ＭＳ 明朝" panose="02020609040205080304" pitchFamily="17" charset="-128"/>
                <a:ea typeface="ＭＳ 明朝" panose="02020609040205080304" pitchFamily="17" charset="-128"/>
              </a:rPr>
              <a:t>この設定ファイルは</a:t>
            </a:r>
            <a:r>
              <a:rPr lang="en-US" altLang="ja-JP" sz="1200" dirty="0">
                <a:latin typeface="ＭＳ 明朝" panose="02020609040205080304" pitchFamily="17" charset="-128"/>
                <a:ea typeface="ＭＳ 明朝" panose="02020609040205080304" pitchFamily="17" charset="-128"/>
              </a:rPr>
              <a:t>DII</a:t>
            </a:r>
            <a:r>
              <a:rPr lang="ja-JP" altLang="en-US" sz="1200" dirty="0">
                <a:latin typeface="ＭＳ 明朝" panose="02020609040205080304" pitchFamily="17" charset="-128"/>
                <a:ea typeface="ＭＳ 明朝" panose="02020609040205080304" pitchFamily="17" charset="-128"/>
              </a:rPr>
              <a:t>側のものであるが</a:t>
            </a:r>
            <a:r>
              <a:rPr lang="en-US" altLang="ja-JP" sz="1200" dirty="0">
                <a:latin typeface="ＭＳ 明朝" panose="02020609040205080304" pitchFamily="17" charset="-128"/>
                <a:ea typeface="ＭＳ 明朝" panose="02020609040205080304" pitchFamily="17" charset="-128"/>
              </a:rPr>
              <a:t>FACE</a:t>
            </a:r>
            <a:r>
              <a:rPr lang="ja-JP" altLang="en-US" sz="1200" dirty="0">
                <a:latin typeface="ＭＳ 明朝" panose="02020609040205080304" pitchFamily="17" charset="-128"/>
                <a:ea typeface="ＭＳ 明朝" panose="02020609040205080304" pitchFamily="17" charset="-128"/>
              </a:rPr>
              <a:t>側にも同様の設定が組み込まれている</a:t>
            </a:r>
            <a:endParaRPr lang="en-US" altLang="ja-JP" sz="1200" dirty="0">
              <a:latin typeface="ＭＳ 明朝" panose="02020609040205080304" pitchFamily="17" charset="-128"/>
              <a:ea typeface="ＭＳ 明朝" panose="02020609040205080304" pitchFamily="17" charset="-128"/>
            </a:endParaRPr>
          </a:p>
          <a:p>
            <a:pPr lvl="0">
              <a:defRPr/>
            </a:pPr>
            <a:r>
              <a:rPr lang="ja-JP" altLang="en-US" sz="1200" dirty="0">
                <a:latin typeface="ＭＳ 明朝" panose="02020609040205080304" pitchFamily="17" charset="-128"/>
                <a:ea typeface="ＭＳ 明朝" panose="02020609040205080304" pitchFamily="17" charset="-128"/>
              </a:rPr>
              <a:t>ものと思慮</a:t>
            </a:r>
            <a:endParaRPr lang="en-US" altLang="ja-JP" sz="12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15745117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28C43062-54B4-4B00-BAE4-40999FE2A1E5}"/>
              </a:ext>
            </a:extLst>
          </p:cNvPr>
          <p:cNvPicPr>
            <a:picLocks noChangeAspect="1"/>
          </p:cNvPicPr>
          <p:nvPr/>
        </p:nvPicPr>
        <p:blipFill>
          <a:blip r:embed="rId2"/>
          <a:stretch>
            <a:fillRect/>
          </a:stretch>
        </p:blipFill>
        <p:spPr>
          <a:xfrm>
            <a:off x="7700726" y="2401080"/>
            <a:ext cx="652223" cy="521778"/>
          </a:xfrm>
          <a:prstGeom prst="rect">
            <a:avLst/>
          </a:prstGeom>
        </p:spPr>
      </p:pic>
      <p:sp>
        <p:nvSpPr>
          <p:cNvPr id="2" name="タイトル 1">
            <a:extLst>
              <a:ext uri="{FF2B5EF4-FFF2-40B4-BE49-F238E27FC236}">
                <a16:creationId xmlns:a16="http://schemas.microsoft.com/office/drawing/2014/main" id="{83F14949-9CE5-45BE-BC5D-3300EEEA9F1F}"/>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構成図（簡略化）想定侵入経路</a:t>
            </a:r>
          </a:p>
        </p:txBody>
      </p:sp>
      <p:cxnSp>
        <p:nvCxnSpPr>
          <p:cNvPr id="3" name="直線コネクタ 2">
            <a:extLst>
              <a:ext uri="{FF2B5EF4-FFF2-40B4-BE49-F238E27FC236}">
                <a16:creationId xmlns:a16="http://schemas.microsoft.com/office/drawing/2014/main" id="{85C36197-3526-4A6D-8E36-9C0A7CAB5B5F}"/>
              </a:ext>
            </a:extLst>
          </p:cNvPr>
          <p:cNvCxnSpPr>
            <a:cxnSpLocks/>
          </p:cNvCxnSpPr>
          <p:nvPr/>
        </p:nvCxnSpPr>
        <p:spPr>
          <a:xfrm>
            <a:off x="3886116" y="927651"/>
            <a:ext cx="0" cy="15320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00452DCD-78B9-40D6-8578-DFF3494CB6BD}"/>
              </a:ext>
            </a:extLst>
          </p:cNvPr>
          <p:cNvSpPr txBox="1"/>
          <p:nvPr/>
        </p:nvSpPr>
        <p:spPr>
          <a:xfrm>
            <a:off x="3275276"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5" name="テキスト ボックス 4">
            <a:extLst>
              <a:ext uri="{FF2B5EF4-FFF2-40B4-BE49-F238E27FC236}">
                <a16:creationId xmlns:a16="http://schemas.microsoft.com/office/drawing/2014/main" id="{EC25BA71-091D-4C25-9737-3F7773015E44}"/>
              </a:ext>
            </a:extLst>
          </p:cNvPr>
          <p:cNvSpPr txBox="1"/>
          <p:nvPr/>
        </p:nvSpPr>
        <p:spPr>
          <a:xfrm>
            <a:off x="3275274" y="1919635"/>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6" name="雲 5">
            <a:extLst>
              <a:ext uri="{FF2B5EF4-FFF2-40B4-BE49-F238E27FC236}">
                <a16:creationId xmlns:a16="http://schemas.microsoft.com/office/drawing/2014/main" id="{B7BC6461-E36C-4433-8B9D-40B66271D6B7}"/>
              </a:ext>
            </a:extLst>
          </p:cNvPr>
          <p:cNvSpPr/>
          <p:nvPr/>
        </p:nvSpPr>
        <p:spPr>
          <a:xfrm>
            <a:off x="3061355" y="742689"/>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latin typeface="ＭＳ 明朝" panose="02020609040205080304" pitchFamily="17" charset="-128"/>
                <a:ea typeface="ＭＳ 明朝" panose="02020609040205080304" pitchFamily="17" charset="-128"/>
              </a:rPr>
              <a:t>DII</a:t>
            </a:r>
            <a:endParaRPr kumimoji="1" lang="ja-JP" altLang="en-US" sz="2800" dirty="0">
              <a:solidFill>
                <a:schemeClr val="tx1"/>
              </a:solidFill>
              <a:latin typeface="ＭＳ 明朝" panose="02020609040205080304" pitchFamily="17" charset="-128"/>
              <a:ea typeface="ＭＳ 明朝" panose="02020609040205080304" pitchFamily="17" charset="-128"/>
            </a:endParaRPr>
          </a:p>
        </p:txBody>
      </p:sp>
      <p:cxnSp>
        <p:nvCxnSpPr>
          <p:cNvPr id="7" name="直線コネクタ 6">
            <a:extLst>
              <a:ext uri="{FF2B5EF4-FFF2-40B4-BE49-F238E27FC236}">
                <a16:creationId xmlns:a16="http://schemas.microsoft.com/office/drawing/2014/main" id="{CF691258-08DC-41C9-A8A7-F893C0F6DFB0}"/>
              </a:ext>
            </a:extLst>
          </p:cNvPr>
          <p:cNvCxnSpPr>
            <a:cxnSpLocks/>
            <a:endCxn id="16" idx="0"/>
          </p:cNvCxnSpPr>
          <p:nvPr/>
        </p:nvCxnSpPr>
        <p:spPr>
          <a:xfrm>
            <a:off x="8001671" y="818919"/>
            <a:ext cx="0" cy="1582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6A1A08AD-7D7D-4CF7-8D75-DD26E2D3B442}"/>
              </a:ext>
            </a:extLst>
          </p:cNvPr>
          <p:cNvSpPr txBox="1"/>
          <p:nvPr/>
        </p:nvSpPr>
        <p:spPr>
          <a:xfrm>
            <a:off x="7389772"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9" name="テキスト ボックス 8">
            <a:extLst>
              <a:ext uri="{FF2B5EF4-FFF2-40B4-BE49-F238E27FC236}">
                <a16:creationId xmlns:a16="http://schemas.microsoft.com/office/drawing/2014/main" id="{6CD33659-78AC-4077-B2F4-810748427629}"/>
              </a:ext>
            </a:extLst>
          </p:cNvPr>
          <p:cNvSpPr txBox="1"/>
          <p:nvPr/>
        </p:nvSpPr>
        <p:spPr>
          <a:xfrm>
            <a:off x="7389772" y="1905114"/>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10" name="雲 9">
            <a:extLst>
              <a:ext uri="{FF2B5EF4-FFF2-40B4-BE49-F238E27FC236}">
                <a16:creationId xmlns:a16="http://schemas.microsoft.com/office/drawing/2014/main" id="{6CC9B7F5-56AE-497C-9C72-F4F0AEDE82EA}"/>
              </a:ext>
            </a:extLst>
          </p:cNvPr>
          <p:cNvSpPr/>
          <p:nvPr/>
        </p:nvSpPr>
        <p:spPr>
          <a:xfrm>
            <a:off x="7125331" y="763685"/>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latin typeface="ＭＳ 明朝" panose="02020609040205080304" pitchFamily="17" charset="-128"/>
                <a:ea typeface="ＭＳ 明朝" panose="02020609040205080304" pitchFamily="17" charset="-128"/>
              </a:rPr>
              <a:t>FACE</a:t>
            </a:r>
            <a:endParaRPr kumimoji="1" lang="ja-JP" altLang="en-US" sz="2000" dirty="0">
              <a:solidFill>
                <a:schemeClr val="tx1"/>
              </a:solidFill>
              <a:latin typeface="ＭＳ 明朝" panose="02020609040205080304" pitchFamily="17" charset="-128"/>
              <a:ea typeface="ＭＳ 明朝" panose="02020609040205080304" pitchFamily="17" charset="-128"/>
            </a:endParaRPr>
          </a:p>
        </p:txBody>
      </p:sp>
      <p:sp>
        <p:nvSpPr>
          <p:cNvPr id="11" name="四角形: 角を丸くする 10">
            <a:extLst>
              <a:ext uri="{FF2B5EF4-FFF2-40B4-BE49-F238E27FC236}">
                <a16:creationId xmlns:a16="http://schemas.microsoft.com/office/drawing/2014/main" id="{DB0BA2E2-1F40-4C6B-B933-FDE65682BEC2}"/>
              </a:ext>
            </a:extLst>
          </p:cNvPr>
          <p:cNvSpPr/>
          <p:nvPr/>
        </p:nvSpPr>
        <p:spPr>
          <a:xfrm>
            <a:off x="77258" y="3131346"/>
            <a:ext cx="11848985" cy="173791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cxnSp>
        <p:nvCxnSpPr>
          <p:cNvPr id="12" name="直線コネクタ 11">
            <a:extLst>
              <a:ext uri="{FF2B5EF4-FFF2-40B4-BE49-F238E27FC236}">
                <a16:creationId xmlns:a16="http://schemas.microsoft.com/office/drawing/2014/main" id="{8A661DE9-3345-4EAF-83D5-0F8B6FED7CF3}"/>
              </a:ext>
            </a:extLst>
          </p:cNvPr>
          <p:cNvCxnSpPr>
            <a:cxnSpLocks/>
          </p:cNvCxnSpPr>
          <p:nvPr/>
        </p:nvCxnSpPr>
        <p:spPr>
          <a:xfrm>
            <a:off x="1335663" y="2609568"/>
            <a:ext cx="0" cy="7873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FBA80E60-4CD5-445F-922E-9CF18E62EA7B}"/>
              </a:ext>
            </a:extLst>
          </p:cNvPr>
          <p:cNvPicPr>
            <a:picLocks noChangeAspect="1"/>
          </p:cNvPicPr>
          <p:nvPr/>
        </p:nvPicPr>
        <p:blipFill>
          <a:blip r:embed="rId3"/>
          <a:stretch>
            <a:fillRect/>
          </a:stretch>
        </p:blipFill>
        <p:spPr>
          <a:xfrm>
            <a:off x="374164" y="5285486"/>
            <a:ext cx="1018590" cy="533467"/>
          </a:xfrm>
          <a:prstGeom prst="rect">
            <a:avLst/>
          </a:prstGeom>
          <a:ln>
            <a:solidFill>
              <a:schemeClr val="tx1"/>
            </a:solidFill>
          </a:ln>
        </p:spPr>
      </p:pic>
      <p:sp>
        <p:nvSpPr>
          <p:cNvPr id="31" name="正方形/長方形 30">
            <a:extLst>
              <a:ext uri="{FF2B5EF4-FFF2-40B4-BE49-F238E27FC236}">
                <a16:creationId xmlns:a16="http://schemas.microsoft.com/office/drawing/2014/main" id="{A8D3E06E-AEAD-471E-BD06-F50DE5DFB7F0}"/>
              </a:ext>
            </a:extLst>
          </p:cNvPr>
          <p:cNvSpPr/>
          <p:nvPr/>
        </p:nvSpPr>
        <p:spPr>
          <a:xfrm>
            <a:off x="75501" y="5123219"/>
            <a:ext cx="1543574" cy="8824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65CEA6ED-A402-4E96-B3DB-3C991B32552A}"/>
              </a:ext>
            </a:extLst>
          </p:cNvPr>
          <p:cNvSpPr txBox="1"/>
          <p:nvPr/>
        </p:nvSpPr>
        <p:spPr>
          <a:xfrm>
            <a:off x="161641" y="4896575"/>
            <a:ext cx="543739" cy="307777"/>
          </a:xfrm>
          <a:prstGeom prst="rect">
            <a:avLst/>
          </a:prstGeom>
          <a:solidFill>
            <a:schemeClr val="bg1"/>
          </a:solidFill>
          <a:ln>
            <a:noFill/>
          </a:ln>
        </p:spPr>
        <p:txBody>
          <a:bodyPr wrap="none" rtlCol="0">
            <a:spAutoFit/>
          </a:bodyPr>
          <a:lstStyle/>
          <a:p>
            <a:pPr algn="l"/>
            <a:r>
              <a:rPr kumimoji="1" lang="ja-JP" altLang="en-US" sz="1400" dirty="0">
                <a:latin typeface="ＭＳ 明朝" panose="02020609040205080304" pitchFamily="17" charset="-128"/>
                <a:ea typeface="ＭＳ 明朝" panose="02020609040205080304" pitchFamily="17" charset="-128"/>
              </a:rPr>
              <a:t>米軍</a:t>
            </a:r>
          </a:p>
        </p:txBody>
      </p:sp>
      <p:sp>
        <p:nvSpPr>
          <p:cNvPr id="34" name="テキスト ボックス 33">
            <a:extLst>
              <a:ext uri="{FF2B5EF4-FFF2-40B4-BE49-F238E27FC236}">
                <a16:creationId xmlns:a16="http://schemas.microsoft.com/office/drawing/2014/main" id="{B760DD94-3933-4209-B2D4-19C8C4A5B9B0}"/>
              </a:ext>
            </a:extLst>
          </p:cNvPr>
          <p:cNvSpPr txBox="1"/>
          <p:nvPr/>
        </p:nvSpPr>
        <p:spPr>
          <a:xfrm>
            <a:off x="58947" y="4012920"/>
            <a:ext cx="889987" cy="261610"/>
          </a:xfrm>
          <a:prstGeom prst="rect">
            <a:avLst/>
          </a:prstGeom>
          <a:noFill/>
          <a:ln>
            <a:noFill/>
          </a:ln>
        </p:spPr>
        <p:txBody>
          <a:bodyPr wrap="none" rtlCol="0">
            <a:spAutoFit/>
          </a:bodyPr>
          <a:lstStyle/>
          <a:p>
            <a:pPr algn="l"/>
            <a:r>
              <a:rPr kumimoji="1" lang="en-US" altLang="ja-JP" sz="1050" dirty="0">
                <a:latin typeface="+mn-ea"/>
              </a:rPr>
              <a:t>Port25,110</a:t>
            </a:r>
            <a:endParaRPr kumimoji="1" lang="ja-JP" altLang="en-US" sz="1050" dirty="0">
              <a:latin typeface="+mn-ea"/>
            </a:endParaRPr>
          </a:p>
        </p:txBody>
      </p:sp>
      <p:sp>
        <p:nvSpPr>
          <p:cNvPr id="35" name="テキスト ボックス 34">
            <a:extLst>
              <a:ext uri="{FF2B5EF4-FFF2-40B4-BE49-F238E27FC236}">
                <a16:creationId xmlns:a16="http://schemas.microsoft.com/office/drawing/2014/main" id="{1D246377-8A78-4E80-8831-706850A89F1A}"/>
              </a:ext>
            </a:extLst>
          </p:cNvPr>
          <p:cNvSpPr txBox="1"/>
          <p:nvPr/>
        </p:nvSpPr>
        <p:spPr>
          <a:xfrm>
            <a:off x="2506685" y="2903692"/>
            <a:ext cx="543739" cy="307777"/>
          </a:xfrm>
          <a:prstGeom prst="rect">
            <a:avLst/>
          </a:prstGeom>
          <a:solidFill>
            <a:schemeClr val="bg1"/>
          </a:solidFill>
          <a:ln>
            <a:noFill/>
          </a:ln>
        </p:spPr>
        <p:txBody>
          <a:bodyPr wrap="none" rtlCol="0">
            <a:spAutoFit/>
          </a:bodyPr>
          <a:lstStyle/>
          <a:p>
            <a:pPr algn="l"/>
            <a:r>
              <a:rPr lang="en-US" altLang="ja-JP" sz="1400" dirty="0">
                <a:latin typeface="ＭＳ 明朝" panose="02020609040205080304" pitchFamily="17" charset="-128"/>
                <a:ea typeface="ＭＳ 明朝" panose="02020609040205080304" pitchFamily="17" charset="-128"/>
              </a:rPr>
              <a:t>FADP</a:t>
            </a:r>
            <a:endParaRPr kumimoji="1" lang="ja-JP" altLang="en-US" sz="1400" dirty="0">
              <a:latin typeface="ＭＳ 明朝" panose="02020609040205080304" pitchFamily="17" charset="-128"/>
              <a:ea typeface="ＭＳ 明朝" panose="02020609040205080304" pitchFamily="17" charset="-128"/>
            </a:endParaRPr>
          </a:p>
        </p:txBody>
      </p:sp>
      <p:pic>
        <p:nvPicPr>
          <p:cNvPr id="15" name="図 14">
            <a:extLst>
              <a:ext uri="{FF2B5EF4-FFF2-40B4-BE49-F238E27FC236}">
                <a16:creationId xmlns:a16="http://schemas.microsoft.com/office/drawing/2014/main" id="{0CA186C7-2BB3-4F6A-B059-DC99BB4FD52B}"/>
              </a:ext>
            </a:extLst>
          </p:cNvPr>
          <p:cNvPicPr>
            <a:picLocks noChangeAspect="1"/>
          </p:cNvPicPr>
          <p:nvPr/>
        </p:nvPicPr>
        <p:blipFill>
          <a:blip r:embed="rId2"/>
          <a:stretch>
            <a:fillRect/>
          </a:stretch>
        </p:blipFill>
        <p:spPr>
          <a:xfrm>
            <a:off x="3611894" y="2425437"/>
            <a:ext cx="652223" cy="521778"/>
          </a:xfrm>
          <a:prstGeom prst="rect">
            <a:avLst/>
          </a:prstGeom>
        </p:spPr>
      </p:pic>
      <p:cxnSp>
        <p:nvCxnSpPr>
          <p:cNvPr id="17" name="直線コネクタ 16">
            <a:extLst>
              <a:ext uri="{FF2B5EF4-FFF2-40B4-BE49-F238E27FC236}">
                <a16:creationId xmlns:a16="http://schemas.microsoft.com/office/drawing/2014/main" id="{F16B25B4-DA9B-4C25-9F25-074B7E828687}"/>
              </a:ext>
            </a:extLst>
          </p:cNvPr>
          <p:cNvCxnSpPr>
            <a:cxnSpLocks/>
          </p:cNvCxnSpPr>
          <p:nvPr/>
        </p:nvCxnSpPr>
        <p:spPr>
          <a:xfrm>
            <a:off x="3899453" y="2886264"/>
            <a:ext cx="0" cy="5106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C286F3FA-DD47-4CEA-9839-BC4E18872F1A}"/>
              </a:ext>
            </a:extLst>
          </p:cNvPr>
          <p:cNvCxnSpPr>
            <a:cxnSpLocks/>
          </p:cNvCxnSpPr>
          <p:nvPr/>
        </p:nvCxnSpPr>
        <p:spPr>
          <a:xfrm flipH="1">
            <a:off x="1335663" y="2609568"/>
            <a:ext cx="2293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A67A59A9-235B-44C3-BB17-97452841871A}"/>
              </a:ext>
            </a:extLst>
          </p:cNvPr>
          <p:cNvCxnSpPr>
            <a:cxnSpLocks/>
          </p:cNvCxnSpPr>
          <p:nvPr/>
        </p:nvCxnSpPr>
        <p:spPr>
          <a:xfrm>
            <a:off x="765226" y="3396957"/>
            <a:ext cx="11408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777CDB5D-A1AF-48EA-B451-5D333C85AC69}"/>
              </a:ext>
            </a:extLst>
          </p:cNvPr>
          <p:cNvCxnSpPr>
            <a:cxnSpLocks/>
            <a:endCxn id="31" idx="0"/>
          </p:cNvCxnSpPr>
          <p:nvPr/>
        </p:nvCxnSpPr>
        <p:spPr>
          <a:xfrm>
            <a:off x="765226" y="3396957"/>
            <a:ext cx="0" cy="1726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1659967C-5C25-4ABC-A664-55AB2CDD73D0}"/>
              </a:ext>
            </a:extLst>
          </p:cNvPr>
          <p:cNvSpPr txBox="1"/>
          <p:nvPr/>
        </p:nvSpPr>
        <p:spPr>
          <a:xfrm>
            <a:off x="313683" y="4482865"/>
            <a:ext cx="922789"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ルーター</a:t>
            </a:r>
          </a:p>
        </p:txBody>
      </p:sp>
      <p:sp>
        <p:nvSpPr>
          <p:cNvPr id="30" name="テキスト ボックス 29">
            <a:extLst>
              <a:ext uri="{FF2B5EF4-FFF2-40B4-BE49-F238E27FC236}">
                <a16:creationId xmlns:a16="http://schemas.microsoft.com/office/drawing/2014/main" id="{10B1431F-9EA1-4881-BFB6-699EC58CB8F3}"/>
              </a:ext>
            </a:extLst>
          </p:cNvPr>
          <p:cNvSpPr txBox="1"/>
          <p:nvPr/>
        </p:nvSpPr>
        <p:spPr>
          <a:xfrm>
            <a:off x="267514" y="3783244"/>
            <a:ext cx="995425"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米軍対向用端末</a:t>
            </a:r>
          </a:p>
        </p:txBody>
      </p:sp>
      <p:cxnSp>
        <p:nvCxnSpPr>
          <p:cNvPr id="61" name="直線コネクタ 60">
            <a:extLst>
              <a:ext uri="{FF2B5EF4-FFF2-40B4-BE49-F238E27FC236}">
                <a16:creationId xmlns:a16="http://schemas.microsoft.com/office/drawing/2014/main" id="{E59A4E8E-AB14-4662-94EC-F28A61607BCD}"/>
              </a:ext>
            </a:extLst>
          </p:cNvPr>
          <p:cNvCxnSpPr>
            <a:cxnSpLocks/>
          </p:cNvCxnSpPr>
          <p:nvPr/>
        </p:nvCxnSpPr>
        <p:spPr>
          <a:xfrm>
            <a:off x="1906100" y="3396957"/>
            <a:ext cx="0" cy="5247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417725C0-B5D7-4AF6-B0B8-1621524E621C}"/>
              </a:ext>
            </a:extLst>
          </p:cNvPr>
          <p:cNvSpPr txBox="1"/>
          <p:nvPr/>
        </p:nvSpPr>
        <p:spPr>
          <a:xfrm>
            <a:off x="1348541" y="3783244"/>
            <a:ext cx="995425" cy="369332"/>
          </a:xfrm>
          <a:prstGeom prst="rect">
            <a:avLst/>
          </a:prstGeom>
          <a:solidFill>
            <a:schemeClr val="bg1"/>
          </a:solidFill>
          <a:ln>
            <a:solidFill>
              <a:schemeClr val="tx1"/>
            </a:solidFill>
          </a:ln>
        </p:spPr>
        <p:txBody>
          <a:bodyPr wrap="square" rtlCol="0">
            <a:spAutoFit/>
          </a:bodyPr>
          <a:lstStyle/>
          <a:p>
            <a:pPr algn="ctr"/>
            <a:r>
              <a:rPr kumimoji="1" lang="ja-JP" altLang="en-US" sz="900" dirty="0"/>
              <a:t>運用情報等提供サーバー</a:t>
            </a:r>
          </a:p>
        </p:txBody>
      </p:sp>
      <p:sp>
        <p:nvSpPr>
          <p:cNvPr id="74" name="雲 73">
            <a:extLst>
              <a:ext uri="{FF2B5EF4-FFF2-40B4-BE49-F238E27FC236}">
                <a16:creationId xmlns:a16="http://schemas.microsoft.com/office/drawing/2014/main" id="{CD549789-08E6-4B45-A50D-BCA1CEE11513}"/>
              </a:ext>
            </a:extLst>
          </p:cNvPr>
          <p:cNvSpPr/>
          <p:nvPr/>
        </p:nvSpPr>
        <p:spPr>
          <a:xfrm>
            <a:off x="2570244" y="3258324"/>
            <a:ext cx="7051511" cy="1275374"/>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1D47C34A-3C5B-4F85-B081-448C57609A0B}"/>
              </a:ext>
            </a:extLst>
          </p:cNvPr>
          <p:cNvCxnSpPr>
            <a:cxnSpLocks/>
            <a:stCxn id="16" idx="2"/>
          </p:cNvCxnSpPr>
          <p:nvPr/>
        </p:nvCxnSpPr>
        <p:spPr>
          <a:xfrm flipH="1">
            <a:off x="8026836" y="2922858"/>
            <a:ext cx="2" cy="3354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2AF3AEDC-C87C-4A6E-9803-2E1F769D2608}"/>
              </a:ext>
            </a:extLst>
          </p:cNvPr>
          <p:cNvCxnSpPr>
            <a:cxnSpLocks/>
          </p:cNvCxnSpPr>
          <p:nvPr/>
        </p:nvCxnSpPr>
        <p:spPr>
          <a:xfrm flipV="1">
            <a:off x="9966120" y="1568701"/>
            <a:ext cx="0" cy="1222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CA979F3E-677F-4CB7-A265-C7E9812B1FF2}"/>
              </a:ext>
            </a:extLst>
          </p:cNvPr>
          <p:cNvCxnSpPr>
            <a:cxnSpLocks/>
          </p:cNvCxnSpPr>
          <p:nvPr/>
        </p:nvCxnSpPr>
        <p:spPr>
          <a:xfrm flipH="1">
            <a:off x="8715232" y="1568700"/>
            <a:ext cx="12508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6EED5533-222E-4EB8-98BB-56CE6C9177A8}"/>
              </a:ext>
            </a:extLst>
          </p:cNvPr>
          <p:cNvSpPr txBox="1"/>
          <p:nvPr/>
        </p:nvSpPr>
        <p:spPr>
          <a:xfrm>
            <a:off x="9353608" y="1688437"/>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44" name="テキスト ボックス 43">
            <a:extLst>
              <a:ext uri="{FF2B5EF4-FFF2-40B4-BE49-F238E27FC236}">
                <a16:creationId xmlns:a16="http://schemas.microsoft.com/office/drawing/2014/main" id="{45ADB3AA-C8DD-4204-A376-81FA0FC496F9}"/>
              </a:ext>
            </a:extLst>
          </p:cNvPr>
          <p:cNvSpPr txBox="1"/>
          <p:nvPr/>
        </p:nvSpPr>
        <p:spPr>
          <a:xfrm>
            <a:off x="9353608" y="2029680"/>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latin typeface="+mn-ea"/>
              </a:rPr>
              <a:t>ルーター</a:t>
            </a:r>
          </a:p>
        </p:txBody>
      </p:sp>
      <p:sp>
        <p:nvSpPr>
          <p:cNvPr id="45" name="テキスト ボックス 44">
            <a:extLst>
              <a:ext uri="{FF2B5EF4-FFF2-40B4-BE49-F238E27FC236}">
                <a16:creationId xmlns:a16="http://schemas.microsoft.com/office/drawing/2014/main" id="{B5008524-7A77-44BF-8763-4DA1595363B3}"/>
              </a:ext>
            </a:extLst>
          </p:cNvPr>
          <p:cNvSpPr txBox="1"/>
          <p:nvPr/>
        </p:nvSpPr>
        <p:spPr>
          <a:xfrm>
            <a:off x="9353608" y="2363603"/>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46" name="テキスト ボックス 45">
            <a:extLst>
              <a:ext uri="{FF2B5EF4-FFF2-40B4-BE49-F238E27FC236}">
                <a16:creationId xmlns:a16="http://schemas.microsoft.com/office/drawing/2014/main" id="{7D1634DB-C681-400E-98C4-A4F749BE71E0}"/>
              </a:ext>
            </a:extLst>
          </p:cNvPr>
          <p:cNvSpPr txBox="1"/>
          <p:nvPr/>
        </p:nvSpPr>
        <p:spPr>
          <a:xfrm>
            <a:off x="9362448" y="2712972"/>
            <a:ext cx="1325460" cy="276999"/>
          </a:xfrm>
          <a:prstGeom prst="rect">
            <a:avLst/>
          </a:prstGeom>
          <a:solidFill>
            <a:srgbClr val="FFFF00"/>
          </a:solidFill>
          <a:ln>
            <a:solidFill>
              <a:schemeClr val="tx1"/>
            </a:solidFill>
          </a:ln>
        </p:spPr>
        <p:txBody>
          <a:bodyPr wrap="square" rtlCol="0">
            <a:spAutoFit/>
          </a:bodyPr>
          <a:lstStyle/>
          <a:p>
            <a:pPr algn="ctr"/>
            <a:r>
              <a:rPr kumimoji="1" lang="en-US" altLang="ja-JP" sz="1200" dirty="0">
                <a:latin typeface="+mn-ea"/>
              </a:rPr>
              <a:t>FACE</a:t>
            </a:r>
            <a:r>
              <a:rPr kumimoji="1" lang="ja-JP" altLang="en-US" sz="1200" dirty="0">
                <a:latin typeface="+mn-ea"/>
              </a:rPr>
              <a:t>対向用</a:t>
            </a:r>
          </a:p>
        </p:txBody>
      </p:sp>
      <p:sp>
        <p:nvSpPr>
          <p:cNvPr id="36" name="矢印: 下 35">
            <a:extLst>
              <a:ext uri="{FF2B5EF4-FFF2-40B4-BE49-F238E27FC236}">
                <a16:creationId xmlns:a16="http://schemas.microsoft.com/office/drawing/2014/main" id="{658652FD-BA21-4238-94A9-076E1F2E81BE}"/>
              </a:ext>
            </a:extLst>
          </p:cNvPr>
          <p:cNvSpPr/>
          <p:nvPr/>
        </p:nvSpPr>
        <p:spPr>
          <a:xfrm flipH="1">
            <a:off x="7527797" y="1181659"/>
            <a:ext cx="239975" cy="1766531"/>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9BD5812B-6F66-4EDC-80C9-7D8774427148}"/>
              </a:ext>
            </a:extLst>
          </p:cNvPr>
          <p:cNvSpPr/>
          <p:nvPr/>
        </p:nvSpPr>
        <p:spPr>
          <a:xfrm rot="5400000" flipH="1">
            <a:off x="5813657" y="1416214"/>
            <a:ext cx="239975" cy="2780198"/>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53093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65FE79B7-91FD-4F30-BCFA-DFE1388DE844}"/>
              </a:ext>
            </a:extLst>
          </p:cNvPr>
          <p:cNvSpPr/>
          <p:nvPr/>
        </p:nvSpPr>
        <p:spPr>
          <a:xfrm>
            <a:off x="2068311" y="1285209"/>
            <a:ext cx="8055377" cy="5016758"/>
          </a:xfrm>
          <a:prstGeom prst="rect">
            <a:avLst/>
          </a:prstGeom>
        </p:spPr>
        <p:txBody>
          <a:bodyPr wrap="square">
            <a:spAutoFit/>
          </a:bodyPr>
          <a:lstStyle/>
          <a:p>
            <a:pPr lvl="0">
              <a:defRPr/>
            </a:pPr>
            <a:r>
              <a:rPr lang="ja-JP" altLang="en-US" sz="1600" dirty="0">
                <a:latin typeface="ＭＳ 明朝" panose="02020609040205080304" pitchFamily="17" charset="-128"/>
                <a:ea typeface="ＭＳ 明朝" panose="02020609040205080304" pitchFamily="17" charset="-128"/>
              </a:rPr>
              <a:t>検知手法：</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FW</a:t>
            </a:r>
            <a:r>
              <a:rPr lang="ja-JP" altLang="en-US" sz="1600" dirty="0">
                <a:latin typeface="ＭＳ 明朝" panose="02020609040205080304" pitchFamily="17" charset="-128"/>
                <a:ea typeface="ＭＳ 明朝" panose="02020609040205080304" pitchFamily="17" charset="-128"/>
              </a:rPr>
              <a:t>で該当</a:t>
            </a:r>
            <a:r>
              <a:rPr lang="en-US" altLang="ja-JP" sz="1600" dirty="0">
                <a:latin typeface="ＭＳ 明朝" panose="02020609040205080304" pitchFamily="17" charset="-128"/>
                <a:ea typeface="ＭＳ 明朝" panose="02020609040205080304" pitchFamily="17" charset="-128"/>
              </a:rPr>
              <a:t>CVE</a:t>
            </a:r>
            <a:r>
              <a:rPr lang="ja-JP" altLang="en-US" sz="1600" dirty="0">
                <a:latin typeface="ＭＳ 明朝" panose="02020609040205080304" pitchFamily="17" charset="-128"/>
                <a:ea typeface="ＭＳ 明朝" panose="02020609040205080304" pitchFamily="17" charset="-128"/>
              </a:rPr>
              <a:t>の通信による検知がないかを確認する。</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Web</a:t>
            </a:r>
            <a:r>
              <a:rPr lang="ja-JP" altLang="en-US" sz="1600" dirty="0">
                <a:latin typeface="ＭＳ 明朝" panose="02020609040205080304" pitchFamily="17" charset="-128"/>
                <a:ea typeface="ＭＳ 明朝" panose="02020609040205080304" pitchFamily="17" charset="-128"/>
              </a:rPr>
              <a:t>サーバ（</a:t>
            </a:r>
            <a:r>
              <a:rPr lang="en-US" altLang="ja-JP" sz="1600" dirty="0">
                <a:latin typeface="ＭＳ 明朝" panose="02020609040205080304" pitchFamily="17" charset="-128"/>
                <a:ea typeface="ＭＳ 明朝" panose="02020609040205080304" pitchFamily="17" charset="-128"/>
              </a:rPr>
              <a:t>J-Web)</a:t>
            </a:r>
            <a:r>
              <a:rPr lang="ja-JP" altLang="en-US" sz="1600" dirty="0">
                <a:latin typeface="ＭＳ 明朝" panose="02020609040205080304" pitchFamily="17" charset="-128"/>
                <a:ea typeface="ＭＳ 明朝" panose="02020609040205080304" pitchFamily="17" charset="-128"/>
              </a:rPr>
              <a:t>アクセスログに</a:t>
            </a:r>
            <a:r>
              <a:rPr lang="en-US" altLang="ja-JP" sz="1600" dirty="0">
                <a:latin typeface="ＭＳ 明朝" panose="02020609040205080304" pitchFamily="17" charset="-128"/>
                <a:ea typeface="ＭＳ 明朝" panose="02020609040205080304" pitchFamily="17" charset="-128"/>
              </a:rPr>
              <a:t>PHPRC</a:t>
            </a:r>
            <a:r>
              <a:rPr lang="ja-JP" altLang="en-US" sz="1600" dirty="0">
                <a:latin typeface="ＭＳ 明朝" panose="02020609040205080304" pitchFamily="17" charset="-128"/>
                <a:ea typeface="ＭＳ 明朝" panose="02020609040205080304" pitchFamily="17" charset="-128"/>
              </a:rPr>
              <a:t>を含む</a:t>
            </a:r>
            <a:r>
              <a:rPr lang="en-US" altLang="ja-JP" sz="1600" dirty="0">
                <a:latin typeface="ＭＳ 明朝" panose="02020609040205080304" pitchFamily="17" charset="-128"/>
                <a:ea typeface="ＭＳ 明朝" panose="02020609040205080304" pitchFamily="17" charset="-128"/>
              </a:rPr>
              <a:t>POST</a:t>
            </a:r>
            <a:r>
              <a:rPr lang="ja-JP" altLang="en-US" sz="1600" dirty="0">
                <a:latin typeface="ＭＳ 明朝" panose="02020609040205080304" pitchFamily="17" charset="-128"/>
                <a:ea typeface="ＭＳ 明朝" panose="02020609040205080304" pitchFamily="17" charset="-128"/>
              </a:rPr>
              <a:t>（最も決定的</a:t>
            </a:r>
            <a:r>
              <a:rPr lang="en-US" altLang="ja-JP" sz="1600" dirty="0">
                <a:latin typeface="ＭＳ 明朝" panose="02020609040205080304" pitchFamily="17" charset="-128"/>
                <a:ea typeface="ＭＳ 明朝" panose="02020609040205080304" pitchFamily="17" charset="-128"/>
              </a:rPr>
              <a:t>)</a:t>
            </a: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新しいプロセス／子プロセスの生成、</a:t>
            </a:r>
            <a:r>
              <a:rPr lang="en-US" altLang="ja-JP" sz="1600" dirty="0">
                <a:latin typeface="ＭＳ 明朝" panose="02020609040205080304" pitchFamily="17" charset="-128"/>
                <a:ea typeface="ＭＳ 明朝" panose="02020609040205080304" pitchFamily="17" charset="-128"/>
              </a:rPr>
              <a:t>PHP</a:t>
            </a:r>
            <a:r>
              <a:rPr lang="ja-JP" altLang="en-US" sz="1600" dirty="0">
                <a:latin typeface="ＭＳ 明朝" panose="02020609040205080304" pitchFamily="17" charset="-128"/>
                <a:ea typeface="ＭＳ 明朝" panose="02020609040205080304" pitchFamily="17" charset="-128"/>
              </a:rPr>
              <a:t>実行プロセスの異常起動はないか。</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FW</a:t>
            </a:r>
            <a:r>
              <a:rPr lang="ja-JP" altLang="en-US" sz="1600" dirty="0">
                <a:latin typeface="ＭＳ 明朝" panose="02020609040205080304" pitchFamily="17" charset="-128"/>
                <a:ea typeface="ＭＳ 明朝" panose="02020609040205080304" pitchFamily="17" charset="-128"/>
              </a:rPr>
              <a:t>のアクセスログで不審な</a:t>
            </a:r>
            <a:r>
              <a:rPr lang="en-US" altLang="ja-JP" sz="1600" dirty="0">
                <a:latin typeface="ＭＳ 明朝" panose="02020609040205080304" pitchFamily="17" charset="-128"/>
                <a:ea typeface="ＭＳ 明朝" panose="02020609040205080304" pitchFamily="17" charset="-128"/>
              </a:rPr>
              <a:t>IP</a:t>
            </a:r>
            <a:r>
              <a:rPr lang="ja-JP" altLang="en-US" sz="1600" dirty="0">
                <a:latin typeface="ＭＳ 明朝" panose="02020609040205080304" pitchFamily="17" charset="-128"/>
                <a:ea typeface="ＭＳ 明朝" panose="02020609040205080304" pitchFamily="17" charset="-128"/>
              </a:rPr>
              <a:t>からのアクセスがないかを確認する。</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FW</a:t>
            </a:r>
            <a:r>
              <a:rPr lang="ja-JP" altLang="en-US" sz="1600" dirty="0">
                <a:latin typeface="ＭＳ 明朝" panose="02020609040205080304" pitchFamily="17" charset="-128"/>
                <a:ea typeface="ＭＳ 明朝" panose="02020609040205080304" pitchFamily="17" charset="-128"/>
              </a:rPr>
              <a:t>のフィルタルールが変更されていないことを確認</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FW</a:t>
            </a:r>
            <a:r>
              <a:rPr lang="ja-JP" altLang="en-US" sz="1600" dirty="0">
                <a:latin typeface="ＭＳ 明朝" panose="02020609040205080304" pitchFamily="17" charset="-128"/>
                <a:ea typeface="ＭＳ 明朝" panose="02020609040205080304" pitchFamily="17" charset="-128"/>
              </a:rPr>
              <a:t>の過去ログが消去されていないことを確認</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FW</a:t>
            </a:r>
            <a:r>
              <a:rPr lang="ja-JP" altLang="en-US" sz="1600" dirty="0">
                <a:latin typeface="ＭＳ 明朝" panose="02020609040205080304" pitchFamily="17" charset="-128"/>
                <a:ea typeface="ＭＳ 明朝" panose="02020609040205080304" pitchFamily="17" charset="-128"/>
              </a:rPr>
              <a:t>が予定外の再起動などされていないことを確認</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 </a:t>
            </a:r>
            <a:r>
              <a:rPr lang="en-US" altLang="ja-JP" sz="1600" dirty="0">
                <a:latin typeface="ＭＳ 明朝" panose="02020609040205080304" pitchFamily="17" charset="-128"/>
                <a:ea typeface="ＭＳ 明朝" panose="02020609040205080304" pitchFamily="17" charset="-128"/>
              </a:rPr>
              <a:t>FW</a:t>
            </a:r>
            <a:r>
              <a:rPr lang="ja-JP" altLang="en-US" sz="1600" dirty="0">
                <a:latin typeface="ＭＳ 明朝" panose="02020609040205080304" pitchFamily="17" charset="-128"/>
                <a:ea typeface="ＭＳ 明朝" panose="02020609040205080304" pitchFamily="17" charset="-128"/>
              </a:rPr>
              <a:t>でサービス再開の痕跡がないことを確認</a:t>
            </a:r>
            <a:endParaRPr lang="en-US" altLang="ja-JP" sz="1600" dirty="0">
              <a:latin typeface="ＭＳ 明朝" panose="02020609040205080304" pitchFamily="17" charset="-128"/>
              <a:ea typeface="ＭＳ 明朝" panose="02020609040205080304" pitchFamily="17" charset="-128"/>
            </a:endParaRPr>
          </a:p>
          <a:p>
            <a:pPr lvl="0">
              <a:defRPr/>
            </a:pPr>
            <a:endParaRPr lang="en-US" altLang="ja-JP" sz="1600" dirty="0">
              <a:latin typeface="ＭＳ 明朝" panose="02020609040205080304" pitchFamily="17" charset="-128"/>
              <a:ea typeface="ＭＳ 明朝" panose="02020609040205080304" pitchFamily="17" charset="-128"/>
            </a:endParaRPr>
          </a:p>
          <a:p>
            <a:pPr lvl="0">
              <a:defRPr/>
            </a:pPr>
            <a:r>
              <a:rPr lang="ja-JP" altLang="en-US" sz="1600" dirty="0">
                <a:latin typeface="ＭＳ 明朝" panose="02020609040205080304" pitchFamily="17" charset="-128"/>
                <a:ea typeface="ＭＳ 明朝" panose="02020609040205080304" pitchFamily="17" charset="-128"/>
              </a:rPr>
              <a:t>緩和策：</a:t>
            </a:r>
            <a:endParaRPr lang="en-US" altLang="ja-JP" sz="1600" dirty="0">
              <a:latin typeface="ＭＳ 明朝" panose="02020609040205080304" pitchFamily="17" charset="-128"/>
              <a:ea typeface="ＭＳ 明朝" panose="02020609040205080304" pitchFamily="17" charset="-128"/>
            </a:endParaRPr>
          </a:p>
          <a:p>
            <a:pPr lvl="0">
              <a:defRPr/>
            </a:pPr>
            <a:r>
              <a:rPr lang="en-US" altLang="ja-JP" sz="1600" dirty="0">
                <a:latin typeface="ＭＳ 明朝" panose="02020609040205080304" pitchFamily="17" charset="-128"/>
                <a:ea typeface="ＭＳ 明朝" panose="02020609040205080304" pitchFamily="17" charset="-128"/>
              </a:rPr>
              <a:t>FW</a:t>
            </a:r>
            <a:r>
              <a:rPr lang="ja-JP" altLang="en-US" sz="1600" dirty="0">
                <a:latin typeface="ＭＳ 明朝" panose="02020609040205080304" pitchFamily="17" charset="-128"/>
                <a:ea typeface="ＭＳ 明朝" panose="02020609040205080304" pitchFamily="17" charset="-128"/>
              </a:rPr>
              <a:t>でアクセス先を制限する。</a:t>
            </a:r>
            <a:endParaRPr lang="en-US" altLang="ja-JP" sz="16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7886411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219589B-E704-411B-AE52-524793F02BDC}"/>
              </a:ext>
            </a:extLst>
          </p:cNvPr>
          <p:cNvSpPr txBox="1"/>
          <p:nvPr/>
        </p:nvSpPr>
        <p:spPr>
          <a:xfrm>
            <a:off x="4323346" y="2579566"/>
            <a:ext cx="3276859" cy="1323439"/>
          </a:xfrm>
          <a:prstGeom prst="rect">
            <a:avLst/>
          </a:prstGeom>
          <a:noFill/>
        </p:spPr>
        <p:txBody>
          <a:bodyPr wrap="none" rtlCol="0">
            <a:spAutoFit/>
          </a:bodyPr>
          <a:lstStyle/>
          <a:p>
            <a:pPr algn="ctr"/>
            <a:r>
              <a:rPr kumimoji="1" lang="ja-JP" altLang="en-US" sz="8000" b="1" dirty="0">
                <a:latin typeface="ＭＳ 明朝" panose="02020609040205080304" pitchFamily="17" charset="-128"/>
                <a:ea typeface="ＭＳ 明朝" panose="02020609040205080304" pitchFamily="17" charset="-128"/>
              </a:rPr>
              <a:t>仮説５</a:t>
            </a:r>
            <a:endParaRPr kumimoji="1" lang="en-US" altLang="ja-JP" sz="8000" b="1" dirty="0">
              <a:latin typeface="ＭＳ 明朝" panose="02020609040205080304" pitchFamily="17" charset="-128"/>
              <a:ea typeface="ＭＳ 明朝" panose="02020609040205080304" pitchFamily="17" charset="-128"/>
            </a:endParaRPr>
          </a:p>
        </p:txBody>
      </p:sp>
      <p:sp>
        <p:nvSpPr>
          <p:cNvPr id="3" name="タイトル 1">
            <a:extLst>
              <a:ext uri="{FF2B5EF4-FFF2-40B4-BE49-F238E27FC236}">
                <a16:creationId xmlns:a16="http://schemas.microsoft.com/office/drawing/2014/main" id="{0CC646CD-56EE-4560-826A-A842ACAEBD4C}"/>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仮説５</a:t>
            </a:r>
          </a:p>
        </p:txBody>
      </p:sp>
    </p:spTree>
    <p:extLst>
      <p:ext uri="{BB962C8B-B14F-4D97-AF65-F5344CB8AC3E}">
        <p14:creationId xmlns:p14="http://schemas.microsoft.com/office/powerpoint/2010/main" val="13677747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58BD05D8-9786-4265-AE05-482CD74B19D8}"/>
              </a:ext>
            </a:extLst>
          </p:cNvPr>
          <p:cNvSpPr/>
          <p:nvPr/>
        </p:nvSpPr>
        <p:spPr>
          <a:xfrm>
            <a:off x="1137223" y="1243355"/>
            <a:ext cx="10066789" cy="2839239"/>
          </a:xfrm>
          <a:prstGeom prst="rect">
            <a:avLst/>
          </a:prstGeom>
          <a:ln>
            <a:solidFill>
              <a:schemeClr val="tx1"/>
            </a:solidFill>
          </a:ln>
        </p:spPr>
        <p:txBody>
          <a:bodyPr wrap="square">
            <a:spAutoFit/>
          </a:bodyPr>
          <a:lstStyle/>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RJTZ-Untrust-Trust-021a match source-address RJFF-NETWORK</a:t>
            </a:r>
          </a:p>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RJTZ-Untrust-Trust-021a match destination-address RJTZ-190-WS-100</a:t>
            </a:r>
          </a:p>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RJTZ-Untrust-Trust-021a match destination-address RJTZ-190-WS-101</a:t>
            </a:r>
          </a:p>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RJTZ-Untrust-Trust-021a match destination-address RJTZ-190-WS-102</a:t>
            </a:r>
          </a:p>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RJTZ-Untrust-Trust-021a match application </a:t>
            </a:r>
            <a:r>
              <a:rPr lang="en-US" altLang="ja-JP" sz="1050" b="1" dirty="0">
                <a:solidFill>
                  <a:srgbClr val="FF0000"/>
                </a:solidFill>
                <a:latin typeface="ＭＳ 明朝" panose="02020609040205080304" pitchFamily="17" charset="-128"/>
                <a:ea typeface="ＭＳ 明朝" panose="02020609040205080304" pitchFamily="17" charset="-128"/>
              </a:rPr>
              <a:t>TELNET</a:t>
            </a:r>
          </a:p>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RJTZ-Untrust-Trust-021a then </a:t>
            </a:r>
            <a:r>
              <a:rPr lang="en-US" altLang="ja-JP" sz="1050" b="1" dirty="0">
                <a:solidFill>
                  <a:srgbClr val="0070C0"/>
                </a:solidFill>
                <a:latin typeface="ＭＳ 明朝" panose="02020609040205080304" pitchFamily="17" charset="-128"/>
                <a:ea typeface="ＭＳ 明朝" panose="02020609040205080304" pitchFamily="17" charset="-128"/>
              </a:rPr>
              <a:t>deny</a:t>
            </a:r>
          </a:p>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RJTZ-Untrust-Trust-021a then log session-</a:t>
            </a:r>
            <a:r>
              <a:rPr lang="en-US" altLang="ja-JP" sz="1050" dirty="0" err="1">
                <a:latin typeface="ＭＳ 明朝" panose="02020609040205080304" pitchFamily="17" charset="-128"/>
                <a:ea typeface="ＭＳ 明朝" panose="02020609040205080304" pitchFamily="17" charset="-128"/>
              </a:rPr>
              <a:t>init</a:t>
            </a:r>
            <a:endParaRPr lang="en-US" altLang="ja-JP" sz="1050" dirty="0">
              <a:latin typeface="ＭＳ 明朝" panose="02020609040205080304" pitchFamily="17" charset="-128"/>
              <a:ea typeface="ＭＳ 明朝" panose="02020609040205080304" pitchFamily="17" charset="-128"/>
            </a:endParaRPr>
          </a:p>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RJTZ-Untrust-Trust-021a then log session-close</a:t>
            </a:r>
          </a:p>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RJTZ-Untrust-Trust-021a then count</a:t>
            </a:r>
          </a:p>
          <a:p>
            <a:endParaRPr lang="en-US" altLang="ja-JP" sz="1050" dirty="0">
              <a:latin typeface="ＭＳ 明朝" panose="02020609040205080304" pitchFamily="17" charset="-128"/>
              <a:ea typeface="ＭＳ 明朝" panose="02020609040205080304" pitchFamily="17" charset="-128"/>
            </a:endParaRPr>
          </a:p>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 match source-address RJFF-NETWORK</a:t>
            </a:r>
          </a:p>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 match destination-address RJTZ-NETWORK</a:t>
            </a:r>
          </a:p>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 match application </a:t>
            </a:r>
            <a:r>
              <a:rPr lang="en-US" altLang="ja-JP" sz="1050" b="1" dirty="0">
                <a:solidFill>
                  <a:srgbClr val="FF0000"/>
                </a:solidFill>
                <a:latin typeface="ＭＳ 明朝" panose="02020609040205080304" pitchFamily="17" charset="-128"/>
                <a:ea typeface="ＭＳ 明朝" panose="02020609040205080304" pitchFamily="17" charset="-128"/>
              </a:rPr>
              <a:t>TELNET</a:t>
            </a:r>
          </a:p>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 then </a:t>
            </a:r>
            <a:r>
              <a:rPr lang="en-US" altLang="ja-JP" sz="1050" b="1" dirty="0">
                <a:solidFill>
                  <a:srgbClr val="FF0000"/>
                </a:solidFill>
                <a:latin typeface="ＭＳ 明朝" panose="02020609040205080304" pitchFamily="17" charset="-128"/>
                <a:ea typeface="ＭＳ 明朝" panose="02020609040205080304" pitchFamily="17" charset="-128"/>
              </a:rPr>
              <a:t>permit</a:t>
            </a:r>
          </a:p>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 then log session-</a:t>
            </a:r>
            <a:r>
              <a:rPr lang="en-US" altLang="ja-JP" sz="1050" dirty="0" err="1">
                <a:latin typeface="ＭＳ 明朝" panose="02020609040205080304" pitchFamily="17" charset="-128"/>
                <a:ea typeface="ＭＳ 明朝" panose="02020609040205080304" pitchFamily="17" charset="-128"/>
              </a:rPr>
              <a:t>init</a:t>
            </a:r>
            <a:endParaRPr lang="en-US" altLang="ja-JP" sz="1050" dirty="0">
              <a:latin typeface="ＭＳ 明朝" panose="02020609040205080304" pitchFamily="17" charset="-128"/>
              <a:ea typeface="ＭＳ 明朝" panose="02020609040205080304" pitchFamily="17" charset="-128"/>
            </a:endParaRPr>
          </a:p>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 then log session-close</a:t>
            </a:r>
          </a:p>
          <a:p>
            <a:r>
              <a:rPr lang="en-US" altLang="ja-JP" sz="1050" dirty="0">
                <a:latin typeface="ＭＳ 明朝" panose="02020609040205080304" pitchFamily="17" charset="-128"/>
                <a:ea typeface="ＭＳ 明朝" panose="02020609040205080304" pitchFamily="17" charset="-128"/>
              </a:rPr>
              <a:t>set security policies from-zone </a:t>
            </a:r>
            <a:r>
              <a:rPr lang="en-US" altLang="ja-JP" sz="1050" dirty="0" err="1">
                <a:latin typeface="ＭＳ 明朝" panose="02020609040205080304" pitchFamily="17" charset="-128"/>
                <a:ea typeface="ＭＳ 明朝" panose="02020609040205080304" pitchFamily="17" charset="-128"/>
              </a:rPr>
              <a:t>Untrust</a:t>
            </a:r>
            <a:r>
              <a:rPr lang="en-US" altLang="ja-JP" sz="1050" dirty="0">
                <a:latin typeface="ＭＳ 明朝" panose="02020609040205080304" pitchFamily="17" charset="-128"/>
                <a:ea typeface="ＭＳ 明朝" panose="02020609040205080304" pitchFamily="17" charset="-128"/>
              </a:rPr>
              <a:t> to-zone Trust policy RJTZ-Untrust-Trust-021 then count</a:t>
            </a:r>
            <a:endParaRPr lang="ja-JP" altLang="en-US" sz="1050" dirty="0">
              <a:latin typeface="ＭＳ 明朝" panose="02020609040205080304" pitchFamily="17" charset="-128"/>
              <a:ea typeface="ＭＳ 明朝" panose="02020609040205080304" pitchFamily="17" charset="-128"/>
            </a:endParaRPr>
          </a:p>
        </p:txBody>
      </p:sp>
      <p:sp>
        <p:nvSpPr>
          <p:cNvPr id="3" name="テキスト ボックス 2">
            <a:extLst>
              <a:ext uri="{FF2B5EF4-FFF2-40B4-BE49-F238E27FC236}">
                <a16:creationId xmlns:a16="http://schemas.microsoft.com/office/drawing/2014/main" id="{A26F0207-D3CB-4328-B0D2-EBEABAC1168E}"/>
              </a:ext>
            </a:extLst>
          </p:cNvPr>
          <p:cNvSpPr txBox="1"/>
          <p:nvPr/>
        </p:nvSpPr>
        <p:spPr>
          <a:xfrm>
            <a:off x="8085535" y="4214933"/>
            <a:ext cx="2569934" cy="461665"/>
          </a:xfrm>
          <a:prstGeom prst="rect">
            <a:avLst/>
          </a:prstGeom>
          <a:noFill/>
          <a:ln>
            <a:solidFill>
              <a:schemeClr val="tx1"/>
            </a:solidFill>
          </a:ln>
        </p:spPr>
        <p:txBody>
          <a:bodyPr wrap="none" rtlCol="0">
            <a:spAutoFit/>
          </a:bodyPr>
          <a:lstStyle/>
          <a:p>
            <a:r>
              <a:rPr kumimoji="1" lang="en-US" altLang="ja-JP" sz="1200" dirty="0">
                <a:latin typeface="ＭＳ 明朝" panose="02020609040205080304" pitchFamily="17" charset="-128"/>
                <a:ea typeface="ＭＳ 明朝" panose="02020609040205080304" pitchFamily="17" charset="-128"/>
              </a:rPr>
              <a:t>RJFF-NETWORK=</a:t>
            </a:r>
            <a:r>
              <a:rPr kumimoji="1" lang="ja-JP" altLang="en-US" sz="1200" dirty="0">
                <a:latin typeface="ＭＳ 明朝" panose="02020609040205080304" pitchFamily="17" charset="-128"/>
                <a:ea typeface="ＭＳ 明朝" panose="02020609040205080304" pitchFamily="17" charset="-128"/>
              </a:rPr>
              <a:t>春日のネットワーク</a:t>
            </a:r>
            <a:endParaRPr kumimoji="1" lang="en-US" altLang="ja-JP" sz="1200" dirty="0">
              <a:latin typeface="ＭＳ 明朝" panose="02020609040205080304" pitchFamily="17" charset="-128"/>
              <a:ea typeface="ＭＳ 明朝" panose="02020609040205080304" pitchFamily="17" charset="-128"/>
            </a:endParaRPr>
          </a:p>
          <a:p>
            <a:r>
              <a:rPr lang="en-US" altLang="ja-JP" sz="1200" dirty="0">
                <a:latin typeface="ＭＳ 明朝" panose="02020609040205080304" pitchFamily="17" charset="-128"/>
                <a:ea typeface="ＭＳ 明朝" panose="02020609040205080304" pitchFamily="17" charset="-128"/>
              </a:rPr>
              <a:t>RJTZ-NETWORK=</a:t>
            </a:r>
            <a:r>
              <a:rPr lang="ja-JP" altLang="en-US" sz="1200" dirty="0">
                <a:latin typeface="ＭＳ 明朝" panose="02020609040205080304" pitchFamily="17" charset="-128"/>
                <a:ea typeface="ＭＳ 明朝" panose="02020609040205080304" pitchFamily="17" charset="-128"/>
              </a:rPr>
              <a:t>府中のネットワーク</a:t>
            </a:r>
            <a:endParaRPr kumimoji="1" lang="ja-JP" altLang="en-US" sz="1200" dirty="0">
              <a:latin typeface="ＭＳ 明朝" panose="02020609040205080304" pitchFamily="17" charset="-128"/>
              <a:ea typeface="ＭＳ 明朝" panose="02020609040205080304" pitchFamily="17" charset="-128"/>
            </a:endParaRPr>
          </a:p>
        </p:txBody>
      </p:sp>
      <p:pic>
        <p:nvPicPr>
          <p:cNvPr id="4" name="図 3">
            <a:extLst>
              <a:ext uri="{FF2B5EF4-FFF2-40B4-BE49-F238E27FC236}">
                <a16:creationId xmlns:a16="http://schemas.microsoft.com/office/drawing/2014/main" id="{70431FDA-FDB0-4614-9318-09B41FF38393}"/>
              </a:ext>
            </a:extLst>
          </p:cNvPr>
          <p:cNvPicPr>
            <a:picLocks noChangeAspect="1"/>
          </p:cNvPicPr>
          <p:nvPr/>
        </p:nvPicPr>
        <p:blipFill>
          <a:blip r:embed="rId2"/>
          <a:stretch>
            <a:fillRect/>
          </a:stretch>
        </p:blipFill>
        <p:spPr>
          <a:xfrm>
            <a:off x="1233182" y="4223552"/>
            <a:ext cx="6754168" cy="523948"/>
          </a:xfrm>
          <a:prstGeom prst="rect">
            <a:avLst/>
          </a:prstGeom>
          <a:ln>
            <a:solidFill>
              <a:schemeClr val="tx1"/>
            </a:solidFill>
          </a:ln>
        </p:spPr>
      </p:pic>
      <p:pic>
        <p:nvPicPr>
          <p:cNvPr id="5" name="図 4">
            <a:extLst>
              <a:ext uri="{FF2B5EF4-FFF2-40B4-BE49-F238E27FC236}">
                <a16:creationId xmlns:a16="http://schemas.microsoft.com/office/drawing/2014/main" id="{04FCC60F-1A6B-4BC1-8619-867E81D821F7}"/>
              </a:ext>
            </a:extLst>
          </p:cNvPr>
          <p:cNvPicPr>
            <a:picLocks noChangeAspect="1"/>
          </p:cNvPicPr>
          <p:nvPr/>
        </p:nvPicPr>
        <p:blipFill>
          <a:blip r:embed="rId3"/>
          <a:stretch>
            <a:fillRect/>
          </a:stretch>
        </p:blipFill>
        <p:spPr>
          <a:xfrm>
            <a:off x="3187817" y="4912828"/>
            <a:ext cx="5965603" cy="367549"/>
          </a:xfrm>
          <a:prstGeom prst="rect">
            <a:avLst/>
          </a:prstGeom>
          <a:ln>
            <a:solidFill>
              <a:schemeClr val="tx1"/>
            </a:solidFill>
          </a:ln>
        </p:spPr>
      </p:pic>
      <p:sp>
        <p:nvSpPr>
          <p:cNvPr id="6" name="テキスト ボックス 5">
            <a:extLst>
              <a:ext uri="{FF2B5EF4-FFF2-40B4-BE49-F238E27FC236}">
                <a16:creationId xmlns:a16="http://schemas.microsoft.com/office/drawing/2014/main" id="{9C0DEC30-D339-4E22-BAED-AA4F01DD7DB9}"/>
              </a:ext>
            </a:extLst>
          </p:cNvPr>
          <p:cNvSpPr txBox="1"/>
          <p:nvPr/>
        </p:nvSpPr>
        <p:spPr>
          <a:xfrm>
            <a:off x="3063016" y="5413275"/>
            <a:ext cx="5929828" cy="1169551"/>
          </a:xfrm>
          <a:prstGeom prst="rect">
            <a:avLst/>
          </a:prstGeom>
          <a:noFill/>
          <a:ln>
            <a:solidFill>
              <a:schemeClr val="tx1"/>
            </a:solidFill>
          </a:ln>
        </p:spPr>
        <p:txBody>
          <a:bodyPr wrap="none" rtlCol="0">
            <a:spAutoFit/>
          </a:bodyPr>
          <a:lstStyle/>
          <a:p>
            <a:r>
              <a:rPr kumimoji="1" lang="ja-JP" altLang="en-US" sz="1400" dirty="0">
                <a:latin typeface="ＭＳ 明朝" panose="02020609040205080304" pitchFamily="17" charset="-128"/>
                <a:ea typeface="ＭＳ 明朝" panose="02020609040205080304" pitchFamily="17" charset="-128"/>
              </a:rPr>
              <a:t>春日のネットワークから府中のネットワークに対して</a:t>
            </a:r>
            <a:r>
              <a:rPr kumimoji="1" lang="en-US" altLang="ja-JP" sz="1400" dirty="0">
                <a:latin typeface="ＭＳ 明朝" panose="02020609040205080304" pitchFamily="17" charset="-128"/>
                <a:ea typeface="ＭＳ 明朝" panose="02020609040205080304" pitchFamily="17" charset="-128"/>
              </a:rPr>
              <a:t>telnet</a:t>
            </a:r>
            <a:r>
              <a:rPr kumimoji="1" lang="ja-JP" altLang="en-US" sz="1400" dirty="0">
                <a:latin typeface="ＭＳ 明朝" panose="02020609040205080304" pitchFamily="17" charset="-128"/>
                <a:ea typeface="ＭＳ 明朝" panose="02020609040205080304" pitchFamily="17" charset="-128"/>
              </a:rPr>
              <a:t>通信が可能</a:t>
            </a:r>
            <a:endParaRPr kumimoji="1" lang="en-US" altLang="ja-JP" sz="1400" dirty="0">
              <a:latin typeface="ＭＳ 明朝" panose="02020609040205080304" pitchFamily="17" charset="-128"/>
              <a:ea typeface="ＭＳ 明朝" panose="02020609040205080304" pitchFamily="17" charset="-128"/>
            </a:endParaRPr>
          </a:p>
          <a:p>
            <a:r>
              <a:rPr kumimoji="1" lang="ja-JP" altLang="en-US" sz="1400" dirty="0">
                <a:latin typeface="ＭＳ 明朝" panose="02020609040205080304" pitchFamily="17" charset="-128"/>
                <a:ea typeface="ＭＳ 明朝" panose="02020609040205080304" pitchFamily="17" charset="-128"/>
              </a:rPr>
              <a:t>ただし、次の宛先への</a:t>
            </a:r>
            <a:r>
              <a:rPr kumimoji="1" lang="en-US" altLang="ja-JP" sz="1400" dirty="0">
                <a:latin typeface="ＭＳ 明朝" panose="02020609040205080304" pitchFamily="17" charset="-128"/>
                <a:ea typeface="ＭＳ 明朝" panose="02020609040205080304" pitchFamily="17" charset="-128"/>
              </a:rPr>
              <a:t>telnet</a:t>
            </a:r>
            <a:r>
              <a:rPr kumimoji="1" lang="ja-JP" altLang="en-US" sz="1400" dirty="0">
                <a:latin typeface="ＭＳ 明朝" panose="02020609040205080304" pitchFamily="17" charset="-128"/>
                <a:ea typeface="ＭＳ 明朝" panose="02020609040205080304" pitchFamily="17" charset="-128"/>
              </a:rPr>
              <a:t>は遮断する。</a:t>
            </a:r>
            <a:endParaRPr kumimoji="1" lang="en-US" altLang="ja-JP" sz="1400" dirty="0">
              <a:latin typeface="ＭＳ 明朝" panose="02020609040205080304" pitchFamily="17" charset="-128"/>
              <a:ea typeface="ＭＳ 明朝" panose="02020609040205080304" pitchFamily="17" charset="-128"/>
            </a:endParaRPr>
          </a:p>
          <a:p>
            <a:r>
              <a:rPr kumimoji="1" lang="en-US" altLang="ja-JP" sz="1400" dirty="0">
                <a:latin typeface="ＭＳ 明朝" panose="02020609040205080304" pitchFamily="17" charset="-128"/>
                <a:ea typeface="ＭＳ 明朝" panose="02020609040205080304" pitchFamily="17" charset="-128"/>
              </a:rPr>
              <a:t>- </a:t>
            </a:r>
            <a:r>
              <a:rPr kumimoji="1" lang="ja-JP" altLang="en-US" sz="1400" dirty="0">
                <a:latin typeface="ＭＳ 明朝" panose="02020609040205080304" pitchFamily="17" charset="-128"/>
                <a:ea typeface="ＭＳ 明朝" panose="02020609040205080304" pitchFamily="17" charset="-128"/>
              </a:rPr>
              <a:t>業務処理用１サーバ</a:t>
            </a:r>
            <a:endParaRPr kumimoji="1" lang="en-US" altLang="ja-JP" sz="1400" dirty="0">
              <a:latin typeface="ＭＳ 明朝" panose="02020609040205080304" pitchFamily="17" charset="-128"/>
              <a:ea typeface="ＭＳ 明朝" panose="02020609040205080304" pitchFamily="17" charset="-128"/>
            </a:endParaRPr>
          </a:p>
          <a:p>
            <a:pPr marL="171450" indent="-171450">
              <a:buFontTx/>
              <a:buChar char="-"/>
            </a:pPr>
            <a:r>
              <a:rPr lang="ja-JP" altLang="en-US" sz="1400" dirty="0">
                <a:latin typeface="ＭＳ 明朝" panose="02020609040205080304" pitchFamily="17" charset="-128"/>
                <a:ea typeface="ＭＳ 明朝" panose="02020609040205080304" pitchFamily="17" charset="-128"/>
              </a:rPr>
              <a:t>業務処理用２サーバ</a:t>
            </a:r>
            <a:endParaRPr lang="en-US" altLang="ja-JP" sz="1400" dirty="0">
              <a:latin typeface="ＭＳ 明朝" panose="02020609040205080304" pitchFamily="17" charset="-128"/>
              <a:ea typeface="ＭＳ 明朝" panose="02020609040205080304" pitchFamily="17" charset="-128"/>
            </a:endParaRPr>
          </a:p>
          <a:p>
            <a:r>
              <a:rPr kumimoji="1" lang="en-US" altLang="ja-JP" sz="1400" dirty="0">
                <a:latin typeface="ＭＳ 明朝" panose="02020609040205080304" pitchFamily="17" charset="-128"/>
                <a:ea typeface="ＭＳ 明朝" panose="02020609040205080304" pitchFamily="17" charset="-128"/>
              </a:rPr>
              <a:t>- WEBS</a:t>
            </a:r>
            <a:r>
              <a:rPr lang="en-US" altLang="ja-JP" sz="1400" dirty="0">
                <a:latin typeface="ＭＳ 明朝" panose="02020609040205080304" pitchFamily="17" charset="-128"/>
                <a:ea typeface="ＭＳ 明朝" panose="02020609040205080304" pitchFamily="17" charset="-128"/>
              </a:rPr>
              <a:t>(DB)</a:t>
            </a:r>
            <a:r>
              <a:rPr lang="ja-JP" altLang="en-US" sz="1400" dirty="0">
                <a:latin typeface="ＭＳ 明朝" panose="02020609040205080304" pitchFamily="17" charset="-128"/>
                <a:ea typeface="ＭＳ 明朝" panose="02020609040205080304" pitchFamily="17" charset="-128"/>
              </a:rPr>
              <a:t>サーバ</a:t>
            </a:r>
            <a:endParaRPr kumimoji="1" lang="en-US" altLang="ja-JP" sz="1400" dirty="0">
              <a:latin typeface="ＭＳ 明朝" panose="02020609040205080304" pitchFamily="17" charset="-128"/>
              <a:ea typeface="ＭＳ 明朝" panose="02020609040205080304" pitchFamily="17" charset="-128"/>
            </a:endParaRPr>
          </a:p>
        </p:txBody>
      </p:sp>
      <p:sp>
        <p:nvSpPr>
          <p:cNvPr id="8" name="正方形/長方形 7">
            <a:extLst>
              <a:ext uri="{FF2B5EF4-FFF2-40B4-BE49-F238E27FC236}">
                <a16:creationId xmlns:a16="http://schemas.microsoft.com/office/drawing/2014/main" id="{3C2D7DCB-B867-492E-880F-42E08B81B747}"/>
              </a:ext>
            </a:extLst>
          </p:cNvPr>
          <p:cNvSpPr/>
          <p:nvPr/>
        </p:nvSpPr>
        <p:spPr>
          <a:xfrm>
            <a:off x="1065401" y="633776"/>
            <a:ext cx="9499945" cy="307777"/>
          </a:xfrm>
          <a:prstGeom prst="rect">
            <a:avLst/>
          </a:prstGeom>
        </p:spPr>
        <p:txBody>
          <a:bodyPr wrap="square">
            <a:spAutoFit/>
          </a:bodyPr>
          <a:lstStyle/>
          <a:p>
            <a:r>
              <a:rPr lang="ja-JP" altLang="en-US" sz="1400" dirty="0">
                <a:latin typeface="ＭＳ 明朝" panose="02020609040205080304" pitchFamily="17" charset="-128"/>
                <a:ea typeface="ＭＳ 明朝" panose="02020609040205080304" pitchFamily="17" charset="-128"/>
              </a:rPr>
              <a:t>仮説５ </a:t>
            </a:r>
            <a:r>
              <a:rPr lang="en-US" altLang="ja-JP" sz="1400" dirty="0">
                <a:latin typeface="ＭＳ 明朝" panose="02020609040205080304" pitchFamily="17" charset="-128"/>
                <a:ea typeface="ＭＳ 明朝" panose="02020609040205080304" pitchFamily="17" charset="-128"/>
              </a:rPr>
              <a:t>FACE</a:t>
            </a:r>
            <a:r>
              <a:rPr lang="ja-JP" altLang="en-US" sz="1400" dirty="0">
                <a:latin typeface="ＭＳ 明朝" panose="02020609040205080304" pitchFamily="17" charset="-128"/>
                <a:ea typeface="ＭＳ 明朝" panose="02020609040205080304" pitchFamily="17" charset="-128"/>
              </a:rPr>
              <a:t>上の不正な端末から</a:t>
            </a:r>
            <a:r>
              <a:rPr lang="en-US" altLang="ja-JP" sz="1400" dirty="0">
                <a:latin typeface="ＭＳ 明朝" panose="02020609040205080304" pitchFamily="17" charset="-128"/>
                <a:ea typeface="ＭＳ 明朝" panose="02020609040205080304" pitchFamily="17" charset="-128"/>
              </a:rPr>
              <a:t>telnet</a:t>
            </a:r>
            <a:r>
              <a:rPr lang="ja-JP" altLang="en-US" sz="1400" dirty="0">
                <a:latin typeface="ＭＳ 明朝" panose="02020609040205080304" pitchFamily="17" charset="-128"/>
                <a:ea typeface="ＭＳ 明朝" panose="02020609040205080304" pitchFamily="17" charset="-128"/>
              </a:rPr>
              <a:t>でアクセスされ一部の機器の情報を摂取または設定変更された。</a:t>
            </a:r>
            <a:endParaRPr lang="en-US" altLang="ja-JP" sz="1400" dirty="0">
              <a:latin typeface="ＭＳ 明朝" panose="02020609040205080304" pitchFamily="17" charset="-128"/>
              <a:ea typeface="ＭＳ 明朝" panose="02020609040205080304" pitchFamily="17" charset="-128"/>
            </a:endParaRPr>
          </a:p>
        </p:txBody>
      </p:sp>
      <p:sp>
        <p:nvSpPr>
          <p:cNvPr id="9" name="タイトル 1">
            <a:extLst>
              <a:ext uri="{FF2B5EF4-FFF2-40B4-BE49-F238E27FC236}">
                <a16:creationId xmlns:a16="http://schemas.microsoft.com/office/drawing/2014/main" id="{2C975846-C5F2-4348-834F-B678FECC77BF}"/>
              </a:ext>
            </a:extLst>
          </p:cNvPr>
          <p:cNvSpPr txBox="1">
            <a:spLocks/>
          </p:cNvSpPr>
          <p:nvPr/>
        </p:nvSpPr>
        <p:spPr>
          <a:xfrm>
            <a:off x="2202193" y="135201"/>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仮説５</a:t>
            </a:r>
          </a:p>
        </p:txBody>
      </p:sp>
      <p:sp>
        <p:nvSpPr>
          <p:cNvPr id="10" name="正方形/長方形 9">
            <a:extLst>
              <a:ext uri="{FF2B5EF4-FFF2-40B4-BE49-F238E27FC236}">
                <a16:creationId xmlns:a16="http://schemas.microsoft.com/office/drawing/2014/main" id="{F8B0E583-92BC-4F7D-8791-471918326EED}"/>
              </a:ext>
            </a:extLst>
          </p:cNvPr>
          <p:cNvSpPr/>
          <p:nvPr/>
        </p:nvSpPr>
        <p:spPr>
          <a:xfrm>
            <a:off x="1065400" y="935578"/>
            <a:ext cx="10830189" cy="307777"/>
          </a:xfrm>
          <a:prstGeom prst="rect">
            <a:avLst/>
          </a:prstGeom>
        </p:spPr>
        <p:txBody>
          <a:bodyPr wrap="square">
            <a:spAutoFit/>
          </a:bodyPr>
          <a:lstStyle/>
          <a:p>
            <a:r>
              <a:rPr lang="ja-JP" altLang="en-US" sz="1400" dirty="0">
                <a:latin typeface="ＭＳ 明朝" panose="02020609040205080304" pitchFamily="17" charset="-128"/>
                <a:ea typeface="ＭＳ 明朝" panose="02020609040205080304" pitchFamily="17" charset="-128"/>
              </a:rPr>
              <a:t>以下は</a:t>
            </a:r>
            <a:r>
              <a:rPr lang="en-US" altLang="ja-JP" sz="1400" dirty="0">
                <a:latin typeface="ＭＳ 明朝" panose="02020609040205080304" pitchFamily="17" charset="-128"/>
                <a:ea typeface="ＭＳ 明朝" panose="02020609040205080304" pitchFamily="17" charset="-128"/>
              </a:rPr>
              <a:t>DII</a:t>
            </a:r>
            <a:r>
              <a:rPr lang="ja-JP" altLang="en-US" sz="1400" dirty="0">
                <a:latin typeface="ＭＳ 明朝" panose="02020609040205080304" pitchFamily="17" charset="-128"/>
                <a:ea typeface="ＭＳ 明朝" panose="02020609040205080304" pitchFamily="17" charset="-128"/>
              </a:rPr>
              <a:t>ファイアウォールの設定であるが</a:t>
            </a:r>
            <a:r>
              <a:rPr lang="en-US" altLang="ja-JP" sz="1400" dirty="0">
                <a:latin typeface="ＭＳ 明朝" panose="02020609040205080304" pitchFamily="17" charset="-128"/>
                <a:ea typeface="ＭＳ 明朝" panose="02020609040205080304" pitchFamily="17" charset="-128"/>
              </a:rPr>
              <a:t>FACE</a:t>
            </a:r>
            <a:r>
              <a:rPr lang="ja-JP" altLang="en-US" sz="1400" dirty="0">
                <a:latin typeface="ＭＳ 明朝" panose="02020609040205080304" pitchFamily="17" charset="-128"/>
                <a:ea typeface="ＭＳ 明朝" panose="02020609040205080304" pitchFamily="17" charset="-128"/>
              </a:rPr>
              <a:t>のファイアウォールにも同様の設定があると推察（</a:t>
            </a:r>
            <a:r>
              <a:rPr lang="en-US" altLang="ja-JP" sz="1400" dirty="0">
                <a:latin typeface="ＭＳ 明朝" panose="02020609040205080304" pitchFamily="17" charset="-128"/>
                <a:ea typeface="ＭＳ 明朝" panose="02020609040205080304" pitchFamily="17" charset="-128"/>
              </a:rPr>
              <a:t>IP</a:t>
            </a:r>
            <a:r>
              <a:rPr lang="ja-JP" altLang="en-US" sz="1400" dirty="0">
                <a:latin typeface="ＭＳ 明朝" panose="02020609040205080304" pitchFamily="17" charset="-128"/>
                <a:ea typeface="ＭＳ 明朝" panose="02020609040205080304" pitchFamily="17" charset="-128"/>
              </a:rPr>
              <a:t>情報等は異なるであろうが）</a:t>
            </a:r>
            <a:endParaRPr lang="en-US" altLang="ja-JP" sz="14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15276331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28C43062-54B4-4B00-BAE4-40999FE2A1E5}"/>
              </a:ext>
            </a:extLst>
          </p:cNvPr>
          <p:cNvPicPr>
            <a:picLocks noChangeAspect="1"/>
          </p:cNvPicPr>
          <p:nvPr/>
        </p:nvPicPr>
        <p:blipFill>
          <a:blip r:embed="rId2"/>
          <a:stretch>
            <a:fillRect/>
          </a:stretch>
        </p:blipFill>
        <p:spPr>
          <a:xfrm>
            <a:off x="7700726" y="2401080"/>
            <a:ext cx="652223" cy="521778"/>
          </a:xfrm>
          <a:prstGeom prst="rect">
            <a:avLst/>
          </a:prstGeom>
        </p:spPr>
      </p:pic>
      <p:sp>
        <p:nvSpPr>
          <p:cNvPr id="2" name="タイトル 1">
            <a:extLst>
              <a:ext uri="{FF2B5EF4-FFF2-40B4-BE49-F238E27FC236}">
                <a16:creationId xmlns:a16="http://schemas.microsoft.com/office/drawing/2014/main" id="{83F14949-9CE5-45BE-BC5D-3300EEEA9F1F}"/>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構成図（簡略化）想定侵入経路</a:t>
            </a:r>
          </a:p>
        </p:txBody>
      </p:sp>
      <p:cxnSp>
        <p:nvCxnSpPr>
          <p:cNvPr id="3" name="直線コネクタ 2">
            <a:extLst>
              <a:ext uri="{FF2B5EF4-FFF2-40B4-BE49-F238E27FC236}">
                <a16:creationId xmlns:a16="http://schemas.microsoft.com/office/drawing/2014/main" id="{85C36197-3526-4A6D-8E36-9C0A7CAB5B5F}"/>
              </a:ext>
            </a:extLst>
          </p:cNvPr>
          <p:cNvCxnSpPr>
            <a:cxnSpLocks/>
          </p:cNvCxnSpPr>
          <p:nvPr/>
        </p:nvCxnSpPr>
        <p:spPr>
          <a:xfrm>
            <a:off x="3886116" y="927651"/>
            <a:ext cx="0" cy="15320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00452DCD-78B9-40D6-8578-DFF3494CB6BD}"/>
              </a:ext>
            </a:extLst>
          </p:cNvPr>
          <p:cNvSpPr txBox="1"/>
          <p:nvPr/>
        </p:nvSpPr>
        <p:spPr>
          <a:xfrm>
            <a:off x="3275276"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5" name="テキスト ボックス 4">
            <a:extLst>
              <a:ext uri="{FF2B5EF4-FFF2-40B4-BE49-F238E27FC236}">
                <a16:creationId xmlns:a16="http://schemas.microsoft.com/office/drawing/2014/main" id="{EC25BA71-091D-4C25-9737-3F7773015E44}"/>
              </a:ext>
            </a:extLst>
          </p:cNvPr>
          <p:cNvSpPr txBox="1"/>
          <p:nvPr/>
        </p:nvSpPr>
        <p:spPr>
          <a:xfrm>
            <a:off x="3275274" y="1919635"/>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6" name="雲 5">
            <a:extLst>
              <a:ext uri="{FF2B5EF4-FFF2-40B4-BE49-F238E27FC236}">
                <a16:creationId xmlns:a16="http://schemas.microsoft.com/office/drawing/2014/main" id="{B7BC6461-E36C-4433-8B9D-40B66271D6B7}"/>
              </a:ext>
            </a:extLst>
          </p:cNvPr>
          <p:cNvSpPr/>
          <p:nvPr/>
        </p:nvSpPr>
        <p:spPr>
          <a:xfrm>
            <a:off x="3061355" y="742689"/>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latin typeface="ＭＳ 明朝" panose="02020609040205080304" pitchFamily="17" charset="-128"/>
                <a:ea typeface="ＭＳ 明朝" panose="02020609040205080304" pitchFamily="17" charset="-128"/>
              </a:rPr>
              <a:t>DII</a:t>
            </a:r>
            <a:endParaRPr kumimoji="1" lang="ja-JP" altLang="en-US" sz="2800" dirty="0">
              <a:solidFill>
                <a:schemeClr val="tx1"/>
              </a:solidFill>
              <a:latin typeface="ＭＳ 明朝" panose="02020609040205080304" pitchFamily="17" charset="-128"/>
              <a:ea typeface="ＭＳ 明朝" panose="02020609040205080304" pitchFamily="17" charset="-128"/>
            </a:endParaRPr>
          </a:p>
        </p:txBody>
      </p:sp>
      <p:cxnSp>
        <p:nvCxnSpPr>
          <p:cNvPr id="7" name="直線コネクタ 6">
            <a:extLst>
              <a:ext uri="{FF2B5EF4-FFF2-40B4-BE49-F238E27FC236}">
                <a16:creationId xmlns:a16="http://schemas.microsoft.com/office/drawing/2014/main" id="{CF691258-08DC-41C9-A8A7-F893C0F6DFB0}"/>
              </a:ext>
            </a:extLst>
          </p:cNvPr>
          <p:cNvCxnSpPr>
            <a:cxnSpLocks/>
            <a:endCxn id="16" idx="0"/>
          </p:cNvCxnSpPr>
          <p:nvPr/>
        </p:nvCxnSpPr>
        <p:spPr>
          <a:xfrm>
            <a:off x="8001671" y="818919"/>
            <a:ext cx="0" cy="1582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6A1A08AD-7D7D-4CF7-8D75-DD26E2D3B442}"/>
              </a:ext>
            </a:extLst>
          </p:cNvPr>
          <p:cNvSpPr txBox="1"/>
          <p:nvPr/>
        </p:nvSpPr>
        <p:spPr>
          <a:xfrm>
            <a:off x="7389772"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9" name="テキスト ボックス 8">
            <a:extLst>
              <a:ext uri="{FF2B5EF4-FFF2-40B4-BE49-F238E27FC236}">
                <a16:creationId xmlns:a16="http://schemas.microsoft.com/office/drawing/2014/main" id="{6CD33659-78AC-4077-B2F4-810748427629}"/>
              </a:ext>
            </a:extLst>
          </p:cNvPr>
          <p:cNvSpPr txBox="1"/>
          <p:nvPr/>
        </p:nvSpPr>
        <p:spPr>
          <a:xfrm>
            <a:off x="7389772" y="1905114"/>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10" name="雲 9">
            <a:extLst>
              <a:ext uri="{FF2B5EF4-FFF2-40B4-BE49-F238E27FC236}">
                <a16:creationId xmlns:a16="http://schemas.microsoft.com/office/drawing/2014/main" id="{6CC9B7F5-56AE-497C-9C72-F4F0AEDE82EA}"/>
              </a:ext>
            </a:extLst>
          </p:cNvPr>
          <p:cNvSpPr/>
          <p:nvPr/>
        </p:nvSpPr>
        <p:spPr>
          <a:xfrm>
            <a:off x="7125331" y="763685"/>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latin typeface="ＭＳ 明朝" panose="02020609040205080304" pitchFamily="17" charset="-128"/>
                <a:ea typeface="ＭＳ 明朝" panose="02020609040205080304" pitchFamily="17" charset="-128"/>
              </a:rPr>
              <a:t>FACE</a:t>
            </a:r>
            <a:endParaRPr kumimoji="1" lang="ja-JP" altLang="en-US" sz="2000" dirty="0">
              <a:solidFill>
                <a:schemeClr val="tx1"/>
              </a:solidFill>
              <a:latin typeface="ＭＳ 明朝" panose="02020609040205080304" pitchFamily="17" charset="-128"/>
              <a:ea typeface="ＭＳ 明朝" panose="02020609040205080304" pitchFamily="17" charset="-128"/>
            </a:endParaRPr>
          </a:p>
        </p:txBody>
      </p:sp>
      <p:sp>
        <p:nvSpPr>
          <p:cNvPr id="11" name="四角形: 角を丸くする 10">
            <a:extLst>
              <a:ext uri="{FF2B5EF4-FFF2-40B4-BE49-F238E27FC236}">
                <a16:creationId xmlns:a16="http://schemas.microsoft.com/office/drawing/2014/main" id="{DB0BA2E2-1F40-4C6B-B933-FDE65682BEC2}"/>
              </a:ext>
            </a:extLst>
          </p:cNvPr>
          <p:cNvSpPr/>
          <p:nvPr/>
        </p:nvSpPr>
        <p:spPr>
          <a:xfrm>
            <a:off x="77258" y="3131346"/>
            <a:ext cx="11848985" cy="173791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cxnSp>
        <p:nvCxnSpPr>
          <p:cNvPr id="12" name="直線コネクタ 11">
            <a:extLst>
              <a:ext uri="{FF2B5EF4-FFF2-40B4-BE49-F238E27FC236}">
                <a16:creationId xmlns:a16="http://schemas.microsoft.com/office/drawing/2014/main" id="{8A661DE9-3345-4EAF-83D5-0F8B6FED7CF3}"/>
              </a:ext>
            </a:extLst>
          </p:cNvPr>
          <p:cNvCxnSpPr>
            <a:cxnSpLocks/>
          </p:cNvCxnSpPr>
          <p:nvPr/>
        </p:nvCxnSpPr>
        <p:spPr>
          <a:xfrm>
            <a:off x="1335663" y="2609568"/>
            <a:ext cx="0" cy="7873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FBA80E60-4CD5-445F-922E-9CF18E62EA7B}"/>
              </a:ext>
            </a:extLst>
          </p:cNvPr>
          <p:cNvPicPr>
            <a:picLocks noChangeAspect="1"/>
          </p:cNvPicPr>
          <p:nvPr/>
        </p:nvPicPr>
        <p:blipFill>
          <a:blip r:embed="rId3"/>
          <a:stretch>
            <a:fillRect/>
          </a:stretch>
        </p:blipFill>
        <p:spPr>
          <a:xfrm>
            <a:off x="374164" y="5285486"/>
            <a:ext cx="1018590" cy="533467"/>
          </a:xfrm>
          <a:prstGeom prst="rect">
            <a:avLst/>
          </a:prstGeom>
          <a:ln>
            <a:solidFill>
              <a:schemeClr val="tx1"/>
            </a:solidFill>
          </a:ln>
        </p:spPr>
      </p:pic>
      <p:sp>
        <p:nvSpPr>
          <p:cNvPr id="31" name="正方形/長方形 30">
            <a:extLst>
              <a:ext uri="{FF2B5EF4-FFF2-40B4-BE49-F238E27FC236}">
                <a16:creationId xmlns:a16="http://schemas.microsoft.com/office/drawing/2014/main" id="{A8D3E06E-AEAD-471E-BD06-F50DE5DFB7F0}"/>
              </a:ext>
            </a:extLst>
          </p:cNvPr>
          <p:cNvSpPr/>
          <p:nvPr/>
        </p:nvSpPr>
        <p:spPr>
          <a:xfrm>
            <a:off x="75501" y="5123219"/>
            <a:ext cx="1543574" cy="8824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65CEA6ED-A402-4E96-B3DB-3C991B32552A}"/>
              </a:ext>
            </a:extLst>
          </p:cNvPr>
          <p:cNvSpPr txBox="1"/>
          <p:nvPr/>
        </p:nvSpPr>
        <p:spPr>
          <a:xfrm>
            <a:off x="161641" y="4896575"/>
            <a:ext cx="543739" cy="307777"/>
          </a:xfrm>
          <a:prstGeom prst="rect">
            <a:avLst/>
          </a:prstGeom>
          <a:solidFill>
            <a:schemeClr val="bg1"/>
          </a:solidFill>
          <a:ln>
            <a:noFill/>
          </a:ln>
        </p:spPr>
        <p:txBody>
          <a:bodyPr wrap="none" rtlCol="0">
            <a:spAutoFit/>
          </a:bodyPr>
          <a:lstStyle/>
          <a:p>
            <a:pPr algn="l"/>
            <a:r>
              <a:rPr kumimoji="1" lang="ja-JP" altLang="en-US" sz="1400" dirty="0">
                <a:latin typeface="ＭＳ 明朝" panose="02020609040205080304" pitchFamily="17" charset="-128"/>
                <a:ea typeface="ＭＳ 明朝" panose="02020609040205080304" pitchFamily="17" charset="-128"/>
              </a:rPr>
              <a:t>米軍</a:t>
            </a:r>
          </a:p>
        </p:txBody>
      </p:sp>
      <p:sp>
        <p:nvSpPr>
          <p:cNvPr id="34" name="テキスト ボックス 33">
            <a:extLst>
              <a:ext uri="{FF2B5EF4-FFF2-40B4-BE49-F238E27FC236}">
                <a16:creationId xmlns:a16="http://schemas.microsoft.com/office/drawing/2014/main" id="{B760DD94-3933-4209-B2D4-19C8C4A5B9B0}"/>
              </a:ext>
            </a:extLst>
          </p:cNvPr>
          <p:cNvSpPr txBox="1"/>
          <p:nvPr/>
        </p:nvSpPr>
        <p:spPr>
          <a:xfrm>
            <a:off x="58947" y="4012920"/>
            <a:ext cx="889987" cy="261610"/>
          </a:xfrm>
          <a:prstGeom prst="rect">
            <a:avLst/>
          </a:prstGeom>
          <a:noFill/>
          <a:ln>
            <a:noFill/>
          </a:ln>
        </p:spPr>
        <p:txBody>
          <a:bodyPr wrap="none" rtlCol="0">
            <a:spAutoFit/>
          </a:bodyPr>
          <a:lstStyle/>
          <a:p>
            <a:pPr algn="l"/>
            <a:r>
              <a:rPr kumimoji="1" lang="en-US" altLang="ja-JP" sz="1050" dirty="0">
                <a:latin typeface="+mn-ea"/>
              </a:rPr>
              <a:t>Port25,110</a:t>
            </a:r>
            <a:endParaRPr kumimoji="1" lang="ja-JP" altLang="en-US" sz="1050" dirty="0">
              <a:latin typeface="+mn-ea"/>
            </a:endParaRPr>
          </a:p>
        </p:txBody>
      </p:sp>
      <p:sp>
        <p:nvSpPr>
          <p:cNvPr id="35" name="テキスト ボックス 34">
            <a:extLst>
              <a:ext uri="{FF2B5EF4-FFF2-40B4-BE49-F238E27FC236}">
                <a16:creationId xmlns:a16="http://schemas.microsoft.com/office/drawing/2014/main" id="{1D246377-8A78-4E80-8831-706850A89F1A}"/>
              </a:ext>
            </a:extLst>
          </p:cNvPr>
          <p:cNvSpPr txBox="1"/>
          <p:nvPr/>
        </p:nvSpPr>
        <p:spPr>
          <a:xfrm>
            <a:off x="2506685" y="2903692"/>
            <a:ext cx="543739" cy="307777"/>
          </a:xfrm>
          <a:prstGeom prst="rect">
            <a:avLst/>
          </a:prstGeom>
          <a:solidFill>
            <a:schemeClr val="bg1"/>
          </a:solidFill>
          <a:ln>
            <a:noFill/>
          </a:ln>
        </p:spPr>
        <p:txBody>
          <a:bodyPr wrap="none" rtlCol="0">
            <a:spAutoFit/>
          </a:bodyPr>
          <a:lstStyle/>
          <a:p>
            <a:pPr algn="l"/>
            <a:r>
              <a:rPr lang="en-US" altLang="ja-JP" sz="1400" dirty="0">
                <a:latin typeface="ＭＳ 明朝" panose="02020609040205080304" pitchFamily="17" charset="-128"/>
                <a:ea typeface="ＭＳ 明朝" panose="02020609040205080304" pitchFamily="17" charset="-128"/>
              </a:rPr>
              <a:t>FADP</a:t>
            </a:r>
            <a:endParaRPr kumimoji="1" lang="ja-JP" altLang="en-US" sz="1400" dirty="0">
              <a:latin typeface="ＭＳ 明朝" panose="02020609040205080304" pitchFamily="17" charset="-128"/>
              <a:ea typeface="ＭＳ 明朝" panose="02020609040205080304" pitchFamily="17" charset="-128"/>
            </a:endParaRPr>
          </a:p>
        </p:txBody>
      </p:sp>
      <p:pic>
        <p:nvPicPr>
          <p:cNvPr id="15" name="図 14">
            <a:extLst>
              <a:ext uri="{FF2B5EF4-FFF2-40B4-BE49-F238E27FC236}">
                <a16:creationId xmlns:a16="http://schemas.microsoft.com/office/drawing/2014/main" id="{0CA186C7-2BB3-4F6A-B059-DC99BB4FD52B}"/>
              </a:ext>
            </a:extLst>
          </p:cNvPr>
          <p:cNvPicPr>
            <a:picLocks noChangeAspect="1"/>
          </p:cNvPicPr>
          <p:nvPr/>
        </p:nvPicPr>
        <p:blipFill>
          <a:blip r:embed="rId2"/>
          <a:stretch>
            <a:fillRect/>
          </a:stretch>
        </p:blipFill>
        <p:spPr>
          <a:xfrm>
            <a:off x="3611894" y="2425437"/>
            <a:ext cx="652223" cy="521778"/>
          </a:xfrm>
          <a:prstGeom prst="rect">
            <a:avLst/>
          </a:prstGeom>
        </p:spPr>
      </p:pic>
      <p:cxnSp>
        <p:nvCxnSpPr>
          <p:cNvPr id="17" name="直線コネクタ 16">
            <a:extLst>
              <a:ext uri="{FF2B5EF4-FFF2-40B4-BE49-F238E27FC236}">
                <a16:creationId xmlns:a16="http://schemas.microsoft.com/office/drawing/2014/main" id="{F16B25B4-DA9B-4C25-9F25-074B7E828687}"/>
              </a:ext>
            </a:extLst>
          </p:cNvPr>
          <p:cNvCxnSpPr>
            <a:cxnSpLocks/>
          </p:cNvCxnSpPr>
          <p:nvPr/>
        </p:nvCxnSpPr>
        <p:spPr>
          <a:xfrm>
            <a:off x="3899453" y="2886264"/>
            <a:ext cx="0" cy="5106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C286F3FA-DD47-4CEA-9839-BC4E18872F1A}"/>
              </a:ext>
            </a:extLst>
          </p:cNvPr>
          <p:cNvCxnSpPr>
            <a:cxnSpLocks/>
          </p:cNvCxnSpPr>
          <p:nvPr/>
        </p:nvCxnSpPr>
        <p:spPr>
          <a:xfrm flipH="1">
            <a:off x="1335663" y="2609568"/>
            <a:ext cx="2293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A67A59A9-235B-44C3-BB17-97452841871A}"/>
              </a:ext>
            </a:extLst>
          </p:cNvPr>
          <p:cNvCxnSpPr>
            <a:cxnSpLocks/>
          </p:cNvCxnSpPr>
          <p:nvPr/>
        </p:nvCxnSpPr>
        <p:spPr>
          <a:xfrm>
            <a:off x="765226" y="3396957"/>
            <a:ext cx="11408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777CDB5D-A1AF-48EA-B451-5D333C85AC69}"/>
              </a:ext>
            </a:extLst>
          </p:cNvPr>
          <p:cNvCxnSpPr>
            <a:cxnSpLocks/>
            <a:endCxn id="31" idx="0"/>
          </p:cNvCxnSpPr>
          <p:nvPr/>
        </p:nvCxnSpPr>
        <p:spPr>
          <a:xfrm>
            <a:off x="765226" y="3396957"/>
            <a:ext cx="0" cy="1726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1659967C-5C25-4ABC-A664-55AB2CDD73D0}"/>
              </a:ext>
            </a:extLst>
          </p:cNvPr>
          <p:cNvSpPr txBox="1"/>
          <p:nvPr/>
        </p:nvSpPr>
        <p:spPr>
          <a:xfrm>
            <a:off x="313683" y="4482865"/>
            <a:ext cx="922789"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ルーター</a:t>
            </a:r>
          </a:p>
        </p:txBody>
      </p:sp>
      <p:sp>
        <p:nvSpPr>
          <p:cNvPr id="30" name="テキスト ボックス 29">
            <a:extLst>
              <a:ext uri="{FF2B5EF4-FFF2-40B4-BE49-F238E27FC236}">
                <a16:creationId xmlns:a16="http://schemas.microsoft.com/office/drawing/2014/main" id="{10B1431F-9EA1-4881-BFB6-699EC58CB8F3}"/>
              </a:ext>
            </a:extLst>
          </p:cNvPr>
          <p:cNvSpPr txBox="1"/>
          <p:nvPr/>
        </p:nvSpPr>
        <p:spPr>
          <a:xfrm>
            <a:off x="267514" y="3783244"/>
            <a:ext cx="995425"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米軍対向用端末</a:t>
            </a:r>
          </a:p>
        </p:txBody>
      </p:sp>
      <p:cxnSp>
        <p:nvCxnSpPr>
          <p:cNvPr id="61" name="直線コネクタ 60">
            <a:extLst>
              <a:ext uri="{FF2B5EF4-FFF2-40B4-BE49-F238E27FC236}">
                <a16:creationId xmlns:a16="http://schemas.microsoft.com/office/drawing/2014/main" id="{E59A4E8E-AB14-4662-94EC-F28A61607BCD}"/>
              </a:ext>
            </a:extLst>
          </p:cNvPr>
          <p:cNvCxnSpPr>
            <a:cxnSpLocks/>
          </p:cNvCxnSpPr>
          <p:nvPr/>
        </p:nvCxnSpPr>
        <p:spPr>
          <a:xfrm>
            <a:off x="1906100" y="3396957"/>
            <a:ext cx="0" cy="5247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417725C0-B5D7-4AF6-B0B8-1621524E621C}"/>
              </a:ext>
            </a:extLst>
          </p:cNvPr>
          <p:cNvSpPr txBox="1"/>
          <p:nvPr/>
        </p:nvSpPr>
        <p:spPr>
          <a:xfrm>
            <a:off x="1348541" y="3783244"/>
            <a:ext cx="995425" cy="369332"/>
          </a:xfrm>
          <a:prstGeom prst="rect">
            <a:avLst/>
          </a:prstGeom>
          <a:solidFill>
            <a:schemeClr val="bg1"/>
          </a:solidFill>
          <a:ln>
            <a:solidFill>
              <a:schemeClr val="tx1"/>
            </a:solidFill>
          </a:ln>
        </p:spPr>
        <p:txBody>
          <a:bodyPr wrap="square" rtlCol="0">
            <a:spAutoFit/>
          </a:bodyPr>
          <a:lstStyle/>
          <a:p>
            <a:pPr algn="ctr"/>
            <a:r>
              <a:rPr kumimoji="1" lang="ja-JP" altLang="en-US" sz="900" dirty="0"/>
              <a:t>運用情報等提供サーバー</a:t>
            </a:r>
          </a:p>
        </p:txBody>
      </p:sp>
      <p:sp>
        <p:nvSpPr>
          <p:cNvPr id="74" name="雲 73">
            <a:extLst>
              <a:ext uri="{FF2B5EF4-FFF2-40B4-BE49-F238E27FC236}">
                <a16:creationId xmlns:a16="http://schemas.microsoft.com/office/drawing/2014/main" id="{CD549789-08E6-4B45-A50D-BCA1CEE11513}"/>
              </a:ext>
            </a:extLst>
          </p:cNvPr>
          <p:cNvSpPr/>
          <p:nvPr/>
        </p:nvSpPr>
        <p:spPr>
          <a:xfrm>
            <a:off x="2570244" y="3258324"/>
            <a:ext cx="7051511" cy="1275374"/>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1D47C34A-3C5B-4F85-B081-448C57609A0B}"/>
              </a:ext>
            </a:extLst>
          </p:cNvPr>
          <p:cNvCxnSpPr>
            <a:cxnSpLocks/>
            <a:stCxn id="16" idx="2"/>
          </p:cNvCxnSpPr>
          <p:nvPr/>
        </p:nvCxnSpPr>
        <p:spPr>
          <a:xfrm flipH="1">
            <a:off x="8026836" y="2922858"/>
            <a:ext cx="2" cy="3354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2AF3AEDC-C87C-4A6E-9803-2E1F769D2608}"/>
              </a:ext>
            </a:extLst>
          </p:cNvPr>
          <p:cNvCxnSpPr>
            <a:cxnSpLocks/>
          </p:cNvCxnSpPr>
          <p:nvPr/>
        </p:nvCxnSpPr>
        <p:spPr>
          <a:xfrm flipV="1">
            <a:off x="9966120" y="1568701"/>
            <a:ext cx="0" cy="1222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CA979F3E-677F-4CB7-A265-C7E9812B1FF2}"/>
              </a:ext>
            </a:extLst>
          </p:cNvPr>
          <p:cNvCxnSpPr>
            <a:cxnSpLocks/>
          </p:cNvCxnSpPr>
          <p:nvPr/>
        </p:nvCxnSpPr>
        <p:spPr>
          <a:xfrm flipH="1">
            <a:off x="8715232" y="1568700"/>
            <a:ext cx="12508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6EED5533-222E-4EB8-98BB-56CE6C9177A8}"/>
              </a:ext>
            </a:extLst>
          </p:cNvPr>
          <p:cNvSpPr txBox="1"/>
          <p:nvPr/>
        </p:nvSpPr>
        <p:spPr>
          <a:xfrm>
            <a:off x="9353608" y="1688437"/>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44" name="テキスト ボックス 43">
            <a:extLst>
              <a:ext uri="{FF2B5EF4-FFF2-40B4-BE49-F238E27FC236}">
                <a16:creationId xmlns:a16="http://schemas.microsoft.com/office/drawing/2014/main" id="{45ADB3AA-C8DD-4204-A376-81FA0FC496F9}"/>
              </a:ext>
            </a:extLst>
          </p:cNvPr>
          <p:cNvSpPr txBox="1"/>
          <p:nvPr/>
        </p:nvSpPr>
        <p:spPr>
          <a:xfrm>
            <a:off x="9353608" y="2029680"/>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latin typeface="+mn-ea"/>
              </a:rPr>
              <a:t>ルーター</a:t>
            </a:r>
          </a:p>
        </p:txBody>
      </p:sp>
      <p:sp>
        <p:nvSpPr>
          <p:cNvPr id="45" name="テキスト ボックス 44">
            <a:extLst>
              <a:ext uri="{FF2B5EF4-FFF2-40B4-BE49-F238E27FC236}">
                <a16:creationId xmlns:a16="http://schemas.microsoft.com/office/drawing/2014/main" id="{B5008524-7A77-44BF-8763-4DA1595363B3}"/>
              </a:ext>
            </a:extLst>
          </p:cNvPr>
          <p:cNvSpPr txBox="1"/>
          <p:nvPr/>
        </p:nvSpPr>
        <p:spPr>
          <a:xfrm>
            <a:off x="9353608" y="2363603"/>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46" name="テキスト ボックス 45">
            <a:extLst>
              <a:ext uri="{FF2B5EF4-FFF2-40B4-BE49-F238E27FC236}">
                <a16:creationId xmlns:a16="http://schemas.microsoft.com/office/drawing/2014/main" id="{7D1634DB-C681-400E-98C4-A4F749BE71E0}"/>
              </a:ext>
            </a:extLst>
          </p:cNvPr>
          <p:cNvSpPr txBox="1"/>
          <p:nvPr/>
        </p:nvSpPr>
        <p:spPr>
          <a:xfrm>
            <a:off x="9362448" y="2712972"/>
            <a:ext cx="1325460" cy="276999"/>
          </a:xfrm>
          <a:prstGeom prst="rect">
            <a:avLst/>
          </a:prstGeom>
          <a:solidFill>
            <a:srgbClr val="FFFF00"/>
          </a:solidFill>
          <a:ln>
            <a:solidFill>
              <a:schemeClr val="tx1"/>
            </a:solidFill>
          </a:ln>
        </p:spPr>
        <p:txBody>
          <a:bodyPr wrap="square" rtlCol="0">
            <a:spAutoFit/>
          </a:bodyPr>
          <a:lstStyle/>
          <a:p>
            <a:pPr algn="ctr"/>
            <a:r>
              <a:rPr kumimoji="1" lang="en-US" altLang="ja-JP" sz="1200" dirty="0">
                <a:latin typeface="+mn-ea"/>
              </a:rPr>
              <a:t>FACE</a:t>
            </a:r>
            <a:r>
              <a:rPr kumimoji="1" lang="ja-JP" altLang="en-US" sz="1200" dirty="0">
                <a:latin typeface="+mn-ea"/>
              </a:rPr>
              <a:t>対向用</a:t>
            </a:r>
          </a:p>
        </p:txBody>
      </p:sp>
      <p:sp>
        <p:nvSpPr>
          <p:cNvPr id="36" name="矢印: 下 35">
            <a:extLst>
              <a:ext uri="{FF2B5EF4-FFF2-40B4-BE49-F238E27FC236}">
                <a16:creationId xmlns:a16="http://schemas.microsoft.com/office/drawing/2014/main" id="{658652FD-BA21-4238-94A9-076E1F2E81BE}"/>
              </a:ext>
            </a:extLst>
          </p:cNvPr>
          <p:cNvSpPr/>
          <p:nvPr/>
        </p:nvSpPr>
        <p:spPr>
          <a:xfrm flipH="1">
            <a:off x="7527796" y="1181660"/>
            <a:ext cx="239975" cy="1454962"/>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9BD5812B-6F66-4EDC-80C9-7D8774427148}"/>
              </a:ext>
            </a:extLst>
          </p:cNvPr>
          <p:cNvSpPr/>
          <p:nvPr/>
        </p:nvSpPr>
        <p:spPr>
          <a:xfrm rot="3864734" flipH="1">
            <a:off x="6484096" y="2113795"/>
            <a:ext cx="239975" cy="2267157"/>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75194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7B4559A9-0229-41DC-B284-22F2B4519961}"/>
              </a:ext>
            </a:extLst>
          </p:cNvPr>
          <p:cNvSpPr/>
          <p:nvPr/>
        </p:nvSpPr>
        <p:spPr>
          <a:xfrm>
            <a:off x="1852022" y="1445337"/>
            <a:ext cx="8648521" cy="3477875"/>
          </a:xfrm>
          <a:prstGeom prst="rect">
            <a:avLst/>
          </a:prstGeom>
        </p:spPr>
        <p:txBody>
          <a:bodyPr wrap="none">
            <a:spAutoFit/>
          </a:bodyPr>
          <a:lstStyle/>
          <a:p>
            <a:pPr lvl="0">
              <a:defRPr/>
            </a:pPr>
            <a:r>
              <a:rPr lang="ja-JP" altLang="en-US" sz="2000" dirty="0">
                <a:latin typeface="ＭＳ 明朝" panose="02020609040205080304" pitchFamily="17" charset="-128"/>
                <a:ea typeface="ＭＳ 明朝" panose="02020609040205080304" pitchFamily="17" charset="-128"/>
              </a:rPr>
              <a:t>検知手法</a:t>
            </a:r>
            <a:endParaRPr lang="en-US" altLang="ja-JP" sz="2000" dirty="0">
              <a:latin typeface="ＭＳ 明朝" panose="02020609040205080304" pitchFamily="17" charset="-128"/>
              <a:ea typeface="ＭＳ 明朝" panose="02020609040205080304" pitchFamily="17" charset="-128"/>
            </a:endParaRPr>
          </a:p>
          <a:p>
            <a:pPr lvl="0">
              <a:defRPr/>
            </a:pPr>
            <a:endParaRPr lang="en-US" altLang="ja-JP" sz="2000" dirty="0">
              <a:latin typeface="ＭＳ 明朝" panose="02020609040205080304" pitchFamily="17" charset="-128"/>
              <a:ea typeface="ＭＳ 明朝" panose="02020609040205080304" pitchFamily="17" charset="-128"/>
            </a:endParaRPr>
          </a:p>
          <a:p>
            <a:pPr lvl="0">
              <a:defRPr/>
            </a:pPr>
            <a:r>
              <a:rPr lang="ja-JP" altLang="en-US" sz="2000" dirty="0">
                <a:latin typeface="ＭＳ 明朝" panose="02020609040205080304" pitchFamily="17" charset="-128"/>
                <a:ea typeface="ＭＳ 明朝" panose="02020609040205080304" pitchFamily="17" charset="-128"/>
              </a:rPr>
              <a:t>・</a:t>
            </a:r>
            <a:r>
              <a:rPr lang="en-US" altLang="ja-JP" sz="2000" dirty="0">
                <a:latin typeface="ＭＳ 明朝" panose="02020609040205080304" pitchFamily="17" charset="-128"/>
                <a:ea typeface="ＭＳ 明朝" panose="02020609040205080304" pitchFamily="17" charset="-128"/>
              </a:rPr>
              <a:t>FW</a:t>
            </a:r>
            <a:r>
              <a:rPr lang="ja-JP" altLang="en-US" sz="2000" dirty="0">
                <a:latin typeface="ＭＳ 明朝" panose="02020609040205080304" pitchFamily="17" charset="-128"/>
                <a:ea typeface="ＭＳ 明朝" panose="02020609040205080304" pitchFamily="17" charset="-128"/>
              </a:rPr>
              <a:t>で</a:t>
            </a:r>
            <a:r>
              <a:rPr lang="en-US" altLang="ja-JP" sz="2000" dirty="0">
                <a:latin typeface="ＭＳ 明朝" panose="02020609040205080304" pitchFamily="17" charset="-128"/>
                <a:ea typeface="ＭＳ 明朝" panose="02020609040205080304" pitchFamily="17" charset="-128"/>
              </a:rPr>
              <a:t>port23</a:t>
            </a:r>
            <a:r>
              <a:rPr lang="ja-JP" altLang="en-US" sz="2000" dirty="0">
                <a:latin typeface="ＭＳ 明朝" panose="02020609040205080304" pitchFamily="17" charset="-128"/>
                <a:ea typeface="ＭＳ 明朝" panose="02020609040205080304" pitchFamily="17" charset="-128"/>
              </a:rPr>
              <a:t>の通信が存在しないかを確認</a:t>
            </a:r>
            <a:endParaRPr lang="en-US" altLang="ja-JP" sz="2000" dirty="0">
              <a:latin typeface="ＭＳ 明朝" panose="02020609040205080304" pitchFamily="17" charset="-128"/>
              <a:ea typeface="ＭＳ 明朝" panose="02020609040205080304" pitchFamily="17" charset="-128"/>
            </a:endParaRPr>
          </a:p>
          <a:p>
            <a:pPr lvl="0">
              <a:defRPr/>
            </a:pPr>
            <a:endParaRPr lang="en-US" altLang="ja-JP" sz="2000" dirty="0">
              <a:latin typeface="ＭＳ 明朝" panose="02020609040205080304" pitchFamily="17" charset="-128"/>
              <a:ea typeface="ＭＳ 明朝" panose="02020609040205080304" pitchFamily="17" charset="-128"/>
            </a:endParaRPr>
          </a:p>
          <a:p>
            <a:pPr lvl="0">
              <a:defRPr/>
            </a:pPr>
            <a:r>
              <a:rPr lang="ja-JP" altLang="en-US" sz="2000" dirty="0">
                <a:latin typeface="ＭＳ 明朝" panose="02020609040205080304" pitchFamily="17" charset="-128"/>
                <a:ea typeface="ＭＳ 明朝" panose="02020609040205080304" pitchFamily="17" charset="-128"/>
              </a:rPr>
              <a:t>・各種機器のアクセスログで</a:t>
            </a:r>
            <a:r>
              <a:rPr lang="en-US" altLang="ja-JP" sz="2000" dirty="0">
                <a:latin typeface="ＭＳ 明朝" panose="02020609040205080304" pitchFamily="17" charset="-128"/>
                <a:ea typeface="ＭＳ 明朝" panose="02020609040205080304" pitchFamily="17" charset="-128"/>
              </a:rPr>
              <a:t>telnet</a:t>
            </a:r>
            <a:r>
              <a:rPr lang="ja-JP" altLang="en-US" sz="2000" dirty="0">
                <a:latin typeface="ＭＳ 明朝" panose="02020609040205080304" pitchFamily="17" charset="-128"/>
                <a:ea typeface="ＭＳ 明朝" panose="02020609040205080304" pitchFamily="17" charset="-128"/>
              </a:rPr>
              <a:t>通信が試行されたログがないかを確認</a:t>
            </a:r>
            <a:endParaRPr lang="en-US" altLang="ja-JP" sz="2000" dirty="0">
              <a:latin typeface="ＭＳ 明朝" panose="02020609040205080304" pitchFamily="17" charset="-128"/>
              <a:ea typeface="ＭＳ 明朝" panose="02020609040205080304" pitchFamily="17" charset="-128"/>
            </a:endParaRPr>
          </a:p>
          <a:p>
            <a:pPr lvl="0">
              <a:defRPr/>
            </a:pPr>
            <a:endParaRPr lang="en-US" altLang="ja-JP" sz="2000" dirty="0">
              <a:latin typeface="ＭＳ 明朝" panose="02020609040205080304" pitchFamily="17" charset="-128"/>
              <a:ea typeface="ＭＳ 明朝" panose="02020609040205080304" pitchFamily="17" charset="-128"/>
            </a:endParaRPr>
          </a:p>
          <a:p>
            <a:pPr lvl="0">
              <a:defRPr/>
            </a:pPr>
            <a:r>
              <a:rPr lang="ja-JP" altLang="en-US" sz="2000" dirty="0">
                <a:latin typeface="ＭＳ 明朝" panose="02020609040205080304" pitchFamily="17" charset="-128"/>
                <a:ea typeface="ＭＳ 明朝" panose="02020609040205080304" pitchFamily="17" charset="-128"/>
              </a:rPr>
              <a:t>緩和策</a:t>
            </a:r>
            <a:endParaRPr lang="en-US" altLang="ja-JP" sz="2000" dirty="0">
              <a:latin typeface="ＭＳ 明朝" panose="02020609040205080304" pitchFamily="17" charset="-128"/>
              <a:ea typeface="ＭＳ 明朝" panose="02020609040205080304" pitchFamily="17" charset="-128"/>
            </a:endParaRPr>
          </a:p>
          <a:p>
            <a:pPr lvl="0">
              <a:defRPr/>
            </a:pPr>
            <a:endParaRPr lang="en-US" altLang="ja-JP" sz="2000" dirty="0">
              <a:latin typeface="ＭＳ 明朝" panose="02020609040205080304" pitchFamily="17" charset="-128"/>
              <a:ea typeface="ＭＳ 明朝" panose="02020609040205080304" pitchFamily="17" charset="-128"/>
            </a:endParaRPr>
          </a:p>
          <a:p>
            <a:pPr lvl="0">
              <a:defRPr/>
            </a:pPr>
            <a:r>
              <a:rPr lang="ja-JP" altLang="en-US" sz="2000" dirty="0">
                <a:latin typeface="ＭＳ 明朝" panose="02020609040205080304" pitchFamily="17" charset="-128"/>
                <a:ea typeface="ＭＳ 明朝" panose="02020609040205080304" pitchFamily="17" charset="-128"/>
              </a:rPr>
              <a:t>・</a:t>
            </a:r>
            <a:r>
              <a:rPr lang="en-US" altLang="ja-JP" sz="2000" dirty="0">
                <a:latin typeface="ＭＳ 明朝" panose="02020609040205080304" pitchFamily="17" charset="-128"/>
                <a:ea typeface="ＭＳ 明朝" panose="02020609040205080304" pitchFamily="17" charset="-128"/>
              </a:rPr>
              <a:t>telnet</a:t>
            </a:r>
            <a:r>
              <a:rPr lang="ja-JP" altLang="en-US" sz="2000" dirty="0">
                <a:latin typeface="ＭＳ 明朝" panose="02020609040205080304" pitchFamily="17" charset="-128"/>
                <a:ea typeface="ＭＳ 明朝" panose="02020609040205080304" pitchFamily="17" charset="-128"/>
              </a:rPr>
              <a:t>通信を</a:t>
            </a:r>
            <a:r>
              <a:rPr lang="en-US" altLang="ja-JP" sz="2000" dirty="0">
                <a:latin typeface="ＭＳ 明朝" panose="02020609040205080304" pitchFamily="17" charset="-128"/>
                <a:ea typeface="ＭＳ 明朝" panose="02020609040205080304" pitchFamily="17" charset="-128"/>
              </a:rPr>
              <a:t>FW</a:t>
            </a:r>
            <a:r>
              <a:rPr lang="ja-JP" altLang="en-US" sz="2000" dirty="0">
                <a:latin typeface="ＭＳ 明朝" panose="02020609040205080304" pitchFamily="17" charset="-128"/>
                <a:ea typeface="ＭＳ 明朝" panose="02020609040205080304" pitchFamily="17" charset="-128"/>
              </a:rPr>
              <a:t>で遮断</a:t>
            </a:r>
            <a:endParaRPr lang="en-US" altLang="ja-JP" sz="2000" dirty="0">
              <a:latin typeface="ＭＳ 明朝" panose="02020609040205080304" pitchFamily="17" charset="-128"/>
              <a:ea typeface="ＭＳ 明朝" panose="02020609040205080304" pitchFamily="17" charset="-128"/>
            </a:endParaRPr>
          </a:p>
          <a:p>
            <a:pPr lvl="0">
              <a:defRPr/>
            </a:pPr>
            <a:endParaRPr lang="en-US" altLang="ja-JP" sz="2000" dirty="0">
              <a:latin typeface="ＭＳ 明朝" panose="02020609040205080304" pitchFamily="17" charset="-128"/>
              <a:ea typeface="ＭＳ 明朝" panose="02020609040205080304" pitchFamily="17" charset="-128"/>
            </a:endParaRPr>
          </a:p>
          <a:p>
            <a:pPr lvl="0">
              <a:defRPr/>
            </a:pPr>
            <a:r>
              <a:rPr lang="ja-JP" altLang="en-US" sz="2000" dirty="0">
                <a:latin typeface="ＭＳ 明朝" panose="02020609040205080304" pitchFamily="17" charset="-128"/>
                <a:ea typeface="ＭＳ 明朝" panose="02020609040205080304" pitchFamily="17" charset="-128"/>
              </a:rPr>
              <a:t>・機器の</a:t>
            </a:r>
            <a:r>
              <a:rPr lang="en-US" altLang="ja-JP" sz="2000" dirty="0">
                <a:latin typeface="ＭＳ 明朝" panose="02020609040205080304" pitchFamily="17" charset="-128"/>
                <a:ea typeface="ＭＳ 明朝" panose="02020609040205080304" pitchFamily="17" charset="-128"/>
              </a:rPr>
              <a:t>telnet</a:t>
            </a:r>
            <a:r>
              <a:rPr lang="ja-JP" altLang="en-US" sz="2000" dirty="0">
                <a:latin typeface="ＭＳ 明朝" panose="02020609040205080304" pitchFamily="17" charset="-128"/>
                <a:ea typeface="ＭＳ 明朝" panose="02020609040205080304" pitchFamily="17" charset="-128"/>
              </a:rPr>
              <a:t>接続を無効かする。</a:t>
            </a:r>
            <a:endParaRPr lang="en-US" altLang="ja-JP" sz="2000" dirty="0">
              <a:latin typeface="ＭＳ 明朝" panose="02020609040205080304" pitchFamily="17" charset="-128"/>
              <a:ea typeface="ＭＳ 明朝" panose="02020609040205080304" pitchFamily="17" charset="-128"/>
            </a:endParaRPr>
          </a:p>
        </p:txBody>
      </p:sp>
      <p:sp>
        <p:nvSpPr>
          <p:cNvPr id="3" name="タイトル 1">
            <a:extLst>
              <a:ext uri="{FF2B5EF4-FFF2-40B4-BE49-F238E27FC236}">
                <a16:creationId xmlns:a16="http://schemas.microsoft.com/office/drawing/2014/main" id="{41C81AC9-3D64-4766-82A0-7287C033D69B}"/>
              </a:ext>
            </a:extLst>
          </p:cNvPr>
          <p:cNvSpPr txBox="1">
            <a:spLocks/>
          </p:cNvSpPr>
          <p:nvPr/>
        </p:nvSpPr>
        <p:spPr>
          <a:xfrm>
            <a:off x="2202193" y="135201"/>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仮説５</a:t>
            </a:r>
          </a:p>
        </p:txBody>
      </p:sp>
    </p:spTree>
    <p:extLst>
      <p:ext uri="{BB962C8B-B14F-4D97-AF65-F5344CB8AC3E}">
        <p14:creationId xmlns:p14="http://schemas.microsoft.com/office/powerpoint/2010/main" val="4065961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219589B-E704-411B-AE52-524793F02BDC}"/>
              </a:ext>
            </a:extLst>
          </p:cNvPr>
          <p:cNvSpPr txBox="1"/>
          <p:nvPr/>
        </p:nvSpPr>
        <p:spPr>
          <a:xfrm>
            <a:off x="4356902" y="2663456"/>
            <a:ext cx="3276859" cy="1323439"/>
          </a:xfrm>
          <a:prstGeom prst="rect">
            <a:avLst/>
          </a:prstGeom>
          <a:noFill/>
        </p:spPr>
        <p:txBody>
          <a:bodyPr wrap="none" rtlCol="0">
            <a:spAutoFit/>
          </a:bodyPr>
          <a:lstStyle/>
          <a:p>
            <a:pPr algn="ctr"/>
            <a:r>
              <a:rPr kumimoji="1" lang="ja-JP" altLang="en-US" sz="8000" b="1" dirty="0">
                <a:latin typeface="ＭＳ 明朝" panose="02020609040205080304" pitchFamily="17" charset="-128"/>
                <a:ea typeface="ＭＳ 明朝" panose="02020609040205080304" pitchFamily="17" charset="-128"/>
              </a:rPr>
              <a:t>仮説６</a:t>
            </a:r>
            <a:endParaRPr kumimoji="1" lang="en-US" altLang="ja-JP" sz="8000" b="1" dirty="0">
              <a:latin typeface="ＭＳ 明朝" panose="02020609040205080304" pitchFamily="17" charset="-128"/>
              <a:ea typeface="ＭＳ 明朝" panose="02020609040205080304" pitchFamily="17" charset="-128"/>
            </a:endParaRPr>
          </a:p>
        </p:txBody>
      </p:sp>
      <p:sp>
        <p:nvSpPr>
          <p:cNvPr id="3" name="タイトル 1">
            <a:extLst>
              <a:ext uri="{FF2B5EF4-FFF2-40B4-BE49-F238E27FC236}">
                <a16:creationId xmlns:a16="http://schemas.microsoft.com/office/drawing/2014/main" id="{0CC646CD-56EE-4560-826A-A842ACAEBD4C}"/>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仮説６</a:t>
            </a:r>
          </a:p>
        </p:txBody>
      </p:sp>
    </p:spTree>
    <p:extLst>
      <p:ext uri="{BB962C8B-B14F-4D97-AF65-F5344CB8AC3E}">
        <p14:creationId xmlns:p14="http://schemas.microsoft.com/office/powerpoint/2010/main" val="35677458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3C51C42A-DB66-4453-9C6E-1A9060D2A1B0}"/>
              </a:ext>
            </a:extLst>
          </p:cNvPr>
          <p:cNvPicPr>
            <a:picLocks noChangeAspect="1"/>
          </p:cNvPicPr>
          <p:nvPr/>
        </p:nvPicPr>
        <p:blipFill>
          <a:blip r:embed="rId2"/>
          <a:stretch>
            <a:fillRect/>
          </a:stretch>
        </p:blipFill>
        <p:spPr>
          <a:xfrm>
            <a:off x="2253220" y="1535351"/>
            <a:ext cx="7836691" cy="5054560"/>
          </a:xfrm>
          <a:prstGeom prst="rect">
            <a:avLst/>
          </a:prstGeom>
          <a:ln>
            <a:solidFill>
              <a:schemeClr val="tx1"/>
            </a:solidFill>
          </a:ln>
        </p:spPr>
      </p:pic>
      <p:sp>
        <p:nvSpPr>
          <p:cNvPr id="3" name="タイトル 1">
            <a:extLst>
              <a:ext uri="{FF2B5EF4-FFF2-40B4-BE49-F238E27FC236}">
                <a16:creationId xmlns:a16="http://schemas.microsoft.com/office/drawing/2014/main" id="{7C4C45B4-8F95-4BBB-B8E3-100D6C663D4D}"/>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仮説６</a:t>
            </a:r>
          </a:p>
        </p:txBody>
      </p:sp>
      <p:sp>
        <p:nvSpPr>
          <p:cNvPr id="4" name="矢印: 下 3">
            <a:extLst>
              <a:ext uri="{FF2B5EF4-FFF2-40B4-BE49-F238E27FC236}">
                <a16:creationId xmlns:a16="http://schemas.microsoft.com/office/drawing/2014/main" id="{2BD2A2C9-0334-4CC8-BC1D-AD30D03490E2}"/>
              </a:ext>
            </a:extLst>
          </p:cNvPr>
          <p:cNvSpPr/>
          <p:nvPr/>
        </p:nvSpPr>
        <p:spPr>
          <a:xfrm>
            <a:off x="7044222" y="2491496"/>
            <a:ext cx="145940" cy="408107"/>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矢印: 下 4">
            <a:extLst>
              <a:ext uri="{FF2B5EF4-FFF2-40B4-BE49-F238E27FC236}">
                <a16:creationId xmlns:a16="http://schemas.microsoft.com/office/drawing/2014/main" id="{B76F0CD0-1776-4DB8-BAB4-DBDAA32D704B}"/>
              </a:ext>
            </a:extLst>
          </p:cNvPr>
          <p:cNvSpPr/>
          <p:nvPr/>
        </p:nvSpPr>
        <p:spPr>
          <a:xfrm rot="5037898">
            <a:off x="5988453" y="2057819"/>
            <a:ext cx="215093" cy="3355153"/>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A11C4B60-256F-44AC-A4A1-16600F30C1F2}"/>
              </a:ext>
            </a:extLst>
          </p:cNvPr>
          <p:cNvSpPr txBox="1"/>
          <p:nvPr/>
        </p:nvSpPr>
        <p:spPr>
          <a:xfrm>
            <a:off x="855677" y="687897"/>
            <a:ext cx="8956298" cy="646331"/>
          </a:xfrm>
          <a:prstGeom prst="rect">
            <a:avLst/>
          </a:prstGeom>
          <a:noFill/>
        </p:spPr>
        <p:txBody>
          <a:bodyPr wrap="none" rtlCol="0">
            <a:spAutoFit/>
          </a:bodyPr>
          <a:lstStyle/>
          <a:p>
            <a:r>
              <a:rPr lang="en-US" altLang="ja-JP" dirty="0">
                <a:latin typeface="ＭＳ 明朝" panose="02020609040205080304" pitchFamily="17" charset="-128"/>
                <a:ea typeface="ＭＳ 明朝" panose="02020609040205080304" pitchFamily="17" charset="-128"/>
              </a:rPr>
              <a:t>FACE</a:t>
            </a:r>
            <a:r>
              <a:rPr lang="ja-JP" altLang="en-US" dirty="0">
                <a:latin typeface="ＭＳ 明朝" panose="02020609040205080304" pitchFamily="17" charset="-128"/>
                <a:ea typeface="ＭＳ 明朝" panose="02020609040205080304" pitchFamily="17" charset="-128"/>
              </a:rPr>
              <a:t>上の不正な端末から</a:t>
            </a:r>
            <a:r>
              <a:rPr lang="en-US" altLang="ja-JP" dirty="0">
                <a:solidFill>
                  <a:srgbClr val="FF0000"/>
                </a:solidFill>
                <a:latin typeface="ＭＳ 明朝" panose="02020609040205080304" pitchFamily="17" charset="-128"/>
                <a:ea typeface="ＭＳ 明朝" panose="02020609040205080304" pitchFamily="17" charset="-128"/>
              </a:rPr>
              <a:t>FACE</a:t>
            </a:r>
            <a:r>
              <a:rPr lang="ja-JP" altLang="en-US" dirty="0">
                <a:solidFill>
                  <a:srgbClr val="FF0000"/>
                </a:solidFill>
                <a:latin typeface="ＭＳ 明朝" panose="02020609040205080304" pitchFamily="17" charset="-128"/>
                <a:ea typeface="ＭＳ 明朝" panose="02020609040205080304" pitchFamily="17" charset="-128"/>
              </a:rPr>
              <a:t>対向用端末</a:t>
            </a:r>
            <a:r>
              <a:rPr lang="ja-JP" altLang="en-US" dirty="0">
                <a:latin typeface="ＭＳ 明朝" panose="02020609040205080304" pitchFamily="17" charset="-128"/>
                <a:ea typeface="ＭＳ 明朝" panose="02020609040205080304" pitchFamily="17" charset="-128"/>
              </a:rPr>
              <a:t>にアクセスし、そこを踏み台として</a:t>
            </a:r>
            <a:r>
              <a:rPr lang="en-US" altLang="ja-JP" dirty="0">
                <a:latin typeface="ＭＳ 明朝" panose="02020609040205080304" pitchFamily="17" charset="-128"/>
                <a:ea typeface="ＭＳ 明朝" panose="02020609040205080304" pitchFamily="17" charset="-128"/>
              </a:rPr>
              <a:t>FADP</a:t>
            </a:r>
            <a:r>
              <a:rPr lang="ja-JP" altLang="en-US" dirty="0">
                <a:latin typeface="ＭＳ 明朝" panose="02020609040205080304" pitchFamily="17" charset="-128"/>
                <a:ea typeface="ＭＳ 明朝" panose="02020609040205080304" pitchFamily="17" charset="-128"/>
              </a:rPr>
              <a:t>内部</a:t>
            </a:r>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ネットワークに侵入され運行情報等</a:t>
            </a:r>
            <a:r>
              <a:rPr lang="en-US" altLang="ja-JP" dirty="0">
                <a:latin typeface="ＭＳ 明朝" panose="02020609040205080304" pitchFamily="17" charset="-128"/>
                <a:ea typeface="ＭＳ 明朝" panose="02020609040205080304" pitchFamily="17" charset="-128"/>
              </a:rPr>
              <a:t>DB</a:t>
            </a:r>
            <a:r>
              <a:rPr lang="ja-JP" altLang="en-US" dirty="0">
                <a:latin typeface="ＭＳ 明朝" panose="02020609040205080304" pitchFamily="17" charset="-128"/>
                <a:ea typeface="ＭＳ 明朝" panose="02020609040205080304" pitchFamily="17" charset="-128"/>
              </a:rPr>
              <a:t>サーバーの情報を入手された。</a:t>
            </a:r>
            <a:endParaRPr lang="en-US" altLang="ja-JP" dirty="0">
              <a:latin typeface="ＭＳ 明朝" panose="02020609040205080304" pitchFamily="17" charset="-128"/>
              <a:ea typeface="ＭＳ 明朝" panose="02020609040205080304" pitchFamily="17" charset="-128"/>
            </a:endParaRPr>
          </a:p>
        </p:txBody>
      </p:sp>
      <p:sp>
        <p:nvSpPr>
          <p:cNvPr id="8" name="矢印: 下 7">
            <a:extLst>
              <a:ext uri="{FF2B5EF4-FFF2-40B4-BE49-F238E27FC236}">
                <a16:creationId xmlns:a16="http://schemas.microsoft.com/office/drawing/2014/main" id="{60BF09F7-071F-4150-AC6A-95ABE84F5392}"/>
              </a:ext>
            </a:extLst>
          </p:cNvPr>
          <p:cNvSpPr/>
          <p:nvPr/>
        </p:nvSpPr>
        <p:spPr>
          <a:xfrm rot="18835880">
            <a:off x="7476352" y="2792177"/>
            <a:ext cx="196199" cy="668527"/>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370185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28C43062-54B4-4B00-BAE4-40999FE2A1E5}"/>
              </a:ext>
            </a:extLst>
          </p:cNvPr>
          <p:cNvPicPr>
            <a:picLocks noChangeAspect="1"/>
          </p:cNvPicPr>
          <p:nvPr/>
        </p:nvPicPr>
        <p:blipFill>
          <a:blip r:embed="rId2"/>
          <a:stretch>
            <a:fillRect/>
          </a:stretch>
        </p:blipFill>
        <p:spPr>
          <a:xfrm>
            <a:off x="7700726" y="2401080"/>
            <a:ext cx="652223" cy="521778"/>
          </a:xfrm>
          <a:prstGeom prst="rect">
            <a:avLst/>
          </a:prstGeom>
        </p:spPr>
      </p:pic>
      <p:sp>
        <p:nvSpPr>
          <p:cNvPr id="2" name="タイトル 1">
            <a:extLst>
              <a:ext uri="{FF2B5EF4-FFF2-40B4-BE49-F238E27FC236}">
                <a16:creationId xmlns:a16="http://schemas.microsoft.com/office/drawing/2014/main" id="{83F14949-9CE5-45BE-BC5D-3300EEEA9F1F}"/>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構成図（簡略化）想定侵入経路</a:t>
            </a:r>
          </a:p>
        </p:txBody>
      </p:sp>
      <p:cxnSp>
        <p:nvCxnSpPr>
          <p:cNvPr id="3" name="直線コネクタ 2">
            <a:extLst>
              <a:ext uri="{FF2B5EF4-FFF2-40B4-BE49-F238E27FC236}">
                <a16:creationId xmlns:a16="http://schemas.microsoft.com/office/drawing/2014/main" id="{85C36197-3526-4A6D-8E36-9C0A7CAB5B5F}"/>
              </a:ext>
            </a:extLst>
          </p:cNvPr>
          <p:cNvCxnSpPr>
            <a:cxnSpLocks/>
          </p:cNvCxnSpPr>
          <p:nvPr/>
        </p:nvCxnSpPr>
        <p:spPr>
          <a:xfrm>
            <a:off x="3886116" y="927651"/>
            <a:ext cx="0" cy="15320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00452DCD-78B9-40D6-8578-DFF3494CB6BD}"/>
              </a:ext>
            </a:extLst>
          </p:cNvPr>
          <p:cNvSpPr txBox="1"/>
          <p:nvPr/>
        </p:nvSpPr>
        <p:spPr>
          <a:xfrm>
            <a:off x="3275276"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5" name="テキスト ボックス 4">
            <a:extLst>
              <a:ext uri="{FF2B5EF4-FFF2-40B4-BE49-F238E27FC236}">
                <a16:creationId xmlns:a16="http://schemas.microsoft.com/office/drawing/2014/main" id="{EC25BA71-091D-4C25-9737-3F7773015E44}"/>
              </a:ext>
            </a:extLst>
          </p:cNvPr>
          <p:cNvSpPr txBox="1"/>
          <p:nvPr/>
        </p:nvSpPr>
        <p:spPr>
          <a:xfrm>
            <a:off x="3275274" y="1919635"/>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6" name="雲 5">
            <a:extLst>
              <a:ext uri="{FF2B5EF4-FFF2-40B4-BE49-F238E27FC236}">
                <a16:creationId xmlns:a16="http://schemas.microsoft.com/office/drawing/2014/main" id="{B7BC6461-E36C-4433-8B9D-40B66271D6B7}"/>
              </a:ext>
            </a:extLst>
          </p:cNvPr>
          <p:cNvSpPr/>
          <p:nvPr/>
        </p:nvSpPr>
        <p:spPr>
          <a:xfrm>
            <a:off x="3061355" y="742689"/>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latin typeface="ＭＳ 明朝" panose="02020609040205080304" pitchFamily="17" charset="-128"/>
                <a:ea typeface="ＭＳ 明朝" panose="02020609040205080304" pitchFamily="17" charset="-128"/>
              </a:rPr>
              <a:t>DII</a:t>
            </a:r>
            <a:endParaRPr kumimoji="1" lang="ja-JP" altLang="en-US" sz="2800" dirty="0">
              <a:solidFill>
                <a:schemeClr val="tx1"/>
              </a:solidFill>
              <a:latin typeface="ＭＳ 明朝" panose="02020609040205080304" pitchFamily="17" charset="-128"/>
              <a:ea typeface="ＭＳ 明朝" panose="02020609040205080304" pitchFamily="17" charset="-128"/>
            </a:endParaRPr>
          </a:p>
        </p:txBody>
      </p:sp>
      <p:cxnSp>
        <p:nvCxnSpPr>
          <p:cNvPr id="7" name="直線コネクタ 6">
            <a:extLst>
              <a:ext uri="{FF2B5EF4-FFF2-40B4-BE49-F238E27FC236}">
                <a16:creationId xmlns:a16="http://schemas.microsoft.com/office/drawing/2014/main" id="{CF691258-08DC-41C9-A8A7-F893C0F6DFB0}"/>
              </a:ext>
            </a:extLst>
          </p:cNvPr>
          <p:cNvCxnSpPr>
            <a:cxnSpLocks/>
            <a:endCxn id="16" idx="0"/>
          </p:cNvCxnSpPr>
          <p:nvPr/>
        </p:nvCxnSpPr>
        <p:spPr>
          <a:xfrm>
            <a:off x="8001671" y="818919"/>
            <a:ext cx="0" cy="1582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6A1A08AD-7D7D-4CF7-8D75-DD26E2D3B442}"/>
              </a:ext>
            </a:extLst>
          </p:cNvPr>
          <p:cNvSpPr txBox="1"/>
          <p:nvPr/>
        </p:nvSpPr>
        <p:spPr>
          <a:xfrm>
            <a:off x="7389772"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9" name="テキスト ボックス 8">
            <a:extLst>
              <a:ext uri="{FF2B5EF4-FFF2-40B4-BE49-F238E27FC236}">
                <a16:creationId xmlns:a16="http://schemas.microsoft.com/office/drawing/2014/main" id="{6CD33659-78AC-4077-B2F4-810748427629}"/>
              </a:ext>
            </a:extLst>
          </p:cNvPr>
          <p:cNvSpPr txBox="1"/>
          <p:nvPr/>
        </p:nvSpPr>
        <p:spPr>
          <a:xfrm>
            <a:off x="7389772" y="1905114"/>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10" name="雲 9">
            <a:extLst>
              <a:ext uri="{FF2B5EF4-FFF2-40B4-BE49-F238E27FC236}">
                <a16:creationId xmlns:a16="http://schemas.microsoft.com/office/drawing/2014/main" id="{6CC9B7F5-56AE-497C-9C72-F4F0AEDE82EA}"/>
              </a:ext>
            </a:extLst>
          </p:cNvPr>
          <p:cNvSpPr/>
          <p:nvPr/>
        </p:nvSpPr>
        <p:spPr>
          <a:xfrm>
            <a:off x="7125331" y="763685"/>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latin typeface="ＭＳ 明朝" panose="02020609040205080304" pitchFamily="17" charset="-128"/>
                <a:ea typeface="ＭＳ 明朝" panose="02020609040205080304" pitchFamily="17" charset="-128"/>
              </a:rPr>
              <a:t>FACE</a:t>
            </a:r>
            <a:endParaRPr kumimoji="1" lang="ja-JP" altLang="en-US" sz="2000" dirty="0">
              <a:solidFill>
                <a:schemeClr val="tx1"/>
              </a:solidFill>
              <a:latin typeface="ＭＳ 明朝" panose="02020609040205080304" pitchFamily="17" charset="-128"/>
              <a:ea typeface="ＭＳ 明朝" panose="02020609040205080304" pitchFamily="17" charset="-128"/>
            </a:endParaRPr>
          </a:p>
        </p:txBody>
      </p:sp>
      <p:sp>
        <p:nvSpPr>
          <p:cNvPr id="11" name="四角形: 角を丸くする 10">
            <a:extLst>
              <a:ext uri="{FF2B5EF4-FFF2-40B4-BE49-F238E27FC236}">
                <a16:creationId xmlns:a16="http://schemas.microsoft.com/office/drawing/2014/main" id="{DB0BA2E2-1F40-4C6B-B933-FDE65682BEC2}"/>
              </a:ext>
            </a:extLst>
          </p:cNvPr>
          <p:cNvSpPr/>
          <p:nvPr/>
        </p:nvSpPr>
        <p:spPr>
          <a:xfrm>
            <a:off x="75501" y="3089002"/>
            <a:ext cx="11848985" cy="173791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cxnSp>
        <p:nvCxnSpPr>
          <p:cNvPr id="12" name="直線コネクタ 11">
            <a:extLst>
              <a:ext uri="{FF2B5EF4-FFF2-40B4-BE49-F238E27FC236}">
                <a16:creationId xmlns:a16="http://schemas.microsoft.com/office/drawing/2014/main" id="{8A661DE9-3345-4EAF-83D5-0F8B6FED7CF3}"/>
              </a:ext>
            </a:extLst>
          </p:cNvPr>
          <p:cNvCxnSpPr>
            <a:cxnSpLocks/>
          </p:cNvCxnSpPr>
          <p:nvPr/>
        </p:nvCxnSpPr>
        <p:spPr>
          <a:xfrm>
            <a:off x="1335663" y="2609568"/>
            <a:ext cx="0" cy="7873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FBA80E60-4CD5-445F-922E-9CF18E62EA7B}"/>
              </a:ext>
            </a:extLst>
          </p:cNvPr>
          <p:cNvPicPr>
            <a:picLocks noChangeAspect="1"/>
          </p:cNvPicPr>
          <p:nvPr/>
        </p:nvPicPr>
        <p:blipFill>
          <a:blip r:embed="rId3"/>
          <a:stretch>
            <a:fillRect/>
          </a:stretch>
        </p:blipFill>
        <p:spPr>
          <a:xfrm>
            <a:off x="374164" y="5285486"/>
            <a:ext cx="1018590" cy="533467"/>
          </a:xfrm>
          <a:prstGeom prst="rect">
            <a:avLst/>
          </a:prstGeom>
          <a:ln>
            <a:solidFill>
              <a:schemeClr val="tx1"/>
            </a:solidFill>
          </a:ln>
        </p:spPr>
      </p:pic>
      <p:sp>
        <p:nvSpPr>
          <p:cNvPr id="31" name="正方形/長方形 30">
            <a:extLst>
              <a:ext uri="{FF2B5EF4-FFF2-40B4-BE49-F238E27FC236}">
                <a16:creationId xmlns:a16="http://schemas.microsoft.com/office/drawing/2014/main" id="{A8D3E06E-AEAD-471E-BD06-F50DE5DFB7F0}"/>
              </a:ext>
            </a:extLst>
          </p:cNvPr>
          <p:cNvSpPr/>
          <p:nvPr/>
        </p:nvSpPr>
        <p:spPr>
          <a:xfrm>
            <a:off x="75501" y="5123219"/>
            <a:ext cx="1543574" cy="8824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65CEA6ED-A402-4E96-B3DB-3C991B32552A}"/>
              </a:ext>
            </a:extLst>
          </p:cNvPr>
          <p:cNvSpPr txBox="1"/>
          <p:nvPr/>
        </p:nvSpPr>
        <p:spPr>
          <a:xfrm>
            <a:off x="161641" y="4896575"/>
            <a:ext cx="543739" cy="307777"/>
          </a:xfrm>
          <a:prstGeom prst="rect">
            <a:avLst/>
          </a:prstGeom>
          <a:solidFill>
            <a:schemeClr val="bg1"/>
          </a:solidFill>
          <a:ln>
            <a:noFill/>
          </a:ln>
        </p:spPr>
        <p:txBody>
          <a:bodyPr wrap="none" rtlCol="0">
            <a:spAutoFit/>
          </a:bodyPr>
          <a:lstStyle/>
          <a:p>
            <a:pPr algn="l"/>
            <a:r>
              <a:rPr kumimoji="1" lang="ja-JP" altLang="en-US" sz="1400" dirty="0">
                <a:latin typeface="ＭＳ 明朝" panose="02020609040205080304" pitchFamily="17" charset="-128"/>
                <a:ea typeface="ＭＳ 明朝" panose="02020609040205080304" pitchFamily="17" charset="-128"/>
              </a:rPr>
              <a:t>米軍</a:t>
            </a:r>
          </a:p>
        </p:txBody>
      </p:sp>
      <p:sp>
        <p:nvSpPr>
          <p:cNvPr id="34" name="テキスト ボックス 33">
            <a:extLst>
              <a:ext uri="{FF2B5EF4-FFF2-40B4-BE49-F238E27FC236}">
                <a16:creationId xmlns:a16="http://schemas.microsoft.com/office/drawing/2014/main" id="{B760DD94-3933-4209-B2D4-19C8C4A5B9B0}"/>
              </a:ext>
            </a:extLst>
          </p:cNvPr>
          <p:cNvSpPr txBox="1"/>
          <p:nvPr/>
        </p:nvSpPr>
        <p:spPr>
          <a:xfrm>
            <a:off x="58947" y="4012920"/>
            <a:ext cx="889987" cy="261610"/>
          </a:xfrm>
          <a:prstGeom prst="rect">
            <a:avLst/>
          </a:prstGeom>
          <a:noFill/>
          <a:ln>
            <a:noFill/>
          </a:ln>
        </p:spPr>
        <p:txBody>
          <a:bodyPr wrap="none" rtlCol="0">
            <a:spAutoFit/>
          </a:bodyPr>
          <a:lstStyle/>
          <a:p>
            <a:pPr algn="l"/>
            <a:r>
              <a:rPr kumimoji="1" lang="en-US" altLang="ja-JP" sz="1050" dirty="0">
                <a:latin typeface="+mn-ea"/>
              </a:rPr>
              <a:t>Port25,110</a:t>
            </a:r>
            <a:endParaRPr kumimoji="1" lang="ja-JP" altLang="en-US" sz="1050" dirty="0">
              <a:latin typeface="+mn-ea"/>
            </a:endParaRPr>
          </a:p>
        </p:txBody>
      </p:sp>
      <p:sp>
        <p:nvSpPr>
          <p:cNvPr id="35" name="テキスト ボックス 34">
            <a:extLst>
              <a:ext uri="{FF2B5EF4-FFF2-40B4-BE49-F238E27FC236}">
                <a16:creationId xmlns:a16="http://schemas.microsoft.com/office/drawing/2014/main" id="{1D246377-8A78-4E80-8831-706850A89F1A}"/>
              </a:ext>
            </a:extLst>
          </p:cNvPr>
          <p:cNvSpPr txBox="1"/>
          <p:nvPr/>
        </p:nvSpPr>
        <p:spPr>
          <a:xfrm>
            <a:off x="2506685" y="2903692"/>
            <a:ext cx="543739" cy="307777"/>
          </a:xfrm>
          <a:prstGeom prst="rect">
            <a:avLst/>
          </a:prstGeom>
          <a:solidFill>
            <a:schemeClr val="bg1"/>
          </a:solidFill>
          <a:ln>
            <a:noFill/>
          </a:ln>
        </p:spPr>
        <p:txBody>
          <a:bodyPr wrap="none" rtlCol="0">
            <a:spAutoFit/>
          </a:bodyPr>
          <a:lstStyle/>
          <a:p>
            <a:pPr algn="l"/>
            <a:r>
              <a:rPr lang="en-US" altLang="ja-JP" sz="1400" dirty="0">
                <a:latin typeface="ＭＳ 明朝" panose="02020609040205080304" pitchFamily="17" charset="-128"/>
                <a:ea typeface="ＭＳ 明朝" panose="02020609040205080304" pitchFamily="17" charset="-128"/>
              </a:rPr>
              <a:t>FADP</a:t>
            </a:r>
            <a:endParaRPr kumimoji="1" lang="ja-JP" altLang="en-US" sz="1400" dirty="0">
              <a:latin typeface="ＭＳ 明朝" panose="02020609040205080304" pitchFamily="17" charset="-128"/>
              <a:ea typeface="ＭＳ 明朝" panose="02020609040205080304" pitchFamily="17" charset="-128"/>
            </a:endParaRPr>
          </a:p>
        </p:txBody>
      </p:sp>
      <p:pic>
        <p:nvPicPr>
          <p:cNvPr id="15" name="図 14">
            <a:extLst>
              <a:ext uri="{FF2B5EF4-FFF2-40B4-BE49-F238E27FC236}">
                <a16:creationId xmlns:a16="http://schemas.microsoft.com/office/drawing/2014/main" id="{0CA186C7-2BB3-4F6A-B059-DC99BB4FD52B}"/>
              </a:ext>
            </a:extLst>
          </p:cNvPr>
          <p:cNvPicPr>
            <a:picLocks noChangeAspect="1"/>
          </p:cNvPicPr>
          <p:nvPr/>
        </p:nvPicPr>
        <p:blipFill>
          <a:blip r:embed="rId2"/>
          <a:stretch>
            <a:fillRect/>
          </a:stretch>
        </p:blipFill>
        <p:spPr>
          <a:xfrm>
            <a:off x="3611894" y="2425437"/>
            <a:ext cx="652223" cy="521778"/>
          </a:xfrm>
          <a:prstGeom prst="rect">
            <a:avLst/>
          </a:prstGeom>
        </p:spPr>
      </p:pic>
      <p:cxnSp>
        <p:nvCxnSpPr>
          <p:cNvPr id="17" name="直線コネクタ 16">
            <a:extLst>
              <a:ext uri="{FF2B5EF4-FFF2-40B4-BE49-F238E27FC236}">
                <a16:creationId xmlns:a16="http://schemas.microsoft.com/office/drawing/2014/main" id="{F16B25B4-DA9B-4C25-9F25-074B7E828687}"/>
              </a:ext>
            </a:extLst>
          </p:cNvPr>
          <p:cNvCxnSpPr>
            <a:cxnSpLocks/>
          </p:cNvCxnSpPr>
          <p:nvPr/>
        </p:nvCxnSpPr>
        <p:spPr>
          <a:xfrm>
            <a:off x="3899453" y="2886264"/>
            <a:ext cx="0" cy="5106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C286F3FA-DD47-4CEA-9839-BC4E18872F1A}"/>
              </a:ext>
            </a:extLst>
          </p:cNvPr>
          <p:cNvCxnSpPr>
            <a:cxnSpLocks/>
          </p:cNvCxnSpPr>
          <p:nvPr/>
        </p:nvCxnSpPr>
        <p:spPr>
          <a:xfrm flipH="1">
            <a:off x="1335663" y="2609568"/>
            <a:ext cx="2293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A67A59A9-235B-44C3-BB17-97452841871A}"/>
              </a:ext>
            </a:extLst>
          </p:cNvPr>
          <p:cNvCxnSpPr>
            <a:cxnSpLocks/>
          </p:cNvCxnSpPr>
          <p:nvPr/>
        </p:nvCxnSpPr>
        <p:spPr>
          <a:xfrm>
            <a:off x="765226" y="3396957"/>
            <a:ext cx="11408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777CDB5D-A1AF-48EA-B451-5D333C85AC69}"/>
              </a:ext>
            </a:extLst>
          </p:cNvPr>
          <p:cNvCxnSpPr>
            <a:cxnSpLocks/>
            <a:endCxn id="31" idx="0"/>
          </p:cNvCxnSpPr>
          <p:nvPr/>
        </p:nvCxnSpPr>
        <p:spPr>
          <a:xfrm>
            <a:off x="765226" y="3396957"/>
            <a:ext cx="0" cy="1726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1659967C-5C25-4ABC-A664-55AB2CDD73D0}"/>
              </a:ext>
            </a:extLst>
          </p:cNvPr>
          <p:cNvSpPr txBox="1"/>
          <p:nvPr/>
        </p:nvSpPr>
        <p:spPr>
          <a:xfrm>
            <a:off x="313683" y="4482865"/>
            <a:ext cx="922789"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ルーター</a:t>
            </a:r>
          </a:p>
        </p:txBody>
      </p:sp>
      <p:sp>
        <p:nvSpPr>
          <p:cNvPr id="30" name="テキスト ボックス 29">
            <a:extLst>
              <a:ext uri="{FF2B5EF4-FFF2-40B4-BE49-F238E27FC236}">
                <a16:creationId xmlns:a16="http://schemas.microsoft.com/office/drawing/2014/main" id="{10B1431F-9EA1-4881-BFB6-699EC58CB8F3}"/>
              </a:ext>
            </a:extLst>
          </p:cNvPr>
          <p:cNvSpPr txBox="1"/>
          <p:nvPr/>
        </p:nvSpPr>
        <p:spPr>
          <a:xfrm>
            <a:off x="267514" y="3783244"/>
            <a:ext cx="995425"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米軍対向用端末</a:t>
            </a:r>
          </a:p>
        </p:txBody>
      </p:sp>
      <p:cxnSp>
        <p:nvCxnSpPr>
          <p:cNvPr id="61" name="直線コネクタ 60">
            <a:extLst>
              <a:ext uri="{FF2B5EF4-FFF2-40B4-BE49-F238E27FC236}">
                <a16:creationId xmlns:a16="http://schemas.microsoft.com/office/drawing/2014/main" id="{E59A4E8E-AB14-4662-94EC-F28A61607BCD}"/>
              </a:ext>
            </a:extLst>
          </p:cNvPr>
          <p:cNvCxnSpPr>
            <a:cxnSpLocks/>
          </p:cNvCxnSpPr>
          <p:nvPr/>
        </p:nvCxnSpPr>
        <p:spPr>
          <a:xfrm>
            <a:off x="1906100" y="3396957"/>
            <a:ext cx="0" cy="5247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417725C0-B5D7-4AF6-B0B8-1621524E621C}"/>
              </a:ext>
            </a:extLst>
          </p:cNvPr>
          <p:cNvSpPr txBox="1"/>
          <p:nvPr/>
        </p:nvSpPr>
        <p:spPr>
          <a:xfrm>
            <a:off x="1348541" y="3783244"/>
            <a:ext cx="995425" cy="369332"/>
          </a:xfrm>
          <a:prstGeom prst="rect">
            <a:avLst/>
          </a:prstGeom>
          <a:solidFill>
            <a:schemeClr val="bg1"/>
          </a:solidFill>
          <a:ln>
            <a:solidFill>
              <a:schemeClr val="tx1"/>
            </a:solidFill>
          </a:ln>
        </p:spPr>
        <p:txBody>
          <a:bodyPr wrap="square" rtlCol="0">
            <a:spAutoFit/>
          </a:bodyPr>
          <a:lstStyle/>
          <a:p>
            <a:pPr algn="ctr"/>
            <a:r>
              <a:rPr kumimoji="1" lang="ja-JP" altLang="en-US" sz="900" dirty="0"/>
              <a:t>運用情報等提供サーバー</a:t>
            </a:r>
          </a:p>
        </p:txBody>
      </p:sp>
      <p:sp>
        <p:nvSpPr>
          <p:cNvPr id="74" name="雲 73">
            <a:extLst>
              <a:ext uri="{FF2B5EF4-FFF2-40B4-BE49-F238E27FC236}">
                <a16:creationId xmlns:a16="http://schemas.microsoft.com/office/drawing/2014/main" id="{CD549789-08E6-4B45-A50D-BCA1CEE11513}"/>
              </a:ext>
            </a:extLst>
          </p:cNvPr>
          <p:cNvSpPr/>
          <p:nvPr/>
        </p:nvSpPr>
        <p:spPr>
          <a:xfrm>
            <a:off x="2570244" y="3258324"/>
            <a:ext cx="7051511" cy="1275374"/>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1D47C34A-3C5B-4F85-B081-448C57609A0B}"/>
              </a:ext>
            </a:extLst>
          </p:cNvPr>
          <p:cNvCxnSpPr>
            <a:cxnSpLocks/>
            <a:stCxn id="16" idx="2"/>
          </p:cNvCxnSpPr>
          <p:nvPr/>
        </p:nvCxnSpPr>
        <p:spPr>
          <a:xfrm flipH="1">
            <a:off x="8026836" y="2922858"/>
            <a:ext cx="2" cy="3354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2AF3AEDC-C87C-4A6E-9803-2E1F769D2608}"/>
              </a:ext>
            </a:extLst>
          </p:cNvPr>
          <p:cNvCxnSpPr>
            <a:cxnSpLocks/>
          </p:cNvCxnSpPr>
          <p:nvPr/>
        </p:nvCxnSpPr>
        <p:spPr>
          <a:xfrm flipV="1">
            <a:off x="9966120" y="1568701"/>
            <a:ext cx="0" cy="1222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CA979F3E-677F-4CB7-A265-C7E9812B1FF2}"/>
              </a:ext>
            </a:extLst>
          </p:cNvPr>
          <p:cNvCxnSpPr>
            <a:cxnSpLocks/>
          </p:cNvCxnSpPr>
          <p:nvPr/>
        </p:nvCxnSpPr>
        <p:spPr>
          <a:xfrm flipH="1">
            <a:off x="8715232" y="1568700"/>
            <a:ext cx="12508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6EED5533-222E-4EB8-98BB-56CE6C9177A8}"/>
              </a:ext>
            </a:extLst>
          </p:cNvPr>
          <p:cNvSpPr txBox="1"/>
          <p:nvPr/>
        </p:nvSpPr>
        <p:spPr>
          <a:xfrm>
            <a:off x="9353608" y="1688437"/>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44" name="テキスト ボックス 43">
            <a:extLst>
              <a:ext uri="{FF2B5EF4-FFF2-40B4-BE49-F238E27FC236}">
                <a16:creationId xmlns:a16="http://schemas.microsoft.com/office/drawing/2014/main" id="{45ADB3AA-C8DD-4204-A376-81FA0FC496F9}"/>
              </a:ext>
            </a:extLst>
          </p:cNvPr>
          <p:cNvSpPr txBox="1"/>
          <p:nvPr/>
        </p:nvSpPr>
        <p:spPr>
          <a:xfrm>
            <a:off x="9353608" y="2029680"/>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latin typeface="+mn-ea"/>
              </a:rPr>
              <a:t>ルーター</a:t>
            </a:r>
          </a:p>
        </p:txBody>
      </p:sp>
      <p:sp>
        <p:nvSpPr>
          <p:cNvPr id="45" name="テキスト ボックス 44">
            <a:extLst>
              <a:ext uri="{FF2B5EF4-FFF2-40B4-BE49-F238E27FC236}">
                <a16:creationId xmlns:a16="http://schemas.microsoft.com/office/drawing/2014/main" id="{B5008524-7A77-44BF-8763-4DA1595363B3}"/>
              </a:ext>
            </a:extLst>
          </p:cNvPr>
          <p:cNvSpPr txBox="1"/>
          <p:nvPr/>
        </p:nvSpPr>
        <p:spPr>
          <a:xfrm>
            <a:off x="9353608" y="2363603"/>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46" name="テキスト ボックス 45">
            <a:extLst>
              <a:ext uri="{FF2B5EF4-FFF2-40B4-BE49-F238E27FC236}">
                <a16:creationId xmlns:a16="http://schemas.microsoft.com/office/drawing/2014/main" id="{7D1634DB-C681-400E-98C4-A4F749BE71E0}"/>
              </a:ext>
            </a:extLst>
          </p:cNvPr>
          <p:cNvSpPr txBox="1"/>
          <p:nvPr/>
        </p:nvSpPr>
        <p:spPr>
          <a:xfrm>
            <a:off x="9362448" y="2712972"/>
            <a:ext cx="1325460" cy="276999"/>
          </a:xfrm>
          <a:prstGeom prst="rect">
            <a:avLst/>
          </a:prstGeom>
          <a:solidFill>
            <a:srgbClr val="FFFF00"/>
          </a:solidFill>
          <a:ln>
            <a:solidFill>
              <a:schemeClr val="tx1"/>
            </a:solidFill>
          </a:ln>
        </p:spPr>
        <p:txBody>
          <a:bodyPr wrap="square" rtlCol="0">
            <a:spAutoFit/>
          </a:bodyPr>
          <a:lstStyle/>
          <a:p>
            <a:pPr algn="ctr"/>
            <a:r>
              <a:rPr kumimoji="1" lang="en-US" altLang="ja-JP" sz="1200" dirty="0">
                <a:latin typeface="+mn-ea"/>
              </a:rPr>
              <a:t>FACE</a:t>
            </a:r>
            <a:r>
              <a:rPr kumimoji="1" lang="ja-JP" altLang="en-US" sz="1200" dirty="0">
                <a:latin typeface="+mn-ea"/>
              </a:rPr>
              <a:t>対向用</a:t>
            </a:r>
          </a:p>
        </p:txBody>
      </p:sp>
    </p:spTree>
    <p:extLst>
      <p:ext uri="{BB962C8B-B14F-4D97-AF65-F5344CB8AC3E}">
        <p14:creationId xmlns:p14="http://schemas.microsoft.com/office/powerpoint/2010/main" val="36486878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28C43062-54B4-4B00-BAE4-40999FE2A1E5}"/>
              </a:ext>
            </a:extLst>
          </p:cNvPr>
          <p:cNvPicPr>
            <a:picLocks noChangeAspect="1"/>
          </p:cNvPicPr>
          <p:nvPr/>
        </p:nvPicPr>
        <p:blipFill>
          <a:blip r:embed="rId2"/>
          <a:stretch>
            <a:fillRect/>
          </a:stretch>
        </p:blipFill>
        <p:spPr>
          <a:xfrm>
            <a:off x="7700726" y="2401080"/>
            <a:ext cx="652223" cy="521778"/>
          </a:xfrm>
          <a:prstGeom prst="rect">
            <a:avLst/>
          </a:prstGeom>
        </p:spPr>
      </p:pic>
      <p:sp>
        <p:nvSpPr>
          <p:cNvPr id="2" name="タイトル 1">
            <a:extLst>
              <a:ext uri="{FF2B5EF4-FFF2-40B4-BE49-F238E27FC236}">
                <a16:creationId xmlns:a16="http://schemas.microsoft.com/office/drawing/2014/main" id="{83F14949-9CE5-45BE-BC5D-3300EEEA9F1F}"/>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構成図（簡略化）想定侵入経路</a:t>
            </a:r>
          </a:p>
        </p:txBody>
      </p:sp>
      <p:cxnSp>
        <p:nvCxnSpPr>
          <p:cNvPr id="3" name="直線コネクタ 2">
            <a:extLst>
              <a:ext uri="{FF2B5EF4-FFF2-40B4-BE49-F238E27FC236}">
                <a16:creationId xmlns:a16="http://schemas.microsoft.com/office/drawing/2014/main" id="{85C36197-3526-4A6D-8E36-9C0A7CAB5B5F}"/>
              </a:ext>
            </a:extLst>
          </p:cNvPr>
          <p:cNvCxnSpPr>
            <a:cxnSpLocks/>
          </p:cNvCxnSpPr>
          <p:nvPr/>
        </p:nvCxnSpPr>
        <p:spPr>
          <a:xfrm>
            <a:off x="3886116" y="927651"/>
            <a:ext cx="0" cy="15320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00452DCD-78B9-40D6-8578-DFF3494CB6BD}"/>
              </a:ext>
            </a:extLst>
          </p:cNvPr>
          <p:cNvSpPr txBox="1"/>
          <p:nvPr/>
        </p:nvSpPr>
        <p:spPr>
          <a:xfrm>
            <a:off x="3275276"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5" name="テキスト ボックス 4">
            <a:extLst>
              <a:ext uri="{FF2B5EF4-FFF2-40B4-BE49-F238E27FC236}">
                <a16:creationId xmlns:a16="http://schemas.microsoft.com/office/drawing/2014/main" id="{EC25BA71-091D-4C25-9737-3F7773015E44}"/>
              </a:ext>
            </a:extLst>
          </p:cNvPr>
          <p:cNvSpPr txBox="1"/>
          <p:nvPr/>
        </p:nvSpPr>
        <p:spPr>
          <a:xfrm>
            <a:off x="3275276" y="2037386"/>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6" name="雲 5">
            <a:extLst>
              <a:ext uri="{FF2B5EF4-FFF2-40B4-BE49-F238E27FC236}">
                <a16:creationId xmlns:a16="http://schemas.microsoft.com/office/drawing/2014/main" id="{B7BC6461-E36C-4433-8B9D-40B66271D6B7}"/>
              </a:ext>
            </a:extLst>
          </p:cNvPr>
          <p:cNvSpPr/>
          <p:nvPr/>
        </p:nvSpPr>
        <p:spPr>
          <a:xfrm>
            <a:off x="3061355" y="742689"/>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mn-ea"/>
              </a:rPr>
              <a:t>DII</a:t>
            </a:r>
            <a:endParaRPr kumimoji="1" lang="ja-JP" altLang="en-US" sz="2400" dirty="0">
              <a:solidFill>
                <a:schemeClr val="tx1"/>
              </a:solidFill>
              <a:latin typeface="+mn-ea"/>
            </a:endParaRPr>
          </a:p>
        </p:txBody>
      </p:sp>
      <p:cxnSp>
        <p:nvCxnSpPr>
          <p:cNvPr id="7" name="直線コネクタ 6">
            <a:extLst>
              <a:ext uri="{FF2B5EF4-FFF2-40B4-BE49-F238E27FC236}">
                <a16:creationId xmlns:a16="http://schemas.microsoft.com/office/drawing/2014/main" id="{CF691258-08DC-41C9-A8A7-F893C0F6DFB0}"/>
              </a:ext>
            </a:extLst>
          </p:cNvPr>
          <p:cNvCxnSpPr>
            <a:cxnSpLocks/>
            <a:endCxn id="16" idx="0"/>
          </p:cNvCxnSpPr>
          <p:nvPr/>
        </p:nvCxnSpPr>
        <p:spPr>
          <a:xfrm>
            <a:off x="8001671" y="818919"/>
            <a:ext cx="0" cy="1582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6A1A08AD-7D7D-4CF7-8D75-DD26E2D3B442}"/>
              </a:ext>
            </a:extLst>
          </p:cNvPr>
          <p:cNvSpPr txBox="1"/>
          <p:nvPr/>
        </p:nvSpPr>
        <p:spPr>
          <a:xfrm>
            <a:off x="7389772" y="1442805"/>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t>ルーター</a:t>
            </a:r>
          </a:p>
        </p:txBody>
      </p:sp>
      <p:sp>
        <p:nvSpPr>
          <p:cNvPr id="9" name="テキスト ボックス 8">
            <a:extLst>
              <a:ext uri="{FF2B5EF4-FFF2-40B4-BE49-F238E27FC236}">
                <a16:creationId xmlns:a16="http://schemas.microsoft.com/office/drawing/2014/main" id="{6CD33659-78AC-4077-B2F4-810748427629}"/>
              </a:ext>
            </a:extLst>
          </p:cNvPr>
          <p:cNvSpPr txBox="1"/>
          <p:nvPr/>
        </p:nvSpPr>
        <p:spPr>
          <a:xfrm>
            <a:off x="7389772" y="1905114"/>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10" name="雲 9">
            <a:extLst>
              <a:ext uri="{FF2B5EF4-FFF2-40B4-BE49-F238E27FC236}">
                <a16:creationId xmlns:a16="http://schemas.microsoft.com/office/drawing/2014/main" id="{6CC9B7F5-56AE-497C-9C72-F4F0AEDE82EA}"/>
              </a:ext>
            </a:extLst>
          </p:cNvPr>
          <p:cNvSpPr/>
          <p:nvPr/>
        </p:nvSpPr>
        <p:spPr>
          <a:xfrm>
            <a:off x="7125331" y="763685"/>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n-ea"/>
              </a:rPr>
              <a:t>FACE</a:t>
            </a:r>
            <a:r>
              <a:rPr kumimoji="1" lang="ja-JP" altLang="en-US" sz="900" dirty="0">
                <a:solidFill>
                  <a:schemeClr val="tx1"/>
                </a:solidFill>
                <a:latin typeface="+mn-ea"/>
              </a:rPr>
              <a:t>サブシステム</a:t>
            </a:r>
          </a:p>
        </p:txBody>
      </p:sp>
      <p:sp>
        <p:nvSpPr>
          <p:cNvPr id="11" name="四角形: 角を丸くする 10">
            <a:extLst>
              <a:ext uri="{FF2B5EF4-FFF2-40B4-BE49-F238E27FC236}">
                <a16:creationId xmlns:a16="http://schemas.microsoft.com/office/drawing/2014/main" id="{DB0BA2E2-1F40-4C6B-B933-FDE65682BEC2}"/>
              </a:ext>
            </a:extLst>
          </p:cNvPr>
          <p:cNvSpPr/>
          <p:nvPr/>
        </p:nvSpPr>
        <p:spPr>
          <a:xfrm>
            <a:off x="75501" y="3089002"/>
            <a:ext cx="11848985" cy="173791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cxnSp>
        <p:nvCxnSpPr>
          <p:cNvPr id="12" name="直線コネクタ 11">
            <a:extLst>
              <a:ext uri="{FF2B5EF4-FFF2-40B4-BE49-F238E27FC236}">
                <a16:creationId xmlns:a16="http://schemas.microsoft.com/office/drawing/2014/main" id="{8A661DE9-3345-4EAF-83D5-0F8B6FED7CF3}"/>
              </a:ext>
            </a:extLst>
          </p:cNvPr>
          <p:cNvCxnSpPr>
            <a:cxnSpLocks/>
          </p:cNvCxnSpPr>
          <p:nvPr/>
        </p:nvCxnSpPr>
        <p:spPr>
          <a:xfrm>
            <a:off x="1335663" y="2609568"/>
            <a:ext cx="0" cy="7873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FBA80E60-4CD5-445F-922E-9CF18E62EA7B}"/>
              </a:ext>
            </a:extLst>
          </p:cNvPr>
          <p:cNvPicPr>
            <a:picLocks noChangeAspect="1"/>
          </p:cNvPicPr>
          <p:nvPr/>
        </p:nvPicPr>
        <p:blipFill>
          <a:blip r:embed="rId3"/>
          <a:stretch>
            <a:fillRect/>
          </a:stretch>
        </p:blipFill>
        <p:spPr>
          <a:xfrm>
            <a:off x="374164" y="5285486"/>
            <a:ext cx="1018590" cy="533467"/>
          </a:xfrm>
          <a:prstGeom prst="rect">
            <a:avLst/>
          </a:prstGeom>
          <a:ln>
            <a:solidFill>
              <a:schemeClr val="tx1"/>
            </a:solidFill>
          </a:ln>
        </p:spPr>
      </p:pic>
      <p:sp>
        <p:nvSpPr>
          <p:cNvPr id="31" name="正方形/長方形 30">
            <a:extLst>
              <a:ext uri="{FF2B5EF4-FFF2-40B4-BE49-F238E27FC236}">
                <a16:creationId xmlns:a16="http://schemas.microsoft.com/office/drawing/2014/main" id="{A8D3E06E-AEAD-471E-BD06-F50DE5DFB7F0}"/>
              </a:ext>
            </a:extLst>
          </p:cNvPr>
          <p:cNvSpPr/>
          <p:nvPr/>
        </p:nvSpPr>
        <p:spPr>
          <a:xfrm>
            <a:off x="75501" y="5123219"/>
            <a:ext cx="1543574" cy="8824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65CEA6ED-A402-4E96-B3DB-3C991B32552A}"/>
              </a:ext>
            </a:extLst>
          </p:cNvPr>
          <p:cNvSpPr txBox="1"/>
          <p:nvPr/>
        </p:nvSpPr>
        <p:spPr>
          <a:xfrm>
            <a:off x="161641" y="4896575"/>
            <a:ext cx="543739" cy="307777"/>
          </a:xfrm>
          <a:prstGeom prst="rect">
            <a:avLst/>
          </a:prstGeom>
          <a:solidFill>
            <a:schemeClr val="bg1"/>
          </a:solidFill>
          <a:ln>
            <a:noFill/>
          </a:ln>
        </p:spPr>
        <p:txBody>
          <a:bodyPr wrap="none" rtlCol="0">
            <a:spAutoFit/>
          </a:bodyPr>
          <a:lstStyle/>
          <a:p>
            <a:pPr algn="l"/>
            <a:r>
              <a:rPr kumimoji="1" lang="ja-JP" altLang="en-US" sz="1400" dirty="0">
                <a:latin typeface="ＭＳ 明朝" panose="02020609040205080304" pitchFamily="17" charset="-128"/>
                <a:ea typeface="ＭＳ 明朝" panose="02020609040205080304" pitchFamily="17" charset="-128"/>
              </a:rPr>
              <a:t>米軍</a:t>
            </a:r>
          </a:p>
        </p:txBody>
      </p:sp>
      <p:sp>
        <p:nvSpPr>
          <p:cNvPr id="34" name="テキスト ボックス 33">
            <a:extLst>
              <a:ext uri="{FF2B5EF4-FFF2-40B4-BE49-F238E27FC236}">
                <a16:creationId xmlns:a16="http://schemas.microsoft.com/office/drawing/2014/main" id="{B760DD94-3933-4209-B2D4-19C8C4A5B9B0}"/>
              </a:ext>
            </a:extLst>
          </p:cNvPr>
          <p:cNvSpPr txBox="1"/>
          <p:nvPr/>
        </p:nvSpPr>
        <p:spPr>
          <a:xfrm>
            <a:off x="58947" y="4012920"/>
            <a:ext cx="889987" cy="261610"/>
          </a:xfrm>
          <a:prstGeom prst="rect">
            <a:avLst/>
          </a:prstGeom>
          <a:noFill/>
          <a:ln>
            <a:noFill/>
          </a:ln>
        </p:spPr>
        <p:txBody>
          <a:bodyPr wrap="none" rtlCol="0">
            <a:spAutoFit/>
          </a:bodyPr>
          <a:lstStyle/>
          <a:p>
            <a:pPr algn="l"/>
            <a:r>
              <a:rPr kumimoji="1" lang="en-US" altLang="ja-JP" sz="1050" dirty="0">
                <a:latin typeface="+mn-ea"/>
              </a:rPr>
              <a:t>Port25,110</a:t>
            </a:r>
            <a:endParaRPr kumimoji="1" lang="ja-JP" altLang="en-US" sz="1050" dirty="0">
              <a:latin typeface="+mn-ea"/>
            </a:endParaRPr>
          </a:p>
        </p:txBody>
      </p:sp>
      <p:sp>
        <p:nvSpPr>
          <p:cNvPr id="35" name="テキスト ボックス 34">
            <a:extLst>
              <a:ext uri="{FF2B5EF4-FFF2-40B4-BE49-F238E27FC236}">
                <a16:creationId xmlns:a16="http://schemas.microsoft.com/office/drawing/2014/main" id="{1D246377-8A78-4E80-8831-706850A89F1A}"/>
              </a:ext>
            </a:extLst>
          </p:cNvPr>
          <p:cNvSpPr txBox="1"/>
          <p:nvPr/>
        </p:nvSpPr>
        <p:spPr>
          <a:xfrm>
            <a:off x="2506685" y="2903692"/>
            <a:ext cx="543739" cy="307777"/>
          </a:xfrm>
          <a:prstGeom prst="rect">
            <a:avLst/>
          </a:prstGeom>
          <a:solidFill>
            <a:schemeClr val="bg1"/>
          </a:solidFill>
          <a:ln>
            <a:noFill/>
          </a:ln>
        </p:spPr>
        <p:txBody>
          <a:bodyPr wrap="none" rtlCol="0">
            <a:spAutoFit/>
          </a:bodyPr>
          <a:lstStyle/>
          <a:p>
            <a:pPr algn="l"/>
            <a:r>
              <a:rPr lang="en-US" altLang="ja-JP" sz="1400" dirty="0">
                <a:latin typeface="ＭＳ 明朝" panose="02020609040205080304" pitchFamily="17" charset="-128"/>
                <a:ea typeface="ＭＳ 明朝" panose="02020609040205080304" pitchFamily="17" charset="-128"/>
              </a:rPr>
              <a:t>FADP</a:t>
            </a:r>
            <a:endParaRPr kumimoji="1" lang="ja-JP" altLang="en-US" sz="1400" dirty="0">
              <a:latin typeface="ＭＳ 明朝" panose="02020609040205080304" pitchFamily="17" charset="-128"/>
              <a:ea typeface="ＭＳ 明朝" panose="02020609040205080304" pitchFamily="17" charset="-128"/>
            </a:endParaRPr>
          </a:p>
        </p:txBody>
      </p:sp>
      <p:pic>
        <p:nvPicPr>
          <p:cNvPr id="15" name="図 14">
            <a:extLst>
              <a:ext uri="{FF2B5EF4-FFF2-40B4-BE49-F238E27FC236}">
                <a16:creationId xmlns:a16="http://schemas.microsoft.com/office/drawing/2014/main" id="{0CA186C7-2BB3-4F6A-B059-DC99BB4FD52B}"/>
              </a:ext>
            </a:extLst>
          </p:cNvPr>
          <p:cNvPicPr>
            <a:picLocks noChangeAspect="1"/>
          </p:cNvPicPr>
          <p:nvPr/>
        </p:nvPicPr>
        <p:blipFill>
          <a:blip r:embed="rId2"/>
          <a:stretch>
            <a:fillRect/>
          </a:stretch>
        </p:blipFill>
        <p:spPr>
          <a:xfrm>
            <a:off x="3611894" y="2425437"/>
            <a:ext cx="652223" cy="521778"/>
          </a:xfrm>
          <a:prstGeom prst="rect">
            <a:avLst/>
          </a:prstGeom>
        </p:spPr>
      </p:pic>
      <p:cxnSp>
        <p:nvCxnSpPr>
          <p:cNvPr id="17" name="直線コネクタ 16">
            <a:extLst>
              <a:ext uri="{FF2B5EF4-FFF2-40B4-BE49-F238E27FC236}">
                <a16:creationId xmlns:a16="http://schemas.microsoft.com/office/drawing/2014/main" id="{F16B25B4-DA9B-4C25-9F25-074B7E828687}"/>
              </a:ext>
            </a:extLst>
          </p:cNvPr>
          <p:cNvCxnSpPr>
            <a:cxnSpLocks/>
          </p:cNvCxnSpPr>
          <p:nvPr/>
        </p:nvCxnSpPr>
        <p:spPr>
          <a:xfrm>
            <a:off x="3899453" y="2886264"/>
            <a:ext cx="0" cy="5106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C286F3FA-DD47-4CEA-9839-BC4E18872F1A}"/>
              </a:ext>
            </a:extLst>
          </p:cNvPr>
          <p:cNvCxnSpPr>
            <a:cxnSpLocks/>
          </p:cNvCxnSpPr>
          <p:nvPr/>
        </p:nvCxnSpPr>
        <p:spPr>
          <a:xfrm flipH="1">
            <a:off x="1335663" y="2609568"/>
            <a:ext cx="2293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A67A59A9-235B-44C3-BB17-97452841871A}"/>
              </a:ext>
            </a:extLst>
          </p:cNvPr>
          <p:cNvCxnSpPr>
            <a:cxnSpLocks/>
          </p:cNvCxnSpPr>
          <p:nvPr/>
        </p:nvCxnSpPr>
        <p:spPr>
          <a:xfrm>
            <a:off x="765226" y="3396957"/>
            <a:ext cx="11408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777CDB5D-A1AF-48EA-B451-5D333C85AC69}"/>
              </a:ext>
            </a:extLst>
          </p:cNvPr>
          <p:cNvCxnSpPr>
            <a:cxnSpLocks/>
            <a:endCxn id="31" idx="0"/>
          </p:cNvCxnSpPr>
          <p:nvPr/>
        </p:nvCxnSpPr>
        <p:spPr>
          <a:xfrm>
            <a:off x="765226" y="3396957"/>
            <a:ext cx="0" cy="1726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1659967C-5C25-4ABC-A664-55AB2CDD73D0}"/>
              </a:ext>
            </a:extLst>
          </p:cNvPr>
          <p:cNvSpPr txBox="1"/>
          <p:nvPr/>
        </p:nvSpPr>
        <p:spPr>
          <a:xfrm>
            <a:off x="313683" y="4482865"/>
            <a:ext cx="922789"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ルーター</a:t>
            </a:r>
          </a:p>
        </p:txBody>
      </p:sp>
      <p:sp>
        <p:nvSpPr>
          <p:cNvPr id="30" name="テキスト ボックス 29">
            <a:extLst>
              <a:ext uri="{FF2B5EF4-FFF2-40B4-BE49-F238E27FC236}">
                <a16:creationId xmlns:a16="http://schemas.microsoft.com/office/drawing/2014/main" id="{10B1431F-9EA1-4881-BFB6-699EC58CB8F3}"/>
              </a:ext>
            </a:extLst>
          </p:cNvPr>
          <p:cNvSpPr txBox="1"/>
          <p:nvPr/>
        </p:nvSpPr>
        <p:spPr>
          <a:xfrm>
            <a:off x="267514" y="3783244"/>
            <a:ext cx="995425" cy="230832"/>
          </a:xfrm>
          <a:prstGeom prst="rect">
            <a:avLst/>
          </a:prstGeom>
          <a:solidFill>
            <a:schemeClr val="bg1"/>
          </a:solidFill>
          <a:ln>
            <a:solidFill>
              <a:schemeClr val="tx1"/>
            </a:solidFill>
          </a:ln>
        </p:spPr>
        <p:txBody>
          <a:bodyPr wrap="square" rtlCol="0">
            <a:spAutoFit/>
          </a:bodyPr>
          <a:lstStyle/>
          <a:p>
            <a:pPr algn="ctr"/>
            <a:r>
              <a:rPr kumimoji="1" lang="ja-JP" altLang="en-US" sz="900" dirty="0"/>
              <a:t>米軍対向用端末</a:t>
            </a:r>
          </a:p>
        </p:txBody>
      </p:sp>
      <p:cxnSp>
        <p:nvCxnSpPr>
          <p:cNvPr id="61" name="直線コネクタ 60">
            <a:extLst>
              <a:ext uri="{FF2B5EF4-FFF2-40B4-BE49-F238E27FC236}">
                <a16:creationId xmlns:a16="http://schemas.microsoft.com/office/drawing/2014/main" id="{E59A4E8E-AB14-4662-94EC-F28A61607BCD}"/>
              </a:ext>
            </a:extLst>
          </p:cNvPr>
          <p:cNvCxnSpPr>
            <a:cxnSpLocks/>
          </p:cNvCxnSpPr>
          <p:nvPr/>
        </p:nvCxnSpPr>
        <p:spPr>
          <a:xfrm>
            <a:off x="1906100" y="3396957"/>
            <a:ext cx="0" cy="5247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417725C0-B5D7-4AF6-B0B8-1621524E621C}"/>
              </a:ext>
            </a:extLst>
          </p:cNvPr>
          <p:cNvSpPr txBox="1"/>
          <p:nvPr/>
        </p:nvSpPr>
        <p:spPr>
          <a:xfrm>
            <a:off x="1348541" y="3783244"/>
            <a:ext cx="995425" cy="369332"/>
          </a:xfrm>
          <a:prstGeom prst="rect">
            <a:avLst/>
          </a:prstGeom>
          <a:solidFill>
            <a:schemeClr val="bg1"/>
          </a:solidFill>
          <a:ln>
            <a:solidFill>
              <a:schemeClr val="tx1"/>
            </a:solidFill>
          </a:ln>
        </p:spPr>
        <p:txBody>
          <a:bodyPr wrap="square" rtlCol="0">
            <a:spAutoFit/>
          </a:bodyPr>
          <a:lstStyle/>
          <a:p>
            <a:pPr algn="ctr"/>
            <a:r>
              <a:rPr kumimoji="1" lang="ja-JP" altLang="en-US" sz="900" dirty="0"/>
              <a:t>運用情報等提供サーバー</a:t>
            </a:r>
          </a:p>
        </p:txBody>
      </p:sp>
      <p:sp>
        <p:nvSpPr>
          <p:cNvPr id="74" name="雲 73">
            <a:extLst>
              <a:ext uri="{FF2B5EF4-FFF2-40B4-BE49-F238E27FC236}">
                <a16:creationId xmlns:a16="http://schemas.microsoft.com/office/drawing/2014/main" id="{CD549789-08E6-4B45-A50D-BCA1CEE11513}"/>
              </a:ext>
            </a:extLst>
          </p:cNvPr>
          <p:cNvSpPr/>
          <p:nvPr/>
        </p:nvSpPr>
        <p:spPr>
          <a:xfrm>
            <a:off x="2570244" y="3258324"/>
            <a:ext cx="7051511" cy="1275374"/>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1D47C34A-3C5B-4F85-B081-448C57609A0B}"/>
              </a:ext>
            </a:extLst>
          </p:cNvPr>
          <p:cNvCxnSpPr>
            <a:cxnSpLocks/>
            <a:stCxn id="16" idx="2"/>
          </p:cNvCxnSpPr>
          <p:nvPr/>
        </p:nvCxnSpPr>
        <p:spPr>
          <a:xfrm flipH="1">
            <a:off x="8026836" y="2922858"/>
            <a:ext cx="2" cy="3354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2AF3AEDC-C87C-4A6E-9803-2E1F769D2608}"/>
              </a:ext>
            </a:extLst>
          </p:cNvPr>
          <p:cNvCxnSpPr>
            <a:cxnSpLocks/>
          </p:cNvCxnSpPr>
          <p:nvPr/>
        </p:nvCxnSpPr>
        <p:spPr>
          <a:xfrm flipV="1">
            <a:off x="9966120" y="1568701"/>
            <a:ext cx="0" cy="1222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CA979F3E-677F-4CB7-A265-C7E9812B1FF2}"/>
              </a:ext>
            </a:extLst>
          </p:cNvPr>
          <p:cNvCxnSpPr>
            <a:cxnSpLocks/>
          </p:cNvCxnSpPr>
          <p:nvPr/>
        </p:nvCxnSpPr>
        <p:spPr>
          <a:xfrm flipH="1">
            <a:off x="8715232" y="1568700"/>
            <a:ext cx="12508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6EED5533-222E-4EB8-98BB-56CE6C9177A8}"/>
              </a:ext>
            </a:extLst>
          </p:cNvPr>
          <p:cNvSpPr txBox="1"/>
          <p:nvPr/>
        </p:nvSpPr>
        <p:spPr>
          <a:xfrm>
            <a:off x="9353608" y="1688437"/>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44" name="テキスト ボックス 43">
            <a:extLst>
              <a:ext uri="{FF2B5EF4-FFF2-40B4-BE49-F238E27FC236}">
                <a16:creationId xmlns:a16="http://schemas.microsoft.com/office/drawing/2014/main" id="{45ADB3AA-C8DD-4204-A376-81FA0FC496F9}"/>
              </a:ext>
            </a:extLst>
          </p:cNvPr>
          <p:cNvSpPr txBox="1"/>
          <p:nvPr/>
        </p:nvSpPr>
        <p:spPr>
          <a:xfrm>
            <a:off x="9353608" y="2029680"/>
            <a:ext cx="1325460" cy="276999"/>
          </a:xfrm>
          <a:prstGeom prst="rect">
            <a:avLst/>
          </a:prstGeom>
          <a:solidFill>
            <a:schemeClr val="bg1"/>
          </a:solidFill>
          <a:ln>
            <a:solidFill>
              <a:schemeClr val="tx1"/>
            </a:solidFill>
          </a:ln>
        </p:spPr>
        <p:txBody>
          <a:bodyPr wrap="square" rtlCol="0">
            <a:spAutoFit/>
          </a:bodyPr>
          <a:lstStyle/>
          <a:p>
            <a:pPr algn="ctr"/>
            <a:r>
              <a:rPr kumimoji="1" lang="ja-JP" altLang="en-US" sz="1200" dirty="0">
                <a:latin typeface="+mn-ea"/>
              </a:rPr>
              <a:t>ルーター</a:t>
            </a:r>
          </a:p>
        </p:txBody>
      </p:sp>
      <p:sp>
        <p:nvSpPr>
          <p:cNvPr id="45" name="テキスト ボックス 44">
            <a:extLst>
              <a:ext uri="{FF2B5EF4-FFF2-40B4-BE49-F238E27FC236}">
                <a16:creationId xmlns:a16="http://schemas.microsoft.com/office/drawing/2014/main" id="{B5008524-7A77-44BF-8763-4DA1595363B3}"/>
              </a:ext>
            </a:extLst>
          </p:cNvPr>
          <p:cNvSpPr txBox="1"/>
          <p:nvPr/>
        </p:nvSpPr>
        <p:spPr>
          <a:xfrm>
            <a:off x="9353608" y="2363603"/>
            <a:ext cx="1325460" cy="276999"/>
          </a:xfrm>
          <a:prstGeom prst="rect">
            <a:avLst/>
          </a:prstGeom>
          <a:solidFill>
            <a:schemeClr val="bg1"/>
          </a:solidFill>
          <a:ln>
            <a:solidFill>
              <a:schemeClr val="tx1"/>
            </a:solidFill>
          </a:ln>
        </p:spPr>
        <p:txBody>
          <a:bodyPr wrap="square" rtlCol="0">
            <a:spAutoFit/>
          </a:bodyPr>
          <a:lstStyle/>
          <a:p>
            <a:pPr algn="ctr"/>
            <a:r>
              <a:rPr kumimoji="1" lang="en-US" altLang="ja-JP" sz="1200" dirty="0">
                <a:latin typeface="+mn-ea"/>
              </a:rPr>
              <a:t>L2</a:t>
            </a:r>
            <a:r>
              <a:rPr kumimoji="1" lang="ja-JP" altLang="en-US" sz="1200" dirty="0">
                <a:latin typeface="+mn-ea"/>
              </a:rPr>
              <a:t>スイッチ</a:t>
            </a:r>
          </a:p>
        </p:txBody>
      </p:sp>
      <p:sp>
        <p:nvSpPr>
          <p:cNvPr id="46" name="テキスト ボックス 45">
            <a:extLst>
              <a:ext uri="{FF2B5EF4-FFF2-40B4-BE49-F238E27FC236}">
                <a16:creationId xmlns:a16="http://schemas.microsoft.com/office/drawing/2014/main" id="{7D1634DB-C681-400E-98C4-A4F749BE71E0}"/>
              </a:ext>
            </a:extLst>
          </p:cNvPr>
          <p:cNvSpPr txBox="1"/>
          <p:nvPr/>
        </p:nvSpPr>
        <p:spPr>
          <a:xfrm>
            <a:off x="9362448" y="2712972"/>
            <a:ext cx="1325460" cy="276999"/>
          </a:xfrm>
          <a:prstGeom prst="rect">
            <a:avLst/>
          </a:prstGeom>
          <a:solidFill>
            <a:srgbClr val="FFFF00"/>
          </a:solidFill>
          <a:ln>
            <a:solidFill>
              <a:schemeClr val="tx1"/>
            </a:solidFill>
          </a:ln>
        </p:spPr>
        <p:txBody>
          <a:bodyPr wrap="square" rtlCol="0">
            <a:spAutoFit/>
          </a:bodyPr>
          <a:lstStyle/>
          <a:p>
            <a:pPr algn="ctr"/>
            <a:r>
              <a:rPr kumimoji="1" lang="en-US" altLang="ja-JP" sz="1200" dirty="0">
                <a:latin typeface="+mn-ea"/>
              </a:rPr>
              <a:t>FACE</a:t>
            </a:r>
            <a:r>
              <a:rPr kumimoji="1" lang="ja-JP" altLang="en-US" sz="1200" dirty="0">
                <a:latin typeface="+mn-ea"/>
              </a:rPr>
              <a:t>対向用</a:t>
            </a:r>
          </a:p>
        </p:txBody>
      </p:sp>
      <p:sp>
        <p:nvSpPr>
          <p:cNvPr id="48" name="矢印: 下 47">
            <a:extLst>
              <a:ext uri="{FF2B5EF4-FFF2-40B4-BE49-F238E27FC236}">
                <a16:creationId xmlns:a16="http://schemas.microsoft.com/office/drawing/2014/main" id="{319248B5-8281-4301-8E87-CDBCB265A413}"/>
              </a:ext>
            </a:extLst>
          </p:cNvPr>
          <p:cNvSpPr/>
          <p:nvPr/>
        </p:nvSpPr>
        <p:spPr>
          <a:xfrm>
            <a:off x="8440689" y="1200300"/>
            <a:ext cx="172881" cy="30136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矢印: 下 48">
            <a:extLst>
              <a:ext uri="{FF2B5EF4-FFF2-40B4-BE49-F238E27FC236}">
                <a16:creationId xmlns:a16="http://schemas.microsoft.com/office/drawing/2014/main" id="{AE902DA8-39E0-4906-9020-430FF812694B}"/>
              </a:ext>
            </a:extLst>
          </p:cNvPr>
          <p:cNvSpPr/>
          <p:nvPr/>
        </p:nvSpPr>
        <p:spPr>
          <a:xfrm rot="10800000">
            <a:off x="9362447" y="1848190"/>
            <a:ext cx="143111" cy="961323"/>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矢印: 下 50">
            <a:extLst>
              <a:ext uri="{FF2B5EF4-FFF2-40B4-BE49-F238E27FC236}">
                <a16:creationId xmlns:a16="http://schemas.microsoft.com/office/drawing/2014/main" id="{DB00C1AA-9719-4411-A67E-793FAE89E632}"/>
              </a:ext>
            </a:extLst>
          </p:cNvPr>
          <p:cNvSpPr/>
          <p:nvPr/>
        </p:nvSpPr>
        <p:spPr>
          <a:xfrm rot="16200000">
            <a:off x="9499581" y="537588"/>
            <a:ext cx="163902" cy="186706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矢印: 下 51">
            <a:extLst>
              <a:ext uri="{FF2B5EF4-FFF2-40B4-BE49-F238E27FC236}">
                <a16:creationId xmlns:a16="http://schemas.microsoft.com/office/drawing/2014/main" id="{37CE7236-6184-4100-A19C-C780D85E1FCB}"/>
              </a:ext>
            </a:extLst>
          </p:cNvPr>
          <p:cNvSpPr/>
          <p:nvPr/>
        </p:nvSpPr>
        <p:spPr>
          <a:xfrm>
            <a:off x="10515074" y="1609999"/>
            <a:ext cx="151663" cy="1312859"/>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矢印: 下 52">
            <a:extLst>
              <a:ext uri="{FF2B5EF4-FFF2-40B4-BE49-F238E27FC236}">
                <a16:creationId xmlns:a16="http://schemas.microsoft.com/office/drawing/2014/main" id="{CDD440E4-6B66-402E-8C41-C8B9B264B6DD}"/>
              </a:ext>
            </a:extLst>
          </p:cNvPr>
          <p:cNvSpPr/>
          <p:nvPr/>
        </p:nvSpPr>
        <p:spPr>
          <a:xfrm rot="5400000">
            <a:off x="8925831" y="1398504"/>
            <a:ext cx="163902" cy="73547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矢印: 下 54">
            <a:extLst>
              <a:ext uri="{FF2B5EF4-FFF2-40B4-BE49-F238E27FC236}">
                <a16:creationId xmlns:a16="http://schemas.microsoft.com/office/drawing/2014/main" id="{8ED5EA11-2536-4198-BDD2-75DAABE0D765}"/>
              </a:ext>
            </a:extLst>
          </p:cNvPr>
          <p:cNvSpPr/>
          <p:nvPr/>
        </p:nvSpPr>
        <p:spPr>
          <a:xfrm>
            <a:off x="8567527" y="1905115"/>
            <a:ext cx="156530" cy="1101892"/>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矢印: 下 55">
            <a:extLst>
              <a:ext uri="{FF2B5EF4-FFF2-40B4-BE49-F238E27FC236}">
                <a16:creationId xmlns:a16="http://schemas.microsoft.com/office/drawing/2014/main" id="{FC3ADE85-4EF4-4D90-9E0F-ACB5DC9FD439}"/>
              </a:ext>
            </a:extLst>
          </p:cNvPr>
          <p:cNvSpPr/>
          <p:nvPr/>
        </p:nvSpPr>
        <p:spPr>
          <a:xfrm rot="4043449">
            <a:off x="7370461" y="2414667"/>
            <a:ext cx="151201" cy="2229994"/>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805921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71AE0A6-936B-44CB-985E-C139363F9257}"/>
              </a:ext>
            </a:extLst>
          </p:cNvPr>
          <p:cNvSpPr txBox="1"/>
          <p:nvPr/>
        </p:nvSpPr>
        <p:spPr>
          <a:xfrm>
            <a:off x="1105865" y="1166842"/>
            <a:ext cx="10747779" cy="4524315"/>
          </a:xfrm>
          <a:prstGeom prst="rect">
            <a:avLst/>
          </a:prstGeom>
          <a:noFill/>
        </p:spPr>
        <p:txBody>
          <a:bodyPr wrap="square" rtlCol="0">
            <a:spAutoFit/>
          </a:bodyPr>
          <a:lstStyle/>
          <a:p>
            <a:r>
              <a:rPr lang="ja-JP" altLang="en-US" dirty="0">
                <a:latin typeface="ＭＳ 明朝" panose="02020609040205080304" pitchFamily="17" charset="-128"/>
                <a:ea typeface="ＭＳ 明朝" panose="02020609040205080304" pitchFamily="17" charset="-128"/>
              </a:rPr>
              <a:t>攻撃例：</a:t>
            </a:r>
            <a:endParaRPr lang="en-US" altLang="ja-JP" dirty="0">
              <a:latin typeface="ＭＳ 明朝" panose="02020609040205080304" pitchFamily="17" charset="-128"/>
              <a:ea typeface="ＭＳ 明朝" panose="02020609040205080304" pitchFamily="17" charset="-128"/>
            </a:endParaRPr>
          </a:p>
          <a:p>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 ポートスキャン</a:t>
            </a:r>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　 → 攻撃に使用可能なポートオープンを列挙</a:t>
            </a:r>
            <a:endParaRPr kumimoji="1"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 既知ユーザーリストからパスワードを予測しオープンポートに対して接続試行</a:t>
            </a:r>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　 → </a:t>
            </a:r>
            <a:r>
              <a:rPr lang="en-US" altLang="ja-JP" dirty="0">
                <a:latin typeface="ＭＳ 明朝" panose="02020609040205080304" pitchFamily="17" charset="-128"/>
                <a:ea typeface="ＭＳ 明朝" panose="02020609040205080304" pitchFamily="17" charset="-128"/>
              </a:rPr>
              <a:t>22,23,445,3389,5985,5986 etc..</a:t>
            </a:r>
          </a:p>
          <a:p>
            <a:endParaRPr kumimoji="1"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 ログイン不能な場合は脆弱性スキャン</a:t>
            </a:r>
            <a:endParaRPr lang="en-US" altLang="ja-JP" dirty="0">
              <a:latin typeface="ＭＳ 明朝" panose="02020609040205080304" pitchFamily="17" charset="-128"/>
              <a:ea typeface="ＭＳ 明朝" panose="02020609040205080304" pitchFamily="17" charset="-128"/>
            </a:endParaRPr>
          </a:p>
          <a:p>
            <a:r>
              <a:rPr lang="en-US" altLang="ja-JP" dirty="0">
                <a:latin typeface="ＭＳ 明朝" panose="02020609040205080304" pitchFamily="17" charset="-128"/>
                <a:ea typeface="ＭＳ 明朝" panose="02020609040205080304" pitchFamily="17" charset="-128"/>
              </a:rPr>
              <a:t>   </a:t>
            </a:r>
            <a:r>
              <a:rPr lang="ja-JP" altLang="en-US" dirty="0">
                <a:latin typeface="ＭＳ 明朝" panose="02020609040205080304" pitchFamily="17" charset="-128"/>
                <a:ea typeface="ＭＳ 明朝" panose="02020609040205080304" pitchFamily="17" charset="-128"/>
              </a:rPr>
              <a:t>→ 脆弱性が見つかった場合、それを利用して侵入</a:t>
            </a:r>
            <a:endParaRPr lang="en-US" altLang="ja-JP" dirty="0">
              <a:latin typeface="ＭＳ 明朝" panose="02020609040205080304" pitchFamily="17" charset="-128"/>
              <a:ea typeface="ＭＳ 明朝" panose="02020609040205080304" pitchFamily="17" charset="-128"/>
            </a:endParaRPr>
          </a:p>
          <a:p>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 ログインユーザーがユーザー権限の場合は</a:t>
            </a:r>
            <a:r>
              <a:rPr kumimoji="1" lang="en-US" altLang="ja-JP" dirty="0">
                <a:latin typeface="ＭＳ 明朝" panose="02020609040205080304" pitchFamily="17" charset="-128"/>
                <a:ea typeface="ＭＳ 明朝" panose="02020609040205080304" pitchFamily="17" charset="-128"/>
              </a:rPr>
              <a:t>CVE-2024-21338</a:t>
            </a:r>
            <a:r>
              <a:rPr kumimoji="1" lang="ja-JP" altLang="en-US" dirty="0">
                <a:latin typeface="ＭＳ 明朝" panose="02020609040205080304" pitchFamily="17" charset="-128"/>
                <a:ea typeface="ＭＳ 明朝" panose="02020609040205080304" pitchFamily="17" charset="-128"/>
              </a:rPr>
              <a:t>の脆弱性を利用して権限昇格</a:t>
            </a:r>
            <a:endParaRPr kumimoji="1"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 権限昇格後は認証情報窃取ツールをダウンロードし端末内のドメイン管理者認証情報を取得</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 権限昇格後は、内部ネットワーク調査を行い、発見した運行情報等</a:t>
            </a:r>
            <a:r>
              <a:rPr kumimoji="1" lang="en-US" altLang="ja-JP" dirty="0">
                <a:latin typeface="ＭＳ 明朝" panose="02020609040205080304" pitchFamily="17" charset="-128"/>
                <a:ea typeface="ＭＳ 明朝" panose="02020609040205080304" pitchFamily="17" charset="-128"/>
              </a:rPr>
              <a:t>DB</a:t>
            </a:r>
            <a:r>
              <a:rPr kumimoji="1" lang="ja-JP" altLang="en-US" dirty="0">
                <a:latin typeface="ＭＳ 明朝" panose="02020609040205080304" pitchFamily="17" charset="-128"/>
                <a:ea typeface="ＭＳ 明朝" panose="02020609040205080304" pitchFamily="17" charset="-128"/>
              </a:rPr>
              <a:t>サーバーを発見し情報を窃取</a:t>
            </a:r>
            <a:endParaRPr kumimoji="1" lang="en-US" altLang="ja-JP" dirty="0">
              <a:latin typeface="ＭＳ 明朝" panose="02020609040205080304" pitchFamily="17" charset="-128"/>
              <a:ea typeface="ＭＳ 明朝" panose="02020609040205080304" pitchFamily="17" charset="-128"/>
            </a:endParaRPr>
          </a:p>
        </p:txBody>
      </p:sp>
      <p:sp>
        <p:nvSpPr>
          <p:cNvPr id="3" name="タイトル 1">
            <a:extLst>
              <a:ext uri="{FF2B5EF4-FFF2-40B4-BE49-F238E27FC236}">
                <a16:creationId xmlns:a16="http://schemas.microsoft.com/office/drawing/2014/main" id="{63817124-F6E5-4765-995D-9AA64F8999DA}"/>
              </a:ext>
            </a:extLst>
          </p:cNvPr>
          <p:cNvSpPr txBox="1">
            <a:spLocks/>
          </p:cNvSpPr>
          <p:nvPr/>
        </p:nvSpPr>
        <p:spPr>
          <a:xfrm>
            <a:off x="2202193" y="135201"/>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仮説６</a:t>
            </a:r>
          </a:p>
        </p:txBody>
      </p:sp>
    </p:spTree>
    <p:extLst>
      <p:ext uri="{BB962C8B-B14F-4D97-AF65-F5344CB8AC3E}">
        <p14:creationId xmlns:p14="http://schemas.microsoft.com/office/powerpoint/2010/main" val="21335479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9888EA0-D4C3-4B47-BA07-365756C84B0B}"/>
              </a:ext>
            </a:extLst>
          </p:cNvPr>
          <p:cNvSpPr txBox="1"/>
          <p:nvPr/>
        </p:nvSpPr>
        <p:spPr>
          <a:xfrm>
            <a:off x="876413" y="889843"/>
            <a:ext cx="9533379" cy="5909310"/>
          </a:xfrm>
          <a:prstGeom prst="rect">
            <a:avLst/>
          </a:prstGeom>
          <a:noFill/>
        </p:spPr>
        <p:txBody>
          <a:bodyPr wrap="none" rtlCol="0">
            <a:spAutoFit/>
          </a:bodyPr>
          <a:lstStyle/>
          <a:p>
            <a:r>
              <a:rPr kumimoji="1" lang="ja-JP" altLang="en-US" dirty="0">
                <a:latin typeface="ＭＳ 明朝" panose="02020609040205080304" pitchFamily="17" charset="-128"/>
                <a:ea typeface="ＭＳ 明朝" panose="02020609040205080304" pitchFamily="17" charset="-128"/>
              </a:rPr>
              <a:t>検知手段：</a:t>
            </a:r>
            <a:endParaRPr kumimoji="1" lang="en-US" altLang="ja-JP" dirty="0">
              <a:latin typeface="ＭＳ 明朝" panose="02020609040205080304" pitchFamily="17" charset="-128"/>
              <a:ea typeface="ＭＳ 明朝" panose="02020609040205080304" pitchFamily="17" charset="-128"/>
            </a:endParaRPr>
          </a:p>
          <a:p>
            <a:endParaRPr kumimoji="1"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a:t>
            </a:r>
            <a:r>
              <a:rPr lang="en-US" altLang="ja-JP" dirty="0">
                <a:latin typeface="ＭＳ 明朝" panose="02020609040205080304" pitchFamily="17" charset="-128"/>
                <a:ea typeface="ＭＳ 明朝" panose="02020609040205080304" pitchFamily="17" charset="-128"/>
              </a:rPr>
              <a:t> FACE</a:t>
            </a:r>
            <a:r>
              <a:rPr lang="ja-JP" altLang="en-US" dirty="0">
                <a:latin typeface="ＭＳ 明朝" panose="02020609040205080304" pitchFamily="17" charset="-128"/>
                <a:ea typeface="ＭＳ 明朝" panose="02020609040205080304" pitchFamily="17" charset="-128"/>
              </a:rPr>
              <a:t>対向用端末の</a:t>
            </a:r>
            <a:r>
              <a:rPr lang="en-US" altLang="ja-JP" dirty="0">
                <a:latin typeface="ＭＳ 明朝" panose="02020609040205080304" pitchFamily="17" charset="-128"/>
                <a:ea typeface="ＭＳ 明朝" panose="02020609040205080304" pitchFamily="17" charset="-128"/>
              </a:rPr>
              <a:t>Security</a:t>
            </a:r>
            <a:r>
              <a:rPr lang="ja-JP" altLang="en-US" dirty="0">
                <a:latin typeface="ＭＳ 明朝" panose="02020609040205080304" pitchFamily="17" charset="-128"/>
                <a:ea typeface="ＭＳ 明朝" panose="02020609040205080304" pitchFamily="17" charset="-128"/>
              </a:rPr>
              <a:t>ログで不審な端末からアクセスがないかを確認 </a:t>
            </a:r>
            <a:r>
              <a:rPr lang="en-US" altLang="ja-JP" dirty="0">
                <a:latin typeface="ＭＳ 明朝" panose="02020609040205080304" pitchFamily="17" charset="-128"/>
                <a:ea typeface="ＭＳ 明朝" panose="02020609040205080304" pitchFamily="17" charset="-128"/>
              </a:rPr>
              <a:t>(4624/4625)</a:t>
            </a: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a:t>
            </a:r>
            <a:r>
              <a:rPr lang="en-US" altLang="ja-JP" dirty="0">
                <a:latin typeface="ＭＳ 明朝" panose="02020609040205080304" pitchFamily="17" charset="-128"/>
                <a:ea typeface="ＭＳ 明朝" panose="02020609040205080304" pitchFamily="17" charset="-128"/>
              </a:rPr>
              <a:t> FACE</a:t>
            </a:r>
            <a:r>
              <a:rPr lang="ja-JP" altLang="en-US" dirty="0">
                <a:latin typeface="ＭＳ 明朝" panose="02020609040205080304" pitchFamily="17" charset="-128"/>
                <a:ea typeface="ＭＳ 明朝" panose="02020609040205080304" pitchFamily="17" charset="-128"/>
              </a:rPr>
              <a:t>対向用端末の</a:t>
            </a:r>
            <a:r>
              <a:rPr lang="en-US" altLang="ja-JP" dirty="0">
                <a:latin typeface="ＭＳ 明朝" panose="02020609040205080304" pitchFamily="17" charset="-128"/>
                <a:ea typeface="ＭＳ 明朝" panose="02020609040205080304" pitchFamily="17" charset="-128"/>
              </a:rPr>
              <a:t>Security</a:t>
            </a:r>
            <a:r>
              <a:rPr lang="ja-JP" altLang="en-US" dirty="0">
                <a:latin typeface="ＭＳ 明朝" panose="02020609040205080304" pitchFamily="17" charset="-128"/>
                <a:ea typeface="ＭＳ 明朝" panose="02020609040205080304" pitchFamily="17" charset="-128"/>
              </a:rPr>
              <a:t>ログで不審なサービスやタスクが登録されていないかを確認</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a:t>
            </a:r>
            <a:r>
              <a:rPr lang="en-US" altLang="ja-JP" dirty="0">
                <a:latin typeface="ＭＳ 明朝" panose="02020609040205080304" pitchFamily="17" charset="-128"/>
                <a:ea typeface="ＭＳ 明朝" panose="02020609040205080304" pitchFamily="17" charset="-128"/>
              </a:rPr>
              <a:t> FACE</a:t>
            </a:r>
            <a:r>
              <a:rPr lang="ja-JP" altLang="en-US" dirty="0">
                <a:latin typeface="ＭＳ 明朝" panose="02020609040205080304" pitchFamily="17" charset="-128"/>
                <a:ea typeface="ＭＳ 明朝" panose="02020609040205080304" pitchFamily="17" charset="-128"/>
              </a:rPr>
              <a:t>対向用端末の</a:t>
            </a:r>
            <a:r>
              <a:rPr lang="en-US" altLang="ja-JP" dirty="0">
                <a:latin typeface="ＭＳ 明朝" panose="02020609040205080304" pitchFamily="17" charset="-128"/>
                <a:ea typeface="ＭＳ 明朝" panose="02020609040205080304" pitchFamily="17" charset="-128"/>
              </a:rPr>
              <a:t>Defender</a:t>
            </a:r>
            <a:r>
              <a:rPr lang="ja-JP" altLang="en-US" dirty="0">
                <a:latin typeface="ＭＳ 明朝" panose="02020609040205080304" pitchFamily="17" charset="-128"/>
                <a:ea typeface="ＭＳ 明朝" panose="02020609040205080304" pitchFamily="17" charset="-128"/>
              </a:rPr>
              <a:t>ログで正常に動作しているかを確認</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a:t>
            </a:r>
            <a:r>
              <a:rPr lang="en-US" altLang="ja-JP" dirty="0">
                <a:latin typeface="ＭＳ 明朝" panose="02020609040205080304" pitchFamily="17" charset="-128"/>
                <a:ea typeface="ＭＳ 明朝" panose="02020609040205080304" pitchFamily="17" charset="-128"/>
              </a:rPr>
              <a:t> FACE</a:t>
            </a:r>
            <a:r>
              <a:rPr lang="ja-JP" altLang="en-US" dirty="0">
                <a:latin typeface="ＭＳ 明朝" panose="02020609040205080304" pitchFamily="17" charset="-128"/>
                <a:ea typeface="ＭＳ 明朝" panose="02020609040205080304" pitchFamily="17" charset="-128"/>
              </a:rPr>
              <a:t>対向用端末の</a:t>
            </a:r>
            <a:r>
              <a:rPr lang="en-US" altLang="ja-JP" dirty="0">
                <a:latin typeface="ＭＳ 明朝" panose="02020609040205080304" pitchFamily="17" charset="-128"/>
                <a:ea typeface="ＭＳ 明朝" panose="02020609040205080304" pitchFamily="17" charset="-128"/>
              </a:rPr>
              <a:t>netstat</a:t>
            </a:r>
            <a:r>
              <a:rPr lang="ja-JP" altLang="en-US" dirty="0">
                <a:latin typeface="ＭＳ 明朝" panose="02020609040205080304" pitchFamily="17" charset="-128"/>
                <a:ea typeface="ＭＳ 明朝" panose="02020609040205080304" pitchFamily="17" charset="-128"/>
              </a:rPr>
              <a:t>実行結果に不審な通信先が含まれていないかを確認</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a:t>
            </a:r>
            <a:r>
              <a:rPr lang="en-US" altLang="ja-JP" dirty="0">
                <a:latin typeface="ＭＳ 明朝" panose="02020609040205080304" pitchFamily="17" charset="-128"/>
                <a:ea typeface="ＭＳ 明朝" panose="02020609040205080304" pitchFamily="17" charset="-128"/>
              </a:rPr>
              <a:t> FACE</a:t>
            </a:r>
            <a:r>
              <a:rPr lang="ja-JP" altLang="en-US" dirty="0">
                <a:latin typeface="ＭＳ 明朝" panose="02020609040205080304" pitchFamily="17" charset="-128"/>
                <a:ea typeface="ＭＳ 明朝" panose="02020609040205080304" pitchFamily="17" charset="-128"/>
              </a:rPr>
              <a:t>対向用端末の</a:t>
            </a:r>
            <a:r>
              <a:rPr lang="en-US" altLang="ja-JP" dirty="0" err="1">
                <a:latin typeface="ＭＳ 明朝" panose="02020609040205080304" pitchFamily="17" charset="-128"/>
                <a:ea typeface="ＭＳ 明朝" panose="02020609040205080304" pitchFamily="17" charset="-128"/>
              </a:rPr>
              <a:t>tasklist</a:t>
            </a:r>
            <a:r>
              <a:rPr lang="ja-JP" altLang="en-US" dirty="0">
                <a:latin typeface="ＭＳ 明朝" panose="02020609040205080304" pitchFamily="17" charset="-128"/>
                <a:ea typeface="ＭＳ 明朝" panose="02020609040205080304" pitchFamily="17" charset="-128"/>
              </a:rPr>
              <a:t>実行結果に不審なプロセスが含まれていないかを確認</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 </a:t>
            </a:r>
            <a:r>
              <a:rPr lang="en-US" altLang="ja-JP" dirty="0">
                <a:latin typeface="ＭＳ 明朝" panose="02020609040205080304" pitchFamily="17" charset="-128"/>
                <a:ea typeface="ＭＳ 明朝" panose="02020609040205080304" pitchFamily="17" charset="-128"/>
              </a:rPr>
              <a:t>FACE</a:t>
            </a:r>
            <a:r>
              <a:rPr lang="ja-JP" altLang="en-US" dirty="0">
                <a:latin typeface="ＭＳ 明朝" panose="02020609040205080304" pitchFamily="17" charset="-128"/>
                <a:ea typeface="ＭＳ 明朝" panose="02020609040205080304" pitchFamily="17" charset="-128"/>
              </a:rPr>
              <a:t>対抗端末の</a:t>
            </a:r>
            <a:r>
              <a:rPr lang="en-US" altLang="ja-JP" dirty="0">
                <a:latin typeface="ＭＳ 明朝" panose="02020609040205080304" pitchFamily="17" charset="-128"/>
                <a:ea typeface="ＭＳ 明朝" panose="02020609040205080304" pitchFamily="17" charset="-128"/>
              </a:rPr>
              <a:t>Security</a:t>
            </a:r>
            <a:r>
              <a:rPr lang="ja-JP" altLang="en-US" dirty="0">
                <a:latin typeface="ＭＳ 明朝" panose="02020609040205080304" pitchFamily="17" charset="-128"/>
                <a:ea typeface="ＭＳ 明朝" panose="02020609040205080304" pitchFamily="17" charset="-128"/>
              </a:rPr>
              <a:t>ログで新規ドライバ</a:t>
            </a:r>
            <a:r>
              <a:rPr lang="en-US" altLang="ja-JP" dirty="0">
                <a:latin typeface="ＭＳ 明朝" panose="02020609040205080304" pitchFamily="17" charset="-128"/>
                <a:ea typeface="ＭＳ 明朝" panose="02020609040205080304" pitchFamily="17" charset="-128"/>
              </a:rPr>
              <a:t>/</a:t>
            </a:r>
            <a:r>
              <a:rPr lang="ja-JP" altLang="en-US" dirty="0">
                <a:latin typeface="ＭＳ 明朝" panose="02020609040205080304" pitchFamily="17" charset="-128"/>
                <a:ea typeface="ＭＳ 明朝" panose="02020609040205080304" pitchFamily="17" charset="-128"/>
              </a:rPr>
              <a:t>サービスの作成がないかを確認</a:t>
            </a:r>
            <a:r>
              <a:rPr lang="en-US" altLang="ja-JP" dirty="0">
                <a:latin typeface="ＭＳ 明朝" panose="02020609040205080304" pitchFamily="17" charset="-128"/>
                <a:ea typeface="ＭＳ 明朝" panose="02020609040205080304" pitchFamily="17" charset="-128"/>
              </a:rPr>
              <a:t>(7045)</a:t>
            </a: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 運行管理情報</a:t>
            </a:r>
            <a:r>
              <a:rPr lang="en-US" altLang="ja-JP" dirty="0">
                <a:latin typeface="ＭＳ 明朝" panose="02020609040205080304" pitchFamily="17" charset="-128"/>
                <a:ea typeface="ＭＳ 明朝" panose="02020609040205080304" pitchFamily="17" charset="-128"/>
              </a:rPr>
              <a:t>DB</a:t>
            </a:r>
            <a:r>
              <a:rPr lang="ja-JP" altLang="en-US" dirty="0">
                <a:latin typeface="ＭＳ 明朝" panose="02020609040205080304" pitchFamily="17" charset="-128"/>
                <a:ea typeface="ＭＳ 明朝" panose="02020609040205080304" pitchFamily="17" charset="-128"/>
              </a:rPr>
              <a:t>に不審なアクセスログはないかを確認</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緩和策：</a:t>
            </a:r>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・不要なサービスなどは停止する</a:t>
            </a:r>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・パスワードなどを複雑にする。</a:t>
            </a:r>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・重要な認証情報は残さない。</a:t>
            </a:r>
            <a:endParaRPr lang="en-US" altLang="ja-JP" dirty="0">
              <a:latin typeface="ＭＳ 明朝" panose="02020609040205080304" pitchFamily="17" charset="-128"/>
              <a:ea typeface="ＭＳ 明朝" panose="02020609040205080304" pitchFamily="17" charset="-128"/>
            </a:endParaRPr>
          </a:p>
        </p:txBody>
      </p:sp>
      <p:sp>
        <p:nvSpPr>
          <p:cNvPr id="3" name="タイトル 1">
            <a:extLst>
              <a:ext uri="{FF2B5EF4-FFF2-40B4-BE49-F238E27FC236}">
                <a16:creationId xmlns:a16="http://schemas.microsoft.com/office/drawing/2014/main" id="{16AC1EB4-9556-4B6C-8BB6-F21A73358E79}"/>
              </a:ext>
            </a:extLst>
          </p:cNvPr>
          <p:cNvSpPr txBox="1">
            <a:spLocks/>
          </p:cNvSpPr>
          <p:nvPr/>
        </p:nvSpPr>
        <p:spPr>
          <a:xfrm>
            <a:off x="2202193" y="135201"/>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r>
              <a:rPr lang="ja-JP" altLang="en-US" sz="2800" dirty="0">
                <a:latin typeface="ＭＳ ゴシック" panose="020B0609070205080204" pitchFamily="49" charset="-128"/>
                <a:ea typeface="ＭＳ ゴシック" panose="020B0609070205080204" pitchFamily="49" charset="-128"/>
              </a:rPr>
              <a:t>仮説６</a:t>
            </a:r>
          </a:p>
        </p:txBody>
      </p:sp>
    </p:spTree>
    <p:extLst>
      <p:ext uri="{BB962C8B-B14F-4D97-AF65-F5344CB8AC3E}">
        <p14:creationId xmlns:p14="http://schemas.microsoft.com/office/powerpoint/2010/main" val="17722965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635180D-ED05-45EB-9D64-BA0A82BBA0F6}"/>
              </a:ext>
            </a:extLst>
          </p:cNvPr>
          <p:cNvSpPr txBox="1"/>
          <p:nvPr/>
        </p:nvSpPr>
        <p:spPr>
          <a:xfrm>
            <a:off x="2904260" y="2151727"/>
            <a:ext cx="6383479" cy="2554545"/>
          </a:xfrm>
          <a:prstGeom prst="rect">
            <a:avLst/>
          </a:prstGeom>
          <a:noFill/>
        </p:spPr>
        <p:txBody>
          <a:bodyPr wrap="none" rtlCol="0">
            <a:spAutoFit/>
          </a:bodyPr>
          <a:lstStyle/>
          <a:p>
            <a:pPr algn="ctr"/>
            <a:r>
              <a:rPr kumimoji="1" lang="ja-JP" altLang="en-US" sz="8000" b="1" dirty="0">
                <a:latin typeface="ＭＳ 明朝" panose="02020609040205080304" pitchFamily="17" charset="-128"/>
                <a:ea typeface="ＭＳ 明朝" panose="02020609040205080304" pitchFamily="17" charset="-128"/>
              </a:rPr>
              <a:t>侵入経路３</a:t>
            </a:r>
            <a:endParaRPr kumimoji="1" lang="en-US" altLang="ja-JP" sz="8000" b="1" dirty="0">
              <a:latin typeface="ＭＳ 明朝" panose="02020609040205080304" pitchFamily="17" charset="-128"/>
              <a:ea typeface="ＭＳ 明朝" panose="02020609040205080304" pitchFamily="17" charset="-128"/>
            </a:endParaRPr>
          </a:p>
          <a:p>
            <a:pPr algn="ctr"/>
            <a:r>
              <a:rPr lang="en-US" altLang="ja-JP" sz="8000" b="1" dirty="0">
                <a:latin typeface="ＭＳ 明朝" panose="02020609040205080304" pitchFamily="17" charset="-128"/>
                <a:ea typeface="ＭＳ 明朝" panose="02020609040205080304" pitchFamily="17" charset="-128"/>
              </a:rPr>
              <a:t>(</a:t>
            </a:r>
            <a:r>
              <a:rPr lang="ja-JP" altLang="en-US" sz="8000" b="1" dirty="0">
                <a:latin typeface="ＭＳ 明朝" panose="02020609040205080304" pitchFamily="17" charset="-128"/>
                <a:ea typeface="ＭＳ 明朝" panose="02020609040205080304" pitchFamily="17" charset="-128"/>
              </a:rPr>
              <a:t>米軍→</a:t>
            </a:r>
            <a:r>
              <a:rPr lang="en-US" altLang="ja-JP" sz="8000" b="1" dirty="0">
                <a:latin typeface="ＭＳ 明朝" panose="02020609040205080304" pitchFamily="17" charset="-128"/>
                <a:ea typeface="ＭＳ 明朝" panose="02020609040205080304" pitchFamily="17" charset="-128"/>
              </a:rPr>
              <a:t>FADP)</a:t>
            </a:r>
            <a:endParaRPr kumimoji="1" lang="ja-JP" altLang="en-US" sz="8000" b="1"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21026878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E04792A-049C-48C2-BAB2-DF5C0718709B}"/>
              </a:ext>
            </a:extLst>
          </p:cNvPr>
          <p:cNvSpPr txBox="1"/>
          <p:nvPr/>
        </p:nvSpPr>
        <p:spPr>
          <a:xfrm>
            <a:off x="806742" y="1090568"/>
            <a:ext cx="10578516" cy="4893647"/>
          </a:xfrm>
          <a:prstGeom prst="rect">
            <a:avLst/>
          </a:prstGeom>
          <a:noFill/>
        </p:spPr>
        <p:txBody>
          <a:bodyPr wrap="square" rtlCol="0">
            <a:spAutoFit/>
          </a:bodyPr>
          <a:lstStyle/>
          <a:p>
            <a:r>
              <a:rPr kumimoji="1" lang="ja-JP" altLang="en-US" sz="2400" b="1" dirty="0">
                <a:solidFill>
                  <a:srgbClr val="00B050"/>
                </a:solidFill>
                <a:latin typeface="ＭＳ 明朝" panose="02020609040205080304" pitchFamily="17" charset="-128"/>
                <a:ea typeface="ＭＳ 明朝" panose="02020609040205080304" pitchFamily="17" charset="-128"/>
              </a:rPr>
              <a:t>仮説７</a:t>
            </a:r>
            <a:endParaRPr kumimoji="1" lang="en-US" altLang="ja-JP" sz="2400" b="1" dirty="0">
              <a:solidFill>
                <a:srgbClr val="00B050"/>
              </a:solidFill>
              <a:latin typeface="ＭＳ 明朝" panose="02020609040205080304" pitchFamily="17" charset="-128"/>
              <a:ea typeface="ＭＳ 明朝" panose="02020609040205080304" pitchFamily="17" charset="-128"/>
            </a:endParaRPr>
          </a:p>
          <a:p>
            <a:r>
              <a:rPr lang="ja-JP" altLang="en-US" sz="2400" dirty="0">
                <a:latin typeface="ＭＳ 明朝" panose="02020609040205080304" pitchFamily="17" charset="-128"/>
                <a:ea typeface="ＭＳ 明朝" panose="02020609040205080304" pitchFamily="17" charset="-128"/>
              </a:rPr>
              <a:t>送信元を偽装して偽の運行情報を記載したメールを送ることにより誤った運行情報を読み取らせることにより業務を阻害する。</a:t>
            </a:r>
            <a:endParaRPr lang="en-US" altLang="ja-JP" sz="2400" dirty="0">
              <a:latin typeface="ＭＳ 明朝" panose="02020609040205080304" pitchFamily="17" charset="-128"/>
              <a:ea typeface="ＭＳ 明朝" panose="02020609040205080304" pitchFamily="17" charset="-128"/>
            </a:endParaRPr>
          </a:p>
          <a:p>
            <a:endParaRPr kumimoji="1" lang="en-US" altLang="ja-JP" sz="2400" dirty="0">
              <a:latin typeface="ＭＳ 明朝" panose="02020609040205080304" pitchFamily="17" charset="-128"/>
              <a:ea typeface="ＭＳ 明朝" panose="02020609040205080304" pitchFamily="17" charset="-128"/>
            </a:endParaRPr>
          </a:p>
          <a:p>
            <a:endParaRPr kumimoji="1" lang="en-US" altLang="ja-JP" sz="2400" dirty="0">
              <a:latin typeface="ＭＳ 明朝" panose="02020609040205080304" pitchFamily="17" charset="-128"/>
              <a:ea typeface="ＭＳ 明朝" panose="02020609040205080304" pitchFamily="17" charset="-128"/>
            </a:endParaRPr>
          </a:p>
          <a:p>
            <a:r>
              <a:rPr kumimoji="1" lang="ja-JP" altLang="en-US" sz="2400" b="1" dirty="0">
                <a:solidFill>
                  <a:srgbClr val="00B050"/>
                </a:solidFill>
                <a:latin typeface="ＭＳ 明朝" panose="02020609040205080304" pitchFamily="17" charset="-128"/>
                <a:ea typeface="ＭＳ 明朝" panose="02020609040205080304" pitchFamily="17" charset="-128"/>
              </a:rPr>
              <a:t>仮説８</a:t>
            </a:r>
            <a:endParaRPr kumimoji="1" lang="en-US" altLang="ja-JP" sz="2400" b="1" dirty="0">
              <a:solidFill>
                <a:srgbClr val="00B050"/>
              </a:solidFill>
              <a:latin typeface="ＭＳ 明朝" panose="02020609040205080304" pitchFamily="17" charset="-128"/>
              <a:ea typeface="ＭＳ 明朝" panose="02020609040205080304" pitchFamily="17" charset="-128"/>
            </a:endParaRPr>
          </a:p>
          <a:p>
            <a:r>
              <a:rPr lang="ja-JP" altLang="en-US" sz="2400" dirty="0">
                <a:latin typeface="ＭＳ 明朝" panose="02020609040205080304" pitchFamily="17" charset="-128"/>
                <a:ea typeface="ＭＳ 明朝" panose="02020609040205080304" pitchFamily="17" charset="-128"/>
              </a:rPr>
              <a:t>不正なコードを仕込んだメールを送信する。メールを開くと収集したメール情報が改ざんされる。</a:t>
            </a:r>
            <a:endParaRPr kumimoji="1" lang="en-US" altLang="ja-JP" sz="2400" dirty="0">
              <a:latin typeface="ＭＳ 明朝" panose="02020609040205080304" pitchFamily="17" charset="-128"/>
              <a:ea typeface="ＭＳ 明朝" panose="02020609040205080304" pitchFamily="17" charset="-128"/>
            </a:endParaRPr>
          </a:p>
          <a:p>
            <a:endParaRPr kumimoji="1" lang="en-US" altLang="ja-JP" sz="2400" dirty="0">
              <a:latin typeface="ＭＳ 明朝" panose="02020609040205080304" pitchFamily="17" charset="-128"/>
              <a:ea typeface="ＭＳ 明朝" panose="02020609040205080304" pitchFamily="17" charset="-128"/>
            </a:endParaRPr>
          </a:p>
          <a:p>
            <a:endParaRPr kumimoji="1" lang="en-US" altLang="ja-JP" sz="2400" dirty="0">
              <a:latin typeface="ＭＳ 明朝" panose="02020609040205080304" pitchFamily="17" charset="-128"/>
              <a:ea typeface="ＭＳ 明朝" panose="02020609040205080304" pitchFamily="17" charset="-128"/>
            </a:endParaRPr>
          </a:p>
          <a:p>
            <a:r>
              <a:rPr kumimoji="1" lang="ja-JP" altLang="en-US" sz="2400" b="1" dirty="0">
                <a:solidFill>
                  <a:srgbClr val="00B050"/>
                </a:solidFill>
                <a:latin typeface="ＭＳ 明朝" panose="02020609040205080304" pitchFamily="17" charset="-128"/>
                <a:ea typeface="ＭＳ 明朝" panose="02020609040205080304" pitchFamily="17" charset="-128"/>
              </a:rPr>
              <a:t>仮説９</a:t>
            </a:r>
            <a:endParaRPr kumimoji="1" lang="en-US" altLang="ja-JP" sz="2400" b="1" dirty="0">
              <a:solidFill>
                <a:srgbClr val="00B050"/>
              </a:solidFill>
              <a:latin typeface="ＭＳ 明朝" panose="02020609040205080304" pitchFamily="17" charset="-128"/>
              <a:ea typeface="ＭＳ 明朝" panose="02020609040205080304" pitchFamily="17" charset="-128"/>
            </a:endParaRPr>
          </a:p>
          <a:p>
            <a:r>
              <a:rPr lang="en-US" altLang="ja-JP" sz="2400" dirty="0" err="1">
                <a:latin typeface="ＭＳ 明朝" panose="02020609040205080304" pitchFamily="17" charset="-128"/>
                <a:ea typeface="ＭＳ 明朝" panose="02020609040205080304" pitchFamily="17" charset="-128"/>
              </a:rPr>
              <a:t>Mdaemon</a:t>
            </a:r>
            <a:r>
              <a:rPr lang="ja-JP" altLang="en-US" sz="2400" dirty="0">
                <a:latin typeface="ＭＳ 明朝" panose="02020609040205080304" pitchFamily="17" charset="-128"/>
                <a:ea typeface="ＭＳ 明朝" panose="02020609040205080304" pitchFamily="17" charset="-128"/>
              </a:rPr>
              <a:t>の</a:t>
            </a:r>
            <a:r>
              <a:rPr lang="en-US" altLang="ja-JP" sz="2400" dirty="0">
                <a:latin typeface="ＭＳ 明朝" panose="02020609040205080304" pitchFamily="17" charset="-128"/>
                <a:ea typeface="ＭＳ 明朝" panose="02020609040205080304" pitchFamily="17" charset="-128"/>
              </a:rPr>
              <a:t>RCE</a:t>
            </a:r>
            <a:r>
              <a:rPr lang="ja-JP" altLang="en-US" sz="2400" dirty="0">
                <a:latin typeface="ＭＳ 明朝" panose="02020609040205080304" pitchFamily="17" charset="-128"/>
                <a:ea typeface="ＭＳ 明朝" panose="02020609040205080304" pitchFamily="17" charset="-128"/>
              </a:rPr>
              <a:t>脆弱性をついたコマンドを送信してリモートからメールサーバを操作し、メール内容の改ざん・削除を行う。</a:t>
            </a:r>
            <a:endParaRPr lang="en-US" altLang="ja-JP" sz="24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31860256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219589B-E704-411B-AE52-524793F02BDC}"/>
              </a:ext>
            </a:extLst>
          </p:cNvPr>
          <p:cNvSpPr txBox="1"/>
          <p:nvPr/>
        </p:nvSpPr>
        <p:spPr>
          <a:xfrm>
            <a:off x="4323346" y="2579566"/>
            <a:ext cx="3276859" cy="1323439"/>
          </a:xfrm>
          <a:prstGeom prst="rect">
            <a:avLst/>
          </a:prstGeom>
          <a:noFill/>
        </p:spPr>
        <p:txBody>
          <a:bodyPr wrap="none" rtlCol="0">
            <a:spAutoFit/>
          </a:bodyPr>
          <a:lstStyle/>
          <a:p>
            <a:pPr algn="ctr"/>
            <a:r>
              <a:rPr kumimoji="1" lang="ja-JP" altLang="en-US" sz="8000" b="1" dirty="0">
                <a:latin typeface="ＭＳ 明朝" panose="02020609040205080304" pitchFamily="17" charset="-128"/>
                <a:ea typeface="ＭＳ 明朝" panose="02020609040205080304" pitchFamily="17" charset="-128"/>
              </a:rPr>
              <a:t>仮説７</a:t>
            </a:r>
            <a:endParaRPr kumimoji="1" lang="en-US" altLang="ja-JP" sz="8000" b="1"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33296158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27BFAC0F-58FE-40E8-93AA-5B7010E94BE0}"/>
              </a:ext>
            </a:extLst>
          </p:cNvPr>
          <p:cNvPicPr>
            <a:picLocks noChangeAspect="1"/>
          </p:cNvPicPr>
          <p:nvPr/>
        </p:nvPicPr>
        <p:blipFill>
          <a:blip r:embed="rId2"/>
          <a:stretch>
            <a:fillRect/>
          </a:stretch>
        </p:blipFill>
        <p:spPr>
          <a:xfrm>
            <a:off x="1408888" y="2754619"/>
            <a:ext cx="7211431" cy="3524742"/>
          </a:xfrm>
          <a:prstGeom prst="rect">
            <a:avLst/>
          </a:prstGeom>
        </p:spPr>
      </p:pic>
      <p:sp>
        <p:nvSpPr>
          <p:cNvPr id="2" name="テキスト ボックス 1">
            <a:extLst>
              <a:ext uri="{FF2B5EF4-FFF2-40B4-BE49-F238E27FC236}">
                <a16:creationId xmlns:a16="http://schemas.microsoft.com/office/drawing/2014/main" id="{8D7D73F4-E9F3-42CB-BF3C-116953862C74}"/>
              </a:ext>
            </a:extLst>
          </p:cNvPr>
          <p:cNvSpPr txBox="1"/>
          <p:nvPr/>
        </p:nvSpPr>
        <p:spPr>
          <a:xfrm>
            <a:off x="5537693" y="155391"/>
            <a:ext cx="803425" cy="369332"/>
          </a:xfrm>
          <a:prstGeom prst="rect">
            <a:avLst/>
          </a:prstGeom>
          <a:noFill/>
        </p:spPr>
        <p:txBody>
          <a:bodyPr wrap="none" rtlCol="0">
            <a:spAutoFit/>
          </a:bodyPr>
          <a:lstStyle/>
          <a:p>
            <a:r>
              <a:rPr kumimoji="1" lang="ja-JP" altLang="en-US" dirty="0"/>
              <a:t>仮説７</a:t>
            </a:r>
            <a:endParaRPr kumimoji="1" lang="en-US" altLang="ja-JP" dirty="0"/>
          </a:p>
        </p:txBody>
      </p:sp>
      <p:sp>
        <p:nvSpPr>
          <p:cNvPr id="3" name="テキスト ボックス 2">
            <a:extLst>
              <a:ext uri="{FF2B5EF4-FFF2-40B4-BE49-F238E27FC236}">
                <a16:creationId xmlns:a16="http://schemas.microsoft.com/office/drawing/2014/main" id="{19CB6EE5-B6DE-44E2-A307-8FC2DD1334C7}"/>
              </a:ext>
            </a:extLst>
          </p:cNvPr>
          <p:cNvSpPr txBox="1"/>
          <p:nvPr/>
        </p:nvSpPr>
        <p:spPr>
          <a:xfrm>
            <a:off x="653879" y="1072691"/>
            <a:ext cx="11149206" cy="1477328"/>
          </a:xfrm>
          <a:prstGeom prst="rect">
            <a:avLst/>
          </a:prstGeom>
          <a:noFill/>
          <a:ln>
            <a:noFill/>
          </a:ln>
        </p:spPr>
        <p:txBody>
          <a:bodyPr wrap="none" rtlCol="0">
            <a:spAutoFit/>
          </a:bodyPr>
          <a:lstStyle/>
          <a:p>
            <a:r>
              <a:rPr lang="ja-JP" altLang="en-US" dirty="0">
                <a:latin typeface="ＭＳ 明朝" panose="02020609040205080304" pitchFamily="17" charset="-128"/>
                <a:ea typeface="ＭＳ 明朝" panose="02020609040205080304" pitchFamily="17" charset="-128"/>
              </a:rPr>
              <a:t>経　　路： ③ </a:t>
            </a:r>
            <a:r>
              <a:rPr lang="en-US" altLang="ja-JP" dirty="0">
                <a:latin typeface="ＭＳ 明朝" panose="02020609040205080304" pitchFamily="17" charset="-128"/>
                <a:ea typeface="ＭＳ 明朝" panose="02020609040205080304" pitchFamily="17" charset="-128"/>
              </a:rPr>
              <a:t>(</a:t>
            </a:r>
            <a:r>
              <a:rPr lang="ja-JP" altLang="en-US" dirty="0">
                <a:latin typeface="ＭＳ 明朝" panose="02020609040205080304" pitchFamily="17" charset="-128"/>
                <a:ea typeface="ＭＳ 明朝" panose="02020609040205080304" pitchFamily="17" charset="-128"/>
              </a:rPr>
              <a:t>米軍ネットワーク</a:t>
            </a:r>
            <a:r>
              <a:rPr lang="en-US" altLang="ja-JP" dirty="0">
                <a:latin typeface="ＭＳ 明朝" panose="02020609040205080304" pitchFamily="17" charset="-128"/>
                <a:ea typeface="ＭＳ 明朝" panose="02020609040205080304" pitchFamily="17" charset="-128"/>
              </a:rPr>
              <a:t>)</a:t>
            </a:r>
          </a:p>
          <a:p>
            <a:r>
              <a:rPr lang="ja-JP" altLang="en-US" dirty="0">
                <a:latin typeface="ＭＳ 明朝" panose="02020609040205080304" pitchFamily="17" charset="-128"/>
                <a:ea typeface="ＭＳ 明朝" panose="02020609040205080304" pitchFamily="17" charset="-128"/>
              </a:rPr>
              <a:t>攻撃目的： 受信メールを改ざんし偽の航空機運航情報を</a:t>
            </a:r>
            <a:r>
              <a:rPr lang="en-US" altLang="ja-JP" dirty="0">
                <a:latin typeface="ＭＳ 明朝" panose="02020609040205080304" pitchFamily="17" charset="-128"/>
                <a:ea typeface="ＭＳ 明朝" panose="02020609040205080304" pitchFamily="17" charset="-128"/>
              </a:rPr>
              <a:t>FADP</a:t>
            </a:r>
            <a:r>
              <a:rPr lang="ja-JP" altLang="en-US" dirty="0">
                <a:latin typeface="ＭＳ 明朝" panose="02020609040205080304" pitchFamily="17" charset="-128"/>
                <a:ea typeface="ＭＳ 明朝" panose="02020609040205080304" pitchFamily="17" charset="-128"/>
              </a:rPr>
              <a:t>側に与える。</a:t>
            </a:r>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手　　法： １．偽のメールを送信する。</a:t>
            </a:r>
            <a:endParaRPr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　　　　　 </a:t>
            </a:r>
            <a:r>
              <a:rPr lang="ja-JP" altLang="en-US" dirty="0">
                <a:latin typeface="ＭＳ 明朝" panose="02020609040205080304" pitchFamily="17" charset="-128"/>
                <a:ea typeface="ＭＳ 明朝" panose="02020609040205080304" pitchFamily="17" charset="-128"/>
              </a:rPr>
              <a:t>２．不正なコードを仕込んだメールを送信する。実行すると収集したメールが改ざんされる。</a:t>
            </a:r>
            <a:endParaRPr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　　　　　 ３．</a:t>
            </a:r>
            <a:r>
              <a:rPr kumimoji="1" lang="en-US" altLang="ja-JP" dirty="0" err="1">
                <a:latin typeface="ＭＳ 明朝" panose="02020609040205080304" pitchFamily="17" charset="-128"/>
                <a:ea typeface="ＭＳ 明朝" panose="02020609040205080304" pitchFamily="17" charset="-128"/>
              </a:rPr>
              <a:t>Mdaemon</a:t>
            </a:r>
            <a:r>
              <a:rPr lang="ja-JP" altLang="en-US" dirty="0">
                <a:latin typeface="ＭＳ 明朝" panose="02020609040205080304" pitchFamily="17" charset="-128"/>
                <a:ea typeface="ＭＳ 明朝" panose="02020609040205080304" pitchFamily="17" charset="-128"/>
              </a:rPr>
              <a:t>の</a:t>
            </a:r>
            <a:r>
              <a:rPr lang="en-US" altLang="ja-JP" dirty="0">
                <a:latin typeface="ＭＳ 明朝" panose="02020609040205080304" pitchFamily="17" charset="-128"/>
                <a:ea typeface="ＭＳ 明朝" panose="02020609040205080304" pitchFamily="17" charset="-128"/>
              </a:rPr>
              <a:t>RCE</a:t>
            </a:r>
            <a:r>
              <a:rPr lang="ja-JP" altLang="en-US" dirty="0">
                <a:latin typeface="ＭＳ 明朝" panose="02020609040205080304" pitchFamily="17" charset="-128"/>
                <a:ea typeface="ＭＳ 明朝" panose="02020609040205080304" pitchFamily="17" charset="-128"/>
              </a:rPr>
              <a:t>脆弱性をついたコマンドを送信してリモートからメール改ざん・削除</a:t>
            </a:r>
            <a:endParaRPr kumimoji="1" lang="en-US" altLang="ja-JP" dirty="0">
              <a:latin typeface="ＭＳ 明朝" panose="02020609040205080304" pitchFamily="17" charset="-128"/>
              <a:ea typeface="ＭＳ 明朝" panose="02020609040205080304" pitchFamily="17" charset="-128"/>
            </a:endParaRPr>
          </a:p>
        </p:txBody>
      </p:sp>
      <p:sp>
        <p:nvSpPr>
          <p:cNvPr id="7" name="テキスト ボックス 6">
            <a:extLst>
              <a:ext uri="{FF2B5EF4-FFF2-40B4-BE49-F238E27FC236}">
                <a16:creationId xmlns:a16="http://schemas.microsoft.com/office/drawing/2014/main" id="{9B19D84F-32CF-40A4-AC76-58AD5EAC3897}"/>
              </a:ext>
            </a:extLst>
          </p:cNvPr>
          <p:cNvSpPr txBox="1"/>
          <p:nvPr/>
        </p:nvSpPr>
        <p:spPr>
          <a:xfrm>
            <a:off x="7020627" y="5121085"/>
            <a:ext cx="4185761" cy="1015663"/>
          </a:xfrm>
          <a:prstGeom prst="rect">
            <a:avLst/>
          </a:prstGeom>
          <a:noFill/>
          <a:ln>
            <a:solidFill>
              <a:schemeClr val="tx1"/>
            </a:solidFill>
          </a:ln>
        </p:spPr>
        <p:txBody>
          <a:bodyPr wrap="none" rtlCol="0">
            <a:spAutoFit/>
          </a:bodyPr>
          <a:lstStyle/>
          <a:p>
            <a:r>
              <a:rPr lang="ja-JP" altLang="en-US" sz="1200" dirty="0">
                <a:latin typeface="ＭＳ 明朝" panose="02020609040205080304" pitchFamily="17" charset="-128"/>
                <a:ea typeface="ＭＳ 明朝" panose="02020609040205080304" pitchFamily="17" charset="-128"/>
              </a:rPr>
              <a:t>前提</a:t>
            </a:r>
            <a:endParaRPr lang="en-US" altLang="ja-JP" sz="1200" dirty="0">
              <a:latin typeface="ＭＳ 明朝" panose="02020609040205080304" pitchFamily="17" charset="-128"/>
              <a:ea typeface="ＭＳ 明朝" panose="02020609040205080304" pitchFamily="17" charset="-128"/>
            </a:endParaRPr>
          </a:p>
          <a:p>
            <a:r>
              <a:rPr lang="ja-JP" altLang="en-US" sz="1200" dirty="0">
                <a:latin typeface="ＭＳ 明朝" panose="02020609040205080304" pitchFamily="17" charset="-128"/>
                <a:ea typeface="ＭＳ 明朝" panose="02020609040205080304" pitchFamily="17" charset="-128"/>
              </a:rPr>
              <a:t>・米軍から飛行情報に関するメールを米軍対向端末で受信</a:t>
            </a:r>
            <a:endParaRPr lang="en-US" altLang="ja-JP" sz="1200" dirty="0">
              <a:latin typeface="ＭＳ 明朝" panose="02020609040205080304" pitchFamily="17" charset="-128"/>
              <a:ea typeface="ＭＳ 明朝" panose="02020609040205080304" pitchFamily="17" charset="-128"/>
            </a:endParaRPr>
          </a:p>
          <a:p>
            <a:r>
              <a:rPr lang="ja-JP" altLang="en-US" sz="1200" dirty="0">
                <a:latin typeface="ＭＳ 明朝" panose="02020609040205080304" pitchFamily="17" charset="-128"/>
                <a:ea typeface="ＭＳ 明朝" panose="02020609040205080304" pitchFamily="17" charset="-128"/>
              </a:rPr>
              <a:t>・</a:t>
            </a:r>
            <a:r>
              <a:rPr lang="en-US" altLang="ja-JP" sz="1200" dirty="0">
                <a:latin typeface="ＭＳ 明朝" panose="02020609040205080304" pitchFamily="17" charset="-128"/>
                <a:ea typeface="ＭＳ 明朝" panose="02020609040205080304" pitchFamily="17" charset="-128"/>
              </a:rPr>
              <a:t>FADP</a:t>
            </a:r>
            <a:r>
              <a:rPr lang="ja-JP" altLang="en-US" sz="1200" dirty="0">
                <a:latin typeface="ＭＳ 明朝" panose="02020609040205080304" pitchFamily="17" charset="-128"/>
                <a:ea typeface="ＭＳ 明朝" panose="02020609040205080304" pitchFamily="17" charset="-128"/>
              </a:rPr>
              <a:t>でメール本文の飛行情報を収集</a:t>
            </a:r>
            <a:endParaRPr lang="en-US" altLang="ja-JP" sz="1200" dirty="0">
              <a:latin typeface="ＭＳ 明朝" panose="02020609040205080304" pitchFamily="17" charset="-128"/>
              <a:ea typeface="ＭＳ 明朝" panose="02020609040205080304" pitchFamily="17" charset="-128"/>
            </a:endParaRPr>
          </a:p>
          <a:p>
            <a:r>
              <a:rPr lang="ja-JP" altLang="en-US" sz="1200" dirty="0">
                <a:latin typeface="ＭＳ 明朝" panose="02020609040205080304" pitchFamily="17" charset="-128"/>
                <a:ea typeface="ＭＳ 明朝" panose="02020609040205080304" pitchFamily="17" charset="-128"/>
              </a:rPr>
              <a:t>・業務用サーバ</a:t>
            </a:r>
            <a:endParaRPr lang="en-US" altLang="ja-JP" sz="1200" dirty="0">
              <a:latin typeface="ＭＳ 明朝" panose="02020609040205080304" pitchFamily="17" charset="-128"/>
              <a:ea typeface="ＭＳ 明朝" panose="02020609040205080304" pitchFamily="17" charset="-128"/>
            </a:endParaRPr>
          </a:p>
          <a:p>
            <a:r>
              <a:rPr lang="ja-JP" altLang="en-US" sz="1200" dirty="0">
                <a:latin typeface="ＭＳ 明朝" panose="02020609040205080304" pitchFamily="17" charset="-128"/>
                <a:ea typeface="ＭＳ 明朝" panose="02020609040205080304" pitchFamily="17" charset="-128"/>
              </a:rPr>
              <a:t>・オープンポートは</a:t>
            </a:r>
            <a:r>
              <a:rPr lang="en-US" altLang="ja-JP" sz="1200" dirty="0">
                <a:latin typeface="ＭＳ 明朝" panose="02020609040205080304" pitchFamily="17" charset="-128"/>
                <a:ea typeface="ＭＳ 明朝" panose="02020609040205080304" pitchFamily="17" charset="-128"/>
              </a:rPr>
              <a:t>25,110</a:t>
            </a:r>
            <a:r>
              <a:rPr lang="ja-JP" altLang="en-US" sz="1200" dirty="0">
                <a:latin typeface="ＭＳ 明朝" panose="02020609040205080304" pitchFamily="17" charset="-128"/>
                <a:ea typeface="ＭＳ 明朝" panose="02020609040205080304" pitchFamily="17" charset="-128"/>
              </a:rPr>
              <a:t>のみ。</a:t>
            </a:r>
          </a:p>
        </p:txBody>
      </p:sp>
    </p:spTree>
    <p:extLst>
      <p:ext uri="{BB962C8B-B14F-4D97-AF65-F5344CB8AC3E}">
        <p14:creationId xmlns:p14="http://schemas.microsoft.com/office/powerpoint/2010/main" val="12190308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63D66B27-FD6C-4F69-BF07-7846BFD82B93}"/>
              </a:ext>
            </a:extLst>
          </p:cNvPr>
          <p:cNvSpPr/>
          <p:nvPr/>
        </p:nvSpPr>
        <p:spPr>
          <a:xfrm>
            <a:off x="1749104" y="5163266"/>
            <a:ext cx="5608042" cy="7698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テキスト ボックス 1">
            <a:extLst>
              <a:ext uri="{FF2B5EF4-FFF2-40B4-BE49-F238E27FC236}">
                <a16:creationId xmlns:a16="http://schemas.microsoft.com/office/drawing/2014/main" id="{4C312C1C-FB71-4A21-BC0B-F1938F7B0545}"/>
              </a:ext>
            </a:extLst>
          </p:cNvPr>
          <p:cNvSpPr txBox="1"/>
          <p:nvPr/>
        </p:nvSpPr>
        <p:spPr>
          <a:xfrm>
            <a:off x="5537693" y="155391"/>
            <a:ext cx="803425" cy="369332"/>
          </a:xfrm>
          <a:prstGeom prst="rect">
            <a:avLst/>
          </a:prstGeom>
          <a:noFill/>
        </p:spPr>
        <p:txBody>
          <a:bodyPr wrap="none" rtlCol="0">
            <a:spAutoFit/>
          </a:bodyPr>
          <a:lstStyle/>
          <a:p>
            <a:r>
              <a:rPr kumimoji="1" lang="ja-JP" altLang="en-US" dirty="0"/>
              <a:t>仮説７</a:t>
            </a:r>
            <a:endParaRPr kumimoji="1" lang="en-US" altLang="ja-JP" dirty="0"/>
          </a:p>
        </p:txBody>
      </p:sp>
      <p:sp>
        <p:nvSpPr>
          <p:cNvPr id="3" name="テキスト ボックス 2">
            <a:extLst>
              <a:ext uri="{FF2B5EF4-FFF2-40B4-BE49-F238E27FC236}">
                <a16:creationId xmlns:a16="http://schemas.microsoft.com/office/drawing/2014/main" id="{C5420977-E2C9-41D6-9261-5DF61E6D3E6D}"/>
              </a:ext>
            </a:extLst>
          </p:cNvPr>
          <p:cNvSpPr txBox="1"/>
          <p:nvPr/>
        </p:nvSpPr>
        <p:spPr>
          <a:xfrm>
            <a:off x="821658" y="805501"/>
            <a:ext cx="2441694" cy="338554"/>
          </a:xfrm>
          <a:prstGeom prst="rect">
            <a:avLst/>
          </a:prstGeom>
          <a:noFill/>
          <a:ln>
            <a:noFill/>
          </a:ln>
        </p:spPr>
        <p:txBody>
          <a:bodyPr wrap="none" rtlCol="0">
            <a:spAutoFit/>
          </a:bodyPr>
          <a:lstStyle/>
          <a:p>
            <a:r>
              <a:rPr kumimoji="1" lang="ja-JP" altLang="en-US" sz="1600" dirty="0">
                <a:latin typeface="ＭＳ 明朝" panose="02020609040205080304" pitchFamily="17" charset="-128"/>
                <a:ea typeface="ＭＳ 明朝" panose="02020609040205080304" pitchFamily="17" charset="-128"/>
              </a:rPr>
              <a:t>仮説７：詳細イメージ図</a:t>
            </a:r>
            <a:endParaRPr kumimoji="1" lang="en-US" altLang="ja-JP" sz="1600" dirty="0">
              <a:latin typeface="ＭＳ 明朝" panose="02020609040205080304" pitchFamily="17" charset="-128"/>
              <a:ea typeface="ＭＳ 明朝" panose="02020609040205080304" pitchFamily="17" charset="-128"/>
            </a:endParaRPr>
          </a:p>
        </p:txBody>
      </p:sp>
      <p:sp>
        <p:nvSpPr>
          <p:cNvPr id="5" name="正方形/長方形 4">
            <a:extLst>
              <a:ext uri="{FF2B5EF4-FFF2-40B4-BE49-F238E27FC236}">
                <a16:creationId xmlns:a16="http://schemas.microsoft.com/office/drawing/2014/main" id="{4F90F96F-FEF7-4B0A-8C99-FA96F364F5C3}"/>
              </a:ext>
            </a:extLst>
          </p:cNvPr>
          <p:cNvSpPr/>
          <p:nvPr/>
        </p:nvSpPr>
        <p:spPr>
          <a:xfrm>
            <a:off x="1698072" y="1661177"/>
            <a:ext cx="5340290" cy="246436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568E2D34-FDB4-4516-88EA-DA5D1FC6C73C}"/>
              </a:ext>
            </a:extLst>
          </p:cNvPr>
          <p:cNvSpPr txBox="1"/>
          <p:nvPr/>
        </p:nvSpPr>
        <p:spPr>
          <a:xfrm>
            <a:off x="1759947" y="1543184"/>
            <a:ext cx="1172116" cy="261610"/>
          </a:xfrm>
          <a:prstGeom prst="rect">
            <a:avLst/>
          </a:prstGeom>
          <a:solidFill>
            <a:schemeClr val="bg1"/>
          </a:solidFill>
        </p:spPr>
        <p:txBody>
          <a:bodyPr wrap="none" rtlCol="0">
            <a:spAutoFit/>
          </a:bodyPr>
          <a:lstStyle/>
          <a:p>
            <a:r>
              <a:rPr kumimoji="1" lang="ja-JP" altLang="en-US" sz="1050" dirty="0">
                <a:latin typeface="ＭＳ 明朝" panose="02020609040205080304" pitchFamily="17" charset="-128"/>
                <a:ea typeface="ＭＳ 明朝" panose="02020609040205080304" pitchFamily="17" charset="-128"/>
              </a:rPr>
              <a:t>米軍対向用端末</a:t>
            </a:r>
          </a:p>
        </p:txBody>
      </p:sp>
      <p:sp>
        <p:nvSpPr>
          <p:cNvPr id="6" name="テキスト ボックス 5">
            <a:extLst>
              <a:ext uri="{FF2B5EF4-FFF2-40B4-BE49-F238E27FC236}">
                <a16:creationId xmlns:a16="http://schemas.microsoft.com/office/drawing/2014/main" id="{E69B686E-7BA2-4281-BBA0-91EAAA236B77}"/>
              </a:ext>
            </a:extLst>
          </p:cNvPr>
          <p:cNvSpPr txBox="1"/>
          <p:nvPr/>
        </p:nvSpPr>
        <p:spPr>
          <a:xfrm>
            <a:off x="2405343" y="2745875"/>
            <a:ext cx="813043" cy="307777"/>
          </a:xfrm>
          <a:prstGeom prst="rect">
            <a:avLst/>
          </a:prstGeom>
          <a:noFill/>
          <a:ln>
            <a:solidFill>
              <a:schemeClr val="tx1"/>
            </a:solidFill>
          </a:ln>
        </p:spPr>
        <p:txBody>
          <a:bodyPr wrap="none" rtlCol="0">
            <a:spAutoFit/>
          </a:bodyPr>
          <a:lstStyle/>
          <a:p>
            <a:r>
              <a:rPr kumimoji="1" lang="en-US" altLang="ja-JP" sz="1400" dirty="0" err="1">
                <a:latin typeface="ＭＳ 明朝" panose="02020609040205080304" pitchFamily="17" charset="-128"/>
                <a:ea typeface="ＭＳ 明朝" panose="02020609040205080304" pitchFamily="17" charset="-128"/>
              </a:rPr>
              <a:t>Mdaemon</a:t>
            </a:r>
            <a:endParaRPr kumimoji="1" lang="ja-JP" altLang="en-US" sz="1400" dirty="0">
              <a:latin typeface="ＭＳ 明朝" panose="02020609040205080304" pitchFamily="17" charset="-128"/>
              <a:ea typeface="ＭＳ 明朝" panose="02020609040205080304" pitchFamily="17" charset="-128"/>
            </a:endParaRPr>
          </a:p>
        </p:txBody>
      </p:sp>
      <p:sp>
        <p:nvSpPr>
          <p:cNvPr id="7" name="テキスト ボックス 6">
            <a:extLst>
              <a:ext uri="{FF2B5EF4-FFF2-40B4-BE49-F238E27FC236}">
                <a16:creationId xmlns:a16="http://schemas.microsoft.com/office/drawing/2014/main" id="{9A9CA4EF-F828-407C-8CAA-ED0680204D24}"/>
              </a:ext>
            </a:extLst>
          </p:cNvPr>
          <p:cNvSpPr txBox="1"/>
          <p:nvPr/>
        </p:nvSpPr>
        <p:spPr>
          <a:xfrm>
            <a:off x="5811649" y="2745875"/>
            <a:ext cx="813043" cy="307777"/>
          </a:xfrm>
          <a:prstGeom prst="rect">
            <a:avLst/>
          </a:prstGeom>
          <a:noFill/>
          <a:ln>
            <a:solidFill>
              <a:schemeClr val="tx1"/>
            </a:solidFill>
          </a:ln>
        </p:spPr>
        <p:txBody>
          <a:bodyPr wrap="none" rtlCol="0">
            <a:spAutoFit/>
          </a:bodyPr>
          <a:lstStyle/>
          <a:p>
            <a:r>
              <a:rPr lang="en-US" altLang="ja-JP" sz="1400" dirty="0">
                <a:latin typeface="ＭＳ 明朝" panose="02020609040205080304" pitchFamily="17" charset="-128"/>
                <a:ea typeface="ＭＳ 明朝" panose="02020609040205080304" pitchFamily="17" charset="-128"/>
              </a:rPr>
              <a:t>outlook</a:t>
            </a:r>
            <a:endParaRPr kumimoji="1" lang="ja-JP" altLang="en-US" sz="1400" dirty="0">
              <a:latin typeface="ＭＳ 明朝" panose="02020609040205080304" pitchFamily="17" charset="-128"/>
              <a:ea typeface="ＭＳ 明朝" panose="02020609040205080304" pitchFamily="17" charset="-128"/>
            </a:endParaRPr>
          </a:p>
        </p:txBody>
      </p:sp>
      <p:cxnSp>
        <p:nvCxnSpPr>
          <p:cNvPr id="9" name="直線矢印コネクタ 8">
            <a:extLst>
              <a:ext uri="{FF2B5EF4-FFF2-40B4-BE49-F238E27FC236}">
                <a16:creationId xmlns:a16="http://schemas.microsoft.com/office/drawing/2014/main" id="{A2621E78-15EA-4ADD-9284-6B77EFEB1F94}"/>
              </a:ext>
            </a:extLst>
          </p:cNvPr>
          <p:cNvCxnSpPr>
            <a:cxnSpLocks/>
            <a:stCxn id="28" idx="0"/>
          </p:cNvCxnSpPr>
          <p:nvPr/>
        </p:nvCxnSpPr>
        <p:spPr>
          <a:xfrm flipH="1" flipV="1">
            <a:off x="2842295" y="3053654"/>
            <a:ext cx="0" cy="23492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46ED3F37-DA4E-4B45-B501-E4F341B99659}"/>
              </a:ext>
            </a:extLst>
          </p:cNvPr>
          <p:cNvSpPr txBox="1"/>
          <p:nvPr/>
        </p:nvSpPr>
        <p:spPr>
          <a:xfrm>
            <a:off x="1901012" y="4464039"/>
            <a:ext cx="889987" cy="261610"/>
          </a:xfrm>
          <a:prstGeom prst="rect">
            <a:avLst/>
          </a:prstGeom>
          <a:solidFill>
            <a:schemeClr val="bg1"/>
          </a:solidFill>
        </p:spPr>
        <p:txBody>
          <a:bodyPr wrap="none" rtlCol="0">
            <a:spAutoFit/>
          </a:bodyPr>
          <a:lstStyle/>
          <a:p>
            <a:r>
              <a:rPr lang="ja-JP" altLang="en-US" sz="1050" dirty="0">
                <a:latin typeface="ＭＳ 明朝" panose="02020609040205080304" pitchFamily="17" charset="-128"/>
                <a:ea typeface="ＭＳ 明朝" panose="02020609040205080304" pitchFamily="17" charset="-128"/>
              </a:rPr>
              <a:t>メール受信</a:t>
            </a:r>
            <a:endParaRPr kumimoji="1" lang="ja-JP" altLang="en-US" sz="1050" dirty="0">
              <a:latin typeface="ＭＳ 明朝" panose="02020609040205080304" pitchFamily="17" charset="-128"/>
              <a:ea typeface="ＭＳ 明朝" panose="02020609040205080304" pitchFamily="17" charset="-128"/>
            </a:endParaRPr>
          </a:p>
        </p:txBody>
      </p:sp>
      <p:sp>
        <p:nvSpPr>
          <p:cNvPr id="11" name="テキスト ボックス 10">
            <a:extLst>
              <a:ext uri="{FF2B5EF4-FFF2-40B4-BE49-F238E27FC236}">
                <a16:creationId xmlns:a16="http://schemas.microsoft.com/office/drawing/2014/main" id="{6FF81BE6-6881-45FC-9814-B95D4A5D5817}"/>
              </a:ext>
            </a:extLst>
          </p:cNvPr>
          <p:cNvSpPr txBox="1"/>
          <p:nvPr/>
        </p:nvSpPr>
        <p:spPr>
          <a:xfrm>
            <a:off x="3999835" y="2568100"/>
            <a:ext cx="889987" cy="261610"/>
          </a:xfrm>
          <a:prstGeom prst="rect">
            <a:avLst/>
          </a:prstGeom>
          <a:solidFill>
            <a:schemeClr val="bg1"/>
          </a:solidFill>
        </p:spPr>
        <p:txBody>
          <a:bodyPr wrap="none" rtlCol="0">
            <a:spAutoFit/>
          </a:bodyPr>
          <a:lstStyle/>
          <a:p>
            <a:r>
              <a:rPr lang="ja-JP" altLang="en-US" sz="1050" dirty="0">
                <a:latin typeface="ＭＳ 明朝" panose="02020609040205080304" pitchFamily="17" charset="-128"/>
                <a:ea typeface="ＭＳ 明朝" panose="02020609040205080304" pitchFamily="17" charset="-128"/>
              </a:rPr>
              <a:t>メール受信</a:t>
            </a:r>
            <a:endParaRPr kumimoji="1" lang="ja-JP" altLang="en-US" sz="1050" dirty="0">
              <a:latin typeface="ＭＳ 明朝" panose="02020609040205080304" pitchFamily="17" charset="-128"/>
              <a:ea typeface="ＭＳ 明朝" panose="02020609040205080304" pitchFamily="17" charset="-128"/>
            </a:endParaRPr>
          </a:p>
        </p:txBody>
      </p:sp>
      <p:cxnSp>
        <p:nvCxnSpPr>
          <p:cNvPr id="12" name="直線矢印コネクタ 11">
            <a:extLst>
              <a:ext uri="{FF2B5EF4-FFF2-40B4-BE49-F238E27FC236}">
                <a16:creationId xmlns:a16="http://schemas.microsoft.com/office/drawing/2014/main" id="{D7300AEB-071D-4DFA-81E6-37015CD970DD}"/>
              </a:ext>
            </a:extLst>
          </p:cNvPr>
          <p:cNvCxnSpPr>
            <a:cxnSpLocks/>
            <a:stCxn id="6" idx="3"/>
          </p:cNvCxnSpPr>
          <p:nvPr/>
        </p:nvCxnSpPr>
        <p:spPr>
          <a:xfrm>
            <a:off x="3218386" y="2899764"/>
            <a:ext cx="25243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DC429689-A859-4D77-9F9D-F72E0759DC73}"/>
              </a:ext>
            </a:extLst>
          </p:cNvPr>
          <p:cNvSpPr txBox="1"/>
          <p:nvPr/>
        </p:nvSpPr>
        <p:spPr>
          <a:xfrm>
            <a:off x="2141836" y="3063866"/>
            <a:ext cx="723275" cy="276999"/>
          </a:xfrm>
          <a:prstGeom prst="rect">
            <a:avLst/>
          </a:prstGeom>
          <a:noFill/>
        </p:spPr>
        <p:txBody>
          <a:bodyPr wrap="none" rtlCol="0">
            <a:spAutoFit/>
          </a:bodyPr>
          <a:lstStyle/>
          <a:p>
            <a:r>
              <a:rPr kumimoji="1" lang="en-US" altLang="ja-JP" sz="1200" dirty="0">
                <a:latin typeface="ＭＳ 明朝" panose="02020609040205080304" pitchFamily="17" charset="-128"/>
                <a:ea typeface="ＭＳ 明朝" panose="02020609040205080304" pitchFamily="17" charset="-128"/>
              </a:rPr>
              <a:t>port:25</a:t>
            </a:r>
            <a:endParaRPr kumimoji="1" lang="ja-JP" altLang="en-US" sz="1200" dirty="0">
              <a:latin typeface="ＭＳ 明朝" panose="02020609040205080304" pitchFamily="17" charset="-128"/>
              <a:ea typeface="ＭＳ 明朝" panose="02020609040205080304" pitchFamily="17" charset="-128"/>
            </a:endParaRPr>
          </a:p>
        </p:txBody>
      </p:sp>
      <p:sp>
        <p:nvSpPr>
          <p:cNvPr id="18" name="テキスト ボックス 17">
            <a:extLst>
              <a:ext uri="{FF2B5EF4-FFF2-40B4-BE49-F238E27FC236}">
                <a16:creationId xmlns:a16="http://schemas.microsoft.com/office/drawing/2014/main" id="{E3B7112B-C414-47DF-9F51-BD1444EF12DB}"/>
              </a:ext>
            </a:extLst>
          </p:cNvPr>
          <p:cNvSpPr txBox="1"/>
          <p:nvPr/>
        </p:nvSpPr>
        <p:spPr>
          <a:xfrm>
            <a:off x="1914851" y="5028198"/>
            <a:ext cx="453970" cy="253916"/>
          </a:xfrm>
          <a:prstGeom prst="rect">
            <a:avLst/>
          </a:prstGeom>
          <a:solidFill>
            <a:schemeClr val="bg1"/>
          </a:solidFill>
        </p:spPr>
        <p:txBody>
          <a:bodyPr wrap="none" rtlCol="0">
            <a:spAutoFit/>
          </a:bodyPr>
          <a:lstStyle/>
          <a:p>
            <a:r>
              <a:rPr kumimoji="1" lang="ja-JP" altLang="en-US" sz="1050" dirty="0">
                <a:latin typeface="ＭＳ 明朝" panose="02020609040205080304" pitchFamily="17" charset="-128"/>
                <a:ea typeface="ＭＳ 明朝" panose="02020609040205080304" pitchFamily="17" charset="-128"/>
              </a:rPr>
              <a:t>米軍</a:t>
            </a:r>
          </a:p>
        </p:txBody>
      </p:sp>
      <p:sp>
        <p:nvSpPr>
          <p:cNvPr id="21" name="テキスト ボックス 20">
            <a:extLst>
              <a:ext uri="{FF2B5EF4-FFF2-40B4-BE49-F238E27FC236}">
                <a16:creationId xmlns:a16="http://schemas.microsoft.com/office/drawing/2014/main" id="{18C5464D-03E0-42FB-AC62-35CC8E9F968A}"/>
              </a:ext>
            </a:extLst>
          </p:cNvPr>
          <p:cNvSpPr txBox="1"/>
          <p:nvPr/>
        </p:nvSpPr>
        <p:spPr>
          <a:xfrm>
            <a:off x="3186301" y="2899763"/>
            <a:ext cx="800219" cy="276999"/>
          </a:xfrm>
          <a:prstGeom prst="rect">
            <a:avLst/>
          </a:prstGeom>
          <a:noFill/>
        </p:spPr>
        <p:txBody>
          <a:bodyPr wrap="none" rtlCol="0">
            <a:spAutoFit/>
          </a:bodyPr>
          <a:lstStyle/>
          <a:p>
            <a:r>
              <a:rPr kumimoji="1" lang="en-US" altLang="ja-JP" sz="1200" dirty="0">
                <a:latin typeface="ＭＳ 明朝" panose="02020609040205080304" pitchFamily="17" charset="-128"/>
                <a:ea typeface="ＭＳ 明朝" panose="02020609040205080304" pitchFamily="17" charset="-128"/>
              </a:rPr>
              <a:t>port:110</a:t>
            </a:r>
            <a:endParaRPr kumimoji="1" lang="ja-JP" altLang="en-US" sz="1200" dirty="0">
              <a:latin typeface="ＭＳ 明朝" panose="02020609040205080304" pitchFamily="17" charset="-128"/>
              <a:ea typeface="ＭＳ 明朝" panose="02020609040205080304" pitchFamily="17" charset="-128"/>
            </a:endParaRPr>
          </a:p>
        </p:txBody>
      </p:sp>
      <p:sp>
        <p:nvSpPr>
          <p:cNvPr id="25" name="テキスト ボックス 24">
            <a:extLst>
              <a:ext uri="{FF2B5EF4-FFF2-40B4-BE49-F238E27FC236}">
                <a16:creationId xmlns:a16="http://schemas.microsoft.com/office/drawing/2014/main" id="{2C71BC55-7105-41DF-8E4D-54A69AC027F6}"/>
              </a:ext>
            </a:extLst>
          </p:cNvPr>
          <p:cNvSpPr txBox="1"/>
          <p:nvPr/>
        </p:nvSpPr>
        <p:spPr>
          <a:xfrm>
            <a:off x="8271545" y="5167582"/>
            <a:ext cx="1571331" cy="646331"/>
          </a:xfrm>
          <a:prstGeom prst="rect">
            <a:avLst/>
          </a:prstGeom>
          <a:noFill/>
          <a:ln>
            <a:solidFill>
              <a:schemeClr val="tx1"/>
            </a:solidFill>
            <a:prstDash val="dash"/>
          </a:ln>
        </p:spPr>
        <p:txBody>
          <a:bodyPr wrap="square" rtlCol="0">
            <a:spAutoFit/>
          </a:bodyPr>
          <a:lstStyle/>
          <a:p>
            <a:r>
              <a:rPr kumimoji="1" lang="en-US" altLang="ja-JP" dirty="0">
                <a:latin typeface="ＭＳ 明朝" panose="02020609040205080304" pitchFamily="17" charset="-128"/>
                <a:ea typeface="ＭＳ 明朝" panose="02020609040205080304" pitchFamily="17" charset="-128"/>
              </a:rPr>
              <a:t>SMTP:25</a:t>
            </a:r>
          </a:p>
          <a:p>
            <a:r>
              <a:rPr lang="en-US" altLang="ja-JP" dirty="0">
                <a:latin typeface="ＭＳ 明朝" panose="02020609040205080304" pitchFamily="17" charset="-128"/>
                <a:ea typeface="ＭＳ 明朝" panose="02020609040205080304" pitchFamily="17" charset="-128"/>
              </a:rPr>
              <a:t>POP3:110</a:t>
            </a:r>
            <a:endParaRPr kumimoji="1" lang="ja-JP" altLang="en-US" dirty="0">
              <a:latin typeface="ＭＳ 明朝" panose="02020609040205080304" pitchFamily="17" charset="-128"/>
              <a:ea typeface="ＭＳ 明朝" panose="02020609040205080304" pitchFamily="17" charset="-128"/>
            </a:endParaRPr>
          </a:p>
        </p:txBody>
      </p:sp>
      <p:sp>
        <p:nvSpPr>
          <p:cNvPr id="26" name="正方形/長方形 25">
            <a:extLst>
              <a:ext uri="{FF2B5EF4-FFF2-40B4-BE49-F238E27FC236}">
                <a16:creationId xmlns:a16="http://schemas.microsoft.com/office/drawing/2014/main" id="{A549A212-3BBF-4B60-AFD3-1362F5C064DE}"/>
              </a:ext>
            </a:extLst>
          </p:cNvPr>
          <p:cNvSpPr/>
          <p:nvPr/>
        </p:nvSpPr>
        <p:spPr>
          <a:xfrm>
            <a:off x="7357146" y="1667582"/>
            <a:ext cx="3137480" cy="246436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テキスト ボックス 26">
            <a:extLst>
              <a:ext uri="{FF2B5EF4-FFF2-40B4-BE49-F238E27FC236}">
                <a16:creationId xmlns:a16="http://schemas.microsoft.com/office/drawing/2014/main" id="{DCE9449C-C81D-4284-AD1D-3DACB8B4F3E3}"/>
              </a:ext>
            </a:extLst>
          </p:cNvPr>
          <p:cNvSpPr txBox="1"/>
          <p:nvPr/>
        </p:nvSpPr>
        <p:spPr>
          <a:xfrm>
            <a:off x="7532355" y="1550878"/>
            <a:ext cx="1261884" cy="253916"/>
          </a:xfrm>
          <a:prstGeom prst="rect">
            <a:avLst/>
          </a:prstGeom>
          <a:solidFill>
            <a:schemeClr val="bg1"/>
          </a:solidFill>
        </p:spPr>
        <p:txBody>
          <a:bodyPr wrap="none" rtlCol="0">
            <a:spAutoFit/>
          </a:bodyPr>
          <a:lstStyle/>
          <a:p>
            <a:r>
              <a:rPr lang="ja-JP" altLang="en-US" sz="1050" dirty="0">
                <a:latin typeface="ＭＳ 明朝" panose="02020609040205080304" pitchFamily="17" charset="-128"/>
                <a:ea typeface="ＭＳ 明朝" panose="02020609040205080304" pitchFamily="17" charset="-128"/>
              </a:rPr>
              <a:t>業務処理用サーバ</a:t>
            </a:r>
            <a:endParaRPr kumimoji="1" lang="ja-JP" altLang="en-US" sz="1050" dirty="0">
              <a:latin typeface="ＭＳ 明朝" panose="02020609040205080304" pitchFamily="17" charset="-128"/>
              <a:ea typeface="ＭＳ 明朝" panose="02020609040205080304" pitchFamily="17" charset="-128"/>
            </a:endParaRPr>
          </a:p>
        </p:txBody>
      </p:sp>
      <p:pic>
        <p:nvPicPr>
          <p:cNvPr id="28" name="図 27">
            <a:extLst>
              <a:ext uri="{FF2B5EF4-FFF2-40B4-BE49-F238E27FC236}">
                <a16:creationId xmlns:a16="http://schemas.microsoft.com/office/drawing/2014/main" id="{5113A407-B1C6-4D9B-A5E6-8BB3CC74EE7A}"/>
              </a:ext>
            </a:extLst>
          </p:cNvPr>
          <p:cNvPicPr>
            <a:picLocks noChangeAspect="1"/>
          </p:cNvPicPr>
          <p:nvPr/>
        </p:nvPicPr>
        <p:blipFill>
          <a:blip r:embed="rId2"/>
          <a:stretch>
            <a:fillRect/>
          </a:stretch>
        </p:blipFill>
        <p:spPr>
          <a:xfrm>
            <a:off x="2593241" y="5402864"/>
            <a:ext cx="543740" cy="354108"/>
          </a:xfrm>
          <a:prstGeom prst="rect">
            <a:avLst/>
          </a:prstGeom>
        </p:spPr>
      </p:pic>
      <p:cxnSp>
        <p:nvCxnSpPr>
          <p:cNvPr id="30" name="直線矢印コネクタ 29">
            <a:extLst>
              <a:ext uri="{FF2B5EF4-FFF2-40B4-BE49-F238E27FC236}">
                <a16:creationId xmlns:a16="http://schemas.microsoft.com/office/drawing/2014/main" id="{99870048-485F-4587-9438-E76815B22FB8}"/>
              </a:ext>
            </a:extLst>
          </p:cNvPr>
          <p:cNvCxnSpPr>
            <a:cxnSpLocks/>
          </p:cNvCxnSpPr>
          <p:nvPr/>
        </p:nvCxnSpPr>
        <p:spPr>
          <a:xfrm>
            <a:off x="6728930" y="2899763"/>
            <a:ext cx="11063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1F78AD17-DA62-403B-A2A2-411E3409F5A2}"/>
              </a:ext>
            </a:extLst>
          </p:cNvPr>
          <p:cNvSpPr txBox="1"/>
          <p:nvPr/>
        </p:nvSpPr>
        <p:spPr>
          <a:xfrm>
            <a:off x="7908234" y="2757880"/>
            <a:ext cx="902811" cy="307777"/>
          </a:xfrm>
          <a:prstGeom prst="rect">
            <a:avLst/>
          </a:prstGeom>
          <a:noFill/>
          <a:ln>
            <a:solidFill>
              <a:schemeClr val="tx1"/>
            </a:solidFill>
          </a:ln>
        </p:spPr>
        <p:txBody>
          <a:bodyPr wrap="none" rtlCol="0">
            <a:spAutoFit/>
          </a:bodyPr>
          <a:lstStyle/>
          <a:p>
            <a:r>
              <a:rPr kumimoji="1" lang="ja-JP" altLang="en-US" sz="1400" dirty="0">
                <a:latin typeface="ＭＳ 明朝" panose="02020609040205080304" pitchFamily="17" charset="-128"/>
                <a:ea typeface="ＭＳ 明朝" panose="02020609040205080304" pitchFamily="17" charset="-128"/>
              </a:rPr>
              <a:t>運航情報</a:t>
            </a:r>
          </a:p>
        </p:txBody>
      </p:sp>
      <p:sp>
        <p:nvSpPr>
          <p:cNvPr id="33" name="矢印: 右 32">
            <a:extLst>
              <a:ext uri="{FF2B5EF4-FFF2-40B4-BE49-F238E27FC236}">
                <a16:creationId xmlns:a16="http://schemas.microsoft.com/office/drawing/2014/main" id="{787C6975-2F90-4835-B057-7C5AB329F6BB}"/>
              </a:ext>
            </a:extLst>
          </p:cNvPr>
          <p:cNvSpPr/>
          <p:nvPr/>
        </p:nvSpPr>
        <p:spPr>
          <a:xfrm rot="16200000" flipV="1">
            <a:off x="2016127" y="4125139"/>
            <a:ext cx="2106303" cy="20954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E8DD0D76-3E10-4E30-B91B-D5AE07D392AA}"/>
              </a:ext>
            </a:extLst>
          </p:cNvPr>
          <p:cNvSpPr txBox="1"/>
          <p:nvPr/>
        </p:nvSpPr>
        <p:spPr>
          <a:xfrm>
            <a:off x="3366885" y="3845107"/>
            <a:ext cx="5416868" cy="830997"/>
          </a:xfrm>
          <a:prstGeom prst="rect">
            <a:avLst/>
          </a:prstGeom>
          <a:solidFill>
            <a:schemeClr val="accent2">
              <a:lumMod val="40000"/>
              <a:lumOff val="60000"/>
            </a:schemeClr>
          </a:solidFill>
          <a:ln>
            <a:solidFill>
              <a:schemeClr val="tx1"/>
            </a:solidFill>
          </a:ln>
        </p:spPr>
        <p:txBody>
          <a:bodyPr wrap="none" rtlCol="0">
            <a:spAutoFit/>
          </a:bodyPr>
          <a:lstStyle/>
          <a:p>
            <a:r>
              <a:rPr kumimoji="1" lang="ja-JP" altLang="en-US" sz="2400" dirty="0">
                <a:latin typeface="ＭＳ 明朝" panose="02020609040205080304" pitchFamily="17" charset="-128"/>
                <a:ea typeface="ＭＳ 明朝" panose="02020609040205080304" pitchFamily="17" charset="-128"/>
              </a:rPr>
              <a:t>手法１</a:t>
            </a:r>
            <a:endParaRPr kumimoji="1" lang="en-US" altLang="ja-JP" sz="2400" dirty="0">
              <a:latin typeface="ＭＳ 明朝" panose="02020609040205080304" pitchFamily="17" charset="-128"/>
              <a:ea typeface="ＭＳ 明朝" panose="02020609040205080304" pitchFamily="17" charset="-128"/>
            </a:endParaRPr>
          </a:p>
          <a:p>
            <a:r>
              <a:rPr kumimoji="1" lang="ja-JP" altLang="en-US" sz="2400" dirty="0">
                <a:latin typeface="ＭＳ 明朝" panose="02020609040205080304" pitchFamily="17" charset="-128"/>
                <a:ea typeface="ＭＳ 明朝" panose="02020609040205080304" pitchFamily="17" charset="-128"/>
              </a:rPr>
              <a:t>偽</a:t>
            </a:r>
            <a:r>
              <a:rPr lang="ja-JP" altLang="en-US" sz="2400" dirty="0">
                <a:latin typeface="ＭＳ 明朝" panose="02020609040205080304" pitchFamily="17" charset="-128"/>
                <a:ea typeface="ＭＳ 明朝" panose="02020609040205080304" pitchFamily="17" charset="-128"/>
              </a:rPr>
              <a:t>の航空情報を記載したメールを送信</a:t>
            </a:r>
            <a:endParaRPr kumimoji="1" lang="ja-JP" altLang="en-US" sz="24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15586443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C0364A1-E648-477D-A7D4-4954724477E3}"/>
              </a:ext>
            </a:extLst>
          </p:cNvPr>
          <p:cNvSpPr txBox="1"/>
          <p:nvPr/>
        </p:nvSpPr>
        <p:spPr>
          <a:xfrm>
            <a:off x="2925901" y="1476463"/>
            <a:ext cx="6340197" cy="3785652"/>
          </a:xfrm>
          <a:prstGeom prst="rect">
            <a:avLst/>
          </a:prstGeom>
          <a:noFill/>
        </p:spPr>
        <p:txBody>
          <a:bodyPr wrap="none" rtlCol="0">
            <a:spAutoFit/>
          </a:bodyPr>
          <a:lstStyle/>
          <a:p>
            <a:r>
              <a:rPr kumimoji="1" lang="ja-JP" altLang="en-US" sz="2000" b="1" dirty="0">
                <a:solidFill>
                  <a:srgbClr val="00B050"/>
                </a:solidFill>
                <a:latin typeface="ＭＳ 明朝" panose="02020609040205080304" pitchFamily="17" charset="-128"/>
                <a:ea typeface="ＭＳ 明朝" panose="02020609040205080304" pitchFamily="17" charset="-128"/>
              </a:rPr>
              <a:t>検知手法：</a:t>
            </a:r>
            <a:endParaRPr kumimoji="1" lang="en-US" altLang="ja-JP" sz="2000" b="1" dirty="0">
              <a:solidFill>
                <a:srgbClr val="00B050"/>
              </a:solidFill>
              <a:latin typeface="ＭＳ 明朝" panose="02020609040205080304" pitchFamily="17" charset="-128"/>
              <a:ea typeface="ＭＳ 明朝" panose="02020609040205080304" pitchFamily="17" charset="-128"/>
            </a:endParaRPr>
          </a:p>
          <a:p>
            <a:r>
              <a:rPr kumimoji="1" lang="ja-JP" altLang="en-US" sz="2000" dirty="0">
                <a:latin typeface="ＭＳ 明朝" panose="02020609040205080304" pitchFamily="17" charset="-128"/>
                <a:ea typeface="ＭＳ 明朝" panose="02020609040205080304" pitchFamily="17" charset="-128"/>
              </a:rPr>
              <a:t>ヘッダ情報などから以下を確認する。</a:t>
            </a:r>
            <a:endParaRPr kumimoji="1" lang="en-US" altLang="ja-JP" sz="2000" dirty="0">
              <a:latin typeface="ＭＳ 明朝" panose="02020609040205080304" pitchFamily="17" charset="-128"/>
              <a:ea typeface="ＭＳ 明朝" panose="02020609040205080304" pitchFamily="17" charset="-128"/>
            </a:endParaRPr>
          </a:p>
          <a:p>
            <a:endParaRPr kumimoji="1" lang="en-US" altLang="ja-JP" sz="2000" dirty="0">
              <a:latin typeface="ＭＳ 明朝" panose="02020609040205080304" pitchFamily="17" charset="-128"/>
              <a:ea typeface="ＭＳ 明朝" panose="02020609040205080304" pitchFamily="17" charset="-128"/>
            </a:endParaRPr>
          </a:p>
          <a:p>
            <a:r>
              <a:rPr lang="ja-JP" altLang="en-US" sz="2000" dirty="0">
                <a:latin typeface="ＭＳ 明朝" panose="02020609040205080304" pitchFamily="17" charset="-128"/>
                <a:ea typeface="ＭＳ 明朝" panose="02020609040205080304" pitchFamily="17" charset="-128"/>
              </a:rPr>
              <a:t>・正当な送信者からのメールであるか。</a:t>
            </a:r>
            <a:endParaRPr lang="en-US" altLang="ja-JP" sz="2000" dirty="0">
              <a:latin typeface="ＭＳ 明朝" panose="02020609040205080304" pitchFamily="17" charset="-128"/>
              <a:ea typeface="ＭＳ 明朝" panose="02020609040205080304" pitchFamily="17" charset="-128"/>
            </a:endParaRPr>
          </a:p>
          <a:p>
            <a:endParaRPr lang="en-US" altLang="ja-JP" sz="2000" dirty="0">
              <a:latin typeface="ＭＳ 明朝" panose="02020609040205080304" pitchFamily="17" charset="-128"/>
              <a:ea typeface="ＭＳ 明朝" panose="02020609040205080304" pitchFamily="17" charset="-128"/>
            </a:endParaRPr>
          </a:p>
          <a:p>
            <a:r>
              <a:rPr lang="ja-JP" altLang="en-US" sz="2000" dirty="0">
                <a:latin typeface="ＭＳ 明朝" panose="02020609040205080304" pitchFamily="17" charset="-128"/>
                <a:ea typeface="ＭＳ 明朝" panose="02020609040205080304" pitchFamily="17" charset="-128"/>
              </a:rPr>
              <a:t>・サイズがおかしいものはないか。</a:t>
            </a:r>
            <a:endParaRPr lang="en-US" altLang="ja-JP" sz="2000" dirty="0">
              <a:latin typeface="ＭＳ 明朝" panose="02020609040205080304" pitchFamily="17" charset="-128"/>
              <a:ea typeface="ＭＳ 明朝" panose="02020609040205080304" pitchFamily="17" charset="-128"/>
            </a:endParaRPr>
          </a:p>
          <a:p>
            <a:endParaRPr lang="en-US" altLang="ja-JP" sz="2000" dirty="0">
              <a:latin typeface="ＭＳ 明朝" panose="02020609040205080304" pitchFamily="17" charset="-128"/>
              <a:ea typeface="ＭＳ 明朝" panose="02020609040205080304" pitchFamily="17" charset="-128"/>
            </a:endParaRPr>
          </a:p>
          <a:p>
            <a:r>
              <a:rPr lang="ja-JP" altLang="en-US" sz="2000" dirty="0">
                <a:latin typeface="ＭＳ 明朝" panose="02020609040205080304" pitchFamily="17" charset="-128"/>
                <a:ea typeface="ＭＳ 明朝" panose="02020609040205080304" pitchFamily="17" charset="-128"/>
              </a:rPr>
              <a:t>・送信された時間に著しく他と異なるものはないか。</a:t>
            </a:r>
            <a:endParaRPr lang="en-US" altLang="ja-JP" sz="2000" dirty="0">
              <a:latin typeface="ＭＳ 明朝" panose="02020609040205080304" pitchFamily="17" charset="-128"/>
              <a:ea typeface="ＭＳ 明朝" panose="02020609040205080304" pitchFamily="17" charset="-128"/>
            </a:endParaRPr>
          </a:p>
          <a:p>
            <a:endParaRPr lang="en-US" altLang="ja-JP" sz="2000" dirty="0">
              <a:latin typeface="ＭＳ 明朝" panose="02020609040205080304" pitchFamily="17" charset="-128"/>
              <a:ea typeface="ＭＳ 明朝" panose="02020609040205080304" pitchFamily="17" charset="-128"/>
            </a:endParaRPr>
          </a:p>
          <a:p>
            <a:r>
              <a:rPr lang="ja-JP" altLang="en-US" sz="2000" b="1" dirty="0">
                <a:solidFill>
                  <a:srgbClr val="00B050"/>
                </a:solidFill>
                <a:latin typeface="ＭＳ 明朝" panose="02020609040205080304" pitchFamily="17" charset="-128"/>
                <a:ea typeface="ＭＳ 明朝" panose="02020609040205080304" pitchFamily="17" charset="-128"/>
              </a:rPr>
              <a:t>緩和策：</a:t>
            </a:r>
            <a:endParaRPr lang="en-US" altLang="ja-JP" sz="2000" b="1" dirty="0">
              <a:solidFill>
                <a:srgbClr val="00B050"/>
              </a:solidFill>
              <a:latin typeface="ＭＳ 明朝" panose="02020609040205080304" pitchFamily="17" charset="-128"/>
              <a:ea typeface="ＭＳ 明朝" panose="02020609040205080304" pitchFamily="17" charset="-128"/>
            </a:endParaRPr>
          </a:p>
          <a:p>
            <a:endParaRPr lang="en-US" altLang="ja-JP" sz="2000" dirty="0">
              <a:latin typeface="ＭＳ 明朝" panose="02020609040205080304" pitchFamily="17" charset="-128"/>
              <a:ea typeface="ＭＳ 明朝" panose="02020609040205080304" pitchFamily="17" charset="-128"/>
            </a:endParaRPr>
          </a:p>
          <a:p>
            <a:r>
              <a:rPr lang="ja-JP" altLang="en-US" sz="2000" dirty="0">
                <a:latin typeface="ＭＳ 明朝" panose="02020609040205080304" pitchFamily="17" charset="-128"/>
                <a:ea typeface="ＭＳ 明朝" panose="02020609040205080304" pitchFamily="17" charset="-128"/>
              </a:rPr>
              <a:t>・</a:t>
            </a:r>
            <a:r>
              <a:rPr lang="en-US" altLang="ja-JP" sz="2000" dirty="0" err="1">
                <a:latin typeface="ＭＳ 明朝" panose="02020609040205080304" pitchFamily="17" charset="-128"/>
                <a:ea typeface="ＭＳ 明朝" panose="02020609040205080304" pitchFamily="17" charset="-128"/>
              </a:rPr>
              <a:t>Mdaemon</a:t>
            </a:r>
            <a:r>
              <a:rPr lang="ja-JP" altLang="en-US" sz="2000" dirty="0">
                <a:latin typeface="ＭＳ 明朝" panose="02020609040205080304" pitchFamily="17" charset="-128"/>
                <a:ea typeface="ＭＳ 明朝" panose="02020609040205080304" pitchFamily="17" charset="-128"/>
              </a:rPr>
              <a:t>の設定で送信元アドレスを制限する。</a:t>
            </a:r>
            <a:endParaRPr lang="en-US" altLang="ja-JP" sz="20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42848753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219589B-E704-411B-AE52-524793F02BDC}"/>
              </a:ext>
            </a:extLst>
          </p:cNvPr>
          <p:cNvSpPr txBox="1"/>
          <p:nvPr/>
        </p:nvSpPr>
        <p:spPr>
          <a:xfrm>
            <a:off x="4323346" y="2579566"/>
            <a:ext cx="3276859" cy="1323439"/>
          </a:xfrm>
          <a:prstGeom prst="rect">
            <a:avLst/>
          </a:prstGeom>
          <a:noFill/>
        </p:spPr>
        <p:txBody>
          <a:bodyPr wrap="none" rtlCol="0">
            <a:spAutoFit/>
          </a:bodyPr>
          <a:lstStyle/>
          <a:p>
            <a:pPr algn="ctr"/>
            <a:r>
              <a:rPr kumimoji="1" lang="ja-JP" altLang="en-US" sz="8000" b="1" dirty="0">
                <a:latin typeface="ＭＳ 明朝" panose="02020609040205080304" pitchFamily="17" charset="-128"/>
                <a:ea typeface="ＭＳ 明朝" panose="02020609040205080304" pitchFamily="17" charset="-128"/>
              </a:rPr>
              <a:t>仮説８</a:t>
            </a:r>
            <a:endParaRPr kumimoji="1" lang="en-US" altLang="ja-JP" sz="8000" b="1"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15446076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63D66B27-FD6C-4F69-BF07-7846BFD82B93}"/>
              </a:ext>
            </a:extLst>
          </p:cNvPr>
          <p:cNvSpPr/>
          <p:nvPr/>
        </p:nvSpPr>
        <p:spPr>
          <a:xfrm>
            <a:off x="1648436" y="5180044"/>
            <a:ext cx="5608042" cy="7698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テキスト ボックス 1">
            <a:extLst>
              <a:ext uri="{FF2B5EF4-FFF2-40B4-BE49-F238E27FC236}">
                <a16:creationId xmlns:a16="http://schemas.microsoft.com/office/drawing/2014/main" id="{4C312C1C-FB71-4A21-BC0B-F1938F7B0545}"/>
              </a:ext>
            </a:extLst>
          </p:cNvPr>
          <p:cNvSpPr txBox="1"/>
          <p:nvPr/>
        </p:nvSpPr>
        <p:spPr>
          <a:xfrm>
            <a:off x="5537693" y="155391"/>
            <a:ext cx="803425" cy="369332"/>
          </a:xfrm>
          <a:prstGeom prst="rect">
            <a:avLst/>
          </a:prstGeom>
          <a:noFill/>
        </p:spPr>
        <p:txBody>
          <a:bodyPr wrap="none" rtlCol="0">
            <a:spAutoFit/>
          </a:bodyPr>
          <a:lstStyle/>
          <a:p>
            <a:r>
              <a:rPr kumimoji="1" lang="ja-JP" altLang="en-US" dirty="0"/>
              <a:t>仮説８</a:t>
            </a:r>
            <a:endParaRPr kumimoji="1" lang="en-US" altLang="ja-JP" dirty="0"/>
          </a:p>
        </p:txBody>
      </p:sp>
      <p:sp>
        <p:nvSpPr>
          <p:cNvPr id="3" name="テキスト ボックス 2">
            <a:extLst>
              <a:ext uri="{FF2B5EF4-FFF2-40B4-BE49-F238E27FC236}">
                <a16:creationId xmlns:a16="http://schemas.microsoft.com/office/drawing/2014/main" id="{C5420977-E2C9-41D6-9261-5DF61E6D3E6D}"/>
              </a:ext>
            </a:extLst>
          </p:cNvPr>
          <p:cNvSpPr txBox="1"/>
          <p:nvPr/>
        </p:nvSpPr>
        <p:spPr>
          <a:xfrm>
            <a:off x="720990" y="822279"/>
            <a:ext cx="2236510" cy="338554"/>
          </a:xfrm>
          <a:prstGeom prst="rect">
            <a:avLst/>
          </a:prstGeom>
          <a:noFill/>
          <a:ln>
            <a:noFill/>
          </a:ln>
        </p:spPr>
        <p:txBody>
          <a:bodyPr wrap="none" rtlCol="0">
            <a:spAutoFit/>
          </a:bodyPr>
          <a:lstStyle/>
          <a:p>
            <a:r>
              <a:rPr kumimoji="1" lang="ja-JP" altLang="en-US" sz="1600" dirty="0">
                <a:latin typeface="ＭＳ 明朝" panose="02020609040205080304" pitchFamily="17" charset="-128"/>
                <a:ea typeface="ＭＳ 明朝" panose="02020609040205080304" pitchFamily="17" charset="-128"/>
              </a:rPr>
              <a:t>手法２詳細イメージ図</a:t>
            </a:r>
            <a:endParaRPr kumimoji="1" lang="en-US" altLang="ja-JP" sz="1600" dirty="0">
              <a:latin typeface="ＭＳ 明朝" panose="02020609040205080304" pitchFamily="17" charset="-128"/>
              <a:ea typeface="ＭＳ 明朝" panose="02020609040205080304" pitchFamily="17" charset="-128"/>
            </a:endParaRPr>
          </a:p>
        </p:txBody>
      </p:sp>
      <p:sp>
        <p:nvSpPr>
          <p:cNvPr id="5" name="正方形/長方形 4">
            <a:extLst>
              <a:ext uri="{FF2B5EF4-FFF2-40B4-BE49-F238E27FC236}">
                <a16:creationId xmlns:a16="http://schemas.microsoft.com/office/drawing/2014/main" id="{4F90F96F-FEF7-4B0A-8C99-FA96F364F5C3}"/>
              </a:ext>
            </a:extLst>
          </p:cNvPr>
          <p:cNvSpPr/>
          <p:nvPr/>
        </p:nvSpPr>
        <p:spPr>
          <a:xfrm>
            <a:off x="1597404" y="1677955"/>
            <a:ext cx="5340290" cy="246436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568E2D34-FDB4-4516-88EA-DA5D1FC6C73C}"/>
              </a:ext>
            </a:extLst>
          </p:cNvPr>
          <p:cNvSpPr txBox="1"/>
          <p:nvPr/>
        </p:nvSpPr>
        <p:spPr>
          <a:xfrm>
            <a:off x="1685249" y="1512774"/>
            <a:ext cx="1800493" cy="369332"/>
          </a:xfrm>
          <a:prstGeom prst="rect">
            <a:avLst/>
          </a:prstGeom>
          <a:solidFill>
            <a:schemeClr val="bg1"/>
          </a:solidFill>
        </p:spPr>
        <p:txBody>
          <a:bodyPr wrap="none" rtlCol="0">
            <a:spAutoFit/>
          </a:bodyPr>
          <a:lstStyle/>
          <a:p>
            <a:r>
              <a:rPr kumimoji="1" lang="ja-JP" altLang="en-US" dirty="0">
                <a:latin typeface="ＭＳ 明朝" panose="02020609040205080304" pitchFamily="17" charset="-128"/>
                <a:ea typeface="ＭＳ 明朝" panose="02020609040205080304" pitchFamily="17" charset="-128"/>
              </a:rPr>
              <a:t>米軍対向用端末</a:t>
            </a:r>
          </a:p>
        </p:txBody>
      </p:sp>
      <p:sp>
        <p:nvSpPr>
          <p:cNvPr id="6" name="テキスト ボックス 5">
            <a:extLst>
              <a:ext uri="{FF2B5EF4-FFF2-40B4-BE49-F238E27FC236}">
                <a16:creationId xmlns:a16="http://schemas.microsoft.com/office/drawing/2014/main" id="{E69B686E-7BA2-4281-BBA0-91EAAA236B77}"/>
              </a:ext>
            </a:extLst>
          </p:cNvPr>
          <p:cNvSpPr txBox="1"/>
          <p:nvPr/>
        </p:nvSpPr>
        <p:spPr>
          <a:xfrm>
            <a:off x="2304675" y="2762653"/>
            <a:ext cx="813043" cy="307777"/>
          </a:xfrm>
          <a:prstGeom prst="rect">
            <a:avLst/>
          </a:prstGeom>
          <a:noFill/>
          <a:ln>
            <a:solidFill>
              <a:schemeClr val="tx1"/>
            </a:solidFill>
          </a:ln>
        </p:spPr>
        <p:txBody>
          <a:bodyPr wrap="none" rtlCol="0">
            <a:spAutoFit/>
          </a:bodyPr>
          <a:lstStyle/>
          <a:p>
            <a:r>
              <a:rPr kumimoji="1" lang="en-US" altLang="ja-JP" sz="1400" dirty="0" err="1">
                <a:latin typeface="ＭＳ 明朝" panose="02020609040205080304" pitchFamily="17" charset="-128"/>
                <a:ea typeface="ＭＳ 明朝" panose="02020609040205080304" pitchFamily="17" charset="-128"/>
              </a:rPr>
              <a:t>Mdaemon</a:t>
            </a:r>
            <a:endParaRPr kumimoji="1" lang="ja-JP" altLang="en-US" sz="1400" dirty="0">
              <a:latin typeface="ＭＳ 明朝" panose="02020609040205080304" pitchFamily="17" charset="-128"/>
              <a:ea typeface="ＭＳ 明朝" panose="02020609040205080304" pitchFamily="17" charset="-128"/>
            </a:endParaRPr>
          </a:p>
        </p:txBody>
      </p:sp>
      <p:sp>
        <p:nvSpPr>
          <p:cNvPr id="7" name="テキスト ボックス 6">
            <a:extLst>
              <a:ext uri="{FF2B5EF4-FFF2-40B4-BE49-F238E27FC236}">
                <a16:creationId xmlns:a16="http://schemas.microsoft.com/office/drawing/2014/main" id="{9A9CA4EF-F828-407C-8CAA-ED0680204D24}"/>
              </a:ext>
            </a:extLst>
          </p:cNvPr>
          <p:cNvSpPr txBox="1"/>
          <p:nvPr/>
        </p:nvSpPr>
        <p:spPr>
          <a:xfrm>
            <a:off x="5710981" y="2762653"/>
            <a:ext cx="813043" cy="307777"/>
          </a:xfrm>
          <a:prstGeom prst="rect">
            <a:avLst/>
          </a:prstGeom>
          <a:noFill/>
          <a:ln>
            <a:solidFill>
              <a:schemeClr val="tx1"/>
            </a:solidFill>
          </a:ln>
        </p:spPr>
        <p:txBody>
          <a:bodyPr wrap="none" rtlCol="0">
            <a:spAutoFit/>
          </a:bodyPr>
          <a:lstStyle/>
          <a:p>
            <a:r>
              <a:rPr lang="en-US" altLang="ja-JP" sz="1400" dirty="0">
                <a:latin typeface="ＭＳ 明朝" panose="02020609040205080304" pitchFamily="17" charset="-128"/>
                <a:ea typeface="ＭＳ 明朝" panose="02020609040205080304" pitchFamily="17" charset="-128"/>
              </a:rPr>
              <a:t>outlook</a:t>
            </a:r>
            <a:endParaRPr kumimoji="1" lang="ja-JP" altLang="en-US" sz="1400" dirty="0">
              <a:latin typeface="ＭＳ 明朝" panose="02020609040205080304" pitchFamily="17" charset="-128"/>
              <a:ea typeface="ＭＳ 明朝" panose="02020609040205080304" pitchFamily="17" charset="-128"/>
            </a:endParaRPr>
          </a:p>
        </p:txBody>
      </p:sp>
      <p:cxnSp>
        <p:nvCxnSpPr>
          <p:cNvPr id="9" name="直線矢印コネクタ 8">
            <a:extLst>
              <a:ext uri="{FF2B5EF4-FFF2-40B4-BE49-F238E27FC236}">
                <a16:creationId xmlns:a16="http://schemas.microsoft.com/office/drawing/2014/main" id="{A2621E78-15EA-4ADD-9284-6B77EFEB1F94}"/>
              </a:ext>
            </a:extLst>
          </p:cNvPr>
          <p:cNvCxnSpPr>
            <a:cxnSpLocks/>
            <a:stCxn id="28" idx="0"/>
          </p:cNvCxnSpPr>
          <p:nvPr/>
        </p:nvCxnSpPr>
        <p:spPr>
          <a:xfrm flipH="1" flipV="1">
            <a:off x="2741627" y="3070432"/>
            <a:ext cx="0" cy="23492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46ED3F37-DA4E-4B45-B501-E4F341B99659}"/>
              </a:ext>
            </a:extLst>
          </p:cNvPr>
          <p:cNvSpPr txBox="1"/>
          <p:nvPr/>
        </p:nvSpPr>
        <p:spPr>
          <a:xfrm>
            <a:off x="1800344" y="4480817"/>
            <a:ext cx="889987" cy="261610"/>
          </a:xfrm>
          <a:prstGeom prst="rect">
            <a:avLst/>
          </a:prstGeom>
          <a:solidFill>
            <a:schemeClr val="bg1"/>
          </a:solidFill>
        </p:spPr>
        <p:txBody>
          <a:bodyPr wrap="none" rtlCol="0">
            <a:spAutoFit/>
          </a:bodyPr>
          <a:lstStyle/>
          <a:p>
            <a:r>
              <a:rPr lang="ja-JP" altLang="en-US" sz="1050" dirty="0">
                <a:latin typeface="ＭＳ 明朝" panose="02020609040205080304" pitchFamily="17" charset="-128"/>
                <a:ea typeface="ＭＳ 明朝" panose="02020609040205080304" pitchFamily="17" charset="-128"/>
              </a:rPr>
              <a:t>メール受信</a:t>
            </a:r>
            <a:endParaRPr kumimoji="1" lang="ja-JP" altLang="en-US" sz="1050" dirty="0">
              <a:latin typeface="ＭＳ 明朝" panose="02020609040205080304" pitchFamily="17" charset="-128"/>
              <a:ea typeface="ＭＳ 明朝" panose="02020609040205080304" pitchFamily="17" charset="-128"/>
            </a:endParaRPr>
          </a:p>
        </p:txBody>
      </p:sp>
      <p:sp>
        <p:nvSpPr>
          <p:cNvPr id="11" name="テキスト ボックス 10">
            <a:extLst>
              <a:ext uri="{FF2B5EF4-FFF2-40B4-BE49-F238E27FC236}">
                <a16:creationId xmlns:a16="http://schemas.microsoft.com/office/drawing/2014/main" id="{6FF81BE6-6881-45FC-9814-B95D4A5D5817}"/>
              </a:ext>
            </a:extLst>
          </p:cNvPr>
          <p:cNvSpPr txBox="1"/>
          <p:nvPr/>
        </p:nvSpPr>
        <p:spPr>
          <a:xfrm>
            <a:off x="3899167" y="2584878"/>
            <a:ext cx="889987" cy="261610"/>
          </a:xfrm>
          <a:prstGeom prst="rect">
            <a:avLst/>
          </a:prstGeom>
          <a:solidFill>
            <a:schemeClr val="bg1"/>
          </a:solidFill>
        </p:spPr>
        <p:txBody>
          <a:bodyPr wrap="none" rtlCol="0">
            <a:spAutoFit/>
          </a:bodyPr>
          <a:lstStyle/>
          <a:p>
            <a:r>
              <a:rPr lang="ja-JP" altLang="en-US" sz="1050" dirty="0">
                <a:latin typeface="ＭＳ 明朝" panose="02020609040205080304" pitchFamily="17" charset="-128"/>
                <a:ea typeface="ＭＳ 明朝" panose="02020609040205080304" pitchFamily="17" charset="-128"/>
              </a:rPr>
              <a:t>メール受信</a:t>
            </a:r>
            <a:endParaRPr kumimoji="1" lang="ja-JP" altLang="en-US" sz="1050" dirty="0">
              <a:latin typeface="ＭＳ 明朝" panose="02020609040205080304" pitchFamily="17" charset="-128"/>
              <a:ea typeface="ＭＳ 明朝" panose="02020609040205080304" pitchFamily="17" charset="-128"/>
            </a:endParaRPr>
          </a:p>
        </p:txBody>
      </p:sp>
      <p:cxnSp>
        <p:nvCxnSpPr>
          <p:cNvPr id="12" name="直線矢印コネクタ 11">
            <a:extLst>
              <a:ext uri="{FF2B5EF4-FFF2-40B4-BE49-F238E27FC236}">
                <a16:creationId xmlns:a16="http://schemas.microsoft.com/office/drawing/2014/main" id="{D7300AEB-071D-4DFA-81E6-37015CD970DD}"/>
              </a:ext>
            </a:extLst>
          </p:cNvPr>
          <p:cNvCxnSpPr>
            <a:cxnSpLocks/>
            <a:stCxn id="6" idx="3"/>
          </p:cNvCxnSpPr>
          <p:nvPr/>
        </p:nvCxnSpPr>
        <p:spPr>
          <a:xfrm>
            <a:off x="3117718" y="2916542"/>
            <a:ext cx="25243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DC429689-A859-4D77-9F9D-F72E0759DC73}"/>
              </a:ext>
            </a:extLst>
          </p:cNvPr>
          <p:cNvSpPr txBox="1"/>
          <p:nvPr/>
        </p:nvSpPr>
        <p:spPr>
          <a:xfrm>
            <a:off x="2041168" y="3080644"/>
            <a:ext cx="723275" cy="276999"/>
          </a:xfrm>
          <a:prstGeom prst="rect">
            <a:avLst/>
          </a:prstGeom>
          <a:noFill/>
        </p:spPr>
        <p:txBody>
          <a:bodyPr wrap="none" rtlCol="0">
            <a:spAutoFit/>
          </a:bodyPr>
          <a:lstStyle/>
          <a:p>
            <a:r>
              <a:rPr kumimoji="1" lang="en-US" altLang="ja-JP" sz="1200" dirty="0">
                <a:latin typeface="ＭＳ 明朝" panose="02020609040205080304" pitchFamily="17" charset="-128"/>
                <a:ea typeface="ＭＳ 明朝" panose="02020609040205080304" pitchFamily="17" charset="-128"/>
              </a:rPr>
              <a:t>port:25</a:t>
            </a:r>
            <a:endParaRPr kumimoji="1" lang="ja-JP" altLang="en-US" sz="1200" dirty="0">
              <a:latin typeface="ＭＳ 明朝" panose="02020609040205080304" pitchFamily="17" charset="-128"/>
              <a:ea typeface="ＭＳ 明朝" panose="02020609040205080304" pitchFamily="17" charset="-128"/>
            </a:endParaRPr>
          </a:p>
        </p:txBody>
      </p:sp>
      <p:sp>
        <p:nvSpPr>
          <p:cNvPr id="18" name="テキスト ボックス 17">
            <a:extLst>
              <a:ext uri="{FF2B5EF4-FFF2-40B4-BE49-F238E27FC236}">
                <a16:creationId xmlns:a16="http://schemas.microsoft.com/office/drawing/2014/main" id="{E3B7112B-C414-47DF-9F51-BD1444EF12DB}"/>
              </a:ext>
            </a:extLst>
          </p:cNvPr>
          <p:cNvSpPr txBox="1"/>
          <p:nvPr/>
        </p:nvSpPr>
        <p:spPr>
          <a:xfrm>
            <a:off x="1746483" y="5009450"/>
            <a:ext cx="646331" cy="369332"/>
          </a:xfrm>
          <a:prstGeom prst="rect">
            <a:avLst/>
          </a:prstGeom>
          <a:solidFill>
            <a:schemeClr val="bg1"/>
          </a:solidFill>
        </p:spPr>
        <p:txBody>
          <a:bodyPr wrap="none" rtlCol="0">
            <a:spAutoFit/>
          </a:bodyPr>
          <a:lstStyle/>
          <a:p>
            <a:r>
              <a:rPr kumimoji="1" lang="ja-JP" altLang="en-US" dirty="0">
                <a:latin typeface="ＭＳ 明朝" panose="02020609040205080304" pitchFamily="17" charset="-128"/>
                <a:ea typeface="ＭＳ 明朝" panose="02020609040205080304" pitchFamily="17" charset="-128"/>
              </a:rPr>
              <a:t>米軍</a:t>
            </a:r>
          </a:p>
        </p:txBody>
      </p:sp>
      <p:sp>
        <p:nvSpPr>
          <p:cNvPr id="21" name="テキスト ボックス 20">
            <a:extLst>
              <a:ext uri="{FF2B5EF4-FFF2-40B4-BE49-F238E27FC236}">
                <a16:creationId xmlns:a16="http://schemas.microsoft.com/office/drawing/2014/main" id="{18C5464D-03E0-42FB-AC62-35CC8E9F968A}"/>
              </a:ext>
            </a:extLst>
          </p:cNvPr>
          <p:cNvSpPr txBox="1"/>
          <p:nvPr/>
        </p:nvSpPr>
        <p:spPr>
          <a:xfrm>
            <a:off x="3085633" y="2916541"/>
            <a:ext cx="800219" cy="276999"/>
          </a:xfrm>
          <a:prstGeom prst="rect">
            <a:avLst/>
          </a:prstGeom>
          <a:noFill/>
        </p:spPr>
        <p:txBody>
          <a:bodyPr wrap="none" rtlCol="0">
            <a:spAutoFit/>
          </a:bodyPr>
          <a:lstStyle/>
          <a:p>
            <a:r>
              <a:rPr kumimoji="1" lang="en-US" altLang="ja-JP" sz="1200" dirty="0">
                <a:latin typeface="ＭＳ 明朝" panose="02020609040205080304" pitchFamily="17" charset="-128"/>
                <a:ea typeface="ＭＳ 明朝" panose="02020609040205080304" pitchFamily="17" charset="-128"/>
              </a:rPr>
              <a:t>port:110</a:t>
            </a:r>
            <a:endParaRPr kumimoji="1" lang="ja-JP" altLang="en-US" sz="1200" dirty="0">
              <a:latin typeface="ＭＳ 明朝" panose="02020609040205080304" pitchFamily="17" charset="-128"/>
              <a:ea typeface="ＭＳ 明朝" panose="02020609040205080304" pitchFamily="17" charset="-128"/>
            </a:endParaRPr>
          </a:p>
        </p:txBody>
      </p:sp>
      <p:sp>
        <p:nvSpPr>
          <p:cNvPr id="25" name="テキスト ボックス 24">
            <a:extLst>
              <a:ext uri="{FF2B5EF4-FFF2-40B4-BE49-F238E27FC236}">
                <a16:creationId xmlns:a16="http://schemas.microsoft.com/office/drawing/2014/main" id="{2C71BC55-7105-41DF-8E4D-54A69AC027F6}"/>
              </a:ext>
            </a:extLst>
          </p:cNvPr>
          <p:cNvSpPr txBox="1"/>
          <p:nvPr/>
        </p:nvSpPr>
        <p:spPr>
          <a:xfrm>
            <a:off x="8170877" y="5184360"/>
            <a:ext cx="1571331" cy="646331"/>
          </a:xfrm>
          <a:prstGeom prst="rect">
            <a:avLst/>
          </a:prstGeom>
          <a:noFill/>
          <a:ln>
            <a:solidFill>
              <a:schemeClr val="tx1"/>
            </a:solidFill>
            <a:prstDash val="dash"/>
          </a:ln>
        </p:spPr>
        <p:txBody>
          <a:bodyPr wrap="square" rtlCol="0">
            <a:spAutoFit/>
          </a:bodyPr>
          <a:lstStyle/>
          <a:p>
            <a:r>
              <a:rPr kumimoji="1" lang="en-US" altLang="ja-JP" dirty="0">
                <a:latin typeface="ＭＳ 明朝" panose="02020609040205080304" pitchFamily="17" charset="-128"/>
                <a:ea typeface="ＭＳ 明朝" panose="02020609040205080304" pitchFamily="17" charset="-128"/>
              </a:rPr>
              <a:t>SMTP:25</a:t>
            </a:r>
          </a:p>
          <a:p>
            <a:r>
              <a:rPr lang="en-US" altLang="ja-JP" dirty="0">
                <a:latin typeface="ＭＳ 明朝" panose="02020609040205080304" pitchFamily="17" charset="-128"/>
                <a:ea typeface="ＭＳ 明朝" panose="02020609040205080304" pitchFamily="17" charset="-128"/>
              </a:rPr>
              <a:t>POP3:110</a:t>
            </a:r>
            <a:endParaRPr kumimoji="1" lang="ja-JP" altLang="en-US" dirty="0">
              <a:latin typeface="ＭＳ 明朝" panose="02020609040205080304" pitchFamily="17" charset="-128"/>
              <a:ea typeface="ＭＳ 明朝" panose="02020609040205080304" pitchFamily="17" charset="-128"/>
            </a:endParaRPr>
          </a:p>
        </p:txBody>
      </p:sp>
      <p:sp>
        <p:nvSpPr>
          <p:cNvPr id="26" name="正方形/長方形 25">
            <a:extLst>
              <a:ext uri="{FF2B5EF4-FFF2-40B4-BE49-F238E27FC236}">
                <a16:creationId xmlns:a16="http://schemas.microsoft.com/office/drawing/2014/main" id="{A549A212-3BBF-4B60-AFD3-1362F5C064DE}"/>
              </a:ext>
            </a:extLst>
          </p:cNvPr>
          <p:cNvSpPr/>
          <p:nvPr/>
        </p:nvSpPr>
        <p:spPr>
          <a:xfrm>
            <a:off x="7256478" y="1684360"/>
            <a:ext cx="3137480" cy="246436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テキスト ボックス 26">
            <a:extLst>
              <a:ext uri="{FF2B5EF4-FFF2-40B4-BE49-F238E27FC236}">
                <a16:creationId xmlns:a16="http://schemas.microsoft.com/office/drawing/2014/main" id="{DCE9449C-C81D-4284-AD1D-3DACB8B4F3E3}"/>
              </a:ext>
            </a:extLst>
          </p:cNvPr>
          <p:cNvSpPr txBox="1"/>
          <p:nvPr/>
        </p:nvSpPr>
        <p:spPr>
          <a:xfrm>
            <a:off x="7431687" y="1567656"/>
            <a:ext cx="2031325" cy="369332"/>
          </a:xfrm>
          <a:prstGeom prst="rect">
            <a:avLst/>
          </a:prstGeom>
          <a:solidFill>
            <a:schemeClr val="bg1"/>
          </a:solidFill>
        </p:spPr>
        <p:txBody>
          <a:bodyPr wrap="none" rtlCol="0">
            <a:spAutoFit/>
          </a:bodyPr>
          <a:lstStyle/>
          <a:p>
            <a:r>
              <a:rPr lang="ja-JP" altLang="en-US" dirty="0">
                <a:latin typeface="ＭＳ 明朝" panose="02020609040205080304" pitchFamily="17" charset="-128"/>
                <a:ea typeface="ＭＳ 明朝" panose="02020609040205080304" pitchFamily="17" charset="-128"/>
              </a:rPr>
              <a:t>業務処理用サーバ</a:t>
            </a:r>
            <a:endParaRPr kumimoji="1" lang="ja-JP" altLang="en-US" dirty="0">
              <a:latin typeface="ＭＳ 明朝" panose="02020609040205080304" pitchFamily="17" charset="-128"/>
              <a:ea typeface="ＭＳ 明朝" panose="02020609040205080304" pitchFamily="17" charset="-128"/>
            </a:endParaRPr>
          </a:p>
        </p:txBody>
      </p:sp>
      <p:pic>
        <p:nvPicPr>
          <p:cNvPr id="28" name="図 27">
            <a:extLst>
              <a:ext uri="{FF2B5EF4-FFF2-40B4-BE49-F238E27FC236}">
                <a16:creationId xmlns:a16="http://schemas.microsoft.com/office/drawing/2014/main" id="{5113A407-B1C6-4D9B-A5E6-8BB3CC74EE7A}"/>
              </a:ext>
            </a:extLst>
          </p:cNvPr>
          <p:cNvPicPr>
            <a:picLocks noChangeAspect="1"/>
          </p:cNvPicPr>
          <p:nvPr/>
        </p:nvPicPr>
        <p:blipFill>
          <a:blip r:embed="rId2"/>
          <a:stretch>
            <a:fillRect/>
          </a:stretch>
        </p:blipFill>
        <p:spPr>
          <a:xfrm>
            <a:off x="2492573" y="5419642"/>
            <a:ext cx="543740" cy="354108"/>
          </a:xfrm>
          <a:prstGeom prst="rect">
            <a:avLst/>
          </a:prstGeom>
        </p:spPr>
      </p:pic>
      <p:cxnSp>
        <p:nvCxnSpPr>
          <p:cNvPr id="30" name="直線矢印コネクタ 29">
            <a:extLst>
              <a:ext uri="{FF2B5EF4-FFF2-40B4-BE49-F238E27FC236}">
                <a16:creationId xmlns:a16="http://schemas.microsoft.com/office/drawing/2014/main" id="{99870048-485F-4587-9438-E76815B22FB8}"/>
              </a:ext>
            </a:extLst>
          </p:cNvPr>
          <p:cNvCxnSpPr>
            <a:cxnSpLocks/>
          </p:cNvCxnSpPr>
          <p:nvPr/>
        </p:nvCxnSpPr>
        <p:spPr>
          <a:xfrm>
            <a:off x="6628262" y="2916541"/>
            <a:ext cx="11063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1F78AD17-DA62-403B-A2A2-411E3409F5A2}"/>
              </a:ext>
            </a:extLst>
          </p:cNvPr>
          <p:cNvSpPr txBox="1"/>
          <p:nvPr/>
        </p:nvSpPr>
        <p:spPr>
          <a:xfrm>
            <a:off x="7807566" y="2774658"/>
            <a:ext cx="902811" cy="307777"/>
          </a:xfrm>
          <a:prstGeom prst="rect">
            <a:avLst/>
          </a:prstGeom>
          <a:noFill/>
          <a:ln>
            <a:solidFill>
              <a:schemeClr val="tx1"/>
            </a:solidFill>
          </a:ln>
        </p:spPr>
        <p:txBody>
          <a:bodyPr wrap="none" rtlCol="0">
            <a:spAutoFit/>
          </a:bodyPr>
          <a:lstStyle/>
          <a:p>
            <a:r>
              <a:rPr kumimoji="1" lang="ja-JP" altLang="en-US" sz="1400" dirty="0">
                <a:latin typeface="ＭＳ 明朝" panose="02020609040205080304" pitchFamily="17" charset="-128"/>
                <a:ea typeface="ＭＳ 明朝" panose="02020609040205080304" pitchFamily="17" charset="-128"/>
              </a:rPr>
              <a:t>運航情報</a:t>
            </a:r>
          </a:p>
        </p:txBody>
      </p:sp>
      <p:sp>
        <p:nvSpPr>
          <p:cNvPr id="33" name="矢印: 右 32">
            <a:extLst>
              <a:ext uri="{FF2B5EF4-FFF2-40B4-BE49-F238E27FC236}">
                <a16:creationId xmlns:a16="http://schemas.microsoft.com/office/drawing/2014/main" id="{787C6975-2F90-4835-B057-7C5AB329F6BB}"/>
              </a:ext>
            </a:extLst>
          </p:cNvPr>
          <p:cNvSpPr/>
          <p:nvPr/>
        </p:nvSpPr>
        <p:spPr>
          <a:xfrm rot="16200000" flipV="1">
            <a:off x="1915459" y="4141917"/>
            <a:ext cx="2106303" cy="20954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E8DD0D76-3E10-4E30-B91B-D5AE07D392AA}"/>
              </a:ext>
            </a:extLst>
          </p:cNvPr>
          <p:cNvSpPr txBox="1"/>
          <p:nvPr/>
        </p:nvSpPr>
        <p:spPr>
          <a:xfrm>
            <a:off x="3266217" y="3861885"/>
            <a:ext cx="3057247" cy="523220"/>
          </a:xfrm>
          <a:prstGeom prst="rect">
            <a:avLst/>
          </a:prstGeom>
          <a:solidFill>
            <a:schemeClr val="accent2">
              <a:lumMod val="40000"/>
              <a:lumOff val="60000"/>
            </a:schemeClr>
          </a:solidFill>
          <a:ln>
            <a:solidFill>
              <a:schemeClr val="tx1"/>
            </a:solidFill>
          </a:ln>
        </p:spPr>
        <p:txBody>
          <a:bodyPr wrap="none" rtlCol="0">
            <a:spAutoFit/>
          </a:bodyPr>
          <a:lstStyle/>
          <a:p>
            <a:r>
              <a:rPr kumimoji="1" lang="ja-JP" altLang="en-US" sz="1400" dirty="0">
                <a:latin typeface="ＭＳ 明朝" panose="02020609040205080304" pitchFamily="17" charset="-128"/>
                <a:ea typeface="ＭＳ 明朝" panose="02020609040205080304" pitchFamily="17" charset="-128"/>
              </a:rPr>
              <a:t>手法２</a:t>
            </a:r>
            <a:r>
              <a:rPr kumimoji="1" lang="en-US" altLang="ja-JP" sz="1400" dirty="0">
                <a:latin typeface="ＭＳ 明朝" panose="02020609040205080304" pitchFamily="17" charset="-128"/>
                <a:ea typeface="ＭＳ 明朝" panose="02020609040205080304" pitchFamily="17" charset="-128"/>
              </a:rPr>
              <a:t>-</a:t>
            </a:r>
            <a:r>
              <a:rPr kumimoji="1" lang="ja-JP" altLang="en-US" sz="1400" dirty="0">
                <a:latin typeface="ＭＳ 明朝" panose="02020609040205080304" pitchFamily="17" charset="-128"/>
                <a:ea typeface="ＭＳ 明朝" panose="02020609040205080304" pitchFamily="17" charset="-128"/>
              </a:rPr>
              <a:t>１</a:t>
            </a:r>
            <a:endParaRPr kumimoji="1" lang="en-US" altLang="ja-JP" sz="1400" dirty="0">
              <a:latin typeface="ＭＳ 明朝" panose="02020609040205080304" pitchFamily="17" charset="-128"/>
              <a:ea typeface="ＭＳ 明朝" panose="02020609040205080304" pitchFamily="17" charset="-128"/>
            </a:endParaRPr>
          </a:p>
          <a:p>
            <a:r>
              <a:rPr kumimoji="1" lang="ja-JP" altLang="en-US" sz="1400" dirty="0">
                <a:latin typeface="ＭＳ 明朝" panose="02020609040205080304" pitchFamily="17" charset="-128"/>
                <a:ea typeface="ＭＳ 明朝" panose="02020609040205080304" pitchFamily="17" charset="-128"/>
              </a:rPr>
              <a:t>不正なコードを含んだメールを送信</a:t>
            </a:r>
          </a:p>
        </p:txBody>
      </p:sp>
      <p:sp>
        <p:nvSpPr>
          <p:cNvPr id="24" name="矢印: 右 23">
            <a:extLst>
              <a:ext uri="{FF2B5EF4-FFF2-40B4-BE49-F238E27FC236}">
                <a16:creationId xmlns:a16="http://schemas.microsoft.com/office/drawing/2014/main" id="{03243AC5-FE05-42D2-A02A-80E89BDB2A94}"/>
              </a:ext>
            </a:extLst>
          </p:cNvPr>
          <p:cNvSpPr/>
          <p:nvPr/>
        </p:nvSpPr>
        <p:spPr>
          <a:xfrm flipV="1">
            <a:off x="3442087" y="3168117"/>
            <a:ext cx="2346317" cy="20954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2A5C18E8-FEB2-4C52-A56D-0F86B578CA2F}"/>
              </a:ext>
            </a:extLst>
          </p:cNvPr>
          <p:cNvSpPr txBox="1"/>
          <p:nvPr/>
        </p:nvSpPr>
        <p:spPr>
          <a:xfrm>
            <a:off x="6423399" y="3146670"/>
            <a:ext cx="5391219" cy="738664"/>
          </a:xfrm>
          <a:prstGeom prst="rect">
            <a:avLst/>
          </a:prstGeom>
          <a:solidFill>
            <a:schemeClr val="accent2">
              <a:lumMod val="40000"/>
              <a:lumOff val="60000"/>
            </a:schemeClr>
          </a:solidFill>
          <a:ln>
            <a:solidFill>
              <a:schemeClr val="tx1"/>
            </a:solidFill>
          </a:ln>
        </p:spPr>
        <p:txBody>
          <a:bodyPr wrap="none" rtlCol="0">
            <a:spAutoFit/>
          </a:bodyPr>
          <a:lstStyle/>
          <a:p>
            <a:r>
              <a:rPr kumimoji="1" lang="ja-JP" altLang="en-US" sz="1400" dirty="0">
                <a:latin typeface="ＭＳ 明朝" panose="02020609040205080304" pitchFamily="17" charset="-128"/>
                <a:ea typeface="ＭＳ 明朝" panose="02020609040205080304" pitchFamily="17" charset="-128"/>
              </a:rPr>
              <a:t>手法２</a:t>
            </a:r>
            <a:r>
              <a:rPr kumimoji="1" lang="en-US" altLang="ja-JP" sz="1400" dirty="0">
                <a:latin typeface="ＭＳ 明朝" panose="02020609040205080304" pitchFamily="17" charset="-128"/>
                <a:ea typeface="ＭＳ 明朝" panose="02020609040205080304" pitchFamily="17" charset="-128"/>
              </a:rPr>
              <a:t>-</a:t>
            </a:r>
            <a:r>
              <a:rPr lang="ja-JP" altLang="en-US" sz="1400" dirty="0">
                <a:latin typeface="ＭＳ 明朝" panose="02020609040205080304" pitchFamily="17" charset="-128"/>
                <a:ea typeface="ＭＳ 明朝" panose="02020609040205080304" pitchFamily="17" charset="-128"/>
              </a:rPr>
              <a:t>２</a:t>
            </a:r>
            <a:endParaRPr kumimoji="1" lang="en-US" altLang="ja-JP" sz="1400" dirty="0">
              <a:latin typeface="ＭＳ 明朝" panose="02020609040205080304" pitchFamily="17" charset="-128"/>
              <a:ea typeface="ＭＳ 明朝" panose="02020609040205080304" pitchFamily="17" charset="-128"/>
            </a:endParaRPr>
          </a:p>
          <a:p>
            <a:r>
              <a:rPr kumimoji="1" lang="ja-JP" altLang="en-US" sz="1400" dirty="0">
                <a:latin typeface="ＭＳ 明朝" panose="02020609040205080304" pitchFamily="17" charset="-128"/>
                <a:ea typeface="ＭＳ 明朝" panose="02020609040205080304" pitchFamily="17" charset="-128"/>
              </a:rPr>
              <a:t>利用者がメールを開くことで不正なファイルをダウンロードし、</a:t>
            </a:r>
            <a:endParaRPr kumimoji="1" lang="en-US" altLang="ja-JP" sz="1400" dirty="0">
              <a:latin typeface="ＭＳ 明朝" panose="02020609040205080304" pitchFamily="17" charset="-128"/>
              <a:ea typeface="ＭＳ 明朝" panose="02020609040205080304" pitchFamily="17" charset="-128"/>
            </a:endParaRPr>
          </a:p>
          <a:p>
            <a:r>
              <a:rPr kumimoji="1" lang="ja-JP" altLang="en-US" sz="1400" dirty="0">
                <a:latin typeface="ＭＳ 明朝" panose="02020609040205080304" pitchFamily="17" charset="-128"/>
                <a:ea typeface="ＭＳ 明朝" panose="02020609040205080304" pitchFamily="17" charset="-128"/>
              </a:rPr>
              <a:t>攻撃者に対してリバースシェルが張られアクセスされる。</a:t>
            </a:r>
          </a:p>
        </p:txBody>
      </p:sp>
    </p:spTree>
    <p:extLst>
      <p:ext uri="{BB962C8B-B14F-4D97-AF65-F5344CB8AC3E}">
        <p14:creationId xmlns:p14="http://schemas.microsoft.com/office/powerpoint/2010/main" val="11631856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2577228-5346-47AC-92A9-52D8B3E64A72}"/>
              </a:ext>
            </a:extLst>
          </p:cNvPr>
          <p:cNvSpPr txBox="1"/>
          <p:nvPr/>
        </p:nvSpPr>
        <p:spPr>
          <a:xfrm>
            <a:off x="2684477" y="1652632"/>
            <a:ext cx="8494633" cy="3693319"/>
          </a:xfrm>
          <a:prstGeom prst="rect">
            <a:avLst/>
          </a:prstGeom>
          <a:noFill/>
        </p:spPr>
        <p:txBody>
          <a:bodyPr wrap="none" rtlCol="0">
            <a:spAutoFit/>
          </a:bodyPr>
          <a:lstStyle/>
          <a:p>
            <a:r>
              <a:rPr kumimoji="1" lang="ja-JP" altLang="en-US" b="1" dirty="0">
                <a:solidFill>
                  <a:srgbClr val="00B050"/>
                </a:solidFill>
                <a:latin typeface="ＭＳ 明朝" panose="02020609040205080304" pitchFamily="17" charset="-128"/>
                <a:ea typeface="ＭＳ 明朝" panose="02020609040205080304" pitchFamily="17" charset="-128"/>
              </a:rPr>
              <a:t>検知手法</a:t>
            </a:r>
            <a:endParaRPr kumimoji="1" lang="en-US" altLang="ja-JP" b="1" dirty="0">
              <a:solidFill>
                <a:srgbClr val="00B050"/>
              </a:solidFill>
              <a:latin typeface="ＭＳ 明朝" panose="02020609040205080304" pitchFamily="17" charset="-128"/>
              <a:ea typeface="ＭＳ 明朝" panose="02020609040205080304" pitchFamily="17" charset="-128"/>
            </a:endParaRPr>
          </a:p>
          <a:p>
            <a:endParaRPr kumimoji="1"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・正当な送信者からのメールであるかを確認する。</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・サイズがおかしいものはないかを確認する。</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・送信された時間に著しく他と異なるものはないかを確認する。</a:t>
            </a:r>
            <a:endParaRPr lang="en-US" altLang="ja-JP" dirty="0">
              <a:latin typeface="ＭＳ 明朝" panose="02020609040205080304" pitchFamily="17" charset="-128"/>
              <a:ea typeface="ＭＳ 明朝" panose="02020609040205080304" pitchFamily="17" charset="-128"/>
            </a:endParaRPr>
          </a:p>
          <a:p>
            <a:endParaRPr kumimoji="1"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・メール本文に異常がないかを確認する。</a:t>
            </a:r>
            <a:endParaRPr kumimoji="1"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a:t>
            </a:r>
            <a:r>
              <a:rPr kumimoji="1" lang="en-US" altLang="ja-JP" dirty="0">
                <a:latin typeface="ＭＳ 明朝" panose="02020609040205080304" pitchFamily="17" charset="-128"/>
                <a:ea typeface="ＭＳ 明朝" panose="02020609040205080304" pitchFamily="17" charset="-128"/>
              </a:rPr>
              <a:t>netstat</a:t>
            </a:r>
            <a:r>
              <a:rPr kumimoji="1" lang="ja-JP" altLang="en-US" dirty="0">
                <a:latin typeface="ＭＳ 明朝" panose="02020609040205080304" pitchFamily="17" charset="-128"/>
                <a:ea typeface="ＭＳ 明朝" panose="02020609040205080304" pitchFamily="17" charset="-128"/>
              </a:rPr>
              <a:t>などの実行結果から不審な通信先への通信が発生していないかを確認</a:t>
            </a:r>
            <a:endParaRPr kumimoji="1"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kumimoji="1" lang="ja-JP" altLang="en-US" dirty="0">
                <a:latin typeface="ＭＳ 明朝" panose="02020609040205080304" pitchFamily="17" charset="-128"/>
                <a:ea typeface="ＭＳ 明朝" panose="02020609040205080304" pitchFamily="17" charset="-128"/>
              </a:rPr>
              <a:t>・</a:t>
            </a:r>
            <a:r>
              <a:rPr kumimoji="1" lang="en-US" altLang="ja-JP" dirty="0" err="1">
                <a:latin typeface="ＭＳ 明朝" panose="02020609040205080304" pitchFamily="17" charset="-128"/>
                <a:ea typeface="ＭＳ 明朝" panose="02020609040205080304" pitchFamily="17" charset="-128"/>
              </a:rPr>
              <a:t>tasklist</a:t>
            </a:r>
            <a:r>
              <a:rPr kumimoji="1" lang="ja-JP" altLang="en-US" dirty="0">
                <a:latin typeface="ＭＳ 明朝" panose="02020609040205080304" pitchFamily="17" charset="-128"/>
                <a:ea typeface="ＭＳ 明朝" panose="02020609040205080304" pitchFamily="17" charset="-128"/>
              </a:rPr>
              <a:t>などの実行結果から不審なファイルが実行されていないかを確認</a:t>
            </a:r>
            <a:endParaRPr kumimoji="1" lang="en-US" altLang="ja-JP" dirty="0">
              <a:latin typeface="ＭＳ 明朝" panose="02020609040205080304" pitchFamily="17" charset="-128"/>
              <a:ea typeface="ＭＳ 明朝" panose="02020609040205080304" pitchFamily="17" charset="-128"/>
            </a:endParaRPr>
          </a:p>
        </p:txBody>
      </p:sp>
      <p:sp>
        <p:nvSpPr>
          <p:cNvPr id="3" name="テキスト ボックス 2">
            <a:extLst>
              <a:ext uri="{FF2B5EF4-FFF2-40B4-BE49-F238E27FC236}">
                <a16:creationId xmlns:a16="http://schemas.microsoft.com/office/drawing/2014/main" id="{E938FE31-69A9-4D76-9E9E-E940CDD850C7}"/>
              </a:ext>
            </a:extLst>
          </p:cNvPr>
          <p:cNvSpPr txBox="1"/>
          <p:nvPr/>
        </p:nvSpPr>
        <p:spPr>
          <a:xfrm>
            <a:off x="5537693" y="155391"/>
            <a:ext cx="803425" cy="369332"/>
          </a:xfrm>
          <a:prstGeom prst="rect">
            <a:avLst/>
          </a:prstGeom>
          <a:noFill/>
        </p:spPr>
        <p:txBody>
          <a:bodyPr wrap="none" rtlCol="0">
            <a:spAutoFit/>
          </a:bodyPr>
          <a:lstStyle/>
          <a:p>
            <a:r>
              <a:rPr kumimoji="1" lang="ja-JP" altLang="en-US" dirty="0"/>
              <a:t>仮説８</a:t>
            </a:r>
            <a:endParaRPr kumimoji="1" lang="en-US" altLang="ja-JP" dirty="0"/>
          </a:p>
        </p:txBody>
      </p:sp>
    </p:spTree>
    <p:extLst>
      <p:ext uri="{BB962C8B-B14F-4D97-AF65-F5344CB8AC3E}">
        <p14:creationId xmlns:p14="http://schemas.microsoft.com/office/powerpoint/2010/main" val="42767404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219589B-E704-411B-AE52-524793F02BDC}"/>
              </a:ext>
            </a:extLst>
          </p:cNvPr>
          <p:cNvSpPr txBox="1"/>
          <p:nvPr/>
        </p:nvSpPr>
        <p:spPr>
          <a:xfrm>
            <a:off x="4323346" y="2579566"/>
            <a:ext cx="3276859" cy="1323439"/>
          </a:xfrm>
          <a:prstGeom prst="rect">
            <a:avLst/>
          </a:prstGeom>
          <a:noFill/>
        </p:spPr>
        <p:txBody>
          <a:bodyPr wrap="none" rtlCol="0">
            <a:spAutoFit/>
          </a:bodyPr>
          <a:lstStyle/>
          <a:p>
            <a:pPr algn="ctr"/>
            <a:r>
              <a:rPr kumimoji="1" lang="ja-JP" altLang="en-US" sz="8000" b="1" dirty="0">
                <a:latin typeface="ＭＳ 明朝" panose="02020609040205080304" pitchFamily="17" charset="-128"/>
                <a:ea typeface="ＭＳ 明朝" panose="02020609040205080304" pitchFamily="17" charset="-128"/>
              </a:rPr>
              <a:t>仮説９</a:t>
            </a:r>
            <a:endParaRPr kumimoji="1" lang="en-US" altLang="ja-JP" sz="8000" b="1" dirty="0">
              <a:latin typeface="ＭＳ 明朝" panose="02020609040205080304" pitchFamily="17" charset="-128"/>
              <a:ea typeface="ＭＳ 明朝" panose="02020609040205080304" pitchFamily="17" charset="-128"/>
            </a:endParaRPr>
          </a:p>
        </p:txBody>
      </p:sp>
      <p:sp>
        <p:nvSpPr>
          <p:cNvPr id="3" name="テキスト ボックス 2">
            <a:extLst>
              <a:ext uri="{FF2B5EF4-FFF2-40B4-BE49-F238E27FC236}">
                <a16:creationId xmlns:a16="http://schemas.microsoft.com/office/drawing/2014/main" id="{4CB30B5B-4157-46EE-A2E0-F9C62FA5229B}"/>
              </a:ext>
            </a:extLst>
          </p:cNvPr>
          <p:cNvSpPr txBox="1"/>
          <p:nvPr/>
        </p:nvSpPr>
        <p:spPr>
          <a:xfrm>
            <a:off x="5537693" y="155391"/>
            <a:ext cx="803425" cy="369332"/>
          </a:xfrm>
          <a:prstGeom prst="rect">
            <a:avLst/>
          </a:prstGeom>
          <a:noFill/>
        </p:spPr>
        <p:txBody>
          <a:bodyPr wrap="none" rtlCol="0">
            <a:spAutoFit/>
          </a:bodyPr>
          <a:lstStyle/>
          <a:p>
            <a:r>
              <a:rPr kumimoji="1" lang="ja-JP" altLang="en-US" dirty="0"/>
              <a:t>仮説９</a:t>
            </a:r>
            <a:endParaRPr kumimoji="1" lang="en-US" altLang="ja-JP" dirty="0"/>
          </a:p>
        </p:txBody>
      </p:sp>
    </p:spTree>
    <p:extLst>
      <p:ext uri="{BB962C8B-B14F-4D97-AF65-F5344CB8AC3E}">
        <p14:creationId xmlns:p14="http://schemas.microsoft.com/office/powerpoint/2010/main" val="19077058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63D66B27-FD6C-4F69-BF07-7846BFD82B93}"/>
              </a:ext>
            </a:extLst>
          </p:cNvPr>
          <p:cNvSpPr/>
          <p:nvPr/>
        </p:nvSpPr>
        <p:spPr>
          <a:xfrm>
            <a:off x="1392572" y="5163266"/>
            <a:ext cx="5964574" cy="7698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テキスト ボックス 2">
            <a:extLst>
              <a:ext uri="{FF2B5EF4-FFF2-40B4-BE49-F238E27FC236}">
                <a16:creationId xmlns:a16="http://schemas.microsoft.com/office/drawing/2014/main" id="{C5420977-E2C9-41D6-9261-5DF61E6D3E6D}"/>
              </a:ext>
            </a:extLst>
          </p:cNvPr>
          <p:cNvSpPr txBox="1"/>
          <p:nvPr/>
        </p:nvSpPr>
        <p:spPr>
          <a:xfrm>
            <a:off x="992462" y="880703"/>
            <a:ext cx="800219" cy="338554"/>
          </a:xfrm>
          <a:prstGeom prst="rect">
            <a:avLst/>
          </a:prstGeom>
          <a:noFill/>
          <a:ln>
            <a:noFill/>
          </a:ln>
        </p:spPr>
        <p:txBody>
          <a:bodyPr wrap="none" rtlCol="0">
            <a:spAutoFit/>
          </a:bodyPr>
          <a:lstStyle/>
          <a:p>
            <a:r>
              <a:rPr kumimoji="1" lang="ja-JP" altLang="en-US" sz="1600" dirty="0">
                <a:latin typeface="ＭＳ 明朝" panose="02020609040205080304" pitchFamily="17" charset="-128"/>
                <a:ea typeface="ＭＳ 明朝" panose="02020609040205080304" pitchFamily="17" charset="-128"/>
              </a:rPr>
              <a:t>仮説９</a:t>
            </a:r>
            <a:endParaRPr kumimoji="1" lang="en-US" altLang="ja-JP" sz="1600" dirty="0">
              <a:latin typeface="ＭＳ 明朝" panose="02020609040205080304" pitchFamily="17" charset="-128"/>
              <a:ea typeface="ＭＳ 明朝" panose="02020609040205080304" pitchFamily="17" charset="-128"/>
            </a:endParaRPr>
          </a:p>
        </p:txBody>
      </p:sp>
      <p:sp>
        <p:nvSpPr>
          <p:cNvPr id="5" name="正方形/長方形 4">
            <a:extLst>
              <a:ext uri="{FF2B5EF4-FFF2-40B4-BE49-F238E27FC236}">
                <a16:creationId xmlns:a16="http://schemas.microsoft.com/office/drawing/2014/main" id="{4F90F96F-FEF7-4B0A-8C99-FA96F364F5C3}"/>
              </a:ext>
            </a:extLst>
          </p:cNvPr>
          <p:cNvSpPr/>
          <p:nvPr/>
        </p:nvSpPr>
        <p:spPr>
          <a:xfrm>
            <a:off x="1392572" y="1661177"/>
            <a:ext cx="5645790" cy="246436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568E2D34-FDB4-4516-88EA-DA5D1FC6C73C}"/>
              </a:ext>
            </a:extLst>
          </p:cNvPr>
          <p:cNvSpPr txBox="1"/>
          <p:nvPr/>
        </p:nvSpPr>
        <p:spPr>
          <a:xfrm>
            <a:off x="1522569" y="1476511"/>
            <a:ext cx="1800493" cy="369332"/>
          </a:xfrm>
          <a:prstGeom prst="rect">
            <a:avLst/>
          </a:prstGeom>
          <a:solidFill>
            <a:schemeClr val="bg1"/>
          </a:solidFill>
        </p:spPr>
        <p:txBody>
          <a:bodyPr wrap="none" rtlCol="0">
            <a:spAutoFit/>
          </a:bodyPr>
          <a:lstStyle/>
          <a:p>
            <a:r>
              <a:rPr kumimoji="1" lang="ja-JP" altLang="en-US" dirty="0">
                <a:latin typeface="ＭＳ 明朝" panose="02020609040205080304" pitchFamily="17" charset="-128"/>
                <a:ea typeface="ＭＳ 明朝" panose="02020609040205080304" pitchFamily="17" charset="-128"/>
              </a:rPr>
              <a:t>米軍対向用端末</a:t>
            </a:r>
          </a:p>
        </p:txBody>
      </p:sp>
      <p:sp>
        <p:nvSpPr>
          <p:cNvPr id="6" name="テキスト ボックス 5">
            <a:extLst>
              <a:ext uri="{FF2B5EF4-FFF2-40B4-BE49-F238E27FC236}">
                <a16:creationId xmlns:a16="http://schemas.microsoft.com/office/drawing/2014/main" id="{E69B686E-7BA2-4281-BBA0-91EAAA236B77}"/>
              </a:ext>
            </a:extLst>
          </p:cNvPr>
          <p:cNvSpPr txBox="1"/>
          <p:nvPr/>
        </p:nvSpPr>
        <p:spPr>
          <a:xfrm>
            <a:off x="2405343" y="2745875"/>
            <a:ext cx="813043" cy="307777"/>
          </a:xfrm>
          <a:prstGeom prst="rect">
            <a:avLst/>
          </a:prstGeom>
          <a:noFill/>
          <a:ln>
            <a:solidFill>
              <a:schemeClr val="tx1"/>
            </a:solidFill>
          </a:ln>
        </p:spPr>
        <p:txBody>
          <a:bodyPr wrap="none" rtlCol="0">
            <a:spAutoFit/>
          </a:bodyPr>
          <a:lstStyle/>
          <a:p>
            <a:r>
              <a:rPr kumimoji="1" lang="en-US" altLang="ja-JP" sz="1400" dirty="0" err="1">
                <a:latin typeface="ＭＳ 明朝" panose="02020609040205080304" pitchFamily="17" charset="-128"/>
                <a:ea typeface="ＭＳ 明朝" panose="02020609040205080304" pitchFamily="17" charset="-128"/>
              </a:rPr>
              <a:t>Mdaemon</a:t>
            </a:r>
            <a:endParaRPr kumimoji="1" lang="ja-JP" altLang="en-US" sz="1400" dirty="0">
              <a:latin typeface="ＭＳ 明朝" panose="02020609040205080304" pitchFamily="17" charset="-128"/>
              <a:ea typeface="ＭＳ 明朝" panose="02020609040205080304" pitchFamily="17" charset="-128"/>
            </a:endParaRPr>
          </a:p>
        </p:txBody>
      </p:sp>
      <p:sp>
        <p:nvSpPr>
          <p:cNvPr id="7" name="テキスト ボックス 6">
            <a:extLst>
              <a:ext uri="{FF2B5EF4-FFF2-40B4-BE49-F238E27FC236}">
                <a16:creationId xmlns:a16="http://schemas.microsoft.com/office/drawing/2014/main" id="{9A9CA4EF-F828-407C-8CAA-ED0680204D24}"/>
              </a:ext>
            </a:extLst>
          </p:cNvPr>
          <p:cNvSpPr txBox="1"/>
          <p:nvPr/>
        </p:nvSpPr>
        <p:spPr>
          <a:xfrm>
            <a:off x="5811649" y="2745875"/>
            <a:ext cx="813043" cy="307777"/>
          </a:xfrm>
          <a:prstGeom prst="rect">
            <a:avLst/>
          </a:prstGeom>
          <a:noFill/>
          <a:ln>
            <a:solidFill>
              <a:schemeClr val="tx1"/>
            </a:solidFill>
          </a:ln>
        </p:spPr>
        <p:txBody>
          <a:bodyPr wrap="none" rtlCol="0">
            <a:spAutoFit/>
          </a:bodyPr>
          <a:lstStyle/>
          <a:p>
            <a:r>
              <a:rPr lang="en-US" altLang="ja-JP" sz="1400" dirty="0">
                <a:latin typeface="ＭＳ 明朝" panose="02020609040205080304" pitchFamily="17" charset="-128"/>
                <a:ea typeface="ＭＳ 明朝" panose="02020609040205080304" pitchFamily="17" charset="-128"/>
              </a:rPr>
              <a:t>outlook</a:t>
            </a:r>
            <a:endParaRPr kumimoji="1" lang="ja-JP" altLang="en-US" sz="1400" dirty="0">
              <a:latin typeface="ＭＳ 明朝" panose="02020609040205080304" pitchFamily="17" charset="-128"/>
              <a:ea typeface="ＭＳ 明朝" panose="02020609040205080304" pitchFamily="17" charset="-128"/>
            </a:endParaRPr>
          </a:p>
        </p:txBody>
      </p:sp>
      <p:cxnSp>
        <p:nvCxnSpPr>
          <p:cNvPr id="9" name="直線矢印コネクタ 8">
            <a:extLst>
              <a:ext uri="{FF2B5EF4-FFF2-40B4-BE49-F238E27FC236}">
                <a16:creationId xmlns:a16="http://schemas.microsoft.com/office/drawing/2014/main" id="{A2621E78-15EA-4ADD-9284-6B77EFEB1F94}"/>
              </a:ext>
            </a:extLst>
          </p:cNvPr>
          <p:cNvCxnSpPr>
            <a:cxnSpLocks/>
            <a:stCxn id="28" idx="0"/>
          </p:cNvCxnSpPr>
          <p:nvPr/>
        </p:nvCxnSpPr>
        <p:spPr>
          <a:xfrm flipH="1" flipV="1">
            <a:off x="2842295" y="3053654"/>
            <a:ext cx="0" cy="23492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46ED3F37-DA4E-4B45-B501-E4F341B99659}"/>
              </a:ext>
            </a:extLst>
          </p:cNvPr>
          <p:cNvSpPr txBox="1"/>
          <p:nvPr/>
        </p:nvSpPr>
        <p:spPr>
          <a:xfrm>
            <a:off x="1901012" y="4464039"/>
            <a:ext cx="889987" cy="261610"/>
          </a:xfrm>
          <a:prstGeom prst="rect">
            <a:avLst/>
          </a:prstGeom>
          <a:solidFill>
            <a:schemeClr val="bg1"/>
          </a:solidFill>
        </p:spPr>
        <p:txBody>
          <a:bodyPr wrap="none" rtlCol="0">
            <a:spAutoFit/>
          </a:bodyPr>
          <a:lstStyle/>
          <a:p>
            <a:r>
              <a:rPr lang="ja-JP" altLang="en-US" sz="1050" dirty="0">
                <a:latin typeface="ＭＳ 明朝" panose="02020609040205080304" pitchFamily="17" charset="-128"/>
                <a:ea typeface="ＭＳ 明朝" panose="02020609040205080304" pitchFamily="17" charset="-128"/>
              </a:rPr>
              <a:t>メール受信</a:t>
            </a:r>
            <a:endParaRPr kumimoji="1" lang="ja-JP" altLang="en-US" sz="1050" dirty="0">
              <a:latin typeface="ＭＳ 明朝" panose="02020609040205080304" pitchFamily="17" charset="-128"/>
              <a:ea typeface="ＭＳ 明朝" panose="02020609040205080304" pitchFamily="17" charset="-128"/>
            </a:endParaRPr>
          </a:p>
        </p:txBody>
      </p:sp>
      <p:sp>
        <p:nvSpPr>
          <p:cNvPr id="11" name="テキスト ボックス 10">
            <a:extLst>
              <a:ext uri="{FF2B5EF4-FFF2-40B4-BE49-F238E27FC236}">
                <a16:creationId xmlns:a16="http://schemas.microsoft.com/office/drawing/2014/main" id="{6FF81BE6-6881-45FC-9814-B95D4A5D5817}"/>
              </a:ext>
            </a:extLst>
          </p:cNvPr>
          <p:cNvSpPr txBox="1"/>
          <p:nvPr/>
        </p:nvSpPr>
        <p:spPr>
          <a:xfrm>
            <a:off x="3999835" y="2568100"/>
            <a:ext cx="889987" cy="261610"/>
          </a:xfrm>
          <a:prstGeom prst="rect">
            <a:avLst/>
          </a:prstGeom>
          <a:solidFill>
            <a:schemeClr val="bg1"/>
          </a:solidFill>
        </p:spPr>
        <p:txBody>
          <a:bodyPr wrap="none" rtlCol="0">
            <a:spAutoFit/>
          </a:bodyPr>
          <a:lstStyle/>
          <a:p>
            <a:r>
              <a:rPr lang="ja-JP" altLang="en-US" sz="1050" dirty="0">
                <a:latin typeface="ＭＳ 明朝" panose="02020609040205080304" pitchFamily="17" charset="-128"/>
                <a:ea typeface="ＭＳ 明朝" panose="02020609040205080304" pitchFamily="17" charset="-128"/>
              </a:rPr>
              <a:t>メール受信</a:t>
            </a:r>
            <a:endParaRPr kumimoji="1" lang="ja-JP" altLang="en-US" sz="1050" dirty="0">
              <a:latin typeface="ＭＳ 明朝" panose="02020609040205080304" pitchFamily="17" charset="-128"/>
              <a:ea typeface="ＭＳ 明朝" panose="02020609040205080304" pitchFamily="17" charset="-128"/>
            </a:endParaRPr>
          </a:p>
        </p:txBody>
      </p:sp>
      <p:cxnSp>
        <p:nvCxnSpPr>
          <p:cNvPr id="12" name="直線矢印コネクタ 11">
            <a:extLst>
              <a:ext uri="{FF2B5EF4-FFF2-40B4-BE49-F238E27FC236}">
                <a16:creationId xmlns:a16="http://schemas.microsoft.com/office/drawing/2014/main" id="{D7300AEB-071D-4DFA-81E6-37015CD970DD}"/>
              </a:ext>
            </a:extLst>
          </p:cNvPr>
          <p:cNvCxnSpPr>
            <a:cxnSpLocks/>
            <a:stCxn id="6" idx="3"/>
          </p:cNvCxnSpPr>
          <p:nvPr/>
        </p:nvCxnSpPr>
        <p:spPr>
          <a:xfrm>
            <a:off x="3218386" y="2899764"/>
            <a:ext cx="25243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DC429689-A859-4D77-9F9D-F72E0759DC73}"/>
              </a:ext>
            </a:extLst>
          </p:cNvPr>
          <p:cNvSpPr txBox="1"/>
          <p:nvPr/>
        </p:nvSpPr>
        <p:spPr>
          <a:xfrm>
            <a:off x="2141836" y="3063866"/>
            <a:ext cx="723275" cy="276999"/>
          </a:xfrm>
          <a:prstGeom prst="rect">
            <a:avLst/>
          </a:prstGeom>
          <a:noFill/>
        </p:spPr>
        <p:txBody>
          <a:bodyPr wrap="none" rtlCol="0">
            <a:spAutoFit/>
          </a:bodyPr>
          <a:lstStyle/>
          <a:p>
            <a:r>
              <a:rPr kumimoji="1" lang="en-US" altLang="ja-JP" sz="1200" dirty="0">
                <a:latin typeface="ＭＳ 明朝" panose="02020609040205080304" pitchFamily="17" charset="-128"/>
                <a:ea typeface="ＭＳ 明朝" panose="02020609040205080304" pitchFamily="17" charset="-128"/>
              </a:rPr>
              <a:t>port:25</a:t>
            </a:r>
            <a:endParaRPr kumimoji="1" lang="ja-JP" altLang="en-US" sz="1200" dirty="0">
              <a:latin typeface="ＭＳ 明朝" panose="02020609040205080304" pitchFamily="17" charset="-128"/>
              <a:ea typeface="ＭＳ 明朝" panose="02020609040205080304" pitchFamily="17" charset="-128"/>
            </a:endParaRPr>
          </a:p>
        </p:txBody>
      </p:sp>
      <p:sp>
        <p:nvSpPr>
          <p:cNvPr id="18" name="テキスト ボックス 17">
            <a:extLst>
              <a:ext uri="{FF2B5EF4-FFF2-40B4-BE49-F238E27FC236}">
                <a16:creationId xmlns:a16="http://schemas.microsoft.com/office/drawing/2014/main" id="{E3B7112B-C414-47DF-9F51-BD1444EF12DB}"/>
              </a:ext>
            </a:extLst>
          </p:cNvPr>
          <p:cNvSpPr txBox="1"/>
          <p:nvPr/>
        </p:nvSpPr>
        <p:spPr>
          <a:xfrm>
            <a:off x="1522569" y="4978600"/>
            <a:ext cx="646331" cy="369332"/>
          </a:xfrm>
          <a:prstGeom prst="rect">
            <a:avLst/>
          </a:prstGeom>
          <a:solidFill>
            <a:schemeClr val="bg1"/>
          </a:solidFill>
        </p:spPr>
        <p:txBody>
          <a:bodyPr wrap="none" rtlCol="0">
            <a:spAutoFit/>
          </a:bodyPr>
          <a:lstStyle/>
          <a:p>
            <a:r>
              <a:rPr kumimoji="1" lang="ja-JP" altLang="en-US" dirty="0">
                <a:latin typeface="ＭＳ 明朝" panose="02020609040205080304" pitchFamily="17" charset="-128"/>
                <a:ea typeface="ＭＳ 明朝" panose="02020609040205080304" pitchFamily="17" charset="-128"/>
              </a:rPr>
              <a:t>米軍</a:t>
            </a:r>
          </a:p>
        </p:txBody>
      </p:sp>
      <p:sp>
        <p:nvSpPr>
          <p:cNvPr id="21" name="テキスト ボックス 20">
            <a:extLst>
              <a:ext uri="{FF2B5EF4-FFF2-40B4-BE49-F238E27FC236}">
                <a16:creationId xmlns:a16="http://schemas.microsoft.com/office/drawing/2014/main" id="{18C5464D-03E0-42FB-AC62-35CC8E9F968A}"/>
              </a:ext>
            </a:extLst>
          </p:cNvPr>
          <p:cNvSpPr txBox="1"/>
          <p:nvPr/>
        </p:nvSpPr>
        <p:spPr>
          <a:xfrm>
            <a:off x="3186301" y="2899763"/>
            <a:ext cx="800219" cy="276999"/>
          </a:xfrm>
          <a:prstGeom prst="rect">
            <a:avLst/>
          </a:prstGeom>
          <a:noFill/>
        </p:spPr>
        <p:txBody>
          <a:bodyPr wrap="none" rtlCol="0">
            <a:spAutoFit/>
          </a:bodyPr>
          <a:lstStyle/>
          <a:p>
            <a:r>
              <a:rPr kumimoji="1" lang="en-US" altLang="ja-JP" sz="1200" dirty="0">
                <a:latin typeface="ＭＳ 明朝" panose="02020609040205080304" pitchFamily="17" charset="-128"/>
                <a:ea typeface="ＭＳ 明朝" panose="02020609040205080304" pitchFamily="17" charset="-128"/>
              </a:rPr>
              <a:t>port:110</a:t>
            </a:r>
            <a:endParaRPr kumimoji="1" lang="ja-JP" altLang="en-US" sz="1200" dirty="0">
              <a:latin typeface="ＭＳ 明朝" panose="02020609040205080304" pitchFamily="17" charset="-128"/>
              <a:ea typeface="ＭＳ 明朝" panose="02020609040205080304" pitchFamily="17" charset="-128"/>
            </a:endParaRPr>
          </a:p>
        </p:txBody>
      </p:sp>
      <p:sp>
        <p:nvSpPr>
          <p:cNvPr id="25" name="テキスト ボックス 24">
            <a:extLst>
              <a:ext uri="{FF2B5EF4-FFF2-40B4-BE49-F238E27FC236}">
                <a16:creationId xmlns:a16="http://schemas.microsoft.com/office/drawing/2014/main" id="{2C71BC55-7105-41DF-8E4D-54A69AC027F6}"/>
              </a:ext>
            </a:extLst>
          </p:cNvPr>
          <p:cNvSpPr txBox="1"/>
          <p:nvPr/>
        </p:nvSpPr>
        <p:spPr>
          <a:xfrm>
            <a:off x="8271545" y="5167582"/>
            <a:ext cx="1571331" cy="646331"/>
          </a:xfrm>
          <a:prstGeom prst="rect">
            <a:avLst/>
          </a:prstGeom>
          <a:noFill/>
          <a:ln>
            <a:solidFill>
              <a:schemeClr val="tx1"/>
            </a:solidFill>
            <a:prstDash val="dash"/>
          </a:ln>
        </p:spPr>
        <p:txBody>
          <a:bodyPr wrap="square" rtlCol="0">
            <a:spAutoFit/>
          </a:bodyPr>
          <a:lstStyle/>
          <a:p>
            <a:r>
              <a:rPr kumimoji="1" lang="en-US" altLang="ja-JP" dirty="0">
                <a:latin typeface="ＭＳ 明朝" panose="02020609040205080304" pitchFamily="17" charset="-128"/>
                <a:ea typeface="ＭＳ 明朝" panose="02020609040205080304" pitchFamily="17" charset="-128"/>
              </a:rPr>
              <a:t>SMTP:25</a:t>
            </a:r>
          </a:p>
          <a:p>
            <a:r>
              <a:rPr lang="en-US" altLang="ja-JP" dirty="0">
                <a:latin typeface="ＭＳ 明朝" panose="02020609040205080304" pitchFamily="17" charset="-128"/>
                <a:ea typeface="ＭＳ 明朝" panose="02020609040205080304" pitchFamily="17" charset="-128"/>
              </a:rPr>
              <a:t>POP3:110</a:t>
            </a:r>
            <a:endParaRPr kumimoji="1" lang="ja-JP" altLang="en-US" dirty="0">
              <a:latin typeface="ＭＳ 明朝" panose="02020609040205080304" pitchFamily="17" charset="-128"/>
              <a:ea typeface="ＭＳ 明朝" panose="02020609040205080304" pitchFamily="17" charset="-128"/>
            </a:endParaRPr>
          </a:p>
        </p:txBody>
      </p:sp>
      <p:sp>
        <p:nvSpPr>
          <p:cNvPr id="26" name="正方形/長方形 25">
            <a:extLst>
              <a:ext uri="{FF2B5EF4-FFF2-40B4-BE49-F238E27FC236}">
                <a16:creationId xmlns:a16="http://schemas.microsoft.com/office/drawing/2014/main" id="{A549A212-3BBF-4B60-AFD3-1362F5C064DE}"/>
              </a:ext>
            </a:extLst>
          </p:cNvPr>
          <p:cNvSpPr/>
          <p:nvPr/>
        </p:nvSpPr>
        <p:spPr>
          <a:xfrm>
            <a:off x="7357146" y="1667582"/>
            <a:ext cx="3137480" cy="246436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テキスト ボックス 26">
            <a:extLst>
              <a:ext uri="{FF2B5EF4-FFF2-40B4-BE49-F238E27FC236}">
                <a16:creationId xmlns:a16="http://schemas.microsoft.com/office/drawing/2014/main" id="{DCE9449C-C81D-4284-AD1D-3DACB8B4F3E3}"/>
              </a:ext>
            </a:extLst>
          </p:cNvPr>
          <p:cNvSpPr txBox="1"/>
          <p:nvPr/>
        </p:nvSpPr>
        <p:spPr>
          <a:xfrm>
            <a:off x="7523966" y="1490674"/>
            <a:ext cx="2031325" cy="369332"/>
          </a:xfrm>
          <a:prstGeom prst="rect">
            <a:avLst/>
          </a:prstGeom>
          <a:solidFill>
            <a:schemeClr val="bg1"/>
          </a:solidFill>
        </p:spPr>
        <p:txBody>
          <a:bodyPr wrap="none" rtlCol="0">
            <a:spAutoFit/>
          </a:bodyPr>
          <a:lstStyle/>
          <a:p>
            <a:r>
              <a:rPr lang="ja-JP" altLang="en-US" dirty="0">
                <a:latin typeface="ＭＳ 明朝" panose="02020609040205080304" pitchFamily="17" charset="-128"/>
                <a:ea typeface="ＭＳ 明朝" panose="02020609040205080304" pitchFamily="17" charset="-128"/>
              </a:rPr>
              <a:t>業務処理用サーバ</a:t>
            </a:r>
            <a:endParaRPr kumimoji="1" lang="ja-JP" altLang="en-US" dirty="0">
              <a:latin typeface="ＭＳ 明朝" panose="02020609040205080304" pitchFamily="17" charset="-128"/>
              <a:ea typeface="ＭＳ 明朝" panose="02020609040205080304" pitchFamily="17" charset="-128"/>
            </a:endParaRPr>
          </a:p>
        </p:txBody>
      </p:sp>
      <p:pic>
        <p:nvPicPr>
          <p:cNvPr id="28" name="図 27">
            <a:extLst>
              <a:ext uri="{FF2B5EF4-FFF2-40B4-BE49-F238E27FC236}">
                <a16:creationId xmlns:a16="http://schemas.microsoft.com/office/drawing/2014/main" id="{5113A407-B1C6-4D9B-A5E6-8BB3CC74EE7A}"/>
              </a:ext>
            </a:extLst>
          </p:cNvPr>
          <p:cNvPicPr>
            <a:picLocks noChangeAspect="1"/>
          </p:cNvPicPr>
          <p:nvPr/>
        </p:nvPicPr>
        <p:blipFill>
          <a:blip r:embed="rId2"/>
          <a:stretch>
            <a:fillRect/>
          </a:stretch>
        </p:blipFill>
        <p:spPr>
          <a:xfrm>
            <a:off x="2593241" y="5402864"/>
            <a:ext cx="543740" cy="354108"/>
          </a:xfrm>
          <a:prstGeom prst="rect">
            <a:avLst/>
          </a:prstGeom>
        </p:spPr>
      </p:pic>
      <p:cxnSp>
        <p:nvCxnSpPr>
          <p:cNvPr id="30" name="直線矢印コネクタ 29">
            <a:extLst>
              <a:ext uri="{FF2B5EF4-FFF2-40B4-BE49-F238E27FC236}">
                <a16:creationId xmlns:a16="http://schemas.microsoft.com/office/drawing/2014/main" id="{99870048-485F-4587-9438-E76815B22FB8}"/>
              </a:ext>
            </a:extLst>
          </p:cNvPr>
          <p:cNvCxnSpPr>
            <a:cxnSpLocks/>
          </p:cNvCxnSpPr>
          <p:nvPr/>
        </p:nvCxnSpPr>
        <p:spPr>
          <a:xfrm>
            <a:off x="6728930" y="2899763"/>
            <a:ext cx="11063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1F78AD17-DA62-403B-A2A2-411E3409F5A2}"/>
              </a:ext>
            </a:extLst>
          </p:cNvPr>
          <p:cNvSpPr txBox="1"/>
          <p:nvPr/>
        </p:nvSpPr>
        <p:spPr>
          <a:xfrm>
            <a:off x="7908234" y="2757880"/>
            <a:ext cx="902811" cy="307777"/>
          </a:xfrm>
          <a:prstGeom prst="rect">
            <a:avLst/>
          </a:prstGeom>
          <a:noFill/>
          <a:ln>
            <a:solidFill>
              <a:schemeClr val="tx1"/>
            </a:solidFill>
          </a:ln>
        </p:spPr>
        <p:txBody>
          <a:bodyPr wrap="none" rtlCol="0">
            <a:spAutoFit/>
          </a:bodyPr>
          <a:lstStyle/>
          <a:p>
            <a:r>
              <a:rPr kumimoji="1" lang="ja-JP" altLang="en-US" sz="1400" dirty="0">
                <a:latin typeface="ＭＳ 明朝" panose="02020609040205080304" pitchFamily="17" charset="-128"/>
                <a:ea typeface="ＭＳ 明朝" panose="02020609040205080304" pitchFamily="17" charset="-128"/>
              </a:rPr>
              <a:t>運航情報</a:t>
            </a:r>
          </a:p>
        </p:txBody>
      </p:sp>
      <p:sp>
        <p:nvSpPr>
          <p:cNvPr id="33" name="矢印: 右 32">
            <a:extLst>
              <a:ext uri="{FF2B5EF4-FFF2-40B4-BE49-F238E27FC236}">
                <a16:creationId xmlns:a16="http://schemas.microsoft.com/office/drawing/2014/main" id="{787C6975-2F90-4835-B057-7C5AB329F6BB}"/>
              </a:ext>
            </a:extLst>
          </p:cNvPr>
          <p:cNvSpPr/>
          <p:nvPr/>
        </p:nvSpPr>
        <p:spPr>
          <a:xfrm rot="16200000" flipV="1">
            <a:off x="2016127" y="4125139"/>
            <a:ext cx="2106303" cy="20954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2A5C18E8-FEB2-4C52-A56D-0F86B578CA2F}"/>
              </a:ext>
            </a:extLst>
          </p:cNvPr>
          <p:cNvSpPr txBox="1"/>
          <p:nvPr/>
        </p:nvSpPr>
        <p:spPr>
          <a:xfrm>
            <a:off x="3296262" y="3797638"/>
            <a:ext cx="4493538" cy="738664"/>
          </a:xfrm>
          <a:prstGeom prst="rect">
            <a:avLst/>
          </a:prstGeom>
          <a:solidFill>
            <a:schemeClr val="accent2">
              <a:lumMod val="40000"/>
              <a:lumOff val="60000"/>
            </a:schemeClr>
          </a:solidFill>
          <a:ln>
            <a:solidFill>
              <a:schemeClr val="tx1"/>
            </a:solidFill>
          </a:ln>
        </p:spPr>
        <p:txBody>
          <a:bodyPr wrap="none" rtlCol="0">
            <a:spAutoFit/>
          </a:bodyPr>
          <a:lstStyle/>
          <a:p>
            <a:r>
              <a:rPr kumimoji="1" lang="ja-JP" altLang="en-US" sz="1400" dirty="0">
                <a:latin typeface="ＭＳ 明朝" panose="02020609040205080304" pitchFamily="17" charset="-128"/>
                <a:ea typeface="ＭＳ 明朝" panose="02020609040205080304" pitchFamily="17" charset="-128"/>
              </a:rPr>
              <a:t>手法３</a:t>
            </a:r>
            <a:endParaRPr kumimoji="1" lang="en-US" altLang="ja-JP" sz="1400" dirty="0">
              <a:latin typeface="ＭＳ 明朝" panose="02020609040205080304" pitchFamily="17" charset="-128"/>
              <a:ea typeface="ＭＳ 明朝" panose="02020609040205080304" pitchFamily="17" charset="-128"/>
            </a:endParaRPr>
          </a:p>
          <a:p>
            <a:r>
              <a:rPr kumimoji="1" lang="en-US" altLang="ja-JP" sz="1400" dirty="0" err="1">
                <a:latin typeface="ＭＳ 明朝" panose="02020609040205080304" pitchFamily="17" charset="-128"/>
                <a:ea typeface="ＭＳ 明朝" panose="02020609040205080304" pitchFamily="17" charset="-128"/>
              </a:rPr>
              <a:t>Mdaemon</a:t>
            </a:r>
            <a:r>
              <a:rPr kumimoji="1" lang="ja-JP" altLang="en-US" sz="1400" dirty="0">
                <a:latin typeface="ＭＳ 明朝" panose="02020609040205080304" pitchFamily="17" charset="-128"/>
                <a:ea typeface="ＭＳ 明朝" panose="02020609040205080304" pitchFamily="17" charset="-128"/>
              </a:rPr>
              <a:t>の</a:t>
            </a:r>
            <a:r>
              <a:rPr kumimoji="1" lang="en-US" altLang="ja-JP" sz="1400" dirty="0">
                <a:latin typeface="ＭＳ 明朝" panose="02020609040205080304" pitchFamily="17" charset="-128"/>
                <a:ea typeface="ＭＳ 明朝" panose="02020609040205080304" pitchFamily="17" charset="-128"/>
              </a:rPr>
              <a:t>RCE</a:t>
            </a:r>
            <a:r>
              <a:rPr kumimoji="1" lang="ja-JP" altLang="en-US" sz="1400" dirty="0">
                <a:latin typeface="ＭＳ 明朝" panose="02020609040205080304" pitchFamily="17" charset="-128"/>
                <a:ea typeface="ＭＳ 明朝" panose="02020609040205080304" pitchFamily="17" charset="-128"/>
              </a:rPr>
              <a:t>の脆弱性をついて受信メールフォルダの</a:t>
            </a:r>
            <a:endParaRPr kumimoji="1" lang="en-US" altLang="ja-JP" sz="1400" dirty="0">
              <a:latin typeface="ＭＳ 明朝" panose="02020609040205080304" pitchFamily="17" charset="-128"/>
              <a:ea typeface="ＭＳ 明朝" panose="02020609040205080304" pitchFamily="17" charset="-128"/>
            </a:endParaRPr>
          </a:p>
          <a:p>
            <a:r>
              <a:rPr kumimoji="1" lang="ja-JP" altLang="en-US" sz="1400" dirty="0">
                <a:latin typeface="ＭＳ 明朝" panose="02020609040205080304" pitchFamily="17" charset="-128"/>
                <a:ea typeface="ＭＳ 明朝" panose="02020609040205080304" pitchFamily="17" charset="-128"/>
              </a:rPr>
              <a:t>内容を改ざんするリモートコードを実行</a:t>
            </a:r>
          </a:p>
        </p:txBody>
      </p:sp>
      <p:sp>
        <p:nvSpPr>
          <p:cNvPr id="24" name="テキスト ボックス 23">
            <a:extLst>
              <a:ext uri="{FF2B5EF4-FFF2-40B4-BE49-F238E27FC236}">
                <a16:creationId xmlns:a16="http://schemas.microsoft.com/office/drawing/2014/main" id="{AD2067B0-3974-4E44-8465-9F70CC0D1D47}"/>
              </a:ext>
            </a:extLst>
          </p:cNvPr>
          <p:cNvSpPr txBox="1"/>
          <p:nvPr/>
        </p:nvSpPr>
        <p:spPr>
          <a:xfrm>
            <a:off x="5537693" y="155391"/>
            <a:ext cx="803425" cy="369332"/>
          </a:xfrm>
          <a:prstGeom prst="rect">
            <a:avLst/>
          </a:prstGeom>
          <a:noFill/>
        </p:spPr>
        <p:txBody>
          <a:bodyPr wrap="none" rtlCol="0">
            <a:spAutoFit/>
          </a:bodyPr>
          <a:lstStyle/>
          <a:p>
            <a:r>
              <a:rPr kumimoji="1" lang="ja-JP" altLang="en-US" dirty="0"/>
              <a:t>仮説９</a:t>
            </a:r>
            <a:endParaRPr kumimoji="1" lang="en-US" altLang="ja-JP" dirty="0"/>
          </a:p>
        </p:txBody>
      </p:sp>
    </p:spTree>
    <p:extLst>
      <p:ext uri="{BB962C8B-B14F-4D97-AF65-F5344CB8AC3E}">
        <p14:creationId xmlns:p14="http://schemas.microsoft.com/office/powerpoint/2010/main" val="10516534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7D0D8D22-7730-476E-B66B-7D4561085D41}"/>
              </a:ext>
            </a:extLst>
          </p:cNvPr>
          <p:cNvSpPr/>
          <p:nvPr/>
        </p:nvSpPr>
        <p:spPr>
          <a:xfrm>
            <a:off x="1835091" y="1117645"/>
            <a:ext cx="8521817" cy="3970318"/>
          </a:xfrm>
          <a:prstGeom prst="rect">
            <a:avLst/>
          </a:prstGeom>
        </p:spPr>
        <p:txBody>
          <a:bodyPr wrap="square">
            <a:spAutoFit/>
          </a:bodyPr>
          <a:lstStyle/>
          <a:p>
            <a:r>
              <a:rPr lang="ja-JP" altLang="en-US" b="1" dirty="0">
                <a:solidFill>
                  <a:srgbClr val="00B050"/>
                </a:solidFill>
                <a:latin typeface="ＭＳ 明朝" panose="02020609040205080304" pitchFamily="17" charset="-128"/>
                <a:ea typeface="ＭＳ 明朝" panose="02020609040205080304" pitchFamily="17" charset="-128"/>
              </a:rPr>
              <a:t>攻撃例：</a:t>
            </a:r>
            <a:endParaRPr lang="en-US" altLang="ja-JP" b="1" dirty="0">
              <a:solidFill>
                <a:srgbClr val="00B050"/>
              </a:solidFill>
              <a:latin typeface="ＭＳ 明朝" panose="02020609040205080304" pitchFamily="17" charset="-128"/>
              <a:ea typeface="ＭＳ 明朝" panose="02020609040205080304" pitchFamily="17" charset="-128"/>
            </a:endParaRPr>
          </a:p>
          <a:p>
            <a:r>
              <a:rPr lang="en-US" altLang="ja-JP" dirty="0">
                <a:latin typeface="ＭＳ 明朝" panose="02020609040205080304" pitchFamily="17" charset="-128"/>
                <a:ea typeface="ＭＳ 明朝" panose="02020609040205080304" pitchFamily="17" charset="-128"/>
              </a:rPr>
              <a:t>MDaemon20.0.4</a:t>
            </a:r>
            <a:r>
              <a:rPr lang="ja-JP" altLang="en-US" dirty="0">
                <a:latin typeface="ＭＳ 明朝" panose="02020609040205080304" pitchFamily="17" charset="-128"/>
                <a:ea typeface="ＭＳ 明朝" panose="02020609040205080304" pitchFamily="17" charset="-128"/>
              </a:rPr>
              <a:t>より以前の場合</a:t>
            </a:r>
            <a:r>
              <a:rPr lang="en-US" altLang="ja-JP" dirty="0">
                <a:latin typeface="ＭＳ 明朝" panose="02020609040205080304" pitchFamily="17" charset="-128"/>
                <a:ea typeface="ＭＳ 明朝" panose="02020609040205080304" pitchFamily="17" charset="-128"/>
              </a:rPr>
              <a:t>CVE-2021-27183(</a:t>
            </a:r>
            <a:r>
              <a:rPr lang="ja-JP" altLang="en-US" dirty="0">
                <a:latin typeface="ＭＳ 明朝" panose="02020609040205080304" pitchFamily="17" charset="-128"/>
                <a:ea typeface="ＭＳ 明朝" panose="02020609040205080304" pitchFamily="17" charset="-128"/>
              </a:rPr>
              <a:t>任意のファイル作成）の脆弱性を利用してメールサーバー上に悪意のある</a:t>
            </a:r>
            <a:r>
              <a:rPr lang="en-US" altLang="ja-JP" dirty="0">
                <a:latin typeface="ＭＳ 明朝" panose="02020609040205080304" pitchFamily="17" charset="-128"/>
                <a:ea typeface="ＭＳ 明朝" panose="02020609040205080304" pitchFamily="17" charset="-128"/>
              </a:rPr>
              <a:t>Web</a:t>
            </a:r>
            <a:r>
              <a:rPr lang="ja-JP" altLang="en-US" dirty="0">
                <a:latin typeface="ＭＳ 明朝" panose="02020609040205080304" pitchFamily="17" charset="-128"/>
                <a:ea typeface="ＭＳ 明朝" panose="02020609040205080304" pitchFamily="17" charset="-128"/>
              </a:rPr>
              <a:t>シェルを置かれ</a:t>
            </a:r>
            <a:r>
              <a:rPr lang="en-US" altLang="ja-JP" dirty="0">
                <a:latin typeface="ＭＳ 明朝" panose="02020609040205080304" pitchFamily="17" charset="-128"/>
                <a:ea typeface="ＭＳ 明朝" panose="02020609040205080304" pitchFamily="17" charset="-128"/>
              </a:rPr>
              <a:t>RCE</a:t>
            </a:r>
            <a:r>
              <a:rPr lang="ja-JP" altLang="en-US" dirty="0">
                <a:latin typeface="ＭＳ 明朝" panose="02020609040205080304" pitchFamily="17" charset="-128"/>
                <a:ea typeface="ＭＳ 明朝" panose="02020609040205080304" pitchFamily="17" charset="-128"/>
              </a:rPr>
              <a:t>が行われる。</a:t>
            </a:r>
            <a:endParaRPr lang="en-US" altLang="ja-JP" dirty="0">
              <a:latin typeface="ＭＳ 明朝" panose="02020609040205080304" pitchFamily="17" charset="-128"/>
              <a:ea typeface="ＭＳ 明朝" panose="02020609040205080304" pitchFamily="17" charset="-128"/>
            </a:endParaRPr>
          </a:p>
          <a:p>
            <a:r>
              <a:rPr lang="en-US" altLang="ja-JP" dirty="0">
                <a:latin typeface="ＭＳ 明朝" panose="02020609040205080304" pitchFamily="17" charset="-128"/>
                <a:ea typeface="ＭＳ 明朝" panose="02020609040205080304" pitchFamily="17" charset="-128"/>
              </a:rPr>
              <a:t>※ MDaemon</a:t>
            </a:r>
            <a:r>
              <a:rPr lang="ja-JP" altLang="en-US" dirty="0">
                <a:latin typeface="ＭＳ 明朝" panose="02020609040205080304" pitchFamily="17" charset="-128"/>
                <a:ea typeface="ＭＳ 明朝" panose="02020609040205080304" pitchFamily="17" charset="-128"/>
              </a:rPr>
              <a:t>の正確なバージョンがわからないので仮想の話です。</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a:p>
            <a:r>
              <a:rPr lang="ja-JP" altLang="en-US" b="1" dirty="0">
                <a:solidFill>
                  <a:srgbClr val="00B050"/>
                </a:solidFill>
                <a:latin typeface="ＭＳ 明朝" panose="02020609040205080304" pitchFamily="17" charset="-128"/>
                <a:ea typeface="ＭＳ 明朝" panose="02020609040205080304" pitchFamily="17" charset="-128"/>
              </a:rPr>
              <a:t>検知手法：</a:t>
            </a:r>
            <a:endParaRPr lang="en-US" altLang="ja-JP" b="1" dirty="0">
              <a:solidFill>
                <a:srgbClr val="00B050"/>
              </a:solidFill>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・管理画面への不明な</a:t>
            </a:r>
            <a:r>
              <a:rPr lang="en-US" altLang="ja-JP" dirty="0">
                <a:latin typeface="ＭＳ 明朝" panose="02020609040205080304" pitchFamily="17" charset="-128"/>
                <a:ea typeface="ＭＳ 明朝" panose="02020609040205080304" pitchFamily="17" charset="-128"/>
              </a:rPr>
              <a:t>IP</a:t>
            </a:r>
            <a:r>
              <a:rPr lang="ja-JP" altLang="en-US" dirty="0">
                <a:latin typeface="ＭＳ 明朝" panose="02020609040205080304" pitchFamily="17" charset="-128"/>
                <a:ea typeface="ＭＳ 明朝" panose="02020609040205080304" pitchFamily="17" charset="-128"/>
              </a:rPr>
              <a:t>からのアクセスがないかをログで確認</a:t>
            </a:r>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a:t>
            </a:r>
            <a:r>
              <a:rPr lang="en-US" altLang="ja-JP" dirty="0">
                <a:latin typeface="ＭＳ 明朝" panose="02020609040205080304" pitchFamily="17" charset="-128"/>
                <a:ea typeface="ＭＳ 明朝" panose="02020609040205080304" pitchFamily="17" charset="-128"/>
              </a:rPr>
              <a:t>Webmail</a:t>
            </a:r>
            <a:r>
              <a:rPr lang="ja-JP" altLang="en-US" dirty="0">
                <a:latin typeface="ＭＳ 明朝" panose="02020609040205080304" pitchFamily="17" charset="-128"/>
                <a:ea typeface="ＭＳ 明朝" panose="02020609040205080304" pitchFamily="17" charset="-128"/>
              </a:rPr>
              <a:t>経由の異常な</a:t>
            </a:r>
            <a:r>
              <a:rPr lang="en-US" altLang="ja-JP" dirty="0">
                <a:latin typeface="ＭＳ 明朝" panose="02020609040205080304" pitchFamily="17" charset="-128"/>
                <a:ea typeface="ＭＳ 明朝" panose="02020609040205080304" pitchFamily="17" charset="-128"/>
              </a:rPr>
              <a:t>POST</a:t>
            </a:r>
            <a:r>
              <a:rPr lang="ja-JP" altLang="en-US" dirty="0">
                <a:latin typeface="ＭＳ 明朝" panose="02020609040205080304" pitchFamily="17" charset="-128"/>
                <a:ea typeface="ＭＳ 明朝" panose="02020609040205080304" pitchFamily="17" charset="-128"/>
              </a:rPr>
              <a:t>リクエストがないかをログで確認</a:t>
            </a:r>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・不審なファイル作成・変更をログから確認</a:t>
            </a:r>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・不審なプロセスがないかをログから確認</a:t>
            </a:r>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・設定変更やアカウント操作の異常がないかをログから確認</a:t>
            </a:r>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・ログ改ざんの痕跡がないかを確認</a:t>
            </a:r>
            <a:endParaRPr lang="en-US" altLang="ja-JP" dirty="0">
              <a:latin typeface="ＭＳ 明朝" panose="02020609040205080304" pitchFamily="17" charset="-128"/>
              <a:ea typeface="ＭＳ 明朝" panose="02020609040205080304" pitchFamily="17" charset="-128"/>
            </a:endParaRPr>
          </a:p>
          <a:p>
            <a:r>
              <a:rPr lang="ja-JP" altLang="en-US" dirty="0">
                <a:latin typeface="ＭＳ 明朝" panose="02020609040205080304" pitchFamily="17" charset="-128"/>
                <a:ea typeface="ＭＳ 明朝" panose="02020609040205080304" pitchFamily="17" charset="-128"/>
              </a:rPr>
              <a:t>・大量送信や異常な</a:t>
            </a:r>
            <a:r>
              <a:rPr lang="en-US" altLang="ja-JP" dirty="0">
                <a:latin typeface="ＭＳ 明朝" panose="02020609040205080304" pitchFamily="17" charset="-128"/>
                <a:ea typeface="ＭＳ 明朝" panose="02020609040205080304" pitchFamily="17" charset="-128"/>
              </a:rPr>
              <a:t>HTML</a:t>
            </a:r>
            <a:r>
              <a:rPr lang="ja-JP" altLang="en-US" dirty="0">
                <a:latin typeface="ＭＳ 明朝" panose="02020609040205080304" pitchFamily="17" charset="-128"/>
                <a:ea typeface="ＭＳ 明朝" panose="02020609040205080304" pitchFamily="17" charset="-128"/>
              </a:rPr>
              <a:t>メール送信の増加がないかをログから確認</a:t>
            </a:r>
            <a:endParaRPr lang="en-US" altLang="ja-JP" dirty="0">
              <a:latin typeface="ＭＳ 明朝" panose="02020609040205080304" pitchFamily="17" charset="-128"/>
              <a:ea typeface="ＭＳ 明朝" panose="02020609040205080304" pitchFamily="17" charset="-128"/>
            </a:endParaRPr>
          </a:p>
          <a:p>
            <a:endParaRPr lang="en-US" altLang="ja-JP" dirty="0">
              <a:latin typeface="ＭＳ 明朝" panose="02020609040205080304" pitchFamily="17" charset="-128"/>
              <a:ea typeface="ＭＳ 明朝" panose="02020609040205080304" pitchFamily="17" charset="-128"/>
            </a:endParaRPr>
          </a:p>
        </p:txBody>
      </p:sp>
      <p:sp>
        <p:nvSpPr>
          <p:cNvPr id="4" name="正方形/長方形 3">
            <a:extLst>
              <a:ext uri="{FF2B5EF4-FFF2-40B4-BE49-F238E27FC236}">
                <a16:creationId xmlns:a16="http://schemas.microsoft.com/office/drawing/2014/main" id="{D0057214-8384-44D9-92D0-43F0F003E042}"/>
              </a:ext>
            </a:extLst>
          </p:cNvPr>
          <p:cNvSpPr/>
          <p:nvPr/>
        </p:nvSpPr>
        <p:spPr>
          <a:xfrm>
            <a:off x="3479073" y="5087963"/>
            <a:ext cx="6096000" cy="923330"/>
          </a:xfrm>
          <a:prstGeom prst="rect">
            <a:avLst/>
          </a:prstGeom>
        </p:spPr>
        <p:txBody>
          <a:bodyPr>
            <a:spAutoFit/>
          </a:bodyPr>
          <a:lstStyle/>
          <a:p>
            <a:r>
              <a:rPr lang="en-US" altLang="ja-JP" dirty="0">
                <a:latin typeface="ＭＳ 明朝" panose="02020609040205080304" pitchFamily="17" charset="-128"/>
                <a:ea typeface="ＭＳ 明朝" panose="02020609040205080304" pitchFamily="17" charset="-128"/>
              </a:rPr>
              <a:t>C:\Program Files\Alt-N\MDaemon\Logs\</a:t>
            </a:r>
          </a:p>
          <a:p>
            <a:r>
              <a:rPr lang="en-US" altLang="ja-JP" dirty="0">
                <a:latin typeface="ＭＳ 明朝" panose="02020609040205080304" pitchFamily="17" charset="-128"/>
                <a:ea typeface="ＭＳ 明朝" panose="02020609040205080304" pitchFamily="17" charset="-128"/>
              </a:rPr>
              <a:t>C:\MDaemon\Mail Server\Logs\</a:t>
            </a:r>
          </a:p>
          <a:p>
            <a:r>
              <a:rPr lang="en-US" altLang="ja-JP" dirty="0">
                <a:latin typeface="ＭＳ 明朝" panose="02020609040205080304" pitchFamily="17" charset="-128"/>
                <a:ea typeface="ＭＳ 明朝" panose="02020609040205080304" pitchFamily="17" charset="-128"/>
              </a:rPr>
              <a:t>C:\Mdaemon\Logs\</a:t>
            </a:r>
          </a:p>
        </p:txBody>
      </p:sp>
    </p:spTree>
    <p:extLst>
      <p:ext uri="{BB962C8B-B14F-4D97-AF65-F5344CB8AC3E}">
        <p14:creationId xmlns:p14="http://schemas.microsoft.com/office/powerpoint/2010/main" val="40702807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AC95A11-42E1-44BF-B787-9D821541D7BE}"/>
              </a:ext>
            </a:extLst>
          </p:cNvPr>
          <p:cNvSpPr txBox="1"/>
          <p:nvPr/>
        </p:nvSpPr>
        <p:spPr>
          <a:xfrm>
            <a:off x="4219663" y="2648824"/>
            <a:ext cx="3134191" cy="1862048"/>
          </a:xfrm>
          <a:prstGeom prst="rect">
            <a:avLst/>
          </a:prstGeom>
          <a:noFill/>
        </p:spPr>
        <p:txBody>
          <a:bodyPr wrap="none" rtlCol="0">
            <a:spAutoFit/>
          </a:bodyPr>
          <a:lstStyle/>
          <a:p>
            <a:r>
              <a:rPr kumimoji="1" lang="ja-JP" altLang="en-US" sz="11500" dirty="0">
                <a:latin typeface="ＭＳ 明朝" panose="02020609040205080304" pitchFamily="17" charset="-128"/>
                <a:ea typeface="ＭＳ 明朝" panose="02020609040205080304" pitchFamily="17" charset="-128"/>
              </a:rPr>
              <a:t>以上</a:t>
            </a:r>
          </a:p>
        </p:txBody>
      </p:sp>
    </p:spTree>
    <p:extLst>
      <p:ext uri="{BB962C8B-B14F-4D97-AF65-F5344CB8AC3E}">
        <p14:creationId xmlns:p14="http://schemas.microsoft.com/office/powerpoint/2010/main" val="11654150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A9F12FF-AB29-43CB-94E7-3BA497D0D458}"/>
              </a:ext>
            </a:extLst>
          </p:cNvPr>
          <p:cNvSpPr txBox="1"/>
          <p:nvPr/>
        </p:nvSpPr>
        <p:spPr>
          <a:xfrm>
            <a:off x="2194932" y="2992665"/>
            <a:ext cx="7802136" cy="1107996"/>
          </a:xfrm>
          <a:prstGeom prst="rect">
            <a:avLst/>
          </a:prstGeom>
          <a:noFill/>
          <a:ln>
            <a:solidFill>
              <a:schemeClr val="tx1"/>
            </a:solidFill>
          </a:ln>
        </p:spPr>
        <p:txBody>
          <a:bodyPr wrap="none" rtlCol="0">
            <a:spAutoFit/>
          </a:bodyPr>
          <a:lstStyle/>
          <a:p>
            <a:pPr algn="l"/>
            <a:r>
              <a:rPr kumimoji="1" lang="ja-JP" altLang="en-US" sz="6600" dirty="0"/>
              <a:t>以降は己の参考資料</a:t>
            </a:r>
          </a:p>
        </p:txBody>
      </p:sp>
    </p:spTree>
    <p:extLst>
      <p:ext uri="{BB962C8B-B14F-4D97-AF65-F5344CB8AC3E}">
        <p14:creationId xmlns:p14="http://schemas.microsoft.com/office/powerpoint/2010/main" val="33827083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64" name="直線コネクタ 63">
            <a:extLst>
              <a:ext uri="{FF2B5EF4-FFF2-40B4-BE49-F238E27FC236}">
                <a16:creationId xmlns:a16="http://schemas.microsoft.com/office/drawing/2014/main" id="{55836A93-F2D3-4C7E-A378-F1B0B80F6A30}"/>
              </a:ext>
            </a:extLst>
          </p:cNvPr>
          <p:cNvCxnSpPr>
            <a:cxnSpLocks/>
          </p:cNvCxnSpPr>
          <p:nvPr/>
        </p:nvCxnSpPr>
        <p:spPr>
          <a:xfrm>
            <a:off x="8580120" y="3296300"/>
            <a:ext cx="0" cy="5763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0C8E157E-0028-40A7-AF39-6DE24BF545E2}"/>
              </a:ext>
            </a:extLst>
          </p:cNvPr>
          <p:cNvCxnSpPr>
            <a:cxnSpLocks/>
            <a:endCxn id="6" idx="0"/>
          </p:cNvCxnSpPr>
          <p:nvPr/>
        </p:nvCxnSpPr>
        <p:spPr>
          <a:xfrm>
            <a:off x="3296012" y="1202460"/>
            <a:ext cx="0" cy="3836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769DE1A-D440-430D-8EC2-729F905A0CCF}"/>
              </a:ext>
            </a:extLst>
          </p:cNvPr>
          <p:cNvCxnSpPr>
            <a:cxnSpLocks/>
            <a:endCxn id="35" idx="0"/>
          </p:cNvCxnSpPr>
          <p:nvPr/>
        </p:nvCxnSpPr>
        <p:spPr>
          <a:xfrm>
            <a:off x="4524359" y="1139837"/>
            <a:ext cx="0" cy="4462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EBE4D048-A391-4F5F-97B7-2E0E0BADF522}"/>
              </a:ext>
            </a:extLst>
          </p:cNvPr>
          <p:cNvCxnSpPr>
            <a:cxnSpLocks/>
            <a:stCxn id="35" idx="2"/>
          </p:cNvCxnSpPr>
          <p:nvPr/>
        </p:nvCxnSpPr>
        <p:spPr>
          <a:xfrm>
            <a:off x="4524359" y="1955438"/>
            <a:ext cx="0" cy="3778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A372C079-7F5D-403A-A800-FFA28EBFF731}"/>
              </a:ext>
            </a:extLst>
          </p:cNvPr>
          <p:cNvCxnSpPr>
            <a:cxnSpLocks/>
            <a:endCxn id="7" idx="0"/>
          </p:cNvCxnSpPr>
          <p:nvPr/>
        </p:nvCxnSpPr>
        <p:spPr>
          <a:xfrm>
            <a:off x="3306424" y="1719804"/>
            <a:ext cx="0" cy="559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22EC3402-A968-483A-94EA-8101FF99C632}"/>
              </a:ext>
            </a:extLst>
          </p:cNvPr>
          <p:cNvSpPr txBox="1"/>
          <p:nvPr/>
        </p:nvSpPr>
        <p:spPr>
          <a:xfrm>
            <a:off x="2733332" y="3075057"/>
            <a:ext cx="1184941" cy="400110"/>
          </a:xfrm>
          <a:prstGeom prst="rect">
            <a:avLst/>
          </a:prstGeom>
          <a:noFill/>
          <a:ln>
            <a:solidFill>
              <a:schemeClr val="tx1"/>
            </a:solidFill>
          </a:ln>
        </p:spPr>
        <p:txBody>
          <a:bodyPr wrap="square" rtlCol="0">
            <a:spAutoFit/>
          </a:bodyPr>
          <a:lstStyle/>
          <a:p>
            <a:pPr algn="ctr"/>
            <a:r>
              <a:rPr kumimoji="1" lang="en-US" altLang="ja-JP" sz="1000" dirty="0">
                <a:latin typeface="ＭＳ 明朝" panose="02020609040205080304" pitchFamily="17" charset="-128"/>
                <a:ea typeface="ＭＳ 明朝" panose="02020609040205080304" pitchFamily="17" charset="-128"/>
              </a:rPr>
              <a:t>SRX320</a:t>
            </a:r>
          </a:p>
          <a:p>
            <a:pPr algn="ctr"/>
            <a:r>
              <a:rPr lang="en-US" altLang="ja-JP" sz="1000" dirty="0">
                <a:latin typeface="ＭＳ 明朝" panose="02020609040205080304" pitchFamily="17" charset="-128"/>
                <a:ea typeface="ＭＳ 明朝" panose="02020609040205080304" pitchFamily="17" charset="-128"/>
              </a:rPr>
              <a:t>RJTZ-DII-FW01</a:t>
            </a:r>
            <a:endParaRPr kumimoji="1" lang="ja-JP" altLang="en-US" sz="1000" dirty="0">
              <a:latin typeface="ＭＳ 明朝" panose="02020609040205080304" pitchFamily="17" charset="-128"/>
              <a:ea typeface="ＭＳ 明朝" panose="02020609040205080304" pitchFamily="17" charset="-128"/>
            </a:endParaRPr>
          </a:p>
        </p:txBody>
      </p:sp>
      <p:cxnSp>
        <p:nvCxnSpPr>
          <p:cNvPr id="5" name="直線コネクタ 4">
            <a:extLst>
              <a:ext uri="{FF2B5EF4-FFF2-40B4-BE49-F238E27FC236}">
                <a16:creationId xmlns:a16="http://schemas.microsoft.com/office/drawing/2014/main" id="{5C674143-212B-4BD0-90CE-070DBDF70FE3}"/>
              </a:ext>
            </a:extLst>
          </p:cNvPr>
          <p:cNvCxnSpPr>
            <a:cxnSpLocks/>
          </p:cNvCxnSpPr>
          <p:nvPr/>
        </p:nvCxnSpPr>
        <p:spPr>
          <a:xfrm>
            <a:off x="3325802" y="2314385"/>
            <a:ext cx="0" cy="760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159F1329-9440-4C75-9CFD-C74B760CF2C3}"/>
              </a:ext>
            </a:extLst>
          </p:cNvPr>
          <p:cNvSpPr txBox="1"/>
          <p:nvPr/>
        </p:nvSpPr>
        <p:spPr>
          <a:xfrm>
            <a:off x="2773009" y="1586106"/>
            <a:ext cx="1046005" cy="369332"/>
          </a:xfrm>
          <a:prstGeom prst="rect">
            <a:avLst/>
          </a:prstGeom>
          <a:solidFill>
            <a:schemeClr val="bg1"/>
          </a:solidFill>
          <a:ln>
            <a:solidFill>
              <a:schemeClr val="tx1"/>
            </a:solidFill>
          </a:ln>
        </p:spPr>
        <p:txBody>
          <a:bodyPr wrap="square" rtlCol="0">
            <a:spAutoFit/>
          </a:bodyPr>
          <a:lstStyle/>
          <a:p>
            <a:pPr algn="ctr"/>
            <a:r>
              <a:rPr kumimoji="1" lang="ja-JP" altLang="en-US" sz="900" dirty="0">
                <a:latin typeface="ＭＳ 明朝" panose="02020609040205080304" pitchFamily="17" charset="-128"/>
                <a:ea typeface="ＭＳ 明朝" panose="02020609040205080304" pitchFamily="17" charset="-128"/>
              </a:rPr>
              <a:t>ルーター</a:t>
            </a:r>
            <a:endParaRPr kumimoji="1" lang="en-US" altLang="ja-JP" sz="900" dirty="0">
              <a:latin typeface="ＭＳ 明朝" panose="02020609040205080304" pitchFamily="17" charset="-128"/>
              <a:ea typeface="ＭＳ 明朝" panose="02020609040205080304" pitchFamily="17" charset="-128"/>
            </a:endParaRPr>
          </a:p>
          <a:p>
            <a:pPr algn="ctr"/>
            <a:r>
              <a:rPr kumimoji="1" lang="en-US" altLang="ja-JP" sz="900" dirty="0">
                <a:latin typeface="ＭＳ 明朝" panose="02020609040205080304" pitchFamily="17" charset="-128"/>
                <a:ea typeface="ＭＳ 明朝" panose="02020609040205080304" pitchFamily="17" charset="-128"/>
              </a:rPr>
              <a:t>RJTZ-DII-RT01</a:t>
            </a:r>
            <a:endParaRPr kumimoji="1" lang="ja-JP" altLang="en-US" sz="900" dirty="0">
              <a:latin typeface="ＭＳ 明朝" panose="02020609040205080304" pitchFamily="17" charset="-128"/>
              <a:ea typeface="ＭＳ 明朝" panose="02020609040205080304" pitchFamily="17" charset="-128"/>
            </a:endParaRPr>
          </a:p>
        </p:txBody>
      </p:sp>
      <p:sp>
        <p:nvSpPr>
          <p:cNvPr id="7" name="テキスト ボックス 6">
            <a:extLst>
              <a:ext uri="{FF2B5EF4-FFF2-40B4-BE49-F238E27FC236}">
                <a16:creationId xmlns:a16="http://schemas.microsoft.com/office/drawing/2014/main" id="{50C7DA02-6F9D-4549-9FC4-AF5E43F87F0C}"/>
              </a:ext>
            </a:extLst>
          </p:cNvPr>
          <p:cNvSpPr txBox="1"/>
          <p:nvPr/>
        </p:nvSpPr>
        <p:spPr>
          <a:xfrm>
            <a:off x="2798469" y="2279718"/>
            <a:ext cx="1015909" cy="369332"/>
          </a:xfrm>
          <a:prstGeom prst="rect">
            <a:avLst/>
          </a:prstGeom>
          <a:solidFill>
            <a:schemeClr val="bg1"/>
          </a:solidFill>
          <a:ln>
            <a:solidFill>
              <a:schemeClr val="tx1"/>
            </a:solidFill>
          </a:ln>
        </p:spPr>
        <p:txBody>
          <a:bodyPr wrap="square" rtlCol="0">
            <a:spAutoFit/>
          </a:bodyPr>
          <a:lstStyle/>
          <a:p>
            <a:pPr algn="ctr"/>
            <a:r>
              <a:rPr kumimoji="1" lang="en-US" altLang="ja-JP" sz="900" dirty="0">
                <a:latin typeface="ＭＳ 明朝" panose="02020609040205080304" pitchFamily="17" charset="-128"/>
                <a:ea typeface="ＭＳ 明朝" panose="02020609040205080304" pitchFamily="17" charset="-128"/>
              </a:rPr>
              <a:t>L2</a:t>
            </a:r>
            <a:r>
              <a:rPr kumimoji="1" lang="ja-JP" altLang="en-US" sz="900" dirty="0">
                <a:latin typeface="ＭＳ 明朝" panose="02020609040205080304" pitchFamily="17" charset="-128"/>
                <a:ea typeface="ＭＳ 明朝" panose="02020609040205080304" pitchFamily="17" charset="-128"/>
              </a:rPr>
              <a:t>スイッチ</a:t>
            </a:r>
            <a:endParaRPr kumimoji="1" lang="en-US" altLang="ja-JP" sz="900" dirty="0">
              <a:latin typeface="ＭＳ 明朝" panose="02020609040205080304" pitchFamily="17" charset="-128"/>
              <a:ea typeface="ＭＳ 明朝" panose="02020609040205080304" pitchFamily="17" charset="-128"/>
            </a:endParaRPr>
          </a:p>
          <a:p>
            <a:pPr algn="ctr"/>
            <a:r>
              <a:rPr kumimoji="1" lang="en-US" altLang="ja-JP" sz="900" dirty="0">
                <a:latin typeface="ＭＳ 明朝" panose="02020609040205080304" pitchFamily="17" charset="-128"/>
                <a:ea typeface="ＭＳ 明朝" panose="02020609040205080304" pitchFamily="17" charset="-128"/>
              </a:rPr>
              <a:t>RJTZ-DII-L201</a:t>
            </a:r>
            <a:endParaRPr kumimoji="1" lang="ja-JP" altLang="en-US" sz="900" dirty="0">
              <a:latin typeface="ＭＳ 明朝" panose="02020609040205080304" pitchFamily="17" charset="-128"/>
              <a:ea typeface="ＭＳ 明朝" panose="02020609040205080304" pitchFamily="17" charset="-128"/>
            </a:endParaRPr>
          </a:p>
        </p:txBody>
      </p:sp>
      <p:sp>
        <p:nvSpPr>
          <p:cNvPr id="8" name="雲 7">
            <a:extLst>
              <a:ext uri="{FF2B5EF4-FFF2-40B4-BE49-F238E27FC236}">
                <a16:creationId xmlns:a16="http://schemas.microsoft.com/office/drawing/2014/main" id="{B8F62691-1DF9-4143-90A1-BD4C81ABE215}"/>
              </a:ext>
            </a:extLst>
          </p:cNvPr>
          <p:cNvSpPr/>
          <p:nvPr/>
        </p:nvSpPr>
        <p:spPr>
          <a:xfrm>
            <a:off x="2618108" y="781297"/>
            <a:ext cx="2382126"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n-ea"/>
              </a:rPr>
              <a:t>DII</a:t>
            </a:r>
            <a:endParaRPr kumimoji="1" lang="ja-JP" altLang="en-US" sz="1050" dirty="0">
              <a:solidFill>
                <a:schemeClr val="tx1"/>
              </a:solidFill>
              <a:latin typeface="+mn-ea"/>
            </a:endParaRPr>
          </a:p>
        </p:txBody>
      </p:sp>
      <p:cxnSp>
        <p:nvCxnSpPr>
          <p:cNvPr id="9" name="直線コネクタ 8">
            <a:extLst>
              <a:ext uri="{FF2B5EF4-FFF2-40B4-BE49-F238E27FC236}">
                <a16:creationId xmlns:a16="http://schemas.microsoft.com/office/drawing/2014/main" id="{A521FF82-BE1B-4C30-95AA-5C924DD40AD9}"/>
              </a:ext>
            </a:extLst>
          </p:cNvPr>
          <p:cNvCxnSpPr>
            <a:cxnSpLocks/>
          </p:cNvCxnSpPr>
          <p:nvPr/>
        </p:nvCxnSpPr>
        <p:spPr>
          <a:xfrm flipH="1">
            <a:off x="7409509" y="917359"/>
            <a:ext cx="0" cy="21474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2E1D7872-8C3C-42D9-B7F1-0C0C420C6D9A}"/>
              </a:ext>
            </a:extLst>
          </p:cNvPr>
          <p:cNvSpPr txBox="1"/>
          <p:nvPr/>
        </p:nvSpPr>
        <p:spPr>
          <a:xfrm>
            <a:off x="4002241" y="4422368"/>
            <a:ext cx="1574310" cy="400110"/>
          </a:xfrm>
          <a:prstGeom prst="rect">
            <a:avLst/>
          </a:prstGeom>
          <a:solidFill>
            <a:schemeClr val="bg1"/>
          </a:solidFill>
          <a:ln>
            <a:solidFill>
              <a:schemeClr val="tx1"/>
            </a:solidFill>
          </a:ln>
        </p:spPr>
        <p:txBody>
          <a:bodyPr wrap="square" rtlCol="0">
            <a:spAutoFit/>
          </a:bodyPr>
          <a:lstStyle/>
          <a:p>
            <a:pPr algn="ctr"/>
            <a:r>
              <a:rPr kumimoji="1" lang="en-US" altLang="ja-JP" sz="1000" dirty="0">
                <a:latin typeface="ＭＳ 明朝" panose="02020609040205080304" pitchFamily="17" charset="-128"/>
                <a:ea typeface="ＭＳ 明朝" panose="02020609040205080304" pitchFamily="17" charset="-128"/>
              </a:rPr>
              <a:t>L2</a:t>
            </a:r>
            <a:r>
              <a:rPr kumimoji="1" lang="ja-JP" altLang="en-US" sz="1000" dirty="0">
                <a:latin typeface="ＭＳ 明朝" panose="02020609040205080304" pitchFamily="17" charset="-128"/>
                <a:ea typeface="ＭＳ 明朝" panose="02020609040205080304" pitchFamily="17" charset="-128"/>
              </a:rPr>
              <a:t>スイッチ</a:t>
            </a:r>
            <a:endParaRPr kumimoji="1" lang="en-US" altLang="ja-JP" sz="1000" dirty="0">
              <a:latin typeface="ＭＳ 明朝" panose="02020609040205080304" pitchFamily="17" charset="-128"/>
              <a:ea typeface="ＭＳ 明朝" panose="02020609040205080304" pitchFamily="17" charset="-128"/>
            </a:endParaRPr>
          </a:p>
          <a:p>
            <a:pPr algn="ctr"/>
            <a:r>
              <a:rPr kumimoji="1" lang="en-US" altLang="ja-JP" sz="1000" dirty="0">
                <a:latin typeface="ＭＳ 明朝" panose="02020609040205080304" pitchFamily="17" charset="-128"/>
                <a:ea typeface="ＭＳ 明朝" panose="02020609040205080304" pitchFamily="17" charset="-128"/>
              </a:rPr>
              <a:t>RJTZ-MAIN-L201</a:t>
            </a:r>
            <a:endParaRPr kumimoji="1" lang="ja-JP" altLang="en-US" sz="1000" dirty="0">
              <a:latin typeface="ＭＳ 明朝" panose="02020609040205080304" pitchFamily="17" charset="-128"/>
              <a:ea typeface="ＭＳ 明朝" panose="02020609040205080304" pitchFamily="17" charset="-128"/>
            </a:endParaRPr>
          </a:p>
        </p:txBody>
      </p:sp>
      <p:cxnSp>
        <p:nvCxnSpPr>
          <p:cNvPr id="40" name="直線コネクタ 39">
            <a:extLst>
              <a:ext uri="{FF2B5EF4-FFF2-40B4-BE49-F238E27FC236}">
                <a16:creationId xmlns:a16="http://schemas.microsoft.com/office/drawing/2014/main" id="{72591D1C-2D7C-40D8-9584-39B775C73FC0}"/>
              </a:ext>
            </a:extLst>
          </p:cNvPr>
          <p:cNvCxnSpPr>
            <a:cxnSpLocks/>
          </p:cNvCxnSpPr>
          <p:nvPr/>
        </p:nvCxnSpPr>
        <p:spPr>
          <a:xfrm>
            <a:off x="3325802" y="3475167"/>
            <a:ext cx="0" cy="4736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406604F4-77DA-44B7-A13B-A57169F2788E}"/>
              </a:ext>
            </a:extLst>
          </p:cNvPr>
          <p:cNvSpPr txBox="1"/>
          <p:nvPr/>
        </p:nvSpPr>
        <p:spPr>
          <a:xfrm>
            <a:off x="2543931" y="2877530"/>
            <a:ext cx="851515" cy="215444"/>
          </a:xfrm>
          <a:prstGeom prst="rect">
            <a:avLst/>
          </a:prstGeom>
          <a:noFill/>
        </p:spPr>
        <p:txBody>
          <a:bodyPr wrap="none" rtlCol="0">
            <a:spAutoFit/>
          </a:bodyPr>
          <a:lstStyle/>
          <a:p>
            <a:r>
              <a:rPr kumimoji="1" lang="en-US" altLang="ja-JP" sz="800" dirty="0">
                <a:latin typeface="ＭＳ 明朝" panose="02020609040205080304" pitchFamily="17" charset="-128"/>
                <a:ea typeface="ＭＳ 明朝" panose="02020609040205080304" pitchFamily="17" charset="-128"/>
              </a:rPr>
              <a:t>10.101.</a:t>
            </a:r>
            <a:r>
              <a:rPr kumimoji="1" lang="en-US" altLang="ja-JP" sz="800" dirty="0">
                <a:solidFill>
                  <a:srgbClr val="FF0000"/>
                </a:solidFill>
                <a:latin typeface="ＭＳ 明朝" panose="02020609040205080304" pitchFamily="17" charset="-128"/>
                <a:ea typeface="ＭＳ 明朝" panose="02020609040205080304" pitchFamily="17" charset="-128"/>
              </a:rPr>
              <a:t>189</a:t>
            </a:r>
            <a:r>
              <a:rPr kumimoji="1" lang="en-US" altLang="ja-JP" sz="800" dirty="0">
                <a:latin typeface="ＭＳ 明朝" panose="02020609040205080304" pitchFamily="17" charset="-128"/>
                <a:ea typeface="ＭＳ 明朝" panose="02020609040205080304" pitchFamily="17" charset="-128"/>
              </a:rPr>
              <a:t>.30</a:t>
            </a:r>
            <a:endParaRPr kumimoji="1" lang="ja-JP" altLang="en-US" sz="800" dirty="0">
              <a:latin typeface="ＭＳ 明朝" panose="02020609040205080304" pitchFamily="17" charset="-128"/>
              <a:ea typeface="ＭＳ 明朝" panose="02020609040205080304" pitchFamily="17" charset="-128"/>
            </a:endParaRPr>
          </a:p>
        </p:txBody>
      </p:sp>
      <p:sp>
        <p:nvSpPr>
          <p:cNvPr id="21" name="テキスト ボックス 20">
            <a:extLst>
              <a:ext uri="{FF2B5EF4-FFF2-40B4-BE49-F238E27FC236}">
                <a16:creationId xmlns:a16="http://schemas.microsoft.com/office/drawing/2014/main" id="{50E74B75-BCBF-46E6-A906-355CAC7092EC}"/>
              </a:ext>
            </a:extLst>
          </p:cNvPr>
          <p:cNvSpPr txBox="1"/>
          <p:nvPr/>
        </p:nvSpPr>
        <p:spPr>
          <a:xfrm>
            <a:off x="1703760" y="3159696"/>
            <a:ext cx="934871" cy="230832"/>
          </a:xfrm>
          <a:prstGeom prst="rect">
            <a:avLst/>
          </a:prstGeom>
          <a:noFill/>
        </p:spPr>
        <p:txBody>
          <a:bodyPr wrap="none" rtlCol="0">
            <a:spAutoFit/>
          </a:bodyPr>
          <a:lstStyle/>
          <a:p>
            <a:r>
              <a:rPr kumimoji="1" lang="en-US" altLang="ja-JP" sz="900" dirty="0">
                <a:latin typeface="ＭＳ 明朝" panose="02020609040205080304" pitchFamily="17" charset="-128"/>
                <a:ea typeface="ＭＳ 明朝" panose="02020609040205080304" pitchFamily="17" charset="-128"/>
              </a:rPr>
              <a:t>10.101.189.26</a:t>
            </a:r>
            <a:endParaRPr kumimoji="1" lang="ja-JP" altLang="en-US" sz="900" dirty="0">
              <a:latin typeface="ＭＳ 明朝" panose="02020609040205080304" pitchFamily="17" charset="-128"/>
              <a:ea typeface="ＭＳ 明朝" panose="02020609040205080304" pitchFamily="17" charset="-128"/>
            </a:endParaRPr>
          </a:p>
        </p:txBody>
      </p:sp>
      <p:sp>
        <p:nvSpPr>
          <p:cNvPr id="32" name="テキスト ボックス 31">
            <a:extLst>
              <a:ext uri="{FF2B5EF4-FFF2-40B4-BE49-F238E27FC236}">
                <a16:creationId xmlns:a16="http://schemas.microsoft.com/office/drawing/2014/main" id="{22A6437C-6F3D-4884-8821-3009323C1FFD}"/>
              </a:ext>
            </a:extLst>
          </p:cNvPr>
          <p:cNvSpPr txBox="1"/>
          <p:nvPr/>
        </p:nvSpPr>
        <p:spPr>
          <a:xfrm>
            <a:off x="4034115" y="2287862"/>
            <a:ext cx="1015909" cy="369332"/>
          </a:xfrm>
          <a:prstGeom prst="rect">
            <a:avLst/>
          </a:prstGeom>
          <a:solidFill>
            <a:schemeClr val="bg1"/>
          </a:solidFill>
          <a:ln>
            <a:solidFill>
              <a:schemeClr val="tx1"/>
            </a:solidFill>
          </a:ln>
        </p:spPr>
        <p:txBody>
          <a:bodyPr wrap="square" rtlCol="0">
            <a:spAutoFit/>
          </a:bodyPr>
          <a:lstStyle/>
          <a:p>
            <a:pPr algn="ctr"/>
            <a:r>
              <a:rPr kumimoji="1" lang="en-US" altLang="ja-JP" sz="900" dirty="0">
                <a:latin typeface="ＭＳ 明朝" panose="02020609040205080304" pitchFamily="17" charset="-128"/>
                <a:ea typeface="ＭＳ 明朝" panose="02020609040205080304" pitchFamily="17" charset="-128"/>
              </a:rPr>
              <a:t>L2</a:t>
            </a:r>
            <a:r>
              <a:rPr kumimoji="1" lang="ja-JP" altLang="en-US" sz="900" dirty="0">
                <a:latin typeface="ＭＳ 明朝" panose="02020609040205080304" pitchFamily="17" charset="-128"/>
                <a:ea typeface="ＭＳ 明朝" panose="02020609040205080304" pitchFamily="17" charset="-128"/>
              </a:rPr>
              <a:t>スイッチ</a:t>
            </a:r>
            <a:endParaRPr kumimoji="1" lang="en-US" altLang="ja-JP" sz="900" dirty="0">
              <a:latin typeface="ＭＳ 明朝" panose="02020609040205080304" pitchFamily="17" charset="-128"/>
              <a:ea typeface="ＭＳ 明朝" panose="02020609040205080304" pitchFamily="17" charset="-128"/>
            </a:endParaRPr>
          </a:p>
          <a:p>
            <a:pPr algn="ctr"/>
            <a:r>
              <a:rPr lang="en-US" altLang="ja-JP" sz="900" dirty="0">
                <a:latin typeface="ＭＳ 明朝" panose="02020609040205080304" pitchFamily="17" charset="-128"/>
                <a:ea typeface="ＭＳ 明朝" panose="02020609040205080304" pitchFamily="17" charset="-128"/>
              </a:rPr>
              <a:t>RJTZ-DII-L202</a:t>
            </a:r>
            <a:endParaRPr kumimoji="1" lang="ja-JP" altLang="en-US" sz="900" dirty="0">
              <a:latin typeface="ＭＳ 明朝" panose="02020609040205080304" pitchFamily="17" charset="-128"/>
              <a:ea typeface="ＭＳ 明朝" panose="02020609040205080304" pitchFamily="17" charset="-128"/>
            </a:endParaRPr>
          </a:p>
        </p:txBody>
      </p:sp>
      <p:cxnSp>
        <p:nvCxnSpPr>
          <p:cNvPr id="33" name="直線コネクタ 32">
            <a:extLst>
              <a:ext uri="{FF2B5EF4-FFF2-40B4-BE49-F238E27FC236}">
                <a16:creationId xmlns:a16="http://schemas.microsoft.com/office/drawing/2014/main" id="{96590A58-C4B0-48D1-8ECF-844ED88C49E5}"/>
              </a:ext>
            </a:extLst>
          </p:cNvPr>
          <p:cNvCxnSpPr>
            <a:cxnSpLocks/>
            <a:stCxn id="32" idx="2"/>
          </p:cNvCxnSpPr>
          <p:nvPr/>
        </p:nvCxnSpPr>
        <p:spPr>
          <a:xfrm flipH="1">
            <a:off x="4524736" y="2657194"/>
            <a:ext cx="0" cy="5171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12258516-7A23-4CA1-8FC6-72530E2E4339}"/>
              </a:ext>
            </a:extLst>
          </p:cNvPr>
          <p:cNvSpPr txBox="1"/>
          <p:nvPr/>
        </p:nvSpPr>
        <p:spPr>
          <a:xfrm>
            <a:off x="4496404" y="2869843"/>
            <a:ext cx="851515" cy="215444"/>
          </a:xfrm>
          <a:prstGeom prst="rect">
            <a:avLst/>
          </a:prstGeom>
          <a:noFill/>
        </p:spPr>
        <p:txBody>
          <a:bodyPr wrap="none" rtlCol="0">
            <a:spAutoFit/>
          </a:bodyPr>
          <a:lstStyle/>
          <a:p>
            <a:r>
              <a:rPr kumimoji="1" lang="en-US" altLang="ja-JP" sz="800" dirty="0">
                <a:latin typeface="ＭＳ 明朝" panose="02020609040205080304" pitchFamily="17" charset="-128"/>
                <a:ea typeface="ＭＳ 明朝" panose="02020609040205080304" pitchFamily="17" charset="-128"/>
              </a:rPr>
              <a:t>10.101.</a:t>
            </a:r>
            <a:r>
              <a:rPr kumimoji="1" lang="en-US" altLang="ja-JP" sz="800" dirty="0">
                <a:solidFill>
                  <a:srgbClr val="FF0000"/>
                </a:solidFill>
                <a:latin typeface="ＭＳ 明朝" panose="02020609040205080304" pitchFamily="17" charset="-128"/>
                <a:ea typeface="ＭＳ 明朝" panose="02020609040205080304" pitchFamily="17" charset="-128"/>
              </a:rPr>
              <a:t>189</a:t>
            </a:r>
            <a:r>
              <a:rPr kumimoji="1" lang="en-US" altLang="ja-JP" sz="800" dirty="0">
                <a:latin typeface="ＭＳ 明朝" panose="02020609040205080304" pitchFamily="17" charset="-128"/>
                <a:ea typeface="ＭＳ 明朝" panose="02020609040205080304" pitchFamily="17" charset="-128"/>
              </a:rPr>
              <a:t>.29</a:t>
            </a:r>
            <a:endParaRPr kumimoji="1" lang="ja-JP" altLang="en-US" sz="800" dirty="0">
              <a:latin typeface="ＭＳ 明朝" panose="02020609040205080304" pitchFamily="17" charset="-128"/>
              <a:ea typeface="ＭＳ 明朝" panose="02020609040205080304" pitchFamily="17" charset="-128"/>
            </a:endParaRPr>
          </a:p>
        </p:txBody>
      </p:sp>
      <p:sp>
        <p:nvSpPr>
          <p:cNvPr id="35" name="テキスト ボックス 34">
            <a:extLst>
              <a:ext uri="{FF2B5EF4-FFF2-40B4-BE49-F238E27FC236}">
                <a16:creationId xmlns:a16="http://schemas.microsoft.com/office/drawing/2014/main" id="{A2D441DE-2C17-475E-87AB-06DE23A8E8D2}"/>
              </a:ext>
            </a:extLst>
          </p:cNvPr>
          <p:cNvSpPr txBox="1"/>
          <p:nvPr/>
        </p:nvSpPr>
        <p:spPr>
          <a:xfrm>
            <a:off x="3986055" y="1586106"/>
            <a:ext cx="1076607" cy="369332"/>
          </a:xfrm>
          <a:prstGeom prst="rect">
            <a:avLst/>
          </a:prstGeom>
          <a:solidFill>
            <a:schemeClr val="bg1"/>
          </a:solidFill>
          <a:ln>
            <a:solidFill>
              <a:schemeClr val="tx1"/>
            </a:solidFill>
          </a:ln>
        </p:spPr>
        <p:txBody>
          <a:bodyPr wrap="square" rtlCol="0">
            <a:spAutoFit/>
          </a:bodyPr>
          <a:lstStyle/>
          <a:p>
            <a:pPr algn="ctr"/>
            <a:r>
              <a:rPr kumimoji="1" lang="ja-JP" altLang="en-US" sz="900" dirty="0">
                <a:latin typeface="ＭＳ 明朝" panose="02020609040205080304" pitchFamily="17" charset="-128"/>
                <a:ea typeface="ＭＳ 明朝" panose="02020609040205080304" pitchFamily="17" charset="-128"/>
              </a:rPr>
              <a:t>ルーター</a:t>
            </a:r>
            <a:endParaRPr kumimoji="1" lang="en-US" altLang="ja-JP" sz="900" dirty="0">
              <a:latin typeface="ＭＳ 明朝" panose="02020609040205080304" pitchFamily="17" charset="-128"/>
              <a:ea typeface="ＭＳ 明朝" panose="02020609040205080304" pitchFamily="17" charset="-128"/>
            </a:endParaRPr>
          </a:p>
          <a:p>
            <a:pPr algn="ctr"/>
            <a:r>
              <a:rPr kumimoji="1" lang="en-US" altLang="ja-JP" sz="900" dirty="0">
                <a:latin typeface="ＭＳ 明朝" panose="02020609040205080304" pitchFamily="17" charset="-128"/>
                <a:ea typeface="ＭＳ 明朝" panose="02020609040205080304" pitchFamily="17" charset="-128"/>
              </a:rPr>
              <a:t>RJTZ-DII-RT02</a:t>
            </a:r>
            <a:endParaRPr kumimoji="1" lang="ja-JP" altLang="en-US" sz="900" dirty="0">
              <a:latin typeface="ＭＳ 明朝" panose="02020609040205080304" pitchFamily="17" charset="-128"/>
              <a:ea typeface="ＭＳ 明朝" panose="02020609040205080304" pitchFamily="17" charset="-128"/>
            </a:endParaRPr>
          </a:p>
        </p:txBody>
      </p:sp>
      <p:sp>
        <p:nvSpPr>
          <p:cNvPr id="47" name="テキスト ボックス 46">
            <a:extLst>
              <a:ext uri="{FF2B5EF4-FFF2-40B4-BE49-F238E27FC236}">
                <a16:creationId xmlns:a16="http://schemas.microsoft.com/office/drawing/2014/main" id="{5724A309-95C1-4076-96F3-F4B8B3DD6738}"/>
              </a:ext>
            </a:extLst>
          </p:cNvPr>
          <p:cNvSpPr txBox="1"/>
          <p:nvPr/>
        </p:nvSpPr>
        <p:spPr>
          <a:xfrm>
            <a:off x="5842842" y="4423904"/>
            <a:ext cx="1574310" cy="400110"/>
          </a:xfrm>
          <a:prstGeom prst="rect">
            <a:avLst/>
          </a:prstGeom>
          <a:solidFill>
            <a:schemeClr val="bg1"/>
          </a:solidFill>
          <a:ln>
            <a:solidFill>
              <a:schemeClr val="tx1"/>
            </a:solidFill>
          </a:ln>
        </p:spPr>
        <p:txBody>
          <a:bodyPr wrap="square" rtlCol="0">
            <a:spAutoFit/>
          </a:bodyPr>
          <a:lstStyle/>
          <a:p>
            <a:pPr algn="ctr"/>
            <a:r>
              <a:rPr kumimoji="1" lang="en-US" altLang="ja-JP" sz="1000" dirty="0">
                <a:latin typeface="ＭＳ 明朝" panose="02020609040205080304" pitchFamily="17" charset="-128"/>
                <a:ea typeface="ＭＳ 明朝" panose="02020609040205080304" pitchFamily="17" charset="-128"/>
              </a:rPr>
              <a:t>L2</a:t>
            </a:r>
            <a:r>
              <a:rPr kumimoji="1" lang="ja-JP" altLang="en-US" sz="1000" dirty="0">
                <a:latin typeface="ＭＳ 明朝" panose="02020609040205080304" pitchFamily="17" charset="-128"/>
                <a:ea typeface="ＭＳ 明朝" panose="02020609040205080304" pitchFamily="17" charset="-128"/>
              </a:rPr>
              <a:t>スイッチ</a:t>
            </a:r>
            <a:endParaRPr kumimoji="1" lang="en-US" altLang="ja-JP" sz="1000" dirty="0">
              <a:latin typeface="ＭＳ 明朝" panose="02020609040205080304" pitchFamily="17" charset="-128"/>
              <a:ea typeface="ＭＳ 明朝" panose="02020609040205080304" pitchFamily="17" charset="-128"/>
            </a:endParaRPr>
          </a:p>
          <a:p>
            <a:pPr algn="ctr"/>
            <a:r>
              <a:rPr lang="en-US" altLang="ja-JP" sz="1000" dirty="0">
                <a:latin typeface="ＭＳ 明朝" panose="02020609040205080304" pitchFamily="17" charset="-128"/>
                <a:ea typeface="ＭＳ 明朝" panose="02020609040205080304" pitchFamily="17" charset="-128"/>
              </a:rPr>
              <a:t>RJTZ-MAIN-L202</a:t>
            </a:r>
            <a:endParaRPr kumimoji="1" lang="ja-JP" altLang="en-US" sz="1000" dirty="0">
              <a:latin typeface="ＭＳ 明朝" panose="02020609040205080304" pitchFamily="17" charset="-128"/>
              <a:ea typeface="ＭＳ 明朝" panose="02020609040205080304" pitchFamily="17" charset="-128"/>
            </a:endParaRPr>
          </a:p>
        </p:txBody>
      </p:sp>
      <p:cxnSp>
        <p:nvCxnSpPr>
          <p:cNvPr id="49" name="直線コネクタ 48">
            <a:extLst>
              <a:ext uri="{FF2B5EF4-FFF2-40B4-BE49-F238E27FC236}">
                <a16:creationId xmlns:a16="http://schemas.microsoft.com/office/drawing/2014/main" id="{F40502EF-7FEA-4EE5-8B87-601D09BD99BF}"/>
              </a:ext>
            </a:extLst>
          </p:cNvPr>
          <p:cNvCxnSpPr>
            <a:cxnSpLocks/>
          </p:cNvCxnSpPr>
          <p:nvPr/>
        </p:nvCxnSpPr>
        <p:spPr>
          <a:xfrm>
            <a:off x="4678680" y="3948852"/>
            <a:ext cx="0" cy="4736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34B712B3-FF64-4D34-BF49-589099EF9705}"/>
              </a:ext>
            </a:extLst>
          </p:cNvPr>
          <p:cNvCxnSpPr>
            <a:cxnSpLocks/>
          </p:cNvCxnSpPr>
          <p:nvPr/>
        </p:nvCxnSpPr>
        <p:spPr>
          <a:xfrm>
            <a:off x="3325802" y="3948852"/>
            <a:ext cx="13528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D0FD3241-F4D8-4DF4-8859-9965DABEDFF4}"/>
              </a:ext>
            </a:extLst>
          </p:cNvPr>
          <p:cNvCxnSpPr>
            <a:cxnSpLocks/>
          </p:cNvCxnSpPr>
          <p:nvPr/>
        </p:nvCxnSpPr>
        <p:spPr>
          <a:xfrm>
            <a:off x="4872662" y="3475167"/>
            <a:ext cx="0" cy="4736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2A664B36-1133-4DAA-B280-AEC78C5FB0EE}"/>
              </a:ext>
            </a:extLst>
          </p:cNvPr>
          <p:cNvCxnSpPr>
            <a:cxnSpLocks/>
          </p:cNvCxnSpPr>
          <p:nvPr/>
        </p:nvCxnSpPr>
        <p:spPr>
          <a:xfrm>
            <a:off x="4872662" y="3948852"/>
            <a:ext cx="13528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5B4097FD-DE0B-455D-B074-8EB6355BD8A5}"/>
              </a:ext>
            </a:extLst>
          </p:cNvPr>
          <p:cNvCxnSpPr>
            <a:cxnSpLocks/>
          </p:cNvCxnSpPr>
          <p:nvPr/>
        </p:nvCxnSpPr>
        <p:spPr>
          <a:xfrm>
            <a:off x="6225540" y="3948683"/>
            <a:ext cx="0" cy="4736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テキスト ボックス 54">
            <a:extLst>
              <a:ext uri="{FF2B5EF4-FFF2-40B4-BE49-F238E27FC236}">
                <a16:creationId xmlns:a16="http://schemas.microsoft.com/office/drawing/2014/main" id="{1C20AF22-C361-420E-A182-E19E3F35467D}"/>
              </a:ext>
            </a:extLst>
          </p:cNvPr>
          <p:cNvSpPr txBox="1"/>
          <p:nvPr/>
        </p:nvSpPr>
        <p:spPr>
          <a:xfrm>
            <a:off x="6817039" y="3075057"/>
            <a:ext cx="1184941" cy="400110"/>
          </a:xfrm>
          <a:prstGeom prst="rect">
            <a:avLst/>
          </a:prstGeom>
          <a:noFill/>
          <a:ln>
            <a:solidFill>
              <a:schemeClr val="tx1"/>
            </a:solidFill>
          </a:ln>
        </p:spPr>
        <p:txBody>
          <a:bodyPr wrap="square" rtlCol="0">
            <a:spAutoFit/>
          </a:bodyPr>
          <a:lstStyle/>
          <a:p>
            <a:pPr algn="ctr"/>
            <a:r>
              <a:rPr kumimoji="1" lang="en-US" altLang="ja-JP" sz="1000" dirty="0">
                <a:latin typeface="ＭＳ 明朝" panose="02020609040205080304" pitchFamily="17" charset="-128"/>
                <a:ea typeface="ＭＳ 明朝" panose="02020609040205080304" pitchFamily="17" charset="-128"/>
              </a:rPr>
              <a:t>SRX320</a:t>
            </a:r>
          </a:p>
          <a:p>
            <a:pPr algn="ctr"/>
            <a:r>
              <a:rPr lang="en-US" altLang="ja-JP" sz="1000" dirty="0">
                <a:latin typeface="ＭＳ 明朝" panose="02020609040205080304" pitchFamily="17" charset="-128"/>
                <a:ea typeface="ＭＳ 明朝" panose="02020609040205080304" pitchFamily="17" charset="-128"/>
              </a:rPr>
              <a:t>RJTZ-FDMS-FW01</a:t>
            </a:r>
            <a:endParaRPr kumimoji="1" lang="ja-JP" altLang="en-US" sz="1000" dirty="0">
              <a:latin typeface="ＭＳ 明朝" panose="02020609040205080304" pitchFamily="17" charset="-128"/>
              <a:ea typeface="ＭＳ 明朝" panose="02020609040205080304" pitchFamily="17" charset="-128"/>
            </a:endParaRPr>
          </a:p>
        </p:txBody>
      </p:sp>
      <p:sp>
        <p:nvSpPr>
          <p:cNvPr id="56" name="テキスト ボックス 55">
            <a:extLst>
              <a:ext uri="{FF2B5EF4-FFF2-40B4-BE49-F238E27FC236}">
                <a16:creationId xmlns:a16="http://schemas.microsoft.com/office/drawing/2014/main" id="{B293B838-9D64-4A1B-BBFD-4AF1054CC819}"/>
              </a:ext>
            </a:extLst>
          </p:cNvPr>
          <p:cNvSpPr txBox="1"/>
          <p:nvPr/>
        </p:nvSpPr>
        <p:spPr>
          <a:xfrm>
            <a:off x="8001212" y="3075227"/>
            <a:ext cx="1184941" cy="400110"/>
          </a:xfrm>
          <a:prstGeom prst="rect">
            <a:avLst/>
          </a:prstGeom>
          <a:solidFill>
            <a:schemeClr val="bg1"/>
          </a:solidFill>
          <a:ln>
            <a:solidFill>
              <a:schemeClr val="tx1"/>
            </a:solidFill>
          </a:ln>
        </p:spPr>
        <p:txBody>
          <a:bodyPr wrap="square" rtlCol="0">
            <a:spAutoFit/>
          </a:bodyPr>
          <a:lstStyle/>
          <a:p>
            <a:pPr algn="ctr"/>
            <a:r>
              <a:rPr kumimoji="1" lang="en-US" altLang="ja-JP" sz="1000" dirty="0">
                <a:latin typeface="ＭＳ 明朝" panose="02020609040205080304" pitchFamily="17" charset="-128"/>
                <a:ea typeface="ＭＳ 明朝" panose="02020609040205080304" pitchFamily="17" charset="-128"/>
              </a:rPr>
              <a:t>SRX320</a:t>
            </a:r>
          </a:p>
          <a:p>
            <a:pPr algn="ctr"/>
            <a:r>
              <a:rPr lang="en-US" altLang="ja-JP" sz="1000" dirty="0">
                <a:latin typeface="ＭＳ 明朝" panose="02020609040205080304" pitchFamily="17" charset="-128"/>
                <a:ea typeface="ＭＳ 明朝" panose="02020609040205080304" pitchFamily="17" charset="-128"/>
              </a:rPr>
              <a:t>RJTZ-FDMS-FW02</a:t>
            </a:r>
            <a:endParaRPr kumimoji="1" lang="ja-JP" altLang="en-US" sz="1000" dirty="0">
              <a:latin typeface="ＭＳ 明朝" panose="02020609040205080304" pitchFamily="17" charset="-128"/>
              <a:ea typeface="ＭＳ 明朝" panose="02020609040205080304" pitchFamily="17" charset="-128"/>
            </a:endParaRPr>
          </a:p>
        </p:txBody>
      </p:sp>
      <p:cxnSp>
        <p:nvCxnSpPr>
          <p:cNvPr id="57" name="直線コネクタ 56">
            <a:extLst>
              <a:ext uri="{FF2B5EF4-FFF2-40B4-BE49-F238E27FC236}">
                <a16:creationId xmlns:a16="http://schemas.microsoft.com/office/drawing/2014/main" id="{23A747A2-0736-44B2-8B94-167CDD839BF4}"/>
              </a:ext>
            </a:extLst>
          </p:cNvPr>
          <p:cNvCxnSpPr>
            <a:cxnSpLocks/>
          </p:cNvCxnSpPr>
          <p:nvPr/>
        </p:nvCxnSpPr>
        <p:spPr>
          <a:xfrm>
            <a:off x="6847519" y="3948683"/>
            <a:ext cx="0" cy="4736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2F90592E-16CF-470B-879F-7AD5417C5733}"/>
              </a:ext>
            </a:extLst>
          </p:cNvPr>
          <p:cNvCxnSpPr>
            <a:cxnSpLocks/>
          </p:cNvCxnSpPr>
          <p:nvPr/>
        </p:nvCxnSpPr>
        <p:spPr>
          <a:xfrm>
            <a:off x="6847519" y="3948683"/>
            <a:ext cx="5807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053DFDE9-6059-4787-A270-CB60815D1A07}"/>
              </a:ext>
            </a:extLst>
          </p:cNvPr>
          <p:cNvCxnSpPr>
            <a:cxnSpLocks/>
          </p:cNvCxnSpPr>
          <p:nvPr/>
        </p:nvCxnSpPr>
        <p:spPr>
          <a:xfrm>
            <a:off x="7428254" y="3474998"/>
            <a:ext cx="0" cy="4736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32E018B1-ED2F-40A1-A33B-17492C9CCD9F}"/>
              </a:ext>
            </a:extLst>
          </p:cNvPr>
          <p:cNvCxnSpPr>
            <a:cxnSpLocks/>
          </p:cNvCxnSpPr>
          <p:nvPr/>
        </p:nvCxnSpPr>
        <p:spPr>
          <a:xfrm>
            <a:off x="5058030" y="3872652"/>
            <a:ext cx="35220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6F08855D-D347-4FF5-BE41-BFD61F55B8D7}"/>
              </a:ext>
            </a:extLst>
          </p:cNvPr>
          <p:cNvCxnSpPr>
            <a:cxnSpLocks/>
          </p:cNvCxnSpPr>
          <p:nvPr/>
        </p:nvCxnSpPr>
        <p:spPr>
          <a:xfrm>
            <a:off x="5054250" y="3872652"/>
            <a:ext cx="0" cy="5497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C7ABAB75-5832-40DA-88D8-D743371E2C50}"/>
              </a:ext>
            </a:extLst>
          </p:cNvPr>
          <p:cNvSpPr txBox="1"/>
          <p:nvPr/>
        </p:nvSpPr>
        <p:spPr>
          <a:xfrm>
            <a:off x="2491079" y="3461894"/>
            <a:ext cx="902811" cy="215444"/>
          </a:xfrm>
          <a:prstGeom prst="rect">
            <a:avLst/>
          </a:prstGeom>
          <a:noFill/>
        </p:spPr>
        <p:txBody>
          <a:bodyPr wrap="none" rtlCol="0">
            <a:spAutoFit/>
          </a:bodyPr>
          <a:lstStyle/>
          <a:p>
            <a:r>
              <a:rPr kumimoji="1" lang="en-US" altLang="ja-JP" sz="800" dirty="0">
                <a:latin typeface="ＭＳ 明朝" panose="02020609040205080304" pitchFamily="17" charset="-128"/>
                <a:ea typeface="ＭＳ 明朝" panose="02020609040205080304" pitchFamily="17" charset="-128"/>
              </a:rPr>
              <a:t>10.101.190.253</a:t>
            </a:r>
            <a:endParaRPr kumimoji="1" lang="ja-JP" altLang="en-US" sz="800" dirty="0">
              <a:latin typeface="ＭＳ 明朝" panose="02020609040205080304" pitchFamily="17" charset="-128"/>
              <a:ea typeface="ＭＳ 明朝" panose="02020609040205080304" pitchFamily="17" charset="-128"/>
            </a:endParaRPr>
          </a:p>
        </p:txBody>
      </p:sp>
      <p:sp>
        <p:nvSpPr>
          <p:cNvPr id="69" name="テキスト ボックス 68">
            <a:extLst>
              <a:ext uri="{FF2B5EF4-FFF2-40B4-BE49-F238E27FC236}">
                <a16:creationId xmlns:a16="http://schemas.microsoft.com/office/drawing/2014/main" id="{838BC43C-1465-4612-BF69-7523B645C3E2}"/>
              </a:ext>
            </a:extLst>
          </p:cNvPr>
          <p:cNvSpPr txBox="1"/>
          <p:nvPr/>
        </p:nvSpPr>
        <p:spPr>
          <a:xfrm>
            <a:off x="4034115" y="3457250"/>
            <a:ext cx="902811" cy="215444"/>
          </a:xfrm>
          <a:prstGeom prst="rect">
            <a:avLst/>
          </a:prstGeom>
          <a:noFill/>
        </p:spPr>
        <p:txBody>
          <a:bodyPr wrap="none" rtlCol="0">
            <a:spAutoFit/>
          </a:bodyPr>
          <a:lstStyle/>
          <a:p>
            <a:r>
              <a:rPr kumimoji="1" lang="en-US" altLang="ja-JP" sz="800" dirty="0">
                <a:latin typeface="ＭＳ 明朝" panose="02020609040205080304" pitchFamily="17" charset="-128"/>
                <a:ea typeface="ＭＳ 明朝" panose="02020609040205080304" pitchFamily="17" charset="-128"/>
              </a:rPr>
              <a:t>10.101.190.252</a:t>
            </a:r>
            <a:endParaRPr kumimoji="1" lang="ja-JP" altLang="en-US" sz="800" dirty="0">
              <a:latin typeface="ＭＳ 明朝" panose="02020609040205080304" pitchFamily="17" charset="-128"/>
              <a:ea typeface="ＭＳ 明朝" panose="02020609040205080304" pitchFamily="17" charset="-128"/>
            </a:endParaRPr>
          </a:p>
        </p:txBody>
      </p:sp>
      <p:sp>
        <p:nvSpPr>
          <p:cNvPr id="70" name="テキスト ボックス 69">
            <a:extLst>
              <a:ext uri="{FF2B5EF4-FFF2-40B4-BE49-F238E27FC236}">
                <a16:creationId xmlns:a16="http://schemas.microsoft.com/office/drawing/2014/main" id="{95FCC112-706F-4437-8484-CB8188A1FFC8}"/>
              </a:ext>
            </a:extLst>
          </p:cNvPr>
          <p:cNvSpPr txBox="1"/>
          <p:nvPr/>
        </p:nvSpPr>
        <p:spPr>
          <a:xfrm>
            <a:off x="3265432" y="2872808"/>
            <a:ext cx="543739" cy="215444"/>
          </a:xfrm>
          <a:prstGeom prst="rect">
            <a:avLst/>
          </a:prstGeom>
          <a:noFill/>
        </p:spPr>
        <p:txBody>
          <a:bodyPr wrap="none" rtlCol="0">
            <a:spAutoFit/>
          </a:bodyPr>
          <a:lstStyle/>
          <a:p>
            <a:r>
              <a:rPr kumimoji="1" lang="en-US" altLang="ja-JP" sz="800" dirty="0">
                <a:latin typeface="ＭＳ 明朝" panose="02020609040205080304" pitchFamily="17" charset="-128"/>
                <a:ea typeface="ＭＳ 明朝" panose="02020609040205080304" pitchFamily="17" charset="-128"/>
              </a:rPr>
              <a:t>ge0/0/4</a:t>
            </a:r>
            <a:endParaRPr kumimoji="1" lang="ja-JP" altLang="en-US" sz="800" dirty="0">
              <a:latin typeface="ＭＳ 明朝" panose="02020609040205080304" pitchFamily="17" charset="-128"/>
              <a:ea typeface="ＭＳ 明朝" panose="02020609040205080304" pitchFamily="17" charset="-128"/>
            </a:endParaRPr>
          </a:p>
        </p:txBody>
      </p:sp>
      <p:sp>
        <p:nvSpPr>
          <p:cNvPr id="71" name="テキスト ボックス 70">
            <a:extLst>
              <a:ext uri="{FF2B5EF4-FFF2-40B4-BE49-F238E27FC236}">
                <a16:creationId xmlns:a16="http://schemas.microsoft.com/office/drawing/2014/main" id="{7BDF06BE-CDFE-4B9F-9702-B5F606EFEBF8}"/>
              </a:ext>
            </a:extLst>
          </p:cNvPr>
          <p:cNvSpPr txBox="1"/>
          <p:nvPr/>
        </p:nvSpPr>
        <p:spPr>
          <a:xfrm>
            <a:off x="3275275" y="3446800"/>
            <a:ext cx="543739" cy="215444"/>
          </a:xfrm>
          <a:prstGeom prst="rect">
            <a:avLst/>
          </a:prstGeom>
          <a:noFill/>
        </p:spPr>
        <p:txBody>
          <a:bodyPr wrap="none" rtlCol="0">
            <a:spAutoFit/>
          </a:bodyPr>
          <a:lstStyle/>
          <a:p>
            <a:r>
              <a:rPr kumimoji="1" lang="en-US" altLang="ja-JP" sz="800" dirty="0">
                <a:latin typeface="ＭＳ 明朝" panose="02020609040205080304" pitchFamily="17" charset="-128"/>
                <a:ea typeface="ＭＳ 明朝" panose="02020609040205080304" pitchFamily="17" charset="-128"/>
              </a:rPr>
              <a:t>ge0/0/2</a:t>
            </a:r>
            <a:endParaRPr kumimoji="1" lang="ja-JP" altLang="en-US" sz="800" dirty="0">
              <a:latin typeface="ＭＳ 明朝" panose="02020609040205080304" pitchFamily="17" charset="-128"/>
              <a:ea typeface="ＭＳ 明朝" panose="02020609040205080304" pitchFamily="17" charset="-128"/>
            </a:endParaRPr>
          </a:p>
        </p:txBody>
      </p:sp>
      <p:sp>
        <p:nvSpPr>
          <p:cNvPr id="72" name="テキスト ボックス 71">
            <a:extLst>
              <a:ext uri="{FF2B5EF4-FFF2-40B4-BE49-F238E27FC236}">
                <a16:creationId xmlns:a16="http://schemas.microsoft.com/office/drawing/2014/main" id="{7A13E1EF-34D8-4AAA-A80B-A9A1AAEBA92A}"/>
              </a:ext>
            </a:extLst>
          </p:cNvPr>
          <p:cNvSpPr txBox="1"/>
          <p:nvPr/>
        </p:nvSpPr>
        <p:spPr>
          <a:xfrm>
            <a:off x="6571566" y="3439034"/>
            <a:ext cx="902811" cy="215444"/>
          </a:xfrm>
          <a:prstGeom prst="rect">
            <a:avLst/>
          </a:prstGeom>
          <a:noFill/>
        </p:spPr>
        <p:txBody>
          <a:bodyPr wrap="none" rtlCol="0">
            <a:spAutoFit/>
          </a:bodyPr>
          <a:lstStyle/>
          <a:p>
            <a:r>
              <a:rPr kumimoji="1" lang="en-US" altLang="ja-JP" sz="800" dirty="0">
                <a:latin typeface="ＭＳ 明朝" panose="02020609040205080304" pitchFamily="17" charset="-128"/>
                <a:ea typeface="ＭＳ 明朝" panose="02020609040205080304" pitchFamily="17" charset="-128"/>
              </a:rPr>
              <a:t>10.101.190.250</a:t>
            </a:r>
            <a:endParaRPr kumimoji="1" lang="ja-JP" altLang="en-US" sz="800" dirty="0">
              <a:latin typeface="ＭＳ 明朝" panose="02020609040205080304" pitchFamily="17" charset="-128"/>
              <a:ea typeface="ＭＳ 明朝" panose="02020609040205080304" pitchFamily="17" charset="-128"/>
            </a:endParaRPr>
          </a:p>
        </p:txBody>
      </p:sp>
      <p:sp>
        <p:nvSpPr>
          <p:cNvPr id="73" name="テキスト ボックス 72">
            <a:extLst>
              <a:ext uri="{FF2B5EF4-FFF2-40B4-BE49-F238E27FC236}">
                <a16:creationId xmlns:a16="http://schemas.microsoft.com/office/drawing/2014/main" id="{93656329-10BB-45B3-AB2C-7290E9C0860E}"/>
              </a:ext>
            </a:extLst>
          </p:cNvPr>
          <p:cNvSpPr txBox="1"/>
          <p:nvPr/>
        </p:nvSpPr>
        <p:spPr>
          <a:xfrm>
            <a:off x="8507285" y="3457250"/>
            <a:ext cx="902811" cy="215444"/>
          </a:xfrm>
          <a:prstGeom prst="rect">
            <a:avLst/>
          </a:prstGeom>
          <a:noFill/>
        </p:spPr>
        <p:txBody>
          <a:bodyPr wrap="none" rtlCol="0">
            <a:spAutoFit/>
          </a:bodyPr>
          <a:lstStyle/>
          <a:p>
            <a:r>
              <a:rPr kumimoji="1" lang="en-US" altLang="ja-JP" sz="800" dirty="0">
                <a:latin typeface="ＭＳ 明朝" panose="02020609040205080304" pitchFamily="17" charset="-128"/>
                <a:ea typeface="ＭＳ 明朝" panose="02020609040205080304" pitchFamily="17" charset="-128"/>
              </a:rPr>
              <a:t>10.101.190.249</a:t>
            </a:r>
            <a:endParaRPr kumimoji="1" lang="ja-JP" altLang="en-US" sz="800" dirty="0">
              <a:latin typeface="ＭＳ 明朝" panose="02020609040205080304" pitchFamily="17" charset="-128"/>
              <a:ea typeface="ＭＳ 明朝" panose="02020609040205080304" pitchFamily="17" charset="-128"/>
            </a:endParaRPr>
          </a:p>
        </p:txBody>
      </p:sp>
      <p:sp>
        <p:nvSpPr>
          <p:cNvPr id="74" name="テキスト ボックス 73">
            <a:extLst>
              <a:ext uri="{FF2B5EF4-FFF2-40B4-BE49-F238E27FC236}">
                <a16:creationId xmlns:a16="http://schemas.microsoft.com/office/drawing/2014/main" id="{96571314-8CC6-46B4-98C7-29E2614630CD}"/>
              </a:ext>
            </a:extLst>
          </p:cNvPr>
          <p:cNvSpPr txBox="1"/>
          <p:nvPr/>
        </p:nvSpPr>
        <p:spPr>
          <a:xfrm>
            <a:off x="6897441" y="2276989"/>
            <a:ext cx="1015909" cy="369332"/>
          </a:xfrm>
          <a:prstGeom prst="rect">
            <a:avLst/>
          </a:prstGeom>
          <a:solidFill>
            <a:schemeClr val="bg1"/>
          </a:solidFill>
          <a:ln>
            <a:solidFill>
              <a:schemeClr val="tx1"/>
            </a:solidFill>
          </a:ln>
        </p:spPr>
        <p:txBody>
          <a:bodyPr wrap="square" rtlCol="0">
            <a:spAutoFit/>
          </a:bodyPr>
          <a:lstStyle/>
          <a:p>
            <a:pPr algn="ctr"/>
            <a:r>
              <a:rPr kumimoji="1" lang="en-US" altLang="ja-JP" sz="900" dirty="0">
                <a:latin typeface="ＭＳ 明朝" panose="02020609040205080304" pitchFamily="17" charset="-128"/>
                <a:ea typeface="ＭＳ 明朝" panose="02020609040205080304" pitchFamily="17" charset="-128"/>
              </a:rPr>
              <a:t>L2</a:t>
            </a:r>
            <a:r>
              <a:rPr kumimoji="1" lang="ja-JP" altLang="en-US" sz="900" dirty="0">
                <a:latin typeface="ＭＳ 明朝" panose="02020609040205080304" pitchFamily="17" charset="-128"/>
                <a:ea typeface="ＭＳ 明朝" panose="02020609040205080304" pitchFamily="17" charset="-128"/>
              </a:rPr>
              <a:t>スイッチ</a:t>
            </a:r>
            <a:endParaRPr kumimoji="1" lang="en-US" altLang="ja-JP" sz="900" dirty="0">
              <a:latin typeface="ＭＳ 明朝" panose="02020609040205080304" pitchFamily="17" charset="-128"/>
              <a:ea typeface="ＭＳ 明朝" panose="02020609040205080304" pitchFamily="17" charset="-128"/>
            </a:endParaRPr>
          </a:p>
          <a:p>
            <a:pPr algn="ctr"/>
            <a:r>
              <a:rPr lang="en-US" altLang="ja-JP" sz="900" dirty="0">
                <a:latin typeface="ＭＳ 明朝" panose="02020609040205080304" pitchFamily="17" charset="-128"/>
                <a:ea typeface="ＭＳ 明朝" panose="02020609040205080304" pitchFamily="17" charset="-128"/>
              </a:rPr>
              <a:t>RJTZ-FDMS-L201</a:t>
            </a:r>
            <a:endParaRPr kumimoji="1" lang="ja-JP" altLang="en-US" sz="900" dirty="0">
              <a:latin typeface="ＭＳ 明朝" panose="02020609040205080304" pitchFamily="17" charset="-128"/>
              <a:ea typeface="ＭＳ 明朝" panose="02020609040205080304" pitchFamily="17" charset="-128"/>
            </a:endParaRPr>
          </a:p>
        </p:txBody>
      </p:sp>
      <p:sp>
        <p:nvSpPr>
          <p:cNvPr id="75" name="テキスト ボックス 74">
            <a:extLst>
              <a:ext uri="{FF2B5EF4-FFF2-40B4-BE49-F238E27FC236}">
                <a16:creationId xmlns:a16="http://schemas.microsoft.com/office/drawing/2014/main" id="{22061914-2D9D-47C5-9503-AE5ADA578972}"/>
              </a:ext>
            </a:extLst>
          </p:cNvPr>
          <p:cNvSpPr txBox="1"/>
          <p:nvPr/>
        </p:nvSpPr>
        <p:spPr>
          <a:xfrm>
            <a:off x="6905667" y="1562179"/>
            <a:ext cx="1007683" cy="369332"/>
          </a:xfrm>
          <a:prstGeom prst="rect">
            <a:avLst/>
          </a:prstGeom>
          <a:solidFill>
            <a:schemeClr val="bg1"/>
          </a:solidFill>
          <a:ln>
            <a:solidFill>
              <a:schemeClr val="tx1"/>
            </a:solidFill>
          </a:ln>
        </p:spPr>
        <p:txBody>
          <a:bodyPr wrap="square" rtlCol="0">
            <a:spAutoFit/>
          </a:bodyPr>
          <a:lstStyle/>
          <a:p>
            <a:pPr algn="ctr"/>
            <a:r>
              <a:rPr kumimoji="1" lang="ja-JP" altLang="en-US" sz="900" dirty="0">
                <a:latin typeface="ＭＳ 明朝" panose="02020609040205080304" pitchFamily="17" charset="-128"/>
                <a:ea typeface="ＭＳ 明朝" panose="02020609040205080304" pitchFamily="17" charset="-128"/>
              </a:rPr>
              <a:t>ルーター</a:t>
            </a:r>
            <a:endParaRPr kumimoji="1" lang="en-US" altLang="ja-JP" sz="900" dirty="0">
              <a:latin typeface="ＭＳ 明朝" panose="02020609040205080304" pitchFamily="17" charset="-128"/>
              <a:ea typeface="ＭＳ 明朝" panose="02020609040205080304" pitchFamily="17" charset="-128"/>
            </a:endParaRPr>
          </a:p>
          <a:p>
            <a:pPr algn="ctr"/>
            <a:r>
              <a:rPr lang="en-US" altLang="ja-JP" sz="900" dirty="0">
                <a:latin typeface="ＭＳ 明朝" panose="02020609040205080304" pitchFamily="17" charset="-128"/>
                <a:ea typeface="ＭＳ 明朝" panose="02020609040205080304" pitchFamily="17" charset="-128"/>
              </a:rPr>
              <a:t>RJTZ-FDMS-R21</a:t>
            </a:r>
            <a:endParaRPr kumimoji="1" lang="ja-JP" altLang="en-US" sz="900" dirty="0">
              <a:latin typeface="ＭＳ 明朝" panose="02020609040205080304" pitchFamily="17" charset="-128"/>
              <a:ea typeface="ＭＳ 明朝" panose="02020609040205080304" pitchFamily="17" charset="-128"/>
            </a:endParaRPr>
          </a:p>
        </p:txBody>
      </p:sp>
      <p:cxnSp>
        <p:nvCxnSpPr>
          <p:cNvPr id="76" name="直線コネクタ 75">
            <a:extLst>
              <a:ext uri="{FF2B5EF4-FFF2-40B4-BE49-F238E27FC236}">
                <a16:creationId xmlns:a16="http://schemas.microsoft.com/office/drawing/2014/main" id="{1D00C9CE-97E5-4559-9A08-A13E0B547B1C}"/>
              </a:ext>
            </a:extLst>
          </p:cNvPr>
          <p:cNvCxnSpPr>
            <a:cxnSpLocks/>
          </p:cNvCxnSpPr>
          <p:nvPr/>
        </p:nvCxnSpPr>
        <p:spPr>
          <a:xfrm flipH="1">
            <a:off x="8584233" y="930741"/>
            <a:ext cx="0" cy="21474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テキスト ボックス 76">
            <a:extLst>
              <a:ext uri="{FF2B5EF4-FFF2-40B4-BE49-F238E27FC236}">
                <a16:creationId xmlns:a16="http://schemas.microsoft.com/office/drawing/2014/main" id="{ACAC0826-8B6D-43BC-900B-17503C1C8079}"/>
              </a:ext>
            </a:extLst>
          </p:cNvPr>
          <p:cNvSpPr txBox="1"/>
          <p:nvPr/>
        </p:nvSpPr>
        <p:spPr>
          <a:xfrm>
            <a:off x="8072165" y="2259126"/>
            <a:ext cx="1015909" cy="369332"/>
          </a:xfrm>
          <a:prstGeom prst="rect">
            <a:avLst/>
          </a:prstGeom>
          <a:solidFill>
            <a:schemeClr val="bg1"/>
          </a:solidFill>
          <a:ln>
            <a:solidFill>
              <a:schemeClr val="tx1"/>
            </a:solidFill>
          </a:ln>
        </p:spPr>
        <p:txBody>
          <a:bodyPr wrap="square" rtlCol="0">
            <a:spAutoFit/>
          </a:bodyPr>
          <a:lstStyle/>
          <a:p>
            <a:pPr algn="ctr"/>
            <a:r>
              <a:rPr kumimoji="1" lang="en-US" altLang="ja-JP" sz="900" dirty="0">
                <a:latin typeface="ＭＳ 明朝" panose="02020609040205080304" pitchFamily="17" charset="-128"/>
                <a:ea typeface="ＭＳ 明朝" panose="02020609040205080304" pitchFamily="17" charset="-128"/>
              </a:rPr>
              <a:t>L2</a:t>
            </a:r>
            <a:r>
              <a:rPr kumimoji="1" lang="ja-JP" altLang="en-US" sz="900" dirty="0">
                <a:latin typeface="ＭＳ 明朝" panose="02020609040205080304" pitchFamily="17" charset="-128"/>
                <a:ea typeface="ＭＳ 明朝" panose="02020609040205080304" pitchFamily="17" charset="-128"/>
              </a:rPr>
              <a:t>スイッチ</a:t>
            </a:r>
            <a:endParaRPr kumimoji="1" lang="en-US" altLang="ja-JP" sz="900" dirty="0">
              <a:latin typeface="ＭＳ 明朝" panose="02020609040205080304" pitchFamily="17" charset="-128"/>
              <a:ea typeface="ＭＳ 明朝" panose="02020609040205080304" pitchFamily="17" charset="-128"/>
            </a:endParaRPr>
          </a:p>
          <a:p>
            <a:pPr algn="ctr"/>
            <a:r>
              <a:rPr lang="en-US" altLang="ja-JP" sz="900" dirty="0">
                <a:latin typeface="ＭＳ 明朝" panose="02020609040205080304" pitchFamily="17" charset="-128"/>
                <a:ea typeface="ＭＳ 明朝" panose="02020609040205080304" pitchFamily="17" charset="-128"/>
              </a:rPr>
              <a:t>RJTZ-FDMS-L202</a:t>
            </a:r>
            <a:endParaRPr kumimoji="1" lang="ja-JP" altLang="en-US" sz="900" dirty="0">
              <a:latin typeface="ＭＳ 明朝" panose="02020609040205080304" pitchFamily="17" charset="-128"/>
              <a:ea typeface="ＭＳ 明朝" panose="02020609040205080304" pitchFamily="17" charset="-128"/>
            </a:endParaRPr>
          </a:p>
        </p:txBody>
      </p:sp>
      <p:sp>
        <p:nvSpPr>
          <p:cNvPr id="78" name="テキスト ボックス 77">
            <a:extLst>
              <a:ext uri="{FF2B5EF4-FFF2-40B4-BE49-F238E27FC236}">
                <a16:creationId xmlns:a16="http://schemas.microsoft.com/office/drawing/2014/main" id="{64150EA2-146C-451A-BEE8-2BB7FB9B8482}"/>
              </a:ext>
            </a:extLst>
          </p:cNvPr>
          <p:cNvSpPr txBox="1"/>
          <p:nvPr/>
        </p:nvSpPr>
        <p:spPr>
          <a:xfrm>
            <a:off x="8072165" y="1568939"/>
            <a:ext cx="1007683" cy="369332"/>
          </a:xfrm>
          <a:prstGeom prst="rect">
            <a:avLst/>
          </a:prstGeom>
          <a:solidFill>
            <a:schemeClr val="bg1"/>
          </a:solidFill>
          <a:ln>
            <a:solidFill>
              <a:schemeClr val="tx1"/>
            </a:solidFill>
          </a:ln>
        </p:spPr>
        <p:txBody>
          <a:bodyPr wrap="square" rtlCol="0">
            <a:spAutoFit/>
          </a:bodyPr>
          <a:lstStyle/>
          <a:p>
            <a:pPr algn="ctr"/>
            <a:r>
              <a:rPr kumimoji="1" lang="ja-JP" altLang="en-US" sz="900" dirty="0">
                <a:latin typeface="ＭＳ 明朝" panose="02020609040205080304" pitchFamily="17" charset="-128"/>
                <a:ea typeface="ＭＳ 明朝" panose="02020609040205080304" pitchFamily="17" charset="-128"/>
              </a:rPr>
              <a:t>ルーター</a:t>
            </a:r>
            <a:endParaRPr kumimoji="1" lang="en-US" altLang="ja-JP" sz="900" dirty="0">
              <a:latin typeface="ＭＳ 明朝" panose="02020609040205080304" pitchFamily="17" charset="-128"/>
              <a:ea typeface="ＭＳ 明朝" panose="02020609040205080304" pitchFamily="17" charset="-128"/>
            </a:endParaRPr>
          </a:p>
          <a:p>
            <a:pPr algn="ctr"/>
            <a:r>
              <a:rPr lang="en-US" altLang="ja-JP" sz="900" dirty="0">
                <a:latin typeface="ＭＳ 明朝" panose="02020609040205080304" pitchFamily="17" charset="-128"/>
                <a:ea typeface="ＭＳ 明朝" panose="02020609040205080304" pitchFamily="17" charset="-128"/>
              </a:rPr>
              <a:t>RJTZ-FDMS-R31</a:t>
            </a:r>
            <a:endParaRPr kumimoji="1" lang="ja-JP" altLang="en-US" sz="900" dirty="0">
              <a:latin typeface="ＭＳ 明朝" panose="02020609040205080304" pitchFamily="17" charset="-128"/>
              <a:ea typeface="ＭＳ 明朝" panose="02020609040205080304" pitchFamily="17" charset="-128"/>
            </a:endParaRPr>
          </a:p>
        </p:txBody>
      </p:sp>
      <p:sp>
        <p:nvSpPr>
          <p:cNvPr id="12" name="雲 11">
            <a:extLst>
              <a:ext uri="{FF2B5EF4-FFF2-40B4-BE49-F238E27FC236}">
                <a16:creationId xmlns:a16="http://schemas.microsoft.com/office/drawing/2014/main" id="{D6FDAA45-C485-4F35-A466-CCE93EB82E27}"/>
              </a:ext>
            </a:extLst>
          </p:cNvPr>
          <p:cNvSpPr/>
          <p:nvPr/>
        </p:nvSpPr>
        <p:spPr>
          <a:xfrm>
            <a:off x="7125331" y="763685"/>
            <a:ext cx="1753299" cy="461394"/>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n-ea"/>
              </a:rPr>
              <a:t>FACE</a:t>
            </a:r>
            <a:r>
              <a:rPr kumimoji="1" lang="ja-JP" altLang="en-US" sz="900" dirty="0">
                <a:solidFill>
                  <a:schemeClr val="tx1"/>
                </a:solidFill>
                <a:latin typeface="+mn-ea"/>
              </a:rPr>
              <a:t>サブシステム</a:t>
            </a:r>
          </a:p>
        </p:txBody>
      </p:sp>
      <p:sp>
        <p:nvSpPr>
          <p:cNvPr id="79" name="テキスト ボックス 78">
            <a:extLst>
              <a:ext uri="{FF2B5EF4-FFF2-40B4-BE49-F238E27FC236}">
                <a16:creationId xmlns:a16="http://schemas.microsoft.com/office/drawing/2014/main" id="{447ACBBD-9D52-4B7F-8BBD-51D08D578784}"/>
              </a:ext>
            </a:extLst>
          </p:cNvPr>
          <p:cNvSpPr txBox="1"/>
          <p:nvPr/>
        </p:nvSpPr>
        <p:spPr>
          <a:xfrm>
            <a:off x="3059608" y="4499312"/>
            <a:ext cx="902811" cy="215444"/>
          </a:xfrm>
          <a:prstGeom prst="rect">
            <a:avLst/>
          </a:prstGeom>
          <a:noFill/>
        </p:spPr>
        <p:txBody>
          <a:bodyPr wrap="none" rtlCol="0">
            <a:spAutoFit/>
          </a:bodyPr>
          <a:lstStyle/>
          <a:p>
            <a:r>
              <a:rPr kumimoji="1" lang="en-US" altLang="ja-JP" sz="800" dirty="0">
                <a:latin typeface="ＭＳ 明朝" panose="02020609040205080304" pitchFamily="17" charset="-128"/>
                <a:ea typeface="ＭＳ 明朝" panose="02020609040205080304" pitchFamily="17" charset="-128"/>
              </a:rPr>
              <a:t>10.101.190.248</a:t>
            </a:r>
            <a:endParaRPr kumimoji="1" lang="ja-JP" altLang="en-US" sz="800" dirty="0">
              <a:latin typeface="ＭＳ 明朝" panose="02020609040205080304" pitchFamily="17" charset="-128"/>
              <a:ea typeface="ＭＳ 明朝" panose="02020609040205080304" pitchFamily="17" charset="-128"/>
            </a:endParaRPr>
          </a:p>
        </p:txBody>
      </p:sp>
      <p:sp>
        <p:nvSpPr>
          <p:cNvPr id="80" name="テキスト ボックス 79">
            <a:extLst>
              <a:ext uri="{FF2B5EF4-FFF2-40B4-BE49-F238E27FC236}">
                <a16:creationId xmlns:a16="http://schemas.microsoft.com/office/drawing/2014/main" id="{C4CF27E4-9939-4736-938B-C1795018FCAD}"/>
              </a:ext>
            </a:extLst>
          </p:cNvPr>
          <p:cNvSpPr txBox="1"/>
          <p:nvPr/>
        </p:nvSpPr>
        <p:spPr>
          <a:xfrm>
            <a:off x="7405395" y="4514701"/>
            <a:ext cx="902811" cy="215444"/>
          </a:xfrm>
          <a:prstGeom prst="rect">
            <a:avLst/>
          </a:prstGeom>
          <a:noFill/>
        </p:spPr>
        <p:txBody>
          <a:bodyPr wrap="none" rtlCol="0">
            <a:spAutoFit/>
          </a:bodyPr>
          <a:lstStyle/>
          <a:p>
            <a:r>
              <a:rPr kumimoji="1" lang="en-US" altLang="ja-JP" sz="800" dirty="0">
                <a:latin typeface="ＭＳ 明朝" panose="02020609040205080304" pitchFamily="17" charset="-128"/>
                <a:ea typeface="ＭＳ 明朝" panose="02020609040205080304" pitchFamily="17" charset="-128"/>
              </a:rPr>
              <a:t>10.101.190.247</a:t>
            </a:r>
            <a:endParaRPr kumimoji="1" lang="ja-JP" altLang="en-US" sz="800" dirty="0">
              <a:latin typeface="ＭＳ 明朝" panose="02020609040205080304" pitchFamily="17" charset="-128"/>
              <a:ea typeface="ＭＳ 明朝" panose="02020609040205080304" pitchFamily="17" charset="-128"/>
            </a:endParaRPr>
          </a:p>
        </p:txBody>
      </p:sp>
      <p:sp>
        <p:nvSpPr>
          <p:cNvPr id="83" name="テキスト ボックス 82">
            <a:extLst>
              <a:ext uri="{FF2B5EF4-FFF2-40B4-BE49-F238E27FC236}">
                <a16:creationId xmlns:a16="http://schemas.microsoft.com/office/drawing/2014/main" id="{38319F39-CE5A-4622-9813-D05341E78EA0}"/>
              </a:ext>
            </a:extLst>
          </p:cNvPr>
          <p:cNvSpPr txBox="1"/>
          <p:nvPr/>
        </p:nvSpPr>
        <p:spPr>
          <a:xfrm>
            <a:off x="1793741" y="2353805"/>
            <a:ext cx="1018227" cy="246221"/>
          </a:xfrm>
          <a:prstGeom prst="rect">
            <a:avLst/>
          </a:prstGeom>
          <a:noFill/>
        </p:spPr>
        <p:txBody>
          <a:bodyPr wrap="none" rtlCol="0">
            <a:spAutoFit/>
          </a:bodyPr>
          <a:lstStyle/>
          <a:p>
            <a:r>
              <a:rPr kumimoji="1" lang="en-US" altLang="ja-JP" sz="1000" dirty="0">
                <a:latin typeface="ＭＳ 明朝" panose="02020609040205080304" pitchFamily="17" charset="-128"/>
                <a:ea typeface="ＭＳ 明朝" panose="02020609040205080304" pitchFamily="17" charset="-128"/>
              </a:rPr>
              <a:t>10.101.189.25</a:t>
            </a:r>
            <a:endParaRPr kumimoji="1" lang="ja-JP" altLang="en-US" sz="1000" dirty="0">
              <a:latin typeface="ＭＳ 明朝" panose="02020609040205080304" pitchFamily="17" charset="-128"/>
              <a:ea typeface="ＭＳ 明朝" panose="02020609040205080304" pitchFamily="17" charset="-128"/>
            </a:endParaRPr>
          </a:p>
        </p:txBody>
      </p:sp>
      <p:sp>
        <p:nvSpPr>
          <p:cNvPr id="85" name="テキスト ボックス 84">
            <a:extLst>
              <a:ext uri="{FF2B5EF4-FFF2-40B4-BE49-F238E27FC236}">
                <a16:creationId xmlns:a16="http://schemas.microsoft.com/office/drawing/2014/main" id="{E1E8874F-2265-4A2F-B78B-002A742E0870}"/>
              </a:ext>
            </a:extLst>
          </p:cNvPr>
          <p:cNvSpPr txBox="1"/>
          <p:nvPr/>
        </p:nvSpPr>
        <p:spPr>
          <a:xfrm>
            <a:off x="5015048" y="2354509"/>
            <a:ext cx="1018227" cy="246221"/>
          </a:xfrm>
          <a:prstGeom prst="rect">
            <a:avLst/>
          </a:prstGeom>
          <a:noFill/>
        </p:spPr>
        <p:txBody>
          <a:bodyPr wrap="none" rtlCol="0">
            <a:spAutoFit/>
          </a:bodyPr>
          <a:lstStyle/>
          <a:p>
            <a:r>
              <a:rPr kumimoji="1" lang="en-US" altLang="ja-JP" sz="1000" dirty="0">
                <a:latin typeface="ＭＳ 明朝" panose="02020609040205080304" pitchFamily="17" charset="-128"/>
                <a:ea typeface="ＭＳ 明朝" panose="02020609040205080304" pitchFamily="17" charset="-128"/>
              </a:rPr>
              <a:t>10.101.189.24</a:t>
            </a:r>
            <a:endParaRPr kumimoji="1" lang="ja-JP" altLang="en-US" sz="1000" dirty="0">
              <a:latin typeface="ＭＳ 明朝" panose="02020609040205080304" pitchFamily="17" charset="-128"/>
              <a:ea typeface="ＭＳ 明朝" panose="02020609040205080304" pitchFamily="17" charset="-128"/>
            </a:endParaRPr>
          </a:p>
        </p:txBody>
      </p:sp>
      <p:sp>
        <p:nvSpPr>
          <p:cNvPr id="87" name="テキスト ボックス 86">
            <a:extLst>
              <a:ext uri="{FF2B5EF4-FFF2-40B4-BE49-F238E27FC236}">
                <a16:creationId xmlns:a16="http://schemas.microsoft.com/office/drawing/2014/main" id="{536A6546-12E1-4362-A48B-CF9B830D3DD6}"/>
              </a:ext>
            </a:extLst>
          </p:cNvPr>
          <p:cNvSpPr txBox="1"/>
          <p:nvPr/>
        </p:nvSpPr>
        <p:spPr>
          <a:xfrm>
            <a:off x="4472963" y="1923963"/>
            <a:ext cx="902811" cy="200055"/>
          </a:xfrm>
          <a:prstGeom prst="rect">
            <a:avLst/>
          </a:prstGeom>
          <a:noFill/>
        </p:spPr>
        <p:txBody>
          <a:bodyPr wrap="none" rtlCol="0">
            <a:spAutoFit/>
          </a:bodyPr>
          <a:lstStyle/>
          <a:p>
            <a:r>
              <a:rPr kumimoji="1" lang="en-US" altLang="ja-JP" sz="700" dirty="0">
                <a:latin typeface="ＭＳ 明朝" panose="02020609040205080304" pitchFamily="17" charset="-128"/>
                <a:ea typeface="ＭＳ 明朝" panose="02020609040205080304" pitchFamily="17" charset="-128"/>
              </a:rPr>
              <a:t>10.101.</a:t>
            </a:r>
            <a:r>
              <a:rPr kumimoji="1" lang="en-US" altLang="ja-JP" sz="700" dirty="0">
                <a:solidFill>
                  <a:srgbClr val="FF0000"/>
                </a:solidFill>
                <a:latin typeface="ＭＳ 明朝" panose="02020609040205080304" pitchFamily="17" charset="-128"/>
                <a:ea typeface="ＭＳ 明朝" panose="02020609040205080304" pitchFamily="17" charset="-128"/>
              </a:rPr>
              <a:t>189</a:t>
            </a:r>
            <a:r>
              <a:rPr kumimoji="1" lang="en-US" altLang="ja-JP" sz="700" dirty="0">
                <a:latin typeface="ＭＳ 明朝" panose="02020609040205080304" pitchFamily="17" charset="-128"/>
                <a:ea typeface="ＭＳ 明朝" panose="02020609040205080304" pitchFamily="17" charset="-128"/>
              </a:rPr>
              <a:t>.26(?)</a:t>
            </a:r>
            <a:endParaRPr kumimoji="1" lang="ja-JP" altLang="en-US" sz="700" dirty="0">
              <a:latin typeface="ＭＳ 明朝" panose="02020609040205080304" pitchFamily="17" charset="-128"/>
              <a:ea typeface="ＭＳ 明朝" panose="02020609040205080304" pitchFamily="17" charset="-128"/>
            </a:endParaRPr>
          </a:p>
        </p:txBody>
      </p:sp>
      <p:sp>
        <p:nvSpPr>
          <p:cNvPr id="91" name="テキスト ボックス 90">
            <a:extLst>
              <a:ext uri="{FF2B5EF4-FFF2-40B4-BE49-F238E27FC236}">
                <a16:creationId xmlns:a16="http://schemas.microsoft.com/office/drawing/2014/main" id="{DC3F02C0-CA4D-45AB-840C-B06F15676711}"/>
              </a:ext>
            </a:extLst>
          </p:cNvPr>
          <p:cNvSpPr txBox="1"/>
          <p:nvPr/>
        </p:nvSpPr>
        <p:spPr>
          <a:xfrm>
            <a:off x="6111524" y="1648842"/>
            <a:ext cx="819455" cy="230832"/>
          </a:xfrm>
          <a:prstGeom prst="rect">
            <a:avLst/>
          </a:prstGeom>
          <a:noFill/>
        </p:spPr>
        <p:txBody>
          <a:bodyPr wrap="none" rtlCol="0">
            <a:spAutoFit/>
          </a:bodyPr>
          <a:lstStyle/>
          <a:p>
            <a:r>
              <a:rPr kumimoji="1" lang="en-US" altLang="ja-JP" sz="900" dirty="0">
                <a:latin typeface="ＭＳ 明朝" panose="02020609040205080304" pitchFamily="17" charset="-128"/>
                <a:ea typeface="ＭＳ 明朝" panose="02020609040205080304" pitchFamily="17" charset="-128"/>
              </a:rPr>
              <a:t>10.2.67.201</a:t>
            </a:r>
            <a:endParaRPr kumimoji="1" lang="ja-JP" altLang="en-US" sz="900" dirty="0">
              <a:latin typeface="ＭＳ 明朝" panose="02020609040205080304" pitchFamily="17" charset="-128"/>
              <a:ea typeface="ＭＳ 明朝" panose="02020609040205080304" pitchFamily="17" charset="-128"/>
            </a:endParaRPr>
          </a:p>
        </p:txBody>
      </p:sp>
      <p:sp>
        <p:nvSpPr>
          <p:cNvPr id="92" name="テキスト ボックス 91">
            <a:extLst>
              <a:ext uri="{FF2B5EF4-FFF2-40B4-BE49-F238E27FC236}">
                <a16:creationId xmlns:a16="http://schemas.microsoft.com/office/drawing/2014/main" id="{8C145D6E-BF22-4482-B447-A1A25205E5F1}"/>
              </a:ext>
            </a:extLst>
          </p:cNvPr>
          <p:cNvSpPr txBox="1"/>
          <p:nvPr/>
        </p:nvSpPr>
        <p:spPr>
          <a:xfrm>
            <a:off x="9062764" y="1637116"/>
            <a:ext cx="819455" cy="230832"/>
          </a:xfrm>
          <a:prstGeom prst="rect">
            <a:avLst/>
          </a:prstGeom>
          <a:noFill/>
        </p:spPr>
        <p:txBody>
          <a:bodyPr wrap="none" rtlCol="0">
            <a:spAutoFit/>
          </a:bodyPr>
          <a:lstStyle/>
          <a:p>
            <a:r>
              <a:rPr kumimoji="1" lang="en-US" altLang="ja-JP" sz="900" dirty="0">
                <a:latin typeface="ＭＳ 明朝" panose="02020609040205080304" pitchFamily="17" charset="-128"/>
                <a:ea typeface="ＭＳ 明朝" panose="02020609040205080304" pitchFamily="17" charset="-128"/>
              </a:rPr>
              <a:t>10.2.67.202</a:t>
            </a:r>
            <a:endParaRPr kumimoji="1" lang="ja-JP" altLang="en-US" sz="900" dirty="0">
              <a:latin typeface="ＭＳ 明朝" panose="02020609040205080304" pitchFamily="17" charset="-128"/>
              <a:ea typeface="ＭＳ 明朝" panose="02020609040205080304" pitchFamily="17" charset="-128"/>
            </a:endParaRPr>
          </a:p>
        </p:txBody>
      </p:sp>
      <p:sp>
        <p:nvSpPr>
          <p:cNvPr id="93" name="テキスト ボックス 92">
            <a:extLst>
              <a:ext uri="{FF2B5EF4-FFF2-40B4-BE49-F238E27FC236}">
                <a16:creationId xmlns:a16="http://schemas.microsoft.com/office/drawing/2014/main" id="{978FA0E5-1287-4B8B-951F-A6B506CC90CD}"/>
              </a:ext>
            </a:extLst>
          </p:cNvPr>
          <p:cNvSpPr txBox="1"/>
          <p:nvPr/>
        </p:nvSpPr>
        <p:spPr>
          <a:xfrm>
            <a:off x="6119161" y="2353189"/>
            <a:ext cx="819455" cy="230832"/>
          </a:xfrm>
          <a:prstGeom prst="rect">
            <a:avLst/>
          </a:prstGeom>
          <a:noFill/>
        </p:spPr>
        <p:txBody>
          <a:bodyPr wrap="none" rtlCol="0">
            <a:spAutoFit/>
          </a:bodyPr>
          <a:lstStyle/>
          <a:p>
            <a:r>
              <a:rPr kumimoji="1" lang="en-US" altLang="ja-JP" sz="900" dirty="0">
                <a:latin typeface="ＭＳ 明朝" panose="02020609040205080304" pitchFamily="17" charset="-128"/>
                <a:ea typeface="ＭＳ 明朝" panose="02020609040205080304" pitchFamily="17" charset="-128"/>
              </a:rPr>
              <a:t>10.2.67.250</a:t>
            </a:r>
            <a:endParaRPr kumimoji="1" lang="ja-JP" altLang="en-US" sz="900" dirty="0">
              <a:latin typeface="ＭＳ 明朝" panose="02020609040205080304" pitchFamily="17" charset="-128"/>
              <a:ea typeface="ＭＳ 明朝" panose="02020609040205080304" pitchFamily="17" charset="-128"/>
            </a:endParaRPr>
          </a:p>
        </p:txBody>
      </p:sp>
      <p:sp>
        <p:nvSpPr>
          <p:cNvPr id="94" name="テキスト ボックス 93">
            <a:extLst>
              <a:ext uri="{FF2B5EF4-FFF2-40B4-BE49-F238E27FC236}">
                <a16:creationId xmlns:a16="http://schemas.microsoft.com/office/drawing/2014/main" id="{C45D3474-0305-4166-8C17-D61F4002CDF9}"/>
              </a:ext>
            </a:extLst>
          </p:cNvPr>
          <p:cNvSpPr txBox="1"/>
          <p:nvPr/>
        </p:nvSpPr>
        <p:spPr>
          <a:xfrm>
            <a:off x="9061372" y="2328376"/>
            <a:ext cx="819455" cy="230832"/>
          </a:xfrm>
          <a:prstGeom prst="rect">
            <a:avLst/>
          </a:prstGeom>
          <a:noFill/>
        </p:spPr>
        <p:txBody>
          <a:bodyPr wrap="none" rtlCol="0">
            <a:spAutoFit/>
          </a:bodyPr>
          <a:lstStyle/>
          <a:p>
            <a:r>
              <a:rPr kumimoji="1" lang="en-US" altLang="ja-JP" sz="900" dirty="0">
                <a:latin typeface="ＭＳ 明朝" panose="02020609040205080304" pitchFamily="17" charset="-128"/>
                <a:ea typeface="ＭＳ 明朝" panose="02020609040205080304" pitchFamily="17" charset="-128"/>
              </a:rPr>
              <a:t>10.2.67.251</a:t>
            </a:r>
            <a:endParaRPr kumimoji="1" lang="ja-JP" altLang="en-US" sz="900" dirty="0">
              <a:latin typeface="ＭＳ 明朝" panose="02020609040205080304" pitchFamily="17" charset="-128"/>
              <a:ea typeface="ＭＳ 明朝" panose="02020609040205080304" pitchFamily="17" charset="-128"/>
            </a:endParaRPr>
          </a:p>
        </p:txBody>
      </p:sp>
      <p:sp>
        <p:nvSpPr>
          <p:cNvPr id="95" name="テキスト ボックス 94">
            <a:extLst>
              <a:ext uri="{FF2B5EF4-FFF2-40B4-BE49-F238E27FC236}">
                <a16:creationId xmlns:a16="http://schemas.microsoft.com/office/drawing/2014/main" id="{D3E210AB-F5EA-4BE3-9B0C-5C97B3BBD421}"/>
              </a:ext>
            </a:extLst>
          </p:cNvPr>
          <p:cNvSpPr txBox="1"/>
          <p:nvPr/>
        </p:nvSpPr>
        <p:spPr>
          <a:xfrm>
            <a:off x="4165013" y="1417526"/>
            <a:ext cx="409086" cy="200055"/>
          </a:xfrm>
          <a:prstGeom prst="rect">
            <a:avLst/>
          </a:prstGeom>
          <a:noFill/>
        </p:spPr>
        <p:txBody>
          <a:bodyPr wrap="none" rtlCol="0">
            <a:spAutoFit/>
          </a:bodyPr>
          <a:lstStyle/>
          <a:p>
            <a:r>
              <a:rPr kumimoji="1" lang="en-US" altLang="ja-JP" sz="700" dirty="0">
                <a:latin typeface="ＭＳ 明朝" panose="02020609040205080304" pitchFamily="17" charset="-128"/>
                <a:ea typeface="ＭＳ 明朝" panose="02020609040205080304" pitchFamily="17" charset="-128"/>
              </a:rPr>
              <a:t>ge1.0</a:t>
            </a:r>
            <a:endParaRPr kumimoji="1" lang="ja-JP" altLang="en-US" sz="700" dirty="0">
              <a:latin typeface="ＭＳ 明朝" panose="02020609040205080304" pitchFamily="17" charset="-128"/>
              <a:ea typeface="ＭＳ 明朝" panose="02020609040205080304" pitchFamily="17" charset="-128"/>
            </a:endParaRPr>
          </a:p>
        </p:txBody>
      </p:sp>
      <p:sp>
        <p:nvSpPr>
          <p:cNvPr id="96" name="テキスト ボックス 95">
            <a:extLst>
              <a:ext uri="{FF2B5EF4-FFF2-40B4-BE49-F238E27FC236}">
                <a16:creationId xmlns:a16="http://schemas.microsoft.com/office/drawing/2014/main" id="{7EA3A36E-2554-4D90-9009-34F1BE0795E2}"/>
              </a:ext>
            </a:extLst>
          </p:cNvPr>
          <p:cNvSpPr txBox="1"/>
          <p:nvPr/>
        </p:nvSpPr>
        <p:spPr>
          <a:xfrm>
            <a:off x="4488582" y="1414283"/>
            <a:ext cx="768159" cy="200055"/>
          </a:xfrm>
          <a:prstGeom prst="rect">
            <a:avLst/>
          </a:prstGeom>
          <a:noFill/>
        </p:spPr>
        <p:txBody>
          <a:bodyPr wrap="none" rtlCol="0">
            <a:spAutoFit/>
          </a:bodyPr>
          <a:lstStyle/>
          <a:p>
            <a:r>
              <a:rPr kumimoji="1" lang="en-US" altLang="ja-JP" sz="700" dirty="0">
                <a:latin typeface="ＭＳ 明朝" panose="02020609040205080304" pitchFamily="17" charset="-128"/>
                <a:ea typeface="ＭＳ 明朝" panose="02020609040205080304" pitchFamily="17" charset="-128"/>
              </a:rPr>
              <a:t>10.101.189.29</a:t>
            </a:r>
            <a:endParaRPr kumimoji="1" lang="ja-JP" altLang="en-US" sz="700" dirty="0">
              <a:latin typeface="ＭＳ 明朝" panose="02020609040205080304" pitchFamily="17" charset="-128"/>
              <a:ea typeface="ＭＳ 明朝" panose="02020609040205080304" pitchFamily="17" charset="-128"/>
            </a:endParaRPr>
          </a:p>
        </p:txBody>
      </p:sp>
      <p:sp>
        <p:nvSpPr>
          <p:cNvPr id="97" name="テキスト ボックス 96">
            <a:extLst>
              <a:ext uri="{FF2B5EF4-FFF2-40B4-BE49-F238E27FC236}">
                <a16:creationId xmlns:a16="http://schemas.microsoft.com/office/drawing/2014/main" id="{3D667EE5-4E29-41F6-B334-ACBD0239C609}"/>
              </a:ext>
            </a:extLst>
          </p:cNvPr>
          <p:cNvSpPr txBox="1"/>
          <p:nvPr/>
        </p:nvSpPr>
        <p:spPr>
          <a:xfrm>
            <a:off x="4180648" y="1918805"/>
            <a:ext cx="409086" cy="200055"/>
          </a:xfrm>
          <a:prstGeom prst="rect">
            <a:avLst/>
          </a:prstGeom>
          <a:noFill/>
        </p:spPr>
        <p:txBody>
          <a:bodyPr wrap="none" rtlCol="0">
            <a:spAutoFit/>
          </a:bodyPr>
          <a:lstStyle/>
          <a:p>
            <a:r>
              <a:rPr kumimoji="1" lang="en-US" altLang="ja-JP" sz="700" dirty="0">
                <a:latin typeface="ＭＳ 明朝" panose="02020609040205080304" pitchFamily="17" charset="-128"/>
                <a:ea typeface="ＭＳ 明朝" panose="02020609040205080304" pitchFamily="17" charset="-128"/>
              </a:rPr>
              <a:t>ge0.0</a:t>
            </a:r>
            <a:endParaRPr kumimoji="1" lang="ja-JP" altLang="en-US" sz="700" dirty="0">
              <a:latin typeface="ＭＳ 明朝" panose="02020609040205080304" pitchFamily="17" charset="-128"/>
              <a:ea typeface="ＭＳ 明朝" panose="02020609040205080304" pitchFamily="17" charset="-128"/>
            </a:endParaRPr>
          </a:p>
        </p:txBody>
      </p:sp>
      <p:sp>
        <p:nvSpPr>
          <p:cNvPr id="98" name="テキスト ボックス 97">
            <a:extLst>
              <a:ext uri="{FF2B5EF4-FFF2-40B4-BE49-F238E27FC236}">
                <a16:creationId xmlns:a16="http://schemas.microsoft.com/office/drawing/2014/main" id="{BE7C8E15-1517-4A19-AF4B-9D6F83F76DAC}"/>
              </a:ext>
            </a:extLst>
          </p:cNvPr>
          <p:cNvSpPr txBox="1"/>
          <p:nvPr/>
        </p:nvSpPr>
        <p:spPr>
          <a:xfrm>
            <a:off x="2950013" y="1431020"/>
            <a:ext cx="409086" cy="200055"/>
          </a:xfrm>
          <a:prstGeom prst="rect">
            <a:avLst/>
          </a:prstGeom>
          <a:noFill/>
        </p:spPr>
        <p:txBody>
          <a:bodyPr wrap="none" rtlCol="0">
            <a:spAutoFit/>
          </a:bodyPr>
          <a:lstStyle/>
          <a:p>
            <a:r>
              <a:rPr kumimoji="1" lang="en-US" altLang="ja-JP" sz="700" dirty="0">
                <a:latin typeface="ＭＳ 明朝" panose="02020609040205080304" pitchFamily="17" charset="-128"/>
                <a:ea typeface="ＭＳ 明朝" panose="02020609040205080304" pitchFamily="17" charset="-128"/>
              </a:rPr>
              <a:t>ge1.0</a:t>
            </a:r>
            <a:endParaRPr kumimoji="1" lang="ja-JP" altLang="en-US" sz="700" dirty="0">
              <a:latin typeface="ＭＳ 明朝" panose="02020609040205080304" pitchFamily="17" charset="-128"/>
              <a:ea typeface="ＭＳ 明朝" panose="02020609040205080304" pitchFamily="17" charset="-128"/>
            </a:endParaRPr>
          </a:p>
        </p:txBody>
      </p:sp>
      <p:sp>
        <p:nvSpPr>
          <p:cNvPr id="99" name="テキスト ボックス 98">
            <a:extLst>
              <a:ext uri="{FF2B5EF4-FFF2-40B4-BE49-F238E27FC236}">
                <a16:creationId xmlns:a16="http://schemas.microsoft.com/office/drawing/2014/main" id="{1E4AE91B-628A-4627-BA88-0ECC8363146F}"/>
              </a:ext>
            </a:extLst>
          </p:cNvPr>
          <p:cNvSpPr txBox="1"/>
          <p:nvPr/>
        </p:nvSpPr>
        <p:spPr>
          <a:xfrm>
            <a:off x="2958052" y="1912734"/>
            <a:ext cx="409086" cy="200055"/>
          </a:xfrm>
          <a:prstGeom prst="rect">
            <a:avLst/>
          </a:prstGeom>
          <a:noFill/>
        </p:spPr>
        <p:txBody>
          <a:bodyPr wrap="none" rtlCol="0">
            <a:spAutoFit/>
          </a:bodyPr>
          <a:lstStyle/>
          <a:p>
            <a:r>
              <a:rPr kumimoji="1" lang="en-US" altLang="ja-JP" sz="700" dirty="0">
                <a:latin typeface="ＭＳ 明朝" panose="02020609040205080304" pitchFamily="17" charset="-128"/>
                <a:ea typeface="ＭＳ 明朝" panose="02020609040205080304" pitchFamily="17" charset="-128"/>
              </a:rPr>
              <a:t>ge0.0</a:t>
            </a:r>
            <a:endParaRPr kumimoji="1" lang="ja-JP" altLang="en-US" sz="700" dirty="0">
              <a:latin typeface="ＭＳ 明朝" panose="02020609040205080304" pitchFamily="17" charset="-128"/>
              <a:ea typeface="ＭＳ 明朝" panose="02020609040205080304" pitchFamily="17" charset="-128"/>
            </a:endParaRPr>
          </a:p>
        </p:txBody>
      </p:sp>
      <p:sp>
        <p:nvSpPr>
          <p:cNvPr id="100" name="テキスト ボックス 99">
            <a:extLst>
              <a:ext uri="{FF2B5EF4-FFF2-40B4-BE49-F238E27FC236}">
                <a16:creationId xmlns:a16="http://schemas.microsoft.com/office/drawing/2014/main" id="{44966618-A127-4654-BCD0-B6241C68FDFD}"/>
              </a:ext>
            </a:extLst>
          </p:cNvPr>
          <p:cNvSpPr txBox="1"/>
          <p:nvPr/>
        </p:nvSpPr>
        <p:spPr>
          <a:xfrm>
            <a:off x="3241317" y="1920982"/>
            <a:ext cx="768159" cy="200055"/>
          </a:xfrm>
          <a:prstGeom prst="rect">
            <a:avLst/>
          </a:prstGeom>
          <a:noFill/>
        </p:spPr>
        <p:txBody>
          <a:bodyPr wrap="none" rtlCol="0">
            <a:spAutoFit/>
          </a:bodyPr>
          <a:lstStyle/>
          <a:p>
            <a:r>
              <a:rPr kumimoji="1" lang="en-US" altLang="ja-JP" sz="700" dirty="0">
                <a:latin typeface="ＭＳ 明朝" panose="02020609040205080304" pitchFamily="17" charset="-128"/>
                <a:ea typeface="ＭＳ 明朝" panose="02020609040205080304" pitchFamily="17" charset="-128"/>
              </a:rPr>
              <a:t>10.101.</a:t>
            </a:r>
            <a:r>
              <a:rPr kumimoji="1" lang="en-US" altLang="ja-JP" sz="700" dirty="0">
                <a:solidFill>
                  <a:srgbClr val="FF0000"/>
                </a:solidFill>
                <a:latin typeface="ＭＳ 明朝" panose="02020609040205080304" pitchFamily="17" charset="-128"/>
                <a:ea typeface="ＭＳ 明朝" panose="02020609040205080304" pitchFamily="17" charset="-128"/>
              </a:rPr>
              <a:t>189</a:t>
            </a:r>
            <a:r>
              <a:rPr kumimoji="1" lang="en-US" altLang="ja-JP" sz="700" dirty="0">
                <a:latin typeface="ＭＳ 明朝" panose="02020609040205080304" pitchFamily="17" charset="-128"/>
                <a:ea typeface="ＭＳ 明朝" panose="02020609040205080304" pitchFamily="17" charset="-128"/>
              </a:rPr>
              <a:t>.30</a:t>
            </a:r>
            <a:endParaRPr kumimoji="1" lang="ja-JP" altLang="en-US" sz="700" dirty="0">
              <a:latin typeface="ＭＳ 明朝" panose="02020609040205080304" pitchFamily="17" charset="-128"/>
              <a:ea typeface="ＭＳ 明朝" panose="02020609040205080304" pitchFamily="17" charset="-128"/>
            </a:endParaRPr>
          </a:p>
        </p:txBody>
      </p:sp>
      <p:sp>
        <p:nvSpPr>
          <p:cNvPr id="30" name="テキスト ボックス 29">
            <a:extLst>
              <a:ext uri="{FF2B5EF4-FFF2-40B4-BE49-F238E27FC236}">
                <a16:creationId xmlns:a16="http://schemas.microsoft.com/office/drawing/2014/main" id="{1AE0B1AD-02BE-4D74-9476-7CC8C2A832E8}"/>
              </a:ext>
            </a:extLst>
          </p:cNvPr>
          <p:cNvSpPr txBox="1"/>
          <p:nvPr/>
        </p:nvSpPr>
        <p:spPr>
          <a:xfrm>
            <a:off x="3917505" y="3075227"/>
            <a:ext cx="1184941" cy="400110"/>
          </a:xfrm>
          <a:prstGeom prst="rect">
            <a:avLst/>
          </a:prstGeom>
          <a:solidFill>
            <a:schemeClr val="bg1"/>
          </a:solidFill>
          <a:ln>
            <a:solidFill>
              <a:schemeClr val="tx1"/>
            </a:solidFill>
          </a:ln>
        </p:spPr>
        <p:txBody>
          <a:bodyPr wrap="square" rtlCol="0">
            <a:spAutoFit/>
          </a:bodyPr>
          <a:lstStyle/>
          <a:p>
            <a:pPr algn="ctr"/>
            <a:r>
              <a:rPr kumimoji="1" lang="en-US" altLang="ja-JP" sz="1000" dirty="0">
                <a:latin typeface="ＭＳ 明朝" panose="02020609040205080304" pitchFamily="17" charset="-128"/>
                <a:ea typeface="ＭＳ 明朝" panose="02020609040205080304" pitchFamily="17" charset="-128"/>
              </a:rPr>
              <a:t>SRX320</a:t>
            </a:r>
          </a:p>
          <a:p>
            <a:pPr algn="ctr"/>
            <a:r>
              <a:rPr lang="en-US" altLang="ja-JP" sz="1000" dirty="0">
                <a:latin typeface="ＭＳ 明朝" panose="02020609040205080304" pitchFamily="17" charset="-128"/>
                <a:ea typeface="ＭＳ 明朝" panose="02020609040205080304" pitchFamily="17" charset="-128"/>
              </a:rPr>
              <a:t>RJTZ-DII-FW02</a:t>
            </a:r>
            <a:endParaRPr kumimoji="1" lang="ja-JP" altLang="en-US" sz="1000"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18462638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A65A727-1F0C-4BEB-BD55-B59E3548BDF4}"/>
              </a:ext>
            </a:extLst>
          </p:cNvPr>
          <p:cNvSpPr txBox="1"/>
          <p:nvPr/>
        </p:nvSpPr>
        <p:spPr>
          <a:xfrm>
            <a:off x="2357306" y="2090483"/>
            <a:ext cx="7164198" cy="646331"/>
          </a:xfrm>
          <a:prstGeom prst="rect">
            <a:avLst/>
          </a:prstGeom>
          <a:noFill/>
          <a:ln>
            <a:solidFill>
              <a:schemeClr val="tx1"/>
            </a:solidFill>
          </a:ln>
        </p:spPr>
        <p:txBody>
          <a:bodyPr wrap="square" rtlCol="0">
            <a:spAutoFit/>
          </a:bodyPr>
          <a:lstStyle/>
          <a:p>
            <a:pPr algn="l"/>
            <a:r>
              <a:rPr kumimoji="1" lang="en-US" altLang="ja-JP" dirty="0">
                <a:latin typeface="ＭＳ 明朝" panose="02020609040205080304" pitchFamily="17" charset="-128"/>
                <a:ea typeface="ＭＳ 明朝" panose="02020609040205080304" pitchFamily="17" charset="-128"/>
              </a:rPr>
              <a:t>Oracle</a:t>
            </a:r>
            <a:r>
              <a:rPr lang="ja-JP" altLang="en-US" dirty="0">
                <a:latin typeface="ＭＳ 明朝" panose="02020609040205080304" pitchFamily="17" charset="-128"/>
                <a:ea typeface="ＭＳ 明朝" panose="02020609040205080304" pitchFamily="17" charset="-128"/>
              </a:rPr>
              <a:t> </a:t>
            </a:r>
            <a:r>
              <a:rPr kumimoji="1" lang="en-US" altLang="ja-JP" dirty="0">
                <a:latin typeface="ＭＳ 明朝" panose="02020609040205080304" pitchFamily="17" charset="-128"/>
                <a:ea typeface="ＭＳ 明朝" panose="02020609040205080304" pitchFamily="17" charset="-128"/>
              </a:rPr>
              <a:t>WebLogic Server 14.1.1</a:t>
            </a:r>
          </a:p>
          <a:p>
            <a:pPr algn="l"/>
            <a:r>
              <a:rPr lang="en-US" altLang="ja-JP" dirty="0">
                <a:latin typeface="ＭＳ 明朝" panose="02020609040205080304" pitchFamily="17" charset="-128"/>
                <a:ea typeface="ＭＳ 明朝" panose="02020609040205080304" pitchFamily="17" charset="-128"/>
              </a:rPr>
              <a:t>Oracle</a:t>
            </a:r>
            <a:r>
              <a:rPr lang="ja-JP" altLang="en-US" dirty="0" err="1">
                <a:latin typeface="ＭＳ 明朝" panose="02020609040205080304" pitchFamily="17" charset="-128"/>
                <a:ea typeface="ＭＳ 明朝" panose="02020609040205080304" pitchFamily="17" charset="-128"/>
              </a:rPr>
              <a:t>が提</a:t>
            </a:r>
            <a:r>
              <a:rPr lang="ja-JP" altLang="en-US" dirty="0">
                <a:latin typeface="ＭＳ 明朝" panose="02020609040205080304" pitchFamily="17" charset="-128"/>
                <a:ea typeface="ＭＳ 明朝" panose="02020609040205080304" pitchFamily="17" charset="-128"/>
              </a:rPr>
              <a:t>供するエンタープライズ向けのアプリケーションサーバ</a:t>
            </a:r>
            <a:endParaRPr kumimoji="1" lang="ja-JP" altLang="en-US" dirty="0">
              <a:latin typeface="ＭＳ 明朝" panose="02020609040205080304" pitchFamily="17" charset="-128"/>
              <a:ea typeface="ＭＳ 明朝" panose="02020609040205080304" pitchFamily="17" charset="-128"/>
            </a:endParaRPr>
          </a:p>
        </p:txBody>
      </p:sp>
      <p:graphicFrame>
        <p:nvGraphicFramePr>
          <p:cNvPr id="3" name="表 2">
            <a:extLst>
              <a:ext uri="{FF2B5EF4-FFF2-40B4-BE49-F238E27FC236}">
                <a16:creationId xmlns:a16="http://schemas.microsoft.com/office/drawing/2014/main" id="{0136DFB5-291E-4E0F-8EA8-8CF2AF73C652}"/>
              </a:ext>
            </a:extLst>
          </p:cNvPr>
          <p:cNvGraphicFramePr>
            <a:graphicFrameLocks noGrp="1"/>
          </p:cNvGraphicFramePr>
          <p:nvPr>
            <p:extLst>
              <p:ext uri="{D42A27DB-BD31-4B8C-83A1-F6EECF244321}">
                <p14:modId xmlns:p14="http://schemas.microsoft.com/office/powerpoint/2010/main" val="3489445415"/>
              </p:ext>
            </p:extLst>
          </p:nvPr>
        </p:nvGraphicFramePr>
        <p:xfrm>
          <a:off x="174737" y="3037463"/>
          <a:ext cx="12060229" cy="2612192"/>
        </p:xfrm>
        <a:graphic>
          <a:graphicData uri="http://schemas.openxmlformats.org/drawingml/2006/table">
            <a:tbl>
              <a:tblPr firstRow="1" bandRow="1">
                <a:tableStyleId>{5940675A-B579-460E-94D1-54222C63F5DA}</a:tableStyleId>
              </a:tblPr>
              <a:tblGrid>
                <a:gridCol w="627380">
                  <a:extLst>
                    <a:ext uri="{9D8B030D-6E8A-4147-A177-3AD203B41FA5}">
                      <a16:colId xmlns:a16="http://schemas.microsoft.com/office/drawing/2014/main" val="3032621611"/>
                    </a:ext>
                  </a:extLst>
                </a:gridCol>
                <a:gridCol w="1516380">
                  <a:extLst>
                    <a:ext uri="{9D8B030D-6E8A-4147-A177-3AD203B41FA5}">
                      <a16:colId xmlns:a16="http://schemas.microsoft.com/office/drawing/2014/main" val="3995868737"/>
                    </a:ext>
                  </a:extLst>
                </a:gridCol>
                <a:gridCol w="1202643">
                  <a:extLst>
                    <a:ext uri="{9D8B030D-6E8A-4147-A177-3AD203B41FA5}">
                      <a16:colId xmlns:a16="http://schemas.microsoft.com/office/drawing/2014/main" val="1866766055"/>
                    </a:ext>
                  </a:extLst>
                </a:gridCol>
                <a:gridCol w="1202643">
                  <a:extLst>
                    <a:ext uri="{9D8B030D-6E8A-4147-A177-3AD203B41FA5}">
                      <a16:colId xmlns:a16="http://schemas.microsoft.com/office/drawing/2014/main" val="4143132480"/>
                    </a:ext>
                  </a:extLst>
                </a:gridCol>
                <a:gridCol w="6953423">
                  <a:extLst>
                    <a:ext uri="{9D8B030D-6E8A-4147-A177-3AD203B41FA5}">
                      <a16:colId xmlns:a16="http://schemas.microsoft.com/office/drawing/2014/main" val="3585631135"/>
                    </a:ext>
                  </a:extLst>
                </a:gridCol>
                <a:gridCol w="557760">
                  <a:extLst>
                    <a:ext uri="{9D8B030D-6E8A-4147-A177-3AD203B41FA5}">
                      <a16:colId xmlns:a16="http://schemas.microsoft.com/office/drawing/2014/main" val="3375818505"/>
                    </a:ext>
                  </a:extLst>
                </a:gridCol>
              </a:tblGrid>
              <a:tr h="442240">
                <a:tc>
                  <a:txBody>
                    <a:bodyPr/>
                    <a:lstStyle/>
                    <a:p>
                      <a:pPr algn="ctr"/>
                      <a:r>
                        <a:rPr kumimoji="1" lang="ja-JP" altLang="en-US" sz="1400" dirty="0">
                          <a:latin typeface="ＭＳ 明朝" panose="02020609040205080304" pitchFamily="17" charset="-128"/>
                          <a:ea typeface="ＭＳ 明朝" panose="02020609040205080304" pitchFamily="17" charset="-128"/>
                        </a:rPr>
                        <a:t>番号</a:t>
                      </a: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CVE</a:t>
                      </a:r>
                      <a:r>
                        <a:rPr kumimoji="1" lang="ja-JP" altLang="en-US" sz="1400" dirty="0">
                          <a:latin typeface="ＭＳ 明朝" panose="02020609040205080304" pitchFamily="17" charset="-128"/>
                          <a:ea typeface="ＭＳ 明朝" panose="02020609040205080304" pitchFamily="17" charset="-128"/>
                        </a:rPr>
                        <a:t>番号</a:t>
                      </a:r>
                    </a:p>
                  </a:txBody>
                  <a:tcPr anchor="ctr"/>
                </a:tc>
                <a:tc>
                  <a:txBody>
                    <a:bodyPr/>
                    <a:lstStyle/>
                    <a:p>
                      <a:pPr algn="ct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影響を受ける</a:t>
                      </a:r>
                      <a:endParaRPr kumimoji="1" lang="en-US" altLang="ja-JP" sz="1400" dirty="0">
                        <a:latin typeface="ＭＳ 明朝" panose="02020609040205080304" pitchFamily="17" charset="-128"/>
                        <a:ea typeface="ＭＳ 明朝" panose="02020609040205080304" pitchFamily="17" charset="-128"/>
                      </a:endParaRPr>
                    </a:p>
                    <a:p>
                      <a:pPr algn="ctr"/>
                      <a:r>
                        <a:rPr kumimoji="1" lang="ja-JP" altLang="en-US" sz="1400" dirty="0">
                          <a:latin typeface="ＭＳ 明朝" panose="02020609040205080304" pitchFamily="17" charset="-128"/>
                          <a:ea typeface="ＭＳ 明朝" panose="02020609040205080304" pitchFamily="17" charset="-128"/>
                        </a:rPr>
                        <a:t>バージョン</a:t>
                      </a: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影響</a:t>
                      </a: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POC</a:t>
                      </a:r>
                      <a:endParaRPr kumimoji="1" lang="ja-JP" altLang="en-US" sz="1400" dirty="0">
                        <a:latin typeface="ＭＳ 明朝" panose="02020609040205080304" pitchFamily="17" charset="-128"/>
                        <a:ea typeface="ＭＳ 明朝" panose="02020609040205080304" pitchFamily="17" charset="-128"/>
                      </a:endParaRPr>
                    </a:p>
                  </a:txBody>
                  <a:tcPr anchor="ctr"/>
                </a:tc>
                <a:extLst>
                  <a:ext uri="{0D108BD9-81ED-4DB2-BD59-A6C34878D82A}">
                    <a16:rowId xmlns:a16="http://schemas.microsoft.com/office/drawing/2014/main" val="140664658"/>
                  </a:ext>
                </a:extLst>
              </a:tr>
              <a:tr h="6412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１</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CVE-2024-21182</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12.2.1.4.0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14.1.1.0.0</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r>
                        <a:rPr kumimoji="1" lang="ja-JP" altLang="en-US" sz="1400" dirty="0">
                          <a:latin typeface="ＭＳ 明朝" panose="02020609040205080304" pitchFamily="17" charset="-128"/>
                          <a:ea typeface="ＭＳ 明朝" panose="02020609040205080304" pitchFamily="17" charset="-128"/>
                        </a:rPr>
                        <a:t>未承認の攻撃者からの重要なデータへの不正アクセスを可能にする。</a:t>
                      </a: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有</a:t>
                      </a:r>
                    </a:p>
                  </a:txBody>
                  <a:tcPr anchor="ctr"/>
                </a:tc>
                <a:extLst>
                  <a:ext uri="{0D108BD9-81ED-4DB2-BD59-A6C34878D82A}">
                    <a16:rowId xmlns:a16="http://schemas.microsoft.com/office/drawing/2014/main" val="3070175176"/>
                  </a:ext>
                </a:extLst>
              </a:tr>
              <a:tr h="5766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２</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CVE-2024-47554</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14.1.1.0.0</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r>
                        <a:rPr kumimoji="1" lang="ja-JP" altLang="en-US" sz="1400" dirty="0">
                          <a:latin typeface="ＭＳ 明朝" panose="02020609040205080304" pitchFamily="17" charset="-128"/>
                          <a:ea typeface="ＭＳ 明朝" panose="02020609040205080304" pitchFamily="17" charset="-128"/>
                        </a:rPr>
                        <a:t>攻撃が成功すると、権限なく</a:t>
                      </a:r>
                      <a:r>
                        <a:rPr kumimoji="1" lang="en-US" altLang="ja-JP" sz="1400" dirty="0">
                          <a:latin typeface="ＭＳ 明朝" panose="02020609040205080304" pitchFamily="17" charset="-128"/>
                          <a:ea typeface="ＭＳ 明朝" panose="02020609040205080304" pitchFamily="17" charset="-128"/>
                        </a:rPr>
                        <a:t>Server</a:t>
                      </a:r>
                      <a:r>
                        <a:rPr kumimoji="1" lang="ja-JP" altLang="en-US" sz="1400" dirty="0">
                          <a:latin typeface="ＭＳ 明朝" panose="02020609040205080304" pitchFamily="17" charset="-128"/>
                          <a:ea typeface="ＭＳ 明朝" panose="02020609040205080304" pitchFamily="17" charset="-128"/>
                        </a:rPr>
                        <a:t>をハングさせたり頻繁にクラッシュを繰り返させる可能性</a:t>
                      </a:r>
                    </a:p>
                  </a:txBody>
                  <a:tcPr anchor="ctr"/>
                </a:tc>
                <a:tc>
                  <a:txBody>
                    <a:bodyPr/>
                    <a:lstStyle/>
                    <a:p>
                      <a:pPr algn="ctr"/>
                      <a:endParaRPr kumimoji="1" lang="ja-JP" altLang="en-US" sz="1400" dirty="0">
                        <a:latin typeface="ＭＳ 明朝" panose="02020609040205080304" pitchFamily="17" charset="-128"/>
                        <a:ea typeface="ＭＳ 明朝" panose="02020609040205080304" pitchFamily="17" charset="-128"/>
                      </a:endParaRPr>
                    </a:p>
                  </a:txBody>
                  <a:tcPr anchor="ctr"/>
                </a:tc>
                <a:extLst>
                  <a:ext uri="{0D108BD9-81ED-4DB2-BD59-A6C34878D82A}">
                    <a16:rowId xmlns:a16="http://schemas.microsoft.com/office/drawing/2014/main" val="1059170032"/>
                  </a:ext>
                </a:extLst>
              </a:tr>
              <a:tr h="6627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３</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CVE-2025-21535</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14.1.1.0.0</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r>
                        <a:rPr kumimoji="1" lang="ja-JP" altLang="en-US" sz="1400" dirty="0">
                          <a:latin typeface="ＭＳ 明朝" panose="02020609040205080304" pitchFamily="17" charset="-128"/>
                          <a:ea typeface="ＭＳ 明朝" panose="02020609040205080304" pitchFamily="17" charset="-128"/>
                        </a:rPr>
                        <a:t>サーバー上でリモートコードの実行を可能にする。</a:t>
                      </a:r>
                    </a:p>
                  </a:txBody>
                  <a:tcPr anchor="ctr"/>
                </a:tc>
                <a:tc>
                  <a:txBody>
                    <a:bodyPr/>
                    <a:lstStyle/>
                    <a:p>
                      <a:pPr algn="ctr"/>
                      <a:endParaRPr kumimoji="1" lang="ja-JP" altLang="en-US" sz="1400" dirty="0">
                        <a:latin typeface="ＭＳ 明朝" panose="02020609040205080304" pitchFamily="17" charset="-128"/>
                        <a:ea typeface="ＭＳ 明朝" panose="02020609040205080304" pitchFamily="17" charset="-128"/>
                      </a:endParaRPr>
                    </a:p>
                  </a:txBody>
                  <a:tcPr anchor="ctr"/>
                </a:tc>
                <a:extLst>
                  <a:ext uri="{0D108BD9-81ED-4DB2-BD59-A6C34878D82A}">
                    <a16:rowId xmlns:a16="http://schemas.microsoft.com/office/drawing/2014/main" val="4289193062"/>
                  </a:ext>
                </a:extLst>
              </a:tr>
            </a:tbl>
          </a:graphicData>
        </a:graphic>
      </p:graphicFrame>
      <p:sp>
        <p:nvSpPr>
          <p:cNvPr id="4" name="テキスト ボックス 3">
            <a:extLst>
              <a:ext uri="{FF2B5EF4-FFF2-40B4-BE49-F238E27FC236}">
                <a16:creationId xmlns:a16="http://schemas.microsoft.com/office/drawing/2014/main" id="{61ECAA90-C118-4CFE-B9A8-6A3B8F5F778F}"/>
              </a:ext>
            </a:extLst>
          </p:cNvPr>
          <p:cNvSpPr txBox="1"/>
          <p:nvPr/>
        </p:nvSpPr>
        <p:spPr>
          <a:xfrm>
            <a:off x="819548" y="929882"/>
            <a:ext cx="6878806" cy="923330"/>
          </a:xfrm>
          <a:prstGeom prst="rect">
            <a:avLst/>
          </a:prstGeom>
          <a:noFill/>
          <a:ln>
            <a:noFill/>
          </a:ln>
        </p:spPr>
        <p:txBody>
          <a:bodyPr wrap="none" rtlCol="0">
            <a:spAutoFit/>
          </a:bodyPr>
          <a:lstStyle/>
          <a:p>
            <a:pPr algn="l"/>
            <a:r>
              <a:rPr lang="ja-JP" altLang="en-US" dirty="0">
                <a:latin typeface="ＭＳ 明朝" panose="02020609040205080304" pitchFamily="17" charset="-128"/>
                <a:ea typeface="ＭＳ 明朝" panose="02020609040205080304" pitchFamily="17" charset="-128"/>
              </a:rPr>
              <a:t>経　路：① </a:t>
            </a:r>
            <a:endParaRPr lang="en-US" altLang="ja-JP" dirty="0">
              <a:latin typeface="ＭＳ 明朝" panose="02020609040205080304" pitchFamily="17" charset="-128"/>
              <a:ea typeface="ＭＳ 明朝" panose="02020609040205080304" pitchFamily="17" charset="-128"/>
            </a:endParaRPr>
          </a:p>
          <a:p>
            <a:pPr algn="l"/>
            <a:r>
              <a:rPr lang="ja-JP" altLang="en-US" dirty="0">
                <a:latin typeface="ＭＳ 明朝" panose="02020609040205080304" pitchFamily="17" charset="-128"/>
                <a:ea typeface="ＭＳ 明朝" panose="02020609040205080304" pitchFamily="17" charset="-128"/>
              </a:rPr>
              <a:t>概　要：</a:t>
            </a:r>
            <a:r>
              <a:rPr lang="en-US" altLang="ja-JP" dirty="0">
                <a:latin typeface="ＭＳ 明朝" panose="02020609040205080304" pitchFamily="17" charset="-128"/>
                <a:ea typeface="ＭＳ 明朝" panose="02020609040205080304" pitchFamily="17" charset="-128"/>
              </a:rPr>
              <a:t>Web</a:t>
            </a:r>
            <a:r>
              <a:rPr lang="ja-JP" altLang="en-US" dirty="0">
                <a:latin typeface="ＭＳ 明朝" panose="02020609040205080304" pitchFamily="17" charset="-128"/>
                <a:ea typeface="ＭＳ 明朝" panose="02020609040205080304" pitchFamily="17" charset="-128"/>
              </a:rPr>
              <a:t>サーバへの攻撃</a:t>
            </a:r>
            <a:endParaRPr lang="en-US" altLang="ja-JP" dirty="0">
              <a:latin typeface="ＭＳ 明朝" panose="02020609040205080304" pitchFamily="17" charset="-128"/>
              <a:ea typeface="ＭＳ 明朝" panose="02020609040205080304" pitchFamily="17" charset="-128"/>
            </a:endParaRPr>
          </a:p>
          <a:p>
            <a:pPr algn="l"/>
            <a:r>
              <a:rPr kumimoji="1" lang="ja-JP" altLang="en-US" dirty="0">
                <a:latin typeface="ＭＳ 明朝" panose="02020609040205080304" pitchFamily="17" charset="-128"/>
                <a:ea typeface="ＭＳ 明朝" panose="02020609040205080304" pitchFamily="17" charset="-128"/>
              </a:rPr>
              <a:t>　　　  数多くある脆弱性の中から比較的最新のものを３件抽出</a:t>
            </a:r>
          </a:p>
        </p:txBody>
      </p:sp>
      <p:sp>
        <p:nvSpPr>
          <p:cNvPr id="5" name="テキスト ボックス 4">
            <a:extLst>
              <a:ext uri="{FF2B5EF4-FFF2-40B4-BE49-F238E27FC236}">
                <a16:creationId xmlns:a16="http://schemas.microsoft.com/office/drawing/2014/main" id="{6B0FE357-1658-4772-BD8D-DF63019178A0}"/>
              </a:ext>
            </a:extLst>
          </p:cNvPr>
          <p:cNvSpPr txBox="1"/>
          <p:nvPr/>
        </p:nvSpPr>
        <p:spPr>
          <a:xfrm>
            <a:off x="5074253" y="153091"/>
            <a:ext cx="2261196" cy="369332"/>
          </a:xfrm>
          <a:prstGeom prst="rect">
            <a:avLst/>
          </a:prstGeom>
          <a:noFill/>
        </p:spPr>
        <p:txBody>
          <a:bodyPr wrap="none" rtlCol="0">
            <a:spAutoFit/>
          </a:bodyPr>
          <a:lstStyle/>
          <a:p>
            <a:r>
              <a:rPr kumimoji="1" lang="en-US" altLang="ja-JP" dirty="0"/>
              <a:t>Web</a:t>
            </a:r>
            <a:r>
              <a:rPr kumimoji="1" lang="ja-JP" altLang="en-US" dirty="0"/>
              <a:t>サーバの脆弱性</a:t>
            </a:r>
          </a:p>
        </p:txBody>
      </p:sp>
    </p:spTree>
    <p:extLst>
      <p:ext uri="{BB962C8B-B14F-4D97-AF65-F5344CB8AC3E}">
        <p14:creationId xmlns:p14="http://schemas.microsoft.com/office/powerpoint/2010/main" val="39369243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63AC57BA-A1FB-47FB-AD47-78DAA8B6DFE8}"/>
              </a:ext>
            </a:extLst>
          </p:cNvPr>
          <p:cNvGraphicFramePr>
            <a:graphicFrameLocks noGrp="1"/>
          </p:cNvGraphicFramePr>
          <p:nvPr>
            <p:extLst>
              <p:ext uri="{D42A27DB-BD31-4B8C-83A1-F6EECF244321}">
                <p14:modId xmlns:p14="http://schemas.microsoft.com/office/powerpoint/2010/main" val="4008253553"/>
              </p:ext>
            </p:extLst>
          </p:nvPr>
        </p:nvGraphicFramePr>
        <p:xfrm>
          <a:off x="462213" y="1574800"/>
          <a:ext cx="11206873" cy="3708400"/>
        </p:xfrm>
        <a:graphic>
          <a:graphicData uri="http://schemas.openxmlformats.org/drawingml/2006/table">
            <a:tbl>
              <a:tblPr firstRow="1" bandRow="1">
                <a:tableStyleId>{5940675A-B579-460E-94D1-54222C63F5DA}</a:tableStyleId>
              </a:tblPr>
              <a:tblGrid>
                <a:gridCol w="1516380">
                  <a:extLst>
                    <a:ext uri="{9D8B030D-6E8A-4147-A177-3AD203B41FA5}">
                      <a16:colId xmlns:a16="http://schemas.microsoft.com/office/drawing/2014/main" val="3995868737"/>
                    </a:ext>
                  </a:extLst>
                </a:gridCol>
                <a:gridCol w="9690493">
                  <a:extLst>
                    <a:ext uri="{9D8B030D-6E8A-4147-A177-3AD203B41FA5}">
                      <a16:colId xmlns:a16="http://schemas.microsoft.com/office/drawing/2014/main" val="3585631135"/>
                    </a:ext>
                  </a:extLst>
                </a:gridCol>
              </a:tblGrid>
              <a:tr h="370840">
                <a:tc>
                  <a:txBody>
                    <a:bodyPr/>
                    <a:lstStyle/>
                    <a:p>
                      <a:pPr algn="ctr"/>
                      <a:r>
                        <a:rPr kumimoji="1" lang="en-US" altLang="ja-JP" sz="1400" dirty="0">
                          <a:latin typeface="ＭＳ 明朝" panose="02020609040205080304" pitchFamily="17" charset="-128"/>
                          <a:ea typeface="ＭＳ 明朝" panose="02020609040205080304" pitchFamily="17" charset="-128"/>
                        </a:rPr>
                        <a:t>CVE</a:t>
                      </a:r>
                      <a:r>
                        <a:rPr kumimoji="1" lang="ja-JP" altLang="en-US" sz="1400" dirty="0">
                          <a:latin typeface="ＭＳ 明朝" panose="02020609040205080304" pitchFamily="17" charset="-128"/>
                          <a:ea typeface="ＭＳ 明朝" panose="02020609040205080304" pitchFamily="17" charset="-128"/>
                        </a:rPr>
                        <a:t>番号</a:t>
                      </a: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影響</a:t>
                      </a:r>
                    </a:p>
                  </a:txBody>
                  <a:tcPr anchor="ctr"/>
                </a:tc>
                <a:extLst>
                  <a:ext uri="{0D108BD9-81ED-4DB2-BD59-A6C34878D82A}">
                    <a16:rowId xmlns:a16="http://schemas.microsoft.com/office/drawing/2014/main" val="14066465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CVE-2020-14750</a:t>
                      </a:r>
                    </a:p>
                  </a:txBody>
                  <a:tcPr/>
                </a:tc>
                <a:tc>
                  <a:txBody>
                    <a:bodyPr/>
                    <a:lstStyle/>
                    <a:p>
                      <a:r>
                        <a:rPr kumimoji="1" lang="ja-JP" altLang="en-US" sz="1400" dirty="0">
                          <a:latin typeface="ＭＳ 明朝" panose="02020609040205080304" pitchFamily="17" charset="-128"/>
                          <a:ea typeface="ＭＳ 明朝" panose="02020609040205080304" pitchFamily="17" charset="-128"/>
                        </a:rPr>
                        <a:t>遠隔の攻撃者がサーバの実行権限で任意のコードを実行する可能性</a:t>
                      </a:r>
                    </a:p>
                  </a:txBody>
                  <a:tcPr/>
                </a:tc>
                <a:extLst>
                  <a:ext uri="{0D108BD9-81ED-4DB2-BD59-A6C34878D82A}">
                    <a16:rowId xmlns:a16="http://schemas.microsoft.com/office/drawing/2014/main" val="335712649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CVE-2020-14882</a:t>
                      </a:r>
                    </a:p>
                  </a:txBody>
                  <a:tcPr/>
                </a:tc>
                <a:tc>
                  <a:txBody>
                    <a:bodyPr/>
                    <a:lstStyle/>
                    <a:p>
                      <a:r>
                        <a:rPr kumimoji="1" lang="ja-JP" altLang="en-US" sz="1400" dirty="0">
                          <a:latin typeface="ＭＳ 明朝" panose="02020609040205080304" pitchFamily="17" charset="-128"/>
                          <a:ea typeface="ＭＳ 明朝" panose="02020609040205080304" pitchFamily="17" charset="-128"/>
                        </a:rPr>
                        <a:t>遠隔の攻撃者に不正な操作をされる可能性</a:t>
                      </a:r>
                    </a:p>
                  </a:txBody>
                  <a:tcPr/>
                </a:tc>
                <a:extLst>
                  <a:ext uri="{0D108BD9-81ED-4DB2-BD59-A6C34878D82A}">
                    <a16:rowId xmlns:a16="http://schemas.microsoft.com/office/drawing/2014/main" val="7810236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CVE-2020-28052</a:t>
                      </a:r>
                    </a:p>
                  </a:txBody>
                  <a:tcPr/>
                </a:tc>
                <a:tc>
                  <a:txBody>
                    <a:bodyPr/>
                    <a:lstStyle/>
                    <a:p>
                      <a:endParaRPr kumimoji="1" lang="ja-JP" altLang="en-US" sz="1400" dirty="0">
                        <a:latin typeface="ＭＳ 明朝" panose="02020609040205080304" pitchFamily="17" charset="-128"/>
                        <a:ea typeface="ＭＳ 明朝" panose="02020609040205080304" pitchFamily="17" charset="-128"/>
                      </a:endParaRPr>
                    </a:p>
                  </a:txBody>
                  <a:tcPr/>
                </a:tc>
                <a:extLst>
                  <a:ext uri="{0D108BD9-81ED-4DB2-BD59-A6C34878D82A}">
                    <a16:rowId xmlns:a16="http://schemas.microsoft.com/office/drawing/2014/main" val="266269329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CVE-2022-23437</a:t>
                      </a:r>
                    </a:p>
                  </a:txBody>
                  <a:tcPr/>
                </a:tc>
                <a:tc>
                  <a:txBody>
                    <a:bodyPr/>
                    <a:lstStyle/>
                    <a:p>
                      <a:endParaRPr kumimoji="1" lang="ja-JP" altLang="en-US" sz="1400" dirty="0">
                        <a:latin typeface="ＭＳ 明朝" panose="02020609040205080304" pitchFamily="17" charset="-128"/>
                        <a:ea typeface="ＭＳ 明朝" panose="02020609040205080304" pitchFamily="17" charset="-128"/>
                      </a:endParaRPr>
                    </a:p>
                  </a:txBody>
                  <a:tcPr/>
                </a:tc>
                <a:extLst>
                  <a:ext uri="{0D108BD9-81ED-4DB2-BD59-A6C34878D82A}">
                    <a16:rowId xmlns:a16="http://schemas.microsoft.com/office/drawing/2014/main" val="1102330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CVE-2022-21616</a:t>
                      </a:r>
                      <a:endParaRPr kumimoji="1" lang="ja-JP" altLang="en-US" sz="1400" dirty="0">
                        <a:latin typeface="ＭＳ 明朝" panose="02020609040205080304" pitchFamily="17" charset="-128"/>
                        <a:ea typeface="ＭＳ 明朝" panose="02020609040205080304" pitchFamily="17" charset="-128"/>
                      </a:endParaRPr>
                    </a:p>
                  </a:txBody>
                  <a:tcPr/>
                </a:tc>
                <a:tc>
                  <a:txBody>
                    <a:bodyPr/>
                    <a:lstStyle/>
                    <a:p>
                      <a:endParaRPr kumimoji="1" lang="ja-JP" altLang="en-US" sz="1400" dirty="0">
                        <a:latin typeface="ＭＳ 明朝" panose="02020609040205080304" pitchFamily="17" charset="-128"/>
                        <a:ea typeface="ＭＳ 明朝" panose="02020609040205080304" pitchFamily="17" charset="-128"/>
                      </a:endParaRPr>
                    </a:p>
                  </a:txBody>
                  <a:tcPr/>
                </a:tc>
                <a:extLst>
                  <a:ext uri="{0D108BD9-81ED-4DB2-BD59-A6C34878D82A}">
                    <a16:rowId xmlns:a16="http://schemas.microsoft.com/office/drawing/2014/main" val="88522042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CVE-2024-23635</a:t>
                      </a:r>
                      <a:endParaRPr kumimoji="1" lang="ja-JP" altLang="en-US" sz="1400" dirty="0">
                        <a:latin typeface="ＭＳ 明朝" panose="02020609040205080304" pitchFamily="17" charset="-128"/>
                        <a:ea typeface="ＭＳ 明朝" panose="02020609040205080304" pitchFamily="17" charset="-128"/>
                      </a:endParaRPr>
                    </a:p>
                  </a:txBody>
                  <a:tcPr/>
                </a:tc>
                <a:tc>
                  <a:txBody>
                    <a:bodyPr/>
                    <a:lstStyle/>
                    <a:p>
                      <a:r>
                        <a:rPr kumimoji="1" lang="en-US" altLang="ja-JP" sz="1400" dirty="0">
                          <a:latin typeface="ＭＳ 明朝" panose="02020609040205080304" pitchFamily="17" charset="-128"/>
                          <a:ea typeface="ＭＳ 明朝" panose="02020609040205080304" pitchFamily="17" charset="-128"/>
                        </a:rPr>
                        <a:t>Oracle WebLogic</a:t>
                      </a:r>
                      <a:r>
                        <a:rPr kumimoji="1" lang="ja-JP" altLang="en-US" sz="1400" dirty="0">
                          <a:latin typeface="ＭＳ 明朝" panose="02020609040205080304" pitchFamily="17" charset="-128"/>
                          <a:ea typeface="ＭＳ 明朝" panose="02020609040205080304" pitchFamily="17" charset="-128"/>
                        </a:rPr>
                        <a:t>サーバーの乗っ取りが発生する可能性</a:t>
                      </a:r>
                    </a:p>
                  </a:txBody>
                  <a:tcPr/>
                </a:tc>
                <a:extLst>
                  <a:ext uri="{0D108BD9-81ED-4DB2-BD59-A6C34878D82A}">
                    <a16:rowId xmlns:a16="http://schemas.microsoft.com/office/drawing/2014/main" val="39435806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CVE-2023-7272</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攻撃が成功すると、権限なく</a:t>
                      </a:r>
                      <a:r>
                        <a:rPr kumimoji="1" lang="en-US" altLang="ja-JP" sz="1400" dirty="0">
                          <a:latin typeface="ＭＳ 明朝" panose="02020609040205080304" pitchFamily="17" charset="-128"/>
                          <a:ea typeface="ＭＳ 明朝" panose="02020609040205080304" pitchFamily="17" charset="-128"/>
                        </a:rPr>
                        <a:t>Server</a:t>
                      </a:r>
                      <a:r>
                        <a:rPr kumimoji="1" lang="ja-JP" altLang="en-US" sz="1400" dirty="0">
                          <a:latin typeface="ＭＳ 明朝" panose="02020609040205080304" pitchFamily="17" charset="-128"/>
                          <a:ea typeface="ＭＳ 明朝" panose="02020609040205080304" pitchFamily="17" charset="-128"/>
                        </a:rPr>
                        <a:t>をハングさせたり頻繁にクラッシュを繰り返させる可能性</a:t>
                      </a:r>
                    </a:p>
                  </a:txBody>
                  <a:tcPr/>
                </a:tc>
                <a:extLst>
                  <a:ext uri="{0D108BD9-81ED-4DB2-BD59-A6C34878D82A}">
                    <a16:rowId xmlns:a16="http://schemas.microsoft.com/office/drawing/2014/main" val="333414033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CVE-2024-47554</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r>
                        <a:rPr kumimoji="1" lang="ja-JP" altLang="en-US" sz="1400" dirty="0">
                          <a:latin typeface="ＭＳ 明朝" panose="02020609040205080304" pitchFamily="17" charset="-128"/>
                          <a:ea typeface="ＭＳ 明朝" panose="02020609040205080304" pitchFamily="17" charset="-128"/>
                        </a:rPr>
                        <a:t>攻撃が成功すると、権限なく</a:t>
                      </a:r>
                      <a:r>
                        <a:rPr kumimoji="1" lang="en-US" altLang="ja-JP" sz="1400" dirty="0">
                          <a:latin typeface="ＭＳ 明朝" panose="02020609040205080304" pitchFamily="17" charset="-128"/>
                          <a:ea typeface="ＭＳ 明朝" panose="02020609040205080304" pitchFamily="17" charset="-128"/>
                        </a:rPr>
                        <a:t>Server</a:t>
                      </a:r>
                      <a:r>
                        <a:rPr kumimoji="1" lang="ja-JP" altLang="en-US" sz="1400" dirty="0">
                          <a:latin typeface="ＭＳ 明朝" panose="02020609040205080304" pitchFamily="17" charset="-128"/>
                          <a:ea typeface="ＭＳ 明朝" panose="02020609040205080304" pitchFamily="17" charset="-128"/>
                        </a:rPr>
                        <a:t>をハングさせたり頻繁にクラッシュを繰り返させる可能性</a:t>
                      </a:r>
                    </a:p>
                  </a:txBody>
                  <a:tcPr/>
                </a:tc>
                <a:extLst>
                  <a:ext uri="{0D108BD9-81ED-4DB2-BD59-A6C34878D82A}">
                    <a16:rowId xmlns:a16="http://schemas.microsoft.com/office/drawing/2014/main" val="58015981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CVE-2025-21535</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r>
                        <a:rPr kumimoji="1" lang="ja-JP" altLang="en-US" sz="1400" dirty="0">
                          <a:latin typeface="ＭＳ 明朝" panose="02020609040205080304" pitchFamily="17" charset="-128"/>
                          <a:ea typeface="ＭＳ 明朝" panose="02020609040205080304" pitchFamily="17" charset="-128"/>
                        </a:rPr>
                        <a:t>サーバー上でリモートコードの実行を可能にする。</a:t>
                      </a:r>
                    </a:p>
                  </a:txBody>
                  <a:tcPr/>
                </a:tc>
                <a:extLst>
                  <a:ext uri="{0D108BD9-81ED-4DB2-BD59-A6C34878D82A}">
                    <a16:rowId xmlns:a16="http://schemas.microsoft.com/office/drawing/2014/main" val="4289193062"/>
                  </a:ext>
                </a:extLst>
              </a:tr>
            </a:tbl>
          </a:graphicData>
        </a:graphic>
      </p:graphicFrame>
      <p:sp>
        <p:nvSpPr>
          <p:cNvPr id="3" name="テキスト ボックス 2">
            <a:extLst>
              <a:ext uri="{FF2B5EF4-FFF2-40B4-BE49-F238E27FC236}">
                <a16:creationId xmlns:a16="http://schemas.microsoft.com/office/drawing/2014/main" id="{13A85EAC-9A32-49F8-B143-32B71685712A}"/>
              </a:ext>
            </a:extLst>
          </p:cNvPr>
          <p:cNvSpPr txBox="1"/>
          <p:nvPr/>
        </p:nvSpPr>
        <p:spPr>
          <a:xfrm>
            <a:off x="4698122" y="167780"/>
            <a:ext cx="2377574" cy="369332"/>
          </a:xfrm>
          <a:prstGeom prst="rect">
            <a:avLst/>
          </a:prstGeom>
          <a:noFill/>
        </p:spPr>
        <p:txBody>
          <a:bodyPr wrap="none" rtlCol="0">
            <a:spAutoFit/>
          </a:bodyPr>
          <a:lstStyle/>
          <a:p>
            <a:r>
              <a:rPr kumimoji="1" lang="en-US" altLang="ja-JP" dirty="0">
                <a:latin typeface="ＭＳ 明朝" panose="02020609040205080304" pitchFamily="17" charset="-128"/>
                <a:ea typeface="ＭＳ 明朝" panose="02020609040205080304" pitchFamily="17" charset="-128"/>
              </a:rPr>
              <a:t>Web</a:t>
            </a:r>
            <a:r>
              <a:rPr kumimoji="1" lang="ja-JP" altLang="en-US" dirty="0">
                <a:latin typeface="ＭＳ 明朝" panose="02020609040205080304" pitchFamily="17" charset="-128"/>
                <a:ea typeface="ＭＳ 明朝" panose="02020609040205080304" pitchFamily="17" charset="-128"/>
              </a:rPr>
              <a:t>サーバへの脆弱性</a:t>
            </a:r>
          </a:p>
        </p:txBody>
      </p:sp>
    </p:spTree>
    <p:extLst>
      <p:ext uri="{BB962C8B-B14F-4D97-AF65-F5344CB8AC3E}">
        <p14:creationId xmlns:p14="http://schemas.microsoft.com/office/powerpoint/2010/main" val="31490730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D71646D-5AAE-41CC-A549-3607A98403DC}"/>
              </a:ext>
            </a:extLst>
          </p:cNvPr>
          <p:cNvSpPr txBox="1"/>
          <p:nvPr/>
        </p:nvSpPr>
        <p:spPr>
          <a:xfrm>
            <a:off x="274264" y="1107348"/>
            <a:ext cx="2608406" cy="1200329"/>
          </a:xfrm>
          <a:prstGeom prst="rect">
            <a:avLst/>
          </a:prstGeom>
          <a:noFill/>
          <a:ln>
            <a:noFill/>
          </a:ln>
        </p:spPr>
        <p:txBody>
          <a:bodyPr wrap="none" rtlCol="0">
            <a:spAutoFit/>
          </a:bodyPr>
          <a:lstStyle/>
          <a:p>
            <a:pPr algn="l"/>
            <a:r>
              <a:rPr kumimoji="1" lang="ja-JP" altLang="en-US" b="1" dirty="0">
                <a:solidFill>
                  <a:srgbClr val="00B050"/>
                </a:solidFill>
                <a:latin typeface="ＭＳ 明朝" panose="02020609040205080304" pitchFamily="17" charset="-128"/>
                <a:ea typeface="ＭＳ 明朝" panose="02020609040205080304" pitchFamily="17" charset="-128"/>
              </a:rPr>
              <a:t>仮説</a:t>
            </a:r>
            <a:r>
              <a:rPr kumimoji="1" lang="en-US" altLang="ja-JP" b="1" dirty="0">
                <a:solidFill>
                  <a:srgbClr val="00B050"/>
                </a:solidFill>
                <a:latin typeface="ＭＳ 明朝" panose="02020609040205080304" pitchFamily="17" charset="-128"/>
                <a:ea typeface="ＭＳ 明朝" panose="02020609040205080304" pitchFamily="17" charset="-128"/>
              </a:rPr>
              <a:t>X</a:t>
            </a:r>
          </a:p>
          <a:p>
            <a:pPr algn="l"/>
            <a:r>
              <a:rPr kumimoji="1" lang="ja-JP" altLang="en-US" dirty="0">
                <a:latin typeface="ＭＳ 明朝" panose="02020609040205080304" pitchFamily="17" charset="-128"/>
                <a:ea typeface="ＭＳ 明朝" panose="02020609040205080304" pitchFamily="17" charset="-128"/>
              </a:rPr>
              <a:t>経路 ③</a:t>
            </a:r>
            <a:endParaRPr kumimoji="1" lang="en-US" altLang="ja-JP" dirty="0">
              <a:latin typeface="ＭＳ 明朝" panose="02020609040205080304" pitchFamily="17" charset="-128"/>
              <a:ea typeface="ＭＳ 明朝" panose="02020609040205080304" pitchFamily="17" charset="-128"/>
            </a:endParaRPr>
          </a:p>
          <a:p>
            <a:pPr algn="l"/>
            <a:r>
              <a:rPr lang="en-US" altLang="ja-JP" dirty="0">
                <a:latin typeface="ＭＳ 明朝" panose="02020609040205080304" pitchFamily="17" charset="-128"/>
                <a:ea typeface="ＭＳ 明朝" panose="02020609040205080304" pitchFamily="17" charset="-128"/>
              </a:rPr>
              <a:t>DB</a:t>
            </a:r>
            <a:r>
              <a:rPr lang="ja-JP" altLang="en-US" dirty="0">
                <a:latin typeface="ＭＳ 明朝" panose="02020609040205080304" pitchFamily="17" charset="-128"/>
                <a:ea typeface="ＭＳ 明朝" panose="02020609040205080304" pitchFamily="17" charset="-128"/>
              </a:rPr>
              <a:t>サーバへの攻撃</a:t>
            </a:r>
            <a:endParaRPr lang="en-US" altLang="ja-JP" dirty="0">
              <a:latin typeface="ＭＳ 明朝" panose="02020609040205080304" pitchFamily="17" charset="-128"/>
              <a:ea typeface="ＭＳ 明朝" panose="02020609040205080304" pitchFamily="17" charset="-128"/>
            </a:endParaRPr>
          </a:p>
          <a:p>
            <a:pPr algn="l"/>
            <a:r>
              <a:rPr lang="ja-JP" altLang="en-US" dirty="0">
                <a:latin typeface="ＭＳ 明朝" panose="02020609040205080304" pitchFamily="17" charset="-128"/>
                <a:ea typeface="ＭＳ 明朝" panose="02020609040205080304" pitchFamily="17" charset="-128"/>
              </a:rPr>
              <a:t>脆弱性のうち</a:t>
            </a:r>
            <a:r>
              <a:rPr lang="en-US" altLang="ja-JP" dirty="0">
                <a:latin typeface="ＭＳ 明朝" panose="02020609040205080304" pitchFamily="17" charset="-128"/>
                <a:ea typeface="ＭＳ 明朝" panose="02020609040205080304" pitchFamily="17" charset="-128"/>
              </a:rPr>
              <a:t>3</a:t>
            </a:r>
            <a:r>
              <a:rPr lang="ja-JP" altLang="en-US" dirty="0">
                <a:latin typeface="ＭＳ 明朝" panose="02020609040205080304" pitchFamily="17" charset="-128"/>
                <a:ea typeface="ＭＳ 明朝" panose="02020609040205080304" pitchFamily="17" charset="-128"/>
              </a:rPr>
              <a:t>件を抽出</a:t>
            </a:r>
            <a:endParaRPr kumimoji="1" lang="ja-JP" altLang="en-US" dirty="0">
              <a:latin typeface="ＭＳ 明朝" panose="02020609040205080304" pitchFamily="17" charset="-128"/>
              <a:ea typeface="ＭＳ 明朝" panose="02020609040205080304" pitchFamily="17" charset="-128"/>
            </a:endParaRPr>
          </a:p>
        </p:txBody>
      </p:sp>
      <p:sp>
        <p:nvSpPr>
          <p:cNvPr id="3" name="テキスト ボックス 2">
            <a:extLst>
              <a:ext uri="{FF2B5EF4-FFF2-40B4-BE49-F238E27FC236}">
                <a16:creationId xmlns:a16="http://schemas.microsoft.com/office/drawing/2014/main" id="{0D9DEFFE-94E1-489E-9020-98224584C51D}"/>
              </a:ext>
            </a:extLst>
          </p:cNvPr>
          <p:cNvSpPr txBox="1"/>
          <p:nvPr/>
        </p:nvSpPr>
        <p:spPr>
          <a:xfrm>
            <a:off x="2340529" y="2477918"/>
            <a:ext cx="7164198" cy="369332"/>
          </a:xfrm>
          <a:prstGeom prst="rect">
            <a:avLst/>
          </a:prstGeom>
          <a:noFill/>
          <a:ln>
            <a:solidFill>
              <a:schemeClr val="tx1"/>
            </a:solidFill>
          </a:ln>
        </p:spPr>
        <p:txBody>
          <a:bodyPr wrap="square" rtlCol="0">
            <a:spAutoFit/>
          </a:bodyPr>
          <a:lstStyle/>
          <a:p>
            <a:pPr algn="ctr"/>
            <a:r>
              <a:rPr lang="en-US" altLang="ja-JP" dirty="0">
                <a:latin typeface="ＭＳ 明朝" panose="02020609040205080304" pitchFamily="17" charset="-128"/>
                <a:ea typeface="ＭＳ 明朝" panose="02020609040205080304" pitchFamily="17" charset="-128"/>
              </a:rPr>
              <a:t>Oracle Database 19c Standard Edition 2 Release 19.0.0.0.0</a:t>
            </a:r>
            <a:endParaRPr kumimoji="1" lang="en-US" altLang="ja-JP" dirty="0">
              <a:latin typeface="ＭＳ 明朝" panose="02020609040205080304" pitchFamily="17" charset="-128"/>
              <a:ea typeface="ＭＳ 明朝" panose="02020609040205080304" pitchFamily="17" charset="-128"/>
            </a:endParaRPr>
          </a:p>
        </p:txBody>
      </p:sp>
      <p:graphicFrame>
        <p:nvGraphicFramePr>
          <p:cNvPr id="4" name="表 3">
            <a:extLst>
              <a:ext uri="{FF2B5EF4-FFF2-40B4-BE49-F238E27FC236}">
                <a16:creationId xmlns:a16="http://schemas.microsoft.com/office/drawing/2014/main" id="{62B060A3-C176-4C46-866A-4973E234A6A4}"/>
              </a:ext>
            </a:extLst>
          </p:cNvPr>
          <p:cNvGraphicFramePr>
            <a:graphicFrameLocks noGrp="1"/>
          </p:cNvGraphicFramePr>
          <p:nvPr>
            <p:extLst>
              <p:ext uri="{D42A27DB-BD31-4B8C-83A1-F6EECF244321}">
                <p14:modId xmlns:p14="http://schemas.microsoft.com/office/powerpoint/2010/main" val="1709931832"/>
              </p:ext>
            </p:extLst>
          </p:nvPr>
        </p:nvGraphicFramePr>
        <p:xfrm>
          <a:off x="174737" y="3386823"/>
          <a:ext cx="11787964" cy="2398832"/>
        </p:xfrm>
        <a:graphic>
          <a:graphicData uri="http://schemas.openxmlformats.org/drawingml/2006/table">
            <a:tbl>
              <a:tblPr firstRow="1" bandRow="1">
                <a:tableStyleId>{5940675A-B579-460E-94D1-54222C63F5DA}</a:tableStyleId>
              </a:tblPr>
              <a:tblGrid>
                <a:gridCol w="627380">
                  <a:extLst>
                    <a:ext uri="{9D8B030D-6E8A-4147-A177-3AD203B41FA5}">
                      <a16:colId xmlns:a16="http://schemas.microsoft.com/office/drawing/2014/main" val="3032621611"/>
                    </a:ext>
                  </a:extLst>
                </a:gridCol>
                <a:gridCol w="1571967">
                  <a:extLst>
                    <a:ext uri="{9D8B030D-6E8A-4147-A177-3AD203B41FA5}">
                      <a16:colId xmlns:a16="http://schemas.microsoft.com/office/drawing/2014/main" val="3995868737"/>
                    </a:ext>
                  </a:extLst>
                </a:gridCol>
                <a:gridCol w="1350628">
                  <a:extLst>
                    <a:ext uri="{9D8B030D-6E8A-4147-A177-3AD203B41FA5}">
                      <a16:colId xmlns:a16="http://schemas.microsoft.com/office/drawing/2014/main" val="4143132480"/>
                    </a:ext>
                  </a:extLst>
                </a:gridCol>
                <a:gridCol w="8237989">
                  <a:extLst>
                    <a:ext uri="{9D8B030D-6E8A-4147-A177-3AD203B41FA5}">
                      <a16:colId xmlns:a16="http://schemas.microsoft.com/office/drawing/2014/main" val="3585631135"/>
                    </a:ext>
                  </a:extLst>
                </a:gridCol>
              </a:tblGrid>
              <a:tr h="442240">
                <a:tc>
                  <a:txBody>
                    <a:bodyPr/>
                    <a:lstStyle/>
                    <a:p>
                      <a:pPr algn="ctr"/>
                      <a:r>
                        <a:rPr kumimoji="1" lang="ja-JP" altLang="en-US" sz="1400" dirty="0">
                          <a:latin typeface="ＭＳ 明朝" panose="02020609040205080304" pitchFamily="17" charset="-128"/>
                          <a:ea typeface="ＭＳ 明朝" panose="02020609040205080304" pitchFamily="17" charset="-128"/>
                        </a:rPr>
                        <a:t>番号</a:t>
                      </a: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CVE</a:t>
                      </a:r>
                      <a:r>
                        <a:rPr kumimoji="1" lang="ja-JP" altLang="en-US" sz="1400" dirty="0">
                          <a:latin typeface="ＭＳ 明朝" panose="02020609040205080304" pitchFamily="17" charset="-128"/>
                          <a:ea typeface="ＭＳ 明朝" panose="02020609040205080304" pitchFamily="17" charset="-128"/>
                        </a:rPr>
                        <a:t>番号</a:t>
                      </a: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影響を受ける</a:t>
                      </a:r>
                      <a:endParaRPr kumimoji="1" lang="en-US" altLang="ja-JP" sz="1400" dirty="0">
                        <a:latin typeface="ＭＳ 明朝" panose="02020609040205080304" pitchFamily="17" charset="-128"/>
                        <a:ea typeface="ＭＳ 明朝" panose="02020609040205080304" pitchFamily="17" charset="-128"/>
                      </a:endParaRPr>
                    </a:p>
                    <a:p>
                      <a:pPr algn="ctr"/>
                      <a:r>
                        <a:rPr kumimoji="1" lang="ja-JP" altLang="en-US" sz="1400" dirty="0">
                          <a:latin typeface="ＭＳ 明朝" panose="02020609040205080304" pitchFamily="17" charset="-128"/>
                          <a:ea typeface="ＭＳ 明朝" panose="02020609040205080304" pitchFamily="17" charset="-128"/>
                        </a:rPr>
                        <a:t>バージョン</a:t>
                      </a: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影響</a:t>
                      </a:r>
                    </a:p>
                  </a:txBody>
                  <a:tcPr anchor="ctr"/>
                </a:tc>
                <a:extLst>
                  <a:ext uri="{0D108BD9-81ED-4DB2-BD59-A6C34878D82A}">
                    <a16:rowId xmlns:a16="http://schemas.microsoft.com/office/drawing/2014/main" val="140664658"/>
                  </a:ext>
                </a:extLst>
              </a:tr>
              <a:tr h="6412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１</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CVE-2020-36518</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19c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21c</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r>
                        <a:rPr kumimoji="1" lang="ja-JP" altLang="en-US" sz="1400" dirty="0">
                          <a:latin typeface="ＭＳ 明朝" panose="02020609040205080304" pitchFamily="17" charset="-128"/>
                          <a:ea typeface="ＭＳ 明朝" panose="02020609040205080304" pitchFamily="17" charset="-128"/>
                        </a:rPr>
                        <a:t>攻撃が成功すると、ハングさせたり、頻繁に繰り返しクラッシュさせたりする可能性がある。</a:t>
                      </a:r>
                    </a:p>
                  </a:txBody>
                  <a:tcPr anchor="ctr"/>
                </a:tc>
                <a:extLst>
                  <a:ext uri="{0D108BD9-81ED-4DB2-BD59-A6C34878D82A}">
                    <a16:rowId xmlns:a16="http://schemas.microsoft.com/office/drawing/2014/main" val="3070175176"/>
                  </a:ext>
                </a:extLst>
              </a:tr>
              <a:tr h="5766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２</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CVE-2022-21596</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19c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21c</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r>
                        <a:rPr kumimoji="1" lang="ja-JP" altLang="en-US" sz="1400" dirty="0">
                          <a:latin typeface="ＭＳ 明朝" panose="02020609040205080304" pitchFamily="17" charset="-128"/>
                          <a:ea typeface="ＭＳ 明朝" panose="02020609040205080304" pitchFamily="17" charset="-128"/>
                        </a:rPr>
                        <a:t>攻撃が成功すると、</a:t>
                      </a:r>
                      <a:r>
                        <a:rPr kumimoji="1" lang="en-US" altLang="ja-JP" sz="1400" dirty="0">
                          <a:latin typeface="ＭＳ 明朝" panose="02020609040205080304" pitchFamily="17" charset="-128"/>
                          <a:ea typeface="ＭＳ 明朝" panose="02020609040205080304" pitchFamily="17" charset="-128"/>
                        </a:rPr>
                        <a:t>Oracle Database-Advanced Queuing</a:t>
                      </a:r>
                      <a:r>
                        <a:rPr kumimoji="1" lang="ja-JP" altLang="en-US" sz="1400" dirty="0">
                          <a:latin typeface="ＭＳ 明朝" panose="02020609040205080304" pitchFamily="17" charset="-128"/>
                          <a:ea typeface="ＭＳ 明朝" panose="02020609040205080304" pitchFamily="17" charset="-128"/>
                        </a:rPr>
                        <a:t>の乗っ取りが発生する可能性がある。</a:t>
                      </a:r>
                    </a:p>
                  </a:txBody>
                  <a:tcPr anchor="ctr"/>
                </a:tc>
                <a:extLst>
                  <a:ext uri="{0D108BD9-81ED-4DB2-BD59-A6C34878D82A}">
                    <a16:rowId xmlns:a16="http://schemas.microsoft.com/office/drawing/2014/main" val="1059170032"/>
                  </a:ext>
                </a:extLst>
              </a:tr>
              <a:tr h="6627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３</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CVE-2022-21603</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19c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21c</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r>
                        <a:rPr kumimoji="1" lang="ja-JP" altLang="en-US" sz="1400" dirty="0">
                          <a:latin typeface="ＭＳ 明朝" panose="02020609040205080304" pitchFamily="17" charset="-128"/>
                          <a:ea typeface="ＭＳ 明朝" panose="02020609040205080304" pitchFamily="17" charset="-128"/>
                        </a:rPr>
                        <a:t>攻撃が成功すると、</a:t>
                      </a:r>
                      <a:r>
                        <a:rPr kumimoji="1" lang="en-US" altLang="ja-JP" sz="1400" dirty="0">
                          <a:latin typeface="ＭＳ 明朝" panose="02020609040205080304" pitchFamily="17" charset="-128"/>
                          <a:ea typeface="ＭＳ 明朝" panose="02020609040205080304" pitchFamily="17" charset="-128"/>
                        </a:rPr>
                        <a:t>Oracle Database-Advanced Queuing</a:t>
                      </a:r>
                      <a:r>
                        <a:rPr kumimoji="1" lang="ja-JP" altLang="en-US" sz="1400" dirty="0">
                          <a:latin typeface="ＭＳ 明朝" panose="02020609040205080304" pitchFamily="17" charset="-128"/>
                          <a:ea typeface="ＭＳ 明朝" panose="02020609040205080304" pitchFamily="17" charset="-128"/>
                        </a:rPr>
                        <a:t>の乗っ取りが発生する可能性がる。</a:t>
                      </a:r>
                    </a:p>
                  </a:txBody>
                  <a:tcPr anchor="ctr"/>
                </a:tc>
                <a:extLst>
                  <a:ext uri="{0D108BD9-81ED-4DB2-BD59-A6C34878D82A}">
                    <a16:rowId xmlns:a16="http://schemas.microsoft.com/office/drawing/2014/main" val="4289193062"/>
                  </a:ext>
                </a:extLst>
              </a:tr>
            </a:tbl>
          </a:graphicData>
        </a:graphic>
      </p:graphicFrame>
      <p:sp>
        <p:nvSpPr>
          <p:cNvPr id="5" name="テキスト ボックス 4">
            <a:extLst>
              <a:ext uri="{FF2B5EF4-FFF2-40B4-BE49-F238E27FC236}">
                <a16:creationId xmlns:a16="http://schemas.microsoft.com/office/drawing/2014/main" id="{DD9CBF12-EA92-4B5B-8A03-CC575A8680E1}"/>
              </a:ext>
            </a:extLst>
          </p:cNvPr>
          <p:cNvSpPr txBox="1"/>
          <p:nvPr/>
        </p:nvSpPr>
        <p:spPr>
          <a:xfrm>
            <a:off x="5537693" y="155391"/>
            <a:ext cx="1659429" cy="369332"/>
          </a:xfrm>
          <a:prstGeom prst="rect">
            <a:avLst/>
          </a:prstGeom>
          <a:noFill/>
        </p:spPr>
        <p:txBody>
          <a:bodyPr wrap="none" rtlCol="0">
            <a:spAutoFit/>
          </a:bodyPr>
          <a:lstStyle/>
          <a:p>
            <a:r>
              <a:rPr kumimoji="1" lang="en-US" altLang="ja-JP" dirty="0"/>
              <a:t>DB</a:t>
            </a:r>
            <a:r>
              <a:rPr kumimoji="1" lang="ja-JP" altLang="en-US" dirty="0" err="1"/>
              <a:t>への</a:t>
            </a:r>
            <a:r>
              <a:rPr kumimoji="1" lang="ja-JP" altLang="en-US" dirty="0"/>
              <a:t>脆弱性</a:t>
            </a:r>
          </a:p>
        </p:txBody>
      </p:sp>
    </p:spTree>
    <p:extLst>
      <p:ext uri="{BB962C8B-B14F-4D97-AF65-F5344CB8AC3E}">
        <p14:creationId xmlns:p14="http://schemas.microsoft.com/office/powerpoint/2010/main" val="36197286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53AA361-0301-47E8-96D3-DC22A4EE1D0B}"/>
              </a:ext>
            </a:extLst>
          </p:cNvPr>
          <p:cNvSpPr txBox="1"/>
          <p:nvPr/>
        </p:nvSpPr>
        <p:spPr>
          <a:xfrm>
            <a:off x="903439" y="642961"/>
            <a:ext cx="5955476" cy="923330"/>
          </a:xfrm>
          <a:prstGeom prst="rect">
            <a:avLst/>
          </a:prstGeom>
          <a:noFill/>
          <a:ln>
            <a:noFill/>
          </a:ln>
        </p:spPr>
        <p:txBody>
          <a:bodyPr wrap="none" rtlCol="0">
            <a:spAutoFit/>
          </a:bodyPr>
          <a:lstStyle/>
          <a:p>
            <a:pPr algn="l"/>
            <a:r>
              <a:rPr lang="ja-JP" altLang="en-US" dirty="0">
                <a:latin typeface="ＭＳ 明朝" panose="02020609040205080304" pitchFamily="17" charset="-128"/>
                <a:ea typeface="ＭＳ 明朝" panose="02020609040205080304" pitchFamily="17" charset="-128"/>
              </a:rPr>
              <a:t>経　路： ②</a:t>
            </a:r>
            <a:endParaRPr lang="en-US" altLang="ja-JP" dirty="0">
              <a:latin typeface="ＭＳ 明朝" panose="02020609040205080304" pitchFamily="17" charset="-128"/>
              <a:ea typeface="ＭＳ 明朝" panose="02020609040205080304" pitchFamily="17" charset="-128"/>
            </a:endParaRPr>
          </a:p>
          <a:p>
            <a:pPr algn="l"/>
            <a:r>
              <a:rPr lang="ja-JP" altLang="en-US" dirty="0">
                <a:latin typeface="ＭＳ 明朝" panose="02020609040205080304" pitchFamily="17" charset="-128"/>
                <a:ea typeface="ＭＳ 明朝" panose="02020609040205080304" pitchFamily="17" charset="-128"/>
              </a:rPr>
              <a:t>概　要：ファイアウォールへの攻撃</a:t>
            </a:r>
            <a:endParaRPr lang="en-US" altLang="ja-JP" dirty="0">
              <a:latin typeface="ＭＳ 明朝" panose="02020609040205080304" pitchFamily="17" charset="-128"/>
              <a:ea typeface="ＭＳ 明朝" panose="02020609040205080304" pitchFamily="17" charset="-128"/>
            </a:endParaRPr>
          </a:p>
          <a:p>
            <a:pPr algn="l"/>
            <a:r>
              <a:rPr lang="ja-JP" altLang="en-US" dirty="0">
                <a:latin typeface="ＭＳ 明朝" panose="02020609040205080304" pitchFamily="17" charset="-128"/>
                <a:ea typeface="ＭＳ 明朝" panose="02020609040205080304" pitchFamily="17" charset="-128"/>
              </a:rPr>
              <a:t>　　　　数多くある脆弱性から比較的直近の３件を抽出</a:t>
            </a:r>
            <a:endParaRPr kumimoji="1" lang="ja-JP" altLang="en-US" dirty="0">
              <a:latin typeface="ＭＳ 明朝" panose="02020609040205080304" pitchFamily="17" charset="-128"/>
              <a:ea typeface="ＭＳ 明朝" panose="02020609040205080304" pitchFamily="17" charset="-128"/>
            </a:endParaRPr>
          </a:p>
        </p:txBody>
      </p:sp>
      <p:sp>
        <p:nvSpPr>
          <p:cNvPr id="3" name="テキスト ボックス 2">
            <a:extLst>
              <a:ext uri="{FF2B5EF4-FFF2-40B4-BE49-F238E27FC236}">
                <a16:creationId xmlns:a16="http://schemas.microsoft.com/office/drawing/2014/main" id="{636F9DCA-F52E-40D1-8721-CA8C0D92021F}"/>
              </a:ext>
            </a:extLst>
          </p:cNvPr>
          <p:cNvSpPr txBox="1"/>
          <p:nvPr/>
        </p:nvSpPr>
        <p:spPr>
          <a:xfrm>
            <a:off x="2332140" y="1665652"/>
            <a:ext cx="7164198" cy="369332"/>
          </a:xfrm>
          <a:prstGeom prst="rect">
            <a:avLst/>
          </a:prstGeom>
          <a:noFill/>
          <a:ln>
            <a:solidFill>
              <a:schemeClr val="tx1"/>
            </a:solidFill>
          </a:ln>
        </p:spPr>
        <p:txBody>
          <a:bodyPr wrap="square" rtlCol="0">
            <a:spAutoFit/>
          </a:bodyPr>
          <a:lstStyle/>
          <a:p>
            <a:pPr algn="ctr"/>
            <a:r>
              <a:rPr lang="en-US" altLang="ja-JP" dirty="0">
                <a:latin typeface="ＭＳ 明朝" panose="02020609040205080304" pitchFamily="17" charset="-128"/>
                <a:ea typeface="ＭＳ 明朝" panose="02020609040205080304" pitchFamily="17" charset="-128"/>
              </a:rPr>
              <a:t>Juniper SRX320 ver20.4R3-S3.4</a:t>
            </a:r>
          </a:p>
        </p:txBody>
      </p:sp>
      <p:graphicFrame>
        <p:nvGraphicFramePr>
          <p:cNvPr id="4" name="表 3">
            <a:extLst>
              <a:ext uri="{FF2B5EF4-FFF2-40B4-BE49-F238E27FC236}">
                <a16:creationId xmlns:a16="http://schemas.microsoft.com/office/drawing/2014/main" id="{C06BCC99-CA4F-4246-A98B-6B46B8D9B702}"/>
              </a:ext>
            </a:extLst>
          </p:cNvPr>
          <p:cNvGraphicFramePr>
            <a:graphicFrameLocks noGrp="1"/>
          </p:cNvGraphicFramePr>
          <p:nvPr>
            <p:extLst>
              <p:ext uri="{D42A27DB-BD31-4B8C-83A1-F6EECF244321}">
                <p14:modId xmlns:p14="http://schemas.microsoft.com/office/powerpoint/2010/main" val="4167583536"/>
              </p:ext>
            </p:extLst>
          </p:nvPr>
        </p:nvGraphicFramePr>
        <p:xfrm>
          <a:off x="250238" y="2229584"/>
          <a:ext cx="11116845" cy="5049756"/>
        </p:xfrm>
        <a:graphic>
          <a:graphicData uri="http://schemas.openxmlformats.org/drawingml/2006/table">
            <a:tbl>
              <a:tblPr firstRow="1" bandRow="1">
                <a:tableStyleId>{5940675A-B579-460E-94D1-54222C63F5DA}</a:tableStyleId>
              </a:tblPr>
              <a:tblGrid>
                <a:gridCol w="627380">
                  <a:extLst>
                    <a:ext uri="{9D8B030D-6E8A-4147-A177-3AD203B41FA5}">
                      <a16:colId xmlns:a16="http://schemas.microsoft.com/office/drawing/2014/main" val="3032621611"/>
                    </a:ext>
                  </a:extLst>
                </a:gridCol>
                <a:gridCol w="1516380">
                  <a:extLst>
                    <a:ext uri="{9D8B030D-6E8A-4147-A177-3AD203B41FA5}">
                      <a16:colId xmlns:a16="http://schemas.microsoft.com/office/drawing/2014/main" val="3995868737"/>
                    </a:ext>
                  </a:extLst>
                </a:gridCol>
                <a:gridCol w="2798787">
                  <a:extLst>
                    <a:ext uri="{9D8B030D-6E8A-4147-A177-3AD203B41FA5}">
                      <a16:colId xmlns:a16="http://schemas.microsoft.com/office/drawing/2014/main" val="4143132480"/>
                    </a:ext>
                  </a:extLst>
                </a:gridCol>
                <a:gridCol w="3561080">
                  <a:extLst>
                    <a:ext uri="{9D8B030D-6E8A-4147-A177-3AD203B41FA5}">
                      <a16:colId xmlns:a16="http://schemas.microsoft.com/office/drawing/2014/main" val="3585631135"/>
                    </a:ext>
                  </a:extLst>
                </a:gridCol>
                <a:gridCol w="2613218">
                  <a:extLst>
                    <a:ext uri="{9D8B030D-6E8A-4147-A177-3AD203B41FA5}">
                      <a16:colId xmlns:a16="http://schemas.microsoft.com/office/drawing/2014/main" val="3375818505"/>
                    </a:ext>
                  </a:extLst>
                </a:gridCol>
              </a:tblGrid>
              <a:tr h="442240">
                <a:tc>
                  <a:txBody>
                    <a:bodyPr/>
                    <a:lstStyle/>
                    <a:p>
                      <a:pPr algn="ctr"/>
                      <a:r>
                        <a:rPr kumimoji="1" lang="ja-JP" altLang="en-US" sz="1400" dirty="0">
                          <a:latin typeface="ＭＳ 明朝" panose="02020609040205080304" pitchFamily="17" charset="-128"/>
                          <a:ea typeface="ＭＳ 明朝" panose="02020609040205080304" pitchFamily="17" charset="-128"/>
                        </a:rPr>
                        <a:t>番号</a:t>
                      </a: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CVE</a:t>
                      </a:r>
                      <a:r>
                        <a:rPr kumimoji="1" lang="ja-JP" altLang="en-US" sz="1400" dirty="0">
                          <a:latin typeface="ＭＳ 明朝" panose="02020609040205080304" pitchFamily="17" charset="-128"/>
                          <a:ea typeface="ＭＳ 明朝" panose="02020609040205080304" pitchFamily="17" charset="-128"/>
                        </a:rPr>
                        <a:t>番号</a:t>
                      </a: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影響を受ける</a:t>
                      </a:r>
                      <a:endParaRPr kumimoji="1" lang="en-US" altLang="ja-JP" sz="1400" dirty="0">
                        <a:latin typeface="ＭＳ 明朝" panose="02020609040205080304" pitchFamily="17" charset="-128"/>
                        <a:ea typeface="ＭＳ 明朝" panose="02020609040205080304" pitchFamily="17" charset="-128"/>
                      </a:endParaRPr>
                    </a:p>
                    <a:p>
                      <a:pPr algn="ctr"/>
                      <a:r>
                        <a:rPr kumimoji="1" lang="ja-JP" altLang="en-US" sz="1400" dirty="0">
                          <a:latin typeface="ＭＳ 明朝" panose="02020609040205080304" pitchFamily="17" charset="-128"/>
                          <a:ea typeface="ＭＳ 明朝" panose="02020609040205080304" pitchFamily="17" charset="-128"/>
                        </a:rPr>
                        <a:t>バージョン</a:t>
                      </a: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影響</a:t>
                      </a: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使用可否</a:t>
                      </a:r>
                    </a:p>
                  </a:txBody>
                  <a:tcPr anchor="ctr"/>
                </a:tc>
                <a:extLst>
                  <a:ext uri="{0D108BD9-81ED-4DB2-BD59-A6C34878D82A}">
                    <a16:rowId xmlns:a16="http://schemas.microsoft.com/office/drawing/2014/main" val="140664658"/>
                  </a:ext>
                </a:extLst>
              </a:tr>
              <a:tr h="6412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１</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CVE-2025-21597</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All version before 20.4R3-S8</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r>
                        <a:rPr kumimoji="1" lang="en-US" altLang="ja-JP" sz="1400" dirty="0">
                          <a:latin typeface="ＭＳ 明朝" panose="02020609040205080304" pitchFamily="17" charset="-128"/>
                          <a:ea typeface="ＭＳ 明朝" panose="02020609040205080304" pitchFamily="17" charset="-128"/>
                        </a:rPr>
                        <a:t>BGP</a:t>
                      </a:r>
                      <a:r>
                        <a:rPr kumimoji="1" lang="ja-JP" altLang="en-US" sz="1400" dirty="0">
                          <a:latin typeface="ＭＳ 明朝" panose="02020609040205080304" pitchFamily="17" charset="-128"/>
                          <a:ea typeface="ＭＳ 明朝" panose="02020609040205080304" pitchFamily="17" charset="-128"/>
                        </a:rPr>
                        <a:t>セッションを持っていないと使えない</a:t>
                      </a: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a:t>
                      </a:r>
                      <a:endParaRPr kumimoji="1" lang="ja-JP" altLang="en-US" sz="1400" dirty="0">
                        <a:latin typeface="ＭＳ 明朝" panose="02020609040205080304" pitchFamily="17" charset="-128"/>
                        <a:ea typeface="ＭＳ 明朝" panose="02020609040205080304" pitchFamily="17" charset="-128"/>
                      </a:endParaRPr>
                    </a:p>
                  </a:txBody>
                  <a:tcPr anchor="ctr"/>
                </a:tc>
                <a:extLst>
                  <a:ext uri="{0D108BD9-81ED-4DB2-BD59-A6C34878D82A}">
                    <a16:rowId xmlns:a16="http://schemas.microsoft.com/office/drawing/2014/main" val="3070175176"/>
                  </a:ext>
                </a:extLst>
              </a:tr>
              <a:tr h="5766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２</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CVE-2024-39514</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All version before 20.4R3-S10</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r>
                        <a:rPr kumimoji="1" lang="en-US" altLang="ja-JP" sz="1400" dirty="0">
                          <a:latin typeface="ＭＳ 明朝" panose="02020609040205080304" pitchFamily="17" charset="-128"/>
                          <a:ea typeface="ＭＳ 明朝" panose="02020609040205080304" pitchFamily="17" charset="-128"/>
                        </a:rPr>
                        <a:t>EVPN-VPWS</a:t>
                      </a:r>
                      <a:r>
                        <a:rPr kumimoji="1" lang="ja-JP" altLang="en-US" sz="1400" dirty="0">
                          <a:latin typeface="ＭＳ 明朝" panose="02020609040205080304" pitchFamily="17" charset="-128"/>
                          <a:ea typeface="ＭＳ 明朝" panose="02020609040205080304" pitchFamily="17" charset="-128"/>
                        </a:rPr>
                        <a:t>インスタンスで</a:t>
                      </a:r>
                      <a:r>
                        <a:rPr kumimoji="1" lang="en-US" altLang="ja-JP" sz="1400" dirty="0">
                          <a:latin typeface="ＭＳ 明朝" panose="02020609040205080304" pitchFamily="17" charset="-128"/>
                          <a:ea typeface="ＭＳ 明朝" panose="02020609040205080304" pitchFamily="17" charset="-128"/>
                        </a:rPr>
                        <a:t>IGMP-snooping</a:t>
                      </a:r>
                      <a:r>
                        <a:rPr kumimoji="1" lang="ja-JP" altLang="en-US" sz="1400" dirty="0">
                          <a:latin typeface="ＭＳ 明朝" panose="02020609040205080304" pitchFamily="17" charset="-128"/>
                          <a:ea typeface="ＭＳ 明朝" panose="02020609040205080304" pitchFamily="17" charset="-128"/>
                        </a:rPr>
                        <a:t>が有効になっていないと使えない</a:t>
                      </a: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a:t>
                      </a:r>
                      <a:endParaRPr kumimoji="1" lang="ja-JP" altLang="en-US" sz="1400" dirty="0">
                        <a:latin typeface="ＭＳ 明朝" panose="02020609040205080304" pitchFamily="17" charset="-128"/>
                        <a:ea typeface="ＭＳ 明朝" panose="02020609040205080304" pitchFamily="17" charset="-128"/>
                      </a:endParaRPr>
                    </a:p>
                  </a:txBody>
                  <a:tcPr anchor="ctr"/>
                </a:tc>
                <a:extLst>
                  <a:ext uri="{0D108BD9-81ED-4DB2-BD59-A6C34878D82A}">
                    <a16:rowId xmlns:a16="http://schemas.microsoft.com/office/drawing/2014/main" val="1059170032"/>
                  </a:ext>
                </a:extLst>
              </a:tr>
              <a:tr h="6627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３</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CVE-2024-39560</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All version before 20.4R3-S9</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r>
                        <a:rPr kumimoji="1" lang="en-US" altLang="ja-JP" sz="1400" dirty="0">
                          <a:latin typeface="ＭＳ 明朝" panose="02020609040205080304" pitchFamily="17" charset="-128"/>
                          <a:ea typeface="ＭＳ 明朝" panose="02020609040205080304" pitchFamily="17" charset="-128"/>
                        </a:rPr>
                        <a:t>RSVP</a:t>
                      </a:r>
                      <a:r>
                        <a:rPr kumimoji="1" lang="ja-JP" altLang="en-US" sz="1400" dirty="0">
                          <a:latin typeface="ＭＳ 明朝" panose="02020609040205080304" pitchFamily="17" charset="-128"/>
                          <a:ea typeface="ＭＳ 明朝" panose="02020609040205080304" pitchFamily="17" charset="-128"/>
                        </a:rPr>
                        <a:t>ピアが隣接していないと使えない。</a:t>
                      </a: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a:t>
                      </a:r>
                      <a:endParaRPr kumimoji="1" lang="ja-JP" altLang="en-US" sz="1400" dirty="0">
                        <a:latin typeface="ＭＳ 明朝" panose="02020609040205080304" pitchFamily="17" charset="-128"/>
                        <a:ea typeface="ＭＳ 明朝" panose="02020609040205080304" pitchFamily="17" charset="-128"/>
                      </a:endParaRPr>
                    </a:p>
                  </a:txBody>
                  <a:tcPr anchor="ctr"/>
                </a:tc>
                <a:extLst>
                  <a:ext uri="{0D108BD9-81ED-4DB2-BD59-A6C34878D82A}">
                    <a16:rowId xmlns:a16="http://schemas.microsoft.com/office/drawing/2014/main" val="4289193062"/>
                  </a:ext>
                </a:extLst>
              </a:tr>
              <a:tr h="6627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4</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CVE-2024-39543</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All version before 21.2R3-S8</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r>
                        <a:rPr kumimoji="1" lang="en-US" altLang="ja-JP" sz="1400" dirty="0">
                          <a:latin typeface="ＭＳ 明朝" panose="02020609040205080304" pitchFamily="17" charset="-128"/>
                          <a:ea typeface="ＭＳ 明朝" panose="02020609040205080304" pitchFamily="17" charset="-128"/>
                        </a:rPr>
                        <a:t>RPKI-RTR</a:t>
                      </a:r>
                      <a:r>
                        <a:rPr kumimoji="1" lang="ja-JP" altLang="en-US" sz="1400" dirty="0">
                          <a:latin typeface="ＭＳ 明朝" panose="02020609040205080304" pitchFamily="17" charset="-128"/>
                          <a:ea typeface="ＭＳ 明朝" panose="02020609040205080304" pitchFamily="17" charset="-128"/>
                        </a:rPr>
                        <a:t>ピアが設定されていないと使えない。</a:t>
                      </a: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a:t>
                      </a:r>
                      <a:endParaRPr kumimoji="1" lang="ja-JP" altLang="en-US" sz="1400" dirty="0">
                        <a:latin typeface="ＭＳ 明朝" panose="02020609040205080304" pitchFamily="17" charset="-128"/>
                        <a:ea typeface="ＭＳ 明朝" panose="02020609040205080304" pitchFamily="17" charset="-128"/>
                      </a:endParaRPr>
                    </a:p>
                  </a:txBody>
                  <a:tcPr anchor="ctr"/>
                </a:tc>
                <a:extLst>
                  <a:ext uri="{0D108BD9-81ED-4DB2-BD59-A6C34878D82A}">
                    <a16:rowId xmlns:a16="http://schemas.microsoft.com/office/drawing/2014/main" val="3562769347"/>
                  </a:ext>
                </a:extLst>
              </a:tr>
              <a:tr h="6627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5</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CVE-2024-39552</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All version</a:t>
                      </a:r>
                      <a:r>
                        <a:rPr kumimoji="1" lang="ja-JP" altLang="en-US" sz="1400" dirty="0">
                          <a:latin typeface="ＭＳ 明朝" panose="02020609040205080304" pitchFamily="17" charset="-128"/>
                          <a:ea typeface="ＭＳ 明朝" panose="02020609040205080304" pitchFamily="17" charset="-128"/>
                        </a:rPr>
                        <a:t> </a:t>
                      </a:r>
                      <a:r>
                        <a:rPr kumimoji="1" lang="en-US" altLang="ja-JP" sz="1400" dirty="0">
                          <a:latin typeface="ＭＳ 明朝" panose="02020609040205080304" pitchFamily="17" charset="-128"/>
                          <a:ea typeface="ＭＳ 明朝" panose="02020609040205080304" pitchFamily="17" charset="-128"/>
                        </a:rPr>
                        <a:t>before</a:t>
                      </a:r>
                      <a:r>
                        <a:rPr kumimoji="1" lang="ja-JP" altLang="en-US" sz="1400" dirty="0">
                          <a:latin typeface="ＭＳ 明朝" panose="02020609040205080304" pitchFamily="17" charset="-128"/>
                          <a:ea typeface="ＭＳ 明朝" panose="02020609040205080304" pitchFamily="17" charset="-128"/>
                        </a:rPr>
                        <a:t> </a:t>
                      </a:r>
                      <a:r>
                        <a:rPr kumimoji="1" lang="en-US" altLang="ja-JP" sz="1400" dirty="0">
                          <a:latin typeface="ＭＳ 明朝" panose="02020609040205080304" pitchFamily="17" charset="-128"/>
                          <a:ea typeface="ＭＳ 明朝" panose="02020609040205080304" pitchFamily="17" charset="-128"/>
                        </a:rPr>
                        <a:t>20.4R3-S9</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BGP</a:t>
                      </a:r>
                      <a:r>
                        <a:rPr kumimoji="1" lang="ja-JP" altLang="en-US" sz="1400" dirty="0">
                          <a:latin typeface="ＭＳ 明朝" panose="02020609040205080304" pitchFamily="17" charset="-128"/>
                          <a:ea typeface="ＭＳ 明朝" panose="02020609040205080304" pitchFamily="17" charset="-128"/>
                        </a:rPr>
                        <a:t>セッションを持っていないと使えない</a:t>
                      </a:r>
                    </a:p>
                  </a:txBody>
                  <a:tcPr anchor="ctr"/>
                </a:tc>
                <a:tc>
                  <a:txBody>
                    <a:bodyPr/>
                    <a:lstStyle/>
                    <a:p>
                      <a:pPr algn="ctr"/>
                      <a:r>
                        <a:rPr kumimoji="1" lang="en-US" altLang="ja-JP" sz="1400" dirty="0">
                          <a:latin typeface="ＭＳ 明朝" panose="02020609040205080304" pitchFamily="17" charset="-128"/>
                          <a:ea typeface="ＭＳ 明朝" panose="02020609040205080304" pitchFamily="17" charset="-128"/>
                        </a:rPr>
                        <a:t>×</a:t>
                      </a:r>
                      <a:endParaRPr kumimoji="1" lang="ja-JP" altLang="en-US" sz="1400" dirty="0">
                        <a:latin typeface="ＭＳ 明朝" panose="02020609040205080304" pitchFamily="17" charset="-128"/>
                        <a:ea typeface="ＭＳ 明朝" panose="02020609040205080304" pitchFamily="17" charset="-128"/>
                      </a:endParaRPr>
                    </a:p>
                  </a:txBody>
                  <a:tcPr anchor="ctr"/>
                </a:tc>
                <a:extLst>
                  <a:ext uri="{0D108BD9-81ED-4DB2-BD59-A6C34878D82A}">
                    <a16:rowId xmlns:a16="http://schemas.microsoft.com/office/drawing/2014/main" val="3597463141"/>
                  </a:ext>
                </a:extLst>
              </a:tr>
              <a:tr h="6627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6</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CVE-2023-36844</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All version before 20.4R3-S9</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使用可能</a:t>
                      </a: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a:t>
                      </a:r>
                    </a:p>
                  </a:txBody>
                  <a:tcPr anchor="ctr"/>
                </a:tc>
                <a:extLst>
                  <a:ext uri="{0D108BD9-81ED-4DB2-BD59-A6C34878D82A}">
                    <a16:rowId xmlns:a16="http://schemas.microsoft.com/office/drawing/2014/main" val="1165479637"/>
                  </a:ext>
                </a:extLst>
              </a:tr>
              <a:tr h="6627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7</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CVE-2023-36845</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ＭＳ 明朝" panose="02020609040205080304" pitchFamily="17" charset="-128"/>
                          <a:ea typeface="ＭＳ 明朝" panose="02020609040205080304" pitchFamily="17" charset="-128"/>
                        </a:rPr>
                        <a:t>All version before 20.4R3-S9</a:t>
                      </a:r>
                      <a:endParaRPr kumimoji="1" lang="ja-JP" altLang="en-US" sz="1400" dirty="0">
                        <a:latin typeface="ＭＳ 明朝" panose="02020609040205080304" pitchFamily="17" charset="-128"/>
                        <a:ea typeface="ＭＳ 明朝" panose="02020609040205080304" pitchFamily="17"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ＭＳ 明朝" panose="02020609040205080304" pitchFamily="17" charset="-128"/>
                          <a:ea typeface="ＭＳ 明朝" panose="02020609040205080304" pitchFamily="17" charset="-128"/>
                        </a:rPr>
                        <a:t>使用可能</a:t>
                      </a:r>
                    </a:p>
                  </a:txBody>
                  <a:tcPr anchor="ctr"/>
                </a:tc>
                <a:tc>
                  <a:txBody>
                    <a:bodyPr/>
                    <a:lstStyle/>
                    <a:p>
                      <a:pPr algn="ctr"/>
                      <a:r>
                        <a:rPr kumimoji="1" lang="ja-JP" altLang="en-US" sz="1400" dirty="0">
                          <a:latin typeface="ＭＳ 明朝" panose="02020609040205080304" pitchFamily="17" charset="-128"/>
                          <a:ea typeface="ＭＳ 明朝" panose="02020609040205080304" pitchFamily="17" charset="-128"/>
                        </a:rPr>
                        <a:t>○</a:t>
                      </a:r>
                    </a:p>
                  </a:txBody>
                  <a:tcPr anchor="ctr"/>
                </a:tc>
                <a:extLst>
                  <a:ext uri="{0D108BD9-81ED-4DB2-BD59-A6C34878D82A}">
                    <a16:rowId xmlns:a16="http://schemas.microsoft.com/office/drawing/2014/main" val="203774479"/>
                  </a:ext>
                </a:extLst>
              </a:tr>
            </a:tbl>
          </a:graphicData>
        </a:graphic>
      </p:graphicFrame>
      <p:sp>
        <p:nvSpPr>
          <p:cNvPr id="5" name="テキスト ボックス 4">
            <a:extLst>
              <a:ext uri="{FF2B5EF4-FFF2-40B4-BE49-F238E27FC236}">
                <a16:creationId xmlns:a16="http://schemas.microsoft.com/office/drawing/2014/main" id="{DB420327-618A-4C5F-96B9-B92CF3A52D35}"/>
              </a:ext>
            </a:extLst>
          </p:cNvPr>
          <p:cNvSpPr txBox="1"/>
          <p:nvPr/>
        </p:nvSpPr>
        <p:spPr>
          <a:xfrm>
            <a:off x="4656849" y="174268"/>
            <a:ext cx="2722220" cy="369332"/>
          </a:xfrm>
          <a:prstGeom prst="rect">
            <a:avLst/>
          </a:prstGeom>
          <a:noFill/>
        </p:spPr>
        <p:txBody>
          <a:bodyPr wrap="none" rtlCol="0">
            <a:spAutoFit/>
          </a:bodyPr>
          <a:lstStyle/>
          <a:p>
            <a:r>
              <a:rPr kumimoji="1" lang="ja-JP" altLang="en-US" dirty="0"/>
              <a:t>ファイアウォールの脆弱性</a:t>
            </a:r>
          </a:p>
        </p:txBody>
      </p:sp>
    </p:spTree>
    <p:extLst>
      <p:ext uri="{BB962C8B-B14F-4D97-AF65-F5344CB8AC3E}">
        <p14:creationId xmlns:p14="http://schemas.microsoft.com/office/powerpoint/2010/main" val="2199786748"/>
      </p:ext>
    </p:extLst>
  </p:cSld>
  <p:clrMapOvr>
    <a:masterClrMapping/>
  </p:clrMapOvr>
</p:sld>
</file>

<file path=ppt/theme/theme1.xml><?xml version="1.0" encoding="utf-8"?>
<a:theme xmlns:a="http://schemas.openxmlformats.org/drawingml/2006/main" name="1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2006</TotalTime>
  <Words>5480</Words>
  <Application>Microsoft Office PowerPoint</Application>
  <PresentationFormat>ワイド画面</PresentationFormat>
  <Paragraphs>1039</Paragraphs>
  <Slides>72</Slides>
  <Notes>0</Notes>
  <HiddenSlides>6</HiddenSlides>
  <MMClips>0</MMClips>
  <ScaleCrop>false</ScaleCrop>
  <HeadingPairs>
    <vt:vector size="6" baseType="variant">
      <vt:variant>
        <vt:lpstr>使用されているフォント</vt:lpstr>
      </vt:variant>
      <vt:variant>
        <vt:i4>9</vt:i4>
      </vt:variant>
      <vt:variant>
        <vt:lpstr>テーマ</vt:lpstr>
      </vt:variant>
      <vt:variant>
        <vt:i4>5</vt:i4>
      </vt:variant>
      <vt:variant>
        <vt:lpstr>スライド タイトル</vt:lpstr>
      </vt:variant>
      <vt:variant>
        <vt:i4>72</vt:i4>
      </vt:variant>
    </vt:vector>
  </HeadingPairs>
  <TitlesOfParts>
    <vt:vector size="86" baseType="lpstr">
      <vt:lpstr>HGｺﾞｼｯｸM</vt:lpstr>
      <vt:lpstr>ＭＳ Ｐゴシック</vt:lpstr>
      <vt:lpstr>ＭＳ ゴシック</vt:lpstr>
      <vt:lpstr>ＭＳ 明朝</vt:lpstr>
      <vt:lpstr>游ゴシック</vt:lpstr>
      <vt:lpstr>Arial</vt:lpstr>
      <vt:lpstr>Arial Black</vt:lpstr>
      <vt:lpstr>Century</vt:lpstr>
      <vt:lpstr>Times New Roman</vt:lpstr>
      <vt:lpstr>1_デザインの設定</vt:lpstr>
      <vt:lpstr>デザインの設定</vt:lpstr>
      <vt:lpstr>2_デザインの設定</vt:lpstr>
      <vt:lpstr>3_デザインの設定</vt:lpstr>
      <vt:lpstr>4_デザインの設定</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A1253250</dc:creator>
  <cp:lastModifiedBy>A1245134</cp:lastModifiedBy>
  <cp:revision>153</cp:revision>
  <cp:lastPrinted>2025-10-02T22:35:49Z</cp:lastPrinted>
  <dcterms:created xsi:type="dcterms:W3CDTF">2025-07-06T05:53:21Z</dcterms:created>
  <dcterms:modified xsi:type="dcterms:W3CDTF">2025-10-03T03:45:57Z</dcterms:modified>
</cp:coreProperties>
</file>