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4" r:id="rId3"/>
    <p:sldMasterId id="2147483696" r:id="rId4"/>
    <p:sldMasterId id="2147483702" r:id="rId5"/>
    <p:sldMasterId id="2147483708" r:id="rId6"/>
    <p:sldMasterId id="2147483730" r:id="rId7"/>
    <p:sldMasterId id="2147483743" r:id="rId8"/>
  </p:sldMasterIdLst>
  <p:notesMasterIdLst>
    <p:notesMasterId r:id="rId31"/>
  </p:notesMasterIdLst>
  <p:sldIdLst>
    <p:sldId id="137227" r:id="rId9"/>
    <p:sldId id="257" r:id="rId10"/>
    <p:sldId id="137233" r:id="rId11"/>
    <p:sldId id="137239" r:id="rId12"/>
    <p:sldId id="258" r:id="rId13"/>
    <p:sldId id="292" r:id="rId14"/>
    <p:sldId id="296" r:id="rId15"/>
    <p:sldId id="283" r:id="rId16"/>
    <p:sldId id="284" r:id="rId17"/>
    <p:sldId id="285" r:id="rId18"/>
    <p:sldId id="286" r:id="rId19"/>
    <p:sldId id="287" r:id="rId20"/>
    <p:sldId id="294" r:id="rId21"/>
    <p:sldId id="297" r:id="rId22"/>
    <p:sldId id="137228" r:id="rId23"/>
    <p:sldId id="137229" r:id="rId24"/>
    <p:sldId id="137230" r:id="rId25"/>
    <p:sldId id="137232" r:id="rId26"/>
    <p:sldId id="137234" r:id="rId27"/>
    <p:sldId id="137235" r:id="rId28"/>
    <p:sldId id="137236" r:id="rId29"/>
    <p:sldId id="137238" r:id="rId30"/>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FE7674-E940-484F-A97F-D238A894A5CF}">
          <p14:sldIdLst>
            <p14:sldId id="137227"/>
            <p14:sldId id="257"/>
            <p14:sldId id="137233"/>
            <p14:sldId id="137239"/>
            <p14:sldId id="258"/>
            <p14:sldId id="292"/>
            <p14:sldId id="296"/>
            <p14:sldId id="283"/>
            <p14:sldId id="284"/>
            <p14:sldId id="285"/>
            <p14:sldId id="286"/>
            <p14:sldId id="287"/>
            <p14:sldId id="294"/>
            <p14:sldId id="297"/>
            <p14:sldId id="137228"/>
            <p14:sldId id="137229"/>
            <p14:sldId id="137230"/>
            <p14:sldId id="137232"/>
            <p14:sldId id="137234"/>
            <p14:sldId id="137235"/>
            <p14:sldId id="137236"/>
            <p14:sldId id="137238"/>
          </p14:sldIdLst>
        </p14:section>
        <p14:section name="資料置き場" id="{DA2579B4-7817-413B-B3FD-C9D74BED9F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B0F0"/>
    <a:srgbClr val="FFCCCC"/>
    <a:srgbClr val="FFCCFF"/>
    <a:srgbClr val="FFFFFF"/>
    <a:srgbClr val="FFFB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486" autoAdjust="0"/>
    <p:restoredTop sz="94660"/>
  </p:normalViewPr>
  <p:slideViewPr>
    <p:cSldViewPr snapToGrid="0">
      <p:cViewPr varScale="1">
        <p:scale>
          <a:sx n="68" d="100"/>
          <a:sy n="68" d="100"/>
        </p:scale>
        <p:origin x="9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ableStyles" Target="tableStyles.xml"/><Relationship Id="rId8" Type="http://schemas.openxmlformats.org/officeDocument/2006/relationships/slideMaster" Target="slideMasters/slideMaster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273" y="0"/>
            <a:ext cx="2919518" cy="495188"/>
          </a:xfrm>
          <a:prstGeom prst="rect">
            <a:avLst/>
          </a:prstGeom>
        </p:spPr>
        <p:txBody>
          <a:bodyPr vert="horz" lIns="91440" tIns="45720" rIns="91440" bIns="45720" rtlCol="0"/>
          <a:lstStyle>
            <a:lvl1pPr algn="r">
              <a:defRPr sz="1200"/>
            </a:lvl1pPr>
          </a:lstStyle>
          <a:p>
            <a:fld id="{A7106A37-0208-42A8-AA56-132C7D537F40}" type="datetimeFigureOut">
              <a:rPr kumimoji="1" lang="ja-JP" altLang="en-US" smtClean="0"/>
              <a:t>2026/2/16</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735" y="4749691"/>
            <a:ext cx="5389880" cy="38861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4301"/>
            <a:ext cx="2919518"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273" y="9374301"/>
            <a:ext cx="2919518" cy="495187"/>
          </a:xfrm>
          <a:prstGeom prst="rect">
            <a:avLst/>
          </a:prstGeom>
        </p:spPr>
        <p:txBody>
          <a:bodyPr vert="horz" lIns="91440" tIns="45720" rIns="91440" bIns="45720" rtlCol="0" anchor="b"/>
          <a:lstStyle>
            <a:lvl1pPr algn="r">
              <a:defRPr sz="1200"/>
            </a:lvl1pPr>
          </a:lstStyle>
          <a:p>
            <a:fld id="{55AEFDBE-3E9D-4DC4-A843-A45D0B873D19}" type="slidenum">
              <a:rPr kumimoji="1" lang="ja-JP" altLang="en-US" smtClean="0"/>
              <a:t>‹#›</a:t>
            </a:fld>
            <a:endParaRPr kumimoji="1" lang="ja-JP" altLang="en-US"/>
          </a:p>
        </p:txBody>
      </p:sp>
    </p:spTree>
    <p:extLst>
      <p:ext uri="{BB962C8B-B14F-4D97-AF65-F5344CB8AC3E}">
        <p14:creationId xmlns:p14="http://schemas.microsoft.com/office/powerpoint/2010/main" val="3437797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231632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5559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5854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042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7478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349289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4E4A8-7746-4F23-80D3-9C40E2CEE2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AA5EBD-5DC5-4DEB-982C-DD9DF8C52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50B668-4119-4AED-B29A-EEB038936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17128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4089941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360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866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BE3E3-0EEA-4B82-8C07-C080027901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86C850-13E5-4801-A94D-BA22A0537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681FE1-1B19-41D6-BB1C-8FFA47979609}"/>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673A8D7F-C544-4B49-B82F-D53D43DE5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2A5F0-5170-4A61-969E-D643EE933AE7}"/>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0491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47A06A-2B73-4B38-A422-FB73136674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4E7E7C-7429-43AE-9BAE-173BFF274A8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621D86-6CC7-4A37-BC26-4B5D54D8F745}"/>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34203AE1-FE14-46A5-997C-092EE8758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B2C2BD-AA44-446E-BD22-627025355828}"/>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69169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6C7DE-C1F5-4110-B269-225A4CBE9AD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5B9C15-BC7C-4699-AEFB-FB733FAAB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298CA3B-6448-45A5-87BC-58CDDC02087C}"/>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AA4D0989-39C7-4F26-8A14-58CA23E9F2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AB8AB3-E88C-48B5-8EA3-DEB35C5C12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91601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D9EC6-17E7-4FC3-A018-A42B44F79E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A0458C-2F30-4B29-8BEA-078FEA66C0F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D8A247-6222-46B4-8719-D1AFC85400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3F050E-7C01-4EF3-B42E-45A1E2FB15C2}"/>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F23616AE-FD8E-41B4-821C-244AB6636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0CE6B4-984C-4FF1-84FE-646806D07CF3}"/>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81269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42B0DD-57B6-43D2-B9B4-3EC74A6BD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D060C5-439C-48F8-BF12-84F496B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339911-FB15-42FD-BC4E-3658ACB2425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983156-6A2A-4107-9E92-D5F2D4C1B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C578499-29E1-4411-AA04-FA2385C1170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E8307-0898-4D27-A690-5312F8898EA1}"/>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8" name="フッター プレースホルダー 7">
            <a:extLst>
              <a:ext uri="{FF2B5EF4-FFF2-40B4-BE49-F238E27FC236}">
                <a16:creationId xmlns:a16="http://schemas.microsoft.com/office/drawing/2014/main" id="{DE566317-3B4F-4478-8048-D1B7777F92F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28AEE88-CC5E-4B1B-8140-F8E2700468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03536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BF3A-4286-4072-A1F9-4B5DB332DD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60A7D-0D5A-4B23-AE22-616961E065DF}"/>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4" name="フッター プレースホルダー 3">
            <a:extLst>
              <a:ext uri="{FF2B5EF4-FFF2-40B4-BE49-F238E27FC236}">
                <a16:creationId xmlns:a16="http://schemas.microsoft.com/office/drawing/2014/main" id="{CA18DC1F-46E2-410D-B2DE-8075C717DEB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883FAB-04F4-4799-A7AA-3D20B4ECB5C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33973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B88127-C17F-4EB8-9F3D-5DBB000C54F4}"/>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3" name="フッター プレースホルダー 2">
            <a:extLst>
              <a:ext uri="{FF2B5EF4-FFF2-40B4-BE49-F238E27FC236}">
                <a16:creationId xmlns:a16="http://schemas.microsoft.com/office/drawing/2014/main" id="{565D9337-91C3-4D65-89A8-73986E9536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6CA30C-3F61-46EB-BE77-E2582AEDC776}"/>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38086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F623F-3D9D-4EA8-AC4B-7D1A4827E7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469A5B-9205-4BBF-943D-7AAFA7FBB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7E3398-9439-400F-86E2-58DA9CF6B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1E8BA5-EA54-4753-930C-087CE93E6BCD}"/>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C0516814-B2CB-4007-84F6-573578B95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DBFE6C-F57E-4BD6-8274-46CEB5BFB29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8643818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7A6F7-AAB8-4E62-957D-E47F77D68E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E4FE5C-64F7-46BC-B622-D3BED76DA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0A213FE-294F-4A64-8F6E-1D1FF1CC5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213A07-CA93-4D7D-B0AD-917D43F18CDA}"/>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FB794F00-B18C-409E-A49D-3F511C62C8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85A460-CF6C-4EEA-B632-A539A8C82E5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98420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97AA4-4467-43E5-981E-782ED9D5B3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B98564-82A8-41CA-B165-492545D887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C6EF7A-8B3E-4218-8A94-25AE9EBFBADE}"/>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E9FF6C10-F033-4D98-9D04-D3FD9CF595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53E618-A735-4F62-88D1-B9D54C349FD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28030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786EE02-8A30-43A8-BCEF-3B3B853D85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EA7EE8-B98A-4A60-8020-CB65169DFC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D00EA-2523-4B38-9513-90B876C8CE40}"/>
              </a:ext>
            </a:extLst>
          </p:cNvPr>
          <p:cNvSpPr>
            <a:spLocks noGrp="1"/>
          </p:cNvSpPr>
          <p:nvPr>
            <p:ph type="dt" sz="half" idx="10"/>
          </p:nvPr>
        </p:nvSpPr>
        <p:spPr/>
        <p:txBody>
          <a:bodyPr/>
          <a:lstStyle/>
          <a:p>
            <a:fld id="{66A46830-8AA4-43B2-B259-31ACA4F65965}"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9600BEE2-AA4E-4ADC-B971-6EAE22128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0320-E472-42B1-9CBA-9E7465A8F89F}"/>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4188142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9DB68-E3C6-46D7-AF23-FBC813A895B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26D68D-1E89-4642-A323-54C434F36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82DF435-F0AA-4ADA-AEFD-E619FC9FD82B}"/>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3FEE3DDB-FF4E-4A18-B731-382E0C100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E5D8B0-9DED-4CA5-A29F-9270AD981683}"/>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4755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12CA2-5405-4F98-BC9D-06B378F9C6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3FFF2-609A-4E2D-8104-5E586D0BD8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1D4F6-E4D4-473D-A25A-F44D8C0538D9}"/>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F77DA020-6D14-4C9A-AFA0-AFA24569F3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50A82D-CFA5-4413-B967-A4208AC6BD27}"/>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331473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0A4C-A750-4B3A-97C1-ED613CC6C94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710F46-6713-4692-A977-4E9FC8269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74157D-7869-4C68-B13A-AC4888EC7B1C}"/>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47D01520-2655-4856-98FF-08D0BF3A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1C10A-F85A-4922-B74A-82AF64BA4D8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116634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011A-F92A-4D8F-AE37-1BF614987E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216384-A9F9-4A8E-BEFE-2E39D137CF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0314DA-7D23-460C-A084-5FB52FDE7D9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B42481-C948-43D4-93EC-FDA407FCE93E}"/>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C42B66B5-8033-4373-8543-D15E35A94E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FD8700-B1E5-4B93-9D3B-193BFC90A171}"/>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671488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25819-BC2E-4E8B-87A7-29A2DA1A18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AF79A3-1D67-42B6-B707-9B3521E67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2E6391C-44E3-487A-8228-5F7CF42B406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B70B465-3F0E-4A64-AB60-A4465EFEC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40B408-0E63-4B14-985D-8137F62142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826D2D-63AF-457C-9492-10A5186165E8}"/>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8" name="フッター プレースホルダー 7">
            <a:extLst>
              <a:ext uri="{FF2B5EF4-FFF2-40B4-BE49-F238E27FC236}">
                <a16:creationId xmlns:a16="http://schemas.microsoft.com/office/drawing/2014/main" id="{D9111B03-2E95-4241-AB8E-CA25CC7E96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B84ADA-0AE4-48CE-BB7E-06551E8B1EC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573509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955A-2F9F-4FA8-8CD0-4268975768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8B380B-4889-466A-92D4-CF2792CB557A}"/>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4" name="フッター プレースホルダー 3">
            <a:extLst>
              <a:ext uri="{FF2B5EF4-FFF2-40B4-BE49-F238E27FC236}">
                <a16:creationId xmlns:a16="http://schemas.microsoft.com/office/drawing/2014/main" id="{A3D55B97-AB8B-4783-A1C9-1799026493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77BC9F-968F-4D50-AADE-6E86FB9BB1DE}"/>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552569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3BD247-D601-43C9-8D4D-A31F7185B4F8}"/>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3" name="フッター プレースホルダー 2">
            <a:extLst>
              <a:ext uri="{FF2B5EF4-FFF2-40B4-BE49-F238E27FC236}">
                <a16:creationId xmlns:a16="http://schemas.microsoft.com/office/drawing/2014/main" id="{3216ABB8-909E-4BDE-BE6E-E32EF568E7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F015C5-88F7-4BD9-8BEA-459FA5386BE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87313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85CA6-F67E-4DC5-AEFA-EB8B0E842E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A1004C-EB6D-4DBD-92CA-718F84B12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AE2190D-67A9-48AD-BCA0-91B4A0859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5FE975C-F457-4DE2-8B82-716E1427B4DB}"/>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52457126-352A-4CC2-8A9E-B2F8ADC501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003C05-1581-446A-B1C3-07D1A70F0EA2}"/>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12867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5E4A-6541-46CA-A34B-7C1160D077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C5E752-44E6-4040-B48D-814B0742D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571D196-E7B4-4F84-A6E6-42383A540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0D2F4-F0C4-4F8F-877E-31208CFCCB52}"/>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1E009372-E1AC-4470-AB8C-3586CEDBF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6EBBE4-AD98-4C65-9198-FFCDAF954276}"/>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07099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154EC-89EA-4A45-ACDA-D193AB3E99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0F9937-B971-40C3-A311-CF2B578AB4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1E7D36-F223-47F0-83AF-6F3A167EF23B}"/>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DD4966A1-BBD1-4F0C-9A91-600755EF29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7D0A5F-3E2C-477D-85FA-8C3FD6EF084B}"/>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9546697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17770D-BDB0-4EEB-BA7D-67863E079A6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F17CD1-9D51-4B59-B076-A001ABD62A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9C6921-CC7A-40E8-A4EC-1A47393AC049}"/>
              </a:ext>
            </a:extLst>
          </p:cNvPr>
          <p:cNvSpPr>
            <a:spLocks noGrp="1"/>
          </p:cNvSpPr>
          <p:nvPr>
            <p:ph type="dt" sz="half" idx="10"/>
          </p:nvPr>
        </p:nvSpPr>
        <p:spPr/>
        <p:txBody>
          <a:bodyPr/>
          <a:lstStyle/>
          <a:p>
            <a:fld id="{D4434EAC-051A-4BA5-9748-9745F9DBECB0}"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190B501B-EBEC-4A44-A378-D800433E17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7E09B4-7BD6-47E3-8E09-F2CE1676EEF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24168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540407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E68D6C1-B07F-410E-B194-A5CE3B2A1E11}"/>
              </a:ext>
            </a:extLst>
          </p:cNvPr>
          <p:cNvSpPr>
            <a:spLocks noGrp="1"/>
          </p:cNvSpPr>
          <p:nvPr>
            <p:ph type="sldNum" sz="quarter" idx="12"/>
          </p:nvPr>
        </p:nvSpPr>
        <p:spPr/>
        <p:txBody>
          <a:bodyPr/>
          <a:lstStyle/>
          <a:p>
            <a:fld id="{5B7081D9-8F3A-4C2A-8F7E-FB0E45FE6BE0}" type="slidenum">
              <a:rPr kumimoji="1" lang="ja-JP" altLang="en-US" smtClean="0"/>
              <a:t>‹#›</a:t>
            </a:fld>
            <a:endParaRPr kumimoji="1" lang="ja-JP" altLang="en-US"/>
          </a:p>
        </p:txBody>
      </p:sp>
    </p:spTree>
    <p:extLst>
      <p:ext uri="{BB962C8B-B14F-4D97-AF65-F5344CB8AC3E}">
        <p14:creationId xmlns:p14="http://schemas.microsoft.com/office/powerpoint/2010/main" val="1663453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15401585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475818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3782979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155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1331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1769017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851231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4514E3-AA6A-40E8-9BCC-4B1FE39F1CA5}"/>
              </a:ext>
            </a:extLst>
          </p:cNvPr>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Tree>
    <p:extLst>
      <p:ext uri="{BB962C8B-B14F-4D97-AF65-F5344CB8AC3E}">
        <p14:creationId xmlns:p14="http://schemas.microsoft.com/office/powerpoint/2010/main" val="847501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8282DB-9456-43D2-9967-8F9BD124F10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6AC45E-3DCE-4DB2-A652-35CE34060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0DE943-D9EA-4016-A800-91B798A8904C}"/>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D8536384-F63E-4CE8-AE85-4C40D22AA6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8AB9E5-DA0A-4C1C-82A1-01167F962122}"/>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037919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F7284-450E-4140-8EA6-B99D9001BC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F4FDC0-F2A2-4BAC-B04D-9B9D4BD3CB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A4E96-D3FD-4F4C-9A3B-7E0669041BE8}"/>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E818EFA7-AD42-431B-99A8-ED8738E83F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25CD7B-AACB-4E03-AF39-BA1C85EC2B38}"/>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972390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97229-B313-4911-8E39-3C3849A2AB9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620DCB-D2C1-4E1F-92BF-E7BB71D510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84A6C02-C621-4D5E-9D24-13DD485EBD62}"/>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EA00E040-7675-47A0-81B7-0B49F560CA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099A04-550B-47E2-9A40-BABD39CE238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2707045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3B6854-E28B-48A5-89A4-5363A8639B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19BB15-1304-4A49-AEA6-E79792DF7F5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A39F65-A23E-4324-8910-96343C17FE5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FA9E79-A443-46F8-A33C-E5012234F9F5}"/>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83F4E620-1088-4C8D-9B0A-91C33A730F5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D4DF0D-46FD-4D6B-9B14-714161AC61FD}"/>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878675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31180D-4160-425C-9158-8198714A126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FC7D05-CB5C-4FF8-881C-8A14D977E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DA76C5-C0DA-4E9F-804A-D24C41EA193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BE080F4-C828-4C82-B131-17D840502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AF6854D-15FC-4CA9-9423-1758CC4601B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FFEF05-68BF-4F6E-A817-FEB6DB096363}"/>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8" name="フッター プレースホルダー 7">
            <a:extLst>
              <a:ext uri="{FF2B5EF4-FFF2-40B4-BE49-F238E27FC236}">
                <a16:creationId xmlns:a16="http://schemas.microsoft.com/office/drawing/2014/main" id="{A8ADA1C5-B00A-4FFC-ADE6-97366E9B53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A4EBFE8-B6D1-4F56-81B4-2FAFF117B684}"/>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964507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1547E-C7AB-4838-8D9E-06B9F00B0C9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AC269B1-B32F-4636-86AB-50909BA7D02F}"/>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4" name="フッター プレースホルダー 3">
            <a:extLst>
              <a:ext uri="{FF2B5EF4-FFF2-40B4-BE49-F238E27FC236}">
                <a16:creationId xmlns:a16="http://schemas.microsoft.com/office/drawing/2014/main" id="{7CDDD0D8-6E8A-42A9-8BA3-20A2FC9303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EAE2B70-763E-41CB-A658-7168CE65EBD1}"/>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7076482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D618DC-6457-4BEB-BD6D-48F5BAFBA167}"/>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3" name="フッター プレースホルダー 2">
            <a:extLst>
              <a:ext uri="{FF2B5EF4-FFF2-40B4-BE49-F238E27FC236}">
                <a16:creationId xmlns:a16="http://schemas.microsoft.com/office/drawing/2014/main" id="{C4A418EF-A6E6-440D-A914-2627B60D6E8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4B8D991-F855-48F0-A59A-06934A6640D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63976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D1732C-31B4-4833-A898-743F3D56B7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FF851F-C607-4077-870A-990E05B6E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B072F6-9E22-4686-933E-B75A62454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369E11-37D7-4EFF-9B10-647E6F9AAD08}"/>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6692E7E9-9B37-4209-B86F-902E0E89B8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B7311F-2B6F-42A0-A2A1-7D915866285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1969110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A1D867-E75D-41DC-A507-552FD57522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05C03F3-CC64-4B48-A941-7281BEF54C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30CE0E-7070-4F68-8D0D-B25BFC830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E2F2D2-13D0-41E9-845D-A8D04CFD978E}"/>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6" name="フッター プレースホルダー 5">
            <a:extLst>
              <a:ext uri="{FF2B5EF4-FFF2-40B4-BE49-F238E27FC236}">
                <a16:creationId xmlns:a16="http://schemas.microsoft.com/office/drawing/2014/main" id="{67EF8E98-B3E1-4574-9570-8D19D2A72C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84EF7F-82F0-4C4D-83E0-D6F294963BF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41163434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46966-F5E5-4366-A755-27E93EB99A4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090EE54-D571-42AA-B0BF-D5A627085F2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A20563-8D4B-4F8E-B4BA-864A69812DD8}"/>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843EF877-6844-42F7-A90E-8C61CF3C90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6048F9-23F3-4F0C-A06E-A3509EAC38A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5503291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1C28F4-D96D-42B6-A0DE-B9C38B3B69D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D6FC67A-6484-46F8-8FFC-FA59C9EB24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EE136F-98B4-42BD-BD51-2601E85C727B}"/>
              </a:ext>
            </a:extLst>
          </p:cNvPr>
          <p:cNvSpPr>
            <a:spLocks noGrp="1"/>
          </p:cNvSpPr>
          <p:nvPr>
            <p:ph type="dt" sz="half" idx="10"/>
          </p:nvPr>
        </p:nvSpPr>
        <p:spPr/>
        <p:txBody>
          <a:bodyPr/>
          <a:lstStyle/>
          <a:p>
            <a:fld id="{03711E59-91EA-47B0-AF74-FF07041BBA0E}"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CBD85507-216E-4E3B-87BF-7E356CF524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80109E-C5F7-4B24-A4B9-EFAD2D77923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449041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目次スライド">
    <p:spTree>
      <p:nvGrpSpPr>
        <p:cNvPr id="1" name=""/>
        <p:cNvGrpSpPr/>
        <p:nvPr/>
      </p:nvGrpSpPr>
      <p:grpSpPr>
        <a:xfrm>
          <a:off x="0" y="0"/>
          <a:ext cx="0" cy="0"/>
          <a:chOff x="0" y="0"/>
          <a:chExt cx="0" cy="0"/>
        </a:xfrm>
      </p:grpSpPr>
      <p:sp>
        <p:nvSpPr>
          <p:cNvPr id="11" name="AutoShape 7">
            <a:extLst>
              <a:ext uri="{FF2B5EF4-FFF2-40B4-BE49-F238E27FC236}">
                <a16:creationId xmlns:a16="http://schemas.microsoft.com/office/drawing/2014/main" id="{0DA69E0F-5CBA-4E2C-AA59-427D663945D6}"/>
              </a:ext>
            </a:extLst>
          </p:cNvPr>
          <p:cNvSpPr>
            <a:spLocks noChangeArrowheads="1"/>
          </p:cNvSpPr>
          <p:nvPr userDrawn="1"/>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750" i="1" dirty="0">
                <a:solidFill>
                  <a:srgbClr val="0000FF"/>
                </a:solidFill>
                <a:ea typeface="ＭＳ Ｐゴシック" pitchFamily="50" charset="-128"/>
              </a:rPr>
              <a:t>入間サイバーステーション</a:t>
            </a:r>
          </a:p>
        </p:txBody>
      </p:sp>
      <p:sp>
        <p:nvSpPr>
          <p:cNvPr id="12" name="円柱 11">
            <a:extLst>
              <a:ext uri="{FF2B5EF4-FFF2-40B4-BE49-F238E27FC236}">
                <a16:creationId xmlns:a16="http://schemas.microsoft.com/office/drawing/2014/main" id="{1F340220-70FC-49F5-A712-BDBE8D94F1B1}"/>
              </a:ext>
            </a:extLst>
          </p:cNvPr>
          <p:cNvSpPr/>
          <p:nvPr userDrawn="1"/>
        </p:nvSpPr>
        <p:spPr>
          <a:xfrm rot="5400000">
            <a:off x="5849967" y="-4448095"/>
            <a:ext cx="492066" cy="9864500"/>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350" dirty="0"/>
          </a:p>
        </p:txBody>
      </p:sp>
      <p:sp>
        <p:nvSpPr>
          <p:cNvPr id="6" name="スライド番号プレースホルダー 5">
            <a:extLst>
              <a:ext uri="{FF2B5EF4-FFF2-40B4-BE49-F238E27FC236}">
                <a16:creationId xmlns:a16="http://schemas.microsoft.com/office/drawing/2014/main" id="{70FC9FA6-41ED-4A16-A7B6-76A5AB13C826}"/>
              </a:ext>
            </a:extLst>
          </p:cNvPr>
          <p:cNvSpPr>
            <a:spLocks noGrp="1"/>
          </p:cNvSpPr>
          <p:nvPr>
            <p:ph type="sldNum" sz="quarter" idx="4"/>
          </p:nvPr>
        </p:nvSpPr>
        <p:spPr>
          <a:xfrm>
            <a:off x="11718188" y="6561374"/>
            <a:ext cx="480000" cy="288000"/>
          </a:xfrm>
          <a:prstGeom prst="rect">
            <a:avLst/>
          </a:prstGeom>
          <a:solidFill>
            <a:schemeClr val="tx1"/>
          </a:solidFill>
        </p:spPr>
        <p:txBody>
          <a:bodyPr vert="horz" lIns="36000" tIns="36000" rIns="36000" bIns="36000" rtlCol="0" anchor="ctr"/>
          <a:lstStyle>
            <a:lvl1pPr algn="ctr">
              <a:defRPr sz="1050" b="1">
                <a:solidFill>
                  <a:schemeClr val="bg1"/>
                </a:solidFill>
              </a:defRPr>
            </a:lvl1pPr>
          </a:lstStyle>
          <a:p>
            <a:fld id="{80709F25-3440-4B76-B09C-B07F16B95057}" type="slidenum">
              <a:rPr lang="ja-JP" altLang="en-US" smtClean="0"/>
              <a:pPr/>
              <a:t>‹#›</a:t>
            </a:fld>
            <a:endParaRPr lang="ja-JP" altLang="en-US" dirty="0"/>
          </a:p>
        </p:txBody>
      </p:sp>
      <p:sp>
        <p:nvSpPr>
          <p:cNvPr id="87" name="タイトル プレースホルダー 1">
            <a:extLst>
              <a:ext uri="{FF2B5EF4-FFF2-40B4-BE49-F238E27FC236}">
                <a16:creationId xmlns:a16="http://schemas.microsoft.com/office/drawing/2014/main" id="{0F885859-8EFB-43C5-9FC1-4FA1FA195651}"/>
              </a:ext>
            </a:extLst>
          </p:cNvPr>
          <p:cNvSpPr>
            <a:spLocks noGrp="1"/>
          </p:cNvSpPr>
          <p:nvPr>
            <p:ph type="title"/>
          </p:nvPr>
        </p:nvSpPr>
        <p:spPr>
          <a:xfrm>
            <a:off x="1163750" y="254776"/>
            <a:ext cx="9864500" cy="492066"/>
          </a:xfrm>
          <a:prstGeom prst="rect">
            <a:avLst/>
          </a:prstGeom>
        </p:spPr>
        <p:txBody>
          <a:bodyPr vert="horz" lIns="91440" tIns="45720" rIns="91440" bIns="45720" rtlCol="0" anchor="ctr">
            <a:normAutofit/>
          </a:bodyPr>
          <a:lstStyle>
            <a:lvl1pPr algn="ctr">
              <a:defRPr/>
            </a:lvl1pPr>
          </a:lstStyle>
          <a:p>
            <a:r>
              <a:rPr kumimoji="1" lang="ja-JP" altLang="en-US" dirty="0"/>
              <a:t>マスター タイトルの書式設定</a:t>
            </a:r>
          </a:p>
        </p:txBody>
      </p:sp>
      <p:pic>
        <p:nvPicPr>
          <p:cNvPr id="14" name="図 13">
            <a:extLst>
              <a:ext uri="{FF2B5EF4-FFF2-40B4-BE49-F238E27FC236}">
                <a16:creationId xmlns:a16="http://schemas.microsoft.com/office/drawing/2014/main" id="{D700C039-967A-450B-BF09-7CFB4174B45A}"/>
              </a:ext>
            </a:extLst>
          </p:cNvPr>
          <p:cNvPicPr>
            <a:picLocks noChangeAspect="1"/>
          </p:cNvPicPr>
          <p:nvPr userDrawn="1"/>
        </p:nvPicPr>
        <p:blipFill rotWithShape="1">
          <a:blip r:embed="rId2"/>
          <a:srcRect l="10091"/>
          <a:stretch/>
        </p:blipFill>
        <p:spPr>
          <a:xfrm>
            <a:off x="17357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998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6014019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893043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26034635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80762"/>
            <a:ext cx="10224000" cy="468000"/>
          </a:xfrm>
          <a:gradFill>
            <a:gsLst>
              <a:gs pos="55000">
                <a:schemeClr val="accent1">
                  <a:lumMod val="5000"/>
                  <a:lumOff val="95000"/>
                </a:schemeClr>
              </a:gs>
              <a:gs pos="0">
                <a:schemeClr val="accent1"/>
              </a:gs>
              <a:gs pos="100000">
                <a:schemeClr val="accent1"/>
              </a:gs>
            </a:gsLst>
            <a:lin ang="5400000" scaled="1"/>
          </a:gradFill>
        </p:spPr>
        <p:txBody>
          <a:bodyPr lIns="36000" tIns="36000" rIns="36000" bIns="36000">
            <a:normAutofit/>
          </a:bodyPr>
          <a:lstStyle>
            <a:lvl1pPr algn="ctr">
              <a:defRPr sz="24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E18F3A59-7A99-40F2-BAF5-1B2F9D57A8F4}" type="datetime1">
              <a:rPr kumimoji="1" lang="ja-JP" altLang="en-US" smtClean="0"/>
              <a:t>2026/2/16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11353800" y="13078"/>
            <a:ext cx="838200" cy="147421"/>
          </a:xfrm>
        </p:spPr>
        <p:txBody>
          <a:bodyPr/>
          <a:lstStyle>
            <a:lvl1pPr>
              <a:defRPr>
                <a:latin typeface="ＭＳ Ｐゴシック" panose="020B0600070205080204" pitchFamily="50" charset="-128"/>
                <a:ea typeface="ＭＳ Ｐゴシック" panose="020B0600070205080204" pitchFamily="50" charset="-128"/>
              </a:defRPr>
            </a:lvl1pPr>
          </a:lstStyle>
          <a:p>
            <a:fld id="{29D0A02A-D293-4AA2-B538-CA731D6C535C}" type="slidenum">
              <a:rPr lang="ja-JP" altLang="en-US" smtClean="0"/>
              <a:pPr/>
              <a:t>‹#›</a:t>
            </a:fld>
            <a:endParaRPr lang="ja-JP" altLang="en-US"/>
          </a:p>
        </p:txBody>
      </p:sp>
      <p:sp>
        <p:nvSpPr>
          <p:cNvPr id="6" name="正方形/長方形 5"/>
          <p:cNvSpPr/>
          <p:nvPr userDrawn="1"/>
        </p:nvSpPr>
        <p:spPr>
          <a:xfrm>
            <a:off x="0" y="692710"/>
            <a:ext cx="12192000" cy="4571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sp>
        <p:nvSpPr>
          <p:cNvPr id="7" name="正方形/長方形 6"/>
          <p:cNvSpPr/>
          <p:nvPr userDrawn="1"/>
        </p:nvSpPr>
        <p:spPr>
          <a:xfrm>
            <a:off x="0" y="-214850"/>
            <a:ext cx="15276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kumimoji="1" lang="en-US" altLang="ja-JP" sz="1200" i="1" dirty="0">
                <a:solidFill>
                  <a:schemeClr val="tx1"/>
                </a:solidFill>
                <a:latin typeface="Century" panose="02040604050505020304" pitchFamily="18" charset="0"/>
                <a:ea typeface="+mj-ea"/>
              </a:rPr>
              <a:t>Cyber</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Defense</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Group</a:t>
            </a:r>
            <a:endParaRPr kumimoji="1" lang="ja-JP" altLang="en-US" sz="1200" i="1" dirty="0">
              <a:solidFill>
                <a:schemeClr val="tx1"/>
              </a:solidFill>
              <a:latin typeface="Century" panose="02040604050505020304" pitchFamily="18" charset="0"/>
              <a:ea typeface="+mj-ea"/>
            </a:endParaRPr>
          </a:p>
        </p:txBody>
      </p:sp>
      <p:pic>
        <p:nvPicPr>
          <p:cNvPr id="9" name="図 8">
            <a:extLst>
              <a:ext uri="{FF2B5EF4-FFF2-40B4-BE49-F238E27FC236}">
                <a16:creationId xmlns:a16="http://schemas.microsoft.com/office/drawing/2014/main" id="{4FE0196A-7A97-4F12-BBD9-2C0DE080430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8329" y="149225"/>
            <a:ext cx="557881" cy="543485"/>
          </a:xfrm>
          <a:prstGeom prst="rect">
            <a:avLst/>
          </a:prstGeom>
        </p:spPr>
      </p:pic>
    </p:spTree>
    <p:extLst>
      <p:ext uri="{BB962C8B-B14F-4D97-AF65-F5344CB8AC3E}">
        <p14:creationId xmlns:p14="http://schemas.microsoft.com/office/powerpoint/2010/main" val="26009005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1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12042689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3081864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551688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2855215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990397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578518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26372478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9729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4CBCC66-6655-4850-9228-964B3C54AD4B}"/>
              </a:ext>
            </a:extLst>
          </p:cNvPr>
          <p:cNvSpPr/>
          <p:nvPr userDrawn="1"/>
        </p:nvSpPr>
        <p:spPr>
          <a:xfrm>
            <a:off x="563202" y="656706"/>
            <a:ext cx="4949469" cy="61383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rPr>
              <a:t>実施した事項（事実）：</a:t>
            </a:r>
            <a:r>
              <a:rPr kumimoji="1" lang="en-US" altLang="ja-JP" u="sng" dirty="0">
                <a:solidFill>
                  <a:schemeClr val="tx1"/>
                </a:solidFill>
              </a:rPr>
              <a:t>Blue</a:t>
            </a:r>
            <a:endParaRPr kumimoji="1" lang="ja-JP" altLang="en-US" u="sng" dirty="0">
              <a:solidFill>
                <a:schemeClr val="tx1"/>
              </a:solidFill>
            </a:endParaRPr>
          </a:p>
        </p:txBody>
      </p:sp>
      <p:sp>
        <p:nvSpPr>
          <p:cNvPr id="6" name="正方形/長方形 5">
            <a:extLst>
              <a:ext uri="{FF2B5EF4-FFF2-40B4-BE49-F238E27FC236}">
                <a16:creationId xmlns:a16="http://schemas.microsoft.com/office/drawing/2014/main" id="{AC47491A-CAC5-4820-BC79-B9D228F6B41F}"/>
              </a:ext>
            </a:extLst>
          </p:cNvPr>
          <p:cNvSpPr/>
          <p:nvPr userDrawn="1"/>
        </p:nvSpPr>
        <p:spPr>
          <a:xfrm>
            <a:off x="6673709" y="656706"/>
            <a:ext cx="4982483" cy="61383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latin typeface="ＭＳ ゴシック" panose="020B0609070205080204" pitchFamily="49" charset="-128"/>
                <a:ea typeface="ＭＳ ゴシック" panose="020B0609070205080204" pitchFamily="49" charset="-128"/>
              </a:rPr>
              <a:t>判断した事項</a:t>
            </a:r>
          </a:p>
        </p:txBody>
      </p:sp>
    </p:spTree>
    <p:extLst>
      <p:ext uri="{BB962C8B-B14F-4D97-AF65-F5344CB8AC3E}">
        <p14:creationId xmlns:p14="http://schemas.microsoft.com/office/powerpoint/2010/main" val="19744872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0437493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355450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1456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41.xml"/><Relationship Id="rId7" Type="http://schemas.openxmlformats.org/officeDocument/2006/relationships/image" Target="../media/image2.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image" Target="../media/image1.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6.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8.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3959944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4636F6A-077A-4BFE-B78F-A805AB3E4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C7B3BB-87CF-4FD3-AEC5-EB7168429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801AA7-E7A5-49DB-BAE4-076D9FFE0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BD174AAC-48D2-4996-B095-35C92E9D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9B80C4-6560-467E-B9B3-0102856C1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B553949-5D9C-48F4-8FC2-E7694D3119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extLst>
      <p:ext uri="{BB962C8B-B14F-4D97-AF65-F5344CB8AC3E}">
        <p14:creationId xmlns:p14="http://schemas.microsoft.com/office/powerpoint/2010/main" val="3498177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7967724-491C-4775-99A6-678CEB0F3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594CAA-C4EA-43E9-8335-F6A35EAA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4B2B8F-9736-49FD-82C5-14C4FAEC2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07007413-76CA-496B-B793-4A43655FF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4DD03C-9F62-4D64-B741-3378E1322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F4CD2BCD-EEAF-4277-A75A-7DA625C3D34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a:extLst>
              <a:ext uri="{FF2B5EF4-FFF2-40B4-BE49-F238E27FC236}">
                <a16:creationId xmlns:a16="http://schemas.microsoft.com/office/drawing/2014/main" id="{472AEDA5-21D1-42C4-9CFF-93984654A8D2}"/>
              </a:ext>
            </a:extLst>
          </p:cNvPr>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4545122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スライド番号プレースホルダー 20">
            <a:extLst>
              <a:ext uri="{FF2B5EF4-FFF2-40B4-BE49-F238E27FC236}">
                <a16:creationId xmlns:a16="http://schemas.microsoft.com/office/drawing/2014/main" id="{A4C56DBE-C7F1-47F2-A892-C1668535692F}"/>
              </a:ext>
            </a:extLst>
          </p:cNvPr>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36994720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a:extLst>
              <a:ext uri="{FF2B5EF4-FFF2-40B4-BE49-F238E27FC236}">
                <a16:creationId xmlns:a16="http://schemas.microsoft.com/office/drawing/2014/main" id="{D66DF391-5BDC-4F73-BDB5-8F81A7EAAF53}"/>
              </a:ext>
            </a:extLst>
          </p:cNvPr>
          <p:cNvSpPr txBox="1">
            <a:spLocks/>
          </p:cNvSpPr>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801"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円柱 15">
            <a:extLst>
              <a:ext uri="{FF2B5EF4-FFF2-40B4-BE49-F238E27FC236}">
                <a16:creationId xmlns:a16="http://schemas.microsoft.com/office/drawing/2014/main" id="{4580238A-4FFF-4D95-97A4-1F68DE6647C6}"/>
              </a:ext>
            </a:extLst>
          </p:cNvPr>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a:extLst>
              <a:ext uri="{FF2B5EF4-FFF2-40B4-BE49-F238E27FC236}">
                <a16:creationId xmlns:a16="http://schemas.microsoft.com/office/drawing/2014/main" id="{29E2B44E-4187-4FCC-945A-0176A66F2172}"/>
              </a:ext>
            </a:extLst>
          </p:cNvPr>
          <p:cNvSpPr txBox="1">
            <a:spLocks/>
          </p:cNvSpPr>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a:extLst>
              <a:ext uri="{FF2B5EF4-FFF2-40B4-BE49-F238E27FC236}">
                <a16:creationId xmlns:a16="http://schemas.microsoft.com/office/drawing/2014/main" id="{48DB3EB4-2CD9-4564-9C42-D24AEF35CB63}"/>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extLst>
      <p:ext uri="{BB962C8B-B14F-4D97-AF65-F5344CB8AC3E}">
        <p14:creationId xmlns:p14="http://schemas.microsoft.com/office/powerpoint/2010/main" val="42183767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円柱 8">
            <a:extLst>
              <a:ext uri="{FF2B5EF4-FFF2-40B4-BE49-F238E27FC236}">
                <a16:creationId xmlns:a16="http://schemas.microsoft.com/office/drawing/2014/main" id="{C5DF5B15-00AF-459A-A0DD-9F325E1FB242}"/>
              </a:ext>
            </a:extLst>
          </p:cNvPr>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3" name="テキスト プレースホルダー 2">
            <a:extLst>
              <a:ext uri="{FF2B5EF4-FFF2-40B4-BE49-F238E27FC236}">
                <a16:creationId xmlns:a16="http://schemas.microsoft.com/office/drawing/2014/main" id="{C677FABF-F3AA-4660-AFA7-F600F7566D71}"/>
              </a:ext>
            </a:extLst>
          </p:cNvPr>
          <p:cNvSpPr>
            <a:spLocks noGrp="1"/>
          </p:cNvSpPr>
          <p:nvPr>
            <p:ph type="body" idx="1"/>
          </p:nvPr>
        </p:nvSpPr>
        <p:spPr>
          <a:xfrm>
            <a:off x="838200" y="2093954"/>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A4A8FDED-24ED-4DEF-8E8D-F322BDC63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11E59-91EA-47B0-AF74-FF07041BBA0E}" type="datetimeFigureOut">
              <a:rPr kumimoji="1" lang="ja-JP" altLang="en-US" smtClean="0"/>
              <a:t>2026/2/16</a:t>
            </a:fld>
            <a:endParaRPr kumimoji="1" lang="ja-JP" altLang="en-US"/>
          </a:p>
        </p:txBody>
      </p:sp>
      <p:sp>
        <p:nvSpPr>
          <p:cNvPr id="5" name="フッター プレースホルダー 4">
            <a:extLst>
              <a:ext uri="{FF2B5EF4-FFF2-40B4-BE49-F238E27FC236}">
                <a16:creationId xmlns:a16="http://schemas.microsoft.com/office/drawing/2014/main" id="{0F86F4FD-A977-4659-87D2-452AEF8C9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1E282E-1B46-4E9B-81DB-873706E89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A399D-D976-4A9D-A096-DE4C517DD142}"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B380FD79-7BE9-46DD-B647-2F78975697B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
        <p:nvSpPr>
          <p:cNvPr id="2" name="タイトル プレースホルダー 1">
            <a:extLst>
              <a:ext uri="{FF2B5EF4-FFF2-40B4-BE49-F238E27FC236}">
                <a16:creationId xmlns:a16="http://schemas.microsoft.com/office/drawing/2014/main" id="{1F1FCA89-144D-4328-8B92-39913D8BCB7C}"/>
              </a:ext>
            </a:extLst>
          </p:cNvPr>
          <p:cNvSpPr>
            <a:spLocks noGrp="1"/>
          </p:cNvSpPr>
          <p:nvPr>
            <p:ph type="title"/>
          </p:nvPr>
        </p:nvSpPr>
        <p:spPr>
          <a:xfrm>
            <a:off x="2082800" y="101616"/>
            <a:ext cx="8140702" cy="492067"/>
          </a:xfrm>
          <a:prstGeom prst="rect">
            <a:avLst/>
          </a:prstGeom>
        </p:spPr>
        <p:txBody>
          <a:bodyPr vert="horz" lIns="91440" tIns="45720" rIns="91440" bIns="45720" rtlCol="0" anchor="ctr">
            <a:noAutofit/>
          </a:bodyPr>
          <a:lstStyle/>
          <a:p>
            <a:r>
              <a:rPr kumimoji="1" lang="ja-JP" altLang="en-US" dirty="0"/>
              <a:t>マスター タイトルの書式設定</a:t>
            </a:r>
          </a:p>
        </p:txBody>
      </p:sp>
    </p:spTree>
    <p:extLst>
      <p:ext uri="{BB962C8B-B14F-4D97-AF65-F5344CB8AC3E}">
        <p14:creationId xmlns:p14="http://schemas.microsoft.com/office/powerpoint/2010/main" val="320834668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 id="2147483722" r:id="rId13"/>
    <p:sldLayoutId id="2147483723" r:id="rId14"/>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ＭＳ ゴシック" panose="020B0609070205080204" pitchFamily="49" charset="-128"/>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ＭＳ ゴシック" panose="020B0609070205080204" pitchFamily="49" charset="-128"/>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ＭＳ ゴシック" panose="020B0609070205080204" pitchFamily="49" charset="-128"/>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dirty="0"/>
          </a:p>
        </p:txBody>
      </p:sp>
      <p:sp>
        <p:nvSpPr>
          <p:cNvPr id="5" name="フッター プレースホルダー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80709F25-3440-4B76-B09C-B07F16B95057}" type="slidenum">
              <a:rPr kumimoji="1" lang="ja-JP" altLang="en-US" smtClean="0"/>
              <a:t>‹#›</a:t>
            </a:fld>
            <a:endParaRPr kumimoji="1" lang="ja-JP" altLang="en-US" dirty="0"/>
          </a:p>
        </p:txBody>
      </p:sp>
      <p:grpSp>
        <p:nvGrpSpPr>
          <p:cNvPr id="7" name="グループ化 6">
            <a:extLst>
              <a:ext uri="{FF2B5EF4-FFF2-40B4-BE49-F238E27FC236}">
                <a16:creationId xmlns:a16="http://schemas.microsoft.com/office/drawing/2014/main" id="{33999FEC-3884-415E-B4FE-BA1E5F744F95}"/>
              </a:ext>
            </a:extLst>
          </p:cNvPr>
          <p:cNvGrpSpPr/>
          <p:nvPr userDrawn="1"/>
        </p:nvGrpSpPr>
        <p:grpSpPr>
          <a:xfrm>
            <a:off x="11195267" y="161950"/>
            <a:ext cx="887309" cy="547330"/>
            <a:chOff x="10762108" y="88735"/>
            <a:chExt cx="1183079" cy="729773"/>
          </a:xfrm>
        </p:grpSpPr>
        <p:sp>
          <p:nvSpPr>
            <p:cNvPr id="8" name="正方形/長方形 7">
              <a:extLst>
                <a:ext uri="{FF2B5EF4-FFF2-40B4-BE49-F238E27FC236}">
                  <a16:creationId xmlns:a16="http://schemas.microsoft.com/office/drawing/2014/main" id="{383D1E1E-F069-412B-B71F-ECFC4DA31343}"/>
                </a:ext>
              </a:extLst>
            </p:cNvPr>
            <p:cNvSpPr/>
            <p:nvPr userDrawn="1"/>
          </p:nvSpPr>
          <p:spPr>
            <a:xfrm>
              <a:off x="10762413" y="88735"/>
              <a:ext cx="1182774" cy="368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1200" dirty="0">
                  <a:solidFill>
                    <a:srgbClr val="FF0000"/>
                  </a:solidFill>
                  <a:latin typeface="游ゴシック" panose="020B0400000000000000" pitchFamily="50" charset="-128"/>
                  <a:ea typeface="游ゴシック" panose="020B0400000000000000" pitchFamily="50" charset="-128"/>
                </a:rPr>
                <a:t>対外厳秘</a:t>
              </a:r>
            </a:p>
          </p:txBody>
        </p:sp>
        <p:sp>
          <p:nvSpPr>
            <p:cNvPr id="9" name="正方形/長方形 8">
              <a:extLst>
                <a:ext uri="{FF2B5EF4-FFF2-40B4-BE49-F238E27FC236}">
                  <a16:creationId xmlns:a16="http://schemas.microsoft.com/office/drawing/2014/main" id="{FAA70DB0-0EE6-4903-BDC9-5FFDE76B41FA}"/>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隊進捗管理報告</a:t>
              </a:r>
              <a:endParaRPr lang="en-US" altLang="ja-JP" sz="675" dirty="0">
                <a:solidFill>
                  <a:prstClr val="white"/>
                </a:solidFill>
                <a:latin typeface="游ゴシック" panose="020B0400000000000000" pitchFamily="50" charset="-128"/>
                <a:ea typeface="游ゴシック" panose="020B0400000000000000" pitchFamily="50" charset="-128"/>
              </a:endParaRPr>
            </a:p>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関係者に限定</a:t>
              </a:r>
            </a:p>
          </p:txBody>
        </p:sp>
      </p:grpSp>
      <p:sp>
        <p:nvSpPr>
          <p:cNvPr id="10" name="スライド番号プレースホルダー 5">
            <a:extLst>
              <a:ext uri="{FF2B5EF4-FFF2-40B4-BE49-F238E27FC236}">
                <a16:creationId xmlns:a16="http://schemas.microsoft.com/office/drawing/2014/main" id="{BE5E8737-89FA-4222-8D51-0EEF09BFAB6E}"/>
              </a:ext>
            </a:extLst>
          </p:cNvPr>
          <p:cNvSpPr txBox="1">
            <a:spLocks/>
          </p:cNvSpPr>
          <p:nvPr userDrawn="1"/>
        </p:nvSpPr>
        <p:spPr>
          <a:xfrm>
            <a:off x="11718188" y="6561374"/>
            <a:ext cx="480000" cy="288000"/>
          </a:xfrm>
          <a:prstGeom prst="rect">
            <a:avLst/>
          </a:prstGeom>
          <a:solidFill>
            <a:schemeClr val="tx1"/>
          </a:solidFill>
        </p:spPr>
        <p:txBody>
          <a:bodyPr vert="horz" lIns="36000" tIns="36000" rIns="36000" bIns="36000" rtlCol="0" anchor="ctr"/>
          <a:lstStyle>
            <a:defPPr>
              <a:defRPr lang="ja-JP"/>
            </a:defPPr>
            <a:lvl1pPr marL="0" algn="ctr" defTabSz="914400" rtl="0" eaLnBrk="1" latinLnBrk="0" hangingPunct="1">
              <a:defRPr kumimoji="1" sz="105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242852032"/>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4" r:id="rId3"/>
  </p:sldLayoutIdLst>
  <p:hf hdr="0" ftr="0" dt="0"/>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kumimoji="1"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kumimoji="1"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kumimoji="1"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z="1100" smtClean="0"/>
              <a:pPr/>
              <a:t>‹#›</a:t>
            </a:fld>
            <a:endParaRPr lang="ja-JP" altLang="en-US" sz="1100"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14688841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B7CA9EB-F0CD-413E-BE77-ED4BE277652A}"/>
              </a:ext>
            </a:extLst>
          </p:cNvPr>
          <p:cNvSpPr/>
          <p:nvPr/>
        </p:nvSpPr>
        <p:spPr>
          <a:xfrm>
            <a:off x="2474336" y="2828835"/>
            <a:ext cx="7243325" cy="646331"/>
          </a:xfrm>
          <a:prstGeom prst="rect">
            <a:avLst/>
          </a:prstGeom>
          <a:noFill/>
        </p:spPr>
        <p:txBody>
          <a:bodyPr wrap="square">
            <a:spAutoFit/>
          </a:bodyPr>
          <a:lstStyle/>
          <a:p>
            <a:pPr lvl="0" algn="ctr">
              <a:defRPr/>
            </a:pPr>
            <a:r>
              <a:rPr lang="ja-JP" altLang="en-US" sz="3600" dirty="0"/>
              <a:t>春日仮説構築</a:t>
            </a:r>
            <a:endParaRPr kumimoji="1" lang="en-US" altLang="ja-JP"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endParaRPr>
          </a:p>
        </p:txBody>
      </p:sp>
      <p:sp>
        <p:nvSpPr>
          <p:cNvPr id="3" name="サブタイトル 170">
            <a:extLst>
              <a:ext uri="{FF2B5EF4-FFF2-40B4-BE49-F238E27FC236}">
                <a16:creationId xmlns:a16="http://schemas.microsoft.com/office/drawing/2014/main" id="{A4FB42CC-99B3-418E-833E-D4E7CE9F63F2}"/>
              </a:ext>
            </a:extLst>
          </p:cNvPr>
          <p:cNvSpPr txBox="1">
            <a:spLocks/>
          </p:cNvSpPr>
          <p:nvPr/>
        </p:nvSpPr>
        <p:spPr>
          <a:xfrm>
            <a:off x="2871802" y="5303909"/>
            <a:ext cx="6448391" cy="983346"/>
          </a:xfrm>
          <a:prstGeom prst="rect">
            <a:avLst/>
          </a:prstGeom>
        </p:spPr>
        <p:txBody>
          <a:bodyPr vert="horz" wrap="square" lIns="68580" tIns="34290" rIns="68580" bIns="34290" rtlCol="0">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令和</a:t>
            </a:r>
            <a:r>
              <a:rPr lang="ja-JP" altLang="en-US" sz="2700" b="1" dirty="0">
                <a:solidFill>
                  <a:prstClr val="black"/>
                </a:solidFill>
                <a:latin typeface="ＭＳ ゴシック" panose="020B0609070205080204" pitchFamily="49" charset="-128"/>
                <a:ea typeface="ＭＳ ゴシック" panose="020B0609070205080204" pitchFamily="49" charset="-128"/>
              </a:rPr>
              <a:t>８</a:t>
            </a: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年２</a:t>
            </a:r>
            <a:r>
              <a:rPr lang="ja-JP" altLang="en-US" sz="2700" b="1" dirty="0">
                <a:solidFill>
                  <a:prstClr val="black"/>
                </a:solidFill>
                <a:latin typeface="ＭＳ ゴシック" panose="020B0609070205080204" pitchFamily="49" charset="-128"/>
                <a:ea typeface="ＭＳ ゴシック" panose="020B0609070205080204" pitchFamily="49" charset="-128"/>
              </a:rPr>
              <a:t>月　日</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lang="ja-JP" altLang="en-US" sz="2700" b="1" dirty="0">
                <a:solidFill>
                  <a:prstClr val="black"/>
                </a:solidFill>
                <a:latin typeface="ＭＳ ゴシック" panose="020B0609070205080204" pitchFamily="49" charset="-128"/>
                <a:ea typeface="ＭＳ ゴシック" panose="020B0609070205080204" pitchFamily="49" charset="-128"/>
              </a:rPr>
              <a:t>ＣＰＴ１班２分隊</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p:txBody>
      </p:sp>
      <p:sp>
        <p:nvSpPr>
          <p:cNvPr id="4" name="正方形/長方形 3">
            <a:extLst>
              <a:ext uri="{FF2B5EF4-FFF2-40B4-BE49-F238E27FC236}">
                <a16:creationId xmlns:a16="http://schemas.microsoft.com/office/drawing/2014/main" id="{7AFC944D-1BAD-4A9C-BC2D-21FBFA75F207}"/>
              </a:ext>
            </a:extLst>
          </p:cNvPr>
          <p:cNvSpPr/>
          <p:nvPr/>
        </p:nvSpPr>
        <p:spPr>
          <a:xfrm>
            <a:off x="3092150" y="4174863"/>
            <a:ext cx="6299678" cy="983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dirty="0">
                <a:solidFill>
                  <a:schemeClr val="tx1"/>
                </a:solidFill>
                <a:latin typeface="ＭＳ ゴシック" panose="020B0609070205080204" pitchFamily="49" charset="-128"/>
                <a:ea typeface="ＭＳ ゴシック" panose="020B0609070205080204" pitchFamily="49" charset="-128"/>
              </a:rPr>
              <a:t>【</a:t>
            </a:r>
            <a:r>
              <a:rPr kumimoji="1" lang="ja-JP" altLang="en-US" sz="1600" dirty="0">
                <a:solidFill>
                  <a:schemeClr val="tx1"/>
                </a:solidFill>
                <a:latin typeface="ＭＳ ゴシック" panose="020B0609070205080204" pitchFamily="49" charset="-128"/>
                <a:ea typeface="ＭＳ ゴシック" panose="020B0609070205080204" pitchFamily="49" charset="-128"/>
              </a:rPr>
              <a:t>趣　旨</a:t>
            </a:r>
            <a:r>
              <a:rPr kumimoji="1" lang="en-US" altLang="ja-JP" sz="1600" dirty="0">
                <a:solidFill>
                  <a:schemeClr val="tx1"/>
                </a:solidFill>
                <a:latin typeface="ＭＳ ゴシック" panose="020B0609070205080204" pitchFamily="49" charset="-128"/>
                <a:ea typeface="ＭＳ ゴシック" panose="020B0609070205080204" pitchFamily="49" charset="-128"/>
              </a:rPr>
              <a:t>】</a:t>
            </a:r>
          </a:p>
          <a:p>
            <a:r>
              <a:rPr lang="ja-JP" altLang="en-US" dirty="0">
                <a:solidFill>
                  <a:schemeClr val="tx1"/>
                </a:solidFill>
                <a:latin typeface="ＭＳ ゴシック" panose="020B0609070205080204" pitchFamily="49" charset="-128"/>
                <a:ea typeface="ＭＳ ゴシック" panose="020B0609070205080204" pitchFamily="49" charset="-128"/>
              </a:rPr>
              <a:t>　</a:t>
            </a:r>
            <a:r>
              <a:rPr kumimoji="1" lang="ja-JP" altLang="en-US" dirty="0">
                <a:solidFill>
                  <a:schemeClr val="tx1"/>
                </a:solidFill>
                <a:highlight>
                  <a:srgbClr val="FFFF00"/>
                </a:highlight>
                <a:latin typeface="ＭＳ ゴシック" panose="020B0609070205080204" pitchFamily="49" charset="-128"/>
                <a:ea typeface="ＭＳ ゴシック" panose="020B0609070205080204" pitchFamily="49" charset="-128"/>
              </a:rPr>
              <a:t>　</a:t>
            </a:r>
          </a:p>
        </p:txBody>
      </p:sp>
      <p:grpSp>
        <p:nvGrpSpPr>
          <p:cNvPr id="5" name="グループ化 4">
            <a:extLst>
              <a:ext uri="{FF2B5EF4-FFF2-40B4-BE49-F238E27FC236}">
                <a16:creationId xmlns:a16="http://schemas.microsoft.com/office/drawing/2014/main" id="{9BF3CC64-5453-4E68-A5CA-6D47F80EB4C8}"/>
              </a:ext>
            </a:extLst>
          </p:cNvPr>
          <p:cNvGrpSpPr/>
          <p:nvPr/>
        </p:nvGrpSpPr>
        <p:grpSpPr>
          <a:xfrm>
            <a:off x="11027055" y="73984"/>
            <a:ext cx="984945" cy="547330"/>
            <a:chOff x="10762108" y="88735"/>
            <a:chExt cx="1183082" cy="729773"/>
          </a:xfrm>
        </p:grpSpPr>
        <p:sp>
          <p:nvSpPr>
            <p:cNvPr id="6" name="正方形/長方形 5">
              <a:extLst>
                <a:ext uri="{FF2B5EF4-FFF2-40B4-BE49-F238E27FC236}">
                  <a16:creationId xmlns:a16="http://schemas.microsoft.com/office/drawing/2014/main" id="{2A6C1B79-6CA7-45A5-8FB0-889500669FBD}"/>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7" name="正方形/長方形 6">
              <a:extLst>
                <a:ext uri="{FF2B5EF4-FFF2-40B4-BE49-F238E27FC236}">
                  <a16:creationId xmlns:a16="http://schemas.microsoft.com/office/drawing/2014/main" id="{11AE1176-B54F-49FB-9CD0-5891EEE9F3A6}"/>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Tree>
    <p:extLst>
      <p:ext uri="{BB962C8B-B14F-4D97-AF65-F5344CB8AC3E}">
        <p14:creationId xmlns:p14="http://schemas.microsoft.com/office/powerpoint/2010/main" val="1265325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453486" y="697577"/>
            <a:ext cx="7379190" cy="5809110"/>
          </a:xfrm>
          <a:prstGeom prst="rect">
            <a:avLst/>
          </a:prstGeom>
          <a:ln>
            <a:solidFill>
              <a:srgbClr val="00B0F0"/>
            </a:solidFill>
          </a:ln>
        </p:spPr>
      </p:pic>
      <p:sp>
        <p:nvSpPr>
          <p:cNvPr id="3" name="正方形/長方形 2">
            <a:extLst>
              <a:ext uri="{FF2B5EF4-FFF2-40B4-BE49-F238E27FC236}">
                <a16:creationId xmlns:a16="http://schemas.microsoft.com/office/drawing/2014/main" id="{E86CDC53-A121-43C5-984D-0300635540D6}"/>
              </a:ext>
            </a:extLst>
          </p:cNvPr>
          <p:cNvSpPr/>
          <p:nvPr/>
        </p:nvSpPr>
        <p:spPr>
          <a:xfrm>
            <a:off x="4734088" y="164444"/>
            <a:ext cx="2723823"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システム構成図（春日）</a:t>
            </a:r>
          </a:p>
        </p:txBody>
      </p:sp>
      <p:graphicFrame>
        <p:nvGraphicFramePr>
          <p:cNvPr id="16" name="表 15">
            <a:extLst>
              <a:ext uri="{FF2B5EF4-FFF2-40B4-BE49-F238E27FC236}">
                <a16:creationId xmlns:a16="http://schemas.microsoft.com/office/drawing/2014/main" id="{0602B3A9-522D-4CCE-90CE-A313E9EC1700}"/>
              </a:ext>
            </a:extLst>
          </p:cNvPr>
          <p:cNvGraphicFramePr>
            <a:graphicFrameLocks noGrp="1"/>
          </p:cNvGraphicFramePr>
          <p:nvPr>
            <p:extLst>
              <p:ext uri="{D42A27DB-BD31-4B8C-83A1-F6EECF244321}">
                <p14:modId xmlns:p14="http://schemas.microsoft.com/office/powerpoint/2010/main" val="3562232396"/>
              </p:ext>
            </p:extLst>
          </p:nvPr>
        </p:nvGraphicFramePr>
        <p:xfrm>
          <a:off x="7918516" y="697576"/>
          <a:ext cx="3819998" cy="5938898"/>
        </p:xfrm>
        <a:graphic>
          <a:graphicData uri="http://schemas.openxmlformats.org/drawingml/2006/table">
            <a:tbl>
              <a:tblPr firstRow="1" firstCol="1" bandRow="1">
                <a:tableStyleId>{5C22544A-7EE6-4342-B048-85BDC9FD1C3A}</a:tableStyleId>
              </a:tblPr>
              <a:tblGrid>
                <a:gridCol w="2057842">
                  <a:extLst>
                    <a:ext uri="{9D8B030D-6E8A-4147-A177-3AD203B41FA5}">
                      <a16:colId xmlns:a16="http://schemas.microsoft.com/office/drawing/2014/main" val="1722972871"/>
                    </a:ext>
                  </a:extLst>
                </a:gridCol>
                <a:gridCol w="1259148">
                  <a:extLst>
                    <a:ext uri="{9D8B030D-6E8A-4147-A177-3AD203B41FA5}">
                      <a16:colId xmlns:a16="http://schemas.microsoft.com/office/drawing/2014/main" val="2322240592"/>
                    </a:ext>
                  </a:extLst>
                </a:gridCol>
                <a:gridCol w="503008">
                  <a:extLst>
                    <a:ext uri="{9D8B030D-6E8A-4147-A177-3AD203B41FA5}">
                      <a16:colId xmlns:a16="http://schemas.microsoft.com/office/drawing/2014/main" val="3559192130"/>
                    </a:ext>
                  </a:extLst>
                </a:gridCol>
              </a:tblGrid>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45717625"/>
                  </a:ext>
                </a:extLst>
              </a:tr>
              <a:tr h="416706">
                <a:tc>
                  <a:txBody>
                    <a:bodyPr/>
                    <a:lstStyle/>
                    <a:p>
                      <a:pPr algn="l">
                        <a:spcAft>
                          <a:spcPts val="0"/>
                        </a:spcAft>
                      </a:pPr>
                      <a:r>
                        <a:rPr lang="ja-JP" sz="300" kern="100">
                          <a:effectLst/>
                        </a:rPr>
                        <a:t>外部ｼｽﾃﾑ連接用ﾙｰﾀｰ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 </a:t>
                      </a:r>
                      <a:r>
                        <a:rPr lang="ja-JP" sz="300" kern="100">
                          <a:effectLst/>
                        </a:rPr>
                        <a:t>西部防空管制群</a:t>
                      </a:r>
                      <a:r>
                        <a:rPr lang="en-US" sz="300" kern="100">
                          <a:effectLst/>
                        </a:rPr>
                        <a:t>(JADGE)</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72142589"/>
                  </a:ext>
                </a:extLst>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37271323"/>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6</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757938"/>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8918697"/>
                  </a:ext>
                </a:extLst>
              </a:tr>
              <a:tr h="119059">
                <a:tc>
                  <a:txBody>
                    <a:bodyPr/>
                    <a:lstStyle/>
                    <a:p>
                      <a:pPr algn="l">
                        <a:spcAft>
                          <a:spcPts val="0"/>
                        </a:spcAft>
                      </a:pPr>
                      <a:r>
                        <a:rPr lang="ja-JP" sz="300" kern="0">
                          <a:effectLst/>
                        </a:rPr>
                        <a:t>ﾌｧｲｱｳｫｰﾙ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420535116"/>
                  </a:ext>
                </a:extLst>
              </a:tr>
              <a:tr h="119059">
                <a:tc>
                  <a:txBody>
                    <a:bodyPr/>
                    <a:lstStyle/>
                    <a:p>
                      <a:pPr algn="l">
                        <a:spcAft>
                          <a:spcPts val="0"/>
                        </a:spcAft>
                      </a:pPr>
                      <a:r>
                        <a:rPr lang="ja-JP" sz="300" kern="0">
                          <a:effectLst/>
                        </a:rPr>
                        <a:t>LAN切替ｽｲｯﾁ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59698725"/>
                  </a:ext>
                </a:extLst>
              </a:tr>
              <a:tr h="119059">
                <a:tc>
                  <a:txBody>
                    <a:bodyPr/>
                    <a:lstStyle/>
                    <a:p>
                      <a:pPr algn="l">
                        <a:spcAft>
                          <a:spcPts val="0"/>
                        </a:spcAft>
                      </a:pPr>
                      <a:r>
                        <a:rPr lang="ja-JP" sz="300" kern="100">
                          <a:effectLst/>
                        </a:rPr>
                        <a:t>支援処理装置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07298864"/>
                  </a:ext>
                </a:extLst>
              </a:tr>
              <a:tr h="123846">
                <a:tc>
                  <a:txBody>
                    <a:bodyPr/>
                    <a:lstStyle/>
                    <a:p>
                      <a:pPr algn="l">
                        <a:spcAft>
                          <a:spcPts val="0"/>
                        </a:spcAft>
                      </a:pPr>
                      <a:r>
                        <a:rPr lang="ja-JP" sz="300" kern="100">
                          <a:effectLst/>
                        </a:rPr>
                        <a:t>運航情報ﾃﾞｰﾀﾍﾞｰｽｻｰﾊﾞｰ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673144015"/>
                  </a:ext>
                </a:extLst>
              </a:tr>
              <a:tr h="123846">
                <a:tc>
                  <a:txBody>
                    <a:bodyPr/>
                    <a:lstStyle/>
                    <a:p>
                      <a:pPr algn="l">
                        <a:spcAft>
                          <a:spcPts val="0"/>
                        </a:spcAft>
                      </a:pPr>
                      <a:r>
                        <a:rPr lang="ja-JP" sz="300" kern="100">
                          <a:effectLst/>
                        </a:rPr>
                        <a:t>運航情報ﾃﾞｰﾀﾍﾞｰｽｻｰﾊﾞｰ 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2325245"/>
                  </a:ext>
                </a:extLst>
              </a:tr>
              <a:tr h="119059">
                <a:tc>
                  <a:txBody>
                    <a:bodyPr/>
                    <a:lstStyle/>
                    <a:p>
                      <a:pPr algn="l">
                        <a:spcAft>
                          <a:spcPts val="0"/>
                        </a:spcAft>
                      </a:pPr>
                      <a:r>
                        <a:rPr lang="ja-JP" sz="300" kern="100">
                          <a:effectLst/>
                        </a:rPr>
                        <a:t>運用諸元管理装置</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7898924"/>
                  </a:ext>
                </a:extLst>
              </a:tr>
              <a:tr h="119059">
                <a:tc>
                  <a:txBody>
                    <a:bodyPr/>
                    <a:lstStyle/>
                    <a:p>
                      <a:pPr algn="l">
                        <a:spcAft>
                          <a:spcPts val="0"/>
                        </a:spcAft>
                      </a:pPr>
                      <a:r>
                        <a:rPr lang="ja-JP" sz="300" kern="100">
                          <a:effectLst/>
                        </a:rPr>
                        <a:t>運用諸元評価用端末</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416671782"/>
                  </a:ext>
                </a:extLst>
              </a:tr>
              <a:tr h="119059">
                <a:tc>
                  <a:txBody>
                    <a:bodyPr/>
                    <a:lstStyle/>
                    <a:p>
                      <a:pPr algn="l">
                        <a:spcAft>
                          <a:spcPts val="0"/>
                        </a:spcAft>
                      </a:pPr>
                      <a:r>
                        <a:rPr lang="ja-JP" sz="300" kern="100">
                          <a:effectLst/>
                        </a:rPr>
                        <a:t>仮想化ｻｰﾊﾞｰ</a:t>
                      </a: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656921776"/>
                  </a:ext>
                </a:extLst>
              </a:tr>
              <a:tr h="119059">
                <a:tc>
                  <a:txBody>
                    <a:bodyPr/>
                    <a:lstStyle/>
                    <a:p>
                      <a:pPr algn="l">
                        <a:spcAft>
                          <a:spcPts val="0"/>
                        </a:spcAft>
                      </a:pPr>
                      <a:r>
                        <a:rPr lang="ja-JP" sz="300" kern="100">
                          <a:effectLst/>
                        </a:rPr>
                        <a:t>（ｾﾝﾀｰﾌﾟﾘﾝﾀｰ）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826060389"/>
                  </a:ext>
                </a:extLst>
              </a:tr>
              <a:tr h="119059">
                <a:tc>
                  <a:txBody>
                    <a:bodyPr/>
                    <a:lstStyle/>
                    <a:p>
                      <a:pPr algn="l">
                        <a:spcAft>
                          <a:spcPts val="0"/>
                        </a:spcAft>
                      </a:pPr>
                      <a:r>
                        <a:rPr lang="ja-JP" sz="300" kern="100">
                          <a:effectLst/>
                        </a:rPr>
                        <a:t>仮想化ｻｰﾊﾞｰ</a:t>
                      </a: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910308927"/>
                  </a:ext>
                </a:extLst>
              </a:tr>
              <a:tr h="123846">
                <a:tc>
                  <a:txBody>
                    <a:bodyPr/>
                    <a:lstStyle/>
                    <a:p>
                      <a:pPr algn="l">
                        <a:spcAft>
                          <a:spcPts val="0"/>
                        </a:spcAft>
                      </a:pPr>
                      <a:r>
                        <a:rPr lang="ja-JP" sz="300" kern="100">
                          <a:effectLst/>
                        </a:rPr>
                        <a:t>仮想化ｻｰﾊﾞｰ</a:t>
                      </a:r>
                      <a:r>
                        <a:rPr lang="en-US" sz="300" kern="100">
                          <a:effectLst/>
                        </a:rPr>
                        <a:t>2 </a:t>
                      </a:r>
                      <a:r>
                        <a:rPr lang="ja-JP" sz="300" kern="100">
                          <a:effectLst/>
                        </a:rPr>
                        <a:t>ﾃﾞｨｽｸｱﾚｲ</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005139225"/>
                  </a:ext>
                </a:extLst>
              </a:tr>
              <a:tr h="119059">
                <a:tc>
                  <a:txBody>
                    <a:bodyPr/>
                    <a:lstStyle/>
                    <a:p>
                      <a:pPr algn="l">
                        <a:spcAft>
                          <a:spcPts val="0"/>
                        </a:spcAft>
                      </a:pPr>
                      <a:r>
                        <a:rPr lang="ja-JP" sz="300" kern="100">
                          <a:effectLst/>
                        </a:rPr>
                        <a:t>代替運用等ｻｰﾊﾞｰ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45585319"/>
                  </a:ext>
                </a:extLst>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A)</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178317966"/>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280217754"/>
                  </a:ext>
                </a:extLst>
              </a:tr>
              <a:tr h="119059">
                <a:tc>
                  <a:txBody>
                    <a:bodyPr/>
                    <a:lstStyle/>
                    <a:p>
                      <a:pPr algn="l">
                        <a:spcAft>
                          <a:spcPts val="0"/>
                        </a:spcAft>
                      </a:pPr>
                      <a:r>
                        <a:rPr lang="ja-JP" sz="300" kern="100">
                          <a:effectLst/>
                        </a:rPr>
                        <a:t>代替運用端末</a:t>
                      </a:r>
                      <a:r>
                        <a:rPr lang="en-US" sz="300" kern="100">
                          <a:effectLst/>
                        </a:rPr>
                        <a:t>(</a:t>
                      </a:r>
                      <a:r>
                        <a:rPr lang="ja-JP" sz="300" kern="100">
                          <a:effectLst/>
                        </a:rPr>
                        <a:t>ﾀｲﾌﾟ</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020203187"/>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586229305"/>
                  </a:ext>
                </a:extLst>
              </a:tr>
              <a:tr h="119059">
                <a:tc>
                  <a:txBody>
                    <a:bodyPr/>
                    <a:lstStyle/>
                    <a:p>
                      <a:pPr algn="l">
                        <a:spcAft>
                          <a:spcPts val="0"/>
                        </a:spcAft>
                      </a:pPr>
                      <a:r>
                        <a:rPr lang="ja-JP" sz="300" kern="100">
                          <a:effectLst/>
                        </a:rPr>
                        <a:t>電算機ﾜｰｸｽﾃｰｼｮﾝ</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29163718"/>
                  </a:ext>
                </a:extLst>
              </a:tr>
              <a:tr h="119059">
                <a:tc>
                  <a:txBody>
                    <a:bodyPr/>
                    <a:lstStyle/>
                    <a:p>
                      <a:pPr algn="l">
                        <a:spcAft>
                          <a:spcPts val="0"/>
                        </a:spcAft>
                      </a:pPr>
                      <a:r>
                        <a:rPr lang="ja-JP" sz="300" kern="100">
                          <a:effectLst/>
                        </a:rPr>
                        <a:t>システム監視ｺﾝｿｰﾙ</a:t>
                      </a:r>
                      <a:r>
                        <a:rPr lang="en-US" sz="300" kern="100">
                          <a:effectLst/>
                        </a:rPr>
                        <a:t>B</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4146933"/>
                  </a:ext>
                </a:extLst>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30220378"/>
                  </a:ext>
                </a:extLst>
              </a:tr>
              <a:tr h="119059">
                <a:tc>
                  <a:txBody>
                    <a:bodyPr/>
                    <a:lstStyle/>
                    <a:p>
                      <a:pPr algn="l">
                        <a:spcAft>
                          <a:spcPts val="0"/>
                        </a:spcAft>
                      </a:pPr>
                      <a:r>
                        <a:rPr lang="ja-JP" sz="300" kern="100">
                          <a:effectLst/>
                        </a:rPr>
                        <a:t>ｻｰﾊﾞｰﾗｯｸ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01323133"/>
                  </a:ext>
                </a:extLst>
              </a:tr>
              <a:tr h="61923">
                <a:tc>
                  <a:txBody>
                    <a:bodyPr/>
                    <a:lstStyle/>
                    <a:p>
                      <a:pPr algn="l">
                        <a:spcAft>
                          <a:spcPts val="0"/>
                        </a:spcAft>
                      </a:pPr>
                      <a:r>
                        <a:rPr lang="ja-JP" sz="300" kern="100">
                          <a:effectLst/>
                        </a:rPr>
                        <a:t>飛行管理業務処理部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en-US" sz="300" kern="100">
                          <a:effectLst/>
                        </a:rPr>
                        <a:t> </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tc>
                <a:extLst>
                  <a:ext uri="{0D108BD9-81ED-4DB2-BD59-A6C34878D82A}">
                    <a16:rowId xmlns:a16="http://schemas.microsoft.com/office/drawing/2014/main" val="584163962"/>
                  </a:ext>
                </a:extLst>
              </a:tr>
              <a:tr h="123846">
                <a:tc>
                  <a:txBody>
                    <a:bodyPr/>
                    <a:lstStyle/>
                    <a:p>
                      <a:pPr algn="ctr">
                        <a:spcAft>
                          <a:spcPts val="0"/>
                        </a:spcAft>
                      </a:pPr>
                      <a:r>
                        <a:rPr lang="ja-JP" sz="300" kern="100">
                          <a:effectLst/>
                        </a:rPr>
                        <a:t>名称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場所</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ctr">
                        <a:spcAft>
                          <a:spcPts val="0"/>
                        </a:spcAft>
                      </a:pPr>
                      <a:r>
                        <a:rPr lang="ja-JP" sz="300" kern="100">
                          <a:effectLst/>
                        </a:rPr>
                        <a:t>数量</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925044922"/>
                  </a:ext>
                </a:extLst>
              </a:tr>
              <a:tr h="119059">
                <a:tc>
                  <a:txBody>
                    <a:bodyPr/>
                    <a:lstStyle/>
                    <a:p>
                      <a:pPr algn="l">
                        <a:spcAft>
                          <a:spcPts val="0"/>
                        </a:spcAft>
                      </a:pPr>
                      <a:r>
                        <a:rPr lang="ja-JP" sz="300" kern="100">
                          <a:effectLst/>
                        </a:rPr>
                        <a:t>ﾙｰﾀｰ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295737604"/>
                  </a:ext>
                </a:extLst>
              </a:tr>
              <a:tr h="119059">
                <a:tc>
                  <a:txBody>
                    <a:bodyPr/>
                    <a:lstStyle/>
                    <a:p>
                      <a:pPr algn="l">
                        <a:spcAft>
                          <a:spcPts val="0"/>
                        </a:spcAft>
                      </a:pPr>
                      <a:r>
                        <a:rPr lang="en-US" sz="300" kern="100">
                          <a:effectLst/>
                        </a:rPr>
                        <a:t>L2</a:t>
                      </a:r>
                      <a:r>
                        <a:rPr lang="ja-JP" sz="300" kern="100">
                          <a:effectLst/>
                        </a:rPr>
                        <a:t>ｽｲｯﾁ</a:t>
                      </a:r>
                      <a:r>
                        <a:rPr lang="en-US" sz="300" kern="100">
                          <a:effectLst/>
                        </a:rPr>
                        <a:t>(8</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423378240"/>
                  </a:ext>
                </a:extLst>
              </a:tr>
              <a:tr h="297648">
                <a:tc>
                  <a:txBody>
                    <a:bodyPr/>
                    <a:lstStyle/>
                    <a:p>
                      <a:pPr algn="l">
                        <a:spcAft>
                          <a:spcPts val="0"/>
                        </a:spcAft>
                      </a:pPr>
                      <a:r>
                        <a:rPr lang="en-US" sz="300" kern="100">
                          <a:effectLst/>
                        </a:rPr>
                        <a:t>L2</a:t>
                      </a:r>
                      <a:r>
                        <a:rPr lang="ja-JP" sz="300" kern="100">
                          <a:effectLst/>
                        </a:rPr>
                        <a:t>ｽｲｯﾁ</a:t>
                      </a:r>
                      <a:r>
                        <a:rPr lang="en-US" sz="300" kern="100">
                          <a:effectLst/>
                        </a:rPr>
                        <a:t>(16</a:t>
                      </a:r>
                      <a:r>
                        <a:rPr lang="ja-JP" sz="300" kern="100">
                          <a:effectLst/>
                        </a:rPr>
                        <a:t>ﾎﾟｰﾄ</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3</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49953376"/>
                  </a:ext>
                </a:extLst>
              </a:tr>
              <a:tr h="119059">
                <a:tc>
                  <a:txBody>
                    <a:bodyPr/>
                    <a:lstStyle/>
                    <a:p>
                      <a:pPr algn="l">
                        <a:spcAft>
                          <a:spcPts val="0"/>
                        </a:spcAft>
                      </a:pPr>
                      <a:r>
                        <a:rPr lang="en-US" sz="300" kern="100">
                          <a:effectLst/>
                        </a:rPr>
                        <a:t>LAN</a:t>
                      </a:r>
                      <a:r>
                        <a:rPr lang="ja-JP" sz="300" kern="100">
                          <a:effectLst/>
                        </a:rPr>
                        <a:t>切替ｽｲｯﾁ</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763952424"/>
                  </a:ext>
                </a:extLst>
              </a:tr>
              <a:tr h="123846">
                <a:tc>
                  <a:txBody>
                    <a:bodyPr/>
                    <a:lstStyle/>
                    <a:p>
                      <a:pPr algn="l">
                        <a:spcAft>
                          <a:spcPts val="0"/>
                        </a:spcAft>
                      </a:pPr>
                      <a:r>
                        <a:rPr lang="en-US" sz="300" kern="100">
                          <a:effectLst/>
                        </a:rPr>
                        <a:t>FADP</a:t>
                      </a:r>
                      <a:r>
                        <a:rPr lang="ja-JP" sz="300" kern="100">
                          <a:effectLst/>
                        </a:rPr>
                        <a:t>用</a:t>
                      </a:r>
                      <a:r>
                        <a:rPr lang="en-US" sz="300" kern="100">
                          <a:effectLst/>
                        </a:rPr>
                        <a:t>(FS/AMIS</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62502771"/>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550595773"/>
                  </a:ext>
                </a:extLst>
              </a:tr>
              <a:tr h="123846">
                <a:tc>
                  <a:txBody>
                    <a:bodyPr/>
                    <a:lstStyle/>
                    <a:p>
                      <a:pPr algn="l">
                        <a:spcAft>
                          <a:spcPts val="0"/>
                        </a:spcAft>
                      </a:pPr>
                      <a:r>
                        <a:rPr lang="en-US" sz="300" kern="100">
                          <a:effectLst/>
                        </a:rPr>
                        <a:t>FADP</a:t>
                      </a:r>
                      <a:r>
                        <a:rPr lang="ja-JP" sz="300" kern="100">
                          <a:effectLst/>
                        </a:rPr>
                        <a:t>用</a:t>
                      </a:r>
                      <a:r>
                        <a:rPr lang="en-US" sz="300" kern="100">
                          <a:effectLst/>
                        </a:rPr>
                        <a:t>(BOPS(</a:t>
                      </a:r>
                      <a:r>
                        <a:rPr lang="ja-JP" sz="300" kern="100">
                          <a:effectLst/>
                        </a:rPr>
                        <a:t>空</a:t>
                      </a:r>
                      <a:r>
                        <a:rPr lang="en-US" sz="300" kern="100">
                          <a:effectLst/>
                        </a:rPr>
                        <a:t>)</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05703260"/>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376246594"/>
                  </a:ext>
                </a:extLst>
              </a:tr>
              <a:tr h="123846">
                <a:tc>
                  <a:txBody>
                    <a:bodyPr/>
                    <a:lstStyle/>
                    <a:p>
                      <a:pPr algn="l">
                        <a:spcAft>
                          <a:spcPts val="0"/>
                        </a:spcAft>
                      </a:pPr>
                      <a:r>
                        <a:rPr lang="en-US" sz="300" kern="100">
                          <a:effectLst/>
                        </a:rPr>
                        <a:t>FADP</a:t>
                      </a:r>
                      <a:r>
                        <a:rPr lang="ja-JP" sz="300" kern="100">
                          <a:effectLst/>
                        </a:rPr>
                        <a:t>用</a:t>
                      </a:r>
                      <a:r>
                        <a:rPr lang="en-US" sz="300" kern="100">
                          <a:effectLst/>
                        </a:rPr>
                        <a:t>(</a:t>
                      </a:r>
                      <a:r>
                        <a:rPr lang="ja-JP" sz="300" kern="100">
                          <a:effectLst/>
                        </a:rPr>
                        <a:t>ｼﾞｬｰﾅﾙｰﾀｰｲﾌﾟ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62991810"/>
                  </a:ext>
                </a:extLst>
              </a:tr>
              <a:tr h="178589">
                <a:tc>
                  <a:txBody>
                    <a:bodyPr/>
                    <a:lstStyle/>
                    <a:p>
                      <a:pPr algn="l">
                        <a:spcAft>
                          <a:spcPts val="0"/>
                        </a:spcAft>
                      </a:pPr>
                      <a:r>
                        <a:rPr lang="en-US" sz="300" kern="100">
                          <a:effectLst/>
                        </a:rPr>
                        <a:t>FADP</a:t>
                      </a:r>
                      <a:r>
                        <a:rPr lang="ja-JP" sz="300" kern="100">
                          <a:effectLst/>
                        </a:rPr>
                        <a:t>用</a:t>
                      </a:r>
                      <a:r>
                        <a:rPr lang="en-US" sz="300" kern="100">
                          <a:effectLst/>
                        </a:rPr>
                        <a:t>(DC</a:t>
                      </a:r>
                      <a:r>
                        <a:rPr lang="ja-JP" sz="300" kern="100">
                          <a:effectLst/>
                        </a:rPr>
                        <a:t>ﾀｲﾌﾟ</a:t>
                      </a:r>
                      <a:r>
                        <a:rPr lang="en-US" sz="300" kern="100">
                          <a:effectLst/>
                        </a:rPr>
                        <a:t>)</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0355697"/>
                  </a:ext>
                </a:extLst>
              </a:tr>
              <a:tr h="17858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西部防空管制群</a:t>
                      </a:r>
                      <a:r>
                        <a:rPr lang="en-US" sz="300" kern="100">
                          <a:effectLst/>
                        </a:rPr>
                        <a:t>(DC)</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4</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4196085068"/>
                  </a:ext>
                </a:extLst>
              </a:tr>
              <a:tr h="119059">
                <a:tc>
                  <a:txBody>
                    <a:bodyPr/>
                    <a:lstStyle/>
                    <a:p>
                      <a:pPr algn="l">
                        <a:spcAft>
                          <a:spcPts val="0"/>
                        </a:spcAft>
                      </a:pPr>
                      <a:r>
                        <a:rPr lang="en-US" sz="300" kern="100">
                          <a:effectLst/>
                        </a:rPr>
                        <a:t>FDPS</a:t>
                      </a:r>
                      <a:r>
                        <a:rPr lang="ja-JP" sz="300" kern="100">
                          <a:effectLst/>
                        </a:rPr>
                        <a:t>対向用</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920599986"/>
                  </a:ext>
                </a:extLst>
              </a:tr>
              <a:tr h="119059">
                <a:tc>
                  <a:txBody>
                    <a:bodyPr/>
                    <a:lstStyle/>
                    <a:p>
                      <a:pPr algn="l">
                        <a:spcAft>
                          <a:spcPts val="0"/>
                        </a:spcAft>
                      </a:pPr>
                      <a:r>
                        <a:rPr lang="ja-JP" sz="300" kern="100">
                          <a:effectLst/>
                        </a:rPr>
                        <a:t>（ｶｯﾄ紙ﾌﾟﾘﾝﾀｰ）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93570323"/>
                  </a:ext>
                </a:extLst>
              </a:tr>
              <a:tr h="119059">
                <a:tc>
                  <a:txBody>
                    <a:bodyPr/>
                    <a:lstStyle/>
                    <a:p>
                      <a:pPr algn="l">
                        <a:spcAft>
                          <a:spcPts val="0"/>
                        </a:spcAft>
                      </a:pPr>
                      <a:r>
                        <a:rPr lang="ja-JP" sz="300" kern="100">
                          <a:effectLst/>
                        </a:rPr>
                        <a:t>業務処理用ｻｰﾊﾞｰ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3534816650"/>
                  </a:ext>
                </a:extLst>
              </a:tr>
              <a:tr h="123846">
                <a:tc>
                  <a:txBody>
                    <a:bodyPr/>
                    <a:lstStyle/>
                    <a:p>
                      <a:pPr algn="l">
                        <a:spcAft>
                          <a:spcPts val="0"/>
                        </a:spcAft>
                      </a:pPr>
                      <a:r>
                        <a:rPr lang="ja-JP" sz="300" kern="100">
                          <a:effectLst/>
                        </a:rPr>
                        <a:t>運航情報等提供ｻｰﾊﾞｰ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784570903"/>
                  </a:ext>
                </a:extLst>
              </a:tr>
              <a:tr h="119059">
                <a:tc>
                  <a:txBody>
                    <a:bodyPr/>
                    <a:lstStyle/>
                    <a:p>
                      <a:pPr algn="l">
                        <a:spcAft>
                          <a:spcPts val="0"/>
                        </a:spcAft>
                      </a:pPr>
                      <a:r>
                        <a:rPr lang="ja-JP" sz="300" kern="100">
                          <a:effectLst/>
                        </a:rPr>
                        <a:t>運航情報等</a:t>
                      </a:r>
                      <a:r>
                        <a:rPr lang="en-US" sz="300" kern="100">
                          <a:effectLst/>
                        </a:rPr>
                        <a:t>DB</a:t>
                      </a:r>
                      <a:r>
                        <a:rPr lang="ja-JP" sz="300" kern="100">
                          <a:effectLst/>
                        </a:rPr>
                        <a:t>ｻｰﾊﾞｰ</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1</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794746923"/>
                  </a:ext>
                </a:extLst>
              </a:tr>
              <a:tr h="119059">
                <a:tc>
                  <a:txBody>
                    <a:bodyPr/>
                    <a:lstStyle/>
                    <a:p>
                      <a:pPr algn="l">
                        <a:spcAft>
                          <a:spcPts val="0"/>
                        </a:spcAft>
                      </a:pPr>
                      <a:r>
                        <a:rPr lang="ja-JP" sz="300" kern="100">
                          <a:effectLst/>
                        </a:rPr>
                        <a:t>ｻｰﾊﾞｰ管理ｺﾝｿｰﾙ</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a:effectLst/>
                        </a:rPr>
                        <a:t>2</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2986714402"/>
                  </a:ext>
                </a:extLst>
              </a:tr>
              <a:tr h="119059">
                <a:tc>
                  <a:txBody>
                    <a:bodyPr/>
                    <a:lstStyle/>
                    <a:p>
                      <a:pPr algn="l">
                        <a:spcAft>
                          <a:spcPts val="0"/>
                        </a:spcAft>
                      </a:pPr>
                      <a:r>
                        <a:rPr lang="ja-JP" sz="300" kern="100">
                          <a:effectLst/>
                        </a:rPr>
                        <a:t>通信ﾗｯｸ</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l">
                        <a:spcAft>
                          <a:spcPts val="0"/>
                        </a:spcAft>
                      </a:pPr>
                      <a:r>
                        <a:rPr lang="ja-JP" sz="300" kern="100">
                          <a:effectLst/>
                        </a:rPr>
                        <a:t>春日管制隊</a:t>
                      </a:r>
                      <a:endParaRPr lang="ja-JP" sz="500" kern="10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tc>
                  <a:txBody>
                    <a:bodyPr/>
                    <a:lstStyle/>
                    <a:p>
                      <a:pPr algn="r">
                        <a:spcAft>
                          <a:spcPts val="0"/>
                        </a:spcAft>
                      </a:pPr>
                      <a:r>
                        <a:rPr lang="en-US" sz="300" kern="100" dirty="0">
                          <a:effectLst/>
                        </a:rPr>
                        <a:t>1</a:t>
                      </a:r>
                      <a:endParaRPr lang="ja-JP" sz="500" kern="100" dirty="0">
                        <a:effectLst/>
                        <a:latin typeface="Century" panose="02040604050505020304" pitchFamily="18" charset="0"/>
                        <a:ea typeface="ＭＳ 明朝" panose="02020609040205080304" pitchFamily="17" charset="-128"/>
                        <a:cs typeface="Times New Roman" panose="02020603050405020304" pitchFamily="18" charset="0"/>
                      </a:endParaRPr>
                    </a:p>
                  </a:txBody>
                  <a:tcPr marL="32965" marR="32965" marT="0" marB="0" anchor="ctr"/>
                </a:tc>
                <a:extLst>
                  <a:ext uri="{0D108BD9-81ED-4DB2-BD59-A6C34878D82A}">
                    <a16:rowId xmlns:a16="http://schemas.microsoft.com/office/drawing/2014/main" val="1075201950"/>
                  </a:ext>
                </a:extLst>
              </a:tr>
            </a:tbl>
          </a:graphicData>
        </a:graphic>
      </p:graphicFrame>
    </p:spTree>
    <p:extLst>
      <p:ext uri="{BB962C8B-B14F-4D97-AF65-F5344CB8AC3E}">
        <p14:creationId xmlns:p14="http://schemas.microsoft.com/office/powerpoint/2010/main" val="2198504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659119" y="707004"/>
            <a:ext cx="9115718" cy="5980580"/>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flipH="1">
            <a:off x="8870422" y="1498861"/>
            <a:ext cx="1" cy="89554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5257755" y="2394407"/>
            <a:ext cx="3612667"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5257755" y="2394407"/>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a:extLst>
              <a:ext uri="{FF2B5EF4-FFF2-40B4-BE49-F238E27FC236}">
                <a16:creationId xmlns:a16="http://schemas.microsoft.com/office/drawing/2014/main" id="{D5B6F89B-B031-4528-81D5-4B74A852DD54}"/>
              </a:ext>
            </a:extLst>
          </p:cNvPr>
          <p:cNvCxnSpPr>
            <a:cxnSpLocks/>
          </p:cNvCxnSpPr>
          <p:nvPr/>
        </p:nvCxnSpPr>
        <p:spPr>
          <a:xfrm flipH="1" flipV="1">
            <a:off x="4919088" y="3500094"/>
            <a:ext cx="345781" cy="54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a:extLst>
              <a:ext uri="{FF2B5EF4-FFF2-40B4-BE49-F238E27FC236}">
                <a16:creationId xmlns:a16="http://schemas.microsoft.com/office/drawing/2014/main" id="{764D2AD8-B4D5-45F3-B8C3-501E1254AE3E}"/>
              </a:ext>
            </a:extLst>
          </p:cNvPr>
          <p:cNvCxnSpPr>
            <a:cxnSpLocks/>
          </p:cNvCxnSpPr>
          <p:nvPr/>
        </p:nvCxnSpPr>
        <p:spPr>
          <a:xfrm flipH="1" flipV="1">
            <a:off x="4928015" y="939407"/>
            <a:ext cx="1" cy="2560688"/>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5426586" y="164444"/>
            <a:ext cx="1338829"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攻撃経路１</a:t>
            </a:r>
          </a:p>
        </p:txBody>
      </p:sp>
    </p:spTree>
    <p:extLst>
      <p:ext uri="{BB962C8B-B14F-4D97-AF65-F5344CB8AC3E}">
        <p14:creationId xmlns:p14="http://schemas.microsoft.com/office/powerpoint/2010/main" val="394919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51CC9F2-73D7-4AD5-B4FB-C99B74F73FA0}"/>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1748672" y="724107"/>
            <a:ext cx="9059158" cy="5969449"/>
          </a:xfrm>
          <a:prstGeom prst="rect">
            <a:avLst/>
          </a:prstGeom>
          <a:ln>
            <a:solidFill>
              <a:srgbClr val="00B0F0"/>
            </a:solidFill>
          </a:ln>
        </p:spPr>
      </p:pic>
      <p:cxnSp>
        <p:nvCxnSpPr>
          <p:cNvPr id="8" name="直線コネクタ 7">
            <a:extLst>
              <a:ext uri="{FF2B5EF4-FFF2-40B4-BE49-F238E27FC236}">
                <a16:creationId xmlns:a16="http://schemas.microsoft.com/office/drawing/2014/main" id="{B693C081-4215-480F-AD5F-98FB3BDA4B82}"/>
              </a:ext>
            </a:extLst>
          </p:cNvPr>
          <p:cNvCxnSpPr>
            <a:cxnSpLocks/>
          </p:cNvCxnSpPr>
          <p:nvPr/>
        </p:nvCxnSpPr>
        <p:spPr>
          <a:xfrm flipH="1">
            <a:off x="8898903" y="1509860"/>
            <a:ext cx="2" cy="50904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1" name="直線コネクタ 10">
            <a:extLst>
              <a:ext uri="{FF2B5EF4-FFF2-40B4-BE49-F238E27FC236}">
                <a16:creationId xmlns:a16="http://schemas.microsoft.com/office/drawing/2014/main" id="{DE75A7FD-737B-4AD9-80AE-5A66B6B315AC}"/>
              </a:ext>
            </a:extLst>
          </p:cNvPr>
          <p:cNvCxnSpPr>
            <a:cxnSpLocks/>
          </p:cNvCxnSpPr>
          <p:nvPr/>
        </p:nvCxnSpPr>
        <p:spPr>
          <a:xfrm flipH="1">
            <a:off x="5330358" y="2406977"/>
            <a:ext cx="4662054" cy="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3" name="直線コネクタ 12">
            <a:extLst>
              <a:ext uri="{FF2B5EF4-FFF2-40B4-BE49-F238E27FC236}">
                <a16:creationId xmlns:a16="http://schemas.microsoft.com/office/drawing/2014/main" id="{9754EB2C-2ACB-4FA3-AB4D-E291184A441B}"/>
              </a:ext>
            </a:extLst>
          </p:cNvPr>
          <p:cNvCxnSpPr>
            <a:cxnSpLocks/>
          </p:cNvCxnSpPr>
          <p:nvPr/>
        </p:nvCxnSpPr>
        <p:spPr>
          <a:xfrm>
            <a:off x="5314316" y="2432115"/>
            <a:ext cx="0" cy="11104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15" name="直線コネクタ 14">
            <a:extLst>
              <a:ext uri="{FF2B5EF4-FFF2-40B4-BE49-F238E27FC236}">
                <a16:creationId xmlns:a16="http://schemas.microsoft.com/office/drawing/2014/main" id="{D5B6F89B-B031-4528-81D5-4B74A852DD54}"/>
              </a:ext>
            </a:extLst>
          </p:cNvPr>
          <p:cNvCxnSpPr>
            <a:cxnSpLocks/>
          </p:cNvCxnSpPr>
          <p:nvPr/>
        </p:nvCxnSpPr>
        <p:spPr>
          <a:xfrm flipH="1" flipV="1">
            <a:off x="4984576" y="3557835"/>
            <a:ext cx="345781" cy="5455"/>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4" name="直線矢印コネクタ 23">
            <a:extLst>
              <a:ext uri="{FF2B5EF4-FFF2-40B4-BE49-F238E27FC236}">
                <a16:creationId xmlns:a16="http://schemas.microsoft.com/office/drawing/2014/main" id="{764D2AD8-B4D5-45F3-B8C3-501E1254AE3E}"/>
              </a:ext>
            </a:extLst>
          </p:cNvPr>
          <p:cNvCxnSpPr>
            <a:cxnSpLocks/>
          </p:cNvCxnSpPr>
          <p:nvPr/>
        </p:nvCxnSpPr>
        <p:spPr>
          <a:xfrm flipH="1" flipV="1">
            <a:off x="4984576" y="977115"/>
            <a:ext cx="1" cy="2560688"/>
          </a:xfrm>
          <a:prstGeom prst="straightConnector1">
            <a:avLst/>
          </a:prstGeom>
          <a:ln>
            <a:solidFill>
              <a:srgbClr val="FF0000"/>
            </a:solidFill>
            <a:tailEnd type="triangle"/>
          </a:ln>
        </p:spPr>
        <p:style>
          <a:lnRef idx="3">
            <a:schemeClr val="accent1"/>
          </a:lnRef>
          <a:fillRef idx="0">
            <a:schemeClr val="accent1"/>
          </a:fillRef>
          <a:effectRef idx="2">
            <a:schemeClr val="accent1"/>
          </a:effectRef>
          <a:fontRef idx="minor">
            <a:schemeClr val="tx1"/>
          </a:fontRef>
        </p:style>
      </p:cxnSp>
      <p:sp>
        <p:nvSpPr>
          <p:cNvPr id="3" name="正方形/長方形 2">
            <a:extLst>
              <a:ext uri="{FF2B5EF4-FFF2-40B4-BE49-F238E27FC236}">
                <a16:creationId xmlns:a16="http://schemas.microsoft.com/office/drawing/2014/main" id="{E86CDC53-A121-43C5-984D-0300635540D6}"/>
              </a:ext>
            </a:extLst>
          </p:cNvPr>
          <p:cNvSpPr/>
          <p:nvPr/>
        </p:nvSpPr>
        <p:spPr>
          <a:xfrm>
            <a:off x="5426586" y="164444"/>
            <a:ext cx="1338829"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攻撃経路２</a:t>
            </a:r>
          </a:p>
        </p:txBody>
      </p:sp>
      <p:cxnSp>
        <p:nvCxnSpPr>
          <p:cNvPr id="19" name="直線コネクタ 18">
            <a:extLst>
              <a:ext uri="{FF2B5EF4-FFF2-40B4-BE49-F238E27FC236}">
                <a16:creationId xmlns:a16="http://schemas.microsoft.com/office/drawing/2014/main" id="{66A9BDB4-0494-4789-9E88-7EFB560237EC}"/>
              </a:ext>
            </a:extLst>
          </p:cNvPr>
          <p:cNvCxnSpPr>
            <a:cxnSpLocks/>
          </p:cNvCxnSpPr>
          <p:nvPr/>
        </p:nvCxnSpPr>
        <p:spPr>
          <a:xfrm>
            <a:off x="8898903" y="2011051"/>
            <a:ext cx="1093509" cy="7856"/>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21" name="直線コネクタ 20">
            <a:extLst>
              <a:ext uri="{FF2B5EF4-FFF2-40B4-BE49-F238E27FC236}">
                <a16:creationId xmlns:a16="http://schemas.microsoft.com/office/drawing/2014/main" id="{A0A475C0-9946-4545-9668-35A657AE8B14}"/>
              </a:ext>
            </a:extLst>
          </p:cNvPr>
          <p:cNvCxnSpPr>
            <a:cxnSpLocks/>
          </p:cNvCxnSpPr>
          <p:nvPr/>
        </p:nvCxnSpPr>
        <p:spPr>
          <a:xfrm>
            <a:off x="9992412" y="2018907"/>
            <a:ext cx="1" cy="38807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0146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A70C354-6AA4-4D30-BF93-3C6339E2AF92}"/>
              </a:ext>
            </a:extLst>
          </p:cNvPr>
          <p:cNvGraphicFramePr>
            <a:graphicFrameLocks noGrp="1"/>
          </p:cNvGraphicFramePr>
          <p:nvPr>
            <p:ph idx="1"/>
            <p:extLst>
              <p:ext uri="{D42A27DB-BD31-4B8C-83A1-F6EECF244321}">
                <p14:modId xmlns:p14="http://schemas.microsoft.com/office/powerpoint/2010/main" val="1150357624"/>
              </p:ext>
            </p:extLst>
          </p:nvPr>
        </p:nvGraphicFramePr>
        <p:xfrm>
          <a:off x="2073896" y="763137"/>
          <a:ext cx="8327011" cy="5803065"/>
        </p:xfrm>
        <a:graphic>
          <a:graphicData uri="http://schemas.openxmlformats.org/drawingml/2006/table">
            <a:tbl>
              <a:tblPr>
                <a:tableStyleId>{0505E3EF-67EA-436B-97B2-0124C06EBD24}</a:tableStyleId>
              </a:tblPr>
              <a:tblGrid>
                <a:gridCol w="491029">
                  <a:extLst>
                    <a:ext uri="{9D8B030D-6E8A-4147-A177-3AD203B41FA5}">
                      <a16:colId xmlns:a16="http://schemas.microsoft.com/office/drawing/2014/main" val="3811008294"/>
                    </a:ext>
                  </a:extLst>
                </a:gridCol>
                <a:gridCol w="2291460">
                  <a:extLst>
                    <a:ext uri="{9D8B030D-6E8A-4147-A177-3AD203B41FA5}">
                      <a16:colId xmlns:a16="http://schemas.microsoft.com/office/drawing/2014/main" val="3831060418"/>
                    </a:ext>
                  </a:extLst>
                </a:gridCol>
                <a:gridCol w="491029">
                  <a:extLst>
                    <a:ext uri="{9D8B030D-6E8A-4147-A177-3AD203B41FA5}">
                      <a16:colId xmlns:a16="http://schemas.microsoft.com/office/drawing/2014/main" val="651440228"/>
                    </a:ext>
                  </a:extLst>
                </a:gridCol>
                <a:gridCol w="2271004">
                  <a:extLst>
                    <a:ext uri="{9D8B030D-6E8A-4147-A177-3AD203B41FA5}">
                      <a16:colId xmlns:a16="http://schemas.microsoft.com/office/drawing/2014/main" val="318710982"/>
                    </a:ext>
                  </a:extLst>
                </a:gridCol>
                <a:gridCol w="491029">
                  <a:extLst>
                    <a:ext uri="{9D8B030D-6E8A-4147-A177-3AD203B41FA5}">
                      <a16:colId xmlns:a16="http://schemas.microsoft.com/office/drawing/2014/main" val="1129262144"/>
                    </a:ext>
                  </a:extLst>
                </a:gridCol>
                <a:gridCol w="2291460">
                  <a:extLst>
                    <a:ext uri="{9D8B030D-6E8A-4147-A177-3AD203B41FA5}">
                      <a16:colId xmlns:a16="http://schemas.microsoft.com/office/drawing/2014/main" val="958003847"/>
                    </a:ext>
                  </a:extLst>
                </a:gridCol>
              </a:tblGrid>
              <a:tr h="156995">
                <a:tc gridSpan="6">
                  <a:txBody>
                    <a:bodyPr/>
                    <a:lstStyle/>
                    <a:p>
                      <a:pPr algn="ctr" fontAlgn="ctr"/>
                      <a:r>
                        <a:rPr lang="en-US" sz="1200" u="none" strike="noStrike">
                          <a:effectLst/>
                        </a:rPr>
                        <a:t>IP</a:t>
                      </a:r>
                      <a:r>
                        <a:rPr lang="ja-JP" altLang="en-US" sz="1200" u="none" strike="noStrike">
                          <a:effectLst/>
                        </a:rPr>
                        <a:t>一覧</a:t>
                      </a:r>
                      <a:endParaRPr lang="ja-JP" altLang="en-US" sz="1200" b="0" i="0"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635145843"/>
                  </a:ext>
                </a:extLst>
              </a:tr>
              <a:tr h="156995">
                <a:tc>
                  <a:txBody>
                    <a:bodyPr/>
                    <a:lstStyle/>
                    <a:p>
                      <a:pPr algn="l" fontAlgn="ctr"/>
                      <a:r>
                        <a:rPr lang="en-US" altLang="ja-JP" sz="1200" u="none" strike="noStrike" dirty="0">
                          <a:effectLst/>
                        </a:rPr>
                        <a:t>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172.20.0.1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032105351"/>
                  </a:ext>
                </a:extLst>
              </a:tr>
              <a:tr h="156995">
                <a:tc>
                  <a:txBody>
                    <a:bodyPr/>
                    <a:lstStyle/>
                    <a:p>
                      <a:pPr algn="l" fontAlgn="ctr"/>
                      <a:r>
                        <a:rPr lang="en-US" altLang="ja-JP" sz="1200" u="none" strike="noStrike" dirty="0">
                          <a:effectLst/>
                        </a:rPr>
                        <a:t>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0285220"/>
                  </a:ext>
                </a:extLst>
              </a:tr>
              <a:tr h="156995">
                <a:tc>
                  <a:txBody>
                    <a:bodyPr/>
                    <a:lstStyle/>
                    <a:p>
                      <a:pPr algn="l" fontAlgn="ctr"/>
                      <a:r>
                        <a:rPr lang="en-US" altLang="ja-JP" sz="1200" u="none" strike="noStrike" dirty="0">
                          <a:effectLst/>
                        </a:rPr>
                        <a:t>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09663848"/>
                  </a:ext>
                </a:extLst>
              </a:tr>
              <a:tr h="156995">
                <a:tc>
                  <a:txBody>
                    <a:bodyPr/>
                    <a:lstStyle/>
                    <a:p>
                      <a:pPr algn="l" fontAlgn="ctr"/>
                      <a:r>
                        <a:rPr lang="en-US" altLang="ja-JP" sz="1200" u="none" strike="noStrike" dirty="0">
                          <a:effectLst/>
                        </a:rPr>
                        <a:t>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4112514745"/>
                  </a:ext>
                </a:extLst>
              </a:tr>
              <a:tr h="156995">
                <a:tc>
                  <a:txBody>
                    <a:bodyPr/>
                    <a:lstStyle/>
                    <a:p>
                      <a:pPr algn="l" fontAlgn="ctr"/>
                      <a:r>
                        <a:rPr lang="en-US" altLang="ja-JP" sz="1200" u="none" strike="noStrike" dirty="0">
                          <a:effectLst/>
                        </a:rPr>
                        <a:t>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69490713"/>
                  </a:ext>
                </a:extLst>
              </a:tr>
              <a:tr h="156995">
                <a:tc>
                  <a:txBody>
                    <a:bodyPr/>
                    <a:lstStyle/>
                    <a:p>
                      <a:pPr algn="l" fontAlgn="ctr"/>
                      <a:r>
                        <a:rPr lang="en-US" altLang="ja-JP" sz="1200" u="none" strike="noStrike" dirty="0">
                          <a:effectLst/>
                        </a:rPr>
                        <a:t>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10.107.189.252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172.18.0.2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756781564"/>
                  </a:ext>
                </a:extLst>
              </a:tr>
              <a:tr h="150826">
                <a:tc>
                  <a:txBody>
                    <a:bodyPr/>
                    <a:lstStyle/>
                    <a:p>
                      <a:pPr algn="l" fontAlgn="ctr"/>
                      <a:r>
                        <a:rPr lang="en-US" altLang="ja-JP" sz="1200" u="none" strike="noStrike" dirty="0">
                          <a:effectLst/>
                        </a:rPr>
                        <a:t>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80354316"/>
                  </a:ext>
                </a:extLst>
              </a:tr>
              <a:tr h="156995">
                <a:tc>
                  <a:txBody>
                    <a:bodyPr/>
                    <a:lstStyle/>
                    <a:p>
                      <a:pPr algn="l" fontAlgn="ctr"/>
                      <a:r>
                        <a:rPr lang="en-US" altLang="ja-JP" sz="1200" u="none" strike="noStrike" dirty="0">
                          <a:effectLst/>
                        </a:rPr>
                        <a:t>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10.107.189.1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984565786"/>
                  </a:ext>
                </a:extLst>
              </a:tr>
              <a:tr h="156995">
                <a:tc>
                  <a:txBody>
                    <a:bodyPr/>
                    <a:lstStyle/>
                    <a:p>
                      <a:pPr algn="l" fontAlgn="ctr"/>
                      <a:r>
                        <a:rPr lang="en-US" altLang="ja-JP" sz="1200" u="none" strike="noStrike" dirty="0">
                          <a:effectLst/>
                        </a:rPr>
                        <a:t>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39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610077350"/>
                  </a:ext>
                </a:extLst>
              </a:tr>
              <a:tr h="156995">
                <a:tc>
                  <a:txBody>
                    <a:bodyPr/>
                    <a:lstStyle/>
                    <a:p>
                      <a:pPr algn="l" fontAlgn="ctr"/>
                      <a:r>
                        <a:rPr lang="en-US" altLang="ja-JP" sz="1200" u="none" strike="noStrike" dirty="0">
                          <a:effectLst/>
                        </a:rPr>
                        <a:t>10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6379606"/>
                  </a:ext>
                </a:extLst>
              </a:tr>
              <a:tr h="156995">
                <a:tc>
                  <a:txBody>
                    <a:bodyPr/>
                    <a:lstStyle/>
                    <a:p>
                      <a:pPr algn="l" fontAlgn="ctr"/>
                      <a:r>
                        <a:rPr lang="en-US" altLang="ja-JP" sz="1200" u="none" strike="noStrike" dirty="0">
                          <a:effectLst/>
                        </a:rPr>
                        <a:t>11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069715459"/>
                  </a:ext>
                </a:extLst>
              </a:tr>
              <a:tr h="156995">
                <a:tc>
                  <a:txBody>
                    <a:bodyPr/>
                    <a:lstStyle/>
                    <a:p>
                      <a:pPr algn="l" fontAlgn="ctr"/>
                      <a:r>
                        <a:rPr lang="en-US" altLang="ja-JP" sz="1200" u="none" strike="noStrike" dirty="0">
                          <a:effectLst/>
                        </a:rPr>
                        <a:t>12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10.107.190.150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10.107.190.117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583981959"/>
                  </a:ext>
                </a:extLst>
              </a:tr>
              <a:tr h="156995">
                <a:tc>
                  <a:txBody>
                    <a:bodyPr/>
                    <a:lstStyle/>
                    <a:p>
                      <a:pPr algn="l" fontAlgn="ctr"/>
                      <a:r>
                        <a:rPr lang="en-US" altLang="ja-JP" sz="1200" u="none" strike="noStrike" dirty="0">
                          <a:effectLst/>
                        </a:rPr>
                        <a:t>13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10.107.190.148</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10.107.191.11</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602589601"/>
                  </a:ext>
                </a:extLst>
              </a:tr>
              <a:tr h="156995">
                <a:tc>
                  <a:txBody>
                    <a:bodyPr/>
                    <a:lstStyle/>
                    <a:p>
                      <a:pPr algn="l" fontAlgn="ctr"/>
                      <a:r>
                        <a:rPr lang="en-US" altLang="ja-JP" sz="1200" u="none" strike="noStrike" dirty="0">
                          <a:effectLst/>
                        </a:rPr>
                        <a:t>14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379339190"/>
                  </a:ext>
                </a:extLst>
              </a:tr>
              <a:tr h="156995">
                <a:tc>
                  <a:txBody>
                    <a:bodyPr/>
                    <a:lstStyle/>
                    <a:p>
                      <a:pPr algn="l" fontAlgn="ctr"/>
                      <a:r>
                        <a:rPr lang="en-US" altLang="ja-JP" sz="1200" u="none" strike="noStrike" dirty="0">
                          <a:effectLst/>
                        </a:rPr>
                        <a:t>15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2964452890"/>
                  </a:ext>
                </a:extLst>
              </a:tr>
              <a:tr h="156995">
                <a:tc>
                  <a:txBody>
                    <a:bodyPr/>
                    <a:lstStyle/>
                    <a:p>
                      <a:pPr algn="l" fontAlgn="ctr"/>
                      <a:r>
                        <a:rPr lang="en-US" altLang="ja-JP" sz="1200" u="none" strike="noStrike" dirty="0">
                          <a:effectLst/>
                        </a:rPr>
                        <a:t>16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10.107.190.16</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729389702"/>
                  </a:ext>
                </a:extLst>
              </a:tr>
              <a:tr h="156995">
                <a:tc>
                  <a:txBody>
                    <a:bodyPr/>
                    <a:lstStyle/>
                    <a:p>
                      <a:pPr algn="l" fontAlgn="ctr"/>
                      <a:r>
                        <a:rPr lang="en-US" altLang="ja-JP" sz="1200" u="none" strike="noStrike" dirty="0">
                          <a:effectLst/>
                        </a:rPr>
                        <a:t>17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497057562"/>
                  </a:ext>
                </a:extLst>
              </a:tr>
              <a:tr h="156995">
                <a:tc>
                  <a:txBody>
                    <a:bodyPr/>
                    <a:lstStyle/>
                    <a:p>
                      <a:pPr algn="l" fontAlgn="ctr"/>
                      <a:r>
                        <a:rPr lang="en-US" altLang="ja-JP" sz="1200" u="none" strike="noStrike" dirty="0">
                          <a:effectLst/>
                        </a:rPr>
                        <a:t>18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10.107.191.17</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184270353"/>
                  </a:ext>
                </a:extLst>
              </a:tr>
              <a:tr h="199695">
                <a:tc>
                  <a:txBody>
                    <a:bodyPr/>
                    <a:lstStyle/>
                    <a:p>
                      <a:pPr algn="l" fontAlgn="ctr"/>
                      <a:r>
                        <a:rPr lang="en-US" altLang="ja-JP" sz="1200" u="none" strike="noStrike" dirty="0">
                          <a:effectLst/>
                        </a:rPr>
                        <a:t>19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10.107.190.123</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49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79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10.107.189.12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223413312"/>
                  </a:ext>
                </a:extLst>
              </a:tr>
              <a:tr h="156995">
                <a:tc>
                  <a:txBody>
                    <a:bodyPr/>
                    <a:lstStyle/>
                    <a:p>
                      <a:pPr algn="l" fontAlgn="ctr"/>
                      <a:r>
                        <a:rPr lang="en-US" altLang="ja-JP" sz="1200" u="none" strike="noStrike" dirty="0">
                          <a:effectLst/>
                        </a:rPr>
                        <a:t>20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10.107.190.122</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10.107.190.135</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10.107.190.254</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3854750748"/>
                  </a:ext>
                </a:extLst>
              </a:tr>
              <a:tr h="156995">
                <a:tc>
                  <a:txBody>
                    <a:bodyPr/>
                    <a:lstStyle/>
                    <a:p>
                      <a:pPr algn="l" fontAlgn="ctr"/>
                      <a:r>
                        <a:rPr lang="en-US" altLang="ja-JP" sz="1200" u="none" strike="noStrike" dirty="0">
                          <a:effectLst/>
                        </a:rPr>
                        <a:t>21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10.107.190.249</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81</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10.107.191.254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extLst>
                  <a:ext uri="{0D108BD9-81ED-4DB2-BD59-A6C34878D82A}">
                    <a16:rowId xmlns:a16="http://schemas.microsoft.com/office/drawing/2014/main" val="171669598"/>
                  </a:ext>
                </a:extLst>
              </a:tr>
              <a:tr h="156995">
                <a:tc>
                  <a:txBody>
                    <a:bodyPr/>
                    <a:lstStyle/>
                    <a:p>
                      <a:pPr algn="l" fontAlgn="ctr"/>
                      <a:r>
                        <a:rPr lang="en-US" altLang="ja-JP" sz="1200" u="none" strike="noStrike" dirty="0">
                          <a:effectLst/>
                        </a:rPr>
                        <a:t>22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10.107.190.248</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52</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787408146"/>
                  </a:ext>
                </a:extLst>
              </a:tr>
              <a:tr h="156995">
                <a:tc>
                  <a:txBody>
                    <a:bodyPr/>
                    <a:lstStyle/>
                    <a:p>
                      <a:pPr algn="l" fontAlgn="ctr"/>
                      <a:r>
                        <a:rPr lang="en-US" altLang="ja-JP" sz="1200" u="none" strike="noStrike" dirty="0">
                          <a:effectLst/>
                        </a:rPr>
                        <a:t>23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53</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733909634"/>
                  </a:ext>
                </a:extLst>
              </a:tr>
              <a:tr h="156995">
                <a:tc>
                  <a:txBody>
                    <a:bodyPr/>
                    <a:lstStyle/>
                    <a:p>
                      <a:pPr algn="l" fontAlgn="ctr"/>
                      <a:r>
                        <a:rPr lang="en-US" altLang="ja-JP" sz="1200" u="none" strike="noStrike" dirty="0">
                          <a:effectLst/>
                        </a:rPr>
                        <a:t>24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10.2.70.100</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54</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10.107.190.149</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11470414"/>
                  </a:ext>
                </a:extLst>
              </a:tr>
              <a:tr h="150826">
                <a:tc>
                  <a:txBody>
                    <a:bodyPr/>
                    <a:lstStyle/>
                    <a:p>
                      <a:pPr algn="l" fontAlgn="ctr"/>
                      <a:r>
                        <a:rPr lang="en-US" altLang="ja-JP" sz="1200" u="none" strike="noStrike" dirty="0">
                          <a:effectLst/>
                        </a:rPr>
                        <a:t>25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10.2.70.200</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55</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262525013"/>
                  </a:ext>
                </a:extLst>
              </a:tr>
              <a:tr h="156995">
                <a:tc>
                  <a:txBody>
                    <a:bodyPr/>
                    <a:lstStyle/>
                    <a:p>
                      <a:pPr algn="l" fontAlgn="ctr"/>
                      <a:r>
                        <a:rPr lang="en-US" altLang="ja-JP" sz="1200" u="none" strike="noStrike" dirty="0">
                          <a:effectLst/>
                        </a:rPr>
                        <a:t>26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10.2.70.1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56</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10.107.190.35</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104690617"/>
                  </a:ext>
                </a:extLst>
              </a:tr>
              <a:tr h="156995">
                <a:tc>
                  <a:txBody>
                    <a:bodyPr/>
                    <a:lstStyle/>
                    <a:p>
                      <a:pPr algn="l" fontAlgn="ctr"/>
                      <a:r>
                        <a:rPr lang="en-US" altLang="ja-JP" sz="1200" u="none" strike="noStrike" dirty="0">
                          <a:effectLst/>
                        </a:rPr>
                        <a:t>27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a:effectLst/>
                        </a:rPr>
                        <a:t>10.2.70.2</a:t>
                      </a:r>
                      <a:endParaRPr lang="en-US" altLang="ja-JP" sz="1200" b="0" i="1" u="none" strike="noStrike">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57</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192.168.4.254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79184195"/>
                  </a:ext>
                </a:extLst>
              </a:tr>
              <a:tr h="156995">
                <a:tc>
                  <a:txBody>
                    <a:bodyPr/>
                    <a:lstStyle/>
                    <a:p>
                      <a:pPr algn="l" fontAlgn="ctr"/>
                      <a:r>
                        <a:rPr lang="en-US" altLang="ja-JP" sz="1200" u="none" strike="noStrike" dirty="0">
                          <a:effectLst/>
                        </a:rPr>
                        <a:t>28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10.107.190.247</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58</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10.107.190.33</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3303892975"/>
                  </a:ext>
                </a:extLst>
              </a:tr>
              <a:tr h="156995">
                <a:tc>
                  <a:txBody>
                    <a:bodyPr/>
                    <a:lstStyle/>
                    <a:p>
                      <a:pPr algn="l" fontAlgn="ctr"/>
                      <a:r>
                        <a:rPr lang="en-US" altLang="ja-JP" sz="1200" u="none" strike="noStrike" dirty="0">
                          <a:effectLst/>
                        </a:rPr>
                        <a:t>29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10.107.190.131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59</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10.107.190.34</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extLst>
                  <a:ext uri="{0D108BD9-81ED-4DB2-BD59-A6C34878D82A}">
                    <a16:rowId xmlns:a16="http://schemas.microsoft.com/office/drawing/2014/main" val="2807313282"/>
                  </a:ext>
                </a:extLst>
              </a:tr>
              <a:tr h="156995">
                <a:tc>
                  <a:txBody>
                    <a:bodyPr/>
                    <a:lstStyle/>
                    <a:p>
                      <a:pPr algn="l" fontAlgn="ctr"/>
                      <a:r>
                        <a:rPr lang="en-US" altLang="ja-JP" sz="1200" u="none" strike="noStrike" dirty="0">
                          <a:effectLst/>
                        </a:rPr>
                        <a:t>30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10.107.190.141</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r>
                        <a:rPr lang="en-US" altLang="ja-JP" sz="1200" u="none" strike="noStrike" dirty="0">
                          <a:effectLst/>
                        </a:rPr>
                        <a:t>60</a:t>
                      </a:r>
                      <a:endParaRPr lang="en-US" altLang="ja-JP" sz="1200" b="1" i="0" u="none" strike="noStrike" dirty="0">
                        <a:solidFill>
                          <a:srgbClr val="000000"/>
                        </a:solidFill>
                        <a:effectLst/>
                        <a:latin typeface="遊ゴシック"/>
                      </a:endParaRPr>
                    </a:p>
                  </a:txBody>
                  <a:tcPr marL="3899" marR="3899" marT="3899" marB="0" anchor="ctr"/>
                </a:tc>
                <a:tc>
                  <a:txBody>
                    <a:bodyPr/>
                    <a:lstStyle/>
                    <a:p>
                      <a:pPr algn="l" fontAlgn="ctr"/>
                      <a:r>
                        <a:rPr lang="en-US" altLang="ja-JP" sz="1200" u="none" strike="noStrike" dirty="0">
                          <a:effectLst/>
                        </a:rPr>
                        <a:t>10.107.190.6</a:t>
                      </a:r>
                      <a:endParaRPr lang="en-US" altLang="ja-JP" sz="1200" b="0" i="1" u="none" strike="noStrike" dirty="0">
                        <a:solidFill>
                          <a:srgbClr val="000000"/>
                        </a:solidFill>
                        <a:effectLst/>
                        <a:latin typeface="游ゴシック" panose="020B0400000000000000" pitchFamily="50" charset="-128"/>
                        <a:ea typeface="游ゴシック" panose="020B0400000000000000" pitchFamily="50" charset="-128"/>
                      </a:endParaRPr>
                    </a:p>
                  </a:txBody>
                  <a:tcPr marL="3899" marR="3899" marT="3899" marB="0" anchor="ctr"/>
                </a:tc>
                <a:tc>
                  <a:txBody>
                    <a:bodyPr/>
                    <a:lstStyle/>
                    <a:p>
                      <a:pPr algn="l" fontAlgn="ctr"/>
                      <a:endParaRPr lang="ja-JP" altLang="en-US" sz="1200" b="0" i="0" u="none" strike="noStrike">
                        <a:solidFill>
                          <a:srgbClr val="000000"/>
                        </a:solidFill>
                        <a:effectLst/>
                        <a:latin typeface="遊ゴシック"/>
                      </a:endParaRPr>
                    </a:p>
                  </a:txBody>
                  <a:tcPr marL="3899" marR="3899" marT="3899" marB="0" anchor="ctr"/>
                </a:tc>
                <a:tc>
                  <a:txBody>
                    <a:bodyPr/>
                    <a:lstStyle/>
                    <a:p>
                      <a:pPr algn="l" fontAlgn="ctr"/>
                      <a:endParaRPr lang="ja-JP" altLang="en-US" sz="1200" b="0" i="0" u="none" strike="noStrike" dirty="0">
                        <a:solidFill>
                          <a:srgbClr val="000000"/>
                        </a:solidFill>
                        <a:effectLst/>
                        <a:latin typeface="遊ゴシック"/>
                      </a:endParaRPr>
                    </a:p>
                  </a:txBody>
                  <a:tcPr marL="3899" marR="3899" marT="3899" marB="0" anchor="ctr"/>
                </a:tc>
                <a:extLst>
                  <a:ext uri="{0D108BD9-81ED-4DB2-BD59-A6C34878D82A}">
                    <a16:rowId xmlns:a16="http://schemas.microsoft.com/office/drawing/2014/main" val="3080088669"/>
                  </a:ext>
                </a:extLst>
              </a:tr>
            </a:tbl>
          </a:graphicData>
        </a:graphic>
      </p:graphicFrame>
      <p:sp>
        <p:nvSpPr>
          <p:cNvPr id="3" name="正方形/長方形 2">
            <a:extLst>
              <a:ext uri="{FF2B5EF4-FFF2-40B4-BE49-F238E27FC236}">
                <a16:creationId xmlns:a16="http://schemas.microsoft.com/office/drawing/2014/main" id="{F9992541-3BFC-4913-A771-D60CB2F69442}"/>
              </a:ext>
            </a:extLst>
          </p:cNvPr>
          <p:cNvSpPr/>
          <p:nvPr/>
        </p:nvSpPr>
        <p:spPr>
          <a:xfrm>
            <a:off x="5657419" y="164444"/>
            <a:ext cx="877163" cy="369332"/>
          </a:xfrm>
          <a:prstGeom prst="rect">
            <a:avLst/>
          </a:prstGeom>
        </p:spPr>
        <p:txBody>
          <a:bodyPr wrap="none">
            <a:spAutoFit/>
          </a:bodyPr>
          <a:lstStyle/>
          <a:p>
            <a:pPr algn="ctr"/>
            <a:r>
              <a:rPr lang="en-US" altLang="ja-JP" dirty="0">
                <a:latin typeface="ＭＳ ゴシック" panose="020B0609070205080204" pitchFamily="49" charset="-128"/>
                <a:ea typeface="ＭＳ ゴシック" panose="020B0609070205080204" pitchFamily="49" charset="-128"/>
              </a:rPr>
              <a:t>IP</a:t>
            </a:r>
            <a:r>
              <a:rPr lang="ja-JP" altLang="en-US" dirty="0">
                <a:latin typeface="ＭＳ ゴシック" panose="020B0609070205080204" pitchFamily="49" charset="-128"/>
                <a:ea typeface="ＭＳ ゴシック" panose="020B0609070205080204" pitchFamily="49" charset="-128"/>
              </a:rPr>
              <a:t>一覧</a:t>
            </a:r>
          </a:p>
        </p:txBody>
      </p:sp>
    </p:spTree>
    <p:extLst>
      <p:ext uri="{BB962C8B-B14F-4D97-AF65-F5344CB8AC3E}">
        <p14:creationId xmlns:p14="http://schemas.microsoft.com/office/powerpoint/2010/main" val="1231382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3A5770-8D4A-450A-93C4-8F796CC61446}"/>
              </a:ext>
            </a:extLst>
          </p:cNvPr>
          <p:cNvSpPr>
            <a:spLocks noGrp="1"/>
          </p:cNvSpPr>
          <p:nvPr>
            <p:ph type="ctrTitle"/>
          </p:nvPr>
        </p:nvSpPr>
        <p:spPr/>
        <p:txBody>
          <a:bodyPr/>
          <a:lstStyle/>
          <a:p>
            <a:r>
              <a:rPr kumimoji="1" lang="en-US" altLang="ja-JP" dirty="0"/>
              <a:t>APT</a:t>
            </a:r>
            <a:r>
              <a:rPr kumimoji="1" lang="ja-JP" altLang="en-US" dirty="0"/>
              <a:t>４１</a:t>
            </a:r>
          </a:p>
        </p:txBody>
      </p:sp>
      <p:sp>
        <p:nvSpPr>
          <p:cNvPr id="3" name="字幕 2">
            <a:extLst>
              <a:ext uri="{FF2B5EF4-FFF2-40B4-BE49-F238E27FC236}">
                <a16:creationId xmlns:a16="http://schemas.microsoft.com/office/drawing/2014/main" id="{609396B5-FD7D-4E5A-800B-E1C62487256E}"/>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050065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B447199-D4F9-4564-8210-CCC7A33C4BD0}"/>
              </a:ext>
            </a:extLst>
          </p:cNvPr>
          <p:cNvSpPr>
            <a:spLocks noGrp="1"/>
          </p:cNvSpPr>
          <p:nvPr>
            <p:ph idx="1"/>
          </p:nvPr>
        </p:nvSpPr>
        <p:spPr>
          <a:xfrm>
            <a:off x="1474901" y="1140644"/>
            <a:ext cx="9242196" cy="5429839"/>
          </a:xfrm>
        </p:spPr>
        <p:txBody>
          <a:bodyPr>
            <a:noAutofit/>
          </a:bodyPr>
          <a:lstStyle/>
          <a:p>
            <a:pPr marL="0" indent="0">
              <a:buNone/>
            </a:pPr>
            <a:r>
              <a:rPr lang="en-US" altLang="ja-JP" sz="900" dirty="0"/>
              <a:t>APT41</a:t>
            </a:r>
            <a:r>
              <a:rPr lang="ja-JP" altLang="en-US" sz="900" dirty="0"/>
              <a:t>（別名：</a:t>
            </a:r>
            <a:r>
              <a:rPr lang="en-US" altLang="ja-JP" sz="900" dirty="0"/>
              <a:t>Wicked Panda, Double Dragon, BARIUM, </a:t>
            </a:r>
            <a:r>
              <a:rPr lang="en-US" altLang="ja-JP" sz="900" dirty="0" err="1"/>
              <a:t>Winnti</a:t>
            </a:r>
            <a:r>
              <a:rPr lang="en-US" altLang="ja-JP" sz="900" dirty="0"/>
              <a:t> Group</a:t>
            </a:r>
            <a:r>
              <a:rPr lang="ja-JP" altLang="en-US" sz="900" dirty="0"/>
              <a:t>など）は、中国を拠点とすると見られる極めて高度で多才なサイバー脅威グループです。</a:t>
            </a:r>
            <a:r>
              <a:rPr lang="en-US" altLang="ja-JP" sz="900" dirty="0"/>
              <a:t>2012</a:t>
            </a:r>
            <a:r>
              <a:rPr lang="ja-JP" altLang="en-US" sz="900" dirty="0"/>
              <a:t>年頃（一説には</a:t>
            </a:r>
            <a:r>
              <a:rPr lang="en-US" altLang="ja-JP" sz="900" dirty="0"/>
              <a:t>2014</a:t>
            </a:r>
            <a:r>
              <a:rPr lang="ja-JP" altLang="en-US" sz="900" dirty="0"/>
              <a:t>年頃）から活動しており、最大の特徴は「国家支援型のスパイ活動」と「金銭目的の犯罪活動」の両方を行う二刀流（</a:t>
            </a:r>
            <a:r>
              <a:rPr lang="en-US" altLang="ja-JP" sz="900" dirty="0"/>
              <a:t>Dual-Purpose</a:t>
            </a:r>
            <a:r>
              <a:rPr lang="ja-JP" altLang="en-US" sz="900" dirty="0"/>
              <a:t>）である点です。 </a:t>
            </a:r>
          </a:p>
          <a:p>
            <a:pPr marL="0" indent="0">
              <a:buNone/>
            </a:pPr>
            <a:r>
              <a:rPr lang="en-US" altLang="ja-JP" sz="900" dirty="0"/>
              <a:t>APT41</a:t>
            </a:r>
            <a:r>
              <a:rPr lang="ja-JP" altLang="en-US" sz="900" dirty="0"/>
              <a:t>の主な特徴</a:t>
            </a:r>
          </a:p>
          <a:p>
            <a:pPr marL="0" indent="0">
              <a:buNone/>
            </a:pPr>
            <a:r>
              <a:rPr lang="en-US" altLang="ja-JP" sz="900" dirty="0"/>
              <a:t>1. </a:t>
            </a:r>
            <a:r>
              <a:rPr lang="ja-JP" altLang="en-US" sz="900" dirty="0"/>
              <a:t>二刀流の活動（国家スパイ＋金銭目的） </a:t>
            </a:r>
          </a:p>
          <a:p>
            <a:pPr marL="0" indent="0">
              <a:buNone/>
            </a:pPr>
            <a:r>
              <a:rPr lang="ja-JP" altLang="en-US" sz="900" dirty="0"/>
              <a:t>国家支援型スパイ活動</a:t>
            </a:r>
            <a:r>
              <a:rPr lang="en-US" altLang="ja-JP" sz="900" dirty="0"/>
              <a:t>: </a:t>
            </a:r>
            <a:r>
              <a:rPr lang="ja-JP" altLang="en-US" sz="900" dirty="0"/>
              <a:t>中国の</a:t>
            </a:r>
            <a:r>
              <a:rPr lang="en-US" altLang="ja-JP" sz="900" dirty="0"/>
              <a:t>5</a:t>
            </a:r>
            <a:r>
              <a:rPr lang="ja-JP" altLang="en-US" sz="900" dirty="0"/>
              <a:t>カ年経済計画に沿った戦略的産業の機密情報窃取（通信、ハイテク、医療、製薬、教育、政府機関など）を行う。</a:t>
            </a:r>
          </a:p>
          <a:p>
            <a:pPr marL="0" indent="0">
              <a:buNone/>
            </a:pPr>
            <a:r>
              <a:rPr lang="ja-JP" altLang="en-US" sz="900" dirty="0"/>
              <a:t>金銭目的の犯罪</a:t>
            </a:r>
            <a:r>
              <a:rPr lang="en-US" altLang="ja-JP" sz="900" dirty="0"/>
              <a:t>: </a:t>
            </a:r>
            <a:r>
              <a:rPr lang="ja-JP" altLang="en-US" sz="900" dirty="0"/>
              <a:t>ビデオゲーム業界（ソースコードやバーチャル通貨の窃取）、仮想通貨のマイニング、ランサムウェアの展開などを行う。</a:t>
            </a:r>
          </a:p>
          <a:p>
            <a:pPr marL="0" indent="0">
              <a:buNone/>
            </a:pPr>
            <a:r>
              <a:rPr lang="ja-JP" altLang="en-US" sz="900" dirty="0"/>
              <a:t>特徴</a:t>
            </a:r>
            <a:r>
              <a:rPr lang="en-US" altLang="ja-JP" sz="900" dirty="0"/>
              <a:t>: </a:t>
            </a:r>
            <a:r>
              <a:rPr lang="ja-JP" altLang="en-US" sz="900" dirty="0"/>
              <a:t>通常、国家支援型アクターは金銭的犯罪をあまり行わないが、</a:t>
            </a:r>
            <a:r>
              <a:rPr lang="en-US" altLang="ja-JP" sz="900" dirty="0"/>
              <a:t>APT41</a:t>
            </a:r>
            <a:r>
              <a:rPr lang="ja-JP" altLang="en-US" sz="900" dirty="0"/>
              <a:t>は「自身の活動資金を自身で稼ぐ」あるいは「スパイ活動をカモフラージュするために犯罪活動を利用する」というユニークな特性を持つ。 </a:t>
            </a:r>
          </a:p>
          <a:p>
            <a:pPr marL="0" indent="0">
              <a:buNone/>
            </a:pPr>
            <a:r>
              <a:rPr lang="en-US" altLang="ja-JP" sz="900" dirty="0"/>
              <a:t>2. </a:t>
            </a:r>
            <a:r>
              <a:rPr lang="ja-JP" altLang="en-US" sz="900" dirty="0"/>
              <a:t>攻撃技術と戦術（</a:t>
            </a:r>
            <a:r>
              <a:rPr lang="en-US" altLang="ja-JP" sz="900" dirty="0"/>
              <a:t>TTPs</a:t>
            </a:r>
            <a:r>
              <a:rPr lang="ja-JP" altLang="en-US" sz="900" dirty="0"/>
              <a:t>）</a:t>
            </a:r>
          </a:p>
          <a:p>
            <a:pPr marL="0" indent="0">
              <a:buNone/>
            </a:pPr>
            <a:r>
              <a:rPr lang="ja-JP" altLang="en-US" sz="900" dirty="0"/>
              <a:t>サプライチェーン攻撃</a:t>
            </a:r>
            <a:r>
              <a:rPr lang="en-US" altLang="ja-JP" sz="900" dirty="0"/>
              <a:t>: </a:t>
            </a:r>
            <a:r>
              <a:rPr lang="ja-JP" altLang="en-US" sz="900" dirty="0"/>
              <a:t>ソフトウェア更新機能（アップデータ）や開発者用ツールを汚染し、そのソフトウェアを利用する顧客へ不正プログラムを配布する手法が非常に巧み。</a:t>
            </a:r>
          </a:p>
          <a:p>
            <a:pPr marL="0" indent="0">
              <a:buNone/>
            </a:pPr>
            <a:r>
              <a:rPr lang="ja-JP" altLang="en-US" sz="900" dirty="0"/>
              <a:t>ゼロデイの悪用</a:t>
            </a:r>
            <a:r>
              <a:rPr lang="en-US" altLang="ja-JP" sz="900" dirty="0"/>
              <a:t>: Citrix, </a:t>
            </a:r>
            <a:r>
              <a:rPr lang="en-US" altLang="ja-JP" sz="900" dirty="0" err="1"/>
              <a:t>Zoho</a:t>
            </a:r>
            <a:r>
              <a:rPr lang="en-US" altLang="ja-JP" sz="900" dirty="0"/>
              <a:t>, Cisco</a:t>
            </a:r>
            <a:r>
              <a:rPr lang="ja-JP" altLang="en-US" sz="900" dirty="0"/>
              <a:t>など、外部に公開されている脆弱性（ゼロデイ含む）を迅速に武器化して侵入する。</a:t>
            </a:r>
          </a:p>
          <a:p>
            <a:pPr marL="0" indent="0">
              <a:buNone/>
            </a:pPr>
            <a:r>
              <a:rPr lang="ja-JP" altLang="en-US" sz="900" dirty="0"/>
              <a:t>「</a:t>
            </a:r>
            <a:r>
              <a:rPr lang="en-US" altLang="ja-JP" sz="900" dirty="0"/>
              <a:t>Living off the Land</a:t>
            </a:r>
            <a:r>
              <a:rPr lang="ja-JP" altLang="en-US" sz="900" dirty="0"/>
              <a:t>」手法</a:t>
            </a:r>
            <a:r>
              <a:rPr lang="en-US" altLang="ja-JP" sz="900" dirty="0"/>
              <a:t>: </a:t>
            </a:r>
            <a:r>
              <a:rPr lang="ja-JP" altLang="en-US" sz="900" dirty="0"/>
              <a:t>標的環境に元からある正規ツール（</a:t>
            </a:r>
            <a:r>
              <a:rPr lang="en-US" altLang="ja-JP" sz="900" dirty="0"/>
              <a:t>certutil.exe, powershell.exe</a:t>
            </a:r>
            <a:r>
              <a:rPr lang="ja-JP" altLang="en-US" sz="900" dirty="0"/>
              <a:t>など）を悪用し、不正ツールの持ち込みを最小限にして検知を回避する。</a:t>
            </a:r>
          </a:p>
          <a:p>
            <a:pPr marL="0" indent="0">
              <a:buNone/>
            </a:pPr>
            <a:r>
              <a:rPr lang="ja-JP" altLang="en-US" sz="900" dirty="0"/>
              <a:t>多様なバックドアとルートキット</a:t>
            </a:r>
            <a:r>
              <a:rPr lang="en-US" altLang="ja-JP" sz="900" dirty="0"/>
              <a:t>: Cobalt Strike</a:t>
            </a:r>
            <a:r>
              <a:rPr lang="ja-JP" altLang="en-US" sz="900" dirty="0"/>
              <a:t>のほか、</a:t>
            </a:r>
            <a:r>
              <a:rPr lang="en-US" altLang="ja-JP" sz="900" dirty="0" err="1"/>
              <a:t>Speculoos</a:t>
            </a:r>
            <a:r>
              <a:rPr lang="ja-JP" altLang="en-US" sz="900" dirty="0"/>
              <a:t>などのカスタムバックドア、ルートキット、ルートキット機能を持つブートキットを使用する。</a:t>
            </a:r>
          </a:p>
          <a:p>
            <a:pPr marL="0" indent="0">
              <a:buNone/>
            </a:pPr>
            <a:r>
              <a:rPr lang="ja-JP" altLang="en-US" sz="900" dirty="0"/>
              <a:t>デジタル証明書の盗用</a:t>
            </a:r>
            <a:r>
              <a:rPr lang="en-US" altLang="ja-JP" sz="900" dirty="0"/>
              <a:t>: </a:t>
            </a:r>
            <a:r>
              <a:rPr lang="ja-JP" altLang="en-US" sz="900" dirty="0"/>
              <a:t>盗んだ認証済みのデジタル証明書でマルウェアに署名し、安全なソフトと見せかける。 </a:t>
            </a:r>
          </a:p>
          <a:p>
            <a:pPr marL="0" indent="0">
              <a:buNone/>
            </a:pPr>
            <a:r>
              <a:rPr lang="en-US" altLang="ja-JP" sz="900" dirty="0"/>
              <a:t>3. </a:t>
            </a:r>
            <a:r>
              <a:rPr lang="ja-JP" altLang="en-US" sz="900" dirty="0"/>
              <a:t>活動状況とターゲット</a:t>
            </a:r>
          </a:p>
          <a:p>
            <a:pPr marL="0" indent="0">
              <a:buNone/>
            </a:pPr>
            <a:r>
              <a:rPr lang="ja-JP" altLang="en-US" sz="900" dirty="0"/>
              <a:t>グローバルな攻撃</a:t>
            </a:r>
            <a:r>
              <a:rPr lang="en-US" altLang="ja-JP" sz="900" dirty="0"/>
              <a:t>: </a:t>
            </a:r>
            <a:r>
              <a:rPr lang="ja-JP" altLang="en-US" sz="900" dirty="0"/>
              <a:t>米国をはじめ、日本を含む世界各地の政府、企業、大学などを無差別に、かつ執拗に攻撃する。</a:t>
            </a:r>
          </a:p>
          <a:p>
            <a:pPr marL="0" indent="0">
              <a:buNone/>
            </a:pPr>
            <a:r>
              <a:rPr lang="ja-JP" altLang="en-US" sz="900" dirty="0"/>
              <a:t>長期間の持続性</a:t>
            </a:r>
            <a:r>
              <a:rPr lang="en-US" altLang="ja-JP" sz="900" dirty="0"/>
              <a:t>: </a:t>
            </a:r>
            <a:r>
              <a:rPr lang="ja-JP" altLang="en-US" sz="900" dirty="0"/>
              <a:t>一度侵入すると、半年以上にわたってネットワークに留まり、長期的にデータを盗み出し続ける。</a:t>
            </a:r>
          </a:p>
          <a:p>
            <a:pPr marL="0" indent="0">
              <a:buNone/>
            </a:pPr>
            <a:r>
              <a:rPr lang="ja-JP" altLang="en-US" sz="900" dirty="0"/>
              <a:t>活発な更新</a:t>
            </a:r>
            <a:r>
              <a:rPr lang="en-US" altLang="ja-JP" sz="900" dirty="0"/>
              <a:t>: 2023</a:t>
            </a:r>
            <a:r>
              <a:rPr lang="ja-JP" altLang="en-US" sz="900" dirty="0"/>
              <a:t>年から</a:t>
            </a:r>
            <a:r>
              <a:rPr lang="en-US" altLang="ja-JP" sz="900" dirty="0"/>
              <a:t>2024</a:t>
            </a:r>
            <a:r>
              <a:rPr lang="ja-JP" altLang="en-US" sz="900" dirty="0"/>
              <a:t>年にかけて「</a:t>
            </a:r>
            <a:r>
              <a:rPr lang="en-US" altLang="ja-JP" sz="900" dirty="0"/>
              <a:t>APT41 DUST</a:t>
            </a:r>
            <a:r>
              <a:rPr lang="ja-JP" altLang="en-US" sz="900" dirty="0"/>
              <a:t>」と呼ばれる活動が確認されるなど、進化を続けている。 </a:t>
            </a:r>
          </a:p>
          <a:p>
            <a:pPr marL="0" indent="0">
              <a:buNone/>
            </a:pPr>
            <a:r>
              <a:rPr lang="en-US" altLang="ja-JP" sz="900" dirty="0"/>
              <a:t>4. </a:t>
            </a:r>
            <a:r>
              <a:rPr lang="ja-JP" altLang="en-US" sz="900" dirty="0"/>
              <a:t>組織的な背景</a:t>
            </a:r>
          </a:p>
          <a:p>
            <a:pPr marL="0" indent="0">
              <a:buNone/>
            </a:pPr>
            <a:r>
              <a:rPr lang="ja-JP" altLang="en-US" sz="900" dirty="0"/>
              <a:t>成都</a:t>
            </a:r>
            <a:r>
              <a:rPr lang="en-US" altLang="ja-JP" sz="900" dirty="0"/>
              <a:t>404: </a:t>
            </a:r>
            <a:r>
              <a:rPr lang="ja-JP" altLang="en-US" sz="900" dirty="0"/>
              <a:t>米国司法省（</a:t>
            </a:r>
            <a:r>
              <a:rPr lang="en-US" altLang="ja-JP" sz="900" dirty="0"/>
              <a:t>DOJ</a:t>
            </a:r>
            <a:r>
              <a:rPr lang="ja-JP" altLang="en-US" sz="900" dirty="0"/>
              <a:t>）は、成都</a:t>
            </a:r>
            <a:r>
              <a:rPr lang="en-US" altLang="ja-JP" sz="900" dirty="0"/>
              <a:t>404</a:t>
            </a:r>
            <a:r>
              <a:rPr lang="ja-JP" altLang="en-US" sz="900" dirty="0"/>
              <a:t>ネットワークテクノロジー社（</a:t>
            </a:r>
            <a:r>
              <a:rPr lang="en-US" altLang="ja-JP" sz="900" dirty="0"/>
              <a:t>Chengdu 404 Network Technology Company</a:t>
            </a:r>
            <a:r>
              <a:rPr lang="ja-JP" altLang="en-US" sz="900" dirty="0"/>
              <a:t>）の従業員らが、このグループの活動に関与していると指摘している。</a:t>
            </a:r>
          </a:p>
          <a:p>
            <a:pPr marL="0" indent="0">
              <a:buNone/>
            </a:pPr>
            <a:r>
              <a:rPr lang="en-US" altLang="ja-JP" sz="900" dirty="0"/>
              <a:t>FBI</a:t>
            </a:r>
            <a:r>
              <a:rPr lang="ja-JP" altLang="en-US" sz="900" dirty="0"/>
              <a:t>の指名手配</a:t>
            </a:r>
            <a:r>
              <a:rPr lang="en-US" altLang="ja-JP" sz="900" dirty="0"/>
              <a:t>: </a:t>
            </a:r>
            <a:r>
              <a:rPr lang="ja-JP" altLang="en-US" sz="900" dirty="0"/>
              <a:t>米国政府は、</a:t>
            </a:r>
            <a:r>
              <a:rPr lang="en-US" altLang="ja-JP" sz="900" dirty="0"/>
              <a:t>APT41</a:t>
            </a:r>
            <a:r>
              <a:rPr lang="ja-JP" altLang="en-US" sz="900" dirty="0"/>
              <a:t>のメンバー複数を指名手配し、その活動を強く非難している。 </a:t>
            </a:r>
          </a:p>
          <a:p>
            <a:pPr marL="0" indent="0">
              <a:buNone/>
            </a:pPr>
            <a:r>
              <a:rPr lang="ja-JP" altLang="en-US" sz="900" dirty="0"/>
              <a:t>まとめると、</a:t>
            </a:r>
            <a:r>
              <a:rPr lang="en-US" altLang="ja-JP" sz="900" dirty="0"/>
              <a:t>APT41</a:t>
            </a:r>
            <a:r>
              <a:rPr lang="ja-JP" altLang="en-US" sz="900" dirty="0"/>
              <a:t>は「政府級の高度なスキルを持ちながら、サイバー犯罪者のような金銭への執着も併せ持つ、最も危険なアクターの一つ」といえます。</a:t>
            </a:r>
            <a:endParaRPr kumimoji="1" lang="ja-JP" altLang="en-US" sz="900" dirty="0"/>
          </a:p>
        </p:txBody>
      </p:sp>
      <p:sp>
        <p:nvSpPr>
          <p:cNvPr id="4" name="タイトル 1">
            <a:extLst>
              <a:ext uri="{FF2B5EF4-FFF2-40B4-BE49-F238E27FC236}">
                <a16:creationId xmlns:a16="http://schemas.microsoft.com/office/drawing/2014/main" id="{BCBD4DD6-E6E6-4F07-B5B0-26823D9627F9}"/>
              </a:ext>
            </a:extLst>
          </p:cNvPr>
          <p:cNvSpPr txBox="1">
            <a:spLocks/>
          </p:cNvSpPr>
          <p:nvPr/>
        </p:nvSpPr>
        <p:spPr>
          <a:xfrm>
            <a:off x="4905864" y="160829"/>
            <a:ext cx="2380269" cy="48962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800" dirty="0">
                <a:latin typeface="メイリオ" panose="020B0604030504040204" pitchFamily="50" charset="-128"/>
                <a:ea typeface="メイリオ" panose="020B0604030504040204" pitchFamily="50" charset="-128"/>
              </a:rPr>
              <a:t>APT41</a:t>
            </a:r>
            <a:r>
              <a:rPr lang="ja-JP" altLang="en-US" sz="2800" dirty="0">
                <a:latin typeface="メイリオ" panose="020B0604030504040204" pitchFamily="50" charset="-128"/>
                <a:ea typeface="メイリオ" panose="020B0604030504040204" pitchFamily="50" charset="-128"/>
              </a:rPr>
              <a:t>の特徴</a:t>
            </a:r>
          </a:p>
        </p:txBody>
      </p:sp>
    </p:spTree>
    <p:extLst>
      <p:ext uri="{BB962C8B-B14F-4D97-AF65-F5344CB8AC3E}">
        <p14:creationId xmlns:p14="http://schemas.microsoft.com/office/powerpoint/2010/main" val="1981596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D17BA6AC-34D3-4E8D-9D56-85FAAF1CE2E6}"/>
              </a:ext>
            </a:extLst>
          </p:cNvPr>
          <p:cNvGraphicFramePr>
            <a:graphicFrameLocks noGrp="1"/>
          </p:cNvGraphicFramePr>
          <p:nvPr>
            <p:ph idx="1"/>
            <p:extLst>
              <p:ext uri="{D42A27DB-BD31-4B8C-83A1-F6EECF244321}">
                <p14:modId xmlns:p14="http://schemas.microsoft.com/office/powerpoint/2010/main" val="840201076"/>
              </p:ext>
            </p:extLst>
          </p:nvPr>
        </p:nvGraphicFramePr>
        <p:xfrm>
          <a:off x="0" y="18837"/>
          <a:ext cx="4191000" cy="64782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163965124"/>
                    </a:ext>
                  </a:extLst>
                </a:gridCol>
                <a:gridCol w="2095500">
                  <a:extLst>
                    <a:ext uri="{9D8B030D-6E8A-4147-A177-3AD203B41FA5}">
                      <a16:colId xmlns:a16="http://schemas.microsoft.com/office/drawing/2014/main" val="83971510"/>
                    </a:ext>
                  </a:extLst>
                </a:gridCol>
              </a:tblGrid>
              <a:tr h="283008">
                <a:tc gridSpan="2">
                  <a:txBody>
                    <a:bodyPr/>
                    <a:lstStyle/>
                    <a:p>
                      <a:pPr algn="ctr" fontAlgn="b"/>
                      <a:r>
                        <a:rPr lang="en-US" sz="1100" u="none" strike="noStrike" dirty="0">
                          <a:effectLst/>
                        </a:rPr>
                        <a:t>TA0043: Reconnaissance</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819297308"/>
                  </a:ext>
                </a:extLst>
              </a:tr>
              <a:tr h="283008">
                <a:tc rowSpan="3">
                  <a:txBody>
                    <a:bodyPr/>
                    <a:lstStyle/>
                    <a:p>
                      <a:pPr algn="l" fontAlgn="t"/>
                      <a:r>
                        <a:rPr lang="en-US" sz="1100" u="none" strike="noStrike" dirty="0">
                          <a:effectLst/>
                        </a:rPr>
                        <a:t>T1595: Active Scanning</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t"/>
                      <a:r>
                        <a:rPr lang="en-US" sz="1100" u="none" strike="noStrike" dirty="0">
                          <a:effectLst/>
                        </a:rPr>
                        <a:t>T1595.001: Scanning IP Blocks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356102531"/>
                  </a:ext>
                </a:extLst>
              </a:tr>
              <a:tr h="555688">
                <a:tc vMerge="1">
                  <a:txBody>
                    <a:bodyPr/>
                    <a:lstStyle/>
                    <a:p>
                      <a:endParaRPr kumimoji="1" lang="ja-JP" altLang="en-US"/>
                    </a:p>
                  </a:txBody>
                  <a:tcPr/>
                </a:tc>
                <a:tc>
                  <a:txBody>
                    <a:bodyPr/>
                    <a:lstStyle/>
                    <a:p>
                      <a:pPr algn="l" fontAlgn="t"/>
                      <a:r>
                        <a:rPr lang="en-US" sz="1100" u="none" strike="noStrike" dirty="0">
                          <a:effectLst/>
                          <a:highlight>
                            <a:srgbClr val="FF0000"/>
                          </a:highlight>
                        </a:rPr>
                        <a:t>T1595.002: Vulnerability</a:t>
                      </a:r>
                      <a:r>
                        <a:rPr lang="en-US" sz="1100" u="none" strike="noStrike" dirty="0">
                          <a:effectLst/>
                        </a:rPr>
                        <a:t> </a:t>
                      </a:r>
                      <a:r>
                        <a:rPr lang="en-US" sz="1100" u="none" strike="noStrike" dirty="0">
                          <a:effectLst/>
                          <a:highlight>
                            <a:srgbClr val="FF0000"/>
                          </a:highlight>
                        </a:rPr>
                        <a:t>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198520208"/>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T1595.003: Wordlist Scanning</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19604136"/>
                  </a:ext>
                </a:extLst>
              </a:tr>
              <a:tr h="283008">
                <a:tc gridSpan="2">
                  <a:txBody>
                    <a:bodyPr/>
                    <a:lstStyle/>
                    <a:p>
                      <a:pPr algn="l" fontAlgn="t"/>
                      <a:r>
                        <a:rPr lang="en-US" sz="1100" u="none" strike="noStrike">
                          <a:effectLst/>
                        </a:rPr>
                        <a:t>T1592: Gather Victim Host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525863"/>
                  </a:ext>
                </a:extLst>
              </a:tr>
              <a:tr h="283008">
                <a:tc gridSpan="2">
                  <a:txBody>
                    <a:bodyPr/>
                    <a:lstStyle/>
                    <a:p>
                      <a:pPr algn="l" fontAlgn="t"/>
                      <a:r>
                        <a:rPr lang="en-US" sz="1100" u="none" strike="noStrike">
                          <a:effectLst/>
                        </a:rPr>
                        <a:t>T1589: Gather Victim Identity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113968303"/>
                  </a:ext>
                </a:extLst>
              </a:tr>
              <a:tr h="283008">
                <a:tc gridSpan="2">
                  <a:txBody>
                    <a:bodyPr/>
                    <a:lstStyle/>
                    <a:p>
                      <a:pPr algn="l" fontAlgn="t"/>
                      <a:r>
                        <a:rPr lang="en-US" sz="1100" u="none" strike="noStrike">
                          <a:effectLst/>
                        </a:rPr>
                        <a:t>T1590: Gather Victim Network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756236233"/>
                  </a:ext>
                </a:extLst>
              </a:tr>
              <a:tr h="283008">
                <a:tc gridSpan="2">
                  <a:txBody>
                    <a:bodyPr/>
                    <a:lstStyle/>
                    <a:p>
                      <a:pPr algn="l" fontAlgn="t"/>
                      <a:r>
                        <a:rPr lang="en-US" sz="1100" u="none" strike="noStrike">
                          <a:effectLst/>
                        </a:rPr>
                        <a:t>T1591: Gather Victim Org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108895394"/>
                  </a:ext>
                </a:extLst>
              </a:tr>
              <a:tr h="283008">
                <a:tc>
                  <a:txBody>
                    <a:bodyPr/>
                    <a:lstStyle/>
                    <a:p>
                      <a:pPr algn="l" fontAlgn="t"/>
                      <a:r>
                        <a:rPr lang="en-US" sz="1100" u="none" strike="noStrike">
                          <a:effectLst/>
                        </a:rPr>
                        <a:t>T1598: Phishing for Information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53032449"/>
                  </a:ext>
                </a:extLst>
              </a:tr>
              <a:tr h="283008">
                <a:tc>
                  <a:txBody>
                    <a:bodyPr/>
                    <a:lstStyle/>
                    <a:p>
                      <a:pPr algn="l" fontAlgn="t"/>
                      <a:r>
                        <a:rPr lang="en-US" sz="1100" u="none" strike="noStrike">
                          <a:effectLst/>
                        </a:rPr>
                        <a:t>T1597: Search Closed Sources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692771150"/>
                  </a:ext>
                </a:extLst>
              </a:tr>
              <a:tr h="283008">
                <a:tc rowSpan="5">
                  <a:txBody>
                    <a:bodyPr/>
                    <a:lstStyle/>
                    <a:p>
                      <a:pPr algn="l" fontAlgn="t"/>
                      <a:r>
                        <a:rPr lang="en-US" sz="1100" u="none" strike="noStrike">
                          <a:effectLst/>
                        </a:rPr>
                        <a:t>T1596: Search Open Technical Databases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T1596.004: CDNs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863376452"/>
                  </a:ext>
                </a:extLst>
              </a:tr>
              <a:tr h="283008">
                <a:tc vMerge="1">
                  <a:txBody>
                    <a:bodyPr/>
                    <a:lstStyle/>
                    <a:p>
                      <a:endParaRPr kumimoji="1" lang="ja-JP" altLang="en-US"/>
                    </a:p>
                  </a:txBody>
                  <a:tcPr/>
                </a:tc>
                <a:tc>
                  <a:txBody>
                    <a:bodyPr/>
                    <a:lstStyle/>
                    <a:p>
                      <a:pPr algn="l" fontAlgn="t"/>
                      <a:r>
                        <a:rPr lang="en-US" sz="1100" u="none" strike="noStrike">
                          <a:effectLst/>
                        </a:rPr>
                        <a:t>T1596.003: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74323178"/>
                  </a:ext>
                </a:extLst>
              </a:tr>
              <a:tr h="283008">
                <a:tc vMerge="1">
                  <a:txBody>
                    <a:bodyPr/>
                    <a:lstStyle/>
                    <a:p>
                      <a:endParaRPr kumimoji="1" lang="ja-JP" altLang="en-US"/>
                    </a:p>
                  </a:txBody>
                  <a:tcPr/>
                </a:tc>
                <a:tc>
                  <a:txBody>
                    <a:bodyPr/>
                    <a:lstStyle/>
                    <a:p>
                      <a:pPr algn="l" fontAlgn="t"/>
                      <a:r>
                        <a:rPr lang="en-US" sz="1100" u="none" strike="noStrike">
                          <a:effectLst/>
                        </a:rPr>
                        <a:t>T1596.001: DNS/Passive DNS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965657747"/>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T1596.005: Scan Databases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47154794"/>
                  </a:ext>
                </a:extLst>
              </a:tr>
              <a:tr h="283008">
                <a:tc vMerge="1">
                  <a:txBody>
                    <a:bodyPr/>
                    <a:lstStyle/>
                    <a:p>
                      <a:endParaRPr kumimoji="1" lang="ja-JP" altLang="en-US"/>
                    </a:p>
                  </a:txBody>
                  <a:tcPr/>
                </a:tc>
                <a:tc>
                  <a:txBody>
                    <a:bodyPr/>
                    <a:lstStyle/>
                    <a:p>
                      <a:pPr algn="l" fontAlgn="t"/>
                      <a:r>
                        <a:rPr lang="en-US" sz="1100" u="none" strike="noStrike" dirty="0">
                          <a:effectLst/>
                        </a:rPr>
                        <a:t>T1596.002: WHOIS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0087645"/>
                  </a:ext>
                </a:extLst>
              </a:tr>
              <a:tr h="283008">
                <a:tc rowSpan="3">
                  <a:txBody>
                    <a:bodyPr/>
                    <a:lstStyle/>
                    <a:p>
                      <a:pPr algn="l" fontAlgn="t"/>
                      <a:r>
                        <a:rPr lang="en-US" sz="1100" u="none" strike="noStrike">
                          <a:effectLst/>
                        </a:rPr>
                        <a:t>T1593: Search Open Websites/Domains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T1593.003: Code Repositories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53296366"/>
                  </a:ext>
                </a:extLst>
              </a:tr>
              <a:tr h="283008">
                <a:tc vMerge="1">
                  <a:txBody>
                    <a:bodyPr/>
                    <a:lstStyle/>
                    <a:p>
                      <a:endParaRPr kumimoji="1" lang="ja-JP" altLang="en-US"/>
                    </a:p>
                  </a:txBody>
                  <a:tcPr/>
                </a:tc>
                <a:tc>
                  <a:txBody>
                    <a:bodyPr/>
                    <a:lstStyle/>
                    <a:p>
                      <a:pPr algn="l" fontAlgn="t"/>
                      <a:r>
                        <a:rPr lang="en-US" sz="1100" u="none" strike="noStrike" dirty="0">
                          <a:effectLst/>
                          <a:highlight>
                            <a:srgbClr val="FF0000"/>
                          </a:highlight>
                        </a:rPr>
                        <a:t>T1593.002: Search Engines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97877137"/>
                  </a:ext>
                </a:extLst>
              </a:tr>
              <a:tr h="283008">
                <a:tc vMerge="1">
                  <a:txBody>
                    <a:bodyPr/>
                    <a:lstStyle/>
                    <a:p>
                      <a:endParaRPr kumimoji="1" lang="ja-JP" altLang="en-US"/>
                    </a:p>
                  </a:txBody>
                  <a:tcPr/>
                </a:tc>
                <a:tc>
                  <a:txBody>
                    <a:bodyPr/>
                    <a:lstStyle/>
                    <a:p>
                      <a:pPr algn="l" fontAlgn="t"/>
                      <a:r>
                        <a:rPr lang="en-US" sz="1100" u="none" strike="noStrike">
                          <a:effectLst/>
                        </a:rPr>
                        <a:t>T1593.001: Social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4835390"/>
                  </a:ext>
                </a:extLst>
              </a:tr>
              <a:tr h="555688">
                <a:tc>
                  <a:txBody>
                    <a:bodyPr/>
                    <a:lstStyle/>
                    <a:p>
                      <a:pPr algn="l" fontAlgn="t"/>
                      <a:r>
                        <a:rPr lang="en-US" sz="1100" u="none" strike="noStrike">
                          <a:effectLst/>
                        </a:rPr>
                        <a:t>T1681: Search Threat Vendor Data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720256951"/>
                  </a:ext>
                </a:extLst>
              </a:tr>
              <a:tr h="555688">
                <a:tc>
                  <a:txBody>
                    <a:bodyPr/>
                    <a:lstStyle/>
                    <a:p>
                      <a:pPr algn="l" fontAlgn="t"/>
                      <a:r>
                        <a:rPr lang="en-US" sz="1100" u="none" strike="noStrike">
                          <a:effectLst/>
                        </a:rPr>
                        <a:t>T1594: Search Victim-Owned Websites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09480295"/>
                  </a:ext>
                </a:extLst>
              </a:tr>
            </a:tbl>
          </a:graphicData>
        </a:graphic>
      </p:graphicFrame>
      <p:graphicFrame>
        <p:nvGraphicFramePr>
          <p:cNvPr id="5" name="表 4">
            <a:extLst>
              <a:ext uri="{FF2B5EF4-FFF2-40B4-BE49-F238E27FC236}">
                <a16:creationId xmlns:a16="http://schemas.microsoft.com/office/drawing/2014/main" id="{7B229F04-6114-4C0A-BAF0-06046CE3D802}"/>
              </a:ext>
            </a:extLst>
          </p:cNvPr>
          <p:cNvGraphicFramePr>
            <a:graphicFrameLocks noGrp="1"/>
          </p:cNvGraphicFramePr>
          <p:nvPr>
            <p:extLst>
              <p:ext uri="{D42A27DB-BD31-4B8C-83A1-F6EECF244321}">
                <p14:modId xmlns:p14="http://schemas.microsoft.com/office/powerpoint/2010/main" val="4209837563"/>
              </p:ext>
            </p:extLst>
          </p:nvPr>
        </p:nvGraphicFramePr>
        <p:xfrm>
          <a:off x="4191000" y="18836"/>
          <a:ext cx="4191000" cy="6478208"/>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1970794040"/>
                    </a:ext>
                  </a:extLst>
                </a:gridCol>
                <a:gridCol w="2095500">
                  <a:extLst>
                    <a:ext uri="{9D8B030D-6E8A-4147-A177-3AD203B41FA5}">
                      <a16:colId xmlns:a16="http://schemas.microsoft.com/office/drawing/2014/main" val="3742152466"/>
                    </a:ext>
                  </a:extLst>
                </a:gridCol>
              </a:tblGrid>
              <a:tr h="232577">
                <a:tc gridSpan="2">
                  <a:txBody>
                    <a:bodyPr/>
                    <a:lstStyle/>
                    <a:p>
                      <a:pPr algn="ctr" fontAlgn="b"/>
                      <a:r>
                        <a:rPr lang="en-US" sz="1100" u="none" strike="noStrike" dirty="0">
                          <a:effectLst/>
                        </a:rPr>
                        <a:t>TA0042: Resource Development</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4168748682"/>
                  </a:ext>
                </a:extLst>
              </a:tr>
              <a:tr h="232577">
                <a:tc>
                  <a:txBody>
                    <a:bodyPr/>
                    <a:lstStyle/>
                    <a:p>
                      <a:pPr algn="l" fontAlgn="t"/>
                      <a:r>
                        <a:rPr lang="en-US" sz="1100" u="none" strike="noStrike">
                          <a:effectLst/>
                        </a:rPr>
                        <a:t>T1650: Acquire Access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43888909"/>
                  </a:ext>
                </a:extLst>
              </a:tr>
              <a:tr h="232577">
                <a:tc rowSpan="8">
                  <a:txBody>
                    <a:bodyPr/>
                    <a:lstStyle/>
                    <a:p>
                      <a:pPr algn="l" fontAlgn="t"/>
                      <a:r>
                        <a:rPr lang="en-US" sz="1100" u="none" strike="noStrike" dirty="0">
                          <a:effectLst/>
                        </a:rPr>
                        <a:t>T1583: Acquire Infrastructure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T1583.005: Botnet</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67118041"/>
                  </a:ext>
                </a:extLst>
              </a:tr>
              <a:tr h="232577">
                <a:tc vMerge="1">
                  <a:txBody>
                    <a:bodyPr/>
                    <a:lstStyle/>
                    <a:p>
                      <a:endParaRPr kumimoji="1" lang="ja-JP" altLang="en-US"/>
                    </a:p>
                  </a:txBody>
                  <a:tcPr/>
                </a:tc>
                <a:tc>
                  <a:txBody>
                    <a:bodyPr/>
                    <a:lstStyle/>
                    <a:p>
                      <a:pPr algn="l" fontAlgn="t"/>
                      <a:r>
                        <a:rPr lang="en-US" sz="1100" u="none" strike="noStrike">
                          <a:effectLst/>
                        </a:rPr>
                        <a:t>T1583.002: DNS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628004175"/>
                  </a:ext>
                </a:extLst>
              </a:tr>
              <a:tr h="232577">
                <a:tc vMerge="1">
                  <a:txBody>
                    <a:bodyPr/>
                    <a:lstStyle/>
                    <a:p>
                      <a:endParaRPr kumimoji="1" lang="ja-JP" altLang="en-US"/>
                    </a:p>
                  </a:txBody>
                  <a:tcPr/>
                </a:tc>
                <a:tc>
                  <a:txBody>
                    <a:bodyPr/>
                    <a:lstStyle/>
                    <a:p>
                      <a:pPr algn="l" fontAlgn="t"/>
                      <a:r>
                        <a:rPr lang="en-US" sz="1100" u="none" strike="noStrike">
                          <a:effectLst/>
                        </a:rPr>
                        <a:t>T1583.001: Domains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928787602"/>
                  </a:ext>
                </a:extLst>
              </a:tr>
              <a:tr h="232577">
                <a:tc vMerge="1">
                  <a:txBody>
                    <a:bodyPr/>
                    <a:lstStyle/>
                    <a:p>
                      <a:endParaRPr kumimoji="1" lang="ja-JP" altLang="en-US"/>
                    </a:p>
                  </a:txBody>
                  <a:tcPr/>
                </a:tc>
                <a:tc>
                  <a:txBody>
                    <a:bodyPr/>
                    <a:lstStyle/>
                    <a:p>
                      <a:pPr algn="l" fontAlgn="t"/>
                      <a:r>
                        <a:rPr lang="en-US" sz="1100" u="none" strike="noStrike">
                          <a:effectLst/>
                        </a:rPr>
                        <a:t>T1583.008: Malvertising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72124403"/>
                  </a:ext>
                </a:extLst>
              </a:tr>
              <a:tr h="232577">
                <a:tc vMerge="1">
                  <a:txBody>
                    <a:bodyPr/>
                    <a:lstStyle/>
                    <a:p>
                      <a:endParaRPr kumimoji="1" lang="ja-JP" altLang="en-US"/>
                    </a:p>
                  </a:txBody>
                  <a:tcPr/>
                </a:tc>
                <a:tc>
                  <a:txBody>
                    <a:bodyPr/>
                    <a:lstStyle/>
                    <a:p>
                      <a:pPr algn="l" fontAlgn="t"/>
                      <a:r>
                        <a:rPr lang="en-US" sz="1100" u="none" strike="noStrike">
                          <a:effectLst/>
                        </a:rPr>
                        <a:t>T1583.004: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70849080"/>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T1583.007: Serverless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25434402"/>
                  </a:ext>
                </a:extLst>
              </a:tr>
              <a:tr h="456667">
                <a:tc vMerge="1">
                  <a:txBody>
                    <a:bodyPr/>
                    <a:lstStyle/>
                    <a:p>
                      <a:endParaRPr kumimoji="1" lang="ja-JP" altLang="en-US"/>
                    </a:p>
                  </a:txBody>
                  <a:tcPr/>
                </a:tc>
                <a:tc>
                  <a:txBody>
                    <a:bodyPr/>
                    <a:lstStyle/>
                    <a:p>
                      <a:pPr algn="l" fontAlgn="t"/>
                      <a:r>
                        <a:rPr lang="en-US" sz="1100" u="none" strike="noStrike">
                          <a:effectLst/>
                        </a:rPr>
                        <a:t>T1583.003: Virtual Private Server</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223627727"/>
                  </a:ext>
                </a:extLst>
              </a:tr>
              <a:tr h="232577">
                <a:tc vMerge="1">
                  <a:txBody>
                    <a:bodyPr/>
                    <a:lstStyle/>
                    <a:p>
                      <a:endParaRPr kumimoji="1" lang="ja-JP" altLang="en-US"/>
                    </a:p>
                  </a:txBody>
                  <a:tcPr/>
                </a:tc>
                <a:tc>
                  <a:txBody>
                    <a:bodyPr/>
                    <a:lstStyle/>
                    <a:p>
                      <a:pPr algn="l" fontAlgn="t"/>
                      <a:r>
                        <a:rPr lang="en-US" sz="1100" u="none" strike="noStrike">
                          <a:effectLst/>
                        </a:rPr>
                        <a:t>T1583.006: Web Services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1240791"/>
                  </a:ext>
                </a:extLst>
              </a:tr>
              <a:tr h="232577">
                <a:tc rowSpan="3">
                  <a:txBody>
                    <a:bodyPr/>
                    <a:lstStyle/>
                    <a:p>
                      <a:pPr algn="l" fontAlgn="t"/>
                      <a:r>
                        <a:rPr lang="en-US" sz="1100" u="none" strike="noStrike">
                          <a:effectLst/>
                        </a:rPr>
                        <a:t>T1586: Compromise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T1586.003: Cloud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13416660"/>
                  </a:ext>
                </a:extLst>
              </a:tr>
              <a:tr h="232577">
                <a:tc vMerge="1">
                  <a:txBody>
                    <a:bodyPr/>
                    <a:lstStyle/>
                    <a:p>
                      <a:endParaRPr kumimoji="1" lang="ja-JP" altLang="en-US"/>
                    </a:p>
                  </a:txBody>
                  <a:tcPr/>
                </a:tc>
                <a:tc>
                  <a:txBody>
                    <a:bodyPr/>
                    <a:lstStyle/>
                    <a:p>
                      <a:pPr algn="l" fontAlgn="t"/>
                      <a:r>
                        <a:rPr lang="en-US" sz="1100" u="none" strike="noStrike" dirty="0">
                          <a:effectLst/>
                        </a:rPr>
                        <a:t>T1586.002: Email Accounts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391725139"/>
                  </a:ext>
                </a:extLst>
              </a:tr>
              <a:tr h="456667">
                <a:tc vMerge="1">
                  <a:txBody>
                    <a:bodyPr/>
                    <a:lstStyle/>
                    <a:p>
                      <a:endParaRPr kumimoji="1" lang="ja-JP" altLang="en-US"/>
                    </a:p>
                  </a:txBody>
                  <a:tcPr/>
                </a:tc>
                <a:tc>
                  <a:txBody>
                    <a:bodyPr/>
                    <a:lstStyle/>
                    <a:p>
                      <a:pPr algn="l" fontAlgn="t"/>
                      <a:r>
                        <a:rPr lang="en-US" sz="1100" u="none" strike="noStrike">
                          <a:effectLst/>
                        </a:rPr>
                        <a:t>T1586.001: Social Media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410530727"/>
                  </a:ext>
                </a:extLst>
              </a:tr>
              <a:tr h="456667">
                <a:tc>
                  <a:txBody>
                    <a:bodyPr/>
                    <a:lstStyle/>
                    <a:p>
                      <a:pPr algn="l" fontAlgn="t"/>
                      <a:r>
                        <a:rPr lang="en-US" sz="1100" u="none" strike="noStrike">
                          <a:effectLst/>
                        </a:rPr>
                        <a:t>T1584: Compromise Infrastructure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40536766"/>
                  </a:ext>
                </a:extLst>
              </a:tr>
              <a:tr h="232577">
                <a:tc>
                  <a:txBody>
                    <a:bodyPr/>
                    <a:lstStyle/>
                    <a:p>
                      <a:pPr algn="l" fontAlgn="t"/>
                      <a:r>
                        <a:rPr lang="en-US" sz="1100" u="none" strike="noStrike">
                          <a:effectLst/>
                        </a:rPr>
                        <a:t>T1587: Develop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18161307"/>
                  </a:ext>
                </a:extLst>
              </a:tr>
              <a:tr h="232577">
                <a:tc>
                  <a:txBody>
                    <a:bodyPr/>
                    <a:lstStyle/>
                    <a:p>
                      <a:pPr algn="l" fontAlgn="t"/>
                      <a:r>
                        <a:rPr lang="en-US" sz="1100" u="none" strike="noStrike">
                          <a:effectLst/>
                        </a:rPr>
                        <a:t>T1585: Establish Accounts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743357067"/>
                  </a:ext>
                </a:extLst>
              </a:tr>
              <a:tr h="232577">
                <a:tc rowSpan="7">
                  <a:txBody>
                    <a:bodyPr/>
                    <a:lstStyle/>
                    <a:p>
                      <a:pPr algn="l" fontAlgn="t"/>
                      <a:r>
                        <a:rPr lang="en-US" sz="1100" u="none" strike="noStrike">
                          <a:effectLst/>
                        </a:rPr>
                        <a:t>T1588: Obtain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T1588.007: Artificial Intelligence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59535557"/>
                  </a:ext>
                </a:extLst>
              </a:tr>
              <a:tr h="456667">
                <a:tc vMerge="1">
                  <a:txBody>
                    <a:bodyPr/>
                    <a:lstStyle/>
                    <a:p>
                      <a:endParaRPr kumimoji="1" lang="ja-JP" altLang="en-US"/>
                    </a:p>
                  </a:txBody>
                  <a:tcPr/>
                </a:tc>
                <a:tc>
                  <a:txBody>
                    <a:bodyPr/>
                    <a:lstStyle/>
                    <a:p>
                      <a:pPr algn="l" fontAlgn="t"/>
                      <a:r>
                        <a:rPr lang="en-US" sz="1100" u="none" strike="noStrike" dirty="0">
                          <a:effectLst/>
                          <a:highlight>
                            <a:srgbClr val="FF0000"/>
                          </a:highlight>
                        </a:rPr>
                        <a:t>T1588.003: Code Signing Certificates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402079780"/>
                  </a:ext>
                </a:extLst>
              </a:tr>
              <a:tr h="232577">
                <a:tc vMerge="1">
                  <a:txBody>
                    <a:bodyPr/>
                    <a:lstStyle/>
                    <a:p>
                      <a:endParaRPr kumimoji="1" lang="ja-JP" altLang="en-US"/>
                    </a:p>
                  </a:txBody>
                  <a:tcPr/>
                </a:tc>
                <a:tc>
                  <a:txBody>
                    <a:bodyPr/>
                    <a:lstStyle/>
                    <a:p>
                      <a:pPr algn="l" fontAlgn="t"/>
                      <a:r>
                        <a:rPr lang="en-US" sz="1100" u="none" strike="noStrike">
                          <a:effectLst/>
                        </a:rPr>
                        <a:t>T1588.004: Digital Certificates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814544906"/>
                  </a:ext>
                </a:extLst>
              </a:tr>
              <a:tr h="232577">
                <a:tc vMerge="1">
                  <a:txBody>
                    <a:bodyPr/>
                    <a:lstStyle/>
                    <a:p>
                      <a:endParaRPr kumimoji="1" lang="ja-JP" altLang="en-US"/>
                    </a:p>
                  </a:txBody>
                  <a:tcPr/>
                </a:tc>
                <a:tc>
                  <a:txBody>
                    <a:bodyPr/>
                    <a:lstStyle/>
                    <a:p>
                      <a:pPr algn="l" fontAlgn="t"/>
                      <a:r>
                        <a:rPr lang="en-US" sz="1100" u="none" strike="noStrike">
                          <a:effectLst/>
                        </a:rPr>
                        <a:t>T1588.005: Exploits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43385694"/>
                  </a:ext>
                </a:extLst>
              </a:tr>
              <a:tr h="232577">
                <a:tc vMerge="1">
                  <a:txBody>
                    <a:bodyPr/>
                    <a:lstStyle/>
                    <a:p>
                      <a:endParaRPr kumimoji="1" lang="ja-JP" altLang="en-US"/>
                    </a:p>
                  </a:txBody>
                  <a:tcPr/>
                </a:tc>
                <a:tc>
                  <a:txBody>
                    <a:bodyPr/>
                    <a:lstStyle/>
                    <a:p>
                      <a:pPr algn="l" fontAlgn="t"/>
                      <a:r>
                        <a:rPr lang="en-US" sz="1100" u="none" strike="noStrike">
                          <a:effectLst/>
                        </a:rPr>
                        <a:t>T1588.001: Malware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25669027"/>
                  </a:ext>
                </a:extLst>
              </a:tr>
              <a:tr h="232577">
                <a:tc vMerge="1">
                  <a:txBody>
                    <a:bodyPr/>
                    <a:lstStyle/>
                    <a:p>
                      <a:endParaRPr kumimoji="1" lang="ja-JP" altLang="en-US"/>
                    </a:p>
                  </a:txBody>
                  <a:tcPr/>
                </a:tc>
                <a:tc>
                  <a:txBody>
                    <a:bodyPr/>
                    <a:lstStyle/>
                    <a:p>
                      <a:pPr algn="l" fontAlgn="t"/>
                      <a:r>
                        <a:rPr lang="en-US" sz="1100" u="none" strike="noStrike" dirty="0">
                          <a:effectLst/>
                          <a:highlight>
                            <a:srgbClr val="FF0000"/>
                          </a:highlight>
                        </a:rPr>
                        <a:t>T1588.002: Tool</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541371343"/>
                  </a:ext>
                </a:extLst>
              </a:tr>
              <a:tr h="232577">
                <a:tc vMerge="1">
                  <a:txBody>
                    <a:bodyPr/>
                    <a:lstStyle/>
                    <a:p>
                      <a:endParaRPr kumimoji="1" lang="ja-JP" altLang="en-US"/>
                    </a:p>
                  </a:txBody>
                  <a:tcPr/>
                </a:tc>
                <a:tc>
                  <a:txBody>
                    <a:bodyPr/>
                    <a:lstStyle/>
                    <a:p>
                      <a:pPr algn="l" fontAlgn="t"/>
                      <a:r>
                        <a:rPr lang="en-US" sz="1100" u="none" strike="noStrike" dirty="0">
                          <a:effectLst/>
                        </a:rPr>
                        <a:t>T1588.006: Vulnerabilities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195106575"/>
                  </a:ext>
                </a:extLst>
              </a:tr>
              <a:tr h="232577">
                <a:tc>
                  <a:txBody>
                    <a:bodyPr/>
                    <a:lstStyle/>
                    <a:p>
                      <a:pPr algn="l" fontAlgn="t"/>
                      <a:r>
                        <a:rPr lang="en-US" sz="1100" u="none" strike="noStrike">
                          <a:effectLst/>
                        </a:rPr>
                        <a:t>T1608: Stage Capabilities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53890777"/>
                  </a:ext>
                </a:extLst>
              </a:tr>
            </a:tbl>
          </a:graphicData>
        </a:graphic>
      </p:graphicFrame>
      <p:graphicFrame>
        <p:nvGraphicFramePr>
          <p:cNvPr id="6" name="表 5">
            <a:extLst>
              <a:ext uri="{FF2B5EF4-FFF2-40B4-BE49-F238E27FC236}">
                <a16:creationId xmlns:a16="http://schemas.microsoft.com/office/drawing/2014/main" id="{4A4D60EF-7B8E-4FC1-B8F6-6283D4D86C8A}"/>
              </a:ext>
            </a:extLst>
          </p:cNvPr>
          <p:cNvGraphicFramePr>
            <a:graphicFrameLocks noGrp="1"/>
          </p:cNvGraphicFramePr>
          <p:nvPr>
            <p:extLst>
              <p:ext uri="{D42A27DB-BD31-4B8C-83A1-F6EECF244321}">
                <p14:modId xmlns:p14="http://schemas.microsoft.com/office/powerpoint/2010/main" val="589748291"/>
              </p:ext>
            </p:extLst>
          </p:nvPr>
        </p:nvGraphicFramePr>
        <p:xfrm>
          <a:off x="8382000" y="18838"/>
          <a:ext cx="3810000" cy="6486204"/>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1401631355"/>
                    </a:ext>
                  </a:extLst>
                </a:gridCol>
                <a:gridCol w="1905000">
                  <a:extLst>
                    <a:ext uri="{9D8B030D-6E8A-4147-A177-3AD203B41FA5}">
                      <a16:colId xmlns:a16="http://schemas.microsoft.com/office/drawing/2014/main" val="3452015162"/>
                    </a:ext>
                  </a:extLst>
                </a:gridCol>
              </a:tblGrid>
              <a:tr h="255546">
                <a:tc gridSpan="2">
                  <a:txBody>
                    <a:bodyPr/>
                    <a:lstStyle/>
                    <a:p>
                      <a:pPr algn="ctr" fontAlgn="b"/>
                      <a:r>
                        <a:rPr lang="en-US" sz="1100" u="none" strike="noStrike" dirty="0">
                          <a:effectLst/>
                        </a:rPr>
                        <a:t>TA0001: Initial Access</a:t>
                      </a:r>
                      <a:endParaRPr lang="en-US" sz="11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751068607"/>
                  </a:ext>
                </a:extLst>
              </a:tr>
              <a:tr h="255546">
                <a:tc>
                  <a:txBody>
                    <a:bodyPr/>
                    <a:lstStyle/>
                    <a:p>
                      <a:pPr algn="l" fontAlgn="t"/>
                      <a:r>
                        <a:rPr lang="en-US" sz="1100" u="none" strike="noStrike">
                          <a:effectLst/>
                        </a:rPr>
                        <a:t>T1659: Content Injection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952605106"/>
                  </a:ext>
                </a:extLst>
              </a:tr>
              <a:tr h="255546">
                <a:tc>
                  <a:txBody>
                    <a:bodyPr/>
                    <a:lstStyle/>
                    <a:p>
                      <a:pPr algn="l" fontAlgn="t"/>
                      <a:r>
                        <a:rPr lang="en-US" sz="1100" u="none" strike="noStrike">
                          <a:effectLst/>
                        </a:rPr>
                        <a:t>T1189: Drive-by Compromise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265039652"/>
                  </a:ext>
                </a:extLst>
              </a:tr>
              <a:tr h="501765">
                <a:tc>
                  <a:txBody>
                    <a:bodyPr/>
                    <a:lstStyle/>
                    <a:p>
                      <a:pPr algn="l" fontAlgn="t"/>
                      <a:r>
                        <a:rPr lang="en-US" sz="1100" u="none" strike="noStrike" dirty="0">
                          <a:effectLst/>
                          <a:highlight>
                            <a:srgbClr val="FF0000"/>
                          </a:highlight>
                        </a:rPr>
                        <a:t>T1190: Exploit Public-Facing Application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19998215"/>
                  </a:ext>
                </a:extLst>
              </a:tr>
              <a:tr h="501765">
                <a:tc>
                  <a:txBody>
                    <a:bodyPr/>
                    <a:lstStyle/>
                    <a:p>
                      <a:pPr algn="l" fontAlgn="t"/>
                      <a:r>
                        <a:rPr lang="en-US" sz="1100" u="none" strike="noStrike" dirty="0">
                          <a:effectLst/>
                          <a:highlight>
                            <a:srgbClr val="FF0000"/>
                          </a:highlight>
                        </a:rPr>
                        <a:t>T1133: External Remote Services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107392069"/>
                  </a:ext>
                </a:extLst>
              </a:tr>
              <a:tr h="255546">
                <a:tc>
                  <a:txBody>
                    <a:bodyPr/>
                    <a:lstStyle/>
                    <a:p>
                      <a:pPr algn="l" fontAlgn="t"/>
                      <a:r>
                        <a:rPr lang="en-US" sz="1100" u="none" strike="noStrike">
                          <a:effectLst/>
                        </a:rPr>
                        <a:t>T1200: Hardware Additions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856737157"/>
                  </a:ext>
                </a:extLst>
              </a:tr>
              <a:tr h="501765">
                <a:tc rowSpan="4">
                  <a:txBody>
                    <a:bodyPr/>
                    <a:lstStyle/>
                    <a:p>
                      <a:pPr algn="l" fontAlgn="t"/>
                      <a:r>
                        <a:rPr lang="en-US" sz="1100" u="none" strike="noStrike">
                          <a:effectLst/>
                        </a:rPr>
                        <a:t>T1566: Phishing</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dirty="0">
                          <a:effectLst/>
                          <a:highlight>
                            <a:srgbClr val="FF0000"/>
                          </a:highlight>
                        </a:rPr>
                        <a:t>T1566.001: </a:t>
                      </a:r>
                      <a:r>
                        <a:rPr lang="en-US" sz="1100" u="none" strike="noStrike" dirty="0" err="1">
                          <a:effectLst/>
                          <a:highlight>
                            <a:srgbClr val="FF0000"/>
                          </a:highlight>
                        </a:rPr>
                        <a:t>Spearphishing</a:t>
                      </a:r>
                      <a:r>
                        <a:rPr lang="en-US" sz="1100" u="none" strike="noStrike" dirty="0">
                          <a:effectLst/>
                          <a:highlight>
                            <a:srgbClr val="FF0000"/>
                          </a:highlight>
                        </a:rPr>
                        <a:t> Attachment</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894085505"/>
                  </a:ext>
                </a:extLst>
              </a:tr>
              <a:tr h="337627">
                <a:tc vMerge="1">
                  <a:txBody>
                    <a:bodyPr/>
                    <a:lstStyle/>
                    <a:p>
                      <a:endParaRPr kumimoji="1" lang="ja-JP" altLang="en-US"/>
                    </a:p>
                  </a:txBody>
                  <a:tcPr/>
                </a:tc>
                <a:tc>
                  <a:txBody>
                    <a:bodyPr/>
                    <a:lstStyle/>
                    <a:p>
                      <a:pPr algn="l" fontAlgn="t"/>
                      <a:r>
                        <a:rPr lang="en-US" sz="1100" u="none" strike="noStrike">
                          <a:effectLst/>
                        </a:rPr>
                        <a:t>T1566.002: Spearphishing Link</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978860161"/>
                  </a:ext>
                </a:extLst>
              </a:tr>
              <a:tr h="501765">
                <a:tc vMerge="1">
                  <a:txBody>
                    <a:bodyPr/>
                    <a:lstStyle/>
                    <a:p>
                      <a:endParaRPr kumimoji="1" lang="ja-JP" altLang="en-US"/>
                    </a:p>
                  </a:txBody>
                  <a:tcPr/>
                </a:tc>
                <a:tc>
                  <a:txBody>
                    <a:bodyPr/>
                    <a:lstStyle/>
                    <a:p>
                      <a:pPr algn="l" fontAlgn="t"/>
                      <a:r>
                        <a:rPr lang="en-US" sz="1100" u="none" strike="noStrike" dirty="0">
                          <a:effectLst/>
                        </a:rPr>
                        <a:t>T1566.003: </a:t>
                      </a:r>
                      <a:r>
                        <a:rPr lang="en-US" sz="1100" u="none" strike="noStrike" dirty="0" err="1">
                          <a:effectLst/>
                        </a:rPr>
                        <a:t>Spearphishing</a:t>
                      </a:r>
                      <a:r>
                        <a:rPr lang="en-US" sz="1100" u="none" strike="noStrike" dirty="0">
                          <a:effectLst/>
                        </a:rPr>
                        <a:t> via Service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02320767"/>
                  </a:ext>
                </a:extLst>
              </a:tr>
              <a:tr h="337627">
                <a:tc vMerge="1">
                  <a:txBody>
                    <a:bodyPr/>
                    <a:lstStyle/>
                    <a:p>
                      <a:endParaRPr kumimoji="1" lang="ja-JP" altLang="en-US"/>
                    </a:p>
                  </a:txBody>
                  <a:tcPr/>
                </a:tc>
                <a:tc>
                  <a:txBody>
                    <a:bodyPr/>
                    <a:lstStyle/>
                    <a:p>
                      <a:pPr algn="l" fontAlgn="t"/>
                      <a:r>
                        <a:rPr lang="en-US" sz="1100" u="none" strike="noStrike">
                          <a:effectLst/>
                        </a:rPr>
                        <a:t>T1566.004: Spearphishing Voice</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801577570"/>
                  </a:ext>
                </a:extLst>
              </a:tr>
              <a:tr h="255546">
                <a:tc gridSpan="2">
                  <a:txBody>
                    <a:bodyPr/>
                    <a:lstStyle/>
                    <a:p>
                      <a:pPr algn="l" fontAlgn="t"/>
                      <a:r>
                        <a:rPr lang="en-US" sz="1100" u="none" strike="noStrike">
                          <a:effectLst/>
                        </a:rPr>
                        <a:t>T1091: Replication Through Removable Media</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722142897"/>
                  </a:ext>
                </a:extLst>
              </a:tr>
              <a:tr h="501765">
                <a:tc rowSpan="3">
                  <a:txBody>
                    <a:bodyPr/>
                    <a:lstStyle/>
                    <a:p>
                      <a:pPr algn="l" fontAlgn="t"/>
                      <a:r>
                        <a:rPr lang="en-US" sz="1100" u="none" strike="noStrike" dirty="0">
                          <a:effectLst/>
                        </a:rPr>
                        <a:t>T1195: Supply Chain Compromise</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1100" u="none" strike="noStrike">
                          <a:effectLst/>
                        </a:rPr>
                        <a:t>T1195.003: Compromise Hardware Supply Chain</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41615110"/>
                  </a:ext>
                </a:extLst>
              </a:tr>
              <a:tr h="747986">
                <a:tc vMerge="1">
                  <a:txBody>
                    <a:bodyPr/>
                    <a:lstStyle/>
                    <a:p>
                      <a:endParaRPr kumimoji="1" lang="ja-JP" altLang="en-US"/>
                    </a:p>
                  </a:txBody>
                  <a:tcPr/>
                </a:tc>
                <a:tc>
                  <a:txBody>
                    <a:bodyPr/>
                    <a:lstStyle/>
                    <a:p>
                      <a:pPr algn="l" fontAlgn="t"/>
                      <a:r>
                        <a:rPr lang="en-US" sz="1100" u="none" strike="noStrike" dirty="0">
                          <a:effectLst/>
                        </a:rPr>
                        <a:t>T1195.001: Compromise Software Dependencies and Development Tools</a:t>
                      </a:r>
                      <a:endParaRPr 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2835742"/>
                  </a:ext>
                </a:extLst>
              </a:tr>
              <a:tr h="501765">
                <a:tc vMerge="1">
                  <a:txBody>
                    <a:bodyPr/>
                    <a:lstStyle/>
                    <a:p>
                      <a:endParaRPr kumimoji="1" lang="ja-JP" altLang="en-US"/>
                    </a:p>
                  </a:txBody>
                  <a:tcPr/>
                </a:tc>
                <a:tc>
                  <a:txBody>
                    <a:bodyPr/>
                    <a:lstStyle/>
                    <a:p>
                      <a:pPr algn="l" fontAlgn="t"/>
                      <a:r>
                        <a:rPr lang="en-US" sz="1100" u="none" strike="noStrike" dirty="0">
                          <a:effectLst/>
                          <a:highlight>
                            <a:srgbClr val="FF0000"/>
                          </a:highlight>
                        </a:rPr>
                        <a:t>T1195.002: Compromise Software Supply Chain</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609001637"/>
                  </a:ext>
                </a:extLst>
              </a:tr>
              <a:tr h="255546">
                <a:tc>
                  <a:txBody>
                    <a:bodyPr/>
                    <a:lstStyle/>
                    <a:p>
                      <a:pPr algn="l" fontAlgn="t"/>
                      <a:r>
                        <a:rPr lang="en-US" sz="1100" u="none" strike="noStrike">
                          <a:effectLst/>
                        </a:rPr>
                        <a:t>T1199: Trusted Relationship</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86933626"/>
                  </a:ext>
                </a:extLst>
              </a:tr>
              <a:tr h="255546">
                <a:tc>
                  <a:txBody>
                    <a:bodyPr/>
                    <a:lstStyle/>
                    <a:p>
                      <a:pPr algn="l" fontAlgn="t"/>
                      <a:r>
                        <a:rPr lang="en-US" sz="1100" u="none" strike="noStrike" dirty="0">
                          <a:effectLst/>
                          <a:highlight>
                            <a:srgbClr val="FF0000"/>
                          </a:highlight>
                        </a:rPr>
                        <a:t>T1078: Valid Accounts</a:t>
                      </a:r>
                      <a:endParaRPr lang="en-US" sz="11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53955923"/>
                  </a:ext>
                </a:extLst>
              </a:tr>
              <a:tr h="255546">
                <a:tc>
                  <a:txBody>
                    <a:bodyPr/>
                    <a:lstStyle/>
                    <a:p>
                      <a:pPr algn="l" fontAlgn="t"/>
                      <a:r>
                        <a:rPr lang="en-US" sz="1100" u="none" strike="noStrike">
                          <a:effectLst/>
                        </a:rPr>
                        <a:t>T1669: Wi-Fi Networks</a:t>
                      </a:r>
                      <a:endParaRPr lang="en-US" sz="11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11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884802397"/>
                  </a:ext>
                </a:extLst>
              </a:tr>
            </a:tbl>
          </a:graphicData>
        </a:graphic>
      </p:graphicFrame>
    </p:spTree>
    <p:extLst>
      <p:ext uri="{BB962C8B-B14F-4D97-AF65-F5344CB8AC3E}">
        <p14:creationId xmlns:p14="http://schemas.microsoft.com/office/powerpoint/2010/main" val="34512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A84B1C-1BD9-4D43-895D-02438AD1E135}"/>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3F5D8D83-993F-44D9-9F6A-CB3346498A2A}"/>
              </a:ext>
            </a:extLst>
          </p:cNvPr>
          <p:cNvGraphicFramePr>
            <a:graphicFrameLocks noGrp="1"/>
          </p:cNvGraphicFramePr>
          <p:nvPr>
            <p:ph idx="1"/>
            <p:extLst>
              <p:ext uri="{D42A27DB-BD31-4B8C-83A1-F6EECF244321}">
                <p14:modId xmlns:p14="http://schemas.microsoft.com/office/powerpoint/2010/main" val="2407541483"/>
              </p:ext>
            </p:extLst>
          </p:nvPr>
        </p:nvGraphicFramePr>
        <p:xfrm>
          <a:off x="-1" y="0"/>
          <a:ext cx="4694402" cy="9825784"/>
        </p:xfrm>
        <a:graphic>
          <a:graphicData uri="http://schemas.openxmlformats.org/drawingml/2006/table">
            <a:tbl>
              <a:tblPr>
                <a:tableStyleId>{5C22544A-7EE6-4342-B048-85BDC9FD1C3A}</a:tableStyleId>
              </a:tblPr>
              <a:tblGrid>
                <a:gridCol w="2347201">
                  <a:extLst>
                    <a:ext uri="{9D8B030D-6E8A-4147-A177-3AD203B41FA5}">
                      <a16:colId xmlns:a16="http://schemas.microsoft.com/office/drawing/2014/main" val="171774386"/>
                    </a:ext>
                  </a:extLst>
                </a:gridCol>
                <a:gridCol w="2347201">
                  <a:extLst>
                    <a:ext uri="{9D8B030D-6E8A-4147-A177-3AD203B41FA5}">
                      <a16:colId xmlns:a16="http://schemas.microsoft.com/office/drawing/2014/main" val="2577179194"/>
                    </a:ext>
                  </a:extLst>
                </a:gridCol>
              </a:tblGrid>
              <a:tr h="176847">
                <a:tc gridSpan="2">
                  <a:txBody>
                    <a:bodyPr/>
                    <a:lstStyle/>
                    <a:p>
                      <a:pPr algn="ctr" fontAlgn="b"/>
                      <a:r>
                        <a:rPr lang="en-US" sz="1000" u="none" strike="noStrike" dirty="0">
                          <a:effectLst/>
                        </a:rPr>
                        <a:t>TA0002: Execution</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508149858"/>
                  </a:ext>
                </a:extLst>
              </a:tr>
              <a:tr h="176847">
                <a:tc gridSpan="2">
                  <a:txBody>
                    <a:bodyPr/>
                    <a:lstStyle/>
                    <a:p>
                      <a:pPr algn="l" fontAlgn="t"/>
                      <a:r>
                        <a:rPr lang="en-US" sz="1000" u="none" strike="noStrike">
                          <a:effectLst/>
                        </a:rPr>
                        <a:t>T1651: Cloud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477145314"/>
                  </a:ext>
                </a:extLst>
              </a:tr>
              <a:tr h="349188">
                <a:tc rowSpan="13">
                  <a:txBody>
                    <a:bodyPr/>
                    <a:lstStyle/>
                    <a:p>
                      <a:pPr algn="l" fontAlgn="t"/>
                      <a:r>
                        <a:rPr lang="en-US" sz="1000" u="none" strike="noStrike">
                          <a:effectLst/>
                        </a:rPr>
                        <a:t>T1059: Command and Scripting Interpreter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dirty="0">
                          <a:effectLst/>
                        </a:rPr>
                        <a:t>T1059.002: AppleScript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904287375"/>
                  </a:ext>
                </a:extLst>
              </a:tr>
              <a:tr h="349188">
                <a:tc vMerge="1">
                  <a:txBody>
                    <a:bodyPr/>
                    <a:lstStyle/>
                    <a:p>
                      <a:endParaRPr kumimoji="1" lang="ja-JP" altLang="en-US"/>
                    </a:p>
                  </a:txBody>
                  <a:tcPr/>
                </a:tc>
                <a:tc>
                  <a:txBody>
                    <a:bodyPr/>
                    <a:lstStyle/>
                    <a:p>
                      <a:pPr algn="l" fontAlgn="t"/>
                      <a:r>
                        <a:rPr lang="en-US" sz="1000" u="none" strike="noStrike">
                          <a:effectLst/>
                        </a:rPr>
                        <a:t>T1059.010: AutoHotKey &amp; AutoIT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555518707"/>
                  </a:ext>
                </a:extLst>
              </a:tr>
              <a:tr h="176847">
                <a:tc vMerge="1">
                  <a:txBody>
                    <a:bodyPr/>
                    <a:lstStyle/>
                    <a:p>
                      <a:endParaRPr kumimoji="1" lang="ja-JP" altLang="en-US"/>
                    </a:p>
                  </a:txBody>
                  <a:tcPr/>
                </a:tc>
                <a:tc>
                  <a:txBody>
                    <a:bodyPr/>
                    <a:lstStyle/>
                    <a:p>
                      <a:pPr algn="l" fontAlgn="t"/>
                      <a:r>
                        <a:rPr lang="en-US" sz="1000" u="none" strike="noStrike">
                          <a:effectLst/>
                        </a:rPr>
                        <a:t>T1059.009: Cloud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91482368"/>
                  </a:ext>
                </a:extLst>
              </a:tr>
              <a:tr h="349188">
                <a:tc vMerge="1">
                  <a:txBody>
                    <a:bodyPr/>
                    <a:lstStyle/>
                    <a:p>
                      <a:endParaRPr kumimoji="1" lang="ja-JP" altLang="en-US"/>
                    </a:p>
                  </a:txBody>
                  <a:tcPr/>
                </a:tc>
                <a:tc>
                  <a:txBody>
                    <a:bodyPr/>
                    <a:lstStyle/>
                    <a:p>
                      <a:pPr algn="l" fontAlgn="t"/>
                      <a:r>
                        <a:rPr lang="en-US" sz="1000" u="none" strike="noStrike">
                          <a:effectLst/>
                        </a:rPr>
                        <a:t>T1059.013: Container CLI/API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590860500"/>
                  </a:ext>
                </a:extLst>
              </a:tr>
              <a:tr h="349188">
                <a:tc vMerge="1">
                  <a:txBody>
                    <a:bodyPr/>
                    <a:lstStyle/>
                    <a:p>
                      <a:endParaRPr kumimoji="1" lang="ja-JP" altLang="en-US"/>
                    </a:p>
                  </a:txBody>
                  <a:tcPr/>
                </a:tc>
                <a:tc>
                  <a:txBody>
                    <a:bodyPr/>
                    <a:lstStyle/>
                    <a:p>
                      <a:pPr algn="l" fontAlgn="t"/>
                      <a:r>
                        <a:rPr lang="en-US" sz="1000" u="none" strike="noStrike">
                          <a:effectLst/>
                        </a:rPr>
                        <a:t>T1059.012: Hypervisor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37868714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T1059.007: JavaScript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633145162"/>
                  </a:ext>
                </a:extLst>
              </a:tr>
              <a:tr h="176847">
                <a:tc vMerge="1">
                  <a:txBody>
                    <a:bodyPr/>
                    <a:lstStyle/>
                    <a:p>
                      <a:endParaRPr kumimoji="1" lang="ja-JP" altLang="en-US"/>
                    </a:p>
                  </a:txBody>
                  <a:tcPr/>
                </a:tc>
                <a:tc>
                  <a:txBody>
                    <a:bodyPr/>
                    <a:lstStyle/>
                    <a:p>
                      <a:pPr algn="l" fontAlgn="t"/>
                      <a:r>
                        <a:rPr lang="en-US" sz="1000" u="none" strike="noStrike">
                          <a:effectLst/>
                        </a:rPr>
                        <a:t>T1059.011: Lua</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3816387"/>
                  </a:ext>
                </a:extLst>
              </a:tr>
              <a:tr h="349188">
                <a:tc vMerge="1">
                  <a:txBody>
                    <a:bodyPr/>
                    <a:lstStyle/>
                    <a:p>
                      <a:endParaRPr kumimoji="1" lang="ja-JP" altLang="en-US"/>
                    </a:p>
                  </a:txBody>
                  <a:tcPr/>
                </a:tc>
                <a:tc>
                  <a:txBody>
                    <a:bodyPr/>
                    <a:lstStyle/>
                    <a:p>
                      <a:pPr algn="l" fontAlgn="t"/>
                      <a:r>
                        <a:rPr lang="en-US" sz="1000" u="none" strike="noStrike">
                          <a:effectLst/>
                        </a:rPr>
                        <a:t>T1059.008: Network Device CLI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44776070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T1059.001: PowerShell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5935507"/>
                  </a:ext>
                </a:extLst>
              </a:tr>
              <a:tr h="176847">
                <a:tc vMerge="1">
                  <a:txBody>
                    <a:bodyPr/>
                    <a:lstStyle/>
                    <a:p>
                      <a:endParaRPr kumimoji="1" lang="ja-JP" altLang="en-US"/>
                    </a:p>
                  </a:txBody>
                  <a:tcPr/>
                </a:tc>
                <a:tc>
                  <a:txBody>
                    <a:bodyPr/>
                    <a:lstStyle/>
                    <a:p>
                      <a:pPr algn="l" fontAlgn="t"/>
                      <a:r>
                        <a:rPr lang="en-US" sz="1000" u="none" strike="noStrike">
                          <a:effectLst/>
                        </a:rPr>
                        <a:t>T1059.006: Python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199065507"/>
                  </a:ext>
                </a:extLst>
              </a:tr>
              <a:tr h="176847">
                <a:tc vMerge="1">
                  <a:txBody>
                    <a:bodyPr/>
                    <a:lstStyle/>
                    <a:p>
                      <a:endParaRPr kumimoji="1" lang="ja-JP" altLang="en-US"/>
                    </a:p>
                  </a:txBody>
                  <a:tcPr/>
                </a:tc>
                <a:tc>
                  <a:txBody>
                    <a:bodyPr/>
                    <a:lstStyle/>
                    <a:p>
                      <a:pPr algn="l" fontAlgn="t"/>
                      <a:r>
                        <a:rPr lang="en-US" sz="1000" u="none" strike="noStrike" dirty="0">
                          <a:effectLst/>
                          <a:highlight>
                            <a:srgbClr val="FF0000"/>
                          </a:highlight>
                        </a:rPr>
                        <a:t>T1059.004: Unix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146980273"/>
                  </a:ext>
                </a:extLst>
              </a:tr>
              <a:tr h="349188">
                <a:tc vMerge="1">
                  <a:txBody>
                    <a:bodyPr/>
                    <a:lstStyle/>
                    <a:p>
                      <a:endParaRPr kumimoji="1" lang="ja-JP" altLang="en-US"/>
                    </a:p>
                  </a:txBody>
                  <a:tcPr/>
                </a:tc>
                <a:tc>
                  <a:txBody>
                    <a:bodyPr/>
                    <a:lstStyle/>
                    <a:p>
                      <a:pPr algn="l" fontAlgn="t"/>
                      <a:r>
                        <a:rPr lang="en-US" sz="1000" u="none" strike="noStrike">
                          <a:effectLst/>
                        </a:rPr>
                        <a:t>T1059.005: Visual Basic</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014207170"/>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T1059.003: Windows Command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762297913"/>
                  </a:ext>
                </a:extLst>
              </a:tr>
              <a:tr h="176847">
                <a:tc gridSpan="2">
                  <a:txBody>
                    <a:bodyPr/>
                    <a:lstStyle/>
                    <a:p>
                      <a:pPr algn="l" fontAlgn="t"/>
                      <a:r>
                        <a:rPr lang="en-US" sz="1000" u="none" strike="noStrike">
                          <a:effectLst/>
                        </a:rPr>
                        <a:t>T1609: Container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590497845"/>
                  </a:ext>
                </a:extLst>
              </a:tr>
              <a:tr h="349188">
                <a:tc>
                  <a:txBody>
                    <a:bodyPr/>
                    <a:lstStyle/>
                    <a:p>
                      <a:pPr algn="l" fontAlgn="t"/>
                      <a:r>
                        <a:rPr lang="en-US" sz="1000" u="none" strike="noStrike">
                          <a:effectLst/>
                        </a:rPr>
                        <a:t>T1610: Deploy Container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376345691"/>
                  </a:ext>
                </a:extLst>
              </a:tr>
              <a:tr h="176847">
                <a:tc gridSpan="2">
                  <a:txBody>
                    <a:bodyPr/>
                    <a:lstStyle/>
                    <a:p>
                      <a:pPr algn="l" fontAlgn="t"/>
                      <a:r>
                        <a:rPr lang="en-US" sz="1000" u="none" strike="noStrike">
                          <a:effectLst/>
                        </a:rPr>
                        <a:t>T1675: ESXi Administration Command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3110193779"/>
                  </a:ext>
                </a:extLst>
              </a:tr>
              <a:tr h="349188">
                <a:tc>
                  <a:txBody>
                    <a:bodyPr/>
                    <a:lstStyle/>
                    <a:p>
                      <a:pPr algn="l" fontAlgn="t"/>
                      <a:r>
                        <a:rPr lang="fr-FR" sz="1000" u="none" strike="noStrike" dirty="0">
                          <a:effectLst/>
                          <a:highlight>
                            <a:srgbClr val="FF0000"/>
                          </a:highlight>
                        </a:rPr>
                        <a:t>T1203: Exploitation for Client Execution</a:t>
                      </a:r>
                      <a:endParaRPr lang="fr-FR"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4055130125"/>
                  </a:ext>
                </a:extLst>
              </a:tr>
              <a:tr h="176847">
                <a:tc>
                  <a:txBody>
                    <a:bodyPr/>
                    <a:lstStyle/>
                    <a:p>
                      <a:pPr algn="l" fontAlgn="t"/>
                      <a:r>
                        <a:rPr lang="en-US" sz="1000" u="none" strike="noStrike">
                          <a:effectLst/>
                        </a:rPr>
                        <a:t>T1674: Input Injection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312558519"/>
                  </a:ext>
                </a:extLst>
              </a:tr>
              <a:tr h="176847">
                <a:tc gridSpan="2">
                  <a:txBody>
                    <a:bodyPr/>
                    <a:lstStyle/>
                    <a:p>
                      <a:pPr algn="l" fontAlgn="t"/>
                      <a:r>
                        <a:rPr lang="en-US" sz="1000" u="none" strike="noStrike">
                          <a:effectLst/>
                        </a:rPr>
                        <a:t>T1559: Inter-Process Communication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808932789"/>
                  </a:ext>
                </a:extLst>
              </a:tr>
              <a:tr h="176847">
                <a:tc>
                  <a:txBody>
                    <a:bodyPr/>
                    <a:lstStyle/>
                    <a:p>
                      <a:pPr algn="l" fontAlgn="t"/>
                      <a:r>
                        <a:rPr lang="en-US" sz="1000" u="none" strike="noStrike">
                          <a:effectLst/>
                        </a:rPr>
                        <a:t>T1106: Native API</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797145439"/>
                  </a:ext>
                </a:extLst>
              </a:tr>
              <a:tr h="176847">
                <a:tc gridSpan="2">
                  <a:txBody>
                    <a:bodyPr/>
                    <a:lstStyle/>
                    <a:p>
                      <a:pPr algn="l" fontAlgn="t"/>
                      <a:r>
                        <a:rPr lang="en-US" sz="1000" u="none" strike="noStrike">
                          <a:effectLst/>
                        </a:rPr>
                        <a:t>T1677: Poisoned Pipeline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hMerge="1">
                  <a:txBody>
                    <a:bodyPr/>
                    <a:lstStyle/>
                    <a:p>
                      <a:endParaRPr kumimoji="1" lang="ja-JP" altLang="en-US"/>
                    </a:p>
                  </a:txBody>
                  <a:tcPr/>
                </a:tc>
                <a:extLst>
                  <a:ext uri="{0D108BD9-81ED-4DB2-BD59-A6C34878D82A}">
                    <a16:rowId xmlns:a16="http://schemas.microsoft.com/office/drawing/2014/main" val="2437012756"/>
                  </a:ext>
                </a:extLst>
              </a:tr>
              <a:tr h="176847">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233101535"/>
                  </a:ext>
                </a:extLst>
              </a:tr>
              <a:tr h="349188">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780808955"/>
                  </a:ext>
                </a:extLst>
              </a:tr>
              <a:tr h="176847">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906291414"/>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2631328899"/>
                  </a:ext>
                </a:extLst>
              </a:tr>
              <a:tr h="349188">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43318629"/>
                  </a:ext>
                </a:extLst>
              </a:tr>
              <a:tr h="349188">
                <a:tc>
                  <a:txBody>
                    <a:bodyPr/>
                    <a:lstStyle/>
                    <a:p>
                      <a:pPr algn="l" fontAlgn="t"/>
                      <a:r>
                        <a:rPr lang="en-US" sz="1000" u="none" strike="noStrike">
                          <a:effectLst/>
                        </a:rPr>
                        <a:t>T1648: Serverless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017321733"/>
                  </a:ext>
                </a:extLst>
              </a:tr>
              <a:tr h="349188">
                <a:tc>
                  <a:txBody>
                    <a:bodyPr/>
                    <a:lstStyle/>
                    <a:p>
                      <a:pPr algn="l" fontAlgn="t"/>
                      <a:r>
                        <a:rPr lang="en-US" sz="1000" u="none" strike="noStrike">
                          <a:effectLst/>
                        </a:rPr>
                        <a:t>T1129: Shared Modules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121530823"/>
                  </a:ext>
                </a:extLst>
              </a:tr>
              <a:tr h="349188">
                <a:tc>
                  <a:txBody>
                    <a:bodyPr/>
                    <a:lstStyle/>
                    <a:p>
                      <a:pPr algn="l" fontAlgn="t"/>
                      <a:r>
                        <a:rPr lang="en-US" sz="1000" u="none" strike="noStrike">
                          <a:effectLst/>
                        </a:rPr>
                        <a:t>T1072: Software Deployment Tools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3179547260"/>
                  </a:ext>
                </a:extLst>
              </a:tr>
              <a:tr h="176847">
                <a:tc rowSpan="3">
                  <a:txBody>
                    <a:bodyPr/>
                    <a:lstStyle/>
                    <a:p>
                      <a:pPr algn="l" fontAlgn="t"/>
                      <a:r>
                        <a:rPr lang="en-US" sz="1000" u="none" strike="noStrike">
                          <a:effectLst/>
                        </a:rPr>
                        <a:t>T1569: System Services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t"/>
                      <a:r>
                        <a:rPr lang="en-US" sz="1000" u="none" strike="noStrike">
                          <a:effectLst/>
                        </a:rPr>
                        <a:t>T1569.001: Launchctl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3322547472"/>
                  </a:ext>
                </a:extLst>
              </a:tr>
              <a:tr h="349188">
                <a:tc vMerge="1">
                  <a:txBody>
                    <a:bodyPr/>
                    <a:lstStyle/>
                    <a:p>
                      <a:endParaRPr kumimoji="1" lang="ja-JP" altLang="en-US"/>
                    </a:p>
                  </a:txBody>
                  <a:tcPr/>
                </a:tc>
                <a:tc>
                  <a:txBody>
                    <a:bodyPr/>
                    <a:lstStyle/>
                    <a:p>
                      <a:pPr algn="l" fontAlgn="t"/>
                      <a:r>
                        <a:rPr lang="en-US" sz="1000" u="none" strike="noStrike" dirty="0">
                          <a:effectLst/>
                          <a:highlight>
                            <a:srgbClr val="FF0000"/>
                          </a:highlight>
                        </a:rPr>
                        <a:t>T1569.002: Service Execution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274127676"/>
                  </a:ext>
                </a:extLst>
              </a:tr>
              <a:tr h="176847">
                <a:tc vMerge="1">
                  <a:txBody>
                    <a:bodyPr/>
                    <a:lstStyle/>
                    <a:p>
                      <a:endParaRPr kumimoji="1" lang="ja-JP" altLang="en-US"/>
                    </a:p>
                  </a:txBody>
                  <a:tcPr/>
                </a:tc>
                <a:tc>
                  <a:txBody>
                    <a:bodyPr/>
                    <a:lstStyle/>
                    <a:p>
                      <a:pPr algn="l" fontAlgn="t"/>
                      <a:r>
                        <a:rPr lang="en-US" sz="1000" u="none" strike="noStrike">
                          <a:effectLst/>
                        </a:rPr>
                        <a:t>T1569.003: Systemctl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extLst>
                  <a:ext uri="{0D108BD9-81ED-4DB2-BD59-A6C34878D82A}">
                    <a16:rowId xmlns:a16="http://schemas.microsoft.com/office/drawing/2014/main" val="1341381572"/>
                  </a:ext>
                </a:extLst>
              </a:tr>
              <a:tr h="361661">
                <a:tc>
                  <a:txBody>
                    <a:bodyPr/>
                    <a:lstStyle/>
                    <a:p>
                      <a:pPr algn="l" fontAlgn="t"/>
                      <a:r>
                        <a:rPr lang="en-US" sz="1000" u="none" strike="noStrike">
                          <a:effectLst/>
                        </a:rPr>
                        <a:t>T1204: User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2644995820"/>
                  </a:ext>
                </a:extLst>
              </a:tr>
              <a:tr h="521528">
                <a:tc>
                  <a:txBody>
                    <a:bodyPr/>
                    <a:lstStyle/>
                    <a:p>
                      <a:pPr algn="l" fontAlgn="t"/>
                      <a:r>
                        <a:rPr lang="en-US" sz="1000" u="none" strike="noStrike" dirty="0">
                          <a:effectLst/>
                          <a:highlight>
                            <a:srgbClr val="FF0000"/>
                          </a:highlight>
                        </a:rPr>
                        <a:t>T1047: Windows Management Instrumentation</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985" marR="3985" marT="3985"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85" marR="3985" marT="3985" marB="0" anchor="b"/>
                </a:tc>
                <a:extLst>
                  <a:ext uri="{0D108BD9-81ED-4DB2-BD59-A6C34878D82A}">
                    <a16:rowId xmlns:a16="http://schemas.microsoft.com/office/drawing/2014/main" val="584883960"/>
                  </a:ext>
                </a:extLst>
              </a:tr>
            </a:tbl>
          </a:graphicData>
        </a:graphic>
      </p:graphicFrame>
      <p:graphicFrame>
        <p:nvGraphicFramePr>
          <p:cNvPr id="5" name="表 4">
            <a:extLst>
              <a:ext uri="{FF2B5EF4-FFF2-40B4-BE49-F238E27FC236}">
                <a16:creationId xmlns:a16="http://schemas.microsoft.com/office/drawing/2014/main" id="{4B295972-FD90-4645-B2E9-42FC35BA646C}"/>
              </a:ext>
            </a:extLst>
          </p:cNvPr>
          <p:cNvGraphicFramePr>
            <a:graphicFrameLocks noGrp="1"/>
          </p:cNvGraphicFramePr>
          <p:nvPr>
            <p:extLst>
              <p:ext uri="{D42A27DB-BD31-4B8C-83A1-F6EECF244321}">
                <p14:modId xmlns:p14="http://schemas.microsoft.com/office/powerpoint/2010/main" val="1464679355"/>
              </p:ext>
            </p:extLst>
          </p:nvPr>
        </p:nvGraphicFramePr>
        <p:xfrm>
          <a:off x="4694401" y="18854"/>
          <a:ext cx="7428470" cy="14140242"/>
        </p:xfrm>
        <a:graphic>
          <a:graphicData uri="http://schemas.openxmlformats.org/drawingml/2006/table">
            <a:tbl>
              <a:tblPr>
                <a:tableStyleId>{5C22544A-7EE6-4342-B048-85BDC9FD1C3A}</a:tableStyleId>
              </a:tblPr>
              <a:tblGrid>
                <a:gridCol w="3714235">
                  <a:extLst>
                    <a:ext uri="{9D8B030D-6E8A-4147-A177-3AD203B41FA5}">
                      <a16:colId xmlns:a16="http://schemas.microsoft.com/office/drawing/2014/main" val="3685519829"/>
                    </a:ext>
                  </a:extLst>
                </a:gridCol>
                <a:gridCol w="3714235">
                  <a:extLst>
                    <a:ext uri="{9D8B030D-6E8A-4147-A177-3AD203B41FA5}">
                      <a16:colId xmlns:a16="http://schemas.microsoft.com/office/drawing/2014/main" val="2625151654"/>
                    </a:ext>
                  </a:extLst>
                </a:gridCol>
              </a:tblGrid>
              <a:tr h="155403">
                <a:tc gridSpan="2">
                  <a:txBody>
                    <a:bodyPr/>
                    <a:lstStyle/>
                    <a:p>
                      <a:pPr algn="ctr" fontAlgn="b"/>
                      <a:r>
                        <a:rPr lang="en-US" sz="1000" u="none" strike="noStrike" dirty="0">
                          <a:effectLst/>
                        </a:rPr>
                        <a:t>TA0003: Persistence</a:t>
                      </a:r>
                      <a:endParaRPr lang="en-US" sz="10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300168518"/>
                  </a:ext>
                </a:extLst>
              </a:tr>
              <a:tr h="155403">
                <a:tc rowSpan="7">
                  <a:txBody>
                    <a:bodyPr/>
                    <a:lstStyle/>
                    <a:p>
                      <a:pPr algn="l" fontAlgn="t"/>
                      <a:r>
                        <a:rPr lang="en-US" sz="1000" u="none" strike="noStrike" dirty="0">
                          <a:effectLst/>
                        </a:rPr>
                        <a:t>T1098: Account Manipulation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tc>
                  <a:txBody>
                    <a:bodyPr/>
                    <a:lstStyle/>
                    <a:p>
                      <a:pPr algn="l" fontAlgn="t"/>
                      <a:r>
                        <a:rPr lang="en-US" sz="1000" u="none" strike="noStrike">
                          <a:effectLst/>
                        </a:rPr>
                        <a:t>T1098.001: Additional Cloud Credentials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402707134"/>
                  </a:ext>
                </a:extLst>
              </a:tr>
              <a:tr h="155403">
                <a:tc vMerge="1">
                  <a:txBody>
                    <a:bodyPr/>
                    <a:lstStyle/>
                    <a:p>
                      <a:endParaRPr kumimoji="1" lang="ja-JP" altLang="en-US"/>
                    </a:p>
                  </a:txBody>
                  <a:tcPr/>
                </a:tc>
                <a:tc>
                  <a:txBody>
                    <a:bodyPr/>
                    <a:lstStyle/>
                    <a:p>
                      <a:pPr algn="l" fontAlgn="t"/>
                      <a:r>
                        <a:rPr lang="en-US" sz="1000" u="none" strike="noStrike">
                          <a:effectLst/>
                        </a:rPr>
                        <a:t>T1098.003: Additional Cloud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58844728"/>
                  </a:ext>
                </a:extLst>
              </a:tr>
              <a:tr h="155403">
                <a:tc vMerge="1">
                  <a:txBody>
                    <a:bodyPr/>
                    <a:lstStyle/>
                    <a:p>
                      <a:endParaRPr kumimoji="1" lang="ja-JP" altLang="en-US"/>
                    </a:p>
                  </a:txBody>
                  <a:tcPr/>
                </a:tc>
                <a:tc>
                  <a:txBody>
                    <a:bodyPr/>
                    <a:lstStyle/>
                    <a:p>
                      <a:pPr algn="l" fontAlgn="t"/>
                      <a:r>
                        <a:rPr lang="en-US" sz="1000" u="none" strike="noStrike">
                          <a:effectLst/>
                        </a:rPr>
                        <a:t>T1098.006: Additional Container Cluster Roles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44202685"/>
                  </a:ext>
                </a:extLst>
              </a:tr>
              <a:tr h="155403">
                <a:tc vMerge="1">
                  <a:txBody>
                    <a:bodyPr/>
                    <a:lstStyle/>
                    <a:p>
                      <a:endParaRPr kumimoji="1" lang="ja-JP" altLang="en-US"/>
                    </a:p>
                  </a:txBody>
                  <a:tcPr/>
                </a:tc>
                <a:tc>
                  <a:txBody>
                    <a:bodyPr/>
                    <a:lstStyle/>
                    <a:p>
                      <a:pPr algn="l" fontAlgn="t"/>
                      <a:r>
                        <a:rPr lang="en-US" sz="1000" u="none" strike="noStrike">
                          <a:effectLst/>
                        </a:rPr>
                        <a:t>T1098.002: Additional Email Delegate Permissions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09188402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T1098.007: Additional Local or Domain Groups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21500821"/>
                  </a:ext>
                </a:extLst>
              </a:tr>
              <a:tr h="155403">
                <a:tc vMerge="1">
                  <a:txBody>
                    <a:bodyPr/>
                    <a:lstStyle/>
                    <a:p>
                      <a:endParaRPr kumimoji="1" lang="ja-JP" altLang="en-US"/>
                    </a:p>
                  </a:txBody>
                  <a:tcPr/>
                </a:tc>
                <a:tc>
                  <a:txBody>
                    <a:bodyPr/>
                    <a:lstStyle/>
                    <a:p>
                      <a:pPr algn="l" fontAlgn="t"/>
                      <a:r>
                        <a:rPr lang="en-US" sz="1000" u="none" strike="noStrike" dirty="0">
                          <a:effectLst/>
                        </a:rPr>
                        <a:t>T1098.005: Device Registration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75394653"/>
                  </a:ext>
                </a:extLst>
              </a:tr>
              <a:tr h="155403">
                <a:tc vMerge="1">
                  <a:txBody>
                    <a:bodyPr/>
                    <a:lstStyle/>
                    <a:p>
                      <a:endParaRPr kumimoji="1" lang="ja-JP" altLang="en-US"/>
                    </a:p>
                  </a:txBody>
                  <a:tcPr/>
                </a:tc>
                <a:tc>
                  <a:txBody>
                    <a:bodyPr/>
                    <a:lstStyle/>
                    <a:p>
                      <a:pPr algn="l" fontAlgn="t"/>
                      <a:r>
                        <a:rPr lang="en-US" sz="1000" u="none" strike="noStrike">
                          <a:effectLst/>
                        </a:rPr>
                        <a:t>T1098.004: SSH Authorized Keys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14232098"/>
                  </a:ext>
                </a:extLst>
              </a:tr>
              <a:tr h="155403">
                <a:tc>
                  <a:txBody>
                    <a:bodyPr/>
                    <a:lstStyle/>
                    <a:p>
                      <a:pPr algn="l" fontAlgn="t"/>
                      <a:r>
                        <a:rPr lang="en-US" sz="1000" u="none" strike="noStrike" dirty="0">
                          <a:effectLst/>
                          <a:highlight>
                            <a:srgbClr val="FF0000"/>
                          </a:highlight>
                        </a:rPr>
                        <a:t>T1197: BITS Jobs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2951482"/>
                  </a:ext>
                </a:extLst>
              </a:tr>
              <a:tr h="155403">
                <a:tc rowSpan="14">
                  <a:txBody>
                    <a:bodyPr/>
                    <a:lstStyle/>
                    <a:p>
                      <a:pPr algn="l" fontAlgn="t"/>
                      <a:r>
                        <a:rPr lang="en-US" sz="1000" u="none" strike="noStrike" dirty="0">
                          <a:effectLst/>
                        </a:rPr>
                        <a:t>T1547: Boot or Logon </a:t>
                      </a:r>
                      <a:r>
                        <a:rPr lang="en-US" sz="1000" u="none" strike="noStrike" dirty="0" err="1">
                          <a:effectLst/>
                        </a:rPr>
                        <a:t>Autostart</a:t>
                      </a:r>
                      <a:r>
                        <a:rPr lang="en-US" sz="1000" u="none" strike="noStrike" dirty="0">
                          <a:effectLst/>
                        </a:rPr>
                        <a:t> Execution</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T1547.014: Active Setup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340964776"/>
                  </a:ext>
                </a:extLst>
              </a:tr>
              <a:tr h="155403">
                <a:tc vMerge="1">
                  <a:txBody>
                    <a:bodyPr/>
                    <a:lstStyle/>
                    <a:p>
                      <a:endParaRPr kumimoji="1" lang="ja-JP" altLang="en-US"/>
                    </a:p>
                  </a:txBody>
                  <a:tcPr/>
                </a:tc>
                <a:tc>
                  <a:txBody>
                    <a:bodyPr/>
                    <a:lstStyle/>
                    <a:p>
                      <a:pPr algn="l" fontAlgn="t"/>
                      <a:r>
                        <a:rPr lang="en-US" sz="1000" u="none" strike="noStrike">
                          <a:effectLst/>
                        </a:rPr>
                        <a:t>T1547.002: Authentication Package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4858575"/>
                  </a:ext>
                </a:extLst>
              </a:tr>
              <a:tr h="155403">
                <a:tc vMerge="1">
                  <a:txBody>
                    <a:bodyPr/>
                    <a:lstStyle/>
                    <a:p>
                      <a:endParaRPr kumimoji="1" lang="ja-JP" altLang="en-US"/>
                    </a:p>
                  </a:txBody>
                  <a:tcPr/>
                </a:tc>
                <a:tc>
                  <a:txBody>
                    <a:bodyPr/>
                    <a:lstStyle/>
                    <a:p>
                      <a:pPr algn="l" fontAlgn="t"/>
                      <a:r>
                        <a:rPr lang="en-US" sz="1000" u="none" strike="noStrike">
                          <a:effectLst/>
                        </a:rPr>
                        <a:t>T1547.006: Kernel Modules and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9060857"/>
                  </a:ext>
                </a:extLst>
              </a:tr>
              <a:tr h="155403">
                <a:tc vMerge="1">
                  <a:txBody>
                    <a:bodyPr/>
                    <a:lstStyle/>
                    <a:p>
                      <a:endParaRPr kumimoji="1" lang="ja-JP" altLang="en-US"/>
                    </a:p>
                  </a:txBody>
                  <a:tcPr/>
                </a:tc>
                <a:tc>
                  <a:txBody>
                    <a:bodyPr/>
                    <a:lstStyle/>
                    <a:p>
                      <a:pPr algn="l" fontAlgn="t"/>
                      <a:r>
                        <a:rPr lang="en-US" sz="1000" u="none" strike="noStrike">
                          <a:effectLst/>
                        </a:rPr>
                        <a:t>T1547.015: Login Items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4960068"/>
                  </a:ext>
                </a:extLst>
              </a:tr>
              <a:tr h="155403">
                <a:tc vMerge="1">
                  <a:txBody>
                    <a:bodyPr/>
                    <a:lstStyle/>
                    <a:p>
                      <a:endParaRPr kumimoji="1" lang="ja-JP" altLang="en-US"/>
                    </a:p>
                  </a:txBody>
                  <a:tcPr/>
                </a:tc>
                <a:tc>
                  <a:txBody>
                    <a:bodyPr/>
                    <a:lstStyle/>
                    <a:p>
                      <a:pPr algn="l" fontAlgn="t"/>
                      <a:r>
                        <a:rPr lang="en-US" sz="1000" u="none" strike="noStrike">
                          <a:effectLst/>
                        </a:rPr>
                        <a:t>T1547.008: LSASS Driver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45366776"/>
                  </a:ext>
                </a:extLst>
              </a:tr>
              <a:tr h="155403">
                <a:tc vMerge="1">
                  <a:txBody>
                    <a:bodyPr/>
                    <a:lstStyle/>
                    <a:p>
                      <a:endParaRPr kumimoji="1" lang="ja-JP" altLang="en-US"/>
                    </a:p>
                  </a:txBody>
                  <a:tcPr/>
                </a:tc>
                <a:tc>
                  <a:txBody>
                    <a:bodyPr/>
                    <a:lstStyle/>
                    <a:p>
                      <a:pPr algn="l" fontAlgn="t"/>
                      <a:r>
                        <a:rPr lang="en-US" sz="1000" u="none" strike="noStrike">
                          <a:effectLst/>
                        </a:rPr>
                        <a:t>T1547.010: Port Monitors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07390871"/>
                  </a:ext>
                </a:extLst>
              </a:tr>
              <a:tr h="155403">
                <a:tc vMerge="1">
                  <a:txBody>
                    <a:bodyPr/>
                    <a:lstStyle/>
                    <a:p>
                      <a:endParaRPr kumimoji="1" lang="ja-JP" altLang="en-US"/>
                    </a:p>
                  </a:txBody>
                  <a:tcPr/>
                </a:tc>
                <a:tc>
                  <a:txBody>
                    <a:bodyPr/>
                    <a:lstStyle/>
                    <a:p>
                      <a:pPr algn="l" fontAlgn="t"/>
                      <a:r>
                        <a:rPr lang="en-US" sz="1000" u="none" strike="noStrike">
                          <a:effectLst/>
                        </a:rPr>
                        <a:t>T1547.012: Print Processors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561616"/>
                  </a:ext>
                </a:extLst>
              </a:tr>
              <a:tr h="155403">
                <a:tc vMerge="1">
                  <a:txBody>
                    <a:bodyPr/>
                    <a:lstStyle/>
                    <a:p>
                      <a:endParaRPr kumimoji="1" lang="ja-JP" altLang="en-US"/>
                    </a:p>
                  </a:txBody>
                  <a:tcPr/>
                </a:tc>
                <a:tc>
                  <a:txBody>
                    <a:bodyPr/>
                    <a:lstStyle/>
                    <a:p>
                      <a:pPr algn="l" fontAlgn="t"/>
                      <a:r>
                        <a:rPr lang="en-US" sz="1000" u="none" strike="noStrike">
                          <a:effectLst/>
                        </a:rPr>
                        <a:t>T1547.007: Re-opened Applications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4835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T1547.001: Registry Run Keys / Startup Folder</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80001828"/>
                  </a:ext>
                </a:extLst>
              </a:tr>
              <a:tr h="155403">
                <a:tc vMerge="1">
                  <a:txBody>
                    <a:bodyPr/>
                    <a:lstStyle/>
                    <a:p>
                      <a:endParaRPr kumimoji="1" lang="ja-JP" altLang="en-US"/>
                    </a:p>
                  </a:txBody>
                  <a:tcPr/>
                </a:tc>
                <a:tc>
                  <a:txBody>
                    <a:bodyPr/>
                    <a:lstStyle/>
                    <a:p>
                      <a:pPr algn="l" fontAlgn="t"/>
                      <a:r>
                        <a:rPr lang="en-US" sz="1000" u="none" strike="noStrike">
                          <a:effectLst/>
                        </a:rPr>
                        <a:t>T1547.005: Security Support Provider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52355415"/>
                  </a:ext>
                </a:extLst>
              </a:tr>
              <a:tr h="155403">
                <a:tc vMerge="1">
                  <a:txBody>
                    <a:bodyPr/>
                    <a:lstStyle/>
                    <a:p>
                      <a:endParaRPr kumimoji="1" lang="ja-JP" altLang="en-US"/>
                    </a:p>
                  </a:txBody>
                  <a:tcPr/>
                </a:tc>
                <a:tc>
                  <a:txBody>
                    <a:bodyPr/>
                    <a:lstStyle/>
                    <a:p>
                      <a:pPr algn="l" fontAlgn="t"/>
                      <a:r>
                        <a:rPr lang="en-US" sz="1000" u="none" strike="noStrike">
                          <a:effectLst/>
                        </a:rPr>
                        <a:t>T1547.009: Shortcut Modification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87399746"/>
                  </a:ext>
                </a:extLst>
              </a:tr>
              <a:tr h="155403">
                <a:tc vMerge="1">
                  <a:txBody>
                    <a:bodyPr/>
                    <a:lstStyle/>
                    <a:p>
                      <a:endParaRPr kumimoji="1" lang="ja-JP" altLang="en-US"/>
                    </a:p>
                  </a:txBody>
                  <a:tcPr/>
                </a:tc>
                <a:tc>
                  <a:txBody>
                    <a:bodyPr/>
                    <a:lstStyle/>
                    <a:p>
                      <a:pPr algn="l" fontAlgn="t"/>
                      <a:r>
                        <a:rPr lang="en-US" sz="1000" u="none" strike="noStrike">
                          <a:effectLst/>
                        </a:rPr>
                        <a:t>T1547.003: Time Providers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45212594"/>
                  </a:ext>
                </a:extLst>
              </a:tr>
              <a:tr h="155403">
                <a:tc vMerge="1">
                  <a:txBody>
                    <a:bodyPr/>
                    <a:lstStyle/>
                    <a:p>
                      <a:endParaRPr kumimoji="1" lang="ja-JP" altLang="en-US"/>
                    </a:p>
                  </a:txBody>
                  <a:tcPr/>
                </a:tc>
                <a:tc>
                  <a:txBody>
                    <a:bodyPr/>
                    <a:lstStyle/>
                    <a:p>
                      <a:pPr algn="l" fontAlgn="t"/>
                      <a:r>
                        <a:rPr lang="en-US" sz="1000" u="none" strike="noStrike">
                          <a:effectLst/>
                        </a:rPr>
                        <a:t>T1547.004: Winlogon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20166671"/>
                  </a:ext>
                </a:extLst>
              </a:tr>
              <a:tr h="155403">
                <a:tc vMerge="1">
                  <a:txBody>
                    <a:bodyPr/>
                    <a:lstStyle/>
                    <a:p>
                      <a:endParaRPr kumimoji="1" lang="ja-JP" altLang="en-US"/>
                    </a:p>
                  </a:txBody>
                  <a:tcPr/>
                </a:tc>
                <a:tc>
                  <a:txBody>
                    <a:bodyPr/>
                    <a:lstStyle/>
                    <a:p>
                      <a:pPr algn="l" fontAlgn="t"/>
                      <a:r>
                        <a:rPr lang="en-US" sz="1000" u="none" strike="noStrike">
                          <a:effectLst/>
                        </a:rPr>
                        <a:t>T1547.013: XDG Autostart Entries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65053142"/>
                  </a:ext>
                </a:extLst>
              </a:tr>
              <a:tr h="155403">
                <a:tc>
                  <a:txBody>
                    <a:bodyPr/>
                    <a:lstStyle/>
                    <a:p>
                      <a:pPr algn="l" fontAlgn="t"/>
                      <a:r>
                        <a:rPr lang="en-US" sz="1000" u="none" strike="noStrike" dirty="0">
                          <a:effectLst/>
                          <a:highlight>
                            <a:srgbClr val="FF0000"/>
                          </a:highlight>
                        </a:rPr>
                        <a:t>T1037: Boot or Logon Initialization Scripts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141768047"/>
                  </a:ext>
                </a:extLst>
              </a:tr>
              <a:tr h="155403">
                <a:tc gridSpan="2">
                  <a:txBody>
                    <a:bodyPr/>
                    <a:lstStyle/>
                    <a:p>
                      <a:pPr algn="l" fontAlgn="t"/>
                      <a:r>
                        <a:rPr lang="en-US" sz="1000" u="none" strike="noStrike">
                          <a:effectLst/>
                        </a:rPr>
                        <a:t>T1671: Cloud Application Integration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1159647633"/>
                  </a:ext>
                </a:extLst>
              </a:tr>
              <a:tr h="155403">
                <a:tc gridSpan="2">
                  <a:txBody>
                    <a:bodyPr/>
                    <a:lstStyle/>
                    <a:p>
                      <a:pPr algn="l" fontAlgn="t"/>
                      <a:r>
                        <a:rPr lang="en-US" sz="1000" u="none" strike="noStrike">
                          <a:effectLst/>
                        </a:rPr>
                        <a:t>T1554: Compromise Host Software Binary</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2340248162"/>
                  </a:ext>
                </a:extLst>
              </a:tr>
              <a:tr h="155403">
                <a:tc rowSpan="3">
                  <a:txBody>
                    <a:bodyPr/>
                    <a:lstStyle/>
                    <a:p>
                      <a:pPr algn="l" fontAlgn="t"/>
                      <a:r>
                        <a:rPr lang="en-US" sz="1000" u="none" strike="noStrike">
                          <a:effectLst/>
                        </a:rPr>
                        <a:t>T1136: Create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T1136.003: Cloud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726792108"/>
                  </a:ext>
                </a:extLst>
              </a:tr>
              <a:tr h="155403">
                <a:tc vMerge="1">
                  <a:txBody>
                    <a:bodyPr/>
                    <a:lstStyle/>
                    <a:p>
                      <a:endParaRPr kumimoji="1" lang="ja-JP" altLang="en-US"/>
                    </a:p>
                  </a:txBody>
                  <a:tcPr/>
                </a:tc>
                <a:tc>
                  <a:txBody>
                    <a:bodyPr/>
                    <a:lstStyle/>
                    <a:p>
                      <a:pPr algn="l" fontAlgn="t"/>
                      <a:r>
                        <a:rPr lang="en-US" sz="1000" u="none" strike="noStrike">
                          <a:effectLst/>
                        </a:rPr>
                        <a:t>T1136.002: Domain Account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13870600"/>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T1136.001: Local Account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97903640"/>
                  </a:ext>
                </a:extLst>
              </a:tr>
              <a:tr h="155403">
                <a:tc rowSpan="5">
                  <a:txBody>
                    <a:bodyPr/>
                    <a:lstStyle/>
                    <a:p>
                      <a:pPr algn="l" fontAlgn="t"/>
                      <a:r>
                        <a:rPr lang="en-US" sz="1000" u="none" strike="noStrike">
                          <a:effectLst/>
                        </a:rPr>
                        <a:t>T1543: Create or Modify System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T1543.005: Container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8051695"/>
                  </a:ext>
                </a:extLst>
              </a:tr>
              <a:tr h="155403">
                <a:tc vMerge="1">
                  <a:txBody>
                    <a:bodyPr/>
                    <a:lstStyle/>
                    <a:p>
                      <a:endParaRPr kumimoji="1" lang="ja-JP" altLang="en-US"/>
                    </a:p>
                  </a:txBody>
                  <a:tcPr/>
                </a:tc>
                <a:tc>
                  <a:txBody>
                    <a:bodyPr/>
                    <a:lstStyle/>
                    <a:p>
                      <a:pPr algn="l" fontAlgn="t"/>
                      <a:r>
                        <a:rPr lang="en-US" sz="1000" u="none" strike="noStrike">
                          <a:effectLst/>
                        </a:rPr>
                        <a:t>T1543.001: Launch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06966075"/>
                  </a:ext>
                </a:extLst>
              </a:tr>
              <a:tr h="155403">
                <a:tc vMerge="1">
                  <a:txBody>
                    <a:bodyPr/>
                    <a:lstStyle/>
                    <a:p>
                      <a:endParaRPr kumimoji="1" lang="ja-JP" altLang="en-US"/>
                    </a:p>
                  </a:txBody>
                  <a:tcPr/>
                </a:tc>
                <a:tc>
                  <a:txBody>
                    <a:bodyPr/>
                    <a:lstStyle/>
                    <a:p>
                      <a:pPr algn="l" fontAlgn="t"/>
                      <a:r>
                        <a:rPr lang="en-US" sz="1000" u="none" strike="noStrike">
                          <a:effectLst/>
                        </a:rPr>
                        <a:t>T1543.004: Launch Daemon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93371186"/>
                  </a:ext>
                </a:extLst>
              </a:tr>
              <a:tr h="155403">
                <a:tc vMerge="1">
                  <a:txBody>
                    <a:bodyPr/>
                    <a:lstStyle/>
                    <a:p>
                      <a:endParaRPr kumimoji="1" lang="ja-JP" altLang="en-US"/>
                    </a:p>
                  </a:txBody>
                  <a:tcPr/>
                </a:tc>
                <a:tc>
                  <a:txBody>
                    <a:bodyPr/>
                    <a:lstStyle/>
                    <a:p>
                      <a:pPr algn="l" fontAlgn="t"/>
                      <a:r>
                        <a:rPr lang="en-US" sz="1000" u="none" strike="noStrike">
                          <a:effectLst/>
                        </a:rPr>
                        <a:t>T1543.002: Systemd Service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14946391"/>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T1543.003: Windows Service</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35263726"/>
                  </a:ext>
                </a:extLst>
              </a:tr>
              <a:tr h="155403">
                <a:tc rowSpan="18">
                  <a:txBody>
                    <a:bodyPr/>
                    <a:lstStyle/>
                    <a:p>
                      <a:pPr algn="l" fontAlgn="t"/>
                      <a:r>
                        <a:rPr lang="en-US" sz="1000" u="none" strike="noStrike">
                          <a:effectLst/>
                        </a:rPr>
                        <a:t>T1546: Event Triggered Execution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T1546.008: Accessibility Features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023426533"/>
                  </a:ext>
                </a:extLst>
              </a:tr>
              <a:tr h="155403">
                <a:tc vMerge="1">
                  <a:txBody>
                    <a:bodyPr/>
                    <a:lstStyle/>
                    <a:p>
                      <a:endParaRPr kumimoji="1" lang="ja-JP" altLang="en-US"/>
                    </a:p>
                  </a:txBody>
                  <a:tcPr/>
                </a:tc>
                <a:tc>
                  <a:txBody>
                    <a:bodyPr/>
                    <a:lstStyle/>
                    <a:p>
                      <a:pPr algn="l" fontAlgn="t"/>
                      <a:r>
                        <a:rPr lang="en-US" sz="1000" u="none" strike="noStrike">
                          <a:effectLst/>
                        </a:rPr>
                        <a:t>T1546.009: AppCert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6347532"/>
                  </a:ext>
                </a:extLst>
              </a:tr>
              <a:tr h="155403">
                <a:tc vMerge="1">
                  <a:txBody>
                    <a:bodyPr/>
                    <a:lstStyle/>
                    <a:p>
                      <a:endParaRPr kumimoji="1" lang="ja-JP" altLang="en-US"/>
                    </a:p>
                  </a:txBody>
                  <a:tcPr/>
                </a:tc>
                <a:tc>
                  <a:txBody>
                    <a:bodyPr/>
                    <a:lstStyle/>
                    <a:p>
                      <a:pPr algn="l" fontAlgn="t"/>
                      <a:r>
                        <a:rPr lang="en-US" sz="1000" u="none" strike="noStrike">
                          <a:effectLst/>
                        </a:rPr>
                        <a:t>T1546.010: AppInit DLLs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57979521"/>
                  </a:ext>
                </a:extLst>
              </a:tr>
              <a:tr h="155403">
                <a:tc vMerge="1">
                  <a:txBody>
                    <a:bodyPr/>
                    <a:lstStyle/>
                    <a:p>
                      <a:endParaRPr kumimoji="1" lang="ja-JP" altLang="en-US"/>
                    </a:p>
                  </a:txBody>
                  <a:tcPr/>
                </a:tc>
                <a:tc>
                  <a:txBody>
                    <a:bodyPr/>
                    <a:lstStyle/>
                    <a:p>
                      <a:pPr algn="l" fontAlgn="t"/>
                      <a:r>
                        <a:rPr lang="en-US" sz="1000" u="none" strike="noStrike">
                          <a:effectLst/>
                        </a:rPr>
                        <a:t>T1546.011: Application Shimming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85865689"/>
                  </a:ext>
                </a:extLst>
              </a:tr>
              <a:tr h="155403">
                <a:tc vMerge="1">
                  <a:txBody>
                    <a:bodyPr/>
                    <a:lstStyle/>
                    <a:p>
                      <a:endParaRPr kumimoji="1" lang="ja-JP" altLang="en-US"/>
                    </a:p>
                  </a:txBody>
                  <a:tcPr/>
                </a:tc>
                <a:tc>
                  <a:txBody>
                    <a:bodyPr/>
                    <a:lstStyle/>
                    <a:p>
                      <a:pPr algn="l" fontAlgn="t"/>
                      <a:r>
                        <a:rPr lang="fr-FR" sz="1000" u="none" strike="noStrike">
                          <a:effectLst/>
                        </a:rPr>
                        <a:t>T1546.001: Change Default File Association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976334551"/>
                  </a:ext>
                </a:extLst>
              </a:tr>
              <a:tr h="155403">
                <a:tc vMerge="1">
                  <a:txBody>
                    <a:bodyPr/>
                    <a:lstStyle/>
                    <a:p>
                      <a:endParaRPr kumimoji="1" lang="ja-JP" altLang="en-US"/>
                    </a:p>
                  </a:txBody>
                  <a:tcPr/>
                </a:tc>
                <a:tc>
                  <a:txBody>
                    <a:bodyPr/>
                    <a:lstStyle/>
                    <a:p>
                      <a:pPr algn="l" fontAlgn="t"/>
                      <a:r>
                        <a:rPr lang="en-US" sz="1000" u="none" strike="noStrike">
                          <a:effectLst/>
                        </a:rPr>
                        <a:t>T1546.015: Component Object Model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41338364"/>
                  </a:ext>
                </a:extLst>
              </a:tr>
              <a:tr h="155403">
                <a:tc vMerge="1">
                  <a:txBody>
                    <a:bodyPr/>
                    <a:lstStyle/>
                    <a:p>
                      <a:endParaRPr kumimoji="1" lang="ja-JP" altLang="en-US"/>
                    </a:p>
                  </a:txBody>
                  <a:tcPr/>
                </a:tc>
                <a:tc>
                  <a:txBody>
                    <a:bodyPr/>
                    <a:lstStyle/>
                    <a:p>
                      <a:pPr algn="l" fontAlgn="t"/>
                      <a:r>
                        <a:rPr lang="en-US" sz="1000" u="none" strike="noStrike">
                          <a:effectLst/>
                        </a:rPr>
                        <a:t>T1546.014: Emond</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709429577"/>
                  </a:ext>
                </a:extLst>
              </a:tr>
              <a:tr h="155403">
                <a:tc vMerge="1">
                  <a:txBody>
                    <a:bodyPr/>
                    <a:lstStyle/>
                    <a:p>
                      <a:endParaRPr kumimoji="1" lang="ja-JP" altLang="en-US"/>
                    </a:p>
                  </a:txBody>
                  <a:tcPr/>
                </a:tc>
                <a:tc>
                  <a:txBody>
                    <a:bodyPr/>
                    <a:lstStyle/>
                    <a:p>
                      <a:pPr algn="l" fontAlgn="t"/>
                      <a:r>
                        <a:rPr lang="fr-FR" sz="1000" u="none" strike="noStrike">
                          <a:effectLst/>
                        </a:rPr>
                        <a:t>T1546.012: Image File Execution Options Injection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81148248"/>
                  </a:ext>
                </a:extLst>
              </a:tr>
              <a:tr h="155403">
                <a:tc vMerge="1">
                  <a:txBody>
                    <a:bodyPr/>
                    <a:lstStyle/>
                    <a:p>
                      <a:endParaRPr kumimoji="1" lang="ja-JP" altLang="en-US"/>
                    </a:p>
                  </a:txBody>
                  <a:tcPr/>
                </a:tc>
                <a:tc>
                  <a:txBody>
                    <a:bodyPr/>
                    <a:lstStyle/>
                    <a:p>
                      <a:pPr algn="l" fontAlgn="t"/>
                      <a:r>
                        <a:rPr lang="en-US" sz="1000" u="none" strike="noStrike">
                          <a:effectLst/>
                        </a:rPr>
                        <a:t>T1546.016: Installer Packages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113990975"/>
                  </a:ext>
                </a:extLst>
              </a:tr>
              <a:tr h="155403">
                <a:tc vMerge="1">
                  <a:txBody>
                    <a:bodyPr/>
                    <a:lstStyle/>
                    <a:p>
                      <a:endParaRPr kumimoji="1" lang="ja-JP" altLang="en-US"/>
                    </a:p>
                  </a:txBody>
                  <a:tcPr/>
                </a:tc>
                <a:tc>
                  <a:txBody>
                    <a:bodyPr/>
                    <a:lstStyle/>
                    <a:p>
                      <a:pPr algn="l" fontAlgn="t"/>
                      <a:r>
                        <a:rPr lang="en-US" sz="1000" u="none" strike="noStrike">
                          <a:effectLst/>
                        </a:rPr>
                        <a:t>T1546.006: LC_LOAD_DYLIB Addition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1397287"/>
                  </a:ext>
                </a:extLst>
              </a:tr>
              <a:tr h="155403">
                <a:tc vMerge="1">
                  <a:txBody>
                    <a:bodyPr/>
                    <a:lstStyle/>
                    <a:p>
                      <a:endParaRPr kumimoji="1" lang="ja-JP" altLang="en-US"/>
                    </a:p>
                  </a:txBody>
                  <a:tcPr/>
                </a:tc>
                <a:tc>
                  <a:txBody>
                    <a:bodyPr/>
                    <a:lstStyle/>
                    <a:p>
                      <a:pPr algn="l" fontAlgn="t"/>
                      <a:r>
                        <a:rPr lang="en-US" sz="1000" u="none" strike="noStrike">
                          <a:effectLst/>
                        </a:rPr>
                        <a:t>T1546.007: Netsh Helper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86790805"/>
                  </a:ext>
                </a:extLst>
              </a:tr>
              <a:tr h="155403">
                <a:tc vMerge="1">
                  <a:txBody>
                    <a:bodyPr/>
                    <a:lstStyle/>
                    <a:p>
                      <a:endParaRPr kumimoji="1" lang="ja-JP" altLang="en-US"/>
                    </a:p>
                  </a:txBody>
                  <a:tcPr/>
                </a:tc>
                <a:tc>
                  <a:txBody>
                    <a:bodyPr/>
                    <a:lstStyle/>
                    <a:p>
                      <a:pPr algn="l" fontAlgn="t"/>
                      <a:r>
                        <a:rPr lang="en-US" sz="1000" u="none" strike="noStrike">
                          <a:effectLst/>
                        </a:rPr>
                        <a:t>T1546.013: PowerShell Profile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078905373"/>
                  </a:ext>
                </a:extLst>
              </a:tr>
              <a:tr h="155403">
                <a:tc vMerge="1">
                  <a:txBody>
                    <a:bodyPr/>
                    <a:lstStyle/>
                    <a:p>
                      <a:endParaRPr kumimoji="1" lang="ja-JP" altLang="en-US"/>
                    </a:p>
                  </a:txBody>
                  <a:tcPr/>
                </a:tc>
                <a:tc>
                  <a:txBody>
                    <a:bodyPr/>
                    <a:lstStyle/>
                    <a:p>
                      <a:pPr algn="l" fontAlgn="t"/>
                      <a:r>
                        <a:rPr lang="en-US" sz="1000" u="none" strike="noStrike">
                          <a:effectLst/>
                        </a:rPr>
                        <a:t>T1546.018: Python Startup Hooks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3599039"/>
                  </a:ext>
                </a:extLst>
              </a:tr>
              <a:tr h="155403">
                <a:tc vMerge="1">
                  <a:txBody>
                    <a:bodyPr/>
                    <a:lstStyle/>
                    <a:p>
                      <a:endParaRPr kumimoji="1" lang="ja-JP" altLang="en-US"/>
                    </a:p>
                  </a:txBody>
                  <a:tcPr/>
                </a:tc>
                <a:tc>
                  <a:txBody>
                    <a:bodyPr/>
                    <a:lstStyle/>
                    <a:p>
                      <a:pPr algn="l" fontAlgn="t"/>
                      <a:r>
                        <a:rPr lang="en-US" sz="1000" u="none" strike="noStrike">
                          <a:effectLst/>
                        </a:rPr>
                        <a:t>T1546.002: Screensaver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469825330"/>
                  </a:ext>
                </a:extLst>
              </a:tr>
              <a:tr h="155403">
                <a:tc vMerge="1">
                  <a:txBody>
                    <a:bodyPr/>
                    <a:lstStyle/>
                    <a:p>
                      <a:endParaRPr kumimoji="1" lang="ja-JP" altLang="en-US"/>
                    </a:p>
                  </a:txBody>
                  <a:tcPr/>
                </a:tc>
                <a:tc>
                  <a:txBody>
                    <a:bodyPr/>
                    <a:lstStyle/>
                    <a:p>
                      <a:pPr algn="l" fontAlgn="t"/>
                      <a:r>
                        <a:rPr lang="en-US" sz="1000" u="none" strike="noStrike">
                          <a:effectLst/>
                        </a:rPr>
                        <a:t>T1546.005: Trap</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31180942"/>
                  </a:ext>
                </a:extLst>
              </a:tr>
              <a:tr h="155403">
                <a:tc vMerge="1">
                  <a:txBody>
                    <a:bodyPr/>
                    <a:lstStyle/>
                    <a:p>
                      <a:endParaRPr kumimoji="1" lang="ja-JP" altLang="en-US"/>
                    </a:p>
                  </a:txBody>
                  <a:tcPr/>
                </a:tc>
                <a:tc>
                  <a:txBody>
                    <a:bodyPr/>
                    <a:lstStyle/>
                    <a:p>
                      <a:pPr algn="l" fontAlgn="t"/>
                      <a:r>
                        <a:rPr lang="en-US" sz="1000" u="none" strike="noStrike">
                          <a:effectLst/>
                        </a:rPr>
                        <a:t>T1546.017: Udev Rules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27170140"/>
                  </a:ext>
                </a:extLst>
              </a:tr>
              <a:tr h="155403">
                <a:tc vMerge="1">
                  <a:txBody>
                    <a:bodyPr/>
                    <a:lstStyle/>
                    <a:p>
                      <a:endParaRPr kumimoji="1" lang="ja-JP" altLang="en-US"/>
                    </a:p>
                  </a:txBody>
                  <a:tcPr/>
                </a:tc>
                <a:tc>
                  <a:txBody>
                    <a:bodyPr/>
                    <a:lstStyle/>
                    <a:p>
                      <a:pPr algn="l" fontAlgn="t"/>
                      <a:r>
                        <a:rPr lang="fr-FR" sz="1000" u="none" strike="noStrike">
                          <a:effectLst/>
                        </a:rPr>
                        <a:t>T1546.004: Unix Shell Configuration Modification</a:t>
                      </a:r>
                      <a:endParaRPr lang="fr-FR"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4499253"/>
                  </a:ext>
                </a:extLst>
              </a:tr>
              <a:tr h="309375">
                <a:tc vMerge="1">
                  <a:txBody>
                    <a:bodyPr/>
                    <a:lstStyle/>
                    <a:p>
                      <a:endParaRPr kumimoji="1" lang="ja-JP" altLang="en-US"/>
                    </a:p>
                  </a:txBody>
                  <a:tcPr/>
                </a:tc>
                <a:tc>
                  <a:txBody>
                    <a:bodyPr/>
                    <a:lstStyle/>
                    <a:p>
                      <a:pPr algn="l" fontAlgn="t"/>
                      <a:r>
                        <a:rPr lang="en-US" sz="1000" u="none" strike="noStrike">
                          <a:effectLst/>
                        </a:rPr>
                        <a:t>T1546.003: Windows Management Instrumentation Event Subscription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15741502"/>
                  </a:ext>
                </a:extLst>
              </a:tr>
              <a:tr h="155403">
                <a:tc>
                  <a:txBody>
                    <a:bodyPr/>
                    <a:lstStyle/>
                    <a:p>
                      <a:pPr algn="l" fontAlgn="t"/>
                      <a:r>
                        <a:rPr lang="en-US" sz="1000" u="none" strike="noStrike">
                          <a:effectLst/>
                        </a:rPr>
                        <a:t>T1668: Exclusive Control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858337001"/>
                  </a:ext>
                </a:extLst>
              </a:tr>
              <a:tr h="155403">
                <a:tc>
                  <a:txBody>
                    <a:bodyPr/>
                    <a:lstStyle/>
                    <a:p>
                      <a:pPr algn="l" fontAlgn="t"/>
                      <a:r>
                        <a:rPr lang="en-US" sz="1000" u="none" strike="noStrike">
                          <a:effectLst/>
                          <a:highlight>
                            <a:srgbClr val="FF0000"/>
                          </a:highlight>
                        </a:rPr>
                        <a:t>T1133: External Remote Services</a:t>
                      </a:r>
                      <a:endParaRPr lang="en-US" sz="10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169993304"/>
                  </a:ext>
                </a:extLst>
              </a:tr>
              <a:tr h="155403">
                <a:tc rowSpan="12">
                  <a:txBody>
                    <a:bodyPr/>
                    <a:lstStyle/>
                    <a:p>
                      <a:pPr algn="l" fontAlgn="t"/>
                      <a:r>
                        <a:rPr lang="en-US" sz="1000" u="none" strike="noStrike" dirty="0">
                          <a:effectLst/>
                          <a:highlight>
                            <a:srgbClr val="FF0000"/>
                          </a:highlight>
                        </a:rPr>
                        <a:t>T1574: Hijack Execution Flow</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T1574.014: AppDomainManager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012165029"/>
                  </a:ext>
                </a:extLst>
              </a:tr>
              <a:tr h="155403">
                <a:tc vMerge="1">
                  <a:txBody>
                    <a:bodyPr/>
                    <a:lstStyle/>
                    <a:p>
                      <a:endParaRPr kumimoji="1" lang="ja-JP" altLang="en-US"/>
                    </a:p>
                  </a:txBody>
                  <a:tcPr/>
                </a:tc>
                <a:tc>
                  <a:txBody>
                    <a:bodyPr/>
                    <a:lstStyle/>
                    <a:p>
                      <a:pPr algn="l" fontAlgn="t"/>
                      <a:r>
                        <a:rPr lang="en-US" sz="1000" u="none" strike="noStrike">
                          <a:effectLst/>
                        </a:rPr>
                        <a:t>T1574.012: COR_PROFILER</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31447409"/>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T1574.001: DLL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69588557"/>
                  </a:ext>
                </a:extLst>
              </a:tr>
              <a:tr h="155403">
                <a:tc vMerge="1">
                  <a:txBody>
                    <a:bodyPr/>
                    <a:lstStyle/>
                    <a:p>
                      <a:endParaRPr kumimoji="1" lang="ja-JP" altLang="en-US"/>
                    </a:p>
                  </a:txBody>
                  <a:tcPr/>
                </a:tc>
                <a:tc>
                  <a:txBody>
                    <a:bodyPr/>
                    <a:lstStyle/>
                    <a:p>
                      <a:pPr algn="l" fontAlgn="t"/>
                      <a:r>
                        <a:rPr lang="en-US" sz="1000" u="none" strike="noStrike">
                          <a:effectLst/>
                        </a:rPr>
                        <a:t>T1574.004: Dylib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78562892"/>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T1574.006: Dynamic Linker Hijacking</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48605945"/>
                  </a:ext>
                </a:extLst>
              </a:tr>
              <a:tr h="155403">
                <a:tc vMerge="1">
                  <a:txBody>
                    <a:bodyPr/>
                    <a:lstStyle/>
                    <a:p>
                      <a:endParaRPr kumimoji="1" lang="ja-JP" altLang="en-US"/>
                    </a:p>
                  </a:txBody>
                  <a:tcPr/>
                </a:tc>
                <a:tc>
                  <a:txBody>
                    <a:bodyPr/>
                    <a:lstStyle/>
                    <a:p>
                      <a:pPr algn="l" fontAlgn="t"/>
                      <a:r>
                        <a:rPr lang="en-US" sz="1000" u="none" strike="noStrike">
                          <a:effectLst/>
                        </a:rPr>
                        <a:t>T1574.005: Executable Installer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221966513"/>
                  </a:ext>
                </a:extLst>
              </a:tr>
              <a:tr h="155403">
                <a:tc vMerge="1">
                  <a:txBody>
                    <a:bodyPr/>
                    <a:lstStyle/>
                    <a:p>
                      <a:endParaRPr kumimoji="1" lang="ja-JP" altLang="en-US"/>
                    </a:p>
                  </a:txBody>
                  <a:tcPr/>
                </a:tc>
                <a:tc>
                  <a:txBody>
                    <a:bodyPr/>
                    <a:lstStyle/>
                    <a:p>
                      <a:pPr algn="l" fontAlgn="t"/>
                      <a:r>
                        <a:rPr lang="en-US" sz="1000" u="none" strike="noStrike">
                          <a:effectLst/>
                        </a:rPr>
                        <a:t>T1574.013: KernelCallbackTable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222032209"/>
                  </a:ext>
                </a:extLst>
              </a:tr>
              <a:tr h="155403">
                <a:tc vMerge="1">
                  <a:txBody>
                    <a:bodyPr/>
                    <a:lstStyle/>
                    <a:p>
                      <a:endParaRPr kumimoji="1" lang="ja-JP" altLang="en-US"/>
                    </a:p>
                  </a:txBody>
                  <a:tcPr/>
                </a:tc>
                <a:tc>
                  <a:txBody>
                    <a:bodyPr/>
                    <a:lstStyle/>
                    <a:p>
                      <a:pPr algn="l" fontAlgn="t"/>
                      <a:r>
                        <a:rPr lang="en-US" sz="1000" u="none" strike="noStrike" dirty="0">
                          <a:effectLst/>
                        </a:rPr>
                        <a:t>T1574.007: Path Interception by PATH Environment Variable</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851815109"/>
                  </a:ext>
                </a:extLst>
              </a:tr>
              <a:tr h="155403">
                <a:tc vMerge="1">
                  <a:txBody>
                    <a:bodyPr/>
                    <a:lstStyle/>
                    <a:p>
                      <a:endParaRPr kumimoji="1" lang="ja-JP" altLang="en-US"/>
                    </a:p>
                  </a:txBody>
                  <a:tcPr/>
                </a:tc>
                <a:tc>
                  <a:txBody>
                    <a:bodyPr/>
                    <a:lstStyle/>
                    <a:p>
                      <a:pPr algn="l" fontAlgn="t"/>
                      <a:r>
                        <a:rPr lang="en-US" sz="1000" u="none" strike="noStrike">
                          <a:effectLst/>
                        </a:rPr>
                        <a:t>T1574.008: Path Interception by Search Order Hijacking</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85351983"/>
                  </a:ext>
                </a:extLst>
              </a:tr>
              <a:tr h="155403">
                <a:tc vMerge="1">
                  <a:txBody>
                    <a:bodyPr/>
                    <a:lstStyle/>
                    <a:p>
                      <a:endParaRPr kumimoji="1" lang="ja-JP" altLang="en-US"/>
                    </a:p>
                  </a:txBody>
                  <a:tcPr/>
                </a:tc>
                <a:tc>
                  <a:txBody>
                    <a:bodyPr/>
                    <a:lstStyle/>
                    <a:p>
                      <a:pPr algn="l" fontAlgn="t"/>
                      <a:r>
                        <a:rPr lang="en-US" sz="1000" u="none" strike="noStrike">
                          <a:effectLst/>
                        </a:rPr>
                        <a:t>T1574.009: Path Interception by Unquoted Path</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934450869"/>
                  </a:ext>
                </a:extLst>
              </a:tr>
              <a:tr h="155403">
                <a:tc vMerge="1">
                  <a:txBody>
                    <a:bodyPr/>
                    <a:lstStyle/>
                    <a:p>
                      <a:endParaRPr kumimoji="1" lang="ja-JP" altLang="en-US"/>
                    </a:p>
                  </a:txBody>
                  <a:tcPr/>
                </a:tc>
                <a:tc>
                  <a:txBody>
                    <a:bodyPr/>
                    <a:lstStyle/>
                    <a:p>
                      <a:pPr algn="l" fontAlgn="t"/>
                      <a:r>
                        <a:rPr lang="en-US" sz="1000" u="none" strike="noStrike">
                          <a:effectLst/>
                        </a:rPr>
                        <a:t>T1574.010: Services File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44582870"/>
                  </a:ext>
                </a:extLst>
              </a:tr>
              <a:tr h="155403">
                <a:tc vMerge="1">
                  <a:txBody>
                    <a:bodyPr/>
                    <a:lstStyle/>
                    <a:p>
                      <a:endParaRPr kumimoji="1" lang="ja-JP" altLang="en-US"/>
                    </a:p>
                  </a:txBody>
                  <a:tcPr/>
                </a:tc>
                <a:tc>
                  <a:txBody>
                    <a:bodyPr/>
                    <a:lstStyle/>
                    <a:p>
                      <a:pPr algn="l" fontAlgn="t"/>
                      <a:r>
                        <a:rPr lang="en-US" sz="1000" u="none" strike="noStrike">
                          <a:effectLst/>
                        </a:rPr>
                        <a:t>T1574.011: Services Registry Permissions Weakness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677356505"/>
                  </a:ext>
                </a:extLst>
              </a:tr>
              <a:tr h="155403">
                <a:tc>
                  <a:txBody>
                    <a:bodyPr/>
                    <a:lstStyle/>
                    <a:p>
                      <a:pPr algn="l" fontAlgn="t"/>
                      <a:r>
                        <a:rPr lang="en-US" sz="1000" u="none" strike="noStrike">
                          <a:effectLst/>
                        </a:rPr>
                        <a:t>T1525: Implant Internal Image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3581861964"/>
                  </a:ext>
                </a:extLst>
              </a:tr>
              <a:tr h="155403">
                <a:tc gridSpan="2">
                  <a:txBody>
                    <a:bodyPr/>
                    <a:lstStyle/>
                    <a:p>
                      <a:pPr algn="l" fontAlgn="t"/>
                      <a:r>
                        <a:rPr lang="en-US" sz="1000" u="none" strike="noStrike">
                          <a:effectLst/>
                        </a:rPr>
                        <a:t>T1556: Modify Authentication Process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hMerge="1">
                  <a:txBody>
                    <a:bodyPr/>
                    <a:lstStyle/>
                    <a:p>
                      <a:endParaRPr kumimoji="1" lang="ja-JP" altLang="en-US"/>
                    </a:p>
                  </a:txBody>
                  <a:tcPr/>
                </a:tc>
                <a:extLst>
                  <a:ext uri="{0D108BD9-81ED-4DB2-BD59-A6C34878D82A}">
                    <a16:rowId xmlns:a16="http://schemas.microsoft.com/office/drawing/2014/main" val="3503338056"/>
                  </a:ext>
                </a:extLst>
              </a:tr>
              <a:tr h="155403">
                <a:tc>
                  <a:txBody>
                    <a:bodyPr/>
                    <a:lstStyle/>
                    <a:p>
                      <a:pPr algn="l" fontAlgn="t"/>
                      <a:r>
                        <a:rPr lang="en-US" sz="1000" u="none" strike="noStrike" dirty="0">
                          <a:effectLst/>
                          <a:highlight>
                            <a:srgbClr val="FF0000"/>
                          </a:highlight>
                        </a:rPr>
                        <a:t>T1112: Modify Registry</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902650390"/>
                  </a:ext>
                </a:extLst>
              </a:tr>
              <a:tr h="155403">
                <a:tc>
                  <a:txBody>
                    <a:bodyPr/>
                    <a:lstStyle/>
                    <a:p>
                      <a:pPr algn="l" fontAlgn="t"/>
                      <a:r>
                        <a:rPr lang="en-US" sz="1000" u="none" strike="noStrike" dirty="0">
                          <a:effectLst/>
                        </a:rPr>
                        <a:t>T1137: Office Application Startup</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353837182"/>
                  </a:ext>
                </a:extLst>
              </a:tr>
              <a:tr h="155403">
                <a:tc>
                  <a:txBody>
                    <a:bodyPr/>
                    <a:lstStyle/>
                    <a:p>
                      <a:pPr algn="l" fontAlgn="t"/>
                      <a:r>
                        <a:rPr lang="en-US" sz="1000" u="none" strike="noStrike">
                          <a:effectLst/>
                        </a:rPr>
                        <a:t>T1653: Power Settings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895450795"/>
                  </a:ext>
                </a:extLst>
              </a:tr>
              <a:tr h="155403">
                <a:tc rowSpan="5">
                  <a:txBody>
                    <a:bodyPr/>
                    <a:lstStyle/>
                    <a:p>
                      <a:pPr algn="l" fontAlgn="t"/>
                      <a:r>
                        <a:rPr lang="en-US" sz="1000" u="none" strike="noStrike">
                          <a:effectLst/>
                        </a:rPr>
                        <a:t>T1542: Pre-OS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dirty="0">
                          <a:effectLst/>
                          <a:highlight>
                            <a:srgbClr val="FF0000"/>
                          </a:highlight>
                        </a:rPr>
                        <a:t>T1542.003: </a:t>
                      </a:r>
                      <a:r>
                        <a:rPr lang="en-US" sz="1000" u="none" strike="noStrike" dirty="0" err="1">
                          <a:effectLst/>
                          <a:highlight>
                            <a:srgbClr val="FF0000"/>
                          </a:highlight>
                        </a:rPr>
                        <a:t>Bootkit</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567936012"/>
                  </a:ext>
                </a:extLst>
              </a:tr>
              <a:tr h="155403">
                <a:tc vMerge="1">
                  <a:txBody>
                    <a:bodyPr/>
                    <a:lstStyle/>
                    <a:p>
                      <a:endParaRPr kumimoji="1" lang="ja-JP" altLang="en-US"/>
                    </a:p>
                  </a:txBody>
                  <a:tcPr/>
                </a:tc>
                <a:tc>
                  <a:txBody>
                    <a:bodyPr/>
                    <a:lstStyle/>
                    <a:p>
                      <a:pPr algn="l" fontAlgn="t"/>
                      <a:r>
                        <a:rPr lang="en-US" sz="1000" u="none" strike="noStrike">
                          <a:effectLst/>
                        </a:rPr>
                        <a:t>T1542.002: Component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647333407"/>
                  </a:ext>
                </a:extLst>
              </a:tr>
              <a:tr h="155403">
                <a:tc vMerge="1">
                  <a:txBody>
                    <a:bodyPr/>
                    <a:lstStyle/>
                    <a:p>
                      <a:endParaRPr kumimoji="1" lang="ja-JP" altLang="en-US"/>
                    </a:p>
                  </a:txBody>
                  <a:tcPr/>
                </a:tc>
                <a:tc>
                  <a:txBody>
                    <a:bodyPr/>
                    <a:lstStyle/>
                    <a:p>
                      <a:pPr algn="l" fontAlgn="t"/>
                      <a:r>
                        <a:rPr lang="en-US" sz="1000" u="none" strike="noStrike">
                          <a:effectLst/>
                        </a:rPr>
                        <a:t>T1542.004: ROMMONkit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110389904"/>
                  </a:ext>
                </a:extLst>
              </a:tr>
              <a:tr h="155403">
                <a:tc vMerge="1">
                  <a:txBody>
                    <a:bodyPr/>
                    <a:lstStyle/>
                    <a:p>
                      <a:endParaRPr kumimoji="1" lang="ja-JP" altLang="en-US"/>
                    </a:p>
                  </a:txBody>
                  <a:tcPr/>
                </a:tc>
                <a:tc>
                  <a:txBody>
                    <a:bodyPr/>
                    <a:lstStyle/>
                    <a:p>
                      <a:pPr algn="l" fontAlgn="t"/>
                      <a:r>
                        <a:rPr lang="en-US" sz="1000" u="none" strike="noStrike">
                          <a:effectLst/>
                        </a:rPr>
                        <a:t>T1542.001: System Firmware</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212620935"/>
                  </a:ext>
                </a:extLst>
              </a:tr>
              <a:tr h="155403">
                <a:tc vMerge="1">
                  <a:txBody>
                    <a:bodyPr/>
                    <a:lstStyle/>
                    <a:p>
                      <a:endParaRPr kumimoji="1" lang="ja-JP" altLang="en-US"/>
                    </a:p>
                  </a:txBody>
                  <a:tcPr/>
                </a:tc>
                <a:tc>
                  <a:txBody>
                    <a:bodyPr/>
                    <a:lstStyle/>
                    <a:p>
                      <a:pPr algn="l" fontAlgn="t"/>
                      <a:r>
                        <a:rPr lang="en-US" sz="1000" u="none" strike="noStrike">
                          <a:effectLst/>
                        </a:rPr>
                        <a:t>T1542.005: TFTP Boot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07558665"/>
                  </a:ext>
                </a:extLst>
              </a:tr>
              <a:tr h="155403">
                <a:tc rowSpan="5">
                  <a:txBody>
                    <a:bodyPr/>
                    <a:lstStyle/>
                    <a:p>
                      <a:pPr algn="l" fontAlgn="t"/>
                      <a:r>
                        <a:rPr lang="en-US" sz="1000" u="none" strike="noStrike">
                          <a:effectLst/>
                        </a:rPr>
                        <a:t>T1053: Scheduled Task/Job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T1053.002: At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469710383"/>
                  </a:ext>
                </a:extLst>
              </a:tr>
              <a:tr h="155403">
                <a:tc vMerge="1">
                  <a:txBody>
                    <a:bodyPr/>
                    <a:lstStyle/>
                    <a:p>
                      <a:endParaRPr kumimoji="1" lang="ja-JP" altLang="en-US"/>
                    </a:p>
                  </a:txBody>
                  <a:tcPr/>
                </a:tc>
                <a:tc>
                  <a:txBody>
                    <a:bodyPr/>
                    <a:lstStyle/>
                    <a:p>
                      <a:pPr algn="l" fontAlgn="t"/>
                      <a:r>
                        <a:rPr lang="en-US" sz="1000" u="none" strike="noStrike">
                          <a:effectLst/>
                        </a:rPr>
                        <a:t>T1053.007: Container Orchestration Job</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2666651720"/>
                  </a:ext>
                </a:extLst>
              </a:tr>
              <a:tr h="155403">
                <a:tc vMerge="1">
                  <a:txBody>
                    <a:bodyPr/>
                    <a:lstStyle/>
                    <a:p>
                      <a:endParaRPr kumimoji="1" lang="ja-JP" altLang="en-US"/>
                    </a:p>
                  </a:txBody>
                  <a:tcPr/>
                </a:tc>
                <a:tc>
                  <a:txBody>
                    <a:bodyPr/>
                    <a:lstStyle/>
                    <a:p>
                      <a:pPr algn="l" fontAlgn="t"/>
                      <a:r>
                        <a:rPr lang="en-US" sz="1000" u="none" strike="noStrike">
                          <a:effectLst/>
                        </a:rPr>
                        <a:t>T1053.003: Cron</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790264938"/>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T1053.005: Scheduled Task</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535714294"/>
                  </a:ext>
                </a:extLst>
              </a:tr>
              <a:tr h="155403">
                <a:tc vMerge="1">
                  <a:txBody>
                    <a:bodyPr/>
                    <a:lstStyle/>
                    <a:p>
                      <a:endParaRPr kumimoji="1" lang="ja-JP" altLang="en-US"/>
                    </a:p>
                  </a:txBody>
                  <a:tcPr/>
                </a:tc>
                <a:tc>
                  <a:txBody>
                    <a:bodyPr/>
                    <a:lstStyle/>
                    <a:p>
                      <a:pPr algn="l" fontAlgn="t"/>
                      <a:r>
                        <a:rPr lang="en-US" sz="1000" u="none" strike="noStrike">
                          <a:effectLst/>
                        </a:rPr>
                        <a:t>T1053.006: Systemd Timers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821135833"/>
                  </a:ext>
                </a:extLst>
              </a:tr>
              <a:tr h="155403">
                <a:tc rowSpan="6">
                  <a:txBody>
                    <a:bodyPr/>
                    <a:lstStyle/>
                    <a:p>
                      <a:pPr algn="l" fontAlgn="t"/>
                      <a:r>
                        <a:rPr lang="en-US" sz="1000" u="none" strike="noStrike" dirty="0">
                          <a:effectLst/>
                        </a:rPr>
                        <a:t>T1505: Server Software Component</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t"/>
                      <a:r>
                        <a:rPr lang="en-US" sz="1000" u="none" strike="noStrike">
                          <a:effectLst/>
                        </a:rPr>
                        <a:t>T1505.004: IIS Components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794428151"/>
                  </a:ext>
                </a:extLst>
              </a:tr>
              <a:tr h="155403">
                <a:tc vMerge="1">
                  <a:txBody>
                    <a:bodyPr/>
                    <a:lstStyle/>
                    <a:p>
                      <a:endParaRPr kumimoji="1" lang="ja-JP" altLang="en-US"/>
                    </a:p>
                  </a:txBody>
                  <a:tcPr/>
                </a:tc>
                <a:tc>
                  <a:txBody>
                    <a:bodyPr/>
                    <a:lstStyle/>
                    <a:p>
                      <a:pPr algn="l" fontAlgn="t"/>
                      <a:r>
                        <a:rPr lang="en-US" sz="1000" u="none" strike="noStrike">
                          <a:effectLst/>
                        </a:rPr>
                        <a:t>T1505.001: SQL Stored Procedures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378330021"/>
                  </a:ext>
                </a:extLst>
              </a:tr>
              <a:tr h="155403">
                <a:tc vMerge="1">
                  <a:txBody>
                    <a:bodyPr/>
                    <a:lstStyle/>
                    <a:p>
                      <a:endParaRPr kumimoji="1" lang="ja-JP" altLang="en-US"/>
                    </a:p>
                  </a:txBody>
                  <a:tcPr/>
                </a:tc>
                <a:tc>
                  <a:txBody>
                    <a:bodyPr/>
                    <a:lstStyle/>
                    <a:p>
                      <a:pPr algn="l" fontAlgn="t"/>
                      <a:r>
                        <a:rPr lang="en-US" sz="1000" u="none" strike="noStrike">
                          <a:effectLst/>
                        </a:rPr>
                        <a:t>T1505.005: Terminal Services DLL</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371992464"/>
                  </a:ext>
                </a:extLst>
              </a:tr>
              <a:tr h="155403">
                <a:tc vMerge="1">
                  <a:txBody>
                    <a:bodyPr/>
                    <a:lstStyle/>
                    <a:p>
                      <a:endParaRPr kumimoji="1" lang="ja-JP" altLang="en-US"/>
                    </a:p>
                  </a:txBody>
                  <a:tcPr/>
                </a:tc>
                <a:tc>
                  <a:txBody>
                    <a:bodyPr/>
                    <a:lstStyle/>
                    <a:p>
                      <a:pPr algn="l" fontAlgn="t"/>
                      <a:r>
                        <a:rPr lang="en-US" sz="1000" u="none" strike="noStrike">
                          <a:effectLst/>
                        </a:rPr>
                        <a:t>T1505.002: Transport Agent</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1274366006"/>
                  </a:ext>
                </a:extLst>
              </a:tr>
              <a:tr h="155403">
                <a:tc vMerge="1">
                  <a:txBody>
                    <a:bodyPr/>
                    <a:lstStyle/>
                    <a:p>
                      <a:endParaRPr kumimoji="1" lang="ja-JP" altLang="en-US"/>
                    </a:p>
                  </a:txBody>
                  <a:tcPr/>
                </a:tc>
                <a:tc>
                  <a:txBody>
                    <a:bodyPr/>
                    <a:lstStyle/>
                    <a:p>
                      <a:pPr algn="l" fontAlgn="t"/>
                      <a:r>
                        <a:rPr lang="en-US" sz="1000" u="none" strike="noStrike">
                          <a:effectLst/>
                        </a:rPr>
                        <a:t>T1505.006: vSphere Installation Bundles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3663794256"/>
                  </a:ext>
                </a:extLst>
              </a:tr>
              <a:tr h="155403">
                <a:tc vMerge="1">
                  <a:txBody>
                    <a:bodyPr/>
                    <a:lstStyle/>
                    <a:p>
                      <a:endParaRPr kumimoji="1" lang="ja-JP" altLang="en-US"/>
                    </a:p>
                  </a:txBody>
                  <a:tcPr/>
                </a:tc>
                <a:tc>
                  <a:txBody>
                    <a:bodyPr/>
                    <a:lstStyle/>
                    <a:p>
                      <a:pPr algn="l" fontAlgn="t"/>
                      <a:r>
                        <a:rPr lang="en-US" sz="1000" u="none" strike="noStrike" dirty="0">
                          <a:effectLst/>
                          <a:highlight>
                            <a:srgbClr val="FF0000"/>
                          </a:highlight>
                        </a:rPr>
                        <a:t>T1505.003: Web Shell</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extLst>
                  <a:ext uri="{0D108BD9-81ED-4DB2-BD59-A6C34878D82A}">
                    <a16:rowId xmlns:a16="http://schemas.microsoft.com/office/drawing/2014/main" val="4194934557"/>
                  </a:ext>
                </a:extLst>
              </a:tr>
              <a:tr h="155403">
                <a:tc>
                  <a:txBody>
                    <a:bodyPr/>
                    <a:lstStyle/>
                    <a:p>
                      <a:pPr algn="l" fontAlgn="t"/>
                      <a:r>
                        <a:rPr lang="en-US" sz="1000" u="none" strike="noStrike">
                          <a:effectLst/>
                        </a:rPr>
                        <a:t>T1176: Software Extensions</a:t>
                      </a:r>
                      <a:endParaRPr 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4227497544"/>
                  </a:ext>
                </a:extLst>
              </a:tr>
              <a:tr h="155403">
                <a:tc>
                  <a:txBody>
                    <a:bodyPr/>
                    <a:lstStyle/>
                    <a:p>
                      <a:pPr algn="l" fontAlgn="t"/>
                      <a:r>
                        <a:rPr lang="en-US" sz="1000" u="none" strike="noStrike" dirty="0">
                          <a:effectLst/>
                        </a:rPr>
                        <a:t>T1205: Traffic Signaling</a:t>
                      </a:r>
                      <a:endParaRPr 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2758223807"/>
                  </a:ext>
                </a:extLst>
              </a:tr>
              <a:tr h="155403">
                <a:tc>
                  <a:txBody>
                    <a:bodyPr/>
                    <a:lstStyle/>
                    <a:p>
                      <a:pPr algn="l" fontAlgn="t"/>
                      <a:r>
                        <a:rPr lang="en-US" sz="1000" u="none" strike="noStrike" dirty="0">
                          <a:effectLst/>
                          <a:highlight>
                            <a:srgbClr val="FF0000"/>
                          </a:highlight>
                        </a:rPr>
                        <a:t>T1078: Valid Accounts</a:t>
                      </a:r>
                      <a:endParaRPr lang="en-US" sz="10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416" marR="1416" marT="1416" marB="0"/>
                </a:tc>
                <a:tc>
                  <a:txBody>
                    <a:bodyPr/>
                    <a:lstStyle/>
                    <a:p>
                      <a:pPr algn="l" fontAlgn="b"/>
                      <a:endParaRPr lang="ja-JP" altLang="en-US" sz="10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416" marR="1416" marT="1416" marB="0" anchor="b"/>
                </a:tc>
                <a:extLst>
                  <a:ext uri="{0D108BD9-81ED-4DB2-BD59-A6C34878D82A}">
                    <a16:rowId xmlns:a16="http://schemas.microsoft.com/office/drawing/2014/main" val="1936118791"/>
                  </a:ext>
                </a:extLst>
              </a:tr>
            </a:tbl>
          </a:graphicData>
        </a:graphic>
      </p:graphicFrame>
    </p:spTree>
    <p:extLst>
      <p:ext uri="{BB962C8B-B14F-4D97-AF65-F5344CB8AC3E}">
        <p14:creationId xmlns:p14="http://schemas.microsoft.com/office/powerpoint/2010/main" val="2552468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9CBB03-3788-4BE7-B2A7-CF91CB93389B}"/>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7AD86D74-2509-4326-8B51-8CBC26814E84}"/>
              </a:ext>
            </a:extLst>
          </p:cNvPr>
          <p:cNvGraphicFramePr>
            <a:graphicFrameLocks noGrp="1"/>
          </p:cNvGraphicFramePr>
          <p:nvPr>
            <p:ph idx="1"/>
            <p:extLst>
              <p:ext uri="{D42A27DB-BD31-4B8C-83A1-F6EECF244321}">
                <p14:modId xmlns:p14="http://schemas.microsoft.com/office/powerpoint/2010/main" val="2218978706"/>
              </p:ext>
            </p:extLst>
          </p:nvPr>
        </p:nvGraphicFramePr>
        <p:xfrm>
          <a:off x="-2" y="-1"/>
          <a:ext cx="5776914" cy="9048068"/>
        </p:xfrm>
        <a:graphic>
          <a:graphicData uri="http://schemas.openxmlformats.org/drawingml/2006/table">
            <a:tbl>
              <a:tblPr>
                <a:tableStyleId>{5C22544A-7EE6-4342-B048-85BDC9FD1C3A}</a:tableStyleId>
              </a:tblPr>
              <a:tblGrid>
                <a:gridCol w="2888457">
                  <a:extLst>
                    <a:ext uri="{9D8B030D-6E8A-4147-A177-3AD203B41FA5}">
                      <a16:colId xmlns:a16="http://schemas.microsoft.com/office/drawing/2014/main" val="2076890884"/>
                    </a:ext>
                  </a:extLst>
                </a:gridCol>
                <a:gridCol w="2888457">
                  <a:extLst>
                    <a:ext uri="{9D8B030D-6E8A-4147-A177-3AD203B41FA5}">
                      <a16:colId xmlns:a16="http://schemas.microsoft.com/office/drawing/2014/main" val="4101922490"/>
                    </a:ext>
                  </a:extLst>
                </a:gridCol>
              </a:tblGrid>
              <a:tr h="152127">
                <a:tc gridSpan="2">
                  <a:txBody>
                    <a:bodyPr/>
                    <a:lstStyle/>
                    <a:p>
                      <a:pPr algn="ctr" fontAlgn="b"/>
                      <a:r>
                        <a:rPr lang="en-US" sz="800" u="none" strike="noStrike" dirty="0">
                          <a:effectLst/>
                        </a:rPr>
                        <a:t>TA0004: Privilege Escalation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851276718"/>
                  </a:ext>
                </a:extLst>
              </a:tr>
              <a:tr h="123646">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1801743620"/>
                  </a:ext>
                </a:extLst>
              </a:tr>
              <a:tr h="125701">
                <a:tc>
                  <a:txBody>
                    <a:bodyPr/>
                    <a:lstStyle/>
                    <a:p>
                      <a:pPr algn="l" fontAlgn="t"/>
                      <a:r>
                        <a:rPr lang="en-US" sz="800" u="none" strike="noStrike" dirty="0">
                          <a:effectLst/>
                          <a:highlight>
                            <a:srgbClr val="FF0000"/>
                          </a:highlight>
                        </a:rPr>
                        <a:t>T1134: Access Token Manipulation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240727659"/>
                  </a:ext>
                </a:extLst>
              </a:tr>
              <a:tr h="125701">
                <a:tc rowSpan="7">
                  <a:txBody>
                    <a:bodyPr/>
                    <a:lstStyle/>
                    <a:p>
                      <a:pPr algn="l" fontAlgn="t"/>
                      <a:r>
                        <a:rPr lang="en-US" sz="800" u="none" strike="noStrike" dirty="0">
                          <a:effectLst/>
                        </a:rPr>
                        <a:t>T1098: Account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T1098.001: Additional Cloud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13896998"/>
                  </a:ext>
                </a:extLst>
              </a:tr>
              <a:tr h="125701">
                <a:tc vMerge="1">
                  <a:txBody>
                    <a:bodyPr/>
                    <a:lstStyle/>
                    <a:p>
                      <a:endParaRPr kumimoji="1" lang="ja-JP" altLang="en-US"/>
                    </a:p>
                  </a:txBody>
                  <a:tcPr/>
                </a:tc>
                <a:tc>
                  <a:txBody>
                    <a:bodyPr/>
                    <a:lstStyle/>
                    <a:p>
                      <a:pPr algn="l" fontAlgn="t"/>
                      <a:r>
                        <a:rPr lang="en-US" sz="800" u="none" strike="noStrike">
                          <a:effectLst/>
                        </a:rPr>
                        <a:t>T1098.003: Additional Cloud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786837826"/>
                  </a:ext>
                </a:extLst>
              </a:tr>
              <a:tr h="125701">
                <a:tc vMerge="1">
                  <a:txBody>
                    <a:bodyPr/>
                    <a:lstStyle/>
                    <a:p>
                      <a:endParaRPr kumimoji="1" lang="ja-JP" altLang="en-US"/>
                    </a:p>
                  </a:txBody>
                  <a:tcPr/>
                </a:tc>
                <a:tc>
                  <a:txBody>
                    <a:bodyPr/>
                    <a:lstStyle/>
                    <a:p>
                      <a:pPr algn="l" fontAlgn="t"/>
                      <a:r>
                        <a:rPr lang="en-US" sz="800" u="none" strike="noStrike">
                          <a:effectLst/>
                        </a:rPr>
                        <a:t>T1098.006: Additional Container Cluster Roles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855010673"/>
                  </a:ext>
                </a:extLst>
              </a:tr>
              <a:tr h="125701">
                <a:tc vMerge="1">
                  <a:txBody>
                    <a:bodyPr/>
                    <a:lstStyle/>
                    <a:p>
                      <a:endParaRPr kumimoji="1" lang="ja-JP" altLang="en-US"/>
                    </a:p>
                  </a:txBody>
                  <a:tcPr/>
                </a:tc>
                <a:tc>
                  <a:txBody>
                    <a:bodyPr/>
                    <a:lstStyle/>
                    <a:p>
                      <a:pPr algn="l" fontAlgn="t"/>
                      <a:r>
                        <a:rPr lang="en-US" sz="800" u="none" strike="noStrike">
                          <a:effectLst/>
                        </a:rPr>
                        <a:t>T1098.002: Additional Email Delegate Permissions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73992187"/>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T1098.007: Additional Local or Domain Groups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02249376"/>
                  </a:ext>
                </a:extLst>
              </a:tr>
              <a:tr h="123646">
                <a:tc vMerge="1">
                  <a:txBody>
                    <a:bodyPr/>
                    <a:lstStyle/>
                    <a:p>
                      <a:endParaRPr kumimoji="1" lang="ja-JP" altLang="en-US"/>
                    </a:p>
                  </a:txBody>
                  <a:tcPr/>
                </a:tc>
                <a:tc>
                  <a:txBody>
                    <a:bodyPr/>
                    <a:lstStyle/>
                    <a:p>
                      <a:pPr algn="l" fontAlgn="t"/>
                      <a:r>
                        <a:rPr lang="en-US" sz="800" u="none" strike="noStrike">
                          <a:effectLst/>
                        </a:rPr>
                        <a:t>T1098.005: Device Registration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46423594"/>
                  </a:ext>
                </a:extLst>
              </a:tr>
              <a:tr h="125701">
                <a:tc vMerge="1">
                  <a:txBody>
                    <a:bodyPr/>
                    <a:lstStyle/>
                    <a:p>
                      <a:endParaRPr kumimoji="1" lang="ja-JP" altLang="en-US"/>
                    </a:p>
                  </a:txBody>
                  <a:tcPr/>
                </a:tc>
                <a:tc>
                  <a:txBody>
                    <a:bodyPr/>
                    <a:lstStyle/>
                    <a:p>
                      <a:pPr algn="l" fontAlgn="t"/>
                      <a:r>
                        <a:rPr lang="en-US" sz="800" u="none" strike="noStrike">
                          <a:effectLst/>
                        </a:rPr>
                        <a:t>T1098.004: SSH Authorized Keys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8488725"/>
                  </a:ext>
                </a:extLst>
              </a:tr>
              <a:tr h="123646">
                <a:tc rowSpan="14">
                  <a:txBody>
                    <a:bodyPr/>
                    <a:lstStyle/>
                    <a:p>
                      <a:pPr algn="l" fontAlgn="t"/>
                      <a:r>
                        <a:rPr lang="en-US" sz="800" u="none" strike="noStrike" dirty="0">
                          <a:effectLst/>
                        </a:rPr>
                        <a:t>T1547: Boot or Logon </a:t>
                      </a:r>
                      <a:r>
                        <a:rPr lang="en-US" sz="800" u="none" strike="noStrike" dirty="0" err="1">
                          <a:effectLst/>
                        </a:rPr>
                        <a:t>Autostart</a:t>
                      </a:r>
                      <a:r>
                        <a:rPr lang="en-US" sz="800" u="none" strike="noStrike" dirty="0">
                          <a:effectLst/>
                        </a:rPr>
                        <a:t>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T1547.014: Active Setup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10398437"/>
                  </a:ext>
                </a:extLst>
              </a:tr>
              <a:tr h="125701">
                <a:tc vMerge="1">
                  <a:txBody>
                    <a:bodyPr/>
                    <a:lstStyle/>
                    <a:p>
                      <a:endParaRPr kumimoji="1" lang="ja-JP" altLang="en-US"/>
                    </a:p>
                  </a:txBody>
                  <a:tcPr/>
                </a:tc>
                <a:tc>
                  <a:txBody>
                    <a:bodyPr/>
                    <a:lstStyle/>
                    <a:p>
                      <a:pPr algn="l" fontAlgn="t"/>
                      <a:r>
                        <a:rPr lang="en-US" sz="800" u="none" strike="noStrike">
                          <a:effectLst/>
                        </a:rPr>
                        <a:t>T1547.002: Authentication Package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627702830"/>
                  </a:ext>
                </a:extLst>
              </a:tr>
              <a:tr h="125701">
                <a:tc vMerge="1">
                  <a:txBody>
                    <a:bodyPr/>
                    <a:lstStyle/>
                    <a:p>
                      <a:endParaRPr kumimoji="1" lang="ja-JP" altLang="en-US"/>
                    </a:p>
                  </a:txBody>
                  <a:tcPr/>
                </a:tc>
                <a:tc>
                  <a:txBody>
                    <a:bodyPr/>
                    <a:lstStyle/>
                    <a:p>
                      <a:pPr algn="l" fontAlgn="t"/>
                      <a:r>
                        <a:rPr lang="en-US" sz="800" u="none" strike="noStrike">
                          <a:effectLst/>
                        </a:rPr>
                        <a:t>T1547.006: Kernel Modules and Extensions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5092030"/>
                  </a:ext>
                </a:extLst>
              </a:tr>
              <a:tr h="123646">
                <a:tc vMerge="1">
                  <a:txBody>
                    <a:bodyPr/>
                    <a:lstStyle/>
                    <a:p>
                      <a:endParaRPr kumimoji="1" lang="ja-JP" altLang="en-US"/>
                    </a:p>
                  </a:txBody>
                  <a:tcPr/>
                </a:tc>
                <a:tc>
                  <a:txBody>
                    <a:bodyPr/>
                    <a:lstStyle/>
                    <a:p>
                      <a:pPr algn="l" fontAlgn="t"/>
                      <a:r>
                        <a:rPr lang="en-US" sz="800" u="none" strike="noStrike">
                          <a:effectLst/>
                        </a:rPr>
                        <a:t>T1547.015: Login Items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17517734"/>
                  </a:ext>
                </a:extLst>
              </a:tr>
              <a:tr h="123646">
                <a:tc vMerge="1">
                  <a:txBody>
                    <a:bodyPr/>
                    <a:lstStyle/>
                    <a:p>
                      <a:endParaRPr kumimoji="1" lang="ja-JP" altLang="en-US"/>
                    </a:p>
                  </a:txBody>
                  <a:tcPr/>
                </a:tc>
                <a:tc>
                  <a:txBody>
                    <a:bodyPr/>
                    <a:lstStyle/>
                    <a:p>
                      <a:pPr algn="l" fontAlgn="t"/>
                      <a:r>
                        <a:rPr lang="en-US" sz="800" u="none" strike="noStrike">
                          <a:effectLst/>
                        </a:rPr>
                        <a:t>T1547.008: LSASS Driver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034487908"/>
                  </a:ext>
                </a:extLst>
              </a:tr>
              <a:tr h="123646">
                <a:tc vMerge="1">
                  <a:txBody>
                    <a:bodyPr/>
                    <a:lstStyle/>
                    <a:p>
                      <a:endParaRPr kumimoji="1" lang="ja-JP" altLang="en-US"/>
                    </a:p>
                  </a:txBody>
                  <a:tcPr/>
                </a:tc>
                <a:tc>
                  <a:txBody>
                    <a:bodyPr/>
                    <a:lstStyle/>
                    <a:p>
                      <a:pPr algn="l" fontAlgn="t"/>
                      <a:r>
                        <a:rPr lang="en-US" sz="800" u="none" strike="noStrike">
                          <a:effectLst/>
                        </a:rPr>
                        <a:t>T1547.010: Port Monitors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522538066"/>
                  </a:ext>
                </a:extLst>
              </a:tr>
              <a:tr h="123646">
                <a:tc vMerge="1">
                  <a:txBody>
                    <a:bodyPr/>
                    <a:lstStyle/>
                    <a:p>
                      <a:endParaRPr kumimoji="1" lang="ja-JP" altLang="en-US"/>
                    </a:p>
                  </a:txBody>
                  <a:tcPr/>
                </a:tc>
                <a:tc>
                  <a:txBody>
                    <a:bodyPr/>
                    <a:lstStyle/>
                    <a:p>
                      <a:pPr algn="l" fontAlgn="t"/>
                      <a:r>
                        <a:rPr lang="en-US" sz="800" u="none" strike="noStrike">
                          <a:effectLst/>
                        </a:rPr>
                        <a:t>T1547.012: Print Processors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28351035"/>
                  </a:ext>
                </a:extLst>
              </a:tr>
              <a:tr h="178742">
                <a:tc vMerge="1">
                  <a:txBody>
                    <a:bodyPr/>
                    <a:lstStyle/>
                    <a:p>
                      <a:endParaRPr kumimoji="1" lang="ja-JP" altLang="en-US"/>
                    </a:p>
                  </a:txBody>
                  <a:tcPr/>
                </a:tc>
                <a:tc>
                  <a:txBody>
                    <a:bodyPr/>
                    <a:lstStyle/>
                    <a:p>
                      <a:pPr algn="l" fontAlgn="t"/>
                      <a:r>
                        <a:rPr lang="en-US" sz="800" u="none" strike="noStrike" dirty="0">
                          <a:effectLst/>
                        </a:rPr>
                        <a:t>T1547.007: Re-opened Applications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237867737"/>
                  </a:ext>
                </a:extLst>
              </a:tr>
              <a:tr h="74337">
                <a:tc vMerge="1">
                  <a:txBody>
                    <a:bodyPr/>
                    <a:lstStyle/>
                    <a:p>
                      <a:endParaRPr kumimoji="1" lang="ja-JP" altLang="en-US"/>
                    </a:p>
                  </a:txBody>
                  <a:tcPr/>
                </a:tc>
                <a:tc>
                  <a:txBody>
                    <a:bodyPr/>
                    <a:lstStyle/>
                    <a:p>
                      <a:pPr algn="l" fontAlgn="t"/>
                      <a:r>
                        <a:rPr lang="en-US" sz="800" u="none" strike="noStrike" dirty="0">
                          <a:effectLst/>
                          <a:highlight>
                            <a:srgbClr val="FF0000"/>
                          </a:highlight>
                        </a:rPr>
                        <a:t>T1547.001: Registry Run Keys / Startup Folder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104143"/>
                  </a:ext>
                </a:extLst>
              </a:tr>
              <a:tr h="125701">
                <a:tc vMerge="1">
                  <a:txBody>
                    <a:bodyPr/>
                    <a:lstStyle/>
                    <a:p>
                      <a:endParaRPr kumimoji="1" lang="ja-JP" altLang="en-US"/>
                    </a:p>
                  </a:txBody>
                  <a:tcPr/>
                </a:tc>
                <a:tc>
                  <a:txBody>
                    <a:bodyPr/>
                    <a:lstStyle/>
                    <a:p>
                      <a:pPr algn="l" fontAlgn="t"/>
                      <a:r>
                        <a:rPr lang="en-US" sz="800" u="none" strike="noStrike" dirty="0">
                          <a:effectLst/>
                        </a:rPr>
                        <a:t>T1547.005: Security Support Provider</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37847992"/>
                  </a:ext>
                </a:extLst>
              </a:tr>
              <a:tr h="125701">
                <a:tc vMerge="1">
                  <a:txBody>
                    <a:bodyPr/>
                    <a:lstStyle/>
                    <a:p>
                      <a:endParaRPr kumimoji="1" lang="ja-JP" altLang="en-US"/>
                    </a:p>
                  </a:txBody>
                  <a:tcPr/>
                </a:tc>
                <a:tc>
                  <a:txBody>
                    <a:bodyPr/>
                    <a:lstStyle/>
                    <a:p>
                      <a:pPr algn="l" fontAlgn="t"/>
                      <a:r>
                        <a:rPr lang="en-US" sz="800" u="none" strike="noStrike">
                          <a:effectLst/>
                        </a:rPr>
                        <a:t>T1547.009: Shortcut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6725304"/>
                  </a:ext>
                </a:extLst>
              </a:tr>
              <a:tr h="123646">
                <a:tc vMerge="1">
                  <a:txBody>
                    <a:bodyPr/>
                    <a:lstStyle/>
                    <a:p>
                      <a:endParaRPr kumimoji="1" lang="ja-JP" altLang="en-US"/>
                    </a:p>
                  </a:txBody>
                  <a:tcPr/>
                </a:tc>
                <a:tc>
                  <a:txBody>
                    <a:bodyPr/>
                    <a:lstStyle/>
                    <a:p>
                      <a:pPr algn="l" fontAlgn="t"/>
                      <a:r>
                        <a:rPr lang="en-US" sz="800" u="none" strike="noStrike">
                          <a:effectLst/>
                        </a:rPr>
                        <a:t>T1547.003: Time Providers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7306960"/>
                  </a:ext>
                </a:extLst>
              </a:tr>
              <a:tr h="125701">
                <a:tc vMerge="1">
                  <a:txBody>
                    <a:bodyPr/>
                    <a:lstStyle/>
                    <a:p>
                      <a:endParaRPr kumimoji="1" lang="ja-JP" altLang="en-US"/>
                    </a:p>
                  </a:txBody>
                  <a:tcPr/>
                </a:tc>
                <a:tc>
                  <a:txBody>
                    <a:bodyPr/>
                    <a:lstStyle/>
                    <a:p>
                      <a:pPr algn="l" fontAlgn="t"/>
                      <a:r>
                        <a:rPr lang="en-US" sz="800" u="none" strike="noStrike">
                          <a:effectLst/>
                        </a:rPr>
                        <a:t>T1547.004: Winlogon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908844117"/>
                  </a:ext>
                </a:extLst>
              </a:tr>
              <a:tr h="125701">
                <a:tc vMerge="1">
                  <a:txBody>
                    <a:bodyPr/>
                    <a:lstStyle/>
                    <a:p>
                      <a:endParaRPr kumimoji="1" lang="ja-JP" altLang="en-US"/>
                    </a:p>
                  </a:txBody>
                  <a:tcPr/>
                </a:tc>
                <a:tc>
                  <a:txBody>
                    <a:bodyPr/>
                    <a:lstStyle/>
                    <a:p>
                      <a:pPr algn="l" fontAlgn="t"/>
                      <a:r>
                        <a:rPr lang="en-US" sz="800" u="none" strike="noStrike">
                          <a:effectLst/>
                        </a:rPr>
                        <a:t>T1547.013: XDG Autostart Entries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99505568"/>
                  </a:ext>
                </a:extLst>
              </a:tr>
              <a:tr h="125701">
                <a:tc>
                  <a:txBody>
                    <a:bodyPr/>
                    <a:lstStyle/>
                    <a:p>
                      <a:pPr algn="l" fontAlgn="t"/>
                      <a:r>
                        <a:rPr lang="en-US" sz="800" u="none" strike="noStrike">
                          <a:effectLst/>
                        </a:rPr>
                        <a:t>T1037: Boot or Logon Initialization Scripts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3776063745"/>
                  </a:ext>
                </a:extLst>
              </a:tr>
              <a:tr h="123646">
                <a:tc rowSpan="5">
                  <a:txBody>
                    <a:bodyPr/>
                    <a:lstStyle/>
                    <a:p>
                      <a:pPr algn="l" fontAlgn="t"/>
                      <a:r>
                        <a:rPr lang="en-US" sz="800" u="none" strike="noStrike">
                          <a:effectLst/>
                        </a:rPr>
                        <a:t>T1543: Create or Modify System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T1543.005: Container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44448264"/>
                  </a:ext>
                </a:extLst>
              </a:tr>
              <a:tr h="123646">
                <a:tc vMerge="1">
                  <a:txBody>
                    <a:bodyPr/>
                    <a:lstStyle/>
                    <a:p>
                      <a:endParaRPr kumimoji="1" lang="ja-JP" altLang="en-US"/>
                    </a:p>
                  </a:txBody>
                  <a:tcPr/>
                </a:tc>
                <a:tc>
                  <a:txBody>
                    <a:bodyPr/>
                    <a:lstStyle/>
                    <a:p>
                      <a:pPr algn="l" fontAlgn="t"/>
                      <a:r>
                        <a:rPr lang="en-US" sz="800" u="none" strike="noStrike">
                          <a:effectLst/>
                        </a:rPr>
                        <a:t>T1543.001: Launch Agent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85442361"/>
                  </a:ext>
                </a:extLst>
              </a:tr>
              <a:tr h="123646">
                <a:tc vMerge="1">
                  <a:txBody>
                    <a:bodyPr/>
                    <a:lstStyle/>
                    <a:p>
                      <a:endParaRPr kumimoji="1" lang="ja-JP" altLang="en-US"/>
                    </a:p>
                  </a:txBody>
                  <a:tcPr/>
                </a:tc>
                <a:tc>
                  <a:txBody>
                    <a:bodyPr/>
                    <a:lstStyle/>
                    <a:p>
                      <a:pPr algn="l" fontAlgn="t"/>
                      <a:r>
                        <a:rPr lang="en-US" sz="800" u="none" strike="noStrike">
                          <a:effectLst/>
                        </a:rPr>
                        <a:t>T1543.004: Launch Daemon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899546423"/>
                  </a:ext>
                </a:extLst>
              </a:tr>
              <a:tr h="123646">
                <a:tc vMerge="1">
                  <a:txBody>
                    <a:bodyPr/>
                    <a:lstStyle/>
                    <a:p>
                      <a:endParaRPr kumimoji="1" lang="ja-JP" altLang="en-US"/>
                    </a:p>
                  </a:txBody>
                  <a:tcPr/>
                </a:tc>
                <a:tc>
                  <a:txBody>
                    <a:bodyPr/>
                    <a:lstStyle/>
                    <a:p>
                      <a:pPr algn="l" fontAlgn="t"/>
                      <a:r>
                        <a:rPr lang="en-US" sz="800" u="none" strike="noStrike">
                          <a:effectLst/>
                        </a:rPr>
                        <a:t>T1543.002: Systemd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777343806"/>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T1543.003: Windows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53247522"/>
                  </a:ext>
                </a:extLst>
              </a:tr>
              <a:tr h="125701">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8254311"/>
                  </a:ext>
                </a:extLst>
              </a:tr>
              <a:tr h="123646">
                <a:tc vMerge="1">
                  <a:txBody>
                    <a:bodyPr/>
                    <a:lstStyle/>
                    <a:p>
                      <a:endParaRPr kumimoji="1" lang="ja-JP" altLang="en-US"/>
                    </a:p>
                  </a:txBody>
                  <a:tcPr/>
                </a:tc>
                <a:tc>
                  <a:txBody>
                    <a:bodyPr/>
                    <a:lstStyle/>
                    <a:p>
                      <a:pPr algn="l" fontAlgn="t"/>
                      <a:r>
                        <a:rPr lang="en-US" sz="800" u="none" strike="noStrike">
                          <a:effectLst/>
                        </a:rPr>
                        <a:t>T1484.002: Trust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321632220"/>
                  </a:ext>
                </a:extLst>
              </a:tr>
              <a:tr h="123646">
                <a:tc>
                  <a:txBody>
                    <a:bodyPr/>
                    <a:lstStyle/>
                    <a:p>
                      <a:pPr algn="l" fontAlgn="t"/>
                      <a:r>
                        <a:rPr lang="en-US" sz="800" u="none" strike="noStrike">
                          <a:effectLst/>
                        </a:rPr>
                        <a:t>T1611: Escape to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886090264"/>
                  </a:ext>
                </a:extLst>
              </a:tr>
              <a:tr h="125701">
                <a:tc rowSpan="18">
                  <a:txBody>
                    <a:bodyPr/>
                    <a:lstStyle/>
                    <a:p>
                      <a:pPr algn="l" fontAlgn="t"/>
                      <a:r>
                        <a:rPr lang="en-US" sz="800" u="none" strike="noStrike" dirty="0">
                          <a:effectLst/>
                        </a:rPr>
                        <a:t>T1546: Event Triggered Execution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dirty="0">
                          <a:effectLst/>
                          <a:highlight>
                            <a:srgbClr val="FF0000"/>
                          </a:highlight>
                        </a:rPr>
                        <a:t>T1546.008: Accessibility Features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00347087"/>
                  </a:ext>
                </a:extLst>
              </a:tr>
              <a:tr h="123646">
                <a:tc vMerge="1">
                  <a:txBody>
                    <a:bodyPr/>
                    <a:lstStyle/>
                    <a:p>
                      <a:endParaRPr kumimoji="1" lang="ja-JP" altLang="en-US"/>
                    </a:p>
                  </a:txBody>
                  <a:tcPr/>
                </a:tc>
                <a:tc>
                  <a:txBody>
                    <a:bodyPr/>
                    <a:lstStyle/>
                    <a:p>
                      <a:pPr algn="l" fontAlgn="t"/>
                      <a:r>
                        <a:rPr lang="en-US" sz="800" u="none" strike="noStrike">
                          <a:effectLst/>
                        </a:rPr>
                        <a:t>T1546.009: AppCert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846621593"/>
                  </a:ext>
                </a:extLst>
              </a:tr>
              <a:tr h="123646">
                <a:tc vMerge="1">
                  <a:txBody>
                    <a:bodyPr/>
                    <a:lstStyle/>
                    <a:p>
                      <a:endParaRPr kumimoji="1" lang="ja-JP" altLang="en-US"/>
                    </a:p>
                  </a:txBody>
                  <a:tcPr/>
                </a:tc>
                <a:tc>
                  <a:txBody>
                    <a:bodyPr/>
                    <a:lstStyle/>
                    <a:p>
                      <a:pPr algn="l" fontAlgn="t"/>
                      <a:r>
                        <a:rPr lang="en-US" sz="800" u="none" strike="noStrike">
                          <a:effectLst/>
                        </a:rPr>
                        <a:t>T1546.010: AppInit DLLs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83009708"/>
                  </a:ext>
                </a:extLst>
              </a:tr>
              <a:tr h="125701">
                <a:tc vMerge="1">
                  <a:txBody>
                    <a:bodyPr/>
                    <a:lstStyle/>
                    <a:p>
                      <a:endParaRPr kumimoji="1" lang="ja-JP" altLang="en-US"/>
                    </a:p>
                  </a:txBody>
                  <a:tcPr/>
                </a:tc>
                <a:tc>
                  <a:txBody>
                    <a:bodyPr/>
                    <a:lstStyle/>
                    <a:p>
                      <a:pPr algn="l" fontAlgn="t"/>
                      <a:r>
                        <a:rPr lang="en-US" sz="800" u="none" strike="noStrike">
                          <a:effectLst/>
                        </a:rPr>
                        <a:t>T1546.011: Application Shimming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108081244"/>
                  </a:ext>
                </a:extLst>
              </a:tr>
              <a:tr h="125701">
                <a:tc vMerge="1">
                  <a:txBody>
                    <a:bodyPr/>
                    <a:lstStyle/>
                    <a:p>
                      <a:endParaRPr kumimoji="1" lang="ja-JP" altLang="en-US"/>
                    </a:p>
                  </a:txBody>
                  <a:tcPr/>
                </a:tc>
                <a:tc>
                  <a:txBody>
                    <a:bodyPr/>
                    <a:lstStyle/>
                    <a:p>
                      <a:pPr algn="l" fontAlgn="t"/>
                      <a:r>
                        <a:rPr lang="fr-FR" sz="800" u="none" strike="noStrike">
                          <a:effectLst/>
                        </a:rPr>
                        <a:t>T1546.001: Change Default File Association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33866239"/>
                  </a:ext>
                </a:extLst>
              </a:tr>
              <a:tr h="125701">
                <a:tc vMerge="1">
                  <a:txBody>
                    <a:bodyPr/>
                    <a:lstStyle/>
                    <a:p>
                      <a:endParaRPr kumimoji="1" lang="ja-JP" altLang="en-US"/>
                    </a:p>
                  </a:txBody>
                  <a:tcPr/>
                </a:tc>
                <a:tc>
                  <a:txBody>
                    <a:bodyPr/>
                    <a:lstStyle/>
                    <a:p>
                      <a:pPr algn="l" fontAlgn="t"/>
                      <a:r>
                        <a:rPr lang="en-US" sz="800" u="none" strike="noStrike">
                          <a:effectLst/>
                        </a:rPr>
                        <a:t>T1546.015: Component Object Model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84976430"/>
                  </a:ext>
                </a:extLst>
              </a:tr>
              <a:tr h="123646">
                <a:tc vMerge="1">
                  <a:txBody>
                    <a:bodyPr/>
                    <a:lstStyle/>
                    <a:p>
                      <a:endParaRPr kumimoji="1" lang="ja-JP" altLang="en-US"/>
                    </a:p>
                  </a:txBody>
                  <a:tcPr/>
                </a:tc>
                <a:tc>
                  <a:txBody>
                    <a:bodyPr/>
                    <a:lstStyle/>
                    <a:p>
                      <a:pPr algn="l" fontAlgn="t"/>
                      <a:r>
                        <a:rPr lang="en-US" sz="800" u="none" strike="noStrike">
                          <a:effectLst/>
                        </a:rPr>
                        <a:t>T1546.014: Emond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434937859"/>
                  </a:ext>
                </a:extLst>
              </a:tr>
              <a:tr h="125701">
                <a:tc vMerge="1">
                  <a:txBody>
                    <a:bodyPr/>
                    <a:lstStyle/>
                    <a:p>
                      <a:endParaRPr kumimoji="1" lang="ja-JP" altLang="en-US"/>
                    </a:p>
                  </a:txBody>
                  <a:tcPr/>
                </a:tc>
                <a:tc>
                  <a:txBody>
                    <a:bodyPr/>
                    <a:lstStyle/>
                    <a:p>
                      <a:pPr algn="l" fontAlgn="t"/>
                      <a:r>
                        <a:rPr lang="fr-FR" sz="800" u="none" strike="noStrike">
                          <a:effectLst/>
                        </a:rPr>
                        <a:t>T1546.012: Image File Execution Options Injection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81369740"/>
                  </a:ext>
                </a:extLst>
              </a:tr>
              <a:tr h="123646">
                <a:tc vMerge="1">
                  <a:txBody>
                    <a:bodyPr/>
                    <a:lstStyle/>
                    <a:p>
                      <a:endParaRPr kumimoji="1" lang="ja-JP" altLang="en-US"/>
                    </a:p>
                  </a:txBody>
                  <a:tcPr/>
                </a:tc>
                <a:tc>
                  <a:txBody>
                    <a:bodyPr/>
                    <a:lstStyle/>
                    <a:p>
                      <a:pPr algn="l" fontAlgn="t"/>
                      <a:r>
                        <a:rPr lang="en-US" sz="800" u="none" strike="noStrike">
                          <a:effectLst/>
                        </a:rPr>
                        <a:t>T1546.016: Installer Packages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95347681"/>
                  </a:ext>
                </a:extLst>
              </a:tr>
              <a:tr h="125701">
                <a:tc vMerge="1">
                  <a:txBody>
                    <a:bodyPr/>
                    <a:lstStyle/>
                    <a:p>
                      <a:endParaRPr kumimoji="1" lang="ja-JP" altLang="en-US"/>
                    </a:p>
                  </a:txBody>
                  <a:tcPr/>
                </a:tc>
                <a:tc>
                  <a:txBody>
                    <a:bodyPr/>
                    <a:lstStyle/>
                    <a:p>
                      <a:pPr algn="l" fontAlgn="t"/>
                      <a:r>
                        <a:rPr lang="en-US" sz="800" u="none" strike="noStrike">
                          <a:effectLst/>
                        </a:rPr>
                        <a:t>T1546.006: LC_LOAD_DYLIB Addition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139299978"/>
                  </a:ext>
                </a:extLst>
              </a:tr>
              <a:tr h="123646">
                <a:tc vMerge="1">
                  <a:txBody>
                    <a:bodyPr/>
                    <a:lstStyle/>
                    <a:p>
                      <a:endParaRPr kumimoji="1" lang="ja-JP" altLang="en-US"/>
                    </a:p>
                  </a:txBody>
                  <a:tcPr/>
                </a:tc>
                <a:tc>
                  <a:txBody>
                    <a:bodyPr/>
                    <a:lstStyle/>
                    <a:p>
                      <a:pPr algn="l" fontAlgn="t"/>
                      <a:r>
                        <a:rPr lang="en-US" sz="800" u="none" strike="noStrike">
                          <a:effectLst/>
                        </a:rPr>
                        <a:t>T1546.007: Netsh Helper DLL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43807433"/>
                  </a:ext>
                </a:extLst>
              </a:tr>
              <a:tr h="123646">
                <a:tc vMerge="1">
                  <a:txBody>
                    <a:bodyPr/>
                    <a:lstStyle/>
                    <a:p>
                      <a:endParaRPr kumimoji="1" lang="ja-JP" altLang="en-US"/>
                    </a:p>
                  </a:txBody>
                  <a:tcPr/>
                </a:tc>
                <a:tc>
                  <a:txBody>
                    <a:bodyPr/>
                    <a:lstStyle/>
                    <a:p>
                      <a:pPr algn="l" fontAlgn="t"/>
                      <a:r>
                        <a:rPr lang="en-US" sz="800" u="none" strike="noStrike">
                          <a:effectLst/>
                        </a:rPr>
                        <a:t>T1546.013: PowerShell Profile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44170207"/>
                  </a:ext>
                </a:extLst>
              </a:tr>
              <a:tr h="125701">
                <a:tc vMerge="1">
                  <a:txBody>
                    <a:bodyPr/>
                    <a:lstStyle/>
                    <a:p>
                      <a:endParaRPr kumimoji="1" lang="ja-JP" altLang="en-US"/>
                    </a:p>
                  </a:txBody>
                  <a:tcPr/>
                </a:tc>
                <a:tc>
                  <a:txBody>
                    <a:bodyPr/>
                    <a:lstStyle/>
                    <a:p>
                      <a:pPr algn="l" fontAlgn="t"/>
                      <a:r>
                        <a:rPr lang="en-US" sz="800" u="none" strike="noStrike">
                          <a:effectLst/>
                        </a:rPr>
                        <a:t>T1546.018: Python Startup Hooks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900749211"/>
                  </a:ext>
                </a:extLst>
              </a:tr>
              <a:tr h="123646">
                <a:tc vMerge="1">
                  <a:txBody>
                    <a:bodyPr/>
                    <a:lstStyle/>
                    <a:p>
                      <a:endParaRPr kumimoji="1" lang="ja-JP" altLang="en-US"/>
                    </a:p>
                  </a:txBody>
                  <a:tcPr/>
                </a:tc>
                <a:tc>
                  <a:txBody>
                    <a:bodyPr/>
                    <a:lstStyle/>
                    <a:p>
                      <a:pPr algn="l" fontAlgn="t"/>
                      <a:r>
                        <a:rPr lang="en-US" sz="800" u="none" strike="noStrike">
                          <a:effectLst/>
                        </a:rPr>
                        <a:t>T1546.002: Screensaver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545143137"/>
                  </a:ext>
                </a:extLst>
              </a:tr>
              <a:tr h="123646">
                <a:tc vMerge="1">
                  <a:txBody>
                    <a:bodyPr/>
                    <a:lstStyle/>
                    <a:p>
                      <a:endParaRPr kumimoji="1" lang="ja-JP" altLang="en-US"/>
                    </a:p>
                  </a:txBody>
                  <a:tcPr/>
                </a:tc>
                <a:tc>
                  <a:txBody>
                    <a:bodyPr/>
                    <a:lstStyle/>
                    <a:p>
                      <a:pPr algn="l" fontAlgn="t"/>
                      <a:r>
                        <a:rPr lang="en-US" sz="800" u="none" strike="noStrike">
                          <a:effectLst/>
                        </a:rPr>
                        <a:t>T1546.005: Trap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313529667"/>
                  </a:ext>
                </a:extLst>
              </a:tr>
              <a:tr h="123646">
                <a:tc vMerge="1">
                  <a:txBody>
                    <a:bodyPr/>
                    <a:lstStyle/>
                    <a:p>
                      <a:endParaRPr kumimoji="1" lang="ja-JP" altLang="en-US"/>
                    </a:p>
                  </a:txBody>
                  <a:tcPr/>
                </a:tc>
                <a:tc>
                  <a:txBody>
                    <a:bodyPr/>
                    <a:lstStyle/>
                    <a:p>
                      <a:pPr algn="l" fontAlgn="t"/>
                      <a:r>
                        <a:rPr lang="en-US" sz="800" u="none" strike="noStrike">
                          <a:effectLst/>
                        </a:rPr>
                        <a:t>T1546.017: Udev Rules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089000026"/>
                  </a:ext>
                </a:extLst>
              </a:tr>
              <a:tr h="125701">
                <a:tc vMerge="1">
                  <a:txBody>
                    <a:bodyPr/>
                    <a:lstStyle/>
                    <a:p>
                      <a:endParaRPr kumimoji="1" lang="ja-JP" altLang="en-US"/>
                    </a:p>
                  </a:txBody>
                  <a:tcPr/>
                </a:tc>
                <a:tc>
                  <a:txBody>
                    <a:bodyPr/>
                    <a:lstStyle/>
                    <a:p>
                      <a:pPr algn="l" fontAlgn="t"/>
                      <a:r>
                        <a:rPr lang="fr-FR" sz="800" u="none" strike="noStrike">
                          <a:effectLst/>
                        </a:rPr>
                        <a:t>T1546.004: Unix Shell Configuration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52175703"/>
                  </a:ext>
                </a:extLst>
              </a:tr>
              <a:tr h="245587">
                <a:tc vMerge="1">
                  <a:txBody>
                    <a:bodyPr/>
                    <a:lstStyle/>
                    <a:p>
                      <a:endParaRPr kumimoji="1" lang="ja-JP" altLang="en-US"/>
                    </a:p>
                  </a:txBody>
                  <a:tcPr/>
                </a:tc>
                <a:tc>
                  <a:txBody>
                    <a:bodyPr/>
                    <a:lstStyle/>
                    <a:p>
                      <a:pPr algn="l" fontAlgn="t"/>
                      <a:r>
                        <a:rPr lang="en-US" sz="800" u="none" strike="noStrike">
                          <a:effectLst/>
                        </a:rPr>
                        <a:t>T1546.003: Windows Management Instrumentation Event Subscription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697288631"/>
                  </a:ext>
                </a:extLst>
              </a:tr>
              <a:tr h="123646">
                <a:tc gridSpan="2">
                  <a:txBody>
                    <a:bodyPr/>
                    <a:lstStyle/>
                    <a:p>
                      <a:pPr algn="l" fontAlgn="t"/>
                      <a:r>
                        <a:rPr lang="fr-FR" sz="800" u="none" strike="noStrike">
                          <a:effectLst/>
                        </a:rPr>
                        <a:t>T1068: Exploitation for Privilege Escalation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hMerge="1">
                  <a:txBody>
                    <a:bodyPr/>
                    <a:lstStyle/>
                    <a:p>
                      <a:endParaRPr kumimoji="1" lang="ja-JP" altLang="en-US"/>
                    </a:p>
                  </a:txBody>
                  <a:tcPr/>
                </a:tc>
                <a:extLst>
                  <a:ext uri="{0D108BD9-81ED-4DB2-BD59-A6C34878D82A}">
                    <a16:rowId xmlns:a16="http://schemas.microsoft.com/office/drawing/2014/main" val="576401813"/>
                  </a:ext>
                </a:extLst>
              </a:tr>
              <a:tr h="123646">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15836688"/>
                  </a:ext>
                </a:extLst>
              </a:tr>
              <a:tr h="123646">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05484555"/>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37092578"/>
                  </a:ext>
                </a:extLst>
              </a:tr>
              <a:tr h="123646">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9160318"/>
                  </a:ext>
                </a:extLst>
              </a:tr>
              <a:tr h="125701">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258560596"/>
                  </a:ext>
                </a:extLst>
              </a:tr>
              <a:tr h="125701">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048232283"/>
                  </a:ext>
                </a:extLst>
              </a:tr>
              <a:tr h="123646">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65651169"/>
                  </a:ext>
                </a:extLst>
              </a:tr>
              <a:tr h="125701">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700145217"/>
                  </a:ext>
                </a:extLst>
              </a:tr>
              <a:tr h="125701">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3548441745"/>
                  </a:ext>
                </a:extLst>
              </a:tr>
              <a:tr h="125701">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098575"/>
                  </a:ext>
                </a:extLst>
              </a:tr>
              <a:tr h="125701">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352098171"/>
                  </a:ext>
                </a:extLst>
              </a:tr>
              <a:tr h="125701">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605135143"/>
                  </a:ext>
                </a:extLst>
              </a:tr>
              <a:tr h="123646">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772615288"/>
                  </a:ext>
                </a:extLst>
              </a:tr>
              <a:tr h="123646">
                <a:tc rowSpan="5">
                  <a:txBody>
                    <a:bodyPr/>
                    <a:lstStyle/>
                    <a:p>
                      <a:pPr algn="l" fontAlgn="t"/>
                      <a:r>
                        <a:rPr lang="en-US" sz="800" u="none" strike="noStrike">
                          <a:effectLst/>
                        </a:rPr>
                        <a:t>T1053: Scheduled Task/Job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t"/>
                      <a:r>
                        <a:rPr lang="en-US" sz="800" u="none" strike="noStrike">
                          <a:effectLst/>
                        </a:rPr>
                        <a:t>T1053.002: At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2257246123"/>
                  </a:ext>
                </a:extLst>
              </a:tr>
              <a:tr h="125701">
                <a:tc vMerge="1">
                  <a:txBody>
                    <a:bodyPr/>
                    <a:lstStyle/>
                    <a:p>
                      <a:endParaRPr kumimoji="1" lang="ja-JP" altLang="en-US"/>
                    </a:p>
                  </a:txBody>
                  <a:tcPr/>
                </a:tc>
                <a:tc>
                  <a:txBody>
                    <a:bodyPr/>
                    <a:lstStyle/>
                    <a:p>
                      <a:pPr algn="l" fontAlgn="t"/>
                      <a:r>
                        <a:rPr lang="en-US" sz="800" u="none" strike="noStrike">
                          <a:effectLst/>
                        </a:rPr>
                        <a:t>T1053.007: Container Orchestration Job</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44465103"/>
                  </a:ext>
                </a:extLst>
              </a:tr>
              <a:tr h="123646">
                <a:tc vMerge="1">
                  <a:txBody>
                    <a:bodyPr/>
                    <a:lstStyle/>
                    <a:p>
                      <a:endParaRPr kumimoji="1" lang="ja-JP" altLang="en-US"/>
                    </a:p>
                  </a:txBody>
                  <a:tcPr/>
                </a:tc>
                <a:tc>
                  <a:txBody>
                    <a:bodyPr/>
                    <a:lstStyle/>
                    <a:p>
                      <a:pPr algn="l" fontAlgn="t"/>
                      <a:r>
                        <a:rPr lang="en-US" sz="800" u="none" strike="noStrike">
                          <a:effectLst/>
                        </a:rPr>
                        <a:t>T1053.003: Cron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694689840"/>
                  </a:ext>
                </a:extLst>
              </a:tr>
              <a:tr h="123646">
                <a:tc vMerge="1">
                  <a:txBody>
                    <a:bodyPr/>
                    <a:lstStyle/>
                    <a:p>
                      <a:endParaRPr kumimoji="1" lang="ja-JP" altLang="en-US"/>
                    </a:p>
                  </a:txBody>
                  <a:tcPr/>
                </a:tc>
                <a:tc>
                  <a:txBody>
                    <a:bodyPr/>
                    <a:lstStyle/>
                    <a:p>
                      <a:pPr algn="l" fontAlgn="t"/>
                      <a:r>
                        <a:rPr lang="en-US" sz="800" u="none" strike="noStrike" dirty="0">
                          <a:effectLst/>
                          <a:highlight>
                            <a:srgbClr val="FF0000"/>
                          </a:highlight>
                        </a:rPr>
                        <a:t>T1053.005: Scheduled Task</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4058004314"/>
                  </a:ext>
                </a:extLst>
              </a:tr>
              <a:tr h="123646">
                <a:tc vMerge="1">
                  <a:txBody>
                    <a:bodyPr/>
                    <a:lstStyle/>
                    <a:p>
                      <a:endParaRPr kumimoji="1" lang="ja-JP" altLang="en-US"/>
                    </a:p>
                  </a:txBody>
                  <a:tcPr/>
                </a:tc>
                <a:tc>
                  <a:txBody>
                    <a:bodyPr/>
                    <a:lstStyle/>
                    <a:p>
                      <a:pPr algn="l" fontAlgn="t"/>
                      <a:r>
                        <a:rPr lang="en-US" sz="800" u="none" strike="noStrike" dirty="0">
                          <a:effectLst/>
                        </a:rPr>
                        <a:t>T1053.006: </a:t>
                      </a:r>
                      <a:r>
                        <a:rPr lang="en-US" sz="800" u="none" strike="noStrike" dirty="0" err="1">
                          <a:effectLst/>
                        </a:rPr>
                        <a:t>Systemd</a:t>
                      </a:r>
                      <a:r>
                        <a:rPr lang="en-US" sz="800" u="none" strike="noStrike" dirty="0">
                          <a:effectLst/>
                        </a:rPr>
                        <a:t> Timers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extLst>
                  <a:ext uri="{0D108BD9-81ED-4DB2-BD59-A6C34878D82A}">
                    <a16:rowId xmlns:a16="http://schemas.microsoft.com/office/drawing/2014/main" val="1772822784"/>
                  </a:ext>
                </a:extLst>
              </a:tr>
              <a:tr h="123646">
                <a:tc>
                  <a:txBody>
                    <a:bodyPr/>
                    <a:lstStyle/>
                    <a:p>
                      <a:pPr algn="l" fontAlgn="t"/>
                      <a:r>
                        <a:rPr lang="en-US" sz="800" u="none" strike="noStrike">
                          <a:effectLst/>
                        </a:rPr>
                        <a:t>T1078: Valid Accounts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1705" marR="1705" marT="1705" marB="0" anchor="b"/>
                </a:tc>
                <a:extLst>
                  <a:ext uri="{0D108BD9-81ED-4DB2-BD59-A6C34878D82A}">
                    <a16:rowId xmlns:a16="http://schemas.microsoft.com/office/drawing/2014/main" val="1253808594"/>
                  </a:ext>
                </a:extLst>
              </a:tr>
            </a:tbl>
          </a:graphicData>
        </a:graphic>
      </p:graphicFrame>
      <p:graphicFrame>
        <p:nvGraphicFramePr>
          <p:cNvPr id="5" name="表 4">
            <a:extLst>
              <a:ext uri="{FF2B5EF4-FFF2-40B4-BE49-F238E27FC236}">
                <a16:creationId xmlns:a16="http://schemas.microsoft.com/office/drawing/2014/main" id="{B0A7DF72-CD6C-4028-9FCD-82CB1C9D5360}"/>
              </a:ext>
            </a:extLst>
          </p:cNvPr>
          <p:cNvGraphicFramePr>
            <a:graphicFrameLocks noGrp="1"/>
          </p:cNvGraphicFramePr>
          <p:nvPr>
            <p:extLst>
              <p:ext uri="{D42A27DB-BD31-4B8C-83A1-F6EECF244321}">
                <p14:modId xmlns:p14="http://schemas.microsoft.com/office/powerpoint/2010/main" val="3543861855"/>
              </p:ext>
            </p:extLst>
          </p:nvPr>
        </p:nvGraphicFramePr>
        <p:xfrm>
          <a:off x="5776912" y="-1"/>
          <a:ext cx="6421373" cy="16344237"/>
        </p:xfrm>
        <a:graphic>
          <a:graphicData uri="http://schemas.openxmlformats.org/drawingml/2006/table">
            <a:tbl>
              <a:tblPr>
                <a:tableStyleId>{5C22544A-7EE6-4342-B048-85BDC9FD1C3A}</a:tableStyleId>
              </a:tblPr>
              <a:tblGrid>
                <a:gridCol w="3207544">
                  <a:extLst>
                    <a:ext uri="{9D8B030D-6E8A-4147-A177-3AD203B41FA5}">
                      <a16:colId xmlns:a16="http://schemas.microsoft.com/office/drawing/2014/main" val="4207194539"/>
                    </a:ext>
                  </a:extLst>
                </a:gridCol>
                <a:gridCol w="3213829">
                  <a:extLst>
                    <a:ext uri="{9D8B030D-6E8A-4147-A177-3AD203B41FA5}">
                      <a16:colId xmlns:a16="http://schemas.microsoft.com/office/drawing/2014/main" val="4250433313"/>
                    </a:ext>
                  </a:extLst>
                </a:gridCol>
              </a:tblGrid>
              <a:tr h="122412">
                <a:tc gridSpan="2">
                  <a:txBody>
                    <a:bodyPr/>
                    <a:lstStyle/>
                    <a:p>
                      <a:pPr algn="ctr" fontAlgn="b"/>
                      <a:r>
                        <a:rPr lang="en-US" sz="800" u="none" strike="noStrike" dirty="0">
                          <a:effectLst/>
                        </a:rPr>
                        <a:t>TA0005: Defense Evasion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3694172829"/>
                  </a:ext>
                </a:extLst>
              </a:tr>
              <a:tr h="122412">
                <a:tc gridSpan="2">
                  <a:txBody>
                    <a:bodyPr/>
                    <a:lstStyle/>
                    <a:p>
                      <a:pPr algn="l" fontAlgn="t"/>
                      <a:r>
                        <a:rPr lang="en-US" sz="800" u="none" strike="noStrike" dirty="0">
                          <a:effectLst/>
                        </a:rPr>
                        <a:t>T1548: Abuse Elevation Control Mechanism</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867192663"/>
                  </a:ext>
                </a:extLst>
              </a:tr>
              <a:tr h="122412">
                <a:tc>
                  <a:txBody>
                    <a:bodyPr/>
                    <a:lstStyle/>
                    <a:p>
                      <a:pPr algn="l" fontAlgn="t"/>
                      <a:r>
                        <a:rPr lang="en-US" sz="800" u="none" strike="noStrike">
                          <a:effectLst/>
                          <a:highlight>
                            <a:srgbClr val="FF0000"/>
                          </a:highlight>
                        </a:rPr>
                        <a:t>T1134: Access Token Manipulation</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1560003"/>
                  </a:ext>
                </a:extLst>
              </a:tr>
              <a:tr h="122412">
                <a:tc>
                  <a:txBody>
                    <a:bodyPr/>
                    <a:lstStyle/>
                    <a:p>
                      <a:pPr algn="l" fontAlgn="t"/>
                      <a:r>
                        <a:rPr lang="en-US" sz="800" u="none" strike="noStrike" dirty="0">
                          <a:effectLst/>
                          <a:highlight>
                            <a:srgbClr val="FF0000"/>
                          </a:highlight>
                        </a:rPr>
                        <a:t>T1197: BITS Jobs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162097065"/>
                  </a:ext>
                </a:extLst>
              </a:tr>
              <a:tr h="122412">
                <a:tc>
                  <a:txBody>
                    <a:bodyPr/>
                    <a:lstStyle/>
                    <a:p>
                      <a:pPr algn="l" fontAlgn="t"/>
                      <a:r>
                        <a:rPr lang="en-US" sz="800" u="none" strike="noStrike">
                          <a:effectLst/>
                        </a:rPr>
                        <a:t>T1612: Build Image on Host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641715"/>
                  </a:ext>
                </a:extLst>
              </a:tr>
              <a:tr h="122412">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191941805"/>
                  </a:ext>
                </a:extLst>
              </a:tr>
              <a:tr h="122412">
                <a:tc>
                  <a:txBody>
                    <a:bodyPr/>
                    <a:lstStyle/>
                    <a:p>
                      <a:pPr algn="l" fontAlgn="t"/>
                      <a:r>
                        <a:rPr lang="en-US" sz="800" u="none" strike="noStrike">
                          <a:effectLst/>
                        </a:rPr>
                        <a:t>T1678: Delay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315807448"/>
                  </a:ext>
                </a:extLst>
              </a:tr>
              <a:tr h="122412">
                <a:tc>
                  <a:txBody>
                    <a:bodyPr/>
                    <a:lstStyle/>
                    <a:p>
                      <a:pPr algn="l" fontAlgn="t"/>
                      <a:r>
                        <a:rPr lang="fr-FR" sz="800" u="none" strike="noStrike" dirty="0">
                          <a:effectLst/>
                          <a:highlight>
                            <a:srgbClr val="FF0000"/>
                          </a:highlight>
                        </a:rPr>
                        <a:t>T1140: Deobfuscate/Decode Files or Information</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97932911"/>
                  </a:ext>
                </a:extLst>
              </a:tr>
              <a:tr h="122412">
                <a:tc>
                  <a:txBody>
                    <a:bodyPr/>
                    <a:lstStyle/>
                    <a:p>
                      <a:pPr algn="l" fontAlgn="t"/>
                      <a:r>
                        <a:rPr lang="en-US" sz="800" u="none" strike="noStrike">
                          <a:effectLst/>
                        </a:rPr>
                        <a:t>T1610: Deploy Container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886486"/>
                  </a:ext>
                </a:extLst>
              </a:tr>
              <a:tr h="122412">
                <a:tc>
                  <a:txBody>
                    <a:bodyPr/>
                    <a:lstStyle/>
                    <a:p>
                      <a:pPr algn="l" fontAlgn="t"/>
                      <a:r>
                        <a:rPr lang="en-US" sz="800" u="none" strike="noStrike">
                          <a:effectLst/>
                        </a:rPr>
                        <a:t>T1006: Direct Volume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48159193"/>
                  </a:ext>
                </a:extLst>
              </a:tr>
              <a:tr h="122412">
                <a:tc rowSpan="2">
                  <a:txBody>
                    <a:bodyPr/>
                    <a:lstStyle/>
                    <a:p>
                      <a:pPr algn="l" fontAlgn="t"/>
                      <a:r>
                        <a:rPr lang="fr-FR" sz="800" u="none" strike="noStrike">
                          <a:effectLst/>
                        </a:rPr>
                        <a:t>T1484: Domain or Tenant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T1484.001: Group Policy Modification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35210323"/>
                  </a:ext>
                </a:extLst>
              </a:tr>
              <a:tr h="122412">
                <a:tc vMerge="1">
                  <a:txBody>
                    <a:bodyPr/>
                    <a:lstStyle/>
                    <a:p>
                      <a:endParaRPr kumimoji="1" lang="ja-JP" altLang="en-US"/>
                    </a:p>
                  </a:txBody>
                  <a:tcPr/>
                </a:tc>
                <a:tc>
                  <a:txBody>
                    <a:bodyPr/>
                    <a:lstStyle/>
                    <a:p>
                      <a:pPr algn="l" fontAlgn="t"/>
                      <a:r>
                        <a:rPr lang="en-US" sz="800" u="none" strike="noStrike" dirty="0">
                          <a:effectLst/>
                        </a:rPr>
                        <a:t>T1484.002: Trust Modification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77058524"/>
                  </a:ext>
                </a:extLst>
              </a:tr>
              <a:tr h="122412">
                <a:tc>
                  <a:txBody>
                    <a:bodyPr/>
                    <a:lstStyle/>
                    <a:p>
                      <a:pPr algn="l" fontAlgn="t"/>
                      <a:r>
                        <a:rPr lang="en-US" sz="800" u="none" strike="noStrike">
                          <a:effectLst/>
                        </a:rPr>
                        <a:t>T1672: Email Spoofing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757742069"/>
                  </a:ext>
                </a:extLst>
              </a:tr>
              <a:tr h="122412">
                <a:tc rowSpan="2">
                  <a:txBody>
                    <a:bodyPr/>
                    <a:lstStyle/>
                    <a:p>
                      <a:pPr algn="l" fontAlgn="t"/>
                      <a:r>
                        <a:rPr lang="en-US" sz="800" u="none" strike="noStrike">
                          <a:effectLst/>
                        </a:rPr>
                        <a:t>T1480: Execution Guardrails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T1480.001: Environmental Keying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38230267"/>
                  </a:ext>
                </a:extLst>
              </a:tr>
              <a:tr h="122412">
                <a:tc vMerge="1">
                  <a:txBody>
                    <a:bodyPr/>
                    <a:lstStyle/>
                    <a:p>
                      <a:endParaRPr kumimoji="1" lang="ja-JP" altLang="en-US"/>
                    </a:p>
                  </a:txBody>
                  <a:tcPr/>
                </a:tc>
                <a:tc>
                  <a:txBody>
                    <a:bodyPr/>
                    <a:lstStyle/>
                    <a:p>
                      <a:pPr algn="l" fontAlgn="t"/>
                      <a:r>
                        <a:rPr lang="en-US" sz="800" u="none" strike="noStrike">
                          <a:effectLst/>
                        </a:rPr>
                        <a:t>T1480.002: Mutual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53027966"/>
                  </a:ext>
                </a:extLst>
              </a:tr>
              <a:tr h="122412">
                <a:tc gridSpan="2">
                  <a:txBody>
                    <a:bodyPr/>
                    <a:lstStyle/>
                    <a:p>
                      <a:pPr algn="l" fontAlgn="t"/>
                      <a:r>
                        <a:rPr lang="fr-FR" sz="800" u="none" strike="noStrike">
                          <a:effectLst/>
                        </a:rPr>
                        <a:t>T1211: Exploitation for Defense Evasion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313144605"/>
                  </a:ext>
                </a:extLst>
              </a:tr>
              <a:tr h="122412">
                <a:tc gridSpan="2">
                  <a:txBody>
                    <a:bodyPr/>
                    <a:lstStyle/>
                    <a:p>
                      <a:pPr algn="l" fontAlgn="t"/>
                      <a:r>
                        <a:rPr lang="en-US" sz="800" u="none" strike="noStrike">
                          <a:effectLst/>
                        </a:rPr>
                        <a:t>T1222: File and Directory Permissions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057613381"/>
                  </a:ext>
                </a:extLst>
              </a:tr>
              <a:tr h="122412">
                <a:tc>
                  <a:txBody>
                    <a:bodyPr/>
                    <a:lstStyle/>
                    <a:p>
                      <a:pPr algn="l" fontAlgn="t"/>
                      <a:r>
                        <a:rPr lang="en-US" sz="800" u="none" strike="noStrike">
                          <a:effectLst/>
                        </a:rPr>
                        <a:t>T1564: Hide Artifacts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7251395"/>
                  </a:ext>
                </a:extLst>
              </a:tr>
              <a:tr h="122412">
                <a:tc rowSpan="12">
                  <a:txBody>
                    <a:bodyPr/>
                    <a:lstStyle/>
                    <a:p>
                      <a:pPr algn="l" fontAlgn="t"/>
                      <a:r>
                        <a:rPr lang="en-US" sz="800" u="none" strike="noStrike" dirty="0">
                          <a:effectLst/>
                          <a:highlight>
                            <a:srgbClr val="FF0000"/>
                          </a:highlight>
                        </a:rPr>
                        <a:t>T1574: Hijack Execution Flow</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T1574.014: AppDomainManager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447452052"/>
                  </a:ext>
                </a:extLst>
              </a:tr>
              <a:tr h="122412">
                <a:tc vMerge="1">
                  <a:txBody>
                    <a:bodyPr/>
                    <a:lstStyle/>
                    <a:p>
                      <a:endParaRPr kumimoji="1" lang="ja-JP" altLang="en-US"/>
                    </a:p>
                  </a:txBody>
                  <a:tcPr/>
                </a:tc>
                <a:tc>
                  <a:txBody>
                    <a:bodyPr/>
                    <a:lstStyle/>
                    <a:p>
                      <a:pPr algn="l" fontAlgn="t"/>
                      <a:r>
                        <a:rPr lang="en-US" sz="800" u="none" strike="noStrike">
                          <a:effectLst/>
                        </a:rPr>
                        <a:t>T1574.012: COR_PROFILER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82912872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T1574.001: DLL</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84674220"/>
                  </a:ext>
                </a:extLst>
              </a:tr>
              <a:tr h="122412">
                <a:tc vMerge="1">
                  <a:txBody>
                    <a:bodyPr/>
                    <a:lstStyle/>
                    <a:p>
                      <a:endParaRPr kumimoji="1" lang="ja-JP" altLang="en-US"/>
                    </a:p>
                  </a:txBody>
                  <a:tcPr/>
                </a:tc>
                <a:tc>
                  <a:txBody>
                    <a:bodyPr/>
                    <a:lstStyle/>
                    <a:p>
                      <a:pPr algn="l" fontAlgn="t"/>
                      <a:r>
                        <a:rPr lang="en-US" sz="800" u="none" strike="noStrike">
                          <a:effectLst/>
                        </a:rPr>
                        <a:t>T1574.004: Dylib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574973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T1574.006: Dynamic Linker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0967027"/>
                  </a:ext>
                </a:extLst>
              </a:tr>
              <a:tr h="122412">
                <a:tc vMerge="1">
                  <a:txBody>
                    <a:bodyPr/>
                    <a:lstStyle/>
                    <a:p>
                      <a:endParaRPr kumimoji="1" lang="ja-JP" altLang="en-US"/>
                    </a:p>
                  </a:txBody>
                  <a:tcPr/>
                </a:tc>
                <a:tc>
                  <a:txBody>
                    <a:bodyPr/>
                    <a:lstStyle/>
                    <a:p>
                      <a:pPr algn="l" fontAlgn="t"/>
                      <a:r>
                        <a:rPr lang="en-US" sz="800" u="none" strike="noStrike">
                          <a:effectLst/>
                        </a:rPr>
                        <a:t>T1574.005: Executable Installer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4860640"/>
                  </a:ext>
                </a:extLst>
              </a:tr>
              <a:tr h="122412">
                <a:tc vMerge="1">
                  <a:txBody>
                    <a:bodyPr/>
                    <a:lstStyle/>
                    <a:p>
                      <a:endParaRPr kumimoji="1" lang="ja-JP" altLang="en-US"/>
                    </a:p>
                  </a:txBody>
                  <a:tcPr/>
                </a:tc>
                <a:tc>
                  <a:txBody>
                    <a:bodyPr/>
                    <a:lstStyle/>
                    <a:p>
                      <a:pPr algn="l" fontAlgn="t"/>
                      <a:r>
                        <a:rPr lang="en-US" sz="800" u="none" strike="noStrike">
                          <a:effectLst/>
                        </a:rPr>
                        <a:t>T1574.013: KernelCallbackTable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25221232"/>
                  </a:ext>
                </a:extLst>
              </a:tr>
              <a:tr h="122412">
                <a:tc vMerge="1">
                  <a:txBody>
                    <a:bodyPr/>
                    <a:lstStyle/>
                    <a:p>
                      <a:endParaRPr kumimoji="1" lang="ja-JP" altLang="en-US"/>
                    </a:p>
                  </a:txBody>
                  <a:tcPr/>
                </a:tc>
                <a:tc>
                  <a:txBody>
                    <a:bodyPr/>
                    <a:lstStyle/>
                    <a:p>
                      <a:pPr algn="l" fontAlgn="t"/>
                      <a:r>
                        <a:rPr lang="en-US" sz="800" u="none" strike="noStrike">
                          <a:effectLst/>
                        </a:rPr>
                        <a:t>T1574.007: Path Interception by PATH Environment Variable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4963157"/>
                  </a:ext>
                </a:extLst>
              </a:tr>
              <a:tr h="122412">
                <a:tc vMerge="1">
                  <a:txBody>
                    <a:bodyPr/>
                    <a:lstStyle/>
                    <a:p>
                      <a:endParaRPr kumimoji="1" lang="ja-JP" altLang="en-US"/>
                    </a:p>
                  </a:txBody>
                  <a:tcPr/>
                </a:tc>
                <a:tc>
                  <a:txBody>
                    <a:bodyPr/>
                    <a:lstStyle/>
                    <a:p>
                      <a:pPr algn="l" fontAlgn="t"/>
                      <a:r>
                        <a:rPr lang="en-US" sz="800" u="none" strike="noStrike">
                          <a:effectLst/>
                        </a:rPr>
                        <a:t>T1574.008: Path Interception by Search Order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7104410"/>
                  </a:ext>
                </a:extLst>
              </a:tr>
              <a:tr h="122412">
                <a:tc vMerge="1">
                  <a:txBody>
                    <a:bodyPr/>
                    <a:lstStyle/>
                    <a:p>
                      <a:endParaRPr kumimoji="1" lang="ja-JP" altLang="en-US"/>
                    </a:p>
                  </a:txBody>
                  <a:tcPr/>
                </a:tc>
                <a:tc>
                  <a:txBody>
                    <a:bodyPr/>
                    <a:lstStyle/>
                    <a:p>
                      <a:pPr algn="l" fontAlgn="t"/>
                      <a:r>
                        <a:rPr lang="en-US" sz="800" u="none" strike="noStrike">
                          <a:effectLst/>
                        </a:rPr>
                        <a:t>T1574.009: Path Interception by Unquoted Path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8903640"/>
                  </a:ext>
                </a:extLst>
              </a:tr>
              <a:tr h="122412">
                <a:tc vMerge="1">
                  <a:txBody>
                    <a:bodyPr/>
                    <a:lstStyle/>
                    <a:p>
                      <a:endParaRPr kumimoji="1" lang="ja-JP" altLang="en-US"/>
                    </a:p>
                  </a:txBody>
                  <a:tcPr/>
                </a:tc>
                <a:tc>
                  <a:txBody>
                    <a:bodyPr/>
                    <a:lstStyle/>
                    <a:p>
                      <a:pPr algn="l" fontAlgn="t"/>
                      <a:r>
                        <a:rPr lang="en-US" sz="800" u="none" strike="noStrike">
                          <a:effectLst/>
                        </a:rPr>
                        <a:t>T1574.010: Services File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0585679"/>
                  </a:ext>
                </a:extLst>
              </a:tr>
              <a:tr h="122412">
                <a:tc vMerge="1">
                  <a:txBody>
                    <a:bodyPr/>
                    <a:lstStyle/>
                    <a:p>
                      <a:endParaRPr kumimoji="1" lang="ja-JP" altLang="en-US"/>
                    </a:p>
                  </a:txBody>
                  <a:tcPr/>
                </a:tc>
                <a:tc>
                  <a:txBody>
                    <a:bodyPr/>
                    <a:lstStyle/>
                    <a:p>
                      <a:pPr algn="l" fontAlgn="t"/>
                      <a:r>
                        <a:rPr lang="en-US" sz="800" u="none" strike="noStrike">
                          <a:effectLst/>
                        </a:rPr>
                        <a:t>T1574.011: Services Registry Permissions Weakness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85979328"/>
                  </a:ext>
                </a:extLst>
              </a:tr>
              <a:tr h="122412">
                <a:tc rowSpan="12">
                  <a:txBody>
                    <a:bodyPr/>
                    <a:lstStyle/>
                    <a:p>
                      <a:pPr algn="l" fontAlgn="t"/>
                      <a:r>
                        <a:rPr lang="en-US" sz="800" u="none" strike="noStrike">
                          <a:effectLst/>
                        </a:rPr>
                        <a:t>T1562: Impair Defenses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T1562.007: Disable or Modify Cloud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4557129"/>
                  </a:ext>
                </a:extLst>
              </a:tr>
              <a:tr h="122412">
                <a:tc vMerge="1">
                  <a:txBody>
                    <a:bodyPr/>
                    <a:lstStyle/>
                    <a:p>
                      <a:endParaRPr kumimoji="1" lang="ja-JP" altLang="en-US"/>
                    </a:p>
                  </a:txBody>
                  <a:tcPr/>
                </a:tc>
                <a:tc>
                  <a:txBody>
                    <a:bodyPr/>
                    <a:lstStyle/>
                    <a:p>
                      <a:pPr algn="l" fontAlgn="t"/>
                      <a:r>
                        <a:rPr lang="en-US" sz="800" u="none" strike="noStrike">
                          <a:effectLst/>
                        </a:rPr>
                        <a:t>T1562.008: Disable or Modify Cloud Logs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11379002"/>
                  </a:ext>
                </a:extLst>
              </a:tr>
              <a:tr h="122412">
                <a:tc vMerge="1">
                  <a:txBody>
                    <a:bodyPr/>
                    <a:lstStyle/>
                    <a:p>
                      <a:endParaRPr kumimoji="1" lang="ja-JP" altLang="en-US"/>
                    </a:p>
                  </a:txBody>
                  <a:tcPr/>
                </a:tc>
                <a:tc>
                  <a:txBody>
                    <a:bodyPr/>
                    <a:lstStyle/>
                    <a:p>
                      <a:pPr algn="l" fontAlgn="t"/>
                      <a:r>
                        <a:rPr lang="en-US" sz="800" u="none" strike="noStrike">
                          <a:effectLst/>
                        </a:rPr>
                        <a:t>T1562.012: Disable or Modify Linux Audit 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65352046"/>
                  </a:ext>
                </a:extLst>
              </a:tr>
              <a:tr h="122412">
                <a:tc vMerge="1">
                  <a:txBody>
                    <a:bodyPr/>
                    <a:lstStyle/>
                    <a:p>
                      <a:endParaRPr kumimoji="1" lang="ja-JP" altLang="en-US"/>
                    </a:p>
                  </a:txBody>
                  <a:tcPr/>
                </a:tc>
                <a:tc>
                  <a:txBody>
                    <a:bodyPr/>
                    <a:lstStyle/>
                    <a:p>
                      <a:pPr algn="l" fontAlgn="t"/>
                      <a:r>
                        <a:rPr lang="en-US" sz="800" u="none" strike="noStrike">
                          <a:effectLst/>
                        </a:rPr>
                        <a:t>T1562.013: Disable or Modify Network Device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36990655"/>
                  </a:ext>
                </a:extLst>
              </a:tr>
              <a:tr h="122412">
                <a:tc vMerge="1">
                  <a:txBody>
                    <a:bodyPr/>
                    <a:lstStyle/>
                    <a:p>
                      <a:endParaRPr kumimoji="1" lang="ja-JP" altLang="en-US"/>
                    </a:p>
                  </a:txBody>
                  <a:tcPr/>
                </a:tc>
                <a:tc>
                  <a:txBody>
                    <a:bodyPr/>
                    <a:lstStyle/>
                    <a:p>
                      <a:pPr algn="l" fontAlgn="t"/>
                      <a:r>
                        <a:rPr lang="en-US" sz="800" u="none" strike="noStrike">
                          <a:effectLst/>
                        </a:rPr>
                        <a:t>T1562.004: Disable or Modify System Firewall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82062796"/>
                  </a:ext>
                </a:extLst>
              </a:tr>
              <a:tr h="122412">
                <a:tc vMerge="1">
                  <a:txBody>
                    <a:bodyPr/>
                    <a:lstStyle/>
                    <a:p>
                      <a:endParaRPr kumimoji="1" lang="ja-JP" altLang="en-US"/>
                    </a:p>
                  </a:txBody>
                  <a:tcPr/>
                </a:tc>
                <a:tc>
                  <a:txBody>
                    <a:bodyPr/>
                    <a:lstStyle/>
                    <a:p>
                      <a:pPr algn="l" fontAlgn="t"/>
                      <a:r>
                        <a:rPr lang="en-US" sz="800" u="none" strike="noStrike">
                          <a:effectLst/>
                        </a:rPr>
                        <a:t>T1562.001: Disable or Modify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9121588"/>
                  </a:ext>
                </a:extLst>
              </a:tr>
              <a:tr h="122412">
                <a:tc vMerge="1">
                  <a:txBody>
                    <a:bodyPr/>
                    <a:lstStyle/>
                    <a:p>
                      <a:endParaRPr kumimoji="1" lang="ja-JP" altLang="en-US"/>
                    </a:p>
                  </a:txBody>
                  <a:tcPr/>
                </a:tc>
                <a:tc>
                  <a:txBody>
                    <a:bodyPr/>
                    <a:lstStyle/>
                    <a:p>
                      <a:pPr algn="l" fontAlgn="t"/>
                      <a:r>
                        <a:rPr lang="en-US" sz="800" u="none" strike="noStrike">
                          <a:effectLst/>
                        </a:rPr>
                        <a:t>T1562.002: Disable Windows Event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07469473"/>
                  </a:ext>
                </a:extLst>
              </a:tr>
              <a:tr h="122412">
                <a:tc vMerge="1">
                  <a:txBody>
                    <a:bodyPr/>
                    <a:lstStyle/>
                    <a:p>
                      <a:endParaRPr kumimoji="1" lang="ja-JP" altLang="en-US"/>
                    </a:p>
                  </a:txBody>
                  <a:tcPr/>
                </a:tc>
                <a:tc>
                  <a:txBody>
                    <a:bodyPr/>
                    <a:lstStyle/>
                    <a:p>
                      <a:pPr algn="l" fontAlgn="t"/>
                      <a:r>
                        <a:rPr lang="en-US" sz="800" u="none" strike="noStrike">
                          <a:effectLst/>
                        </a:rPr>
                        <a:t>T1562.010: Downgrade Attack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2962870"/>
                  </a:ext>
                </a:extLst>
              </a:tr>
              <a:tr h="122412">
                <a:tc vMerge="1">
                  <a:txBody>
                    <a:bodyPr/>
                    <a:lstStyle/>
                    <a:p>
                      <a:endParaRPr kumimoji="1" lang="ja-JP" altLang="en-US"/>
                    </a:p>
                  </a:txBody>
                  <a:tcPr/>
                </a:tc>
                <a:tc>
                  <a:txBody>
                    <a:bodyPr/>
                    <a:lstStyle/>
                    <a:p>
                      <a:pPr algn="l" fontAlgn="t"/>
                      <a:r>
                        <a:rPr lang="en-US" sz="800" u="none" strike="noStrike">
                          <a:effectLst/>
                        </a:rPr>
                        <a:t>T1562.003: Impair Command History Logging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51229039"/>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T1562.006: Indicator Blocking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62149036"/>
                  </a:ext>
                </a:extLst>
              </a:tr>
              <a:tr h="122412">
                <a:tc vMerge="1">
                  <a:txBody>
                    <a:bodyPr/>
                    <a:lstStyle/>
                    <a:p>
                      <a:endParaRPr kumimoji="1" lang="ja-JP" altLang="en-US"/>
                    </a:p>
                  </a:txBody>
                  <a:tcPr/>
                </a:tc>
                <a:tc>
                  <a:txBody>
                    <a:bodyPr/>
                    <a:lstStyle/>
                    <a:p>
                      <a:pPr algn="l" fontAlgn="t"/>
                      <a:r>
                        <a:rPr lang="en-US" sz="800" u="none" strike="noStrike">
                          <a:effectLst/>
                        </a:rPr>
                        <a:t>T1562.009: Safe Mode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74815634"/>
                  </a:ext>
                </a:extLst>
              </a:tr>
              <a:tr h="122412">
                <a:tc vMerge="1">
                  <a:txBody>
                    <a:bodyPr/>
                    <a:lstStyle/>
                    <a:p>
                      <a:endParaRPr kumimoji="1" lang="ja-JP" altLang="en-US"/>
                    </a:p>
                  </a:txBody>
                  <a:tcPr/>
                </a:tc>
                <a:tc>
                  <a:txBody>
                    <a:bodyPr/>
                    <a:lstStyle/>
                    <a:p>
                      <a:pPr algn="l" fontAlgn="t"/>
                      <a:r>
                        <a:rPr lang="en-US" sz="800" u="none" strike="noStrike">
                          <a:effectLst/>
                        </a:rPr>
                        <a:t>T1562.011: Spoof Security Alerting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609441651"/>
                  </a:ext>
                </a:extLst>
              </a:tr>
              <a:tr h="122412">
                <a:tc>
                  <a:txBody>
                    <a:bodyPr/>
                    <a:lstStyle/>
                    <a:p>
                      <a:pPr algn="l" fontAlgn="t"/>
                      <a:r>
                        <a:rPr lang="en-US" sz="800" u="none" strike="noStrike" dirty="0">
                          <a:effectLst/>
                          <a:highlight>
                            <a:srgbClr val="FF0000"/>
                          </a:highlight>
                        </a:rPr>
                        <a:t>T1656: Impersonation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64929392"/>
                  </a:ext>
                </a:extLst>
              </a:tr>
              <a:tr h="122412">
                <a:tc rowSpan="10">
                  <a:txBody>
                    <a:bodyPr/>
                    <a:lstStyle/>
                    <a:p>
                      <a:pPr algn="l" fontAlgn="t"/>
                      <a:r>
                        <a:rPr lang="en-US" sz="800" u="none" strike="noStrike">
                          <a:effectLst/>
                        </a:rPr>
                        <a:t>T1070: Indicator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T1070.003: Clear Command History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590533012"/>
                  </a:ext>
                </a:extLst>
              </a:tr>
              <a:tr h="122412">
                <a:tc vMerge="1">
                  <a:txBody>
                    <a:bodyPr/>
                    <a:lstStyle/>
                    <a:p>
                      <a:endParaRPr kumimoji="1" lang="ja-JP" altLang="en-US"/>
                    </a:p>
                  </a:txBody>
                  <a:tcPr/>
                </a:tc>
                <a:tc>
                  <a:txBody>
                    <a:bodyPr/>
                    <a:lstStyle/>
                    <a:p>
                      <a:pPr algn="l" fontAlgn="t"/>
                      <a:r>
                        <a:rPr lang="en-US" sz="800" u="none" strike="noStrike" dirty="0">
                          <a:effectLst/>
                        </a:rPr>
                        <a:t>T1070.002: Clear Linux or Mac System Logs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20118511"/>
                  </a:ext>
                </a:extLst>
              </a:tr>
              <a:tr h="122412">
                <a:tc vMerge="1">
                  <a:txBody>
                    <a:bodyPr/>
                    <a:lstStyle/>
                    <a:p>
                      <a:endParaRPr kumimoji="1" lang="ja-JP" altLang="en-US"/>
                    </a:p>
                  </a:txBody>
                  <a:tcPr/>
                </a:tc>
                <a:tc>
                  <a:txBody>
                    <a:bodyPr/>
                    <a:lstStyle/>
                    <a:p>
                      <a:pPr algn="l" fontAlgn="t"/>
                      <a:r>
                        <a:rPr lang="en-US" sz="800" u="none" strike="noStrike">
                          <a:effectLst/>
                        </a:rPr>
                        <a:t>T1070.008: Clear Mailbox Data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70377300"/>
                  </a:ext>
                </a:extLst>
              </a:tr>
              <a:tr h="122412">
                <a:tc vMerge="1">
                  <a:txBody>
                    <a:bodyPr/>
                    <a:lstStyle/>
                    <a:p>
                      <a:endParaRPr kumimoji="1" lang="ja-JP" altLang="en-US"/>
                    </a:p>
                  </a:txBody>
                  <a:tcPr/>
                </a:tc>
                <a:tc>
                  <a:txBody>
                    <a:bodyPr/>
                    <a:lstStyle/>
                    <a:p>
                      <a:pPr algn="l" fontAlgn="t"/>
                      <a:r>
                        <a:rPr lang="en-US" sz="800" u="none" strike="noStrike">
                          <a:effectLst/>
                        </a:rPr>
                        <a:t>T1070.007: Clear Network Connection History and Configurations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792689507"/>
                  </a:ext>
                </a:extLst>
              </a:tr>
              <a:tr h="122412">
                <a:tc vMerge="1">
                  <a:txBody>
                    <a:bodyPr/>
                    <a:lstStyle/>
                    <a:p>
                      <a:endParaRPr kumimoji="1" lang="ja-JP" altLang="en-US"/>
                    </a:p>
                  </a:txBody>
                  <a:tcPr/>
                </a:tc>
                <a:tc>
                  <a:txBody>
                    <a:bodyPr/>
                    <a:lstStyle/>
                    <a:p>
                      <a:pPr algn="l" fontAlgn="t"/>
                      <a:r>
                        <a:rPr lang="en-US" sz="800" u="none" strike="noStrike">
                          <a:effectLst/>
                        </a:rPr>
                        <a:t>T1070.009: Clear Persistence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02972860"/>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T1070.001: Clear Windows Event Logs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53229838"/>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T1070.004: File Deletion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039635418"/>
                  </a:ext>
                </a:extLst>
              </a:tr>
              <a:tr h="122412">
                <a:tc vMerge="1">
                  <a:txBody>
                    <a:bodyPr/>
                    <a:lstStyle/>
                    <a:p>
                      <a:endParaRPr kumimoji="1" lang="ja-JP" altLang="en-US"/>
                    </a:p>
                  </a:txBody>
                  <a:tcPr/>
                </a:tc>
                <a:tc>
                  <a:txBody>
                    <a:bodyPr/>
                    <a:lstStyle/>
                    <a:p>
                      <a:pPr algn="l" fontAlgn="t"/>
                      <a:r>
                        <a:rPr lang="en-US" sz="800" u="none" strike="noStrike">
                          <a:effectLst/>
                        </a:rPr>
                        <a:t>T1070.005: Network Share Connection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70180490"/>
                  </a:ext>
                </a:extLst>
              </a:tr>
              <a:tr h="122412">
                <a:tc vMerge="1">
                  <a:txBody>
                    <a:bodyPr/>
                    <a:lstStyle/>
                    <a:p>
                      <a:endParaRPr kumimoji="1" lang="ja-JP" altLang="en-US"/>
                    </a:p>
                  </a:txBody>
                  <a:tcPr/>
                </a:tc>
                <a:tc>
                  <a:txBody>
                    <a:bodyPr/>
                    <a:lstStyle/>
                    <a:p>
                      <a:pPr algn="l" fontAlgn="t"/>
                      <a:r>
                        <a:rPr lang="en-US" sz="800" u="none" strike="noStrike">
                          <a:effectLst/>
                        </a:rPr>
                        <a:t>T1070.010: Relocate Malware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86122494"/>
                  </a:ext>
                </a:extLst>
              </a:tr>
              <a:tr h="122412">
                <a:tc vMerge="1">
                  <a:txBody>
                    <a:bodyPr/>
                    <a:lstStyle/>
                    <a:p>
                      <a:endParaRPr kumimoji="1" lang="ja-JP" altLang="en-US"/>
                    </a:p>
                  </a:txBody>
                  <a:tcPr/>
                </a:tc>
                <a:tc>
                  <a:txBody>
                    <a:bodyPr/>
                    <a:lstStyle/>
                    <a:p>
                      <a:pPr algn="l" fontAlgn="t"/>
                      <a:r>
                        <a:rPr lang="en-US" sz="800" u="none" strike="noStrike">
                          <a:effectLst/>
                        </a:rPr>
                        <a:t>T1070.006: Timestomp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93012216"/>
                  </a:ext>
                </a:extLst>
              </a:tr>
              <a:tr h="122412">
                <a:tc gridSpan="2">
                  <a:txBody>
                    <a:bodyPr/>
                    <a:lstStyle/>
                    <a:p>
                      <a:pPr algn="l" fontAlgn="t"/>
                      <a:r>
                        <a:rPr lang="en-US" sz="800" u="none" strike="noStrike">
                          <a:effectLst/>
                        </a:rPr>
                        <a:t>T1202: Indirect Command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33676513"/>
                  </a:ext>
                </a:extLst>
              </a:tr>
              <a:tr h="122412">
                <a:tc rowSpan="12">
                  <a:txBody>
                    <a:bodyPr/>
                    <a:lstStyle/>
                    <a:p>
                      <a:pPr algn="l" fontAlgn="t"/>
                      <a:r>
                        <a:rPr lang="en-US" sz="800" u="none" strike="noStrike">
                          <a:effectLst/>
                        </a:rPr>
                        <a:t>T1036: Masquerading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T1036.009: Break Process Trees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916394"/>
                  </a:ext>
                </a:extLst>
              </a:tr>
              <a:tr h="122412">
                <a:tc vMerge="1">
                  <a:txBody>
                    <a:bodyPr/>
                    <a:lstStyle/>
                    <a:p>
                      <a:endParaRPr kumimoji="1" lang="ja-JP" altLang="en-US"/>
                    </a:p>
                  </a:txBody>
                  <a:tcPr/>
                </a:tc>
                <a:tc>
                  <a:txBody>
                    <a:bodyPr/>
                    <a:lstStyle/>
                    <a:p>
                      <a:pPr algn="l" fontAlgn="t"/>
                      <a:r>
                        <a:rPr lang="en-US" sz="800" u="none" strike="noStrike">
                          <a:effectLst/>
                        </a:rPr>
                        <a:t>T1036.012: Browser Fingerprint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551119545"/>
                  </a:ext>
                </a:extLst>
              </a:tr>
              <a:tr h="122412">
                <a:tc vMerge="1">
                  <a:txBody>
                    <a:bodyPr/>
                    <a:lstStyle/>
                    <a:p>
                      <a:endParaRPr kumimoji="1" lang="ja-JP" altLang="en-US"/>
                    </a:p>
                  </a:txBody>
                  <a:tcPr/>
                </a:tc>
                <a:tc>
                  <a:txBody>
                    <a:bodyPr/>
                    <a:lstStyle/>
                    <a:p>
                      <a:pPr algn="l" fontAlgn="t"/>
                      <a:r>
                        <a:rPr lang="en-US" sz="800" u="none" strike="noStrike">
                          <a:effectLst/>
                        </a:rPr>
                        <a:t>T1036.007: Double File Extension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922839130"/>
                  </a:ext>
                </a:extLst>
              </a:tr>
              <a:tr h="122412">
                <a:tc vMerge="1">
                  <a:txBody>
                    <a:bodyPr/>
                    <a:lstStyle/>
                    <a:p>
                      <a:endParaRPr kumimoji="1" lang="ja-JP" altLang="en-US"/>
                    </a:p>
                  </a:txBody>
                  <a:tcPr/>
                </a:tc>
                <a:tc>
                  <a:txBody>
                    <a:bodyPr/>
                    <a:lstStyle/>
                    <a:p>
                      <a:pPr algn="l" fontAlgn="t"/>
                      <a:r>
                        <a:rPr lang="en-US" sz="800" u="none" strike="noStrike">
                          <a:effectLst/>
                        </a:rPr>
                        <a:t>T1036.001: Invalid Code Signature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015512098"/>
                  </a:ext>
                </a:extLst>
              </a:tr>
              <a:tr h="122412">
                <a:tc vMerge="1">
                  <a:txBody>
                    <a:bodyPr/>
                    <a:lstStyle/>
                    <a:p>
                      <a:endParaRPr kumimoji="1" lang="ja-JP" altLang="en-US"/>
                    </a:p>
                  </a:txBody>
                  <a:tcPr/>
                </a:tc>
                <a:tc>
                  <a:txBody>
                    <a:bodyPr/>
                    <a:lstStyle/>
                    <a:p>
                      <a:pPr algn="l" fontAlgn="t"/>
                      <a:r>
                        <a:rPr lang="en-US" sz="800" u="none" strike="noStrike">
                          <a:effectLst/>
                        </a:rPr>
                        <a:t>T1036.010: Masquerade Account 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48761032"/>
                  </a:ext>
                </a:extLst>
              </a:tr>
              <a:tr h="122412">
                <a:tc vMerge="1">
                  <a:txBody>
                    <a:bodyPr/>
                    <a:lstStyle/>
                    <a:p>
                      <a:endParaRPr kumimoji="1" lang="ja-JP" altLang="en-US"/>
                    </a:p>
                  </a:txBody>
                  <a:tcPr/>
                </a:tc>
                <a:tc>
                  <a:txBody>
                    <a:bodyPr/>
                    <a:lstStyle/>
                    <a:p>
                      <a:pPr algn="l" fontAlgn="t"/>
                      <a:r>
                        <a:rPr lang="en-US" sz="800" u="none" strike="noStrike">
                          <a:effectLst/>
                        </a:rPr>
                        <a:t>T1036.008: Masquerade File Type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30855421"/>
                  </a:ext>
                </a:extLst>
              </a:tr>
              <a:tr h="122412">
                <a:tc vMerge="1">
                  <a:txBody>
                    <a:bodyPr/>
                    <a:lstStyle/>
                    <a:p>
                      <a:endParaRPr kumimoji="1" lang="ja-JP" altLang="en-US"/>
                    </a:p>
                  </a:txBody>
                  <a:tcPr/>
                </a:tc>
                <a:tc>
                  <a:txBody>
                    <a:bodyPr/>
                    <a:lstStyle/>
                    <a:p>
                      <a:pPr algn="l" fontAlgn="t"/>
                      <a:r>
                        <a:rPr lang="fr-FR" sz="800" u="none" strike="noStrike">
                          <a:effectLst/>
                          <a:highlight>
                            <a:srgbClr val="FF0000"/>
                          </a:highlight>
                        </a:rPr>
                        <a:t>T1036.004: Masquerade Task or Service</a:t>
                      </a:r>
                      <a:endParaRPr lang="fr-FR"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935995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T1036.005: Match Legitimate Resource Name or Location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05680331"/>
                  </a:ext>
                </a:extLst>
              </a:tr>
              <a:tr h="122412">
                <a:tc vMerge="1">
                  <a:txBody>
                    <a:bodyPr/>
                    <a:lstStyle/>
                    <a:p>
                      <a:endParaRPr kumimoji="1" lang="ja-JP" altLang="en-US"/>
                    </a:p>
                  </a:txBody>
                  <a:tcPr/>
                </a:tc>
                <a:tc>
                  <a:txBody>
                    <a:bodyPr/>
                    <a:lstStyle/>
                    <a:p>
                      <a:pPr algn="l" fontAlgn="t"/>
                      <a:r>
                        <a:rPr lang="en-US" sz="800" u="none" strike="noStrike">
                          <a:effectLst/>
                        </a:rPr>
                        <a:t>T1036.011: Overwrite Process Arguments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682143178"/>
                  </a:ext>
                </a:extLst>
              </a:tr>
              <a:tr h="122412">
                <a:tc vMerge="1">
                  <a:txBody>
                    <a:bodyPr/>
                    <a:lstStyle/>
                    <a:p>
                      <a:endParaRPr kumimoji="1" lang="ja-JP" altLang="en-US"/>
                    </a:p>
                  </a:txBody>
                  <a:tcPr/>
                </a:tc>
                <a:tc>
                  <a:txBody>
                    <a:bodyPr/>
                    <a:lstStyle/>
                    <a:p>
                      <a:pPr algn="l" fontAlgn="t"/>
                      <a:r>
                        <a:rPr lang="en-US" sz="800" u="none" strike="noStrike">
                          <a:effectLst/>
                        </a:rPr>
                        <a:t>T1036.003: Rename Legitimate Utilities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17769577"/>
                  </a:ext>
                </a:extLst>
              </a:tr>
              <a:tr h="122412">
                <a:tc vMerge="1">
                  <a:txBody>
                    <a:bodyPr/>
                    <a:lstStyle/>
                    <a:p>
                      <a:endParaRPr kumimoji="1" lang="ja-JP" altLang="en-US"/>
                    </a:p>
                  </a:txBody>
                  <a:tcPr/>
                </a:tc>
                <a:tc>
                  <a:txBody>
                    <a:bodyPr/>
                    <a:lstStyle/>
                    <a:p>
                      <a:pPr algn="l" fontAlgn="t"/>
                      <a:r>
                        <a:rPr lang="en-US" sz="800" u="none" strike="noStrike">
                          <a:effectLst/>
                        </a:rPr>
                        <a:t>T1036.002: Right-to-Left Override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74554319"/>
                  </a:ext>
                </a:extLst>
              </a:tr>
              <a:tr h="122412">
                <a:tc vMerge="1">
                  <a:txBody>
                    <a:bodyPr/>
                    <a:lstStyle/>
                    <a:p>
                      <a:endParaRPr kumimoji="1" lang="ja-JP" altLang="en-US"/>
                    </a:p>
                  </a:txBody>
                  <a:tcPr/>
                </a:tc>
                <a:tc>
                  <a:txBody>
                    <a:bodyPr/>
                    <a:lstStyle/>
                    <a:p>
                      <a:pPr algn="l" fontAlgn="t"/>
                      <a:r>
                        <a:rPr lang="en-US" sz="800" u="none" strike="noStrike">
                          <a:effectLst/>
                        </a:rPr>
                        <a:t>T1036.006: Space after Filename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413459848"/>
                  </a:ext>
                </a:extLst>
              </a:tr>
              <a:tr h="122412">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141365333"/>
                  </a:ext>
                </a:extLst>
              </a:tr>
              <a:tr h="122412">
                <a:tc gridSpan="2">
                  <a:txBody>
                    <a:bodyPr/>
                    <a:lstStyle/>
                    <a:p>
                      <a:pPr algn="l" fontAlgn="t"/>
                      <a:r>
                        <a:rPr lang="fr-FR" sz="800" u="none" strike="noStrike">
                          <a:effectLst/>
                        </a:rPr>
                        <a:t>T1578: Modify Cloud Compute Infrastructure</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4253967280"/>
                  </a:ext>
                </a:extLst>
              </a:tr>
              <a:tr h="122412">
                <a:tc gridSpan="2">
                  <a:txBody>
                    <a:bodyPr/>
                    <a:lstStyle/>
                    <a:p>
                      <a:pPr algn="l" fontAlgn="t"/>
                      <a:r>
                        <a:rPr lang="en-US" sz="800" u="none" strike="noStrike">
                          <a:effectLst/>
                        </a:rPr>
                        <a:t>T1666: Modify Cloud Resource Hierarchy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210875815"/>
                  </a:ext>
                </a:extLst>
              </a:tr>
              <a:tr h="122412">
                <a:tc>
                  <a:txBody>
                    <a:bodyPr/>
                    <a:lstStyle/>
                    <a:p>
                      <a:pPr algn="l" fontAlgn="t"/>
                      <a:r>
                        <a:rPr lang="en-US" sz="800" u="none" strike="noStrike" dirty="0">
                          <a:effectLst/>
                          <a:highlight>
                            <a:srgbClr val="FF0000"/>
                          </a:highlight>
                        </a:rPr>
                        <a:t>T1112: Modify Registry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09679814"/>
                  </a:ext>
                </a:extLst>
              </a:tr>
              <a:tr h="122412">
                <a:tc>
                  <a:txBody>
                    <a:bodyPr/>
                    <a:lstStyle/>
                    <a:p>
                      <a:pPr algn="l" fontAlgn="t"/>
                      <a:r>
                        <a:rPr lang="en-US" sz="800" u="none" strike="noStrike">
                          <a:effectLst/>
                        </a:rPr>
                        <a:t>T1601: Modify System Image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518047489"/>
                  </a:ext>
                </a:extLst>
              </a:tr>
              <a:tr h="122412">
                <a:tc>
                  <a:txBody>
                    <a:bodyPr/>
                    <a:lstStyle/>
                    <a:p>
                      <a:pPr algn="l" fontAlgn="t"/>
                      <a:r>
                        <a:rPr lang="en-US" sz="800" u="none" strike="noStrike">
                          <a:effectLst/>
                          <a:highlight>
                            <a:srgbClr val="FF0000"/>
                          </a:highlight>
                        </a:rPr>
                        <a:t>T1599: Network Boundary Bridging</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36018820"/>
                  </a:ext>
                </a:extLst>
              </a:tr>
              <a:tr h="122412">
                <a:tc rowSpan="17">
                  <a:txBody>
                    <a:bodyPr/>
                    <a:lstStyle/>
                    <a:p>
                      <a:pPr algn="l" fontAlgn="t"/>
                      <a:r>
                        <a:rPr lang="en-US" sz="800" u="none" strike="noStrike" dirty="0">
                          <a:effectLst/>
                          <a:highlight>
                            <a:srgbClr val="FF0000"/>
                          </a:highlight>
                        </a:rPr>
                        <a:t>T1027: Obfuscated Files or Information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T1027.001: Binary Padding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6743405"/>
                  </a:ext>
                </a:extLst>
              </a:tr>
              <a:tr h="122412">
                <a:tc vMerge="1">
                  <a:txBody>
                    <a:bodyPr/>
                    <a:lstStyle/>
                    <a:p>
                      <a:endParaRPr kumimoji="1" lang="ja-JP" altLang="en-US"/>
                    </a:p>
                  </a:txBody>
                  <a:tcPr/>
                </a:tc>
                <a:tc>
                  <a:txBody>
                    <a:bodyPr/>
                    <a:lstStyle/>
                    <a:p>
                      <a:pPr algn="l" fontAlgn="t"/>
                      <a:r>
                        <a:rPr lang="en-US" sz="800" u="none" strike="noStrike">
                          <a:effectLst/>
                        </a:rPr>
                        <a:t>T1027.010: Command Obfuscation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048927949"/>
                  </a:ext>
                </a:extLst>
              </a:tr>
              <a:tr h="122412">
                <a:tc vMerge="1">
                  <a:txBody>
                    <a:bodyPr/>
                    <a:lstStyle/>
                    <a:p>
                      <a:endParaRPr kumimoji="1" lang="ja-JP" altLang="en-US"/>
                    </a:p>
                  </a:txBody>
                  <a:tcPr/>
                </a:tc>
                <a:tc>
                  <a:txBody>
                    <a:bodyPr/>
                    <a:lstStyle/>
                    <a:p>
                      <a:pPr algn="l" fontAlgn="t"/>
                      <a:r>
                        <a:rPr lang="en-US" sz="800" u="none" strike="noStrike">
                          <a:effectLst/>
                        </a:rPr>
                        <a:t>T1027.004: Compile After Delivery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111385617"/>
                  </a:ext>
                </a:extLst>
              </a:tr>
              <a:tr h="122412">
                <a:tc vMerge="1">
                  <a:txBody>
                    <a:bodyPr/>
                    <a:lstStyle/>
                    <a:p>
                      <a:endParaRPr kumimoji="1" lang="ja-JP" altLang="en-US"/>
                    </a:p>
                  </a:txBody>
                  <a:tcPr/>
                </a:tc>
                <a:tc>
                  <a:txBody>
                    <a:bodyPr/>
                    <a:lstStyle/>
                    <a:p>
                      <a:pPr algn="l" fontAlgn="t"/>
                      <a:r>
                        <a:rPr lang="en-US" sz="800" u="none" strike="noStrike">
                          <a:effectLst/>
                        </a:rPr>
                        <a:t>T1027.015: Compression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75805277"/>
                  </a:ext>
                </a:extLst>
              </a:tr>
              <a:tr h="122412">
                <a:tc vMerge="1">
                  <a:txBody>
                    <a:bodyPr/>
                    <a:lstStyle/>
                    <a:p>
                      <a:endParaRPr kumimoji="1" lang="ja-JP" altLang="en-US"/>
                    </a:p>
                  </a:txBody>
                  <a:tcPr/>
                </a:tc>
                <a:tc>
                  <a:txBody>
                    <a:bodyPr/>
                    <a:lstStyle/>
                    <a:p>
                      <a:pPr algn="l" fontAlgn="t"/>
                      <a:r>
                        <a:rPr lang="en-US" sz="800" u="none" strike="noStrike">
                          <a:effectLst/>
                        </a:rPr>
                        <a:t>T1027.007: Dynamic API Resolution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24045269"/>
                  </a:ext>
                </a:extLst>
              </a:tr>
              <a:tr h="122412">
                <a:tc vMerge="1">
                  <a:txBody>
                    <a:bodyPr/>
                    <a:lstStyle/>
                    <a:p>
                      <a:endParaRPr kumimoji="1" lang="ja-JP" altLang="en-US"/>
                    </a:p>
                  </a:txBody>
                  <a:tcPr/>
                </a:tc>
                <a:tc>
                  <a:txBody>
                    <a:bodyPr/>
                    <a:lstStyle/>
                    <a:p>
                      <a:pPr algn="l" fontAlgn="t"/>
                      <a:r>
                        <a:rPr lang="en-US" sz="800" u="none" strike="noStrike">
                          <a:effectLst/>
                        </a:rPr>
                        <a:t>T1027.009: Embedded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08993665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T1027.013: Encrypted/Encoded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715864393"/>
                  </a:ext>
                </a:extLst>
              </a:tr>
              <a:tr h="122412">
                <a:tc vMerge="1">
                  <a:txBody>
                    <a:bodyPr/>
                    <a:lstStyle/>
                    <a:p>
                      <a:endParaRPr kumimoji="1" lang="ja-JP" altLang="en-US"/>
                    </a:p>
                  </a:txBody>
                  <a:tcPr/>
                </a:tc>
                <a:tc>
                  <a:txBody>
                    <a:bodyPr/>
                    <a:lstStyle/>
                    <a:p>
                      <a:pPr algn="l" fontAlgn="t"/>
                      <a:r>
                        <a:rPr lang="en-US" sz="800" u="none" strike="noStrike" dirty="0">
                          <a:effectLst/>
                        </a:rPr>
                        <a:t>T1027.011: </a:t>
                      </a:r>
                      <a:r>
                        <a:rPr lang="en-US" sz="800" u="none" strike="noStrike" dirty="0" err="1">
                          <a:effectLst/>
                        </a:rPr>
                        <a:t>Fileless</a:t>
                      </a:r>
                      <a:r>
                        <a:rPr lang="en-US" sz="800" u="none" strike="noStrike" dirty="0">
                          <a:effectLst/>
                        </a:rPr>
                        <a:t> Storage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55437312"/>
                  </a:ext>
                </a:extLst>
              </a:tr>
              <a:tr h="122412">
                <a:tc vMerge="1">
                  <a:txBody>
                    <a:bodyPr/>
                    <a:lstStyle/>
                    <a:p>
                      <a:endParaRPr kumimoji="1" lang="ja-JP" altLang="en-US"/>
                    </a:p>
                  </a:txBody>
                  <a:tcPr/>
                </a:tc>
                <a:tc>
                  <a:txBody>
                    <a:bodyPr/>
                    <a:lstStyle/>
                    <a:p>
                      <a:pPr algn="l" fontAlgn="t"/>
                      <a:r>
                        <a:rPr lang="en-US" sz="800" u="none" strike="noStrike">
                          <a:effectLst/>
                        </a:rPr>
                        <a:t>T1027.006: HTML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8175130"/>
                  </a:ext>
                </a:extLst>
              </a:tr>
              <a:tr h="122412">
                <a:tc vMerge="1">
                  <a:txBody>
                    <a:bodyPr/>
                    <a:lstStyle/>
                    <a:p>
                      <a:endParaRPr kumimoji="1" lang="ja-JP" altLang="en-US"/>
                    </a:p>
                  </a:txBody>
                  <a:tcPr/>
                </a:tc>
                <a:tc>
                  <a:txBody>
                    <a:bodyPr/>
                    <a:lstStyle/>
                    <a:p>
                      <a:pPr algn="l" fontAlgn="t"/>
                      <a:r>
                        <a:rPr lang="en-US" sz="800" u="none" strike="noStrike">
                          <a:effectLst/>
                        </a:rPr>
                        <a:t>T1027.005: Indicator Removal from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90006624"/>
                  </a:ext>
                </a:extLst>
              </a:tr>
              <a:tr h="122412">
                <a:tc vMerge="1">
                  <a:txBody>
                    <a:bodyPr/>
                    <a:lstStyle/>
                    <a:p>
                      <a:endParaRPr kumimoji="1" lang="ja-JP" altLang="en-US"/>
                    </a:p>
                  </a:txBody>
                  <a:tcPr/>
                </a:tc>
                <a:tc>
                  <a:txBody>
                    <a:bodyPr/>
                    <a:lstStyle/>
                    <a:p>
                      <a:pPr algn="l" fontAlgn="t"/>
                      <a:r>
                        <a:rPr lang="en-US" sz="800" u="none" strike="noStrike">
                          <a:effectLst/>
                        </a:rPr>
                        <a:t>T1027.016: Junk Code Insertion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259659669"/>
                  </a:ext>
                </a:extLst>
              </a:tr>
              <a:tr h="122412">
                <a:tc vMerge="1">
                  <a:txBody>
                    <a:bodyPr/>
                    <a:lstStyle/>
                    <a:p>
                      <a:endParaRPr kumimoji="1" lang="ja-JP" altLang="en-US"/>
                    </a:p>
                  </a:txBody>
                  <a:tcPr/>
                </a:tc>
                <a:tc>
                  <a:txBody>
                    <a:bodyPr/>
                    <a:lstStyle/>
                    <a:p>
                      <a:pPr algn="l" fontAlgn="t"/>
                      <a:r>
                        <a:rPr lang="en-US" sz="800" u="none" strike="noStrike">
                          <a:effectLst/>
                        </a:rPr>
                        <a:t>T1027.012: LNK Icon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57468883"/>
                  </a:ext>
                </a:extLst>
              </a:tr>
              <a:tr h="122412">
                <a:tc vMerge="1">
                  <a:txBody>
                    <a:bodyPr/>
                    <a:lstStyle/>
                    <a:p>
                      <a:endParaRPr kumimoji="1" lang="ja-JP" altLang="en-US"/>
                    </a:p>
                  </a:txBody>
                  <a:tcPr/>
                </a:tc>
                <a:tc>
                  <a:txBody>
                    <a:bodyPr/>
                    <a:lstStyle/>
                    <a:p>
                      <a:pPr algn="l" fontAlgn="t"/>
                      <a:r>
                        <a:rPr lang="en-US" sz="800" u="none" strike="noStrike">
                          <a:effectLst/>
                        </a:rPr>
                        <a:t>T1027.014: Polymorphic Code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88798882"/>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T1027.002: Software Packing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19268910"/>
                  </a:ext>
                </a:extLst>
              </a:tr>
              <a:tr h="122412">
                <a:tc vMerge="1">
                  <a:txBody>
                    <a:bodyPr/>
                    <a:lstStyle/>
                    <a:p>
                      <a:endParaRPr kumimoji="1" lang="ja-JP" altLang="en-US"/>
                    </a:p>
                  </a:txBody>
                  <a:tcPr/>
                </a:tc>
                <a:tc>
                  <a:txBody>
                    <a:bodyPr/>
                    <a:lstStyle/>
                    <a:p>
                      <a:pPr algn="l" fontAlgn="t"/>
                      <a:r>
                        <a:rPr lang="en-US" sz="800" u="none" strike="noStrike">
                          <a:effectLst/>
                        </a:rPr>
                        <a:t>T1027.003: Steganography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85327302"/>
                  </a:ext>
                </a:extLst>
              </a:tr>
              <a:tr h="122412">
                <a:tc vMerge="1">
                  <a:txBody>
                    <a:bodyPr/>
                    <a:lstStyle/>
                    <a:p>
                      <a:endParaRPr kumimoji="1" lang="ja-JP" altLang="en-US"/>
                    </a:p>
                  </a:txBody>
                  <a:tcPr/>
                </a:tc>
                <a:tc>
                  <a:txBody>
                    <a:bodyPr/>
                    <a:lstStyle/>
                    <a:p>
                      <a:pPr algn="l" fontAlgn="t"/>
                      <a:r>
                        <a:rPr lang="en-US" sz="800" u="none" strike="noStrike">
                          <a:effectLst/>
                        </a:rPr>
                        <a:t>T1027.008: Stripped Payloads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9249581"/>
                  </a:ext>
                </a:extLst>
              </a:tr>
              <a:tr h="122412">
                <a:tc vMerge="1">
                  <a:txBody>
                    <a:bodyPr/>
                    <a:lstStyle/>
                    <a:p>
                      <a:endParaRPr kumimoji="1" lang="ja-JP" altLang="en-US"/>
                    </a:p>
                  </a:txBody>
                  <a:tcPr/>
                </a:tc>
                <a:tc>
                  <a:txBody>
                    <a:bodyPr/>
                    <a:lstStyle/>
                    <a:p>
                      <a:pPr algn="l" fontAlgn="t"/>
                      <a:r>
                        <a:rPr lang="en-US" sz="800" u="none" strike="noStrike">
                          <a:effectLst/>
                        </a:rPr>
                        <a:t>T1027.017: SVG Smuggling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10854104"/>
                  </a:ext>
                </a:extLst>
              </a:tr>
              <a:tr h="122412">
                <a:tc>
                  <a:txBody>
                    <a:bodyPr/>
                    <a:lstStyle/>
                    <a:p>
                      <a:pPr algn="l" fontAlgn="t"/>
                      <a:r>
                        <a:rPr lang="en-US" sz="800" u="none" strike="noStrike">
                          <a:effectLst/>
                        </a:rPr>
                        <a:t>T1647: Plist File Modification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324388617"/>
                  </a:ext>
                </a:extLst>
              </a:tr>
              <a:tr h="122412">
                <a:tc rowSpan="5">
                  <a:txBody>
                    <a:bodyPr/>
                    <a:lstStyle/>
                    <a:p>
                      <a:pPr algn="l" fontAlgn="t"/>
                      <a:r>
                        <a:rPr lang="en-US" sz="800" u="none" strike="noStrike">
                          <a:effectLst/>
                        </a:rPr>
                        <a:t>T1542: Pre-OS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T1542.003: </a:t>
                      </a:r>
                      <a:r>
                        <a:rPr lang="en-US" sz="800" u="none" strike="noStrike" dirty="0" err="1">
                          <a:effectLst/>
                          <a:highlight>
                            <a:srgbClr val="FF0000"/>
                          </a:highlight>
                        </a:rPr>
                        <a:t>Bootkit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69753563"/>
                  </a:ext>
                </a:extLst>
              </a:tr>
              <a:tr h="122412">
                <a:tc vMerge="1">
                  <a:txBody>
                    <a:bodyPr/>
                    <a:lstStyle/>
                    <a:p>
                      <a:endParaRPr kumimoji="1" lang="ja-JP" altLang="en-US"/>
                    </a:p>
                  </a:txBody>
                  <a:tcPr/>
                </a:tc>
                <a:tc>
                  <a:txBody>
                    <a:bodyPr/>
                    <a:lstStyle/>
                    <a:p>
                      <a:pPr algn="l" fontAlgn="t"/>
                      <a:r>
                        <a:rPr lang="en-US" sz="800" u="none" strike="noStrike">
                          <a:effectLst/>
                        </a:rPr>
                        <a:t>T1542.002: Component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362823662"/>
                  </a:ext>
                </a:extLst>
              </a:tr>
              <a:tr h="122412">
                <a:tc vMerge="1">
                  <a:txBody>
                    <a:bodyPr/>
                    <a:lstStyle/>
                    <a:p>
                      <a:endParaRPr kumimoji="1" lang="ja-JP" altLang="en-US"/>
                    </a:p>
                  </a:txBody>
                  <a:tcPr/>
                </a:tc>
                <a:tc>
                  <a:txBody>
                    <a:bodyPr/>
                    <a:lstStyle/>
                    <a:p>
                      <a:pPr algn="l" fontAlgn="t"/>
                      <a:r>
                        <a:rPr lang="en-US" sz="800" u="none" strike="noStrike">
                          <a:effectLst/>
                        </a:rPr>
                        <a:t>T1542.004: ROMMONkit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759036233"/>
                  </a:ext>
                </a:extLst>
              </a:tr>
              <a:tr h="122412">
                <a:tc vMerge="1">
                  <a:txBody>
                    <a:bodyPr/>
                    <a:lstStyle/>
                    <a:p>
                      <a:endParaRPr kumimoji="1" lang="ja-JP" altLang="en-US"/>
                    </a:p>
                  </a:txBody>
                  <a:tcPr/>
                </a:tc>
                <a:tc>
                  <a:txBody>
                    <a:bodyPr/>
                    <a:lstStyle/>
                    <a:p>
                      <a:pPr algn="l" fontAlgn="t"/>
                      <a:r>
                        <a:rPr lang="en-US" sz="800" u="none" strike="noStrike">
                          <a:effectLst/>
                        </a:rPr>
                        <a:t>T1542.001: System Firmware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161495340"/>
                  </a:ext>
                </a:extLst>
              </a:tr>
              <a:tr h="122412">
                <a:tc vMerge="1">
                  <a:txBody>
                    <a:bodyPr/>
                    <a:lstStyle/>
                    <a:p>
                      <a:endParaRPr kumimoji="1" lang="ja-JP" altLang="en-US"/>
                    </a:p>
                  </a:txBody>
                  <a:tcPr/>
                </a:tc>
                <a:tc>
                  <a:txBody>
                    <a:bodyPr/>
                    <a:lstStyle/>
                    <a:p>
                      <a:pPr algn="l" fontAlgn="t"/>
                      <a:r>
                        <a:rPr lang="en-US" sz="800" u="none" strike="noStrike">
                          <a:effectLst/>
                        </a:rPr>
                        <a:t>T1542.005: TFTP 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337109261"/>
                  </a:ext>
                </a:extLst>
              </a:tr>
              <a:tr h="122412">
                <a:tc>
                  <a:txBody>
                    <a:bodyPr/>
                    <a:lstStyle/>
                    <a:p>
                      <a:pPr algn="l" fontAlgn="t"/>
                      <a:r>
                        <a:rPr lang="en-US" sz="800" u="none" strike="noStrike" dirty="0">
                          <a:effectLst/>
                          <a:highlight>
                            <a:srgbClr val="FF0000"/>
                          </a:highlight>
                        </a:rPr>
                        <a:t>T1055: Process Injection</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491887720"/>
                  </a:ext>
                </a:extLst>
              </a:tr>
              <a:tr h="122412">
                <a:tc>
                  <a:txBody>
                    <a:bodyPr/>
                    <a:lstStyle/>
                    <a:p>
                      <a:pPr algn="l" fontAlgn="t"/>
                      <a:r>
                        <a:rPr lang="en-US" sz="800" u="none" strike="noStrike">
                          <a:effectLst/>
                        </a:rPr>
                        <a:t>T1620: Reflective Code Loading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567451080"/>
                  </a:ext>
                </a:extLst>
              </a:tr>
              <a:tr h="122412">
                <a:tc>
                  <a:txBody>
                    <a:bodyPr/>
                    <a:lstStyle/>
                    <a:p>
                      <a:pPr algn="l" fontAlgn="t"/>
                      <a:r>
                        <a:rPr lang="en-US" sz="800" u="none" strike="noStrike">
                          <a:effectLst/>
                        </a:rPr>
                        <a:t>T1207: Rogue Domain Controller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395076"/>
                  </a:ext>
                </a:extLst>
              </a:tr>
              <a:tr h="122412">
                <a:tc>
                  <a:txBody>
                    <a:bodyPr/>
                    <a:lstStyle/>
                    <a:p>
                      <a:pPr algn="l" fontAlgn="t"/>
                      <a:r>
                        <a:rPr lang="en-US" sz="800" u="none" strike="noStrike" dirty="0">
                          <a:effectLst/>
                          <a:highlight>
                            <a:srgbClr val="FF0000"/>
                          </a:highlight>
                        </a:rPr>
                        <a:t>T1014: Rootkit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34476454"/>
                  </a:ext>
                </a:extLst>
              </a:tr>
              <a:tr h="122412">
                <a:tc>
                  <a:txBody>
                    <a:bodyPr/>
                    <a:lstStyle/>
                    <a:p>
                      <a:pPr algn="l" fontAlgn="t"/>
                      <a:r>
                        <a:rPr lang="en-US" sz="800" u="none" strike="noStrike">
                          <a:effectLst/>
                        </a:rPr>
                        <a:t>T1679: Selective Exclusion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888651639"/>
                  </a:ext>
                </a:extLst>
              </a:tr>
              <a:tr h="122412">
                <a:tc rowSpan="6">
                  <a:txBody>
                    <a:bodyPr/>
                    <a:lstStyle/>
                    <a:p>
                      <a:pPr algn="l" fontAlgn="t"/>
                      <a:r>
                        <a:rPr lang="en-US" sz="800" u="none" strike="noStrike">
                          <a:effectLst/>
                        </a:rPr>
                        <a:t>T1553: Subvert Trust Controls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dirty="0">
                          <a:effectLst/>
                          <a:highlight>
                            <a:srgbClr val="FF0000"/>
                          </a:highlight>
                        </a:rPr>
                        <a:t>T1553.002: Code Signing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99665977"/>
                  </a:ext>
                </a:extLst>
              </a:tr>
              <a:tr h="122412">
                <a:tc vMerge="1">
                  <a:txBody>
                    <a:bodyPr/>
                    <a:lstStyle/>
                    <a:p>
                      <a:endParaRPr kumimoji="1" lang="ja-JP" altLang="en-US"/>
                    </a:p>
                  </a:txBody>
                  <a:tcPr/>
                </a:tc>
                <a:tc>
                  <a:txBody>
                    <a:bodyPr/>
                    <a:lstStyle/>
                    <a:p>
                      <a:pPr algn="l" fontAlgn="t"/>
                      <a:r>
                        <a:rPr lang="fr-FR" sz="800" u="none" strike="noStrike">
                          <a:effectLst/>
                        </a:rPr>
                        <a:t>T1553.006: Code Signing Policy Modification</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911568931"/>
                  </a:ext>
                </a:extLst>
              </a:tr>
              <a:tr h="122412">
                <a:tc vMerge="1">
                  <a:txBody>
                    <a:bodyPr/>
                    <a:lstStyle/>
                    <a:p>
                      <a:endParaRPr kumimoji="1" lang="ja-JP" altLang="en-US"/>
                    </a:p>
                  </a:txBody>
                  <a:tcPr/>
                </a:tc>
                <a:tc>
                  <a:txBody>
                    <a:bodyPr/>
                    <a:lstStyle/>
                    <a:p>
                      <a:pPr algn="l" fontAlgn="t"/>
                      <a:r>
                        <a:rPr lang="en-US" sz="800" u="none" strike="noStrike">
                          <a:effectLst/>
                        </a:rPr>
                        <a:t>T1553.001: Gatekeeper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918423278"/>
                  </a:ext>
                </a:extLst>
              </a:tr>
              <a:tr h="122412">
                <a:tc vMerge="1">
                  <a:txBody>
                    <a:bodyPr/>
                    <a:lstStyle/>
                    <a:p>
                      <a:endParaRPr kumimoji="1" lang="ja-JP" altLang="en-US"/>
                    </a:p>
                  </a:txBody>
                  <a:tcPr/>
                </a:tc>
                <a:tc>
                  <a:txBody>
                    <a:bodyPr/>
                    <a:lstStyle/>
                    <a:p>
                      <a:pPr algn="l" fontAlgn="t"/>
                      <a:r>
                        <a:rPr lang="en-US" sz="800" u="none" strike="noStrike">
                          <a:effectLst/>
                        </a:rPr>
                        <a:t>T1553.004: Install Root Certificate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63461384"/>
                  </a:ext>
                </a:extLst>
              </a:tr>
              <a:tr h="122412">
                <a:tc vMerge="1">
                  <a:txBody>
                    <a:bodyPr/>
                    <a:lstStyle/>
                    <a:p>
                      <a:endParaRPr kumimoji="1" lang="ja-JP" altLang="en-US"/>
                    </a:p>
                  </a:txBody>
                  <a:tcPr/>
                </a:tc>
                <a:tc>
                  <a:txBody>
                    <a:bodyPr/>
                    <a:lstStyle/>
                    <a:p>
                      <a:pPr algn="l" fontAlgn="t"/>
                      <a:r>
                        <a:rPr lang="en-US" sz="800" u="none" strike="noStrike">
                          <a:effectLst/>
                        </a:rPr>
                        <a:t>T1553.005: Mark-of-the-Web Bypass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99186100"/>
                  </a:ext>
                </a:extLst>
              </a:tr>
              <a:tr h="122412">
                <a:tc vMerge="1">
                  <a:txBody>
                    <a:bodyPr/>
                    <a:lstStyle/>
                    <a:p>
                      <a:endParaRPr kumimoji="1" lang="ja-JP" altLang="en-US"/>
                    </a:p>
                  </a:txBody>
                  <a:tcPr/>
                </a:tc>
                <a:tc>
                  <a:txBody>
                    <a:bodyPr/>
                    <a:lstStyle/>
                    <a:p>
                      <a:pPr algn="l" fontAlgn="t"/>
                      <a:r>
                        <a:rPr lang="en-US" sz="800" u="none" strike="noStrike">
                          <a:effectLst/>
                        </a:rPr>
                        <a:t>T1553.003: SIP and Trust Provider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868208213"/>
                  </a:ext>
                </a:extLst>
              </a:tr>
              <a:tr h="122412">
                <a:tc rowSpan="14">
                  <a:txBody>
                    <a:bodyPr/>
                    <a:lstStyle/>
                    <a:p>
                      <a:pPr algn="l" fontAlgn="t"/>
                      <a:r>
                        <a:rPr lang="en-US" sz="800" u="none" strike="noStrike">
                          <a:effectLst/>
                        </a:rPr>
                        <a:t>T1218: System Binary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T1218.003: CMSTP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26465756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T1218.001: Compiled HTML File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824295407"/>
                  </a:ext>
                </a:extLst>
              </a:tr>
              <a:tr h="122412">
                <a:tc vMerge="1">
                  <a:txBody>
                    <a:bodyPr/>
                    <a:lstStyle/>
                    <a:p>
                      <a:endParaRPr kumimoji="1" lang="ja-JP" altLang="en-US"/>
                    </a:p>
                  </a:txBody>
                  <a:tcPr/>
                </a:tc>
                <a:tc>
                  <a:txBody>
                    <a:bodyPr/>
                    <a:lstStyle/>
                    <a:p>
                      <a:pPr algn="l" fontAlgn="t"/>
                      <a:r>
                        <a:rPr lang="en-US" sz="800" u="none" strike="noStrike" dirty="0">
                          <a:effectLst/>
                        </a:rPr>
                        <a:t>T1218.002: Control Panel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236451058"/>
                  </a:ext>
                </a:extLst>
              </a:tr>
              <a:tr h="122412">
                <a:tc vMerge="1">
                  <a:txBody>
                    <a:bodyPr/>
                    <a:lstStyle/>
                    <a:p>
                      <a:endParaRPr kumimoji="1" lang="ja-JP" altLang="en-US"/>
                    </a:p>
                  </a:txBody>
                  <a:tcPr/>
                </a:tc>
                <a:tc>
                  <a:txBody>
                    <a:bodyPr/>
                    <a:lstStyle/>
                    <a:p>
                      <a:pPr algn="l" fontAlgn="t"/>
                      <a:r>
                        <a:rPr lang="en-US" sz="800" u="none" strike="noStrike">
                          <a:effectLst/>
                        </a:rPr>
                        <a:t>T1218.015: Electron Applications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354631986"/>
                  </a:ext>
                </a:extLst>
              </a:tr>
              <a:tr h="122412">
                <a:tc vMerge="1">
                  <a:txBody>
                    <a:bodyPr/>
                    <a:lstStyle/>
                    <a:p>
                      <a:endParaRPr kumimoji="1" lang="ja-JP" altLang="en-US"/>
                    </a:p>
                  </a:txBody>
                  <a:tcPr/>
                </a:tc>
                <a:tc>
                  <a:txBody>
                    <a:bodyPr/>
                    <a:lstStyle/>
                    <a:p>
                      <a:pPr algn="l" fontAlgn="t"/>
                      <a:r>
                        <a:rPr lang="en-US" sz="800" u="none" strike="noStrike">
                          <a:effectLst/>
                        </a:rPr>
                        <a:t>T1218.004: InstallUtil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18190103"/>
                  </a:ext>
                </a:extLst>
              </a:tr>
              <a:tr h="122412">
                <a:tc vMerge="1">
                  <a:txBody>
                    <a:bodyPr/>
                    <a:lstStyle/>
                    <a:p>
                      <a:endParaRPr kumimoji="1" lang="ja-JP" altLang="en-US"/>
                    </a:p>
                  </a:txBody>
                  <a:tcPr/>
                </a:tc>
                <a:tc>
                  <a:txBody>
                    <a:bodyPr/>
                    <a:lstStyle/>
                    <a:p>
                      <a:pPr algn="l" fontAlgn="t"/>
                      <a:r>
                        <a:rPr lang="en-US" sz="800" u="none" strike="noStrike">
                          <a:effectLst/>
                        </a:rPr>
                        <a:t>T1218.013: Mavinject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814673102"/>
                  </a:ext>
                </a:extLst>
              </a:tr>
              <a:tr h="122412">
                <a:tc vMerge="1">
                  <a:txBody>
                    <a:bodyPr/>
                    <a:lstStyle/>
                    <a:p>
                      <a:endParaRPr kumimoji="1" lang="ja-JP" altLang="en-US"/>
                    </a:p>
                  </a:txBody>
                  <a:tcPr/>
                </a:tc>
                <a:tc>
                  <a:txBody>
                    <a:bodyPr/>
                    <a:lstStyle/>
                    <a:p>
                      <a:pPr algn="l" fontAlgn="t"/>
                      <a:r>
                        <a:rPr lang="en-US" sz="800" u="none" strike="noStrike">
                          <a:effectLst/>
                        </a:rPr>
                        <a:t>T1218.014: MMC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5009011"/>
                  </a:ext>
                </a:extLst>
              </a:tr>
              <a:tr h="122412">
                <a:tc vMerge="1">
                  <a:txBody>
                    <a:bodyPr/>
                    <a:lstStyle/>
                    <a:p>
                      <a:endParaRPr kumimoji="1" lang="ja-JP" altLang="en-US"/>
                    </a:p>
                  </a:txBody>
                  <a:tcPr/>
                </a:tc>
                <a:tc>
                  <a:txBody>
                    <a:bodyPr/>
                    <a:lstStyle/>
                    <a:p>
                      <a:pPr algn="l" fontAlgn="t"/>
                      <a:r>
                        <a:rPr lang="en-US" sz="800" u="none" strike="noStrike">
                          <a:effectLst/>
                        </a:rPr>
                        <a:t>T1218.005: Mshta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67345430"/>
                  </a:ext>
                </a:extLst>
              </a:tr>
              <a:tr h="122412">
                <a:tc vMerge="1">
                  <a:txBody>
                    <a:bodyPr/>
                    <a:lstStyle/>
                    <a:p>
                      <a:endParaRPr kumimoji="1" lang="ja-JP" altLang="en-US"/>
                    </a:p>
                  </a:txBody>
                  <a:tcPr/>
                </a:tc>
                <a:tc>
                  <a:txBody>
                    <a:bodyPr/>
                    <a:lstStyle/>
                    <a:p>
                      <a:pPr algn="l" fontAlgn="t"/>
                      <a:r>
                        <a:rPr lang="en-US" sz="800" u="none" strike="noStrike">
                          <a:effectLst/>
                        </a:rPr>
                        <a:t>T1218.007: Msiexec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441576476"/>
                  </a:ext>
                </a:extLst>
              </a:tr>
              <a:tr h="122412">
                <a:tc vMerge="1">
                  <a:txBody>
                    <a:bodyPr/>
                    <a:lstStyle/>
                    <a:p>
                      <a:endParaRPr kumimoji="1" lang="ja-JP" altLang="en-US"/>
                    </a:p>
                  </a:txBody>
                  <a:tcPr/>
                </a:tc>
                <a:tc>
                  <a:txBody>
                    <a:bodyPr/>
                    <a:lstStyle/>
                    <a:p>
                      <a:pPr algn="l" fontAlgn="t"/>
                      <a:r>
                        <a:rPr lang="en-US" sz="800" u="none" strike="noStrike">
                          <a:effectLst/>
                        </a:rPr>
                        <a:t>T1218.008: Odbcconf</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635019493"/>
                  </a:ext>
                </a:extLst>
              </a:tr>
              <a:tr h="122412">
                <a:tc vMerge="1">
                  <a:txBody>
                    <a:bodyPr/>
                    <a:lstStyle/>
                    <a:p>
                      <a:endParaRPr kumimoji="1" lang="ja-JP" altLang="en-US"/>
                    </a:p>
                  </a:txBody>
                  <a:tcPr/>
                </a:tc>
                <a:tc>
                  <a:txBody>
                    <a:bodyPr/>
                    <a:lstStyle/>
                    <a:p>
                      <a:pPr algn="l" fontAlgn="t"/>
                      <a:r>
                        <a:rPr lang="en-US" sz="800" u="none" strike="noStrike">
                          <a:effectLst/>
                        </a:rPr>
                        <a:t>T1218.009: Regsvcs/Regasm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703057825"/>
                  </a:ext>
                </a:extLst>
              </a:tr>
              <a:tr h="122412">
                <a:tc vMerge="1">
                  <a:txBody>
                    <a:bodyPr/>
                    <a:lstStyle/>
                    <a:p>
                      <a:endParaRPr kumimoji="1" lang="ja-JP" altLang="en-US"/>
                    </a:p>
                  </a:txBody>
                  <a:tcPr/>
                </a:tc>
                <a:tc>
                  <a:txBody>
                    <a:bodyPr/>
                    <a:lstStyle/>
                    <a:p>
                      <a:pPr algn="l" fontAlgn="t"/>
                      <a:r>
                        <a:rPr lang="en-US" sz="800" u="none" strike="noStrike">
                          <a:effectLst/>
                        </a:rPr>
                        <a:t>T1218.010: Regsvr32</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1041344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T1218.011: Rundll32</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579158855"/>
                  </a:ext>
                </a:extLst>
              </a:tr>
              <a:tr h="122412">
                <a:tc vMerge="1">
                  <a:txBody>
                    <a:bodyPr/>
                    <a:lstStyle/>
                    <a:p>
                      <a:endParaRPr kumimoji="1" lang="ja-JP" altLang="en-US"/>
                    </a:p>
                  </a:txBody>
                  <a:tcPr/>
                </a:tc>
                <a:tc>
                  <a:txBody>
                    <a:bodyPr/>
                    <a:lstStyle/>
                    <a:p>
                      <a:pPr algn="l" fontAlgn="t"/>
                      <a:r>
                        <a:rPr lang="en-US" sz="800" u="none" strike="noStrike" dirty="0">
                          <a:effectLst/>
                        </a:rPr>
                        <a:t>T1218.012: </a:t>
                      </a:r>
                      <a:r>
                        <a:rPr lang="en-US" sz="800" u="none" strike="noStrike" dirty="0" err="1">
                          <a:effectLst/>
                        </a:rPr>
                        <a:t>Verclsid</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634749941"/>
                  </a:ext>
                </a:extLst>
              </a:tr>
              <a:tr h="122412">
                <a:tc gridSpan="2">
                  <a:txBody>
                    <a:bodyPr/>
                    <a:lstStyle/>
                    <a:p>
                      <a:pPr algn="l" fontAlgn="t"/>
                      <a:r>
                        <a:rPr lang="en-US" sz="800" u="none" strike="noStrike">
                          <a:effectLst/>
                        </a:rPr>
                        <a:t>T1216: System Script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436625849"/>
                  </a:ext>
                </a:extLst>
              </a:tr>
              <a:tr h="122412">
                <a:tc>
                  <a:txBody>
                    <a:bodyPr/>
                    <a:lstStyle/>
                    <a:p>
                      <a:pPr algn="l" fontAlgn="t"/>
                      <a:r>
                        <a:rPr lang="en-US" sz="800" u="none" strike="noStrike">
                          <a:effectLst/>
                        </a:rPr>
                        <a:t>T1221: Template Injection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622484981"/>
                  </a:ext>
                </a:extLst>
              </a:tr>
              <a:tr h="122412">
                <a:tc>
                  <a:txBody>
                    <a:bodyPr/>
                    <a:lstStyle/>
                    <a:p>
                      <a:pPr algn="l" fontAlgn="t"/>
                      <a:r>
                        <a:rPr lang="en-US" sz="800" u="none" strike="noStrike">
                          <a:effectLst/>
                        </a:rPr>
                        <a:t>T1205: Traffic Signaling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240060220"/>
                  </a:ext>
                </a:extLst>
              </a:tr>
              <a:tr h="122412">
                <a:tc gridSpan="2">
                  <a:txBody>
                    <a:bodyPr/>
                    <a:lstStyle/>
                    <a:p>
                      <a:pPr algn="l" fontAlgn="t"/>
                      <a:r>
                        <a:rPr lang="en-US" sz="800" u="none" strike="noStrike">
                          <a:effectLst/>
                        </a:rPr>
                        <a:t>T1127: Trusted Developer Utilities Proxy Execution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1557479298"/>
                  </a:ext>
                </a:extLst>
              </a:tr>
              <a:tr h="122412">
                <a:tc gridSpan="2">
                  <a:txBody>
                    <a:bodyPr/>
                    <a:lstStyle/>
                    <a:p>
                      <a:pPr algn="l" fontAlgn="t"/>
                      <a:r>
                        <a:rPr lang="en-US" sz="800" u="none" strike="noStrike">
                          <a:effectLst/>
                        </a:rPr>
                        <a:t>T1535: Unused/Unsupported Cloud Regions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856693250"/>
                  </a:ext>
                </a:extLst>
              </a:tr>
              <a:tr h="122412">
                <a:tc rowSpan="4">
                  <a:txBody>
                    <a:bodyPr/>
                    <a:lstStyle/>
                    <a:p>
                      <a:pPr algn="l" fontAlgn="t"/>
                      <a:r>
                        <a:rPr lang="en-US" sz="800" u="none" strike="noStrike">
                          <a:effectLst/>
                        </a:rPr>
                        <a:t>T1550: Use Alternate Authentication Material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2176842217"/>
                  </a:ext>
                </a:extLst>
              </a:tr>
              <a:tr h="122412">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547592574"/>
                  </a:ext>
                </a:extLst>
              </a:tr>
              <a:tr h="122412">
                <a:tc vMerge="1">
                  <a:txBody>
                    <a:bodyPr/>
                    <a:lstStyle/>
                    <a:p>
                      <a:endParaRPr kumimoji="1" lang="ja-JP" altLang="en-US"/>
                    </a:p>
                  </a:txBody>
                  <a:tcPr/>
                </a:tc>
                <a:tc>
                  <a:txBody>
                    <a:bodyPr/>
                    <a:lstStyle/>
                    <a:p>
                      <a:pPr algn="l" fontAlgn="t"/>
                      <a:r>
                        <a:rPr lang="en-US" sz="800" u="none" strike="noStrike" dirty="0">
                          <a:effectLst/>
                        </a:rPr>
                        <a:t>T1550.003: Pass the Ticket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3170926188"/>
                  </a:ext>
                </a:extLst>
              </a:tr>
              <a:tr h="122412">
                <a:tc vMerge="1">
                  <a:txBody>
                    <a:bodyPr/>
                    <a:lstStyle/>
                    <a:p>
                      <a:endParaRPr kumimoji="1" lang="ja-JP" altLang="en-US"/>
                    </a:p>
                  </a:txBody>
                  <a:tcPr/>
                </a:tc>
                <a:tc>
                  <a:txBody>
                    <a:bodyPr/>
                    <a:lstStyle/>
                    <a:p>
                      <a:pPr algn="l" fontAlgn="t"/>
                      <a:r>
                        <a:rPr lang="en-US" sz="800" u="none" strike="noStrike">
                          <a:effectLst/>
                        </a:rPr>
                        <a:t>T1550.004: Web Session Cookie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extLst>
                  <a:ext uri="{0D108BD9-81ED-4DB2-BD59-A6C34878D82A}">
                    <a16:rowId xmlns:a16="http://schemas.microsoft.com/office/drawing/2014/main" val="1470992531"/>
                  </a:ext>
                </a:extLst>
              </a:tr>
              <a:tr h="122412">
                <a:tc>
                  <a:txBody>
                    <a:bodyPr/>
                    <a:lstStyle/>
                    <a:p>
                      <a:pPr algn="l" fontAlgn="t"/>
                      <a:r>
                        <a:rPr lang="en-US" sz="800" u="none" strike="noStrike" dirty="0">
                          <a:effectLst/>
                          <a:highlight>
                            <a:srgbClr val="FF0000"/>
                          </a:highlight>
                        </a:rPr>
                        <a:t>T1078: Valid Accounts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3588137525"/>
                  </a:ext>
                </a:extLst>
              </a:tr>
              <a:tr h="122412">
                <a:tc gridSpan="2">
                  <a:txBody>
                    <a:bodyPr/>
                    <a:lstStyle/>
                    <a:p>
                      <a:pPr algn="l" fontAlgn="t"/>
                      <a:r>
                        <a:rPr lang="en-US" sz="800" u="none" strike="noStrike">
                          <a:effectLst/>
                        </a:rPr>
                        <a:t>T1497: Virtualization/Sandbox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hMerge="1">
                  <a:txBody>
                    <a:bodyPr/>
                    <a:lstStyle/>
                    <a:p>
                      <a:endParaRPr kumimoji="1" lang="ja-JP" altLang="en-US"/>
                    </a:p>
                  </a:txBody>
                  <a:tcPr/>
                </a:tc>
                <a:extLst>
                  <a:ext uri="{0D108BD9-81ED-4DB2-BD59-A6C34878D82A}">
                    <a16:rowId xmlns:a16="http://schemas.microsoft.com/office/drawing/2014/main" val="2936177843"/>
                  </a:ext>
                </a:extLst>
              </a:tr>
              <a:tr h="122412">
                <a:tc>
                  <a:txBody>
                    <a:bodyPr/>
                    <a:lstStyle/>
                    <a:p>
                      <a:pPr algn="l" fontAlgn="t"/>
                      <a:r>
                        <a:rPr lang="en-US" sz="800" u="none" strike="noStrike">
                          <a:effectLst/>
                        </a:rPr>
                        <a:t>T1600: Weaken Encryption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770662695"/>
                  </a:ext>
                </a:extLst>
              </a:tr>
              <a:tr h="122412">
                <a:tc>
                  <a:txBody>
                    <a:bodyPr/>
                    <a:lstStyle/>
                    <a:p>
                      <a:pPr algn="l" fontAlgn="t"/>
                      <a:r>
                        <a:rPr lang="en-US" sz="800" u="none" strike="noStrike">
                          <a:effectLst/>
                        </a:rPr>
                        <a:t>T1220: XSL Script Processing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69" marR="969" marT="969" marB="0" anchor="b"/>
                </a:tc>
                <a:extLst>
                  <a:ext uri="{0D108BD9-81ED-4DB2-BD59-A6C34878D82A}">
                    <a16:rowId xmlns:a16="http://schemas.microsoft.com/office/drawing/2014/main" val="1436501604"/>
                  </a:ext>
                </a:extLst>
              </a:tr>
            </a:tbl>
          </a:graphicData>
        </a:graphic>
      </p:graphicFrame>
    </p:spTree>
    <p:extLst>
      <p:ext uri="{BB962C8B-B14F-4D97-AF65-F5344CB8AC3E}">
        <p14:creationId xmlns:p14="http://schemas.microsoft.com/office/powerpoint/2010/main" val="1908290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217D99-5844-42FE-BBF5-0FB87FC1F419}"/>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BF9CF29A-F10B-4538-9CCD-DD31EAA32D6F}"/>
              </a:ext>
            </a:extLst>
          </p:cNvPr>
          <p:cNvGraphicFramePr>
            <a:graphicFrameLocks noGrp="1"/>
          </p:cNvGraphicFramePr>
          <p:nvPr>
            <p:ph idx="1"/>
            <p:extLst>
              <p:ext uri="{D42A27DB-BD31-4B8C-83A1-F6EECF244321}">
                <p14:modId xmlns:p14="http://schemas.microsoft.com/office/powerpoint/2010/main" val="2961842544"/>
              </p:ext>
            </p:extLst>
          </p:nvPr>
        </p:nvGraphicFramePr>
        <p:xfrm>
          <a:off x="0" y="0"/>
          <a:ext cx="4176074" cy="6545184"/>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319753624"/>
                    </a:ext>
                  </a:extLst>
                </a:gridCol>
                <a:gridCol w="2088037">
                  <a:extLst>
                    <a:ext uri="{9D8B030D-6E8A-4147-A177-3AD203B41FA5}">
                      <a16:colId xmlns:a16="http://schemas.microsoft.com/office/drawing/2014/main" val="497434126"/>
                    </a:ext>
                  </a:extLst>
                </a:gridCol>
              </a:tblGrid>
              <a:tr h="188565">
                <a:tc gridSpan="2">
                  <a:txBody>
                    <a:bodyPr/>
                    <a:lstStyle/>
                    <a:p>
                      <a:pPr algn="ctr" fontAlgn="b"/>
                      <a:r>
                        <a:rPr lang="en-US" sz="800" u="none" strike="noStrike" dirty="0">
                          <a:effectLst/>
                        </a:rPr>
                        <a:t>TA0006: Credential Access</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705570758"/>
                  </a:ext>
                </a:extLst>
              </a:tr>
              <a:tr h="188565">
                <a:tc>
                  <a:txBody>
                    <a:bodyPr/>
                    <a:lstStyle/>
                    <a:p>
                      <a:pPr algn="l" fontAlgn="t"/>
                      <a:r>
                        <a:rPr lang="en-US" sz="800" u="none" strike="noStrike">
                          <a:effectLst/>
                        </a:rPr>
                        <a:t>T1557: Adversary-in-the-Middle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2152129163"/>
                  </a:ext>
                </a:extLst>
              </a:tr>
              <a:tr h="188565">
                <a:tc>
                  <a:txBody>
                    <a:bodyPr/>
                    <a:lstStyle/>
                    <a:p>
                      <a:pPr algn="l" fontAlgn="t"/>
                      <a:r>
                        <a:rPr lang="en-US" sz="800" u="none" strike="noStrike">
                          <a:effectLst/>
                          <a:highlight>
                            <a:srgbClr val="FF0000"/>
                          </a:highlight>
                        </a:rPr>
                        <a:t>T1110: Brute Force</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1712185265"/>
                  </a:ext>
                </a:extLst>
              </a:tr>
              <a:tr h="370247">
                <a:tc rowSpan="6">
                  <a:txBody>
                    <a:bodyPr/>
                    <a:lstStyle/>
                    <a:p>
                      <a:pPr algn="l" fontAlgn="t"/>
                      <a:r>
                        <a:rPr lang="en-US" sz="800" u="none" strike="noStrike" dirty="0">
                          <a:effectLst/>
                          <a:highlight>
                            <a:srgbClr val="FF0000"/>
                          </a:highlight>
                        </a:rPr>
                        <a:t>T1555: Credentials from Password Stores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T1555.006: Cloud Secrets Management Stores</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557305256"/>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T1555.003: Credentials from Web Browsers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179396"/>
                  </a:ext>
                </a:extLst>
              </a:tr>
              <a:tr h="188565">
                <a:tc vMerge="1">
                  <a:txBody>
                    <a:bodyPr/>
                    <a:lstStyle/>
                    <a:p>
                      <a:endParaRPr kumimoji="1" lang="ja-JP" altLang="en-US"/>
                    </a:p>
                  </a:txBody>
                  <a:tcPr/>
                </a:tc>
                <a:tc>
                  <a:txBody>
                    <a:bodyPr/>
                    <a:lstStyle/>
                    <a:p>
                      <a:pPr algn="l" fontAlgn="t"/>
                      <a:r>
                        <a:rPr lang="en-US" sz="800" u="none" strike="noStrike">
                          <a:effectLst/>
                        </a:rPr>
                        <a:t>T1555.001: Keychain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875027181"/>
                  </a:ext>
                </a:extLst>
              </a:tr>
              <a:tr h="188565">
                <a:tc vMerge="1">
                  <a:txBody>
                    <a:bodyPr/>
                    <a:lstStyle/>
                    <a:p>
                      <a:endParaRPr kumimoji="1" lang="ja-JP" altLang="en-US"/>
                    </a:p>
                  </a:txBody>
                  <a:tcPr/>
                </a:tc>
                <a:tc>
                  <a:txBody>
                    <a:bodyPr/>
                    <a:lstStyle/>
                    <a:p>
                      <a:pPr algn="l" fontAlgn="t"/>
                      <a:r>
                        <a:rPr lang="en-US" sz="800" u="none" strike="noStrike">
                          <a:effectLst/>
                        </a:rPr>
                        <a:t>T1555.005: Password Managers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4080605201"/>
                  </a:ext>
                </a:extLst>
              </a:tr>
              <a:tr h="188565">
                <a:tc vMerge="1">
                  <a:txBody>
                    <a:bodyPr/>
                    <a:lstStyle/>
                    <a:p>
                      <a:endParaRPr kumimoji="1" lang="ja-JP" altLang="en-US"/>
                    </a:p>
                  </a:txBody>
                  <a:tcPr/>
                </a:tc>
                <a:tc>
                  <a:txBody>
                    <a:bodyPr/>
                    <a:lstStyle/>
                    <a:p>
                      <a:pPr algn="l" fontAlgn="t"/>
                      <a:r>
                        <a:rPr lang="en-US" sz="800" u="none" strike="noStrike">
                          <a:effectLst/>
                        </a:rPr>
                        <a:t>T1555.002: Securityd Memory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90049981"/>
                  </a:ext>
                </a:extLst>
              </a:tr>
              <a:tr h="370247">
                <a:tc vMerge="1">
                  <a:txBody>
                    <a:bodyPr/>
                    <a:lstStyle/>
                    <a:p>
                      <a:endParaRPr kumimoji="1" lang="ja-JP" altLang="en-US"/>
                    </a:p>
                  </a:txBody>
                  <a:tcPr/>
                </a:tc>
                <a:tc>
                  <a:txBody>
                    <a:bodyPr/>
                    <a:lstStyle/>
                    <a:p>
                      <a:pPr algn="l" fontAlgn="t"/>
                      <a:r>
                        <a:rPr lang="en-US" sz="800" u="none" strike="noStrike">
                          <a:effectLst/>
                        </a:rPr>
                        <a:t>T1555.004: Windows Credential Manager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42420495"/>
                  </a:ext>
                </a:extLst>
              </a:tr>
              <a:tr h="188565">
                <a:tc gridSpan="2">
                  <a:txBody>
                    <a:bodyPr/>
                    <a:lstStyle/>
                    <a:p>
                      <a:pPr algn="l" fontAlgn="t"/>
                      <a:r>
                        <a:rPr lang="en-US" sz="800" u="none" strike="noStrike">
                          <a:effectLst/>
                        </a:rPr>
                        <a:t>T1212: Exploitation for Credential Access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495156606"/>
                  </a:ext>
                </a:extLst>
              </a:tr>
              <a:tr h="188565">
                <a:tc>
                  <a:txBody>
                    <a:bodyPr/>
                    <a:lstStyle/>
                    <a:p>
                      <a:pPr algn="l" fontAlgn="t"/>
                      <a:r>
                        <a:rPr lang="en-US" sz="800" u="none" strike="noStrike">
                          <a:effectLst/>
                        </a:rPr>
                        <a:t>T1187: Forced Authentication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2784569275"/>
                  </a:ext>
                </a:extLst>
              </a:tr>
              <a:tr h="188565">
                <a:tc>
                  <a:txBody>
                    <a:bodyPr/>
                    <a:lstStyle/>
                    <a:p>
                      <a:pPr algn="l" fontAlgn="t"/>
                      <a:r>
                        <a:rPr lang="en-US" sz="800" u="none" strike="noStrike">
                          <a:effectLst/>
                        </a:rPr>
                        <a:t>T1606: Forge Web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848832677"/>
                  </a:ext>
                </a:extLst>
              </a:tr>
              <a:tr h="363837">
                <a:tc rowSpan="4">
                  <a:txBody>
                    <a:bodyPr/>
                    <a:lstStyle/>
                    <a:p>
                      <a:pPr algn="l" fontAlgn="t"/>
                      <a:r>
                        <a:rPr lang="en-US" sz="800" u="none" strike="noStrike">
                          <a:effectLst/>
                        </a:rPr>
                        <a:t>T1056: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en-US" sz="800" u="none" strike="noStrike">
                          <a:effectLst/>
                        </a:rPr>
                        <a:t>T1056.004: Credential API Hooking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253109849"/>
                  </a:ext>
                </a:extLst>
              </a:tr>
              <a:tr h="188565">
                <a:tc vMerge="1">
                  <a:txBody>
                    <a:bodyPr/>
                    <a:lstStyle/>
                    <a:p>
                      <a:endParaRPr kumimoji="1" lang="ja-JP" altLang="en-US"/>
                    </a:p>
                  </a:txBody>
                  <a:tcPr/>
                </a:tc>
                <a:tc>
                  <a:txBody>
                    <a:bodyPr/>
                    <a:lstStyle/>
                    <a:p>
                      <a:pPr algn="l" fontAlgn="t"/>
                      <a:r>
                        <a:rPr lang="en-US" sz="800" u="none" strike="noStrike">
                          <a:effectLst/>
                        </a:rPr>
                        <a:t>T1056.002: GUI Input Capture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103106810"/>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T1056.001: Keylogging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909019442"/>
                  </a:ext>
                </a:extLst>
              </a:tr>
              <a:tr h="188565">
                <a:tc vMerge="1">
                  <a:txBody>
                    <a:bodyPr/>
                    <a:lstStyle/>
                    <a:p>
                      <a:endParaRPr kumimoji="1" lang="ja-JP" altLang="en-US"/>
                    </a:p>
                  </a:txBody>
                  <a:tcPr/>
                </a:tc>
                <a:tc>
                  <a:txBody>
                    <a:bodyPr/>
                    <a:lstStyle/>
                    <a:p>
                      <a:pPr algn="l" fontAlgn="t"/>
                      <a:r>
                        <a:rPr lang="en-US" sz="800" u="none" strike="noStrike" dirty="0">
                          <a:effectLst/>
                        </a:rPr>
                        <a:t>T1056.003: Web Portal Capture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055826993"/>
                  </a:ext>
                </a:extLst>
              </a:tr>
              <a:tr h="188565">
                <a:tc gridSpan="2">
                  <a:txBody>
                    <a:bodyPr/>
                    <a:lstStyle/>
                    <a:p>
                      <a:pPr algn="l" fontAlgn="t"/>
                      <a:r>
                        <a:rPr lang="en-US" sz="800" u="none" strike="noStrike">
                          <a:effectLst/>
                        </a:rPr>
                        <a:t>T1556: Modify Authentication Process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3945449443"/>
                  </a:ext>
                </a:extLst>
              </a:tr>
              <a:tr h="188565">
                <a:tc gridSpan="2">
                  <a:txBody>
                    <a:bodyPr/>
                    <a:lstStyle/>
                    <a:p>
                      <a:pPr algn="l" fontAlgn="t"/>
                      <a:r>
                        <a:rPr lang="en-US" sz="800" u="none" strike="noStrike">
                          <a:effectLst/>
                        </a:rPr>
                        <a:t>T1111: Multi-Factor Authentication Interception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563800034"/>
                  </a:ext>
                </a:extLst>
              </a:tr>
              <a:tr h="188565">
                <a:tc gridSpan="2">
                  <a:txBody>
                    <a:bodyPr/>
                    <a:lstStyle/>
                    <a:p>
                      <a:pPr algn="l" fontAlgn="t"/>
                      <a:r>
                        <a:rPr lang="en-US" sz="800" u="none" strike="noStrike">
                          <a:effectLst/>
                        </a:rPr>
                        <a:t>T1621: Multi-Factor Authentication Request Generation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hMerge="1">
                  <a:txBody>
                    <a:bodyPr/>
                    <a:lstStyle/>
                    <a:p>
                      <a:endParaRPr kumimoji="1" lang="ja-JP" altLang="en-US"/>
                    </a:p>
                  </a:txBody>
                  <a:tcPr/>
                </a:tc>
                <a:extLst>
                  <a:ext uri="{0D108BD9-81ED-4DB2-BD59-A6C34878D82A}">
                    <a16:rowId xmlns:a16="http://schemas.microsoft.com/office/drawing/2014/main" val="1750098321"/>
                  </a:ext>
                </a:extLst>
              </a:tr>
              <a:tr h="188565">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nchor="b"/>
                </a:tc>
                <a:extLst>
                  <a:ext uri="{0D108BD9-81ED-4DB2-BD59-A6C34878D82A}">
                    <a16:rowId xmlns:a16="http://schemas.microsoft.com/office/drawing/2014/main" val="3823290711"/>
                  </a:ext>
                </a:extLst>
              </a:tr>
              <a:tr h="370247">
                <a:tc rowSpan="8">
                  <a:txBody>
                    <a:bodyPr/>
                    <a:lstStyle/>
                    <a:p>
                      <a:pPr algn="l" fontAlgn="t"/>
                      <a:r>
                        <a:rPr lang="en-US" sz="800" u="none" strike="noStrike" dirty="0">
                          <a:effectLst/>
                        </a:rPr>
                        <a:t>T1003: OS Credential Dumping</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tc>
                  <a:txBody>
                    <a:bodyPr/>
                    <a:lstStyle/>
                    <a:p>
                      <a:pPr algn="l" fontAlgn="t"/>
                      <a:r>
                        <a:rPr lang="fr-FR" sz="800" u="none" strike="noStrike">
                          <a:effectLst/>
                        </a:rPr>
                        <a:t>T1003.008: /etc/passwd and /etc/shadow</a:t>
                      </a:r>
                      <a:endParaRPr lang="fr-FR"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6120052"/>
                  </a:ext>
                </a:extLst>
              </a:tr>
              <a:tr h="370247">
                <a:tc vMerge="1">
                  <a:txBody>
                    <a:bodyPr/>
                    <a:lstStyle/>
                    <a:p>
                      <a:endParaRPr kumimoji="1" lang="ja-JP" altLang="en-US"/>
                    </a:p>
                  </a:txBody>
                  <a:tcPr/>
                </a:tc>
                <a:tc>
                  <a:txBody>
                    <a:bodyPr/>
                    <a:lstStyle/>
                    <a:p>
                      <a:pPr algn="l" fontAlgn="t"/>
                      <a:r>
                        <a:rPr lang="en-US" sz="800" u="none" strike="noStrike">
                          <a:effectLst/>
                        </a:rPr>
                        <a:t>T1003.005: Cached Domain Credentials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029470515"/>
                  </a:ext>
                </a:extLst>
              </a:tr>
              <a:tr h="188565">
                <a:tc vMerge="1">
                  <a:txBody>
                    <a:bodyPr/>
                    <a:lstStyle/>
                    <a:p>
                      <a:endParaRPr kumimoji="1" lang="ja-JP" altLang="en-US"/>
                    </a:p>
                  </a:txBody>
                  <a:tcPr/>
                </a:tc>
                <a:tc>
                  <a:txBody>
                    <a:bodyPr/>
                    <a:lstStyle/>
                    <a:p>
                      <a:pPr algn="l" fontAlgn="t"/>
                      <a:r>
                        <a:rPr lang="en-US" sz="800" u="none" strike="noStrike">
                          <a:effectLst/>
                        </a:rPr>
                        <a:t>T1003.006: DCSync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572392071"/>
                  </a:ext>
                </a:extLst>
              </a:tr>
              <a:tr h="188565">
                <a:tc vMerge="1">
                  <a:txBody>
                    <a:bodyPr/>
                    <a:lstStyle/>
                    <a:p>
                      <a:endParaRPr kumimoji="1" lang="ja-JP" altLang="en-US"/>
                    </a:p>
                  </a:txBody>
                  <a:tcPr/>
                </a:tc>
                <a:tc>
                  <a:txBody>
                    <a:bodyPr/>
                    <a:lstStyle/>
                    <a:p>
                      <a:pPr algn="l" fontAlgn="t"/>
                      <a:r>
                        <a:rPr lang="en-US" sz="800" u="none" strike="noStrike">
                          <a:effectLst/>
                        </a:rPr>
                        <a:t>T1003.004: LSA Secrets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68814457"/>
                  </a:ext>
                </a:extLst>
              </a:tr>
              <a:tr h="188565">
                <a:tc vMerge="1">
                  <a:txBody>
                    <a:bodyPr/>
                    <a:lstStyle/>
                    <a:p>
                      <a:endParaRPr kumimoji="1" lang="ja-JP" altLang="en-US"/>
                    </a:p>
                  </a:txBody>
                  <a:tcPr/>
                </a:tc>
                <a:tc>
                  <a:txBody>
                    <a:bodyPr/>
                    <a:lstStyle/>
                    <a:p>
                      <a:pPr algn="l" fontAlgn="t"/>
                      <a:r>
                        <a:rPr lang="en-US" sz="800" u="none" strike="noStrike">
                          <a:effectLst/>
                          <a:highlight>
                            <a:srgbClr val="FF0000"/>
                          </a:highlight>
                        </a:rPr>
                        <a:t>T1003.001: LSASS Memory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3609103498"/>
                  </a:ext>
                </a:extLst>
              </a:tr>
              <a:tr h="188565">
                <a:tc vMerge="1">
                  <a:txBody>
                    <a:bodyPr/>
                    <a:lstStyle/>
                    <a:p>
                      <a:endParaRPr kumimoji="1" lang="ja-JP" altLang="en-US"/>
                    </a:p>
                  </a:txBody>
                  <a:tcPr/>
                </a:tc>
                <a:tc>
                  <a:txBody>
                    <a:bodyPr/>
                    <a:lstStyle/>
                    <a:p>
                      <a:pPr algn="l" fontAlgn="t"/>
                      <a:r>
                        <a:rPr lang="en-US" sz="800" u="none" strike="noStrike" dirty="0">
                          <a:effectLst/>
                          <a:highlight>
                            <a:srgbClr val="FF0000"/>
                          </a:highlight>
                        </a:rPr>
                        <a:t>T1003.003: NTDS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987337141"/>
                  </a:ext>
                </a:extLst>
              </a:tr>
              <a:tr h="188565">
                <a:tc vMerge="1">
                  <a:txBody>
                    <a:bodyPr/>
                    <a:lstStyle/>
                    <a:p>
                      <a:endParaRPr kumimoji="1" lang="ja-JP" altLang="en-US"/>
                    </a:p>
                  </a:txBody>
                  <a:tcPr/>
                </a:tc>
                <a:tc>
                  <a:txBody>
                    <a:bodyPr/>
                    <a:lstStyle/>
                    <a:p>
                      <a:pPr algn="l" fontAlgn="t"/>
                      <a:r>
                        <a:rPr lang="en-US" sz="800" u="none" strike="noStrike">
                          <a:effectLst/>
                        </a:rPr>
                        <a:t>T1003.007: Proc Filesystem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2829994123"/>
                  </a:ext>
                </a:extLst>
              </a:tr>
              <a:tr h="370247">
                <a:tc vMerge="1">
                  <a:txBody>
                    <a:bodyPr/>
                    <a:lstStyle/>
                    <a:p>
                      <a:endParaRPr kumimoji="1" lang="ja-JP" altLang="en-US"/>
                    </a:p>
                  </a:txBody>
                  <a:tcPr/>
                </a:tc>
                <a:tc>
                  <a:txBody>
                    <a:bodyPr/>
                    <a:lstStyle/>
                    <a:p>
                      <a:pPr algn="l" fontAlgn="t"/>
                      <a:r>
                        <a:rPr lang="en-US" sz="800" u="none" strike="noStrike" dirty="0">
                          <a:effectLst/>
                          <a:highlight>
                            <a:srgbClr val="FF0000"/>
                          </a:highlight>
                        </a:rPr>
                        <a:t>T1003.002: Security Account Manager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701" marR="4701" marT="4701" marB="0"/>
                </a:tc>
                <a:extLst>
                  <a:ext uri="{0D108BD9-81ED-4DB2-BD59-A6C34878D82A}">
                    <a16:rowId xmlns:a16="http://schemas.microsoft.com/office/drawing/2014/main" val="1911737066"/>
                  </a:ext>
                </a:extLst>
              </a:tr>
            </a:tbl>
          </a:graphicData>
        </a:graphic>
      </p:graphicFrame>
      <p:graphicFrame>
        <p:nvGraphicFramePr>
          <p:cNvPr id="5" name="表 4">
            <a:extLst>
              <a:ext uri="{FF2B5EF4-FFF2-40B4-BE49-F238E27FC236}">
                <a16:creationId xmlns:a16="http://schemas.microsoft.com/office/drawing/2014/main" id="{20F04E71-D04F-4203-B4C2-9140E3509707}"/>
              </a:ext>
            </a:extLst>
          </p:cNvPr>
          <p:cNvGraphicFramePr>
            <a:graphicFrameLocks noGrp="1"/>
          </p:cNvGraphicFramePr>
          <p:nvPr>
            <p:extLst>
              <p:ext uri="{D42A27DB-BD31-4B8C-83A1-F6EECF244321}">
                <p14:modId xmlns:p14="http://schemas.microsoft.com/office/powerpoint/2010/main" val="1441607172"/>
              </p:ext>
            </p:extLst>
          </p:nvPr>
        </p:nvGraphicFramePr>
        <p:xfrm>
          <a:off x="4185699" y="1"/>
          <a:ext cx="4176074" cy="6550509"/>
        </p:xfrm>
        <a:graphic>
          <a:graphicData uri="http://schemas.openxmlformats.org/drawingml/2006/table">
            <a:tbl>
              <a:tblPr>
                <a:tableStyleId>{5C22544A-7EE6-4342-B048-85BDC9FD1C3A}</a:tableStyleId>
              </a:tblPr>
              <a:tblGrid>
                <a:gridCol w="2088037">
                  <a:extLst>
                    <a:ext uri="{9D8B030D-6E8A-4147-A177-3AD203B41FA5}">
                      <a16:colId xmlns:a16="http://schemas.microsoft.com/office/drawing/2014/main" val="1036449780"/>
                    </a:ext>
                  </a:extLst>
                </a:gridCol>
                <a:gridCol w="2088037">
                  <a:extLst>
                    <a:ext uri="{9D8B030D-6E8A-4147-A177-3AD203B41FA5}">
                      <a16:colId xmlns:a16="http://schemas.microsoft.com/office/drawing/2014/main" val="2758307033"/>
                    </a:ext>
                  </a:extLst>
                </a:gridCol>
              </a:tblGrid>
              <a:tr h="141486">
                <a:tc gridSpan="2">
                  <a:txBody>
                    <a:bodyPr/>
                    <a:lstStyle/>
                    <a:p>
                      <a:pPr algn="ctr" fontAlgn="b"/>
                      <a:r>
                        <a:rPr lang="en-US" sz="800" u="none" strike="noStrike" dirty="0">
                          <a:effectLst/>
                        </a:rPr>
                        <a:t>TA0007: Discovery</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561831242"/>
                  </a:ext>
                </a:extLst>
              </a:tr>
              <a:tr h="141486">
                <a:tc rowSpan="4">
                  <a:txBody>
                    <a:bodyPr/>
                    <a:lstStyle/>
                    <a:p>
                      <a:pPr algn="l" fontAlgn="t"/>
                      <a:r>
                        <a:rPr lang="en-US" sz="800" u="none" strike="noStrike">
                          <a:effectLst/>
                        </a:rPr>
                        <a:t>T1087: Account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tc>
                  <a:txBody>
                    <a:bodyPr/>
                    <a:lstStyle/>
                    <a:p>
                      <a:pPr algn="l" fontAlgn="t"/>
                      <a:r>
                        <a:rPr lang="en-US" sz="800" u="none" strike="noStrike">
                          <a:effectLst/>
                        </a:rPr>
                        <a:t>T1087.004: Cloud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665396665"/>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T1087.002: Domain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3083942029"/>
                  </a:ext>
                </a:extLst>
              </a:tr>
              <a:tr h="141486">
                <a:tc vMerge="1">
                  <a:txBody>
                    <a:bodyPr/>
                    <a:lstStyle/>
                    <a:p>
                      <a:endParaRPr kumimoji="1" lang="ja-JP" altLang="en-US"/>
                    </a:p>
                  </a:txBody>
                  <a:tcPr/>
                </a:tc>
                <a:tc>
                  <a:txBody>
                    <a:bodyPr/>
                    <a:lstStyle/>
                    <a:p>
                      <a:pPr algn="l" fontAlgn="t"/>
                      <a:r>
                        <a:rPr lang="en-US" sz="800" u="none" strike="noStrike">
                          <a:effectLst/>
                        </a:rPr>
                        <a:t>T1087.003: Email Account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827655176"/>
                  </a:ext>
                </a:extLst>
              </a:tr>
              <a:tr h="141486">
                <a:tc vMerge="1">
                  <a:txBody>
                    <a:bodyPr/>
                    <a:lstStyle/>
                    <a:p>
                      <a:endParaRPr kumimoji="1" lang="ja-JP" altLang="en-US"/>
                    </a:p>
                  </a:txBody>
                  <a:tcPr/>
                </a:tc>
                <a:tc>
                  <a:txBody>
                    <a:bodyPr/>
                    <a:lstStyle/>
                    <a:p>
                      <a:pPr algn="l" fontAlgn="t"/>
                      <a:r>
                        <a:rPr lang="en-US" sz="800" u="none" strike="noStrike" dirty="0">
                          <a:effectLst/>
                          <a:highlight>
                            <a:srgbClr val="FF0000"/>
                          </a:highlight>
                        </a:rPr>
                        <a:t>T1087.001: Local Account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extLst>
                  <a:ext uri="{0D108BD9-81ED-4DB2-BD59-A6C34878D82A}">
                    <a16:rowId xmlns:a16="http://schemas.microsoft.com/office/drawing/2014/main" val="2616878984"/>
                  </a:ext>
                </a:extLst>
              </a:tr>
              <a:tr h="141486">
                <a:tc gridSpan="2">
                  <a:txBody>
                    <a:bodyPr/>
                    <a:lstStyle/>
                    <a:p>
                      <a:pPr algn="l" fontAlgn="t"/>
                      <a:r>
                        <a:rPr lang="en-US" sz="800" u="none" strike="noStrike">
                          <a:effectLst/>
                        </a:rPr>
                        <a:t>T1010: Application Window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16649674"/>
                  </a:ext>
                </a:extLst>
              </a:tr>
              <a:tr h="141486">
                <a:tc gridSpan="2">
                  <a:txBody>
                    <a:bodyPr/>
                    <a:lstStyle/>
                    <a:p>
                      <a:pPr algn="l" fontAlgn="t"/>
                      <a:r>
                        <a:rPr lang="en-US" sz="800" u="none" strike="noStrike">
                          <a:effectLst/>
                        </a:rPr>
                        <a:t>T1217: Browser Information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547623829"/>
                  </a:ext>
                </a:extLst>
              </a:tr>
              <a:tr h="141486">
                <a:tc gridSpan="2">
                  <a:txBody>
                    <a:bodyPr/>
                    <a:lstStyle/>
                    <a:p>
                      <a:pPr algn="l" fontAlgn="t"/>
                      <a:r>
                        <a:rPr lang="en-US" sz="800" u="none" strike="noStrike">
                          <a:effectLst/>
                        </a:rPr>
                        <a:t>T1580: Cloud Infrastructure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99574318"/>
                  </a:ext>
                </a:extLst>
              </a:tr>
              <a:tr h="141486">
                <a:tc>
                  <a:txBody>
                    <a:bodyPr/>
                    <a:lstStyle/>
                    <a:p>
                      <a:pPr algn="l" fontAlgn="t"/>
                      <a:r>
                        <a:rPr lang="en-US" sz="800" u="none" strike="noStrike">
                          <a:effectLst/>
                        </a:rPr>
                        <a:t>T1538: Cloud Service Dashboard</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707653146"/>
                  </a:ext>
                </a:extLst>
              </a:tr>
              <a:tr h="141486">
                <a:tc>
                  <a:txBody>
                    <a:bodyPr/>
                    <a:lstStyle/>
                    <a:p>
                      <a:pPr algn="l" fontAlgn="t"/>
                      <a:r>
                        <a:rPr lang="en-US" sz="800" u="none" strike="noStrike">
                          <a:effectLst/>
                        </a:rPr>
                        <a:t>T1526: Cloud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627704522"/>
                  </a:ext>
                </a:extLst>
              </a:tr>
              <a:tr h="141486">
                <a:tc gridSpan="2">
                  <a:txBody>
                    <a:bodyPr/>
                    <a:lstStyle/>
                    <a:p>
                      <a:pPr algn="l" fontAlgn="t"/>
                      <a:r>
                        <a:rPr lang="en-US" sz="800" u="none" strike="noStrike">
                          <a:effectLst/>
                        </a:rPr>
                        <a:t>T1619: Cloud Storage Object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1898312"/>
                  </a:ext>
                </a:extLst>
              </a:tr>
              <a:tr h="141486">
                <a:tc gridSpan="2">
                  <a:txBody>
                    <a:bodyPr/>
                    <a:lstStyle/>
                    <a:p>
                      <a:pPr algn="l" fontAlgn="t"/>
                      <a:r>
                        <a:rPr lang="en-US" sz="800" u="none" strike="noStrike">
                          <a:effectLst/>
                        </a:rPr>
                        <a:t>T1613: Container and Resource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2649157386"/>
                  </a:ext>
                </a:extLst>
              </a:tr>
              <a:tr h="141486">
                <a:tc>
                  <a:txBody>
                    <a:bodyPr/>
                    <a:lstStyle/>
                    <a:p>
                      <a:pPr algn="l" fontAlgn="t"/>
                      <a:r>
                        <a:rPr lang="en-US" sz="800" u="none" strike="noStrike">
                          <a:effectLst/>
                        </a:rPr>
                        <a:t>T1622: Debugger Evasion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49234078"/>
                  </a:ext>
                </a:extLst>
              </a:tr>
              <a:tr h="141486">
                <a:tc>
                  <a:txBody>
                    <a:bodyPr/>
                    <a:lstStyle/>
                    <a:p>
                      <a:pPr algn="l" fontAlgn="t"/>
                      <a:r>
                        <a:rPr lang="en-US" sz="800" u="none" strike="noStrike">
                          <a:effectLst/>
                        </a:rPr>
                        <a:t>T1652: Device Driver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72295133"/>
                  </a:ext>
                </a:extLst>
              </a:tr>
              <a:tr h="141486">
                <a:tc>
                  <a:txBody>
                    <a:bodyPr/>
                    <a:lstStyle/>
                    <a:p>
                      <a:pPr algn="l" fontAlgn="t"/>
                      <a:r>
                        <a:rPr lang="en-US" sz="800" u="none" strike="noStrike">
                          <a:effectLst/>
                        </a:rPr>
                        <a:t>T1482: Domain Trust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29340180"/>
                  </a:ext>
                </a:extLst>
              </a:tr>
              <a:tr h="277807">
                <a:tc>
                  <a:txBody>
                    <a:bodyPr/>
                    <a:lstStyle/>
                    <a:p>
                      <a:pPr algn="l" fontAlgn="t"/>
                      <a:r>
                        <a:rPr lang="en-US" sz="800" u="none" strike="noStrike" dirty="0">
                          <a:effectLst/>
                          <a:highlight>
                            <a:srgbClr val="FF0000"/>
                          </a:highlight>
                        </a:rPr>
                        <a:t>T1083: File and Directory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387064"/>
                  </a:ext>
                </a:extLst>
              </a:tr>
              <a:tr h="141486">
                <a:tc>
                  <a:txBody>
                    <a:bodyPr/>
                    <a:lstStyle/>
                    <a:p>
                      <a:pPr algn="l" fontAlgn="t"/>
                      <a:r>
                        <a:rPr lang="en-US" sz="800" u="none" strike="noStrike">
                          <a:effectLst/>
                        </a:rPr>
                        <a:t>T1615: Group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11161061"/>
                  </a:ext>
                </a:extLst>
              </a:tr>
              <a:tr h="141486">
                <a:tc>
                  <a:txBody>
                    <a:bodyPr/>
                    <a:lstStyle/>
                    <a:p>
                      <a:pPr algn="l" fontAlgn="t"/>
                      <a:r>
                        <a:rPr lang="en-US" sz="800" u="none" strike="noStrike" dirty="0">
                          <a:effectLst/>
                          <a:highlight>
                            <a:srgbClr val="FF0000"/>
                          </a:highlight>
                        </a:rPr>
                        <a:t>T1680: Local Storage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068011023"/>
                  </a:ext>
                </a:extLst>
              </a:tr>
              <a:tr h="141486">
                <a:tc>
                  <a:txBody>
                    <a:bodyPr/>
                    <a:lstStyle/>
                    <a:p>
                      <a:pPr algn="l" fontAlgn="t"/>
                      <a:r>
                        <a:rPr lang="en-US" sz="800" u="none" strike="noStrike">
                          <a:effectLst/>
                        </a:rPr>
                        <a:t>T1654: Log Enumeration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70798257"/>
                  </a:ext>
                </a:extLst>
              </a:tr>
              <a:tr h="265504">
                <a:tc>
                  <a:txBody>
                    <a:bodyPr/>
                    <a:lstStyle/>
                    <a:p>
                      <a:pPr algn="l" fontAlgn="t"/>
                      <a:r>
                        <a:rPr lang="en-US" sz="800" u="none" strike="noStrike">
                          <a:effectLst/>
                          <a:highlight>
                            <a:srgbClr val="FF0000"/>
                          </a:highlight>
                        </a:rPr>
                        <a:t>T1046: Network Service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034397849"/>
                  </a:ext>
                </a:extLst>
              </a:tr>
              <a:tr h="141486">
                <a:tc>
                  <a:txBody>
                    <a:bodyPr/>
                    <a:lstStyle/>
                    <a:p>
                      <a:pPr algn="l" fontAlgn="t"/>
                      <a:r>
                        <a:rPr lang="en-US" sz="800" u="none" strike="noStrike" dirty="0">
                          <a:effectLst/>
                          <a:highlight>
                            <a:srgbClr val="FF0000"/>
                          </a:highlight>
                        </a:rPr>
                        <a:t>T1135: Network Share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023095424"/>
                  </a:ext>
                </a:extLst>
              </a:tr>
              <a:tr h="141486">
                <a:tc>
                  <a:txBody>
                    <a:bodyPr/>
                    <a:lstStyle/>
                    <a:p>
                      <a:pPr algn="l" fontAlgn="t"/>
                      <a:r>
                        <a:rPr lang="en-US" sz="800" u="none" strike="noStrike">
                          <a:effectLst/>
                        </a:rPr>
                        <a:t>T1040: Network Sniffing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857156146"/>
                  </a:ext>
                </a:extLst>
              </a:tr>
              <a:tr h="265504">
                <a:tc>
                  <a:txBody>
                    <a:bodyPr/>
                    <a:lstStyle/>
                    <a:p>
                      <a:pPr algn="l" fontAlgn="t"/>
                      <a:r>
                        <a:rPr lang="en-US" sz="800" u="none" strike="noStrike">
                          <a:effectLst/>
                        </a:rPr>
                        <a:t>T1201: Password Policy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75539276"/>
                  </a:ext>
                </a:extLst>
              </a:tr>
              <a:tr h="141486">
                <a:tc gridSpan="2">
                  <a:txBody>
                    <a:bodyPr/>
                    <a:lstStyle/>
                    <a:p>
                      <a:pPr algn="l" fontAlgn="t"/>
                      <a:r>
                        <a:rPr lang="en-US" sz="800" u="none" strike="noStrike">
                          <a:effectLst/>
                        </a:rPr>
                        <a:t>T1120: Peripheral Device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160257023"/>
                  </a:ext>
                </a:extLst>
              </a:tr>
              <a:tr h="277807">
                <a:tc>
                  <a:txBody>
                    <a:bodyPr/>
                    <a:lstStyle/>
                    <a:p>
                      <a:pPr algn="l" fontAlgn="t"/>
                      <a:r>
                        <a:rPr lang="en-US" sz="800" u="none" strike="noStrike" dirty="0">
                          <a:effectLst/>
                          <a:highlight>
                            <a:srgbClr val="FF0000"/>
                          </a:highlight>
                        </a:rPr>
                        <a:t>T1069: Permission Groups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498010043"/>
                  </a:ext>
                </a:extLst>
              </a:tr>
              <a:tr h="141486">
                <a:tc>
                  <a:txBody>
                    <a:bodyPr/>
                    <a:lstStyle/>
                    <a:p>
                      <a:pPr algn="l" fontAlgn="t"/>
                      <a:r>
                        <a:rPr lang="en-US" sz="800" u="none" strike="noStrike">
                          <a:effectLst/>
                        </a:rPr>
                        <a:t>T1057: Process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91977220"/>
                  </a:ext>
                </a:extLst>
              </a:tr>
              <a:tr h="141486">
                <a:tc>
                  <a:txBody>
                    <a:bodyPr/>
                    <a:lstStyle/>
                    <a:p>
                      <a:pPr algn="l" fontAlgn="t"/>
                      <a:r>
                        <a:rPr lang="en-US" sz="800" u="none" strike="noStrike">
                          <a:effectLst/>
                          <a:highlight>
                            <a:srgbClr val="FF0000"/>
                          </a:highlight>
                        </a:rPr>
                        <a:t>T1012: Query Registry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94891817"/>
                  </a:ext>
                </a:extLst>
              </a:tr>
              <a:tr h="141486">
                <a:tc>
                  <a:txBody>
                    <a:bodyPr/>
                    <a:lstStyle/>
                    <a:p>
                      <a:pPr algn="l" fontAlgn="t"/>
                      <a:r>
                        <a:rPr lang="en-US" sz="800" u="none" strike="noStrike" dirty="0">
                          <a:effectLst/>
                          <a:highlight>
                            <a:srgbClr val="FF0000"/>
                          </a:highlight>
                        </a:rPr>
                        <a:t>T1018: Remote System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929977502"/>
                  </a:ext>
                </a:extLst>
              </a:tr>
              <a:tr h="141486">
                <a:tc>
                  <a:txBody>
                    <a:bodyPr/>
                    <a:lstStyle/>
                    <a:p>
                      <a:pPr algn="l" fontAlgn="t"/>
                      <a:r>
                        <a:rPr lang="en-US" sz="800" u="none" strike="noStrike">
                          <a:effectLst/>
                        </a:rPr>
                        <a:t>T1518: Software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298830781"/>
                  </a:ext>
                </a:extLst>
              </a:tr>
              <a:tr h="277807">
                <a:tc>
                  <a:txBody>
                    <a:bodyPr/>
                    <a:lstStyle/>
                    <a:p>
                      <a:pPr algn="l" fontAlgn="t"/>
                      <a:r>
                        <a:rPr lang="en-US" sz="800" u="none" strike="noStrike" dirty="0">
                          <a:effectLst/>
                          <a:highlight>
                            <a:srgbClr val="FF0000"/>
                          </a:highlight>
                        </a:rPr>
                        <a:t>T1082: System Information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1351155711"/>
                  </a:ext>
                </a:extLst>
              </a:tr>
              <a:tr h="265504">
                <a:tc>
                  <a:txBody>
                    <a:bodyPr/>
                    <a:lstStyle/>
                    <a:p>
                      <a:pPr algn="l" fontAlgn="t"/>
                      <a:r>
                        <a:rPr lang="en-US" sz="800" u="none" strike="noStrike">
                          <a:effectLst/>
                        </a:rPr>
                        <a:t>T1614: System Location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181087066"/>
                  </a:ext>
                </a:extLst>
              </a:tr>
              <a:tr h="277807">
                <a:tc>
                  <a:txBody>
                    <a:bodyPr/>
                    <a:lstStyle/>
                    <a:p>
                      <a:pPr algn="l" fontAlgn="t"/>
                      <a:r>
                        <a:rPr lang="en-US" sz="800" u="none" strike="noStrike">
                          <a:effectLst/>
                          <a:highlight>
                            <a:srgbClr val="FF0000"/>
                          </a:highlight>
                        </a:rPr>
                        <a:t>T1016: System Network Configuration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635769062"/>
                  </a:ext>
                </a:extLst>
              </a:tr>
              <a:tr h="277807">
                <a:tc>
                  <a:txBody>
                    <a:bodyPr/>
                    <a:lstStyle/>
                    <a:p>
                      <a:pPr algn="l" fontAlgn="t"/>
                      <a:r>
                        <a:rPr lang="en-US" sz="800" u="none" strike="noStrike">
                          <a:effectLst/>
                          <a:highlight>
                            <a:srgbClr val="FF0000"/>
                          </a:highlight>
                        </a:rPr>
                        <a:t>T1049: System Network Connections Discovery</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742511250"/>
                  </a:ext>
                </a:extLst>
              </a:tr>
              <a:tr h="277807">
                <a:tc>
                  <a:txBody>
                    <a:bodyPr/>
                    <a:lstStyle/>
                    <a:p>
                      <a:pPr algn="l" fontAlgn="t"/>
                      <a:r>
                        <a:rPr lang="en-US" sz="800" u="none" strike="noStrike" dirty="0">
                          <a:effectLst/>
                          <a:highlight>
                            <a:srgbClr val="FF0000"/>
                          </a:highlight>
                        </a:rPr>
                        <a:t>T1033: System Owner/User Discovery</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3147156736"/>
                  </a:ext>
                </a:extLst>
              </a:tr>
              <a:tr h="120210">
                <a:tc>
                  <a:txBody>
                    <a:bodyPr/>
                    <a:lstStyle/>
                    <a:p>
                      <a:pPr algn="l" fontAlgn="t"/>
                      <a:r>
                        <a:rPr lang="en-US" sz="800" u="none" strike="noStrike">
                          <a:effectLst/>
                        </a:rPr>
                        <a:t>T1007: System Service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313288476"/>
                  </a:ext>
                </a:extLst>
              </a:tr>
              <a:tr h="141486">
                <a:tc>
                  <a:txBody>
                    <a:bodyPr/>
                    <a:lstStyle/>
                    <a:p>
                      <a:pPr algn="l" fontAlgn="t"/>
                      <a:r>
                        <a:rPr lang="en-US" sz="800" u="none" strike="noStrike">
                          <a:effectLst/>
                        </a:rPr>
                        <a:t>T1124: System Time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477221565"/>
                  </a:ext>
                </a:extLst>
              </a:tr>
              <a:tr h="141486">
                <a:tc>
                  <a:txBody>
                    <a:bodyPr/>
                    <a:lstStyle/>
                    <a:p>
                      <a:pPr algn="l" fontAlgn="t"/>
                      <a:r>
                        <a:rPr lang="en-US" sz="800" u="none" strike="noStrike">
                          <a:effectLst/>
                        </a:rPr>
                        <a:t>T1673: Virtual Machine Discovery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nchor="b"/>
                </a:tc>
                <a:extLst>
                  <a:ext uri="{0D108BD9-81ED-4DB2-BD59-A6C34878D82A}">
                    <a16:rowId xmlns:a16="http://schemas.microsoft.com/office/drawing/2014/main" val="2193022914"/>
                  </a:ext>
                </a:extLst>
              </a:tr>
              <a:tr h="141486">
                <a:tc gridSpan="2">
                  <a:txBody>
                    <a:bodyPr/>
                    <a:lstStyle/>
                    <a:p>
                      <a:pPr algn="l" fontAlgn="t"/>
                      <a:r>
                        <a:rPr lang="en-US" sz="800" u="none" strike="noStrike" dirty="0">
                          <a:effectLst/>
                        </a:rPr>
                        <a:t>T1497: Virtualization/Sandbox Evasion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627" marR="3627" marT="3627" marB="0"/>
                </a:tc>
                <a:tc hMerge="1">
                  <a:txBody>
                    <a:bodyPr/>
                    <a:lstStyle/>
                    <a:p>
                      <a:endParaRPr kumimoji="1" lang="ja-JP" altLang="en-US"/>
                    </a:p>
                  </a:txBody>
                  <a:tcPr/>
                </a:tc>
                <a:extLst>
                  <a:ext uri="{0D108BD9-81ED-4DB2-BD59-A6C34878D82A}">
                    <a16:rowId xmlns:a16="http://schemas.microsoft.com/office/drawing/2014/main" val="345235022"/>
                  </a:ext>
                </a:extLst>
              </a:tr>
            </a:tbl>
          </a:graphicData>
        </a:graphic>
      </p:graphicFrame>
      <p:graphicFrame>
        <p:nvGraphicFramePr>
          <p:cNvPr id="6" name="表 5">
            <a:extLst>
              <a:ext uri="{FF2B5EF4-FFF2-40B4-BE49-F238E27FC236}">
                <a16:creationId xmlns:a16="http://schemas.microsoft.com/office/drawing/2014/main" id="{B36BB34C-8D8C-4B73-9540-F5CC05BB6E3F}"/>
              </a:ext>
            </a:extLst>
          </p:cNvPr>
          <p:cNvGraphicFramePr>
            <a:graphicFrameLocks noGrp="1"/>
          </p:cNvGraphicFramePr>
          <p:nvPr>
            <p:extLst>
              <p:ext uri="{D42A27DB-BD31-4B8C-83A1-F6EECF244321}">
                <p14:modId xmlns:p14="http://schemas.microsoft.com/office/powerpoint/2010/main" val="2279357348"/>
              </p:ext>
            </p:extLst>
          </p:nvPr>
        </p:nvGraphicFramePr>
        <p:xfrm>
          <a:off x="8365556" y="0"/>
          <a:ext cx="3826444" cy="6545174"/>
        </p:xfrm>
        <a:graphic>
          <a:graphicData uri="http://schemas.openxmlformats.org/drawingml/2006/table">
            <a:tbl>
              <a:tblPr>
                <a:tableStyleId>{5C22544A-7EE6-4342-B048-85BDC9FD1C3A}</a:tableStyleId>
              </a:tblPr>
              <a:tblGrid>
                <a:gridCol w="1913222">
                  <a:extLst>
                    <a:ext uri="{9D8B030D-6E8A-4147-A177-3AD203B41FA5}">
                      <a16:colId xmlns:a16="http://schemas.microsoft.com/office/drawing/2014/main" val="1154918065"/>
                    </a:ext>
                  </a:extLst>
                </a:gridCol>
                <a:gridCol w="1913222">
                  <a:extLst>
                    <a:ext uri="{9D8B030D-6E8A-4147-A177-3AD203B41FA5}">
                      <a16:colId xmlns:a16="http://schemas.microsoft.com/office/drawing/2014/main" val="3455387200"/>
                    </a:ext>
                  </a:extLst>
                </a:gridCol>
              </a:tblGrid>
              <a:tr h="253876">
                <a:tc gridSpan="2">
                  <a:txBody>
                    <a:bodyPr/>
                    <a:lstStyle/>
                    <a:p>
                      <a:pPr algn="ctr" fontAlgn="b"/>
                      <a:r>
                        <a:rPr lang="en-US" sz="800" u="none" strike="noStrike" dirty="0">
                          <a:effectLst/>
                        </a:rPr>
                        <a:t>TA0008: Lateral Movement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2626825988"/>
                  </a:ext>
                </a:extLst>
              </a:tr>
              <a:tr h="253876">
                <a:tc gridSpan="2">
                  <a:txBody>
                    <a:bodyPr/>
                    <a:lstStyle/>
                    <a:p>
                      <a:pPr algn="l" fontAlgn="t"/>
                      <a:r>
                        <a:rPr lang="en-US" sz="800" u="none" strike="noStrike">
                          <a:effectLst/>
                        </a:rPr>
                        <a:t>T1210: Exploitation of Remote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lnT w="12700" cap="flat" cmpd="sng" algn="ctr">
                      <a:solidFill>
                        <a:srgbClr val="92D050"/>
                      </a:solidFill>
                      <a:prstDash val="sysDash"/>
                      <a:round/>
                      <a:headEnd type="none" w="med" len="med"/>
                      <a:tailEnd type="none" w="med" len="med"/>
                    </a:lnT>
                  </a:tcPr>
                </a:tc>
                <a:tc hMerge="1">
                  <a:txBody>
                    <a:bodyPr/>
                    <a:lstStyle/>
                    <a:p>
                      <a:endParaRPr kumimoji="1" lang="ja-JP" altLang="en-US"/>
                    </a:p>
                  </a:txBody>
                  <a:tcPr/>
                </a:tc>
                <a:extLst>
                  <a:ext uri="{0D108BD9-81ED-4DB2-BD59-A6C34878D82A}">
                    <a16:rowId xmlns:a16="http://schemas.microsoft.com/office/drawing/2014/main" val="2371700535"/>
                  </a:ext>
                </a:extLst>
              </a:tr>
              <a:tr h="253876">
                <a:tc>
                  <a:txBody>
                    <a:bodyPr/>
                    <a:lstStyle/>
                    <a:p>
                      <a:pPr algn="l" fontAlgn="t"/>
                      <a:r>
                        <a:rPr lang="en-US" sz="800" u="none" strike="noStrike">
                          <a:effectLst/>
                        </a:rPr>
                        <a:t>T1534: Internal Spearphishing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378839343"/>
                  </a:ext>
                </a:extLst>
              </a:tr>
              <a:tr h="253876">
                <a:tc>
                  <a:txBody>
                    <a:bodyPr/>
                    <a:lstStyle/>
                    <a:p>
                      <a:pPr algn="l" fontAlgn="t"/>
                      <a:r>
                        <a:rPr lang="en-US" sz="800" u="none" strike="noStrike" dirty="0">
                          <a:effectLst/>
                          <a:highlight>
                            <a:srgbClr val="FF0000"/>
                          </a:highlight>
                        </a:rPr>
                        <a:t>T1570: Lateral Tool Transfer</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1148278051"/>
                  </a:ext>
                </a:extLst>
              </a:tr>
              <a:tr h="253876">
                <a:tc gridSpan="2">
                  <a:txBody>
                    <a:bodyPr/>
                    <a:lstStyle/>
                    <a:p>
                      <a:pPr algn="l" fontAlgn="t"/>
                      <a:r>
                        <a:rPr lang="en-US" sz="800" u="none" strike="noStrike">
                          <a:effectLst/>
                        </a:rPr>
                        <a:t>T1563: Remote Service Session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746237446"/>
                  </a:ext>
                </a:extLst>
              </a:tr>
              <a:tr h="253876">
                <a:tc rowSpan="8">
                  <a:txBody>
                    <a:bodyPr/>
                    <a:lstStyle/>
                    <a:p>
                      <a:pPr algn="l" fontAlgn="t"/>
                      <a:r>
                        <a:rPr lang="en-US" sz="800" u="none" strike="noStrike" dirty="0">
                          <a:effectLst/>
                        </a:rPr>
                        <a:t>T1021: Remote Services</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T1021.007: Cloud Services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37394244"/>
                  </a:ext>
                </a:extLst>
              </a:tr>
              <a:tr h="498485">
                <a:tc vMerge="1">
                  <a:txBody>
                    <a:bodyPr/>
                    <a:lstStyle/>
                    <a:p>
                      <a:endParaRPr kumimoji="1" lang="ja-JP" altLang="en-US"/>
                    </a:p>
                  </a:txBody>
                  <a:tcPr/>
                </a:tc>
                <a:tc>
                  <a:txBody>
                    <a:bodyPr/>
                    <a:lstStyle/>
                    <a:p>
                      <a:pPr algn="l" fontAlgn="t"/>
                      <a:r>
                        <a:rPr lang="en-US" sz="800" u="none" strike="noStrike">
                          <a:effectLst/>
                        </a:rPr>
                        <a:t>T1021.008: Direct Cloud VM Connections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42132473"/>
                  </a:ext>
                </a:extLst>
              </a:tr>
              <a:tr h="498485">
                <a:tc vMerge="1">
                  <a:txBody>
                    <a:bodyPr/>
                    <a:lstStyle/>
                    <a:p>
                      <a:endParaRPr kumimoji="1" lang="ja-JP" altLang="en-US"/>
                    </a:p>
                  </a:txBody>
                  <a:tcPr/>
                </a:tc>
                <a:tc>
                  <a:txBody>
                    <a:bodyPr/>
                    <a:lstStyle/>
                    <a:p>
                      <a:pPr algn="l" fontAlgn="t"/>
                      <a:r>
                        <a:rPr lang="en-US" sz="800" u="none" strike="noStrike">
                          <a:effectLst/>
                        </a:rPr>
                        <a:t>T1021.003: Distributed Component Object Model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2172264935"/>
                  </a:ext>
                </a:extLst>
              </a:tr>
              <a:tr h="498485">
                <a:tc vMerge="1">
                  <a:txBody>
                    <a:bodyPr/>
                    <a:lstStyle/>
                    <a:p>
                      <a:endParaRPr kumimoji="1" lang="ja-JP" altLang="en-US"/>
                    </a:p>
                  </a:txBody>
                  <a:tcPr/>
                </a:tc>
                <a:tc>
                  <a:txBody>
                    <a:bodyPr/>
                    <a:lstStyle/>
                    <a:p>
                      <a:pPr algn="l" fontAlgn="t"/>
                      <a:r>
                        <a:rPr lang="en-US" sz="800" u="none" strike="noStrike">
                          <a:effectLst/>
                          <a:highlight>
                            <a:srgbClr val="FF0000"/>
                          </a:highlight>
                        </a:rPr>
                        <a:t>T1021.001: Remote Desktop Protocol</a:t>
                      </a:r>
                      <a:endParaRPr lang="en-US" sz="8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56900907"/>
                  </a:ext>
                </a:extLst>
              </a:tr>
              <a:tr h="498485">
                <a:tc vMerge="1">
                  <a:txBody>
                    <a:bodyPr/>
                    <a:lstStyle/>
                    <a:p>
                      <a:endParaRPr kumimoji="1" lang="ja-JP" altLang="en-US"/>
                    </a:p>
                  </a:txBody>
                  <a:tcPr/>
                </a:tc>
                <a:tc>
                  <a:txBody>
                    <a:bodyPr/>
                    <a:lstStyle/>
                    <a:p>
                      <a:pPr algn="l" fontAlgn="t"/>
                      <a:r>
                        <a:rPr lang="en-US" sz="800" u="none" strike="noStrike" dirty="0">
                          <a:effectLst/>
                          <a:highlight>
                            <a:srgbClr val="FF0000"/>
                          </a:highlight>
                        </a:rPr>
                        <a:t>T1021.002: SMB/Windows Admin Shares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781369900"/>
                  </a:ext>
                </a:extLst>
              </a:tr>
              <a:tr h="253876">
                <a:tc vMerge="1">
                  <a:txBody>
                    <a:bodyPr/>
                    <a:lstStyle/>
                    <a:p>
                      <a:endParaRPr kumimoji="1" lang="ja-JP" altLang="en-US"/>
                    </a:p>
                  </a:txBody>
                  <a:tcPr/>
                </a:tc>
                <a:tc>
                  <a:txBody>
                    <a:bodyPr/>
                    <a:lstStyle/>
                    <a:p>
                      <a:pPr algn="l" fontAlgn="t"/>
                      <a:r>
                        <a:rPr lang="en-US" sz="800" u="none" strike="noStrike">
                          <a:effectLst/>
                        </a:rPr>
                        <a:t>T1021.004: SSH</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4239403995"/>
                  </a:ext>
                </a:extLst>
              </a:tr>
              <a:tr h="253876">
                <a:tc vMerge="1">
                  <a:txBody>
                    <a:bodyPr/>
                    <a:lstStyle/>
                    <a:p>
                      <a:endParaRPr kumimoji="1" lang="ja-JP" altLang="en-US"/>
                    </a:p>
                  </a:txBody>
                  <a:tcPr/>
                </a:tc>
                <a:tc>
                  <a:txBody>
                    <a:bodyPr/>
                    <a:lstStyle/>
                    <a:p>
                      <a:pPr algn="l" fontAlgn="t"/>
                      <a:r>
                        <a:rPr lang="en-US" sz="800" u="none" strike="noStrike">
                          <a:effectLst/>
                        </a:rPr>
                        <a:t>T1021.005: VNC</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606852585"/>
                  </a:ext>
                </a:extLst>
              </a:tr>
              <a:tr h="498485">
                <a:tc vMerge="1">
                  <a:txBody>
                    <a:bodyPr/>
                    <a:lstStyle/>
                    <a:p>
                      <a:endParaRPr kumimoji="1" lang="ja-JP" altLang="en-US"/>
                    </a:p>
                  </a:txBody>
                  <a:tcPr/>
                </a:tc>
                <a:tc>
                  <a:txBody>
                    <a:bodyPr/>
                    <a:lstStyle/>
                    <a:p>
                      <a:pPr algn="l" fontAlgn="t"/>
                      <a:r>
                        <a:rPr lang="en-US" sz="800" u="none" strike="noStrike">
                          <a:effectLst/>
                        </a:rPr>
                        <a:t>T1021.006: Windows Remote Management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667500756"/>
                  </a:ext>
                </a:extLst>
              </a:tr>
              <a:tr h="253876">
                <a:tc gridSpan="2">
                  <a:txBody>
                    <a:bodyPr/>
                    <a:lstStyle/>
                    <a:p>
                      <a:pPr algn="l" fontAlgn="t"/>
                      <a:r>
                        <a:rPr lang="en-US" sz="800" u="none" strike="noStrike">
                          <a:effectLst/>
                        </a:rPr>
                        <a:t>T1091: Replication Through Removable Media</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hMerge="1">
                  <a:txBody>
                    <a:bodyPr/>
                    <a:lstStyle/>
                    <a:p>
                      <a:endParaRPr kumimoji="1" lang="ja-JP" altLang="en-US"/>
                    </a:p>
                  </a:txBody>
                  <a:tcPr/>
                </a:tc>
                <a:extLst>
                  <a:ext uri="{0D108BD9-81ED-4DB2-BD59-A6C34878D82A}">
                    <a16:rowId xmlns:a16="http://schemas.microsoft.com/office/drawing/2014/main" val="1487810061"/>
                  </a:ext>
                </a:extLst>
              </a:tr>
              <a:tr h="253876">
                <a:tc>
                  <a:txBody>
                    <a:bodyPr/>
                    <a:lstStyle/>
                    <a:p>
                      <a:pPr algn="l" fontAlgn="t"/>
                      <a:r>
                        <a:rPr lang="en-US" sz="800" u="none" strike="noStrike">
                          <a:effectLst/>
                        </a:rPr>
                        <a:t>T1072: Software Deployment Tools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609328051"/>
                  </a:ext>
                </a:extLst>
              </a:tr>
              <a:tr h="253876">
                <a:tc>
                  <a:txBody>
                    <a:bodyPr/>
                    <a:lstStyle/>
                    <a:p>
                      <a:pPr algn="l" fontAlgn="t"/>
                      <a:r>
                        <a:rPr lang="en-US" sz="800" u="none" strike="noStrike">
                          <a:effectLst/>
                        </a:rPr>
                        <a:t>T1080: Taint Shared Content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nchor="b"/>
                </a:tc>
                <a:extLst>
                  <a:ext uri="{0D108BD9-81ED-4DB2-BD59-A6C34878D82A}">
                    <a16:rowId xmlns:a16="http://schemas.microsoft.com/office/drawing/2014/main" val="3616867152"/>
                  </a:ext>
                </a:extLst>
              </a:tr>
              <a:tr h="498485">
                <a:tc rowSpan="4">
                  <a:txBody>
                    <a:bodyPr/>
                    <a:lstStyle/>
                    <a:p>
                      <a:pPr algn="l" fontAlgn="t"/>
                      <a:r>
                        <a:rPr lang="en-US" sz="800" u="none" strike="noStrike" dirty="0">
                          <a:effectLst/>
                        </a:rPr>
                        <a:t>T1550: Use Alternate Authentication Material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tc>
                  <a:txBody>
                    <a:bodyPr/>
                    <a:lstStyle/>
                    <a:p>
                      <a:pPr algn="l" fontAlgn="t"/>
                      <a:r>
                        <a:rPr lang="en-US" sz="800" u="none" strike="noStrike">
                          <a:effectLst/>
                        </a:rPr>
                        <a:t>T1550.001: Application Access Token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191802464"/>
                  </a:ext>
                </a:extLst>
              </a:tr>
              <a:tr h="253876">
                <a:tc vMerge="1">
                  <a:txBody>
                    <a:bodyPr/>
                    <a:lstStyle/>
                    <a:p>
                      <a:endParaRPr kumimoji="1" lang="ja-JP" altLang="en-US"/>
                    </a:p>
                  </a:txBody>
                  <a:tcPr/>
                </a:tc>
                <a:tc>
                  <a:txBody>
                    <a:bodyPr/>
                    <a:lstStyle/>
                    <a:p>
                      <a:pPr algn="l" fontAlgn="t"/>
                      <a:r>
                        <a:rPr lang="en-US" sz="800" u="none" strike="noStrike" dirty="0">
                          <a:effectLst/>
                          <a:highlight>
                            <a:srgbClr val="FF0000"/>
                          </a:highlight>
                        </a:rPr>
                        <a:t>T1550.002: Pass the Hash</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1262074228"/>
                  </a:ext>
                </a:extLst>
              </a:tr>
              <a:tr h="253876">
                <a:tc vMerge="1">
                  <a:txBody>
                    <a:bodyPr/>
                    <a:lstStyle/>
                    <a:p>
                      <a:endParaRPr kumimoji="1" lang="ja-JP" altLang="en-US"/>
                    </a:p>
                  </a:txBody>
                  <a:tcPr/>
                </a:tc>
                <a:tc>
                  <a:txBody>
                    <a:bodyPr/>
                    <a:lstStyle/>
                    <a:p>
                      <a:pPr algn="l" fontAlgn="t"/>
                      <a:r>
                        <a:rPr lang="en-US" sz="800" u="none" strike="noStrike">
                          <a:effectLst/>
                        </a:rPr>
                        <a:t>T1550.003: Pass the Ticket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273868523"/>
                  </a:ext>
                </a:extLst>
              </a:tr>
              <a:tr h="253876">
                <a:tc vMerge="1">
                  <a:txBody>
                    <a:bodyPr/>
                    <a:lstStyle/>
                    <a:p>
                      <a:endParaRPr kumimoji="1" lang="ja-JP" altLang="en-US"/>
                    </a:p>
                  </a:txBody>
                  <a:tcPr/>
                </a:tc>
                <a:tc>
                  <a:txBody>
                    <a:bodyPr/>
                    <a:lstStyle/>
                    <a:p>
                      <a:pPr algn="l" fontAlgn="t"/>
                      <a:r>
                        <a:rPr lang="en-US" sz="800" u="none" strike="noStrike" dirty="0">
                          <a:effectLst/>
                        </a:rPr>
                        <a:t>T1550.004: Web Session Cookie</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160" marR="6160" marT="6160" marB="0"/>
                </a:tc>
                <a:extLst>
                  <a:ext uri="{0D108BD9-81ED-4DB2-BD59-A6C34878D82A}">
                    <a16:rowId xmlns:a16="http://schemas.microsoft.com/office/drawing/2014/main" val="3082577592"/>
                  </a:ext>
                </a:extLst>
              </a:tr>
            </a:tbl>
          </a:graphicData>
        </a:graphic>
      </p:graphicFrame>
    </p:spTree>
    <p:extLst>
      <p:ext uri="{BB962C8B-B14F-4D97-AF65-F5344CB8AC3E}">
        <p14:creationId xmlns:p14="http://schemas.microsoft.com/office/powerpoint/2010/main" val="2381863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8A978C-B093-4E93-8548-5AAF1BB42840}"/>
              </a:ext>
            </a:extLst>
          </p:cNvPr>
          <p:cNvSpPr>
            <a:spLocks noGrp="1"/>
          </p:cNvSpPr>
          <p:nvPr>
            <p:ph type="title"/>
          </p:nvPr>
        </p:nvSpPr>
        <p:spPr/>
        <p:txBody>
          <a:bodyPr/>
          <a:lstStyle/>
          <a:p>
            <a:endParaRPr kumimoji="1" lang="ja-JP" altLang="en-US"/>
          </a:p>
        </p:txBody>
      </p:sp>
      <p:graphicFrame>
        <p:nvGraphicFramePr>
          <p:cNvPr id="4" name="コンテンツ プレースホルダー 3">
            <a:extLst>
              <a:ext uri="{FF2B5EF4-FFF2-40B4-BE49-F238E27FC236}">
                <a16:creationId xmlns:a16="http://schemas.microsoft.com/office/drawing/2014/main" id="{2BF74EC2-B262-4375-BE8E-DC0FE7ACC85B}"/>
              </a:ext>
            </a:extLst>
          </p:cNvPr>
          <p:cNvGraphicFramePr>
            <a:graphicFrameLocks noGrp="1"/>
          </p:cNvGraphicFramePr>
          <p:nvPr>
            <p:ph idx="1"/>
            <p:extLst>
              <p:ext uri="{D42A27DB-BD31-4B8C-83A1-F6EECF244321}">
                <p14:modId xmlns:p14="http://schemas.microsoft.com/office/powerpoint/2010/main" val="4254156362"/>
              </p:ext>
            </p:extLst>
          </p:nvPr>
        </p:nvGraphicFramePr>
        <p:xfrm>
          <a:off x="-2" y="0"/>
          <a:ext cx="3823374" cy="6565870"/>
        </p:xfrm>
        <a:graphic>
          <a:graphicData uri="http://schemas.openxmlformats.org/drawingml/2006/table">
            <a:tbl>
              <a:tblPr>
                <a:tableStyleId>{5C22544A-7EE6-4342-B048-85BDC9FD1C3A}</a:tableStyleId>
              </a:tblPr>
              <a:tblGrid>
                <a:gridCol w="1911687">
                  <a:extLst>
                    <a:ext uri="{9D8B030D-6E8A-4147-A177-3AD203B41FA5}">
                      <a16:colId xmlns:a16="http://schemas.microsoft.com/office/drawing/2014/main" val="3902511466"/>
                    </a:ext>
                  </a:extLst>
                </a:gridCol>
                <a:gridCol w="1911687">
                  <a:extLst>
                    <a:ext uri="{9D8B030D-6E8A-4147-A177-3AD203B41FA5}">
                      <a16:colId xmlns:a16="http://schemas.microsoft.com/office/drawing/2014/main" val="3078638281"/>
                    </a:ext>
                  </a:extLst>
                </a:gridCol>
              </a:tblGrid>
              <a:tr h="184367">
                <a:tc gridSpan="2">
                  <a:txBody>
                    <a:bodyPr/>
                    <a:lstStyle/>
                    <a:p>
                      <a:pPr algn="ctr" fontAlgn="b"/>
                      <a:r>
                        <a:rPr lang="en-US" sz="900" u="none" strike="noStrike" dirty="0">
                          <a:effectLst/>
                        </a:rPr>
                        <a:t>TA0009: Collection</a:t>
                      </a:r>
                      <a:endParaRPr 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78742858"/>
                  </a:ext>
                </a:extLst>
              </a:tr>
              <a:tr h="184367">
                <a:tc>
                  <a:txBody>
                    <a:bodyPr/>
                    <a:lstStyle/>
                    <a:p>
                      <a:pPr algn="l" fontAlgn="t"/>
                      <a:r>
                        <a:rPr lang="en-US" sz="900" u="none" strike="noStrike">
                          <a:effectLst/>
                        </a:rPr>
                        <a:t>T1557: Adversary-in-the-Middle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lnT w="12700" cap="flat" cmpd="sng" algn="ctr">
                      <a:solidFill>
                        <a:srgbClr val="92D050"/>
                      </a:solidFill>
                      <a:prstDash val="sysDash"/>
                      <a:round/>
                      <a:headEnd type="none" w="med" len="med"/>
                      <a:tailEnd type="none" w="med" len="med"/>
                    </a:lnT>
                  </a:tcPr>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245363559"/>
                  </a:ext>
                </a:extLst>
              </a:tr>
              <a:tr h="362080">
                <a:tc rowSpan="3">
                  <a:txBody>
                    <a:bodyPr/>
                    <a:lstStyle/>
                    <a:p>
                      <a:pPr algn="l" fontAlgn="t"/>
                      <a:r>
                        <a:rPr lang="en-US" sz="900" u="none" strike="noStrike">
                          <a:effectLst/>
                        </a:rPr>
                        <a:t>T1560: Archive Collected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T1560.003: Archive via Custom Method</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336759976"/>
                  </a:ext>
                </a:extLst>
              </a:tr>
              <a:tr h="184367">
                <a:tc vMerge="1">
                  <a:txBody>
                    <a:bodyPr/>
                    <a:lstStyle/>
                    <a:p>
                      <a:endParaRPr kumimoji="1" lang="ja-JP" altLang="en-US"/>
                    </a:p>
                  </a:txBody>
                  <a:tcPr/>
                </a:tc>
                <a:tc>
                  <a:txBody>
                    <a:bodyPr/>
                    <a:lstStyle/>
                    <a:p>
                      <a:pPr algn="l" fontAlgn="t"/>
                      <a:r>
                        <a:rPr lang="en-US" sz="900" u="none" strike="noStrike">
                          <a:effectLst/>
                        </a:rPr>
                        <a:t>T1560.002: Archive via Library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118750861"/>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T1560.001: Archive via Utility</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229851064"/>
                  </a:ext>
                </a:extLst>
              </a:tr>
              <a:tr h="184367">
                <a:tc>
                  <a:txBody>
                    <a:bodyPr/>
                    <a:lstStyle/>
                    <a:p>
                      <a:pPr algn="l" fontAlgn="t"/>
                      <a:r>
                        <a:rPr lang="en-US" sz="900" u="none" strike="noStrike">
                          <a:effectLst/>
                        </a:rPr>
                        <a:t>T1123: Audio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56714135"/>
                  </a:ext>
                </a:extLst>
              </a:tr>
              <a:tr h="184367">
                <a:tc>
                  <a:txBody>
                    <a:bodyPr/>
                    <a:lstStyle/>
                    <a:p>
                      <a:pPr algn="l" fontAlgn="t"/>
                      <a:r>
                        <a:rPr lang="en-US" sz="900" u="none" strike="noStrike" dirty="0">
                          <a:effectLst/>
                          <a:highlight>
                            <a:srgbClr val="FF0000"/>
                          </a:highlight>
                        </a:rPr>
                        <a:t>T1119: Automated Collection</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253787761"/>
                  </a:ext>
                </a:extLst>
              </a:tr>
              <a:tr h="362080">
                <a:tc>
                  <a:txBody>
                    <a:bodyPr/>
                    <a:lstStyle/>
                    <a:p>
                      <a:pPr algn="l" fontAlgn="t"/>
                      <a:r>
                        <a:rPr lang="en-US" sz="900" u="none" strike="noStrike">
                          <a:effectLst/>
                        </a:rPr>
                        <a:t>T1185: Browser Session Hijacking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457935657"/>
                  </a:ext>
                </a:extLst>
              </a:tr>
              <a:tr h="184367">
                <a:tc>
                  <a:txBody>
                    <a:bodyPr/>
                    <a:lstStyle/>
                    <a:p>
                      <a:pPr algn="l" fontAlgn="t"/>
                      <a:r>
                        <a:rPr lang="en-US" sz="900" u="none" strike="noStrike">
                          <a:effectLst/>
                        </a:rPr>
                        <a:t>T1115: Clipboard Data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185205610"/>
                  </a:ext>
                </a:extLst>
              </a:tr>
              <a:tr h="184367">
                <a:tc>
                  <a:txBody>
                    <a:bodyPr/>
                    <a:lstStyle/>
                    <a:p>
                      <a:pPr algn="l" fontAlgn="t"/>
                      <a:r>
                        <a:rPr lang="en-US" sz="900" u="none" strike="noStrike">
                          <a:effectLst/>
                        </a:rPr>
                        <a:t>T1530: Data from Cloud Storage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428054200"/>
                  </a:ext>
                </a:extLst>
              </a:tr>
              <a:tr h="184367">
                <a:tc gridSpan="2">
                  <a:txBody>
                    <a:bodyPr/>
                    <a:lstStyle/>
                    <a:p>
                      <a:pPr algn="l" fontAlgn="t"/>
                      <a:r>
                        <a:rPr lang="en-US" sz="900" u="none" strike="noStrike">
                          <a:effectLst/>
                        </a:rPr>
                        <a:t>T1602: Data from Configuration Repository</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4069772063"/>
                  </a:ext>
                </a:extLst>
              </a:tr>
              <a:tr h="184367">
                <a:tc rowSpan="6">
                  <a:txBody>
                    <a:bodyPr/>
                    <a:lstStyle/>
                    <a:p>
                      <a:pPr algn="l" fontAlgn="t"/>
                      <a:r>
                        <a:rPr lang="en-US" sz="900" u="none" strike="noStrike" dirty="0">
                          <a:effectLst/>
                        </a:rPr>
                        <a:t>T1213: Data from Information Repositories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T1213.003: Code Repositories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761667533"/>
                  </a:ext>
                </a:extLst>
              </a:tr>
              <a:tr h="184367">
                <a:tc vMerge="1">
                  <a:txBody>
                    <a:bodyPr/>
                    <a:lstStyle/>
                    <a:p>
                      <a:endParaRPr kumimoji="1" lang="ja-JP" altLang="en-US"/>
                    </a:p>
                  </a:txBody>
                  <a:tcPr/>
                </a:tc>
                <a:tc>
                  <a:txBody>
                    <a:bodyPr/>
                    <a:lstStyle/>
                    <a:p>
                      <a:pPr algn="l" fontAlgn="t"/>
                      <a:r>
                        <a:rPr lang="en-US" sz="900" u="none" strike="noStrike">
                          <a:effectLst/>
                        </a:rPr>
                        <a:t>T1213.001: Confluence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4064950117"/>
                  </a:ext>
                </a:extLst>
              </a:tr>
              <a:tr h="539794">
                <a:tc vMerge="1">
                  <a:txBody>
                    <a:bodyPr/>
                    <a:lstStyle/>
                    <a:p>
                      <a:endParaRPr kumimoji="1" lang="ja-JP" altLang="en-US"/>
                    </a:p>
                  </a:txBody>
                  <a:tcPr/>
                </a:tc>
                <a:tc>
                  <a:txBody>
                    <a:bodyPr/>
                    <a:lstStyle/>
                    <a:p>
                      <a:pPr algn="l" fontAlgn="t"/>
                      <a:r>
                        <a:rPr lang="en-US" sz="900" u="none" strike="noStrike">
                          <a:effectLst/>
                        </a:rPr>
                        <a:t>T1213.004: Customer Relationship Management Software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78583559"/>
                  </a:ext>
                </a:extLst>
              </a:tr>
              <a:tr h="159602">
                <a:tc vMerge="1">
                  <a:txBody>
                    <a:bodyPr/>
                    <a:lstStyle/>
                    <a:p>
                      <a:endParaRPr kumimoji="1" lang="ja-JP" altLang="en-US"/>
                    </a:p>
                  </a:txBody>
                  <a:tcPr/>
                </a:tc>
                <a:tc>
                  <a:txBody>
                    <a:bodyPr/>
                    <a:lstStyle/>
                    <a:p>
                      <a:pPr algn="l" fontAlgn="t"/>
                      <a:r>
                        <a:rPr lang="en-US" sz="900" u="none" strike="noStrike" dirty="0">
                          <a:effectLst/>
                          <a:highlight>
                            <a:srgbClr val="FF0000"/>
                          </a:highlight>
                        </a:rPr>
                        <a:t>T1213.006: Databases</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44484093"/>
                  </a:ext>
                </a:extLst>
              </a:tr>
              <a:tr h="362080">
                <a:tc vMerge="1">
                  <a:txBody>
                    <a:bodyPr/>
                    <a:lstStyle/>
                    <a:p>
                      <a:endParaRPr kumimoji="1" lang="ja-JP" altLang="en-US"/>
                    </a:p>
                  </a:txBody>
                  <a:tcPr/>
                </a:tc>
                <a:tc>
                  <a:txBody>
                    <a:bodyPr/>
                    <a:lstStyle/>
                    <a:p>
                      <a:pPr algn="l" fontAlgn="t"/>
                      <a:r>
                        <a:rPr lang="en-US" sz="900" u="none" strike="noStrike" dirty="0">
                          <a:effectLst/>
                        </a:rPr>
                        <a:t>T1213.005: Messaging Applications</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835014509"/>
                  </a:ext>
                </a:extLst>
              </a:tr>
              <a:tr h="184367">
                <a:tc vMerge="1">
                  <a:txBody>
                    <a:bodyPr/>
                    <a:lstStyle/>
                    <a:p>
                      <a:endParaRPr kumimoji="1" lang="ja-JP" altLang="en-US"/>
                    </a:p>
                  </a:txBody>
                  <a:tcPr/>
                </a:tc>
                <a:tc>
                  <a:txBody>
                    <a:bodyPr/>
                    <a:lstStyle/>
                    <a:p>
                      <a:pPr algn="l" fontAlgn="t"/>
                      <a:r>
                        <a:rPr lang="en-US" sz="900" u="none" strike="noStrike">
                          <a:effectLst/>
                        </a:rPr>
                        <a:t>T1213.002: Sharepoint</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69923823"/>
                  </a:ext>
                </a:extLst>
              </a:tr>
              <a:tr h="184367">
                <a:tc>
                  <a:txBody>
                    <a:bodyPr/>
                    <a:lstStyle/>
                    <a:p>
                      <a:pPr algn="l" fontAlgn="t"/>
                      <a:r>
                        <a:rPr lang="en-US" sz="900" u="none" strike="noStrike" dirty="0">
                          <a:effectLst/>
                          <a:highlight>
                            <a:srgbClr val="FF0000"/>
                          </a:highlight>
                        </a:rPr>
                        <a:t>T1005: Data from Local System</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074417801"/>
                  </a:ext>
                </a:extLst>
              </a:tr>
              <a:tr h="184367">
                <a:tc gridSpan="2">
                  <a:txBody>
                    <a:bodyPr/>
                    <a:lstStyle/>
                    <a:p>
                      <a:pPr algn="l" fontAlgn="t"/>
                      <a:r>
                        <a:rPr lang="en-US" sz="900" u="none" strike="noStrike">
                          <a:effectLst/>
                        </a:rPr>
                        <a:t>T1039: Data from Network Shared Drive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537509828"/>
                  </a:ext>
                </a:extLst>
              </a:tr>
              <a:tr h="184367">
                <a:tc gridSpan="2">
                  <a:txBody>
                    <a:bodyPr/>
                    <a:lstStyle/>
                    <a:p>
                      <a:pPr algn="l" fontAlgn="t"/>
                      <a:r>
                        <a:rPr lang="en-US" sz="900" u="none" strike="noStrike">
                          <a:effectLst/>
                        </a:rPr>
                        <a:t>T1025: Data from Removable Media</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hMerge="1">
                  <a:txBody>
                    <a:bodyPr/>
                    <a:lstStyle/>
                    <a:p>
                      <a:endParaRPr kumimoji="1" lang="ja-JP" altLang="en-US"/>
                    </a:p>
                  </a:txBody>
                  <a:tcPr/>
                </a:tc>
                <a:extLst>
                  <a:ext uri="{0D108BD9-81ED-4DB2-BD59-A6C34878D82A}">
                    <a16:rowId xmlns:a16="http://schemas.microsoft.com/office/drawing/2014/main" val="2356071112"/>
                  </a:ext>
                </a:extLst>
              </a:tr>
              <a:tr h="184367">
                <a:tc rowSpan="2">
                  <a:txBody>
                    <a:bodyPr/>
                    <a:lstStyle/>
                    <a:p>
                      <a:pPr algn="l" fontAlgn="t"/>
                      <a:r>
                        <a:rPr lang="en-US" sz="900" u="none" strike="noStrike">
                          <a:effectLst/>
                        </a:rPr>
                        <a:t>T1074: Data Staged</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dirty="0">
                          <a:effectLst/>
                          <a:highlight>
                            <a:srgbClr val="FF0000"/>
                          </a:highlight>
                        </a:rPr>
                        <a:t>T1074.001: Local Data Staging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575198198"/>
                  </a:ext>
                </a:extLst>
              </a:tr>
              <a:tr h="362080">
                <a:tc vMerge="1">
                  <a:txBody>
                    <a:bodyPr/>
                    <a:lstStyle/>
                    <a:p>
                      <a:endParaRPr kumimoji="1" lang="ja-JP" altLang="en-US"/>
                    </a:p>
                  </a:txBody>
                  <a:tcPr/>
                </a:tc>
                <a:tc>
                  <a:txBody>
                    <a:bodyPr/>
                    <a:lstStyle/>
                    <a:p>
                      <a:pPr algn="l" fontAlgn="t"/>
                      <a:r>
                        <a:rPr lang="en-US" sz="900" u="none" strike="noStrike">
                          <a:effectLst/>
                        </a:rPr>
                        <a:t>T1074.002: Remote Data Staging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593216092"/>
                  </a:ext>
                </a:extLst>
              </a:tr>
              <a:tr h="184367">
                <a:tc>
                  <a:txBody>
                    <a:bodyPr/>
                    <a:lstStyle/>
                    <a:p>
                      <a:pPr algn="l" fontAlgn="t"/>
                      <a:r>
                        <a:rPr lang="en-US" sz="900" u="none" strike="noStrike">
                          <a:effectLst/>
                        </a:rPr>
                        <a:t>T1114: Email Collection</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3320020194"/>
                  </a:ext>
                </a:extLst>
              </a:tr>
              <a:tr h="362080">
                <a:tc rowSpan="4">
                  <a:txBody>
                    <a:bodyPr/>
                    <a:lstStyle/>
                    <a:p>
                      <a:pPr algn="l" fontAlgn="t"/>
                      <a:r>
                        <a:rPr lang="en-US" sz="900" u="none" strike="noStrike" dirty="0">
                          <a:effectLst/>
                        </a:rPr>
                        <a:t>T1056: Input Capture</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t"/>
                      <a:r>
                        <a:rPr lang="en-US" sz="900" u="none" strike="noStrike">
                          <a:effectLst/>
                        </a:rPr>
                        <a:t>T1056.004: Credential API Hooking</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1580548747"/>
                  </a:ext>
                </a:extLst>
              </a:tr>
              <a:tr h="184367">
                <a:tc vMerge="1">
                  <a:txBody>
                    <a:bodyPr/>
                    <a:lstStyle/>
                    <a:p>
                      <a:endParaRPr kumimoji="1" lang="ja-JP" altLang="en-US"/>
                    </a:p>
                  </a:txBody>
                  <a:tcPr/>
                </a:tc>
                <a:tc>
                  <a:txBody>
                    <a:bodyPr/>
                    <a:lstStyle/>
                    <a:p>
                      <a:pPr algn="l" fontAlgn="t"/>
                      <a:r>
                        <a:rPr lang="en-US" sz="900" u="none" strike="noStrike">
                          <a:effectLst/>
                        </a:rPr>
                        <a:t>T1056.002: GUI Input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340477393"/>
                  </a:ext>
                </a:extLst>
              </a:tr>
              <a:tr h="184367">
                <a:tc vMerge="1">
                  <a:txBody>
                    <a:bodyPr/>
                    <a:lstStyle/>
                    <a:p>
                      <a:endParaRPr kumimoji="1" lang="ja-JP" altLang="en-US"/>
                    </a:p>
                  </a:txBody>
                  <a:tcPr/>
                </a:tc>
                <a:tc>
                  <a:txBody>
                    <a:bodyPr/>
                    <a:lstStyle/>
                    <a:p>
                      <a:pPr algn="l" fontAlgn="t"/>
                      <a:r>
                        <a:rPr lang="en-US" sz="900" u="none" strike="noStrike" dirty="0">
                          <a:effectLst/>
                          <a:highlight>
                            <a:srgbClr val="FF0000"/>
                          </a:highlight>
                        </a:rPr>
                        <a:t>T1056.001: Keylogging</a:t>
                      </a:r>
                      <a:endParaRPr lang="en-US" sz="9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039558128"/>
                  </a:ext>
                </a:extLst>
              </a:tr>
              <a:tr h="184367">
                <a:tc vMerge="1">
                  <a:txBody>
                    <a:bodyPr/>
                    <a:lstStyle/>
                    <a:p>
                      <a:endParaRPr kumimoji="1" lang="ja-JP" altLang="en-US"/>
                    </a:p>
                  </a:txBody>
                  <a:tcPr/>
                </a:tc>
                <a:tc>
                  <a:txBody>
                    <a:bodyPr/>
                    <a:lstStyle/>
                    <a:p>
                      <a:pPr algn="l" fontAlgn="t"/>
                      <a:r>
                        <a:rPr lang="en-US" sz="900" u="none" strike="noStrike">
                          <a:effectLst/>
                        </a:rPr>
                        <a:t>T1056.003: Web Portal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extLst>
                  <a:ext uri="{0D108BD9-81ED-4DB2-BD59-A6C34878D82A}">
                    <a16:rowId xmlns:a16="http://schemas.microsoft.com/office/drawing/2014/main" val="2629930958"/>
                  </a:ext>
                </a:extLst>
              </a:tr>
              <a:tr h="184367">
                <a:tc>
                  <a:txBody>
                    <a:bodyPr/>
                    <a:lstStyle/>
                    <a:p>
                      <a:pPr algn="l" fontAlgn="t"/>
                      <a:r>
                        <a:rPr lang="en-US" sz="900" u="none" strike="noStrike">
                          <a:effectLst/>
                        </a:rPr>
                        <a:t>T1113: Screen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2307119685"/>
                  </a:ext>
                </a:extLst>
              </a:tr>
              <a:tr h="184367">
                <a:tc>
                  <a:txBody>
                    <a:bodyPr/>
                    <a:lstStyle/>
                    <a:p>
                      <a:pPr algn="l" fontAlgn="t"/>
                      <a:r>
                        <a:rPr lang="en-US" sz="900" u="none" strike="noStrike">
                          <a:effectLst/>
                        </a:rPr>
                        <a:t>T1125: Video Capture</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tc>
                <a:tc>
                  <a:txBody>
                    <a:bodyPr/>
                    <a:lstStyle/>
                    <a:p>
                      <a:pPr algn="l" fontAlgn="b"/>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5135" marR="5135" marT="5135" marB="0" anchor="b"/>
                </a:tc>
                <a:extLst>
                  <a:ext uri="{0D108BD9-81ED-4DB2-BD59-A6C34878D82A}">
                    <a16:rowId xmlns:a16="http://schemas.microsoft.com/office/drawing/2014/main" val="1433677826"/>
                  </a:ext>
                </a:extLst>
              </a:tr>
            </a:tbl>
          </a:graphicData>
        </a:graphic>
      </p:graphicFrame>
      <p:graphicFrame>
        <p:nvGraphicFramePr>
          <p:cNvPr id="5" name="表 4">
            <a:extLst>
              <a:ext uri="{FF2B5EF4-FFF2-40B4-BE49-F238E27FC236}">
                <a16:creationId xmlns:a16="http://schemas.microsoft.com/office/drawing/2014/main" id="{5A74C0C4-21D1-40CB-83E3-33D6A0DA356C}"/>
              </a:ext>
            </a:extLst>
          </p:cNvPr>
          <p:cNvGraphicFramePr>
            <a:graphicFrameLocks noGrp="1"/>
          </p:cNvGraphicFramePr>
          <p:nvPr>
            <p:extLst>
              <p:ext uri="{D42A27DB-BD31-4B8C-83A1-F6EECF244321}">
                <p14:modId xmlns:p14="http://schemas.microsoft.com/office/powerpoint/2010/main" val="522011676"/>
              </p:ext>
            </p:extLst>
          </p:nvPr>
        </p:nvGraphicFramePr>
        <p:xfrm>
          <a:off x="3823372" y="-27"/>
          <a:ext cx="4224206" cy="6565897"/>
        </p:xfrm>
        <a:graphic>
          <a:graphicData uri="http://schemas.openxmlformats.org/drawingml/2006/table">
            <a:tbl>
              <a:tblPr>
                <a:tableStyleId>{5C22544A-7EE6-4342-B048-85BDC9FD1C3A}</a:tableStyleId>
              </a:tblPr>
              <a:tblGrid>
                <a:gridCol w="2112103">
                  <a:extLst>
                    <a:ext uri="{9D8B030D-6E8A-4147-A177-3AD203B41FA5}">
                      <a16:colId xmlns:a16="http://schemas.microsoft.com/office/drawing/2014/main" val="1683510526"/>
                    </a:ext>
                  </a:extLst>
                </a:gridCol>
                <a:gridCol w="2112103">
                  <a:extLst>
                    <a:ext uri="{9D8B030D-6E8A-4147-A177-3AD203B41FA5}">
                      <a16:colId xmlns:a16="http://schemas.microsoft.com/office/drawing/2014/main" val="1469851788"/>
                    </a:ext>
                  </a:extLst>
                </a:gridCol>
              </a:tblGrid>
              <a:tr h="178690">
                <a:tc gridSpan="2">
                  <a:txBody>
                    <a:bodyPr/>
                    <a:lstStyle/>
                    <a:p>
                      <a:pPr algn="ctr" fontAlgn="b"/>
                      <a:r>
                        <a:rPr lang="en-US" sz="700" u="none" strike="noStrike" dirty="0">
                          <a:effectLst/>
                        </a:rPr>
                        <a:t>TA0011: Command and Control</a:t>
                      </a:r>
                      <a:endParaRPr lang="en-US" sz="7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561768411"/>
                  </a:ext>
                </a:extLst>
              </a:tr>
              <a:tr h="178690">
                <a:tc rowSpan="5">
                  <a:txBody>
                    <a:bodyPr/>
                    <a:lstStyle/>
                    <a:p>
                      <a:pPr algn="l" fontAlgn="t"/>
                      <a:r>
                        <a:rPr lang="en-US" sz="700" u="none" strike="noStrike">
                          <a:effectLst/>
                        </a:rPr>
                        <a:t>T1071: Application Layer Protocol</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tc>
                  <a:txBody>
                    <a:bodyPr/>
                    <a:lstStyle/>
                    <a:p>
                      <a:pPr algn="l" fontAlgn="t"/>
                      <a:r>
                        <a:rPr lang="en-US" sz="700" u="none" strike="noStrike">
                          <a:effectLst/>
                          <a:highlight>
                            <a:srgbClr val="FF0000"/>
                          </a:highlight>
                        </a:rPr>
                        <a:t>T1071.004: DNS</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960427617"/>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T1071.002: File Transfer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628403433"/>
                  </a:ext>
                </a:extLst>
              </a:tr>
              <a:tr h="178690">
                <a:tc vMerge="1">
                  <a:txBody>
                    <a:bodyPr/>
                    <a:lstStyle/>
                    <a:p>
                      <a:endParaRPr kumimoji="1" lang="ja-JP" altLang="en-US"/>
                    </a:p>
                  </a:txBody>
                  <a:tcPr/>
                </a:tc>
                <a:tc>
                  <a:txBody>
                    <a:bodyPr/>
                    <a:lstStyle/>
                    <a:p>
                      <a:pPr algn="l" fontAlgn="t"/>
                      <a:r>
                        <a:rPr lang="en-US" sz="700" u="none" strike="noStrike">
                          <a:effectLst/>
                        </a:rPr>
                        <a:t>T1071.003: Mail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99507659"/>
                  </a:ext>
                </a:extLst>
              </a:tr>
              <a:tr h="350861">
                <a:tc vMerge="1">
                  <a:txBody>
                    <a:bodyPr/>
                    <a:lstStyle/>
                    <a:p>
                      <a:endParaRPr kumimoji="1" lang="ja-JP" altLang="en-US"/>
                    </a:p>
                  </a:txBody>
                  <a:tcPr/>
                </a:tc>
                <a:tc>
                  <a:txBody>
                    <a:bodyPr/>
                    <a:lstStyle/>
                    <a:p>
                      <a:pPr algn="l" fontAlgn="t"/>
                      <a:r>
                        <a:rPr lang="en-US" sz="700" u="none" strike="noStrike">
                          <a:effectLst/>
                        </a:rPr>
                        <a:t>T1071.005: Publish/Subscribe Protocols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768487356"/>
                  </a:ext>
                </a:extLst>
              </a:tr>
              <a:tr h="178690">
                <a:tc vMerge="1">
                  <a:txBody>
                    <a:bodyPr/>
                    <a:lstStyle/>
                    <a:p>
                      <a:endParaRPr kumimoji="1" lang="ja-JP" altLang="en-US"/>
                    </a:p>
                  </a:txBody>
                  <a:tcPr/>
                </a:tc>
                <a:tc>
                  <a:txBody>
                    <a:bodyPr/>
                    <a:lstStyle/>
                    <a:p>
                      <a:pPr algn="l" fontAlgn="t"/>
                      <a:r>
                        <a:rPr lang="en-US" sz="700" u="none" strike="noStrike" dirty="0">
                          <a:effectLst/>
                          <a:highlight>
                            <a:srgbClr val="FF0000"/>
                          </a:highlight>
                        </a:rPr>
                        <a:t>T1071.001: Web Protocols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051785235"/>
                  </a:ext>
                </a:extLst>
              </a:tr>
              <a:tr h="178690">
                <a:tc gridSpan="2">
                  <a:txBody>
                    <a:bodyPr/>
                    <a:lstStyle/>
                    <a:p>
                      <a:pPr algn="l" fontAlgn="t"/>
                      <a:r>
                        <a:rPr lang="en-US" sz="700" u="none" strike="noStrike" dirty="0">
                          <a:effectLst/>
                        </a:rPr>
                        <a:t>T1092: Communication Through Removable Media</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1261629742"/>
                  </a:ext>
                </a:extLst>
              </a:tr>
              <a:tr h="178690">
                <a:tc>
                  <a:txBody>
                    <a:bodyPr/>
                    <a:lstStyle/>
                    <a:p>
                      <a:pPr algn="l" fontAlgn="t"/>
                      <a:r>
                        <a:rPr lang="en-US" sz="700" u="none" strike="noStrike">
                          <a:effectLst/>
                        </a:rPr>
                        <a:t>T1659: Content Injection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140871412"/>
                  </a:ext>
                </a:extLst>
              </a:tr>
              <a:tr h="178690">
                <a:tc>
                  <a:txBody>
                    <a:bodyPr/>
                    <a:lstStyle/>
                    <a:p>
                      <a:pPr algn="l" fontAlgn="t"/>
                      <a:r>
                        <a:rPr lang="en-US" sz="700" u="none" strike="noStrike">
                          <a:effectLst/>
                        </a:rPr>
                        <a:t>T1132: Data Encoding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143062740"/>
                  </a:ext>
                </a:extLst>
              </a:tr>
              <a:tr h="178690">
                <a:tc rowSpan="3">
                  <a:txBody>
                    <a:bodyPr/>
                    <a:lstStyle/>
                    <a:p>
                      <a:pPr algn="l" fontAlgn="t"/>
                      <a:r>
                        <a:rPr lang="en-US" sz="700" u="none" strike="noStrike">
                          <a:effectLst/>
                        </a:rPr>
                        <a:t>T1001: Data Obfuscation</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a:effectLst/>
                        </a:rPr>
                        <a:t>T1001.001: Junk Data</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476425550"/>
                  </a:ext>
                </a:extLst>
              </a:tr>
              <a:tr h="350861">
                <a:tc vMerge="1">
                  <a:txBody>
                    <a:bodyPr/>
                    <a:lstStyle/>
                    <a:p>
                      <a:endParaRPr kumimoji="1" lang="ja-JP" altLang="en-US"/>
                    </a:p>
                  </a:txBody>
                  <a:tcPr/>
                </a:tc>
                <a:tc>
                  <a:txBody>
                    <a:bodyPr/>
                    <a:lstStyle/>
                    <a:p>
                      <a:pPr algn="l" fontAlgn="t"/>
                      <a:r>
                        <a:rPr lang="en-US" sz="700" u="none" strike="noStrike" dirty="0">
                          <a:effectLst/>
                          <a:highlight>
                            <a:srgbClr val="FF0000"/>
                          </a:highlight>
                        </a:rPr>
                        <a:t>T1001.003: Protocol or Service Impersonation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30287205"/>
                  </a:ext>
                </a:extLst>
              </a:tr>
              <a:tr h="178690">
                <a:tc vMerge="1">
                  <a:txBody>
                    <a:bodyPr/>
                    <a:lstStyle/>
                    <a:p>
                      <a:endParaRPr kumimoji="1" lang="ja-JP" altLang="en-US"/>
                    </a:p>
                  </a:txBody>
                  <a:tcPr/>
                </a:tc>
                <a:tc>
                  <a:txBody>
                    <a:bodyPr/>
                    <a:lstStyle/>
                    <a:p>
                      <a:pPr algn="l" fontAlgn="t"/>
                      <a:r>
                        <a:rPr lang="en-US" sz="700" u="none" strike="noStrike">
                          <a:effectLst/>
                        </a:rPr>
                        <a:t>T1001.002: Steganography</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770605635"/>
                  </a:ext>
                </a:extLst>
              </a:tr>
              <a:tr h="178690">
                <a:tc rowSpan="3">
                  <a:txBody>
                    <a:bodyPr/>
                    <a:lstStyle/>
                    <a:p>
                      <a:pPr algn="l" fontAlgn="t"/>
                      <a:r>
                        <a:rPr lang="en-US" sz="700" u="none" strike="noStrike" dirty="0">
                          <a:effectLst/>
                        </a:rPr>
                        <a:t>T1568: Dynamic Resolution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T1568.003: DNS Calculation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26540070"/>
                  </a:ext>
                </a:extLst>
              </a:tr>
              <a:tr h="350861">
                <a:tc vMerge="1">
                  <a:txBody>
                    <a:bodyPr/>
                    <a:lstStyle/>
                    <a:p>
                      <a:endParaRPr kumimoji="1" lang="ja-JP" altLang="en-US"/>
                    </a:p>
                  </a:txBody>
                  <a:tcPr/>
                </a:tc>
                <a:tc>
                  <a:txBody>
                    <a:bodyPr/>
                    <a:lstStyle/>
                    <a:p>
                      <a:pPr algn="l" fontAlgn="t"/>
                      <a:r>
                        <a:rPr lang="en-US" sz="700" u="none" strike="noStrike">
                          <a:effectLst/>
                        </a:rPr>
                        <a:t>T1568.002: Domain Generation Algorithms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618587473"/>
                  </a:ext>
                </a:extLst>
              </a:tr>
              <a:tr h="178690">
                <a:tc vMerge="1">
                  <a:txBody>
                    <a:bodyPr/>
                    <a:lstStyle/>
                    <a:p>
                      <a:endParaRPr kumimoji="1" lang="ja-JP" altLang="en-US"/>
                    </a:p>
                  </a:txBody>
                  <a:tcPr/>
                </a:tc>
                <a:tc>
                  <a:txBody>
                    <a:bodyPr/>
                    <a:lstStyle/>
                    <a:p>
                      <a:pPr algn="l" fontAlgn="t"/>
                      <a:r>
                        <a:rPr lang="en-US" sz="700" u="none" strike="noStrike" dirty="0">
                          <a:effectLst/>
                        </a:rPr>
                        <a:t>T1568.001: Fast Flux DNS</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3565167334"/>
                  </a:ext>
                </a:extLst>
              </a:tr>
              <a:tr h="350861">
                <a:tc rowSpan="2">
                  <a:txBody>
                    <a:bodyPr/>
                    <a:lstStyle/>
                    <a:p>
                      <a:pPr algn="l" fontAlgn="t"/>
                      <a:r>
                        <a:rPr lang="en-US" sz="700" u="none" strike="noStrike" dirty="0">
                          <a:effectLst/>
                        </a:rPr>
                        <a:t>T1573: Encrypted Channel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T1573.002: Asymmetric Cryptography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106899816"/>
                  </a:ext>
                </a:extLst>
              </a:tr>
              <a:tr h="350861">
                <a:tc vMerge="1">
                  <a:txBody>
                    <a:bodyPr/>
                    <a:lstStyle/>
                    <a:p>
                      <a:endParaRPr kumimoji="1" lang="ja-JP" altLang="en-US"/>
                    </a:p>
                  </a:txBody>
                  <a:tcPr/>
                </a:tc>
                <a:tc>
                  <a:txBody>
                    <a:bodyPr/>
                    <a:lstStyle/>
                    <a:p>
                      <a:pPr algn="l" fontAlgn="t"/>
                      <a:r>
                        <a:rPr lang="en-US" sz="700" u="none" strike="noStrike" dirty="0">
                          <a:effectLst/>
                        </a:rPr>
                        <a:t>T1573.001: Symmetric Cryptography</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860595616"/>
                  </a:ext>
                </a:extLst>
              </a:tr>
              <a:tr h="178690">
                <a:tc>
                  <a:txBody>
                    <a:bodyPr/>
                    <a:lstStyle/>
                    <a:p>
                      <a:pPr algn="l" fontAlgn="t"/>
                      <a:r>
                        <a:rPr lang="en-US" sz="700" u="none" strike="noStrike" dirty="0">
                          <a:effectLst/>
                          <a:highlight>
                            <a:srgbClr val="FF0000"/>
                          </a:highlight>
                        </a:rPr>
                        <a:t>T1008: Fallback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59955919"/>
                  </a:ext>
                </a:extLst>
              </a:tr>
              <a:tr h="178690">
                <a:tc>
                  <a:txBody>
                    <a:bodyPr/>
                    <a:lstStyle/>
                    <a:p>
                      <a:pPr algn="l" fontAlgn="t"/>
                      <a:r>
                        <a:rPr lang="en-US" sz="700" u="none" strike="noStrike">
                          <a:effectLst/>
                        </a:rPr>
                        <a:t>T1665: Hide Infrastructure</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643720963"/>
                  </a:ext>
                </a:extLst>
              </a:tr>
              <a:tr h="178690">
                <a:tc>
                  <a:txBody>
                    <a:bodyPr/>
                    <a:lstStyle/>
                    <a:p>
                      <a:pPr algn="l" fontAlgn="t"/>
                      <a:r>
                        <a:rPr lang="en-US" sz="700" u="none" strike="noStrike">
                          <a:effectLst/>
                          <a:highlight>
                            <a:srgbClr val="FF0000"/>
                          </a:highlight>
                        </a:rPr>
                        <a:t>T1105: Ingress Tool Transfer</a:t>
                      </a:r>
                      <a:endParaRPr lang="en-US" sz="700" b="0" i="0" u="none" strike="noStrike">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48193956"/>
                  </a:ext>
                </a:extLst>
              </a:tr>
              <a:tr h="178690">
                <a:tc>
                  <a:txBody>
                    <a:bodyPr/>
                    <a:lstStyle/>
                    <a:p>
                      <a:pPr algn="l" fontAlgn="t"/>
                      <a:r>
                        <a:rPr lang="en-US" sz="700" u="none" strike="noStrike" dirty="0">
                          <a:effectLst/>
                          <a:highlight>
                            <a:srgbClr val="FF0000"/>
                          </a:highlight>
                        </a:rPr>
                        <a:t>T1104: Multi-Stage Channels</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4045373249"/>
                  </a:ext>
                </a:extLst>
              </a:tr>
              <a:tr h="178690">
                <a:tc gridSpan="2">
                  <a:txBody>
                    <a:bodyPr/>
                    <a:lstStyle/>
                    <a:p>
                      <a:pPr algn="l" fontAlgn="t"/>
                      <a:r>
                        <a:rPr lang="en-US" sz="700" u="none" strike="noStrike" dirty="0">
                          <a:effectLst/>
                        </a:rPr>
                        <a:t>T1095: Non-Application Layer Protocol</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hMerge="1">
                  <a:txBody>
                    <a:bodyPr/>
                    <a:lstStyle/>
                    <a:p>
                      <a:endParaRPr kumimoji="1" lang="ja-JP" altLang="en-US"/>
                    </a:p>
                  </a:txBody>
                  <a:tcPr/>
                </a:tc>
                <a:extLst>
                  <a:ext uri="{0D108BD9-81ED-4DB2-BD59-A6C34878D82A}">
                    <a16:rowId xmlns:a16="http://schemas.microsoft.com/office/drawing/2014/main" val="2279180202"/>
                  </a:ext>
                </a:extLst>
              </a:tr>
              <a:tr h="178690">
                <a:tc>
                  <a:txBody>
                    <a:bodyPr/>
                    <a:lstStyle/>
                    <a:p>
                      <a:pPr algn="l" fontAlgn="t"/>
                      <a:r>
                        <a:rPr lang="en-US" sz="700" u="none" strike="noStrike">
                          <a:effectLst/>
                        </a:rPr>
                        <a:t>T1571: Non-Standard Port</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2497056230"/>
                  </a:ext>
                </a:extLst>
              </a:tr>
              <a:tr h="178690">
                <a:tc>
                  <a:txBody>
                    <a:bodyPr/>
                    <a:lstStyle/>
                    <a:p>
                      <a:pPr algn="l" fontAlgn="t"/>
                      <a:r>
                        <a:rPr lang="en-US" sz="700" u="none" strike="noStrike">
                          <a:effectLst/>
                        </a:rPr>
                        <a:t>T1572: Protocol Tunneling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843542390"/>
                  </a:ext>
                </a:extLst>
              </a:tr>
              <a:tr h="178690">
                <a:tc>
                  <a:txBody>
                    <a:bodyPr/>
                    <a:lstStyle/>
                    <a:p>
                      <a:pPr algn="l" fontAlgn="t"/>
                      <a:r>
                        <a:rPr lang="en-US" sz="700" u="none" strike="noStrike" dirty="0">
                          <a:effectLst/>
                          <a:highlight>
                            <a:srgbClr val="FF0000"/>
                          </a:highlight>
                        </a:rPr>
                        <a:t>T1090: Proxy</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3037182121"/>
                  </a:ext>
                </a:extLst>
              </a:tr>
              <a:tr h="178690">
                <a:tc>
                  <a:txBody>
                    <a:bodyPr/>
                    <a:lstStyle/>
                    <a:p>
                      <a:pPr algn="l" fontAlgn="t"/>
                      <a:r>
                        <a:rPr lang="en-US" sz="700" u="none" strike="noStrike">
                          <a:effectLst/>
                        </a:rPr>
                        <a:t>T1219: Remote Access Tools</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125681029"/>
                  </a:ext>
                </a:extLst>
              </a:tr>
              <a:tr h="178690">
                <a:tc>
                  <a:txBody>
                    <a:bodyPr/>
                    <a:lstStyle/>
                    <a:p>
                      <a:pPr algn="l" fontAlgn="t"/>
                      <a:r>
                        <a:rPr lang="en-US" sz="700" u="none" strike="noStrike">
                          <a:effectLst/>
                        </a:rPr>
                        <a:t>T1205: Traffic Signaling</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b"/>
                      <a:endParaRPr lang="ja-JP" alt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nchor="b"/>
                </a:tc>
                <a:extLst>
                  <a:ext uri="{0D108BD9-81ED-4DB2-BD59-A6C34878D82A}">
                    <a16:rowId xmlns:a16="http://schemas.microsoft.com/office/drawing/2014/main" val="1037550473"/>
                  </a:ext>
                </a:extLst>
              </a:tr>
              <a:tr h="350861">
                <a:tc rowSpan="3">
                  <a:txBody>
                    <a:bodyPr/>
                    <a:lstStyle/>
                    <a:p>
                      <a:pPr algn="l" fontAlgn="t"/>
                      <a:r>
                        <a:rPr lang="en-US" sz="700" u="none" strike="noStrike" dirty="0">
                          <a:effectLst/>
                          <a:highlight>
                            <a:srgbClr val="FF0000"/>
                          </a:highlight>
                        </a:rPr>
                        <a:t>T1102: Web Service</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tc>
                  <a:txBody>
                    <a:bodyPr/>
                    <a:lstStyle/>
                    <a:p>
                      <a:pPr algn="l" fontAlgn="t"/>
                      <a:r>
                        <a:rPr lang="en-US" sz="700" u="none" strike="noStrike" dirty="0">
                          <a:effectLst/>
                          <a:highlight>
                            <a:srgbClr val="FF0000"/>
                          </a:highlight>
                        </a:rPr>
                        <a:t>T1102.002: Bidirectional Communication</a:t>
                      </a:r>
                      <a:endParaRPr lang="en-US" sz="7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502156352"/>
                  </a:ext>
                </a:extLst>
              </a:tr>
              <a:tr h="178690">
                <a:tc vMerge="1">
                  <a:txBody>
                    <a:bodyPr/>
                    <a:lstStyle/>
                    <a:p>
                      <a:endParaRPr kumimoji="1" lang="ja-JP" altLang="en-US"/>
                    </a:p>
                  </a:txBody>
                  <a:tcPr/>
                </a:tc>
                <a:tc>
                  <a:txBody>
                    <a:bodyPr/>
                    <a:lstStyle/>
                    <a:p>
                      <a:pPr algn="l" fontAlgn="t"/>
                      <a:r>
                        <a:rPr lang="en-US" sz="700" u="none" strike="noStrike">
                          <a:effectLst/>
                        </a:rPr>
                        <a:t>T1102.001: Dead Drop Resolver</a:t>
                      </a:r>
                      <a:endParaRPr lang="en-US" sz="7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2439924129"/>
                  </a:ext>
                </a:extLst>
              </a:tr>
              <a:tr h="350861">
                <a:tc vMerge="1">
                  <a:txBody>
                    <a:bodyPr/>
                    <a:lstStyle/>
                    <a:p>
                      <a:endParaRPr kumimoji="1" lang="ja-JP" altLang="en-US"/>
                    </a:p>
                  </a:txBody>
                  <a:tcPr/>
                </a:tc>
                <a:tc>
                  <a:txBody>
                    <a:bodyPr/>
                    <a:lstStyle/>
                    <a:p>
                      <a:pPr algn="l" fontAlgn="t"/>
                      <a:r>
                        <a:rPr lang="en-US" sz="700" u="none" strike="noStrike" dirty="0">
                          <a:effectLst/>
                        </a:rPr>
                        <a:t>T1102.003: One-Way Communication</a:t>
                      </a:r>
                      <a:endParaRPr lang="en-US" sz="7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4322" marR="4322" marT="4322" marB="0"/>
                </a:tc>
                <a:extLst>
                  <a:ext uri="{0D108BD9-81ED-4DB2-BD59-A6C34878D82A}">
                    <a16:rowId xmlns:a16="http://schemas.microsoft.com/office/drawing/2014/main" val="98744938"/>
                  </a:ext>
                </a:extLst>
              </a:tr>
            </a:tbl>
          </a:graphicData>
        </a:graphic>
      </p:graphicFrame>
      <p:graphicFrame>
        <p:nvGraphicFramePr>
          <p:cNvPr id="6" name="表 5">
            <a:extLst>
              <a:ext uri="{FF2B5EF4-FFF2-40B4-BE49-F238E27FC236}">
                <a16:creationId xmlns:a16="http://schemas.microsoft.com/office/drawing/2014/main" id="{1CF64768-EFB7-4050-BB75-D0EFF0ECCB53}"/>
              </a:ext>
            </a:extLst>
          </p:cNvPr>
          <p:cNvGraphicFramePr>
            <a:graphicFrameLocks noGrp="1"/>
          </p:cNvGraphicFramePr>
          <p:nvPr>
            <p:extLst>
              <p:ext uri="{D42A27DB-BD31-4B8C-83A1-F6EECF244321}">
                <p14:modId xmlns:p14="http://schemas.microsoft.com/office/powerpoint/2010/main" val="3139192271"/>
              </p:ext>
            </p:extLst>
          </p:nvPr>
        </p:nvGraphicFramePr>
        <p:xfrm>
          <a:off x="8047578" y="-15"/>
          <a:ext cx="4144422" cy="3429018"/>
        </p:xfrm>
        <a:graphic>
          <a:graphicData uri="http://schemas.openxmlformats.org/drawingml/2006/table">
            <a:tbl>
              <a:tblPr>
                <a:tableStyleId>{5C22544A-7EE6-4342-B048-85BDC9FD1C3A}</a:tableStyleId>
              </a:tblPr>
              <a:tblGrid>
                <a:gridCol w="2072211">
                  <a:extLst>
                    <a:ext uri="{9D8B030D-6E8A-4147-A177-3AD203B41FA5}">
                      <a16:colId xmlns:a16="http://schemas.microsoft.com/office/drawing/2014/main" val="1736776146"/>
                    </a:ext>
                  </a:extLst>
                </a:gridCol>
                <a:gridCol w="2072211">
                  <a:extLst>
                    <a:ext uri="{9D8B030D-6E8A-4147-A177-3AD203B41FA5}">
                      <a16:colId xmlns:a16="http://schemas.microsoft.com/office/drawing/2014/main" val="375125820"/>
                    </a:ext>
                  </a:extLst>
                </a:gridCol>
              </a:tblGrid>
              <a:tr h="138599">
                <a:tc gridSpan="2">
                  <a:txBody>
                    <a:bodyPr/>
                    <a:lstStyle/>
                    <a:p>
                      <a:pPr algn="ctr" fontAlgn="b"/>
                      <a:r>
                        <a:rPr lang="en-US" sz="800" u="none" strike="noStrike" dirty="0">
                          <a:effectLst/>
                        </a:rPr>
                        <a:t>TA0010: Exfiltration</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991686639"/>
                  </a:ext>
                </a:extLst>
              </a:tr>
              <a:tr h="138599">
                <a:tc>
                  <a:txBody>
                    <a:bodyPr/>
                    <a:lstStyle/>
                    <a:p>
                      <a:pPr algn="l" fontAlgn="t"/>
                      <a:r>
                        <a:rPr lang="en-US" sz="800" u="none" strike="noStrike">
                          <a:effectLst/>
                        </a:rPr>
                        <a:t>T1020: Automated Exfiltration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3625531480"/>
                  </a:ext>
                </a:extLst>
              </a:tr>
              <a:tr h="153232">
                <a:tc>
                  <a:txBody>
                    <a:bodyPr/>
                    <a:lstStyle/>
                    <a:p>
                      <a:pPr algn="l" fontAlgn="t"/>
                      <a:r>
                        <a:rPr lang="en-US" sz="800" u="none" strike="noStrike" dirty="0">
                          <a:effectLst/>
                          <a:highlight>
                            <a:srgbClr val="FF0000"/>
                          </a:highlight>
                        </a:rPr>
                        <a:t>T1030: Data Transfer Size Limits</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34698153"/>
                  </a:ext>
                </a:extLst>
              </a:tr>
              <a:tr h="405679">
                <a:tc rowSpan="3">
                  <a:txBody>
                    <a:bodyPr/>
                    <a:lstStyle/>
                    <a:p>
                      <a:pPr algn="l" fontAlgn="t"/>
                      <a:r>
                        <a:rPr lang="en-US" sz="800" u="none" strike="noStrike" dirty="0">
                          <a:effectLst/>
                        </a:rPr>
                        <a:t>T1048: Exfiltration Over Alternative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T1048.002: Exfiltration Over Asymmetric Encrypted Non-C2 Protocol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89100802"/>
                  </a:ext>
                </a:extLst>
              </a:tr>
              <a:tr h="405679">
                <a:tc vMerge="1">
                  <a:txBody>
                    <a:bodyPr/>
                    <a:lstStyle/>
                    <a:p>
                      <a:endParaRPr kumimoji="1" lang="ja-JP" altLang="en-US"/>
                    </a:p>
                  </a:txBody>
                  <a:tcPr/>
                </a:tc>
                <a:tc>
                  <a:txBody>
                    <a:bodyPr/>
                    <a:lstStyle/>
                    <a:p>
                      <a:pPr algn="l" fontAlgn="t"/>
                      <a:r>
                        <a:rPr lang="en-US" sz="800" u="none" strike="noStrike" dirty="0">
                          <a:effectLst/>
                        </a:rPr>
                        <a:t>T1048.001: Exfiltration Over Symmetric Encrypted Non-C2 Protocol</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61936898"/>
                  </a:ext>
                </a:extLst>
              </a:tr>
              <a:tr h="272139">
                <a:tc vMerge="1">
                  <a:txBody>
                    <a:bodyPr/>
                    <a:lstStyle/>
                    <a:p>
                      <a:endParaRPr kumimoji="1" lang="ja-JP" altLang="en-US"/>
                    </a:p>
                  </a:txBody>
                  <a:tcPr/>
                </a:tc>
                <a:tc>
                  <a:txBody>
                    <a:bodyPr/>
                    <a:lstStyle/>
                    <a:p>
                      <a:pPr algn="l" fontAlgn="t"/>
                      <a:r>
                        <a:rPr lang="fr-FR" sz="800" u="none" strike="noStrike" dirty="0">
                          <a:effectLst/>
                          <a:highlight>
                            <a:srgbClr val="FF0000"/>
                          </a:highlight>
                        </a:rPr>
                        <a:t>T1048.003: Exfiltration Over Unencrypted Non-C2 Protocol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240352543"/>
                  </a:ext>
                </a:extLst>
              </a:tr>
              <a:tr h="272139">
                <a:tc>
                  <a:txBody>
                    <a:bodyPr/>
                    <a:lstStyle/>
                    <a:p>
                      <a:pPr algn="l" fontAlgn="t"/>
                      <a:r>
                        <a:rPr lang="fr-FR" sz="800" u="none" strike="noStrike" dirty="0">
                          <a:effectLst/>
                          <a:highlight>
                            <a:srgbClr val="FF0000"/>
                          </a:highlight>
                        </a:rPr>
                        <a:t>T1041: Exfiltration Over C2 Channel</a:t>
                      </a:r>
                      <a:endParaRPr lang="fr-FR"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962351153"/>
                  </a:ext>
                </a:extLst>
              </a:tr>
              <a:tr h="138599">
                <a:tc gridSpan="2">
                  <a:txBody>
                    <a:bodyPr/>
                    <a:lstStyle/>
                    <a:p>
                      <a:pPr algn="l" fontAlgn="t"/>
                      <a:r>
                        <a:rPr lang="en-US" sz="800" u="none" strike="noStrike">
                          <a:effectLst/>
                        </a:rPr>
                        <a:t>T1011: Exfiltration Over Other Network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2430361722"/>
                  </a:ext>
                </a:extLst>
              </a:tr>
              <a:tr h="138599">
                <a:tc gridSpan="2">
                  <a:txBody>
                    <a:bodyPr/>
                    <a:lstStyle/>
                    <a:p>
                      <a:pPr algn="l" fontAlgn="t"/>
                      <a:r>
                        <a:rPr lang="en-US" sz="800" u="none" strike="noStrike">
                          <a:effectLst/>
                        </a:rPr>
                        <a:t>T1052: Exfiltration Over Physical Medium</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3898074434"/>
                  </a:ext>
                </a:extLst>
              </a:tr>
              <a:tr h="272139">
                <a:tc rowSpan="4">
                  <a:txBody>
                    <a:bodyPr/>
                    <a:lstStyle/>
                    <a:p>
                      <a:pPr algn="l" fontAlgn="t"/>
                      <a:r>
                        <a:rPr lang="en-US" sz="800" u="none" strike="noStrike" dirty="0">
                          <a:effectLst/>
                          <a:highlight>
                            <a:srgbClr val="FF0000"/>
                          </a:highlight>
                        </a:rPr>
                        <a:t>T1567: Exfiltration Over Web Service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T1567.004: Exfiltration Over Webhook</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1319726642"/>
                  </a:ext>
                </a:extLst>
              </a:tr>
              <a:tr h="272139">
                <a:tc vMerge="1">
                  <a:txBody>
                    <a:bodyPr/>
                    <a:lstStyle/>
                    <a:p>
                      <a:endParaRPr kumimoji="1" lang="ja-JP" altLang="en-US"/>
                    </a:p>
                  </a:txBody>
                  <a:tcPr/>
                </a:tc>
                <a:tc>
                  <a:txBody>
                    <a:bodyPr/>
                    <a:lstStyle/>
                    <a:p>
                      <a:pPr algn="l" fontAlgn="t"/>
                      <a:r>
                        <a:rPr lang="en-US" sz="800" u="none" strike="noStrike" dirty="0">
                          <a:effectLst/>
                          <a:highlight>
                            <a:srgbClr val="FF0000"/>
                          </a:highlight>
                        </a:rPr>
                        <a:t>T1567.002: Exfiltration to Cloud Storage</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017441005"/>
                  </a:ext>
                </a:extLst>
              </a:tr>
              <a:tr h="272139">
                <a:tc vMerge="1">
                  <a:txBody>
                    <a:bodyPr/>
                    <a:lstStyle/>
                    <a:p>
                      <a:endParaRPr kumimoji="1" lang="ja-JP" altLang="en-US"/>
                    </a:p>
                  </a:txBody>
                  <a:tcPr/>
                </a:tc>
                <a:tc>
                  <a:txBody>
                    <a:bodyPr/>
                    <a:lstStyle/>
                    <a:p>
                      <a:pPr algn="l" fontAlgn="t"/>
                      <a:r>
                        <a:rPr lang="en-US" sz="800" u="none" strike="noStrike">
                          <a:effectLst/>
                        </a:rPr>
                        <a:t>T1567.001: Exfiltration to Code Repository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524159635"/>
                  </a:ext>
                </a:extLst>
              </a:tr>
              <a:tr h="272139">
                <a:tc vMerge="1">
                  <a:txBody>
                    <a:bodyPr/>
                    <a:lstStyle/>
                    <a:p>
                      <a:endParaRPr kumimoji="1" lang="ja-JP" altLang="en-US"/>
                    </a:p>
                  </a:txBody>
                  <a:tcPr/>
                </a:tc>
                <a:tc>
                  <a:txBody>
                    <a:bodyPr/>
                    <a:lstStyle/>
                    <a:p>
                      <a:pPr algn="l" fontAlgn="t"/>
                      <a:r>
                        <a:rPr lang="en-US" sz="800" u="none" strike="noStrike">
                          <a:effectLst/>
                        </a:rPr>
                        <a:t>T1567.003: Exfiltration to Text Storage Sites</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987193752"/>
                  </a:ext>
                </a:extLst>
              </a:tr>
              <a:tr h="138599">
                <a:tc>
                  <a:txBody>
                    <a:bodyPr/>
                    <a:lstStyle/>
                    <a:p>
                      <a:pPr algn="l" fontAlgn="t"/>
                      <a:r>
                        <a:rPr lang="en-US" sz="800" u="none" strike="noStrike">
                          <a:effectLst/>
                        </a:rPr>
                        <a:t>T1029: Scheduled Transfer</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436637841"/>
                  </a:ext>
                </a:extLst>
              </a:tr>
              <a:tr h="138599">
                <a:tc gridSpan="2">
                  <a:txBody>
                    <a:bodyPr/>
                    <a:lstStyle/>
                    <a:p>
                      <a:pPr algn="l" fontAlgn="t"/>
                      <a:r>
                        <a:rPr lang="en-US" sz="800" u="none" strike="noStrike" dirty="0">
                          <a:effectLst/>
                        </a:rPr>
                        <a:t>T1537: Transfer Data to Cloud Account</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hMerge="1">
                  <a:txBody>
                    <a:bodyPr/>
                    <a:lstStyle/>
                    <a:p>
                      <a:endParaRPr kumimoji="1" lang="ja-JP" altLang="en-US"/>
                    </a:p>
                  </a:txBody>
                  <a:tcPr/>
                </a:tc>
                <a:extLst>
                  <a:ext uri="{0D108BD9-81ED-4DB2-BD59-A6C34878D82A}">
                    <a16:rowId xmlns:a16="http://schemas.microsoft.com/office/drawing/2014/main" val="460049869"/>
                  </a:ext>
                </a:extLst>
              </a:tr>
            </a:tbl>
          </a:graphicData>
        </a:graphic>
      </p:graphicFrame>
      <p:graphicFrame>
        <p:nvGraphicFramePr>
          <p:cNvPr id="7" name="コンテンツ プレースホルダー 3">
            <a:extLst>
              <a:ext uri="{FF2B5EF4-FFF2-40B4-BE49-F238E27FC236}">
                <a16:creationId xmlns:a16="http://schemas.microsoft.com/office/drawing/2014/main" id="{D03AA49D-A3DC-4232-B37F-C8033AB33538}"/>
              </a:ext>
            </a:extLst>
          </p:cNvPr>
          <p:cNvGraphicFramePr>
            <a:graphicFrameLocks/>
          </p:cNvGraphicFramePr>
          <p:nvPr>
            <p:extLst>
              <p:ext uri="{D42A27DB-BD31-4B8C-83A1-F6EECF244321}">
                <p14:modId xmlns:p14="http://schemas.microsoft.com/office/powerpoint/2010/main" val="4097999645"/>
              </p:ext>
            </p:extLst>
          </p:nvPr>
        </p:nvGraphicFramePr>
        <p:xfrm>
          <a:off x="8047578" y="3428978"/>
          <a:ext cx="4191000" cy="3136900"/>
        </p:xfrm>
        <a:graphic>
          <a:graphicData uri="http://schemas.openxmlformats.org/drawingml/2006/table">
            <a:tbl>
              <a:tblPr>
                <a:tableStyleId>{5C22544A-7EE6-4342-B048-85BDC9FD1C3A}</a:tableStyleId>
              </a:tblPr>
              <a:tblGrid>
                <a:gridCol w="2095500">
                  <a:extLst>
                    <a:ext uri="{9D8B030D-6E8A-4147-A177-3AD203B41FA5}">
                      <a16:colId xmlns:a16="http://schemas.microsoft.com/office/drawing/2014/main" val="2256291590"/>
                    </a:ext>
                  </a:extLst>
                </a:gridCol>
                <a:gridCol w="2095500">
                  <a:extLst>
                    <a:ext uri="{9D8B030D-6E8A-4147-A177-3AD203B41FA5}">
                      <a16:colId xmlns:a16="http://schemas.microsoft.com/office/drawing/2014/main" val="4215969318"/>
                    </a:ext>
                  </a:extLst>
                </a:gridCol>
              </a:tblGrid>
              <a:tr h="165100">
                <a:tc gridSpan="2">
                  <a:txBody>
                    <a:bodyPr/>
                    <a:lstStyle/>
                    <a:p>
                      <a:pPr algn="ctr" fontAlgn="b"/>
                      <a:r>
                        <a:rPr lang="en-US" sz="800" u="none" strike="noStrike" dirty="0">
                          <a:effectLst/>
                        </a:rPr>
                        <a:t>TA0040: Impact</a:t>
                      </a:r>
                      <a:endParaRPr lang="en-US" sz="8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L w="12700" cap="flat" cmpd="sng" algn="ctr">
                      <a:solidFill>
                        <a:srgbClr val="92D050"/>
                      </a:solidFill>
                      <a:prstDash val="sysDash"/>
                      <a:round/>
                      <a:headEnd type="none" w="med" len="med"/>
                      <a:tailEnd type="none" w="med" len="med"/>
                    </a:lnL>
                    <a:lnR w="12700" cap="flat" cmpd="sng" algn="ctr">
                      <a:solidFill>
                        <a:srgbClr val="92D050"/>
                      </a:solidFill>
                      <a:prstDash val="sysDash"/>
                      <a:round/>
                      <a:headEnd type="none" w="med" len="med"/>
                      <a:tailEnd type="none" w="med" len="med"/>
                    </a:lnR>
                    <a:lnT w="12700" cap="flat" cmpd="sng" algn="ctr">
                      <a:solidFill>
                        <a:srgbClr val="92D050"/>
                      </a:solidFill>
                      <a:prstDash val="sysDash"/>
                      <a:round/>
                      <a:headEnd type="none" w="med" len="med"/>
                      <a:tailEnd type="none" w="med" len="med"/>
                    </a:lnT>
                    <a:lnB w="12700" cap="flat" cmpd="sng" algn="ctr">
                      <a:solidFill>
                        <a:srgbClr val="92D050"/>
                      </a:solidFill>
                      <a:prstDash val="sysDash"/>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642534575"/>
                  </a:ext>
                </a:extLst>
              </a:tr>
              <a:tr h="165100">
                <a:tc>
                  <a:txBody>
                    <a:bodyPr/>
                    <a:lstStyle/>
                    <a:p>
                      <a:pPr algn="l" fontAlgn="t"/>
                      <a:r>
                        <a:rPr lang="en-US" sz="800" u="none" strike="noStrike">
                          <a:effectLst/>
                        </a:rPr>
                        <a:t>T1531: Account Access Removal</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lnT w="12700" cap="flat" cmpd="sng" algn="ctr">
                      <a:solidFill>
                        <a:srgbClr val="92D050"/>
                      </a:solidFill>
                      <a:prstDash val="sysDash"/>
                      <a:round/>
                      <a:headEnd type="none" w="med" len="med"/>
                      <a:tailEnd type="none" w="med" len="med"/>
                    </a:lnT>
                  </a:tcPr>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lnT w="12700" cap="flat" cmpd="sng" algn="ctr">
                      <a:solidFill>
                        <a:srgbClr val="92D050"/>
                      </a:solidFill>
                      <a:prstDash val="sysDash"/>
                      <a:round/>
                      <a:headEnd type="none" w="med" len="med"/>
                      <a:tailEnd type="none" w="med" len="med"/>
                    </a:lnT>
                  </a:tcPr>
                </a:tc>
                <a:extLst>
                  <a:ext uri="{0D108BD9-81ED-4DB2-BD59-A6C34878D82A}">
                    <a16:rowId xmlns:a16="http://schemas.microsoft.com/office/drawing/2014/main" val="1855948361"/>
                  </a:ext>
                </a:extLst>
              </a:tr>
              <a:tr h="165100">
                <a:tc>
                  <a:txBody>
                    <a:bodyPr/>
                    <a:lstStyle/>
                    <a:p>
                      <a:pPr algn="l" fontAlgn="t"/>
                      <a:r>
                        <a:rPr lang="en-US" sz="800" u="none" strike="noStrike">
                          <a:effectLst/>
                        </a:rPr>
                        <a:t>T1485: Data Destruction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22241145"/>
                  </a:ext>
                </a:extLst>
              </a:tr>
              <a:tr h="165100">
                <a:tc>
                  <a:txBody>
                    <a:bodyPr/>
                    <a:lstStyle/>
                    <a:p>
                      <a:pPr algn="l" fontAlgn="t"/>
                      <a:r>
                        <a:rPr lang="en-US" sz="800" u="none" strike="noStrike" dirty="0">
                          <a:effectLst/>
                          <a:highlight>
                            <a:srgbClr val="FF0000"/>
                          </a:highlight>
                        </a:rPr>
                        <a:t>T1486: Data Encrypted for Impact</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730182165"/>
                  </a:ext>
                </a:extLst>
              </a:tr>
              <a:tr h="165100">
                <a:tc>
                  <a:txBody>
                    <a:bodyPr/>
                    <a:lstStyle/>
                    <a:p>
                      <a:pPr algn="l" fontAlgn="t"/>
                      <a:r>
                        <a:rPr lang="en-US" sz="800" u="none" strike="noStrike" dirty="0">
                          <a:effectLst/>
                        </a:rPr>
                        <a:t>T1565: Data Manipulation</a:t>
                      </a:r>
                      <a:endParaRPr 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308564114"/>
                  </a:ext>
                </a:extLst>
              </a:tr>
              <a:tr h="165100">
                <a:tc>
                  <a:txBody>
                    <a:bodyPr/>
                    <a:lstStyle/>
                    <a:p>
                      <a:pPr algn="l" fontAlgn="t"/>
                      <a:r>
                        <a:rPr lang="en-US" sz="800" u="none" strike="noStrike">
                          <a:effectLst/>
                        </a:rPr>
                        <a:t>T1491: Defacement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168947642"/>
                  </a:ext>
                </a:extLst>
              </a:tr>
              <a:tr h="165100">
                <a:tc>
                  <a:txBody>
                    <a:bodyPr/>
                    <a:lstStyle/>
                    <a:p>
                      <a:pPr algn="l" fontAlgn="t"/>
                      <a:r>
                        <a:rPr lang="en-US" sz="800" u="none" strike="noStrike">
                          <a:effectLst/>
                        </a:rPr>
                        <a:t>T1561: Disk Wipe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691074864"/>
                  </a:ext>
                </a:extLst>
              </a:tr>
              <a:tr h="165100">
                <a:tc>
                  <a:txBody>
                    <a:bodyPr/>
                    <a:lstStyle/>
                    <a:p>
                      <a:pPr algn="l" fontAlgn="t"/>
                      <a:r>
                        <a:rPr lang="en-US" sz="800" u="none" strike="noStrike">
                          <a:effectLst/>
                        </a:rPr>
                        <a:t>T1667: Email Bombing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872866916"/>
                  </a:ext>
                </a:extLst>
              </a:tr>
              <a:tr h="165100">
                <a:tc>
                  <a:txBody>
                    <a:bodyPr/>
                    <a:lstStyle/>
                    <a:p>
                      <a:pPr algn="l" fontAlgn="t"/>
                      <a:r>
                        <a:rPr lang="en-US" sz="800" u="none" strike="noStrike">
                          <a:effectLst/>
                        </a:rPr>
                        <a:t>T1499: Endpoint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230048724"/>
                  </a:ext>
                </a:extLst>
              </a:tr>
              <a:tr h="165100">
                <a:tc>
                  <a:txBody>
                    <a:bodyPr/>
                    <a:lstStyle/>
                    <a:p>
                      <a:pPr algn="l" fontAlgn="t"/>
                      <a:r>
                        <a:rPr lang="en-US" sz="800" u="none" strike="noStrike">
                          <a:effectLst/>
                        </a:rPr>
                        <a:t>T1657: Financial Theft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018880986"/>
                  </a:ext>
                </a:extLst>
              </a:tr>
              <a:tr h="165100">
                <a:tc>
                  <a:txBody>
                    <a:bodyPr/>
                    <a:lstStyle/>
                    <a:p>
                      <a:pPr algn="l" fontAlgn="t"/>
                      <a:r>
                        <a:rPr lang="en-US" sz="800" u="none" strike="noStrike">
                          <a:effectLst/>
                        </a:rPr>
                        <a:t>T1495: Firmware Corruption</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966688624"/>
                  </a:ext>
                </a:extLst>
              </a:tr>
              <a:tr h="165100">
                <a:tc>
                  <a:txBody>
                    <a:bodyPr/>
                    <a:lstStyle/>
                    <a:p>
                      <a:pPr algn="l" fontAlgn="t"/>
                      <a:r>
                        <a:rPr lang="en-US" sz="800" u="none" strike="noStrike">
                          <a:effectLst/>
                        </a:rPr>
                        <a:t>T1490: Inhibit System Recovery</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3486439601"/>
                  </a:ext>
                </a:extLst>
              </a:tr>
              <a:tr h="165100">
                <a:tc>
                  <a:txBody>
                    <a:bodyPr/>
                    <a:lstStyle/>
                    <a:p>
                      <a:pPr algn="l" fontAlgn="t"/>
                      <a:r>
                        <a:rPr lang="en-US" sz="800" u="none" strike="noStrike">
                          <a:effectLst/>
                        </a:rPr>
                        <a:t>T1498: Network Denial of Service</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25424994"/>
                  </a:ext>
                </a:extLst>
              </a:tr>
              <a:tr h="165100">
                <a:tc rowSpan="4">
                  <a:txBody>
                    <a:bodyPr/>
                    <a:lstStyle/>
                    <a:p>
                      <a:pPr algn="l" fontAlgn="t"/>
                      <a:r>
                        <a:rPr lang="en-US" sz="800" u="none" strike="noStrike">
                          <a:effectLst/>
                        </a:rPr>
                        <a:t>T1496: Resource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t"/>
                      <a:r>
                        <a:rPr lang="en-US" sz="800" u="none" strike="noStrike">
                          <a:effectLst/>
                        </a:rPr>
                        <a:t>T1496.002: Bandwidth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761687473"/>
                  </a:ext>
                </a:extLst>
              </a:tr>
              <a:tr h="165100">
                <a:tc vMerge="1">
                  <a:txBody>
                    <a:bodyPr/>
                    <a:lstStyle/>
                    <a:p>
                      <a:endParaRPr kumimoji="1" lang="ja-JP" altLang="en-US"/>
                    </a:p>
                  </a:txBody>
                  <a:tcPr/>
                </a:tc>
                <a:tc>
                  <a:txBody>
                    <a:bodyPr/>
                    <a:lstStyle/>
                    <a:p>
                      <a:pPr algn="l" fontAlgn="t"/>
                      <a:r>
                        <a:rPr lang="en-US" sz="800" u="none" strike="noStrike">
                          <a:effectLst/>
                        </a:rPr>
                        <a:t>T1496.004: Cloud Service Hijacking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2147634327"/>
                  </a:ext>
                </a:extLst>
              </a:tr>
              <a:tr h="165100">
                <a:tc vMerge="1">
                  <a:txBody>
                    <a:bodyPr/>
                    <a:lstStyle/>
                    <a:p>
                      <a:endParaRPr kumimoji="1" lang="ja-JP" altLang="en-US"/>
                    </a:p>
                  </a:txBody>
                  <a:tcPr/>
                </a:tc>
                <a:tc>
                  <a:txBody>
                    <a:bodyPr/>
                    <a:lstStyle/>
                    <a:p>
                      <a:pPr algn="l" fontAlgn="t"/>
                      <a:r>
                        <a:rPr lang="en-US" sz="800" u="none" strike="noStrike" dirty="0">
                          <a:effectLst/>
                          <a:highlight>
                            <a:srgbClr val="FF0000"/>
                          </a:highlight>
                        </a:rPr>
                        <a:t>T1496.001: Compute Hijacking</a:t>
                      </a:r>
                      <a:endParaRPr lang="en-US" sz="800" b="0" i="0" u="none" strike="noStrike" dirty="0">
                        <a:solidFill>
                          <a:srgbClr val="000000"/>
                        </a:solidFill>
                        <a:effectLst/>
                        <a:highlight>
                          <a:srgbClr val="FF0000"/>
                        </a:highligh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438114933"/>
                  </a:ext>
                </a:extLst>
              </a:tr>
              <a:tr h="165100">
                <a:tc vMerge="1">
                  <a:txBody>
                    <a:bodyPr/>
                    <a:lstStyle/>
                    <a:p>
                      <a:endParaRPr kumimoji="1" lang="ja-JP" altLang="en-US"/>
                    </a:p>
                  </a:txBody>
                  <a:tcPr/>
                </a:tc>
                <a:tc>
                  <a:txBody>
                    <a:bodyPr/>
                    <a:lstStyle/>
                    <a:p>
                      <a:pPr algn="l" fontAlgn="t"/>
                      <a:r>
                        <a:rPr lang="en-US" sz="800" u="none" strike="noStrike">
                          <a:effectLst/>
                        </a:rPr>
                        <a:t>T1496.003: SMS Pumping</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extLst>
                  <a:ext uri="{0D108BD9-81ED-4DB2-BD59-A6C34878D82A}">
                    <a16:rowId xmlns:a16="http://schemas.microsoft.com/office/drawing/2014/main" val="3517156685"/>
                  </a:ext>
                </a:extLst>
              </a:tr>
              <a:tr h="165100">
                <a:tc>
                  <a:txBody>
                    <a:bodyPr/>
                    <a:lstStyle/>
                    <a:p>
                      <a:pPr algn="l" fontAlgn="t"/>
                      <a:r>
                        <a:rPr lang="en-US" sz="800" u="none" strike="noStrike">
                          <a:effectLst/>
                        </a:rPr>
                        <a:t>T1489: Service Stop</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2262614755"/>
                  </a:ext>
                </a:extLst>
              </a:tr>
              <a:tr h="165100">
                <a:tc>
                  <a:txBody>
                    <a:bodyPr/>
                    <a:lstStyle/>
                    <a:p>
                      <a:pPr algn="l" fontAlgn="t"/>
                      <a:r>
                        <a:rPr lang="en-US" sz="800" u="none" strike="noStrike">
                          <a:effectLst/>
                        </a:rPr>
                        <a:t>T1529: System Shutdown/Reboot</a:t>
                      </a:r>
                      <a:endParaRPr lang="en-US" sz="8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tc>
                <a:tc>
                  <a:txBody>
                    <a:bodyPr/>
                    <a:lstStyle/>
                    <a:p>
                      <a:pPr algn="l" fontAlgn="b"/>
                      <a:endParaRPr lang="ja-JP" altLang="en-US" sz="8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6350" marR="6350" marT="6350" marB="0" anchor="b"/>
                </a:tc>
                <a:extLst>
                  <a:ext uri="{0D108BD9-81ED-4DB2-BD59-A6C34878D82A}">
                    <a16:rowId xmlns:a16="http://schemas.microsoft.com/office/drawing/2014/main" val="1530729449"/>
                  </a:ext>
                </a:extLst>
              </a:tr>
            </a:tbl>
          </a:graphicData>
        </a:graphic>
      </p:graphicFrame>
    </p:spTree>
    <p:extLst>
      <p:ext uri="{BB962C8B-B14F-4D97-AF65-F5344CB8AC3E}">
        <p14:creationId xmlns:p14="http://schemas.microsoft.com/office/powerpoint/2010/main" val="660420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a:extLst>
              <a:ext uri="{FF2B5EF4-FFF2-40B4-BE49-F238E27FC236}">
                <a16:creationId xmlns:a16="http://schemas.microsoft.com/office/drawing/2014/main" id="{D302AE0C-2D52-438F-B9B6-73A7BD389DF3}"/>
              </a:ext>
            </a:extLst>
          </p:cNvPr>
          <p:cNvGraphicFramePr>
            <a:graphicFrameLocks noGrp="1"/>
          </p:cNvGraphicFramePr>
          <p:nvPr>
            <p:extLst>
              <p:ext uri="{D42A27DB-BD31-4B8C-83A1-F6EECF244321}">
                <p14:modId xmlns:p14="http://schemas.microsoft.com/office/powerpoint/2010/main" val="860756130"/>
              </p:ext>
            </p:extLst>
          </p:nvPr>
        </p:nvGraphicFramePr>
        <p:xfrm>
          <a:off x="1497002" y="1026160"/>
          <a:ext cx="9197995" cy="4805680"/>
        </p:xfrm>
        <a:graphic>
          <a:graphicData uri="http://schemas.openxmlformats.org/drawingml/2006/table">
            <a:tbl>
              <a:tblPr firstRow="1" bandRow="1">
                <a:tableStyleId>{5C22544A-7EE6-4342-B048-85BDC9FD1C3A}</a:tableStyleId>
              </a:tblPr>
              <a:tblGrid>
                <a:gridCol w="2838682">
                  <a:extLst>
                    <a:ext uri="{9D8B030D-6E8A-4147-A177-3AD203B41FA5}">
                      <a16:colId xmlns:a16="http://schemas.microsoft.com/office/drawing/2014/main" val="1884574143"/>
                    </a:ext>
                  </a:extLst>
                </a:gridCol>
                <a:gridCol w="3649980">
                  <a:extLst>
                    <a:ext uri="{9D8B030D-6E8A-4147-A177-3AD203B41FA5}">
                      <a16:colId xmlns:a16="http://schemas.microsoft.com/office/drawing/2014/main" val="1583024722"/>
                    </a:ext>
                  </a:extLst>
                </a:gridCol>
                <a:gridCol w="2709333">
                  <a:extLst>
                    <a:ext uri="{9D8B030D-6E8A-4147-A177-3AD203B41FA5}">
                      <a16:colId xmlns:a16="http://schemas.microsoft.com/office/drawing/2014/main" val="396451131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機器名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型番</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ＭＳ 明朝" panose="02020609040205080304" pitchFamily="17" charset="-128"/>
                          <a:ea typeface="ＭＳ 明朝" panose="02020609040205080304" pitchFamily="17" charset="-128"/>
                        </a:rPr>
                        <a:t>ＯＳバージョン</a:t>
                      </a:r>
                    </a:p>
                  </a:txBody>
                  <a:tcPr/>
                </a:tc>
                <a:extLst>
                  <a:ext uri="{0D108BD9-81ED-4DB2-BD59-A6C34878D82A}">
                    <a16:rowId xmlns:a16="http://schemas.microsoft.com/office/drawing/2014/main" val="357018124"/>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ＦＷ</a:t>
                      </a:r>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solidFill>
                            <a:schemeClr val="tx1"/>
                          </a:solidFill>
                          <a:latin typeface="ＭＳ ゴシック" panose="020B0609070205080204" pitchFamily="49" charset="-128"/>
                          <a:ea typeface="ＭＳ ゴシック" panose="020B0609070205080204" pitchFamily="49" charset="-128"/>
                        </a:rPr>
                        <a:t>Juniper SRX320</a:t>
                      </a: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20.4R3-S3.4</a:t>
                      </a:r>
                      <a:endParaRPr kumimoji="1" lang="ja-JP" altLang="en-US" sz="1400" dirty="0"/>
                    </a:p>
                  </a:txBody>
                  <a:tcPr/>
                </a:tc>
                <a:extLst>
                  <a:ext uri="{0D108BD9-81ED-4DB2-BD59-A6C34878D82A}">
                    <a16:rowId xmlns:a16="http://schemas.microsoft.com/office/drawing/2014/main" val="2675669347"/>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ルーター</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NEC IX2207</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10.6.63</a:t>
                      </a:r>
                      <a:endParaRPr kumimoji="1" lang="ja-JP" altLang="en-US" sz="1400" dirty="0"/>
                    </a:p>
                  </a:txBody>
                  <a:tcPr/>
                </a:tc>
                <a:extLst>
                  <a:ext uri="{0D108BD9-81ED-4DB2-BD59-A6C34878D82A}">
                    <a16:rowId xmlns:a16="http://schemas.microsoft.com/office/drawing/2014/main" val="769720274"/>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Ｌ２ＳＷ</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Panasonic</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Switch-M8eG/</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Switch-M16eG</a:t>
                      </a:r>
                      <a:endParaRPr kumimoji="1" lang="ja-JP" altLang="en-US" sz="1400" dirty="0"/>
                    </a:p>
                  </a:txBody>
                  <a:tcPr/>
                </a:tc>
                <a:tc>
                  <a:txBody>
                    <a:bodyPr/>
                    <a:lstStyle/>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Boot:1.00.22</a:t>
                      </a:r>
                    </a:p>
                    <a:p>
                      <a:pPr algn="l"/>
                      <a:r>
                        <a:rPr kumimoji="1" lang="en-US" altLang="ja-JP" sz="1400" b="0" dirty="0">
                          <a:solidFill>
                            <a:schemeClr val="tx1"/>
                          </a:solidFill>
                          <a:latin typeface="ＭＳ ゴシック" panose="020B0609070205080204" pitchFamily="49" charset="-128"/>
                          <a:ea typeface="ＭＳ ゴシック" panose="020B0609070205080204" pitchFamily="49" charset="-128"/>
                        </a:rPr>
                        <a:t>Runtime:3.0.0.03</a:t>
                      </a:r>
                      <a:endParaRPr kumimoji="1" lang="ja-JP" altLang="en-US" sz="1400" b="0" dirty="0">
                        <a:solidFill>
                          <a:schemeClr val="tx1"/>
                        </a:solidFill>
                        <a:latin typeface="ＭＳ ゴシック" panose="020B0609070205080204" pitchFamily="49" charset="-128"/>
                        <a:ea typeface="ＭＳ ゴシック" panose="020B0609070205080204" pitchFamily="49" charset="-128"/>
                      </a:endParaRPr>
                    </a:p>
                  </a:txBody>
                  <a:tcPr/>
                </a:tc>
                <a:extLst>
                  <a:ext uri="{0D108BD9-81ED-4DB2-BD59-A6C34878D82A}">
                    <a16:rowId xmlns:a16="http://schemas.microsoft.com/office/drawing/2014/main" val="2427946085"/>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ＳＲ</a:t>
                      </a:r>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SEIKO SC-8259</a:t>
                      </a:r>
                      <a:endParaRPr kumimoji="1" lang="ja-JP" altLang="en-US" sz="1400" dirty="0"/>
                    </a:p>
                  </a:txBody>
                  <a:tcPr/>
                </a:tc>
                <a:tc>
                  <a:txBody>
                    <a:bodyPr/>
                    <a:lstStyle/>
                    <a:p>
                      <a:pPr algn="l"/>
                      <a:endParaRPr kumimoji="1" lang="ja-JP" altLang="en-US" sz="1400" dirty="0"/>
                    </a:p>
                  </a:txBody>
                  <a:tcPr/>
                </a:tc>
                <a:extLst>
                  <a:ext uri="{0D108BD9-81ED-4DB2-BD59-A6C34878D82A}">
                    <a16:rowId xmlns:a16="http://schemas.microsoft.com/office/drawing/2014/main" val="17985267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仮想化サーバー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Windows Server 2019 Standard</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10.0.17763.3770</a:t>
                      </a:r>
                      <a:endParaRPr kumimoji="1" lang="ja-JP" altLang="en-US" sz="1400" dirty="0"/>
                    </a:p>
                  </a:txBody>
                  <a:tcPr/>
                </a:tc>
                <a:extLst>
                  <a:ext uri="{0D108BD9-81ED-4DB2-BD59-A6C34878D82A}">
                    <a16:rowId xmlns:a16="http://schemas.microsoft.com/office/drawing/2014/main" val="7962030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ＦＡＤＰ端末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Windows 10 Enterprise LTSC</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10.0.17763.3287</a:t>
                      </a:r>
                      <a:endParaRPr kumimoji="1" lang="ja-JP" altLang="en-US" sz="1400" dirty="0"/>
                    </a:p>
                  </a:txBody>
                  <a:tcPr/>
                </a:tc>
                <a:extLst>
                  <a:ext uri="{0D108BD9-81ED-4DB2-BD59-A6C34878D82A}">
                    <a16:rowId xmlns:a16="http://schemas.microsoft.com/office/drawing/2014/main" val="32896939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0" dirty="0">
                          <a:solidFill>
                            <a:schemeClr val="tx1"/>
                          </a:solidFill>
                          <a:latin typeface="ＭＳ ゴシック" panose="020B0609070205080204" pitchFamily="49" charset="-128"/>
                          <a:ea typeface="ＭＳ ゴシック" panose="020B0609070205080204" pitchFamily="49" charset="-128"/>
                        </a:rPr>
                        <a:t>運航情報サーバー</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de-DE" altLang="ja-JP" sz="1400" b="0" dirty="0">
                          <a:latin typeface="ＭＳ ゴシック" panose="020B0609070205080204" pitchFamily="49" charset="-128"/>
                          <a:ea typeface="ＭＳ ゴシック" panose="020B0609070205080204" pitchFamily="49" charset="-128"/>
                        </a:rPr>
                        <a:t>Red Hat Enterprise Linux</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de-DE" altLang="ja-JP" sz="1400" b="0" dirty="0">
                          <a:latin typeface="ＭＳ ゴシック" panose="020B0609070205080204" pitchFamily="49" charset="-128"/>
                          <a:ea typeface="ＭＳ ゴシック" panose="020B0609070205080204" pitchFamily="49" charset="-128"/>
                        </a:rPr>
                        <a:t>8.5</a:t>
                      </a:r>
                      <a:endParaRPr kumimoji="1" lang="ja-JP" altLang="en-US" sz="1400" dirty="0"/>
                    </a:p>
                  </a:txBody>
                  <a:tcPr/>
                </a:tc>
                <a:extLst>
                  <a:ext uri="{0D108BD9-81ED-4DB2-BD59-A6C34878D82A}">
                    <a16:rowId xmlns:a16="http://schemas.microsoft.com/office/drawing/2014/main" val="2335670637"/>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ＷＥＢ</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Oracle WebLogic Server</a:t>
                      </a:r>
                      <a:endParaRPr kumimoji="1" lang="ja-JP" altLang="en-US" sz="1400" b="0" dirty="0">
                        <a:latin typeface="ＭＳ ゴシック" panose="020B0609070205080204" pitchFamily="49" charset="-128"/>
                        <a:ea typeface="ＭＳ ゴシック" panose="020B0609070205080204" pitchFamily="49" charset="-128"/>
                      </a:endParaRPr>
                    </a:p>
                    <a:p>
                      <a:pPr algn="l"/>
                      <a:endParaRPr kumimoji="1" lang="ja-JP" altLang="en-US" sz="1400" dirty="0"/>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14.1.1</a:t>
                      </a:r>
                      <a:endParaRPr kumimoji="1" lang="ja-JP" altLang="en-US" sz="1400" dirty="0"/>
                    </a:p>
                  </a:txBody>
                  <a:tcPr/>
                </a:tc>
                <a:extLst>
                  <a:ext uri="{0D108BD9-81ED-4DB2-BD59-A6C34878D82A}">
                    <a16:rowId xmlns:a16="http://schemas.microsoft.com/office/drawing/2014/main" val="2639988789"/>
                  </a:ext>
                </a:extLst>
              </a:tr>
              <a:tr h="370840">
                <a:tc>
                  <a:txBody>
                    <a:bodyPr/>
                    <a:lstStyle/>
                    <a:p>
                      <a:pPr algn="l"/>
                      <a:r>
                        <a:rPr lang="ja-JP" altLang="en-US" sz="1400" b="0" dirty="0">
                          <a:solidFill>
                            <a:schemeClr val="tx1"/>
                          </a:solidFill>
                          <a:latin typeface="ＭＳ ゴシック" panose="020B0609070205080204" pitchFamily="49" charset="-128"/>
                          <a:ea typeface="ＭＳ ゴシック" panose="020B0609070205080204" pitchFamily="49" charset="-128"/>
                        </a:rPr>
                        <a:t>ＤＢ</a:t>
                      </a:r>
                      <a:endParaRPr lang="en-US" altLang="ja-JP" sz="1400" b="0" dirty="0">
                        <a:solidFill>
                          <a:schemeClr val="tx1"/>
                        </a:solidFill>
                        <a:latin typeface="ＭＳ ゴシック" panose="020B0609070205080204" pitchFamily="49" charset="-128"/>
                        <a:ea typeface="ＭＳ ゴシック" panose="020B0609070205080204" pitchFamily="49" charset="-128"/>
                      </a:endParaRPr>
                    </a:p>
                    <a:p>
                      <a:pPr algn="l"/>
                      <a:r>
                        <a:rPr lang="ja-JP" altLang="en-US" sz="1400" b="0" dirty="0">
                          <a:solidFill>
                            <a:schemeClr val="tx1"/>
                          </a:solidFill>
                          <a:latin typeface="ＭＳ ゴシック" panose="020B0609070205080204" pitchFamily="49" charset="-128"/>
                          <a:ea typeface="ＭＳ ゴシック" panose="020B0609070205080204" pitchFamily="49" charset="-128"/>
                        </a:rPr>
                        <a:t>サーバー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ＭＳ ゴシック" panose="020B0609070205080204" pitchFamily="49" charset="-128"/>
                          <a:ea typeface="ＭＳ ゴシック" panose="020B0609070205080204" pitchFamily="49" charset="-128"/>
                        </a:rPr>
                        <a:t>Oracle Database 19c Standard Edition 2</a:t>
                      </a:r>
                      <a:endParaRPr kumimoji="1" lang="ja-JP" altLang="en-US" sz="1400" b="0" dirty="0">
                        <a:latin typeface="ＭＳ ゴシック" panose="020B0609070205080204" pitchFamily="49" charset="-128"/>
                        <a:ea typeface="ＭＳ ゴシック" panose="020B0609070205080204" pitchFamily="49" charset="-128"/>
                      </a:endParaRPr>
                    </a:p>
                  </a:txBody>
                  <a:tcPr/>
                </a:tc>
                <a:tc>
                  <a:txBody>
                    <a:bodyPr/>
                    <a:lstStyle/>
                    <a:p>
                      <a:pPr algn="l"/>
                      <a:r>
                        <a:rPr kumimoji="1" lang="en-US" altLang="ja-JP" sz="1400" b="0" dirty="0">
                          <a:latin typeface="ＭＳ ゴシック" panose="020B0609070205080204" pitchFamily="49" charset="-128"/>
                          <a:ea typeface="ＭＳ ゴシック" panose="020B0609070205080204" pitchFamily="49" charset="-128"/>
                        </a:rPr>
                        <a:t>19.0.0.0.0</a:t>
                      </a:r>
                      <a:endParaRPr kumimoji="1" lang="ja-JP" altLang="en-US" sz="1400" dirty="0"/>
                    </a:p>
                  </a:txBody>
                  <a:tcPr/>
                </a:tc>
                <a:extLst>
                  <a:ext uri="{0D108BD9-81ED-4DB2-BD59-A6C34878D82A}">
                    <a16:rowId xmlns:a16="http://schemas.microsoft.com/office/drawing/2014/main" val="163541636"/>
                  </a:ext>
                </a:extLst>
              </a:tr>
            </a:tbl>
          </a:graphicData>
        </a:graphic>
      </p:graphicFrame>
      <p:sp>
        <p:nvSpPr>
          <p:cNvPr id="7" name="正方形/長方形 6">
            <a:extLst>
              <a:ext uri="{FF2B5EF4-FFF2-40B4-BE49-F238E27FC236}">
                <a16:creationId xmlns:a16="http://schemas.microsoft.com/office/drawing/2014/main" id="{BFBBE731-D821-4894-95BD-872288FFFA69}"/>
              </a:ext>
            </a:extLst>
          </p:cNvPr>
          <p:cNvSpPr/>
          <p:nvPr/>
        </p:nvSpPr>
        <p:spPr>
          <a:xfrm>
            <a:off x="5080337" y="164444"/>
            <a:ext cx="2031326" cy="369332"/>
          </a:xfrm>
          <a:prstGeom prst="rect">
            <a:avLst/>
          </a:prstGeom>
        </p:spPr>
        <p:txBody>
          <a:bodyPr wrap="none">
            <a:spAutoFit/>
          </a:bodyPr>
          <a:lstStyle/>
          <a:p>
            <a:pPr algn="ctr"/>
            <a:r>
              <a:rPr lang="ja-JP" altLang="en-US" dirty="0">
                <a:latin typeface="ＭＳ ゴシック" panose="020B0609070205080204" pitchFamily="49" charset="-128"/>
                <a:ea typeface="ＭＳ ゴシック" panose="020B0609070205080204" pitchFamily="49" charset="-128"/>
              </a:rPr>
              <a:t>各サービスの情報</a:t>
            </a:r>
          </a:p>
        </p:txBody>
      </p:sp>
    </p:spTree>
    <p:extLst>
      <p:ext uri="{BB962C8B-B14F-4D97-AF65-F5344CB8AC3E}">
        <p14:creationId xmlns:p14="http://schemas.microsoft.com/office/powerpoint/2010/main" val="2398505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9CE6FC-94AD-4E16-863A-BE62B2149D30}"/>
              </a:ext>
            </a:extLst>
          </p:cNvPr>
          <p:cNvSpPr>
            <a:spLocks noGrp="1"/>
          </p:cNvSpPr>
          <p:nvPr>
            <p:ph type="title"/>
          </p:nvPr>
        </p:nvSpPr>
        <p:spPr>
          <a:xfrm>
            <a:off x="2017337" y="70701"/>
            <a:ext cx="8339972" cy="577555"/>
          </a:xfrm>
        </p:spPr>
        <p:txBody>
          <a:bodyPr>
            <a:normAutofit/>
          </a:bodyPr>
          <a:lstStyle/>
          <a:p>
            <a:r>
              <a:rPr lang="en-US" altLang="ja-JP" sz="2400" dirty="0">
                <a:latin typeface="メイリオ" panose="020B0604030504040204" pitchFamily="50" charset="-128"/>
                <a:ea typeface="メイリオ" panose="020B0604030504040204" pitchFamily="50" charset="-128"/>
              </a:rPr>
              <a:t>Juniper Networks</a:t>
            </a:r>
            <a:r>
              <a:rPr lang="ja-JP" altLang="en-US" sz="2400" dirty="0">
                <a:latin typeface="メイリオ" panose="020B0604030504040204" pitchFamily="50" charset="-128"/>
                <a:ea typeface="メイリオ" panose="020B0604030504040204" pitchFamily="50" charset="-128"/>
              </a:rPr>
              <a:t> </a:t>
            </a:r>
            <a:r>
              <a:rPr lang="en-US" altLang="ja-JP" sz="2400" dirty="0" err="1">
                <a:latin typeface="メイリオ" panose="020B0604030504040204" pitchFamily="50" charset="-128"/>
                <a:ea typeface="メイリオ" panose="020B0604030504040204" pitchFamily="50" charset="-128"/>
              </a:rPr>
              <a:t>Junos</a:t>
            </a:r>
            <a:r>
              <a:rPr lang="en-US" altLang="ja-JP" sz="2400" dirty="0">
                <a:latin typeface="メイリオ" panose="020B0604030504040204" pitchFamily="50" charset="-128"/>
                <a:ea typeface="メイリオ" panose="020B0604030504040204" pitchFamily="50" charset="-128"/>
              </a:rPr>
              <a:t> OS 20.4R3-S3.4 </a:t>
            </a:r>
            <a:r>
              <a:rPr lang="ja-JP" altLang="en-US" sz="2400" dirty="0">
                <a:latin typeface="メイリオ" panose="020B0604030504040204" pitchFamily="50" charset="-128"/>
                <a:ea typeface="メイリオ" panose="020B0604030504040204" pitchFamily="50" charset="-128"/>
              </a:rPr>
              <a:t>脆弱性</a:t>
            </a:r>
            <a:endParaRPr kumimoji="1" lang="ja-JP" altLang="en-US" sz="2400" dirty="0">
              <a:latin typeface="メイリオ" panose="020B0604030504040204" pitchFamily="50" charset="-128"/>
              <a:ea typeface="メイリオ" panose="020B0604030504040204" pitchFamily="50" charset="-128"/>
            </a:endParaRPr>
          </a:p>
        </p:txBody>
      </p:sp>
      <p:sp>
        <p:nvSpPr>
          <p:cNvPr id="6" name="コンテンツ プレースホルダー 5">
            <a:extLst>
              <a:ext uri="{FF2B5EF4-FFF2-40B4-BE49-F238E27FC236}">
                <a16:creationId xmlns:a16="http://schemas.microsoft.com/office/drawing/2014/main" id="{7D8DF668-D376-403F-AC1B-1EDA540DCEEB}"/>
              </a:ext>
            </a:extLst>
          </p:cNvPr>
          <p:cNvSpPr>
            <a:spLocks noGrp="1"/>
          </p:cNvSpPr>
          <p:nvPr>
            <p:ph idx="1"/>
          </p:nvPr>
        </p:nvSpPr>
        <p:spPr>
          <a:xfrm>
            <a:off x="838200" y="945453"/>
            <a:ext cx="10515600" cy="4967094"/>
          </a:xfrm>
        </p:spPr>
        <p:txBody>
          <a:bodyPr>
            <a:noAutofit/>
          </a:bodyPr>
          <a:lstStyle/>
          <a:p>
            <a:pPr marL="0" indent="0">
              <a:buNone/>
            </a:pPr>
            <a:r>
              <a:rPr lang="ja-JP" altLang="en-US" sz="900" b="1" dirty="0">
                <a:latin typeface="メイリオ" panose="020B0604030504040204" pitchFamily="50" charset="-128"/>
                <a:ea typeface="メイリオ" panose="020B0604030504040204" pitchFamily="50" charset="-128"/>
              </a:rPr>
              <a:t>主な脆弱性と推奨される対応</a:t>
            </a:r>
          </a:p>
          <a:p>
            <a:pPr marL="0" indent="0">
              <a:buNone/>
            </a:pPr>
            <a:r>
              <a:rPr lang="en-US" altLang="ja-JP" sz="900" b="1" dirty="0">
                <a:latin typeface="メイリオ" panose="020B0604030504040204" pitchFamily="50" charset="-128"/>
                <a:ea typeface="メイリオ" panose="020B0604030504040204" pitchFamily="50" charset="-128"/>
              </a:rPr>
              <a:t>1. 20.4R3-S3.4</a:t>
            </a:r>
            <a:r>
              <a:rPr lang="ja-JP" altLang="en-US" sz="900" b="1" dirty="0">
                <a:latin typeface="メイリオ" panose="020B0604030504040204" pitchFamily="50" charset="-128"/>
                <a:ea typeface="メイリオ" panose="020B0604030504040204" pitchFamily="50" charset="-128"/>
              </a:rPr>
              <a:t>に影響する主な脆弱性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CVE-2024-21591 (Critical, CVSS: 9.8)</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SRX/EX</a:t>
            </a:r>
            <a:r>
              <a:rPr lang="ja-JP" altLang="en-US" sz="900" dirty="0">
                <a:latin typeface="メイリオ" panose="020B0604030504040204" pitchFamily="50" charset="-128"/>
                <a:ea typeface="メイリオ" panose="020B0604030504040204" pitchFamily="50" charset="-128"/>
              </a:rPr>
              <a:t>シリーズの</a:t>
            </a: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コンポーネントにおけるスタックベースのバッファオーバーフロー。認証されていないリモートの攻撃者が、細工されたリクエストによりルート権限でのリモートコード実行（</a:t>
            </a:r>
            <a:r>
              <a:rPr lang="en-US" altLang="ja-JP" sz="900" dirty="0">
                <a:latin typeface="メイリオ" panose="020B0604030504040204" pitchFamily="50" charset="-128"/>
                <a:ea typeface="メイリオ" panose="020B0604030504040204" pitchFamily="50" charset="-128"/>
              </a:rPr>
              <a:t>RCE</a:t>
            </a:r>
            <a:r>
              <a:rPr lang="ja-JP" altLang="en-US" sz="900" dirty="0">
                <a:latin typeface="メイリオ" panose="020B0604030504040204" pitchFamily="50" charset="-128"/>
                <a:ea typeface="メイリオ" panose="020B0604030504040204" pitchFamily="50" charset="-128"/>
              </a:rPr>
              <a:t>）や</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攻撃を行う可能性。</a:t>
            </a:r>
          </a:p>
          <a:p>
            <a:pPr marL="0" indent="0">
              <a:buNone/>
            </a:pPr>
            <a:r>
              <a:rPr lang="ja-JP" altLang="en-US" sz="900" b="1" dirty="0">
                <a:latin typeface="メイリオ" panose="020B0604030504040204" pitchFamily="50" charset="-128"/>
                <a:ea typeface="メイリオ" panose="020B0604030504040204" pitchFamily="50" charset="-128"/>
              </a:rPr>
              <a:t>影響</a:t>
            </a:r>
            <a:r>
              <a:rPr lang="en-US" altLang="ja-JP" sz="900" dirty="0">
                <a:latin typeface="メイリオ" panose="020B0604030504040204" pitchFamily="50" charset="-128"/>
                <a:ea typeface="メイリオ" panose="020B0604030504040204" pitchFamily="50" charset="-128"/>
              </a:rPr>
              <a:t>: 20.4R3-S3.4</a:t>
            </a:r>
            <a:r>
              <a:rPr lang="ja-JP" altLang="en-US" sz="900" dirty="0">
                <a:latin typeface="メイリオ" panose="020B0604030504040204" pitchFamily="50" charset="-128"/>
                <a:ea typeface="メイリオ" panose="020B0604030504040204" pitchFamily="50" charset="-128"/>
              </a:rPr>
              <a:t>は「</a:t>
            </a:r>
            <a:r>
              <a:rPr lang="en-US" altLang="ja-JP" sz="900" dirty="0">
                <a:latin typeface="メイリオ" panose="020B0604030504040204" pitchFamily="50" charset="-128"/>
                <a:ea typeface="メイリオ" panose="020B0604030504040204" pitchFamily="50" charset="-128"/>
              </a:rPr>
              <a:t>20.4R3-S9</a:t>
            </a:r>
            <a:r>
              <a:rPr lang="ja-JP" altLang="en-US" sz="900" dirty="0">
                <a:latin typeface="メイリオ" panose="020B0604030504040204" pitchFamily="50" charset="-128"/>
                <a:ea typeface="メイリオ" panose="020B0604030504040204" pitchFamily="50" charset="-128"/>
              </a:rPr>
              <a:t>より前のバージョン」に該当するため、影響を受ける可能性。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CVE-2023-44177 (High, CVSS: 7.5)</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CLI</a:t>
            </a:r>
            <a:r>
              <a:rPr lang="ja-JP" altLang="en-US" sz="900" dirty="0">
                <a:latin typeface="メイリオ" panose="020B0604030504040204" pitchFamily="50" charset="-128"/>
                <a:ea typeface="メイリオ" panose="020B0604030504040204" pitchFamily="50" charset="-128"/>
              </a:rPr>
              <a:t>コマンドのスタックベースのバッファオーバーフロー。低権限のユーザーが特定の</a:t>
            </a:r>
            <a:r>
              <a:rPr lang="en-US" altLang="ja-JP" sz="900" dirty="0">
                <a:latin typeface="メイリオ" panose="020B0604030504040204" pitchFamily="50" charset="-128"/>
                <a:ea typeface="メイリオ" panose="020B0604030504040204" pitchFamily="50" charset="-128"/>
              </a:rPr>
              <a:t>CLI</a:t>
            </a:r>
            <a:r>
              <a:rPr lang="ja-JP" altLang="en-US" sz="900" dirty="0">
                <a:latin typeface="メイリオ" panose="020B0604030504040204" pitchFamily="50" charset="-128"/>
                <a:ea typeface="メイリオ" panose="020B0604030504040204" pitchFamily="50" charset="-128"/>
              </a:rPr>
              <a:t>コマンドを実行し、サービス拒否（</a:t>
            </a:r>
            <a:r>
              <a:rPr lang="en-US" altLang="ja-JP" sz="900" dirty="0">
                <a:latin typeface="メイリオ" panose="020B0604030504040204" pitchFamily="50" charset="-128"/>
                <a:ea typeface="メイリオ" panose="020B0604030504040204" pitchFamily="50" charset="-128"/>
              </a:rPr>
              <a:t>DoS</a:t>
            </a:r>
            <a:r>
              <a:rPr lang="ja-JP" altLang="en-US" sz="900" dirty="0">
                <a:latin typeface="メイリオ" panose="020B0604030504040204" pitchFamily="50" charset="-128"/>
                <a:ea typeface="メイリオ" panose="020B0604030504040204" pitchFamily="50" charset="-128"/>
              </a:rPr>
              <a:t>）を引き起こす可能性。</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CVE-2024-21619/21620 (Medium/High)</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J-Web</a:t>
            </a:r>
            <a:r>
              <a:rPr lang="ja-JP" altLang="en-US" sz="900" dirty="0">
                <a:latin typeface="メイリオ" panose="020B0604030504040204" pitchFamily="50" charset="-128"/>
                <a:ea typeface="メイリオ" panose="020B0604030504040204" pitchFamily="50" charset="-128"/>
              </a:rPr>
              <a:t>における認証の欠如や</a:t>
            </a:r>
            <a:r>
              <a:rPr lang="en-US" altLang="ja-JP" sz="900" dirty="0">
                <a:latin typeface="メイリオ" panose="020B0604030504040204" pitchFamily="50" charset="-128"/>
                <a:ea typeface="メイリオ" panose="020B0604030504040204" pitchFamily="50" charset="-128"/>
              </a:rPr>
              <a:t>XSS</a:t>
            </a:r>
            <a:r>
              <a:rPr lang="ja-JP" altLang="en-US" sz="900" dirty="0">
                <a:latin typeface="メイリオ" panose="020B0604030504040204" pitchFamily="50" charset="-128"/>
                <a:ea typeface="メイリオ" panose="020B0604030504040204" pitchFamily="50" charset="-128"/>
              </a:rPr>
              <a:t>（クロスサイトスクリプティング）。</a:t>
            </a:r>
            <a:r>
              <a:rPr lang="en-US" altLang="ja-JP" sz="900" dirty="0">
                <a:latin typeface="メイリオ" panose="020B0604030504040204" pitchFamily="50" charset="-128"/>
                <a:ea typeface="メイリオ" panose="020B0604030504040204" pitchFamily="50" charset="-128"/>
              </a:rPr>
              <a:t>20.4</a:t>
            </a:r>
            <a:r>
              <a:rPr lang="ja-JP" altLang="en-US" sz="900" dirty="0">
                <a:latin typeface="メイリオ" panose="020B0604030504040204" pitchFamily="50" charset="-128"/>
                <a:ea typeface="メイリオ" panose="020B0604030504040204" pitchFamily="50" charset="-128"/>
              </a:rPr>
              <a:t>系に影響。</a:t>
            </a:r>
          </a:p>
          <a:p>
            <a:pPr marL="0" indent="0">
              <a:buNone/>
            </a:pPr>
            <a:r>
              <a:rPr lang="en-US" altLang="ja-JP" sz="900" dirty="0">
                <a:highlight>
                  <a:srgbClr val="FFFF00"/>
                </a:highlight>
                <a:latin typeface="メイリオ" panose="020B0604030504040204" pitchFamily="50" charset="-128"/>
                <a:ea typeface="メイリオ" panose="020B0604030504040204" pitchFamily="50" charset="-128"/>
              </a:rPr>
              <a:t>OpenSSH</a:t>
            </a:r>
            <a:r>
              <a:rPr lang="ja-JP" altLang="en-US" sz="900" dirty="0">
                <a:highlight>
                  <a:srgbClr val="FFFF00"/>
                </a:highlight>
                <a:latin typeface="メイリオ" panose="020B0604030504040204" pitchFamily="50" charset="-128"/>
                <a:ea typeface="メイリオ" panose="020B0604030504040204" pitchFamily="50" charset="-128"/>
              </a:rPr>
              <a:t>関連の脆弱性 </a:t>
            </a:r>
            <a:r>
              <a:rPr lang="en-US" altLang="ja-JP" sz="900" dirty="0">
                <a:highlight>
                  <a:srgbClr val="FFFF00"/>
                </a:highlight>
                <a:latin typeface="メイリオ" panose="020B0604030504040204" pitchFamily="50" charset="-128"/>
                <a:ea typeface="メイリオ" panose="020B0604030504040204" pitchFamily="50" charset="-128"/>
              </a:rPr>
              <a:t>(2024-05)</a:t>
            </a:r>
          </a:p>
          <a:p>
            <a:pPr marL="0" indent="0">
              <a:buNone/>
            </a:pPr>
            <a:r>
              <a:rPr lang="ja-JP" altLang="en-US" sz="900" b="1" dirty="0">
                <a:latin typeface="メイリオ" panose="020B0604030504040204" pitchFamily="50" charset="-128"/>
                <a:ea typeface="メイリオ" panose="020B0604030504040204" pitchFamily="50" charset="-128"/>
              </a:rPr>
              <a:t>概要</a:t>
            </a:r>
            <a:r>
              <a:rPr lang="en-US" altLang="ja-JP" sz="900" dirty="0">
                <a:latin typeface="メイリオ" panose="020B0604030504040204" pitchFamily="50" charset="-128"/>
                <a:ea typeface="メイリオ" panose="020B0604030504040204" pitchFamily="50" charset="-128"/>
              </a:rPr>
              <a:t>: </a:t>
            </a:r>
            <a:r>
              <a:rPr lang="en-US" altLang="ja-JP" sz="900" dirty="0" err="1">
                <a:latin typeface="メイリオ" panose="020B0604030504040204" pitchFamily="50" charset="-128"/>
                <a:ea typeface="メイリオ" panose="020B0604030504040204" pitchFamily="50" charset="-128"/>
              </a:rPr>
              <a:t>ssh</a:t>
            </a:r>
            <a:r>
              <a:rPr lang="en-US" altLang="ja-JP" sz="900" dirty="0">
                <a:latin typeface="メイリオ" panose="020B0604030504040204" pitchFamily="50" charset="-128"/>
                <a:ea typeface="メイリオ" panose="020B0604030504040204" pitchFamily="50" charset="-128"/>
              </a:rPr>
              <a:t> cipher list</a:t>
            </a:r>
            <a:r>
              <a:rPr lang="ja-JP" altLang="en-US" sz="900" dirty="0">
                <a:latin typeface="メイリオ" panose="020B0604030504040204" pitchFamily="50" charset="-128"/>
                <a:ea typeface="メイリオ" panose="020B0604030504040204" pitchFamily="50" charset="-128"/>
              </a:rPr>
              <a:t>に</a:t>
            </a:r>
            <a:r>
              <a:rPr lang="en-US" altLang="ja-JP" sz="900" dirty="0">
                <a:latin typeface="メイリオ" panose="020B0604030504040204" pitchFamily="50" charset="-128"/>
                <a:ea typeface="メイリオ" panose="020B0604030504040204" pitchFamily="50" charset="-128"/>
              </a:rPr>
              <a:t>chacha20-poly1305</a:t>
            </a:r>
            <a:r>
              <a:rPr lang="ja-JP" altLang="en-US" sz="900" dirty="0">
                <a:latin typeface="メイリオ" panose="020B0604030504040204" pitchFamily="50" charset="-128"/>
                <a:ea typeface="メイリオ" panose="020B0604030504040204" pitchFamily="50" charset="-128"/>
              </a:rPr>
              <a:t>が含まれる場合に影響を受ける。 </a:t>
            </a:r>
          </a:p>
          <a:p>
            <a:pPr marL="0" indent="0">
              <a:buNone/>
            </a:pPr>
            <a:r>
              <a:rPr lang="en-US" altLang="ja-JP" sz="900" b="1" dirty="0">
                <a:latin typeface="メイリオ" panose="020B0604030504040204" pitchFamily="50" charset="-128"/>
                <a:ea typeface="メイリオ" panose="020B0604030504040204" pitchFamily="50" charset="-128"/>
              </a:rPr>
              <a:t>2. </a:t>
            </a:r>
            <a:r>
              <a:rPr lang="ja-JP" altLang="en-US" sz="900" b="1" dirty="0">
                <a:latin typeface="メイリオ" panose="020B0604030504040204" pitchFamily="50" charset="-128"/>
                <a:ea typeface="メイリオ" panose="020B0604030504040204" pitchFamily="50" charset="-128"/>
              </a:rPr>
              <a:t>推奨される対応策</a:t>
            </a:r>
          </a:p>
          <a:p>
            <a:pPr marL="0" indent="0">
              <a:buNone/>
            </a:pPr>
            <a:r>
              <a:rPr lang="ja-JP" altLang="en-US" sz="900" dirty="0">
                <a:latin typeface="メイリオ" panose="020B0604030504040204" pitchFamily="50" charset="-128"/>
                <a:ea typeface="メイリオ" panose="020B0604030504040204" pitchFamily="50" charset="-128"/>
              </a:rPr>
              <a:t>速やかなアップグレード </a:t>
            </a:r>
            <a:r>
              <a:rPr lang="en-US" altLang="ja-JP" sz="900" dirty="0">
                <a:latin typeface="メイリオ" panose="020B0604030504040204" pitchFamily="50" charset="-128"/>
                <a:ea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rPr>
              <a:t>推奨</a:t>
            </a:r>
            <a:r>
              <a:rPr lang="en-US" altLang="ja-JP" sz="900" dirty="0">
                <a:latin typeface="メイリオ" panose="020B0604030504040204" pitchFamily="50" charset="-128"/>
                <a:ea typeface="メイリオ" panose="020B0604030504040204" pitchFamily="50" charset="-128"/>
              </a:rPr>
              <a:t>)</a:t>
            </a:r>
          </a:p>
          <a:p>
            <a:pPr marL="0" indent="0">
              <a:buNone/>
            </a:pPr>
            <a:r>
              <a:rPr lang="en-US" altLang="ja-JP" sz="900" dirty="0">
                <a:latin typeface="メイリオ" panose="020B0604030504040204" pitchFamily="50" charset="-128"/>
                <a:ea typeface="メイリオ" panose="020B0604030504040204" pitchFamily="50" charset="-128"/>
              </a:rPr>
              <a:t>20.4R3-S9 </a:t>
            </a:r>
            <a:r>
              <a:rPr lang="ja-JP" altLang="en-US" sz="900" dirty="0">
                <a:latin typeface="メイリオ" panose="020B0604030504040204" pitchFamily="50" charset="-128"/>
                <a:ea typeface="メイリオ" panose="020B0604030504040204" pitchFamily="50" charset="-128"/>
              </a:rPr>
              <a:t>またはそれ以降のサービスリリース（</a:t>
            </a:r>
            <a:r>
              <a:rPr lang="en-US" altLang="ja-JP" sz="900" dirty="0">
                <a:latin typeface="メイリオ" panose="020B0604030504040204" pitchFamily="50" charset="-128"/>
                <a:ea typeface="メイリオ" panose="020B0604030504040204" pitchFamily="50" charset="-128"/>
              </a:rPr>
              <a:t>20.4R3-S10</a:t>
            </a:r>
            <a:r>
              <a:rPr lang="ja-JP" altLang="en-US" sz="900" dirty="0">
                <a:latin typeface="メイリオ" panose="020B0604030504040204" pitchFamily="50" charset="-128"/>
                <a:ea typeface="メイリオ" panose="020B0604030504040204" pitchFamily="50" charset="-128"/>
              </a:rPr>
              <a:t>以上）へアップグレードする。</a:t>
            </a:r>
          </a:p>
          <a:p>
            <a:pPr marL="0" indent="0">
              <a:buNone/>
            </a:pPr>
            <a:r>
              <a:rPr lang="ja-JP" altLang="en-US" sz="900" dirty="0">
                <a:latin typeface="メイリオ" panose="020B0604030504040204" pitchFamily="50" charset="-128"/>
                <a:ea typeface="メイリオ" panose="020B0604030504040204" pitchFamily="50" charset="-128"/>
              </a:rPr>
              <a:t>可能であれば、より新しい長期サポート（</a:t>
            </a:r>
            <a:r>
              <a:rPr lang="en-US" altLang="ja-JP" sz="900" dirty="0">
                <a:latin typeface="メイリオ" panose="020B0604030504040204" pitchFamily="50" charset="-128"/>
                <a:ea typeface="メイリオ" panose="020B0604030504040204" pitchFamily="50" charset="-128"/>
              </a:rPr>
              <a:t>LTS</a:t>
            </a:r>
            <a:r>
              <a:rPr lang="ja-JP" altLang="en-US" sz="900" dirty="0">
                <a:latin typeface="メイリオ" panose="020B0604030504040204" pitchFamily="50" charset="-128"/>
                <a:ea typeface="メイリオ" panose="020B0604030504040204" pitchFamily="50" charset="-128"/>
              </a:rPr>
              <a:t>）バージョン（</a:t>
            </a:r>
            <a:r>
              <a:rPr lang="en-US" altLang="ja-JP" sz="900" dirty="0">
                <a:latin typeface="メイリオ" panose="020B0604030504040204" pitchFamily="50" charset="-128"/>
                <a:ea typeface="メイリオ" panose="020B0604030504040204" pitchFamily="50" charset="-128"/>
              </a:rPr>
              <a:t>21.4R3-S5</a:t>
            </a:r>
            <a:r>
              <a:rPr lang="ja-JP" altLang="en-US" sz="900" dirty="0">
                <a:latin typeface="メイリオ" panose="020B0604030504040204" pitchFamily="50" charset="-128"/>
                <a:ea typeface="メイリオ" panose="020B0604030504040204" pitchFamily="50" charset="-128"/>
              </a:rPr>
              <a:t>以降</a:t>
            </a:r>
            <a:r>
              <a:rPr lang="en-US" altLang="ja-JP" sz="900" dirty="0">
                <a:latin typeface="メイリオ" panose="020B0604030504040204" pitchFamily="50" charset="-128"/>
                <a:ea typeface="メイリオ" panose="020B0604030504040204" pitchFamily="50" charset="-128"/>
              </a:rPr>
              <a:t>, 22.4R3-S2</a:t>
            </a:r>
            <a:r>
              <a:rPr lang="ja-JP" altLang="en-US" sz="900" dirty="0">
                <a:latin typeface="メイリオ" panose="020B0604030504040204" pitchFamily="50" charset="-128"/>
                <a:ea typeface="メイリオ" panose="020B0604030504040204" pitchFamily="50" charset="-128"/>
              </a:rPr>
              <a:t>以降）への更新。</a:t>
            </a:r>
          </a:p>
          <a:p>
            <a:pPr marL="0" indent="0">
              <a:buNone/>
            </a:pPr>
            <a:r>
              <a:rPr lang="ja-JP" altLang="en-US" sz="900" dirty="0">
                <a:latin typeface="メイリオ" panose="020B0604030504040204" pitchFamily="50" charset="-128"/>
                <a:ea typeface="メイリオ" panose="020B0604030504040204" pitchFamily="50" charset="-128"/>
              </a:rPr>
              <a:t>回避策（アップグレード不可の場合）</a:t>
            </a: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を無効にする</a:t>
            </a:r>
            <a:r>
              <a:rPr lang="en-US" altLang="ja-JP" sz="900" dirty="0">
                <a:latin typeface="メイリオ" panose="020B0604030504040204" pitchFamily="50" charset="-128"/>
                <a:ea typeface="メイリオ" panose="020B0604030504040204" pitchFamily="50" charset="-128"/>
              </a:rPr>
              <a:t>:</a:t>
            </a:r>
          </a:p>
          <a:p>
            <a:pPr marL="0" indent="0">
              <a:buNone/>
            </a:pPr>
            <a:r>
              <a:rPr lang="en-US" altLang="ja-JP" sz="900" dirty="0">
                <a:highlight>
                  <a:srgbClr val="C0C0C0"/>
                </a:highlight>
                <a:latin typeface="メイリオ" panose="020B0604030504040204" pitchFamily="50" charset="-128"/>
                <a:ea typeface="メイリオ" panose="020B0604030504040204" pitchFamily="50" charset="-128"/>
              </a:rPr>
              <a:t>delete system services web-management</a:t>
            </a:r>
          </a:p>
          <a:p>
            <a:pPr marL="0" indent="0">
              <a:buNone/>
            </a:pPr>
            <a:r>
              <a:rPr lang="en-US" altLang="ja-JP" sz="900" dirty="0">
                <a:latin typeface="メイリオ" panose="020B0604030504040204" pitchFamily="50" charset="-128"/>
                <a:ea typeface="メイリオ" panose="020B0604030504040204" pitchFamily="50" charset="-128"/>
              </a:rPr>
              <a:t>J-Web</a:t>
            </a:r>
            <a:r>
              <a:rPr lang="ja-JP" altLang="en-US" sz="900" dirty="0">
                <a:latin typeface="メイリオ" panose="020B0604030504040204" pitchFamily="50" charset="-128"/>
                <a:ea typeface="メイリオ" panose="020B0604030504040204" pitchFamily="50" charset="-128"/>
              </a:rPr>
              <a:t>アクセスを制限する</a:t>
            </a:r>
            <a:r>
              <a:rPr lang="en-US" altLang="ja-JP" sz="900" dirty="0">
                <a:latin typeface="メイリオ" panose="020B0604030504040204" pitchFamily="50" charset="-128"/>
                <a:ea typeface="メイリオ" panose="020B0604030504040204" pitchFamily="50" charset="-128"/>
              </a:rPr>
              <a:t>: </a:t>
            </a:r>
            <a:r>
              <a:rPr lang="ja-JP" altLang="en-US" sz="900" dirty="0">
                <a:latin typeface="メイリオ" panose="020B0604030504040204" pitchFamily="50" charset="-128"/>
                <a:ea typeface="メイリオ" panose="020B0604030504040204" pitchFamily="50" charset="-128"/>
              </a:rPr>
              <a:t>ファイアウォールフィルターを使用して、信頼できる管理</a:t>
            </a:r>
            <a:r>
              <a:rPr lang="en-US" altLang="ja-JP" sz="900" dirty="0">
                <a:latin typeface="メイリオ" panose="020B0604030504040204" pitchFamily="50" charset="-128"/>
                <a:ea typeface="メイリオ" panose="020B0604030504040204" pitchFamily="50" charset="-128"/>
              </a:rPr>
              <a:t>IP</a:t>
            </a:r>
            <a:r>
              <a:rPr lang="ja-JP" altLang="en-US" sz="900" dirty="0">
                <a:latin typeface="メイリオ" panose="020B0604030504040204" pitchFamily="50" charset="-128"/>
                <a:ea typeface="メイリオ" panose="020B0604030504040204" pitchFamily="50" charset="-128"/>
              </a:rPr>
              <a:t>からのみアクセスを許可する。 </a:t>
            </a:r>
          </a:p>
        </p:txBody>
      </p:sp>
    </p:spTree>
    <p:extLst>
      <p:ext uri="{BB962C8B-B14F-4D97-AF65-F5344CB8AC3E}">
        <p14:creationId xmlns:p14="http://schemas.microsoft.com/office/powerpoint/2010/main" val="1616059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D9C926-8D3F-474E-B34B-174AA71BFC03}"/>
              </a:ext>
            </a:extLst>
          </p:cNvPr>
          <p:cNvSpPr>
            <a:spLocks noGrp="1"/>
          </p:cNvSpPr>
          <p:nvPr>
            <p:ph type="title"/>
          </p:nvPr>
        </p:nvSpPr>
        <p:spPr>
          <a:xfrm>
            <a:off x="1968499" y="101617"/>
            <a:ext cx="8255002" cy="492066"/>
          </a:xfrm>
        </p:spPr>
        <p:txBody>
          <a:bodyPr>
            <a:normAutofit/>
          </a:bodyPr>
          <a:lstStyle/>
          <a:p>
            <a:r>
              <a:rPr lang="en-US" altLang="ja-JP" dirty="0">
                <a:latin typeface="メイリオ" panose="020B0604030504040204" pitchFamily="50" charset="-128"/>
                <a:ea typeface="メイリオ" panose="020B0604030504040204" pitchFamily="50" charset="-128"/>
              </a:rPr>
              <a:t>NEC UNIVERGE IX2207 OS</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10.6.63 </a:t>
            </a:r>
            <a:r>
              <a:rPr lang="ja-JP" altLang="en-US" dirty="0">
                <a:latin typeface="メイリオ" panose="020B0604030504040204" pitchFamily="50" charset="-128"/>
                <a:ea typeface="メイリオ" panose="020B0604030504040204" pitchFamily="50" charset="-128"/>
              </a:rPr>
              <a:t>の脆弱性</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CDAA4F7C-68DD-468F-B6A2-09DFED50AB12}"/>
              </a:ext>
            </a:extLst>
          </p:cNvPr>
          <p:cNvSpPr>
            <a:spLocks noGrp="1"/>
          </p:cNvSpPr>
          <p:nvPr>
            <p:ph idx="1"/>
          </p:nvPr>
        </p:nvSpPr>
        <p:spPr>
          <a:xfrm>
            <a:off x="838200" y="662730"/>
            <a:ext cx="10515600" cy="6093653"/>
          </a:xfrm>
        </p:spPr>
        <p:txBody>
          <a:bodyPr>
            <a:normAutofit fontScale="32500" lnSpcReduction="20000"/>
          </a:bodyPr>
          <a:lstStyle/>
          <a:p>
            <a:pPr marL="0" indent="0">
              <a:buNone/>
            </a:pPr>
            <a:r>
              <a:rPr lang="ja-JP" altLang="en-US" dirty="0">
                <a:latin typeface="メイリオ" panose="020B0604030504040204" pitchFamily="50" charset="-128"/>
                <a:ea typeface="メイリオ" panose="020B0604030504040204" pitchFamily="50" charset="-128"/>
              </a:rPr>
              <a:t>主な脆弱性と推奨対応</a:t>
            </a:r>
          </a:p>
          <a:p>
            <a:pPr marL="0" indent="0">
              <a:buNone/>
            </a:pPr>
            <a:r>
              <a:rPr lang="en-US" altLang="ja-JP" b="1" dirty="0">
                <a:latin typeface="メイリオ" panose="020B0604030504040204" pitchFamily="50" charset="-128"/>
                <a:ea typeface="メイリオ" panose="020B0604030504040204" pitchFamily="50" charset="-128"/>
              </a:rPr>
              <a:t>1. 10.6.63</a:t>
            </a:r>
            <a:r>
              <a:rPr lang="ja-JP" altLang="en-US" b="1" dirty="0">
                <a:latin typeface="メイリオ" panose="020B0604030504040204" pitchFamily="50" charset="-128"/>
                <a:ea typeface="メイリオ" panose="020B0604030504040204" pitchFamily="50" charset="-128"/>
              </a:rPr>
              <a:t>に影響する主な最新脆弱性</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7.2</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：コマンドインジェクション</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管理インターフェースにおいて入力検証が不十分なため、認証済みの攻撃者が任意の</a:t>
            </a:r>
            <a:r>
              <a:rPr lang="en-US" altLang="ja-JP" dirty="0">
                <a:latin typeface="メイリオ" panose="020B0604030504040204" pitchFamily="50" charset="-128"/>
                <a:ea typeface="メイリオ" panose="020B0604030504040204" pitchFamily="50" charset="-128"/>
              </a:rPr>
              <a:t>CLI</a:t>
            </a:r>
            <a:r>
              <a:rPr lang="ja-JP" altLang="en-US" dirty="0">
                <a:latin typeface="メイリオ" panose="020B0604030504040204" pitchFamily="50" charset="-128"/>
                <a:ea typeface="メイリオ" panose="020B0604030504040204" pitchFamily="50" charset="-128"/>
              </a:rPr>
              <a:t>コマンドを実行可能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：ルータの完全乗っ取り、設定変更、</a:t>
            </a:r>
            <a:r>
              <a:rPr lang="en-US" altLang="ja-JP" dirty="0">
                <a:latin typeface="メイリオ" panose="020B0604030504040204" pitchFamily="50" charset="-128"/>
                <a:ea typeface="メイリオ" panose="020B0604030504040204" pitchFamily="50" charset="-128"/>
              </a:rPr>
              <a:t>VPN</a:t>
            </a:r>
            <a:r>
              <a:rPr lang="ja-JP" altLang="en-US" dirty="0">
                <a:latin typeface="メイリオ" panose="020B0604030504040204" pitchFamily="50" charset="-128"/>
                <a:ea typeface="メイリオ" panose="020B0604030504040204" pitchFamily="50" charset="-128"/>
              </a:rPr>
              <a:t>侵入、通信盗聴</a:t>
            </a: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IX</a:t>
            </a:r>
            <a:r>
              <a:rPr lang="ja-JP" altLang="en-US" dirty="0">
                <a:latin typeface="メイリオ" panose="020B0604030504040204" pitchFamily="50" charset="-128"/>
                <a:ea typeface="メイリオ" panose="020B0604030504040204" pitchFamily="50" charset="-128"/>
              </a:rPr>
              <a:t>シリーズ </a:t>
            </a:r>
            <a:r>
              <a:rPr lang="en-US" altLang="ja-JP" dirty="0">
                <a:latin typeface="メイリオ" panose="020B0604030504040204" pitchFamily="50" charset="-128"/>
                <a:ea typeface="メイリオ" panose="020B0604030504040204" pitchFamily="50" charset="-128"/>
              </a:rPr>
              <a:t>Ver.10.2 </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Ver.10.6</a:t>
            </a:r>
            <a:r>
              <a:rPr lang="ja-JP" altLang="en-US" dirty="0">
                <a:latin typeface="メイリオ" panose="020B0604030504040204" pitchFamily="50" charset="-128"/>
                <a:ea typeface="メイリオ" panose="020B0604030504040204" pitchFamily="50" charset="-128"/>
              </a:rPr>
              <a:t>系 → </a:t>
            </a:r>
            <a:r>
              <a:rPr lang="en-US" altLang="ja-JP" dirty="0">
                <a:latin typeface="メイリオ" panose="020B0604030504040204" pitchFamily="50" charset="-128"/>
                <a:ea typeface="メイリオ" panose="020B0604030504040204" pitchFamily="50" charset="-128"/>
              </a:rPr>
              <a:t>10.6.63</a:t>
            </a:r>
            <a:r>
              <a:rPr lang="ja-JP" altLang="en-US" dirty="0">
                <a:latin typeface="メイリオ" panose="020B0604030504040204" pitchFamily="50" charset="-128"/>
                <a:ea typeface="メイリオ" panose="020B0604030504040204" pitchFamily="50" charset="-128"/>
              </a:rPr>
              <a:t>は影響を受ける</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CVE-2024-11014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4.3</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CSRF</a:t>
            </a:r>
            <a:r>
              <a:rPr lang="ja-JP" altLang="en-US" dirty="0">
                <a:latin typeface="メイリオ" panose="020B0604030504040204" pitchFamily="50" charset="-128"/>
                <a:ea typeface="メイリオ" panose="020B0604030504040204" pitchFamily="50" charset="-128"/>
              </a:rPr>
              <a:t>（クロスサイトリクエストフォージェリ）</a:t>
            </a:r>
          </a:p>
          <a:p>
            <a:pPr marL="0" indent="0">
              <a:buNone/>
            </a:pPr>
            <a:r>
              <a:rPr lang="ja-JP" altLang="en-US" dirty="0">
                <a:latin typeface="メイリオ" panose="020B0604030504040204" pitchFamily="50" charset="-128"/>
                <a:ea typeface="メイリオ" panose="020B0604030504040204" pitchFamily="50" charset="-128"/>
              </a:rPr>
              <a:t>攻撃者が細工したページを管理者に閲覧させることで、管理者権限で設定変更が可能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：ルータ設定改ざん、管理者権限悪用</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CVE-2025-8153</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Medium, CVSS: 6.1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：クロスサイトスクリプティング（</a:t>
            </a:r>
            <a:r>
              <a:rPr lang="en-US" altLang="ja-JP" dirty="0">
                <a:latin typeface="メイリオ" panose="020B0604030504040204" pitchFamily="50" charset="-128"/>
                <a:ea typeface="メイリオ" panose="020B0604030504040204" pitchFamily="50" charset="-128"/>
              </a:rPr>
              <a:t>XSS</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管理画面において、悪意のあるスクリプトが実行される可能性</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：管理者セッション乗っ取り、不正設定変更</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ファームウェアアップグレード（最推奨）</a:t>
            </a:r>
          </a:p>
          <a:p>
            <a:pPr marL="0" indent="0">
              <a:buNone/>
            </a:pPr>
            <a:r>
              <a:rPr lang="en-US" altLang="ja-JP" dirty="0">
                <a:latin typeface="メイリオ" panose="020B0604030504040204" pitchFamily="50" charset="-128"/>
                <a:ea typeface="メイリオ" panose="020B0604030504040204" pitchFamily="50" charset="-128"/>
              </a:rPr>
              <a:t>NEC</a:t>
            </a:r>
            <a:r>
              <a:rPr lang="ja-JP" altLang="en-US" dirty="0">
                <a:latin typeface="メイリオ" panose="020B0604030504040204" pitchFamily="50" charset="-128"/>
                <a:ea typeface="メイリオ" panose="020B0604030504040204" pitchFamily="50" charset="-128"/>
              </a:rPr>
              <a:t>の修正版へアップデート</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Ver.10.7</a:t>
            </a:r>
            <a:r>
              <a:rPr lang="ja-JP" altLang="en-US" dirty="0">
                <a:latin typeface="メイリオ" panose="020B0604030504040204" pitchFamily="50" charset="-128"/>
                <a:ea typeface="メイリオ" panose="020B0604030504040204" pitchFamily="50" charset="-128"/>
              </a:rPr>
              <a:t>系以降または最新安定版</a:t>
            </a:r>
          </a:p>
          <a:p>
            <a:pPr marL="0" indent="0">
              <a:buNone/>
            </a:pPr>
            <a:r>
              <a:rPr lang="ja-JP" altLang="en-US" dirty="0">
                <a:latin typeface="メイリオ" panose="020B0604030504040204" pitchFamily="50" charset="-128"/>
                <a:ea typeface="メイリオ" panose="020B0604030504040204" pitchFamily="50" charset="-128"/>
              </a:rPr>
              <a:t>回避策（アップグレード不可の場合）</a:t>
            </a:r>
          </a:p>
          <a:p>
            <a:pPr marL="0" indent="0">
              <a:buNone/>
            </a:pP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管理無効化（最重要）</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http-server enable</a:t>
            </a:r>
          </a:p>
          <a:p>
            <a:pPr marL="0" indent="0">
              <a:buNone/>
            </a:pPr>
            <a:r>
              <a:rPr lang="en-US" altLang="ja-JP" dirty="0">
                <a:latin typeface="メイリオ" panose="020B0604030504040204" pitchFamily="50" charset="-128"/>
                <a:ea typeface="メイリオ" panose="020B0604030504040204" pitchFamily="50" charset="-128"/>
              </a:rPr>
              <a:t>HTTPS</a:t>
            </a:r>
            <a:r>
              <a:rPr lang="ja-JP" altLang="en-US" dirty="0">
                <a:latin typeface="メイリオ" panose="020B0604030504040204" pitchFamily="50" charset="-128"/>
                <a:ea typeface="メイリオ" panose="020B0604030504040204" pitchFamily="50" charset="-128"/>
              </a:rPr>
              <a:t>アクセス制限</a:t>
            </a:r>
          </a:p>
          <a:p>
            <a:pPr marL="0" indent="0">
              <a:buNone/>
            </a:pPr>
            <a:r>
              <a:rPr lang="ja-JP" altLang="en-US" dirty="0">
                <a:latin typeface="メイリオ" panose="020B0604030504040204" pitchFamily="50" charset="-128"/>
                <a:ea typeface="メイリオ" panose="020B0604030504040204" pitchFamily="50" charset="-128"/>
              </a:rPr>
              <a:t>管理端末のみ許可</a:t>
            </a:r>
          </a:p>
          <a:p>
            <a:pPr marL="0" indent="0">
              <a:buNone/>
            </a:pPr>
            <a:r>
              <a:rPr lang="en-US" altLang="ja-JP" dirty="0">
                <a:latin typeface="メイリオ" panose="020B0604030504040204" pitchFamily="50" charset="-128"/>
                <a:ea typeface="メイリオ" panose="020B0604030504040204" pitchFamily="50" charset="-128"/>
              </a:rPr>
              <a:t>Telnet</a:t>
            </a:r>
            <a:r>
              <a:rPr lang="ja-JP" altLang="en-US" dirty="0">
                <a:latin typeface="メイリオ" panose="020B0604030504040204" pitchFamily="50" charset="-128"/>
                <a:ea typeface="メイリオ" panose="020B0604030504040204" pitchFamily="50" charset="-128"/>
              </a:rPr>
              <a:t>無効化</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no telnet-server enable</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-server enable</a:t>
            </a:r>
          </a:p>
        </p:txBody>
      </p:sp>
    </p:spTree>
    <p:extLst>
      <p:ext uri="{BB962C8B-B14F-4D97-AF65-F5344CB8AC3E}">
        <p14:creationId xmlns:p14="http://schemas.microsoft.com/office/powerpoint/2010/main" val="3441555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32EA22-E289-4635-9700-8B713262D7E1}"/>
              </a:ext>
            </a:extLst>
          </p:cNvPr>
          <p:cNvSpPr>
            <a:spLocks noGrp="1"/>
          </p:cNvSpPr>
          <p:nvPr>
            <p:ph type="title"/>
          </p:nvPr>
        </p:nvSpPr>
        <p:spPr/>
        <p:txBody>
          <a:bodyPr>
            <a:normAutofit/>
          </a:bodyPr>
          <a:lstStyle/>
          <a:p>
            <a:r>
              <a:rPr lang="ja-JP" altLang="en-US" dirty="0"/>
              <a:t>Ｌ２ＳＷ　なし</a:t>
            </a:r>
            <a:endParaRPr kumimoji="1" lang="ja-JP" altLang="en-US" dirty="0"/>
          </a:p>
        </p:txBody>
      </p:sp>
      <p:sp>
        <p:nvSpPr>
          <p:cNvPr id="3" name="コンテンツ プレースホルダー 2">
            <a:extLst>
              <a:ext uri="{FF2B5EF4-FFF2-40B4-BE49-F238E27FC236}">
                <a16:creationId xmlns:a16="http://schemas.microsoft.com/office/drawing/2014/main" id="{BA9EDF6B-5EFA-4FCA-9FA1-9A0996F8AD77}"/>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3326453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141821-CE7D-427F-8C2F-9E7929157BD4}"/>
              </a:ext>
            </a:extLst>
          </p:cNvPr>
          <p:cNvSpPr>
            <a:spLocks noGrp="1"/>
          </p:cNvSpPr>
          <p:nvPr>
            <p:ph type="title"/>
          </p:nvPr>
        </p:nvSpPr>
        <p:spPr/>
        <p:txBody>
          <a:bodyPr>
            <a:normAutofit/>
          </a:bodyPr>
          <a:lstStyle/>
          <a:p>
            <a:r>
              <a:rPr lang="ja-JP" altLang="en-US" dirty="0"/>
              <a:t>ＳＲ　なし</a:t>
            </a:r>
            <a:endParaRPr kumimoji="1" lang="ja-JP" altLang="en-US" dirty="0"/>
          </a:p>
        </p:txBody>
      </p:sp>
      <p:sp>
        <p:nvSpPr>
          <p:cNvPr id="3" name="コンテンツ プレースホルダー 2">
            <a:extLst>
              <a:ext uri="{FF2B5EF4-FFF2-40B4-BE49-F238E27FC236}">
                <a16:creationId xmlns:a16="http://schemas.microsoft.com/office/drawing/2014/main" id="{7EE33448-A877-4964-87E2-28E76DED29D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223927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40BC8E-C412-471F-B7E8-6534002C5BB5}"/>
              </a:ext>
            </a:extLst>
          </p:cNvPr>
          <p:cNvSpPr>
            <a:spLocks noGrp="1"/>
          </p:cNvSpPr>
          <p:nvPr>
            <p:ph type="title"/>
          </p:nvPr>
        </p:nvSpPr>
        <p:spPr/>
        <p:txBody>
          <a:bodyPr>
            <a:normAutofit/>
          </a:bodyPr>
          <a:lstStyle/>
          <a:p>
            <a:r>
              <a:rPr lang="en-US" altLang="ja-JP" sz="2000" dirty="0">
                <a:latin typeface="メイリオ" panose="020B0604030504040204" pitchFamily="50" charset="-128"/>
                <a:ea typeface="メイリオ" panose="020B0604030504040204" pitchFamily="50" charset="-128"/>
              </a:rPr>
              <a:t>Windows Server 2019 Standard</a:t>
            </a:r>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OS 10.0.17763.3770</a:t>
            </a:r>
            <a:r>
              <a:rPr lang="ja-JP" altLang="en-US" sz="2000" dirty="0">
                <a:latin typeface="メイリオ" panose="020B0604030504040204" pitchFamily="50" charset="-128"/>
                <a:ea typeface="メイリオ" panose="020B0604030504040204" pitchFamily="50" charset="-128"/>
              </a:rPr>
              <a:t>の脆弱性</a:t>
            </a:r>
            <a:endParaRPr kumimoji="1" lang="ja-JP" altLang="en-US" sz="2000"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A829068C-6714-4981-A72D-1D37EAE19D10}"/>
              </a:ext>
            </a:extLst>
          </p:cNvPr>
          <p:cNvSpPr>
            <a:spLocks noGrp="1"/>
          </p:cNvSpPr>
          <p:nvPr>
            <p:ph idx="1"/>
          </p:nvPr>
        </p:nvSpPr>
        <p:spPr>
          <a:xfrm>
            <a:off x="838200" y="857839"/>
            <a:ext cx="10515600" cy="5806912"/>
          </a:xfrm>
        </p:spPr>
        <p:txBody>
          <a:bodyPr>
            <a:normAutofit fontScale="25000" lnSpcReduction="20000"/>
          </a:bodyPr>
          <a:lstStyle/>
          <a:p>
            <a:pPr marL="0" indent="0">
              <a:buNone/>
            </a:pPr>
            <a:r>
              <a:rPr lang="ja-JP" altLang="en-US" sz="3600" b="1" dirty="0">
                <a:latin typeface="メイリオ" panose="020B0604030504040204" pitchFamily="50" charset="-128"/>
                <a:ea typeface="メイリオ" panose="020B0604030504040204" pitchFamily="50" charset="-128"/>
              </a:rPr>
              <a:t>主な脆弱性と推奨される対応</a:t>
            </a:r>
          </a:p>
          <a:p>
            <a:pPr marL="0" indent="0">
              <a:buNone/>
            </a:pPr>
            <a:r>
              <a:rPr lang="en-US" altLang="ja-JP" sz="3600" b="1" dirty="0">
                <a:latin typeface="メイリオ" panose="020B0604030504040204" pitchFamily="50" charset="-128"/>
                <a:ea typeface="メイリオ" panose="020B0604030504040204" pitchFamily="50" charset="-128"/>
              </a:rPr>
              <a:t>1. Windows Server 2019 Standard</a:t>
            </a:r>
            <a:r>
              <a:rPr lang="ja-JP" altLang="en-US" sz="3600" b="1" dirty="0">
                <a:latin typeface="メイリオ" panose="020B0604030504040204" pitchFamily="50" charset="-128"/>
                <a:ea typeface="メイリオ" panose="020B0604030504040204" pitchFamily="50" charset="-128"/>
              </a:rPr>
              <a:t>に影響する主な脆弱性</a:t>
            </a:r>
            <a:endParaRPr lang="en-US" altLang="ja-JP" sz="3600" dirty="0">
              <a:latin typeface="メイリオ" panose="020B0604030504040204" pitchFamily="50" charset="-128"/>
              <a:ea typeface="メイリオ" panose="020B0604030504040204" pitchFamily="50" charset="-128"/>
            </a:endParaRP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CVE-2025-59287</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9.8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Windows Server Update Services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）のリモートコード実行</a:t>
            </a: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の処理の不備により、認証されていない攻撃者が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権限でリモートコード実行可能</a:t>
            </a: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：サーバー完全乗っ取り、マルウェア実行、ドメイン侵害</a:t>
            </a:r>
          </a:p>
          <a:p>
            <a:pPr marL="0" indent="0">
              <a:buNone/>
            </a:pPr>
            <a:r>
              <a:rPr lang="ja-JP" altLang="en-US" sz="3600" dirty="0">
                <a:latin typeface="メイリオ" panose="020B0604030504040204" pitchFamily="50" charset="-128"/>
                <a:ea typeface="メイリオ" panose="020B0604030504040204" pitchFamily="50" charset="-128"/>
              </a:rPr>
              <a:t>影響条件：</a:t>
            </a: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役割がインストールされている場合 →  仮想化基盤で使用されることが多いため注意</a:t>
            </a: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CVE-2023-28252</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Critical, CVSS: 7.8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CLFS</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Common Log File System</a:t>
            </a:r>
            <a:r>
              <a:rPr lang="ja-JP" altLang="en-US" sz="3600" dirty="0">
                <a:latin typeface="メイリオ" panose="020B0604030504040204" pitchFamily="50" charset="-128"/>
                <a:ea typeface="メイリオ" panose="020B0604030504040204" pitchFamily="50" charset="-128"/>
              </a:rPr>
              <a:t>）の権限昇格</a:t>
            </a:r>
          </a:p>
          <a:p>
            <a:pPr marL="0" indent="0">
              <a:buNone/>
            </a:pPr>
            <a:r>
              <a:rPr lang="en-US" altLang="ja-JP" sz="3600" dirty="0">
                <a:latin typeface="メイリオ" panose="020B0604030504040204" pitchFamily="50" charset="-128"/>
                <a:ea typeface="メイリオ" panose="020B0604030504040204" pitchFamily="50" charset="-128"/>
              </a:rPr>
              <a:t>Windows</a:t>
            </a:r>
            <a:r>
              <a:rPr lang="ja-JP" altLang="en-US" sz="3600" dirty="0">
                <a:latin typeface="メイリオ" panose="020B0604030504040204" pitchFamily="50" charset="-128"/>
                <a:ea typeface="メイリオ" panose="020B0604030504040204" pitchFamily="50" charset="-128"/>
              </a:rPr>
              <a:t>のログ処理機能の不備により、攻撃者が</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権限を取得可能</a:t>
            </a:r>
          </a:p>
          <a:p>
            <a:pPr marL="0" indent="0">
              <a:buNone/>
            </a:pPr>
            <a:r>
              <a:rPr lang="ja-JP" altLang="en-US" sz="3600" b="1" dirty="0">
                <a:latin typeface="メイリオ" panose="020B0604030504040204" pitchFamily="50" charset="-128"/>
                <a:ea typeface="メイリオ" panose="020B0604030504040204" pitchFamily="50" charset="-128"/>
              </a:rPr>
              <a:t>影響</a:t>
            </a:r>
            <a:r>
              <a:rPr lang="ja-JP" altLang="en-US" sz="3600" dirty="0">
                <a:latin typeface="メイリオ" panose="020B0604030504040204" pitchFamily="50" charset="-128"/>
                <a:ea typeface="メイリオ" panose="020B0604030504040204" pitchFamily="50" charset="-128"/>
              </a:rPr>
              <a:t>：管理者権限取得、ランサムウェア実行</a:t>
            </a:r>
          </a:p>
          <a:p>
            <a:pPr marL="0" indent="0">
              <a:buNone/>
            </a:pPr>
            <a:r>
              <a:rPr lang="ja-JP" altLang="en-US" sz="3600" dirty="0">
                <a:latin typeface="メイリオ" panose="020B0604030504040204" pitchFamily="50" charset="-128"/>
                <a:ea typeface="メイリオ" panose="020B0604030504040204" pitchFamily="50" charset="-128"/>
              </a:rPr>
              <a:t>影響バージョン：</a:t>
            </a:r>
            <a:r>
              <a:rPr lang="en-US" altLang="ja-JP" sz="3600" dirty="0">
                <a:latin typeface="メイリオ" panose="020B0604030504040204" pitchFamily="50" charset="-128"/>
                <a:ea typeface="メイリオ" panose="020B0604030504040204" pitchFamily="50" charset="-128"/>
              </a:rPr>
              <a:t>Windows Server 2019 → 17763.3770 </a:t>
            </a:r>
            <a:r>
              <a:rPr lang="ja-JP" altLang="en-US" sz="3600" dirty="0">
                <a:latin typeface="メイリオ" panose="020B0604030504040204" pitchFamily="50" charset="-128"/>
                <a:ea typeface="メイリオ" panose="020B0604030504040204" pitchFamily="50" charset="-128"/>
              </a:rPr>
              <a:t>は影響を受ける可能性あり</a:t>
            </a:r>
          </a:p>
          <a:p>
            <a:pPr marL="0" indent="0">
              <a:buNone/>
            </a:pPr>
            <a:r>
              <a:rPr lang="en-US" altLang="ja-JP" sz="3600" dirty="0">
                <a:highlight>
                  <a:srgbClr val="FFFF00"/>
                </a:highlight>
                <a:latin typeface="メイリオ" panose="020B0604030504040204" pitchFamily="50" charset="-128"/>
                <a:ea typeface="メイリオ" panose="020B0604030504040204" pitchFamily="50" charset="-128"/>
              </a:rPr>
              <a:t>CVE-2023-32019</a:t>
            </a:r>
            <a:r>
              <a:rPr lang="ja-JP" altLang="en-US" sz="3600" dirty="0">
                <a:highlight>
                  <a:srgbClr val="FFFF00"/>
                </a:highlight>
                <a:latin typeface="メイリオ" panose="020B0604030504040204" pitchFamily="50" charset="-128"/>
                <a:ea typeface="メイリオ" panose="020B0604030504040204" pitchFamily="50" charset="-128"/>
              </a:rPr>
              <a:t>（</a:t>
            </a:r>
            <a:r>
              <a:rPr lang="en-US" altLang="ja-JP" sz="3600" dirty="0">
                <a:highlight>
                  <a:srgbClr val="FFFF00"/>
                </a:highlight>
                <a:latin typeface="メイリオ" panose="020B0604030504040204" pitchFamily="50" charset="-128"/>
                <a:ea typeface="メイリオ" panose="020B0604030504040204" pitchFamily="50" charset="-128"/>
              </a:rPr>
              <a:t>High, CVSS: 7.8</a:t>
            </a:r>
            <a:r>
              <a:rPr lang="ja-JP" altLang="en-US" sz="36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600" b="1" dirty="0">
                <a:latin typeface="メイリオ" panose="020B0604030504040204" pitchFamily="50" charset="-128"/>
                <a:ea typeface="メイリオ" panose="020B0604030504040204" pitchFamily="50" charset="-128"/>
              </a:rPr>
              <a:t>概要</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Win32k</a:t>
            </a:r>
            <a:r>
              <a:rPr lang="ja-JP" altLang="en-US" sz="3600" dirty="0">
                <a:latin typeface="メイリオ" panose="020B0604030504040204" pitchFamily="50" charset="-128"/>
                <a:ea typeface="メイリオ" panose="020B0604030504040204" pitchFamily="50" charset="-128"/>
              </a:rPr>
              <a:t>の権限昇格</a:t>
            </a:r>
          </a:p>
          <a:p>
            <a:pPr marL="0" indent="0">
              <a:buNone/>
            </a:pPr>
            <a:r>
              <a:rPr lang="ja-JP" altLang="en-US" sz="3600" dirty="0">
                <a:latin typeface="メイリオ" panose="020B0604030504040204" pitchFamily="50" charset="-128"/>
                <a:ea typeface="メイリオ" panose="020B0604030504040204" pitchFamily="50" charset="-128"/>
              </a:rPr>
              <a:t>ローカルアクセスした攻撃者が、カーネル権限（</a:t>
            </a:r>
            <a:r>
              <a:rPr lang="en-US" altLang="ja-JP" sz="3600" dirty="0">
                <a:latin typeface="メイリオ" panose="020B0604030504040204" pitchFamily="50" charset="-128"/>
                <a:ea typeface="メイリオ" panose="020B0604030504040204" pitchFamily="50" charset="-128"/>
              </a:rPr>
              <a:t>SYSTEM</a:t>
            </a:r>
            <a:r>
              <a:rPr lang="ja-JP" altLang="en-US" sz="3600" dirty="0">
                <a:latin typeface="メイリオ" panose="020B0604030504040204" pitchFamily="50" charset="-128"/>
                <a:ea typeface="メイリオ" panose="020B0604030504040204" pitchFamily="50" charset="-128"/>
              </a:rPr>
              <a:t>）を取得可能</a:t>
            </a:r>
          </a:p>
          <a:p>
            <a:pPr marL="0" indent="0">
              <a:buNone/>
            </a:pPr>
            <a:r>
              <a:rPr lang="ja-JP" altLang="en-US" sz="3600" dirty="0">
                <a:latin typeface="メイリオ" panose="020B0604030504040204" pitchFamily="50" charset="-128"/>
                <a:ea typeface="メイリオ" panose="020B0604030504040204" pitchFamily="50" charset="-128"/>
              </a:rPr>
              <a:t>影響：完全な</a:t>
            </a:r>
            <a:r>
              <a:rPr lang="en-US" altLang="ja-JP" sz="3600" dirty="0">
                <a:latin typeface="メイリオ" panose="020B0604030504040204" pitchFamily="50" charset="-128"/>
                <a:ea typeface="メイリオ" panose="020B0604030504040204" pitchFamily="50" charset="-128"/>
              </a:rPr>
              <a:t>OS</a:t>
            </a:r>
            <a:r>
              <a:rPr lang="ja-JP" altLang="en-US" sz="3600" dirty="0">
                <a:latin typeface="メイリオ" panose="020B0604030504040204" pitchFamily="50" charset="-128"/>
                <a:ea typeface="メイリオ" panose="020B0604030504040204" pitchFamily="50" charset="-128"/>
              </a:rPr>
              <a:t>制御、セキュリティ機能回避</a:t>
            </a:r>
          </a:p>
          <a:p>
            <a:pPr marL="0" indent="0">
              <a:buNone/>
            </a:pPr>
            <a:r>
              <a:rPr lang="en-US" altLang="ja-JP" sz="3600" b="1" dirty="0">
                <a:latin typeface="メイリオ" panose="020B0604030504040204" pitchFamily="50" charset="-128"/>
                <a:ea typeface="メイリオ" panose="020B0604030504040204" pitchFamily="50" charset="-128"/>
              </a:rPr>
              <a:t>2. </a:t>
            </a:r>
            <a:r>
              <a:rPr lang="ja-JP" altLang="en-US" sz="3600" b="1" dirty="0">
                <a:latin typeface="メイリオ" panose="020B0604030504040204" pitchFamily="50" charset="-128"/>
                <a:ea typeface="メイリオ" panose="020B0604030504040204" pitchFamily="50" charset="-128"/>
              </a:rPr>
              <a:t>推奨される対応策</a:t>
            </a:r>
          </a:p>
          <a:p>
            <a:pPr marL="0" indent="0">
              <a:buNone/>
            </a:pPr>
            <a:r>
              <a:rPr lang="en-US" altLang="ja-JP" sz="3600" dirty="0">
                <a:latin typeface="メイリオ" panose="020B0604030504040204" pitchFamily="50" charset="-128"/>
                <a:ea typeface="メイリオ" panose="020B0604030504040204" pitchFamily="50" charset="-128"/>
              </a:rPr>
              <a:t>Windows Update</a:t>
            </a:r>
            <a:r>
              <a:rPr lang="ja-JP" altLang="en-US" sz="3600" dirty="0">
                <a:latin typeface="メイリオ" panose="020B0604030504040204" pitchFamily="50" charset="-128"/>
                <a:ea typeface="メイリオ" panose="020B0604030504040204" pitchFamily="50" charset="-128"/>
              </a:rPr>
              <a:t>適用（最推奨）</a:t>
            </a:r>
          </a:p>
          <a:p>
            <a:pPr marL="0" indent="0">
              <a:buNone/>
            </a:pPr>
            <a:r>
              <a:rPr lang="ja-JP" altLang="en-US" sz="3600" dirty="0">
                <a:latin typeface="メイリオ" panose="020B0604030504040204" pitchFamily="50" charset="-128"/>
                <a:ea typeface="メイリオ" panose="020B0604030504040204" pitchFamily="50" charset="-128"/>
              </a:rPr>
              <a:t>最新の累積更新プログラム（</a:t>
            </a:r>
            <a:r>
              <a:rPr lang="en-US" altLang="ja-JP" sz="3600" dirty="0">
                <a:latin typeface="メイリオ" panose="020B0604030504040204" pitchFamily="50" charset="-128"/>
                <a:ea typeface="メイリオ" panose="020B0604030504040204" pitchFamily="50" charset="-128"/>
              </a:rPr>
              <a:t>CU</a:t>
            </a:r>
            <a:r>
              <a:rPr lang="ja-JP" altLang="en-US" sz="3600" dirty="0">
                <a:latin typeface="メイリオ" panose="020B0604030504040204" pitchFamily="50" charset="-128"/>
                <a:ea typeface="メイリオ" panose="020B0604030504040204" pitchFamily="50" charset="-128"/>
              </a:rPr>
              <a:t>）を適用</a:t>
            </a:r>
          </a:p>
          <a:p>
            <a:pPr marL="0" indent="0">
              <a:buNone/>
            </a:pPr>
            <a:r>
              <a:rPr lang="ja-JP" altLang="en-US" sz="3600" dirty="0">
                <a:latin typeface="メイリオ" panose="020B0604030504040204" pitchFamily="50" charset="-128"/>
                <a:ea typeface="メイリオ" panose="020B0604030504040204" pitchFamily="50" charset="-128"/>
              </a:rPr>
              <a:t>推奨：</a:t>
            </a:r>
            <a:r>
              <a:rPr lang="en-US" altLang="ja-JP" sz="3600" dirty="0">
                <a:latin typeface="メイリオ" panose="020B0604030504040204" pitchFamily="50" charset="-128"/>
                <a:ea typeface="メイリオ" panose="020B0604030504040204" pitchFamily="50" charset="-128"/>
              </a:rPr>
              <a:t>Build 17763.5xxx </a:t>
            </a:r>
            <a:r>
              <a:rPr lang="ja-JP" altLang="en-US" sz="3600" dirty="0">
                <a:latin typeface="メイリオ" panose="020B0604030504040204" pitchFamily="50" charset="-128"/>
                <a:ea typeface="メイリオ" panose="020B0604030504040204" pitchFamily="50" charset="-128"/>
              </a:rPr>
              <a:t>以降、回避策</a:t>
            </a:r>
          </a:p>
          <a:p>
            <a:pPr marL="0" indent="0">
              <a:buNone/>
            </a:pPr>
            <a:r>
              <a:rPr lang="en-US" altLang="ja-JP" sz="3600" dirty="0">
                <a:latin typeface="メイリオ" panose="020B0604030504040204" pitchFamily="50" charset="-128"/>
                <a:ea typeface="メイリオ" panose="020B0604030504040204" pitchFamily="50" charset="-128"/>
              </a:rPr>
              <a:t>WSUS</a:t>
            </a:r>
            <a:r>
              <a:rPr lang="ja-JP" altLang="en-US" sz="3600" dirty="0">
                <a:latin typeface="メイリオ" panose="020B0604030504040204" pitchFamily="50" charset="-128"/>
                <a:ea typeface="メイリオ" panose="020B0604030504040204" pitchFamily="50" charset="-128"/>
              </a:rPr>
              <a:t>を使用している場合</a:t>
            </a:r>
          </a:p>
          <a:p>
            <a:pPr marL="0" indent="0">
              <a:buNone/>
            </a:pPr>
            <a:r>
              <a:rPr lang="ja-JP" altLang="en-US" sz="3600" dirty="0">
                <a:latin typeface="メイリオ" panose="020B0604030504040204" pitchFamily="50" charset="-128"/>
                <a:ea typeface="メイリオ" panose="020B0604030504040204" pitchFamily="50" charset="-128"/>
              </a:rPr>
              <a:t>不要なら停止：</a:t>
            </a:r>
          </a:p>
          <a:p>
            <a:pPr marL="0" indent="0">
              <a:buNone/>
            </a:pPr>
            <a:r>
              <a:rPr lang="en-US" altLang="ja-JP" sz="3600" dirty="0">
                <a:highlight>
                  <a:srgbClr val="C0C0C0"/>
                </a:highlight>
                <a:latin typeface="メイリオ" panose="020B0604030504040204" pitchFamily="50" charset="-128"/>
                <a:ea typeface="メイリオ" panose="020B0604030504040204" pitchFamily="50" charset="-128"/>
              </a:rPr>
              <a:t>net stop </a:t>
            </a:r>
            <a:r>
              <a:rPr lang="en-US" altLang="ja-JP" sz="3600" dirty="0" err="1">
                <a:highlight>
                  <a:srgbClr val="C0C0C0"/>
                </a:highlight>
                <a:latin typeface="メイリオ" panose="020B0604030504040204" pitchFamily="50" charset="-128"/>
                <a:ea typeface="メイリオ" panose="020B0604030504040204" pitchFamily="50" charset="-128"/>
              </a:rPr>
              <a:t>wsusservice</a:t>
            </a:r>
            <a:endParaRPr lang="en-US" altLang="ja-JP" sz="3600"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sz="3600" dirty="0">
                <a:latin typeface="メイリオ" panose="020B0604030504040204" pitchFamily="50" charset="-128"/>
                <a:ea typeface="メイリオ" panose="020B0604030504040204" pitchFamily="50" charset="-128"/>
              </a:rPr>
              <a:t>不要なサービス停止</a:t>
            </a:r>
          </a:p>
          <a:p>
            <a:pPr marL="0" indent="0">
              <a:buNone/>
            </a:pPr>
            <a:r>
              <a:rPr lang="ja-JP" altLang="en-US" sz="3600" dirty="0">
                <a:latin typeface="メイリオ" panose="020B0604030504040204" pitchFamily="50" charset="-128"/>
                <a:ea typeface="メイリオ" panose="020B0604030504040204" pitchFamily="50" charset="-128"/>
              </a:rPr>
              <a:t>特に：</a:t>
            </a:r>
            <a:r>
              <a:rPr lang="en-US" altLang="ja-JP" sz="3600" dirty="0">
                <a:latin typeface="メイリオ" panose="020B0604030504040204" pitchFamily="50" charset="-128"/>
                <a:ea typeface="メイリオ" panose="020B0604030504040204" pitchFamily="50" charset="-128"/>
              </a:rPr>
              <a:t>RDP</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3389</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SMB</a:t>
            </a:r>
            <a:r>
              <a:rPr lang="ja-JP" altLang="en-US" sz="3600" dirty="0">
                <a:latin typeface="メイリオ" panose="020B0604030504040204" pitchFamily="50" charset="-128"/>
                <a:ea typeface="メイリオ" panose="020B0604030504040204" pitchFamily="50" charset="-128"/>
              </a:rPr>
              <a:t>（</a:t>
            </a:r>
            <a:r>
              <a:rPr lang="en-US" altLang="ja-JP" sz="3600" dirty="0">
                <a:latin typeface="メイリオ" panose="020B0604030504040204" pitchFamily="50" charset="-128"/>
                <a:ea typeface="メイリオ" panose="020B0604030504040204" pitchFamily="50" charset="-128"/>
              </a:rPr>
              <a:t>445</a:t>
            </a:r>
            <a:r>
              <a:rPr lang="ja-JP" altLang="en-US" sz="3600" dirty="0">
                <a:latin typeface="メイリオ" panose="020B0604030504040204" pitchFamily="50" charset="-128"/>
                <a:ea typeface="メイリオ" panose="020B0604030504040204" pitchFamily="50" charset="-128"/>
              </a:rPr>
              <a:t>）</a:t>
            </a:r>
          </a:p>
          <a:p>
            <a:pPr marL="0" indent="0">
              <a:buNone/>
            </a:pPr>
            <a:r>
              <a:rPr lang="ja-JP" altLang="en-US" sz="3600" dirty="0">
                <a:latin typeface="メイリオ" panose="020B0604030504040204" pitchFamily="50" charset="-128"/>
                <a:ea typeface="メイリオ" panose="020B0604030504040204" pitchFamily="50" charset="-128"/>
              </a:rPr>
              <a:t>外部公開禁止</a:t>
            </a:r>
          </a:p>
          <a:p>
            <a:pPr marL="0" indent="0">
              <a:buNone/>
            </a:pPr>
            <a:endParaRPr kumimoji="1" lang="ja-JP" altLang="en-US" dirty="0"/>
          </a:p>
        </p:txBody>
      </p:sp>
    </p:spTree>
    <p:extLst>
      <p:ext uri="{BB962C8B-B14F-4D97-AF65-F5344CB8AC3E}">
        <p14:creationId xmlns:p14="http://schemas.microsoft.com/office/powerpoint/2010/main" val="4221862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8263C5-C916-4242-B48E-F885B68DEDEA}"/>
              </a:ext>
            </a:extLst>
          </p:cNvPr>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Windows 10 Enterprise LTSC 10.0.17763.3287</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E754B15B-DAE4-491E-BA69-17F6260769B8}"/>
              </a:ext>
            </a:extLst>
          </p:cNvPr>
          <p:cNvSpPr>
            <a:spLocks noGrp="1"/>
          </p:cNvSpPr>
          <p:nvPr>
            <p:ph idx="1"/>
          </p:nvPr>
        </p:nvSpPr>
        <p:spPr>
          <a:xfrm>
            <a:off x="838200" y="784782"/>
            <a:ext cx="10515600" cy="5927103"/>
          </a:xfrm>
        </p:spPr>
        <p:txBody>
          <a:bodyPr>
            <a:noAutofit/>
          </a:bodyPr>
          <a:lstStyle/>
          <a:p>
            <a:pPr marL="0" indent="0">
              <a:buNone/>
            </a:pPr>
            <a:r>
              <a:rPr lang="en-US" altLang="ja-JP" sz="800" b="1" dirty="0">
                <a:latin typeface="メイリオ" panose="020B0604030504040204" pitchFamily="50" charset="-128"/>
                <a:ea typeface="メイリオ" panose="020B0604030504040204" pitchFamily="50" charset="-128"/>
              </a:rPr>
              <a:t>1. 17763.3287</a:t>
            </a:r>
            <a:r>
              <a:rPr lang="ja-JP" altLang="en-US" sz="800" b="1" dirty="0">
                <a:latin typeface="メイリオ" panose="020B0604030504040204" pitchFamily="50" charset="-128"/>
                <a:ea typeface="メイリオ" panose="020B0604030504040204" pitchFamily="50" charset="-128"/>
              </a:rPr>
              <a:t>に影響する主な脆弱性</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CVE-2025-59287</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9.8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Windows Update Services</a:t>
            </a:r>
            <a:r>
              <a:rPr lang="ja-JP" altLang="en-US" sz="800" dirty="0">
                <a:latin typeface="メイリオ" panose="020B0604030504040204" pitchFamily="50" charset="-128"/>
                <a:ea typeface="メイリオ" panose="020B0604030504040204" pitchFamily="50" charset="-128"/>
              </a:rPr>
              <a:t>関連のリモートコード実行</a:t>
            </a: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関連コンポーネントの不備により、攻撃者が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権限でコード実行可能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：端末完全乗っ取り、マルウェア感染、ドメイン侵害</a:t>
            </a:r>
          </a:p>
          <a:p>
            <a:pPr marL="0" indent="0">
              <a:buNone/>
            </a:pPr>
            <a:r>
              <a:rPr lang="ja-JP" altLang="en-US" sz="800" dirty="0">
                <a:latin typeface="メイリオ" panose="020B0604030504040204" pitchFamily="50" charset="-128"/>
                <a:ea typeface="メイリオ" panose="020B0604030504040204" pitchFamily="50" charset="-128"/>
              </a:rPr>
              <a:t>影響バージョン：</a:t>
            </a:r>
            <a:r>
              <a:rPr lang="en-US" altLang="ja-JP" sz="800" dirty="0">
                <a:latin typeface="メイリオ" panose="020B0604030504040204" pitchFamily="50" charset="-128"/>
                <a:ea typeface="メイリオ" panose="020B0604030504040204" pitchFamily="50" charset="-128"/>
              </a:rPr>
              <a:t>Windows 10 Enterprise LTSC 2019 </a:t>
            </a:r>
            <a:r>
              <a:rPr lang="ja-JP" altLang="en-US" sz="800" dirty="0">
                <a:latin typeface="メイリオ" panose="020B0604030504040204" pitchFamily="50" charset="-128"/>
                <a:ea typeface="メイリオ" panose="020B0604030504040204" pitchFamily="50" charset="-128"/>
              </a:rPr>
              <a:t>含む → </a:t>
            </a:r>
            <a:r>
              <a:rPr lang="en-US" altLang="ja-JP" sz="800" dirty="0">
                <a:latin typeface="メイリオ" panose="020B0604030504040204" pitchFamily="50" charset="-128"/>
                <a:ea typeface="メイリオ" panose="020B0604030504040204" pitchFamily="50" charset="-128"/>
              </a:rPr>
              <a:t>17763.3287 </a:t>
            </a:r>
            <a:r>
              <a:rPr lang="ja-JP" altLang="en-US" sz="800" dirty="0">
                <a:latin typeface="メイリオ" panose="020B0604030504040204" pitchFamily="50" charset="-128"/>
                <a:ea typeface="メイリオ" panose="020B0604030504040204" pitchFamily="50" charset="-128"/>
              </a:rPr>
              <a:t>は影響を受ける可能性あり</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CVE-2023-28252</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CLFS</a:t>
            </a:r>
            <a:r>
              <a:rPr lang="ja-JP" altLang="en-US" sz="800" dirty="0">
                <a:latin typeface="メイリオ" panose="020B0604030504040204" pitchFamily="50" charset="-128"/>
                <a:ea typeface="メイリオ" panose="020B0604030504040204" pitchFamily="50" charset="-128"/>
              </a:rPr>
              <a:t>（ログシステム）の権限昇格</a:t>
            </a:r>
          </a:p>
          <a:p>
            <a:pPr marL="0" indent="0">
              <a:buNone/>
            </a:pPr>
            <a:r>
              <a:rPr lang="ja-JP" altLang="en-US" sz="800" dirty="0">
                <a:latin typeface="メイリオ" panose="020B0604030504040204" pitchFamily="50" charset="-128"/>
                <a:ea typeface="メイリオ" panose="020B0604030504040204" pitchFamily="50" charset="-128"/>
              </a:rPr>
              <a:t>攻撃者がローカルアクセス後、</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：ランサムウェア実行、セキュリティ回避</a:t>
            </a: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CVE-2023-32019</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High, CVSS: 7.8</a:t>
            </a:r>
            <a:r>
              <a:rPr lang="ja-JP" altLang="en-US" sz="8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800" b="1" dirty="0">
                <a:latin typeface="メイリオ" panose="020B0604030504040204" pitchFamily="50" charset="-128"/>
                <a:ea typeface="メイリオ" panose="020B0604030504040204" pitchFamily="50" charset="-128"/>
              </a:rPr>
              <a:t>概要</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Win32k</a:t>
            </a:r>
            <a:r>
              <a:rPr lang="ja-JP" altLang="en-US" sz="800" dirty="0">
                <a:latin typeface="メイリオ" panose="020B0604030504040204" pitchFamily="50" charset="-128"/>
                <a:ea typeface="メイリオ" panose="020B0604030504040204" pitchFamily="50" charset="-128"/>
              </a:rPr>
              <a:t>権限昇格</a:t>
            </a:r>
          </a:p>
          <a:p>
            <a:pPr marL="0" indent="0">
              <a:buNone/>
            </a:pPr>
            <a:r>
              <a:rPr lang="ja-JP" altLang="en-US" sz="800" dirty="0">
                <a:latin typeface="メイリオ" panose="020B0604030504040204" pitchFamily="50" charset="-128"/>
                <a:ea typeface="メイリオ" panose="020B0604030504040204" pitchFamily="50" charset="-128"/>
              </a:rPr>
              <a:t>ローカル攻撃者がカーネル権限取得可能</a:t>
            </a:r>
          </a:p>
          <a:p>
            <a:pPr marL="0" indent="0">
              <a:buNone/>
            </a:pPr>
            <a:r>
              <a:rPr lang="ja-JP" altLang="en-US" sz="800" b="1" dirty="0">
                <a:latin typeface="メイリオ" panose="020B0604030504040204" pitchFamily="50" charset="-128"/>
                <a:ea typeface="メイリオ" panose="020B0604030504040204" pitchFamily="50" charset="-128"/>
              </a:rPr>
              <a:t>影響</a:t>
            </a:r>
            <a:r>
              <a:rPr lang="ja-JP" altLang="en-US" sz="800" dirty="0">
                <a:latin typeface="メイリオ" panose="020B0604030504040204" pitchFamily="50" charset="-128"/>
                <a:ea typeface="メイリオ" panose="020B0604030504040204" pitchFamily="50" charset="-128"/>
              </a:rPr>
              <a:t>：完全な端末制御</a:t>
            </a:r>
            <a:endParaRPr lang="en-US" altLang="ja-JP" sz="800" dirty="0">
              <a:latin typeface="メイリオ" panose="020B0604030504040204" pitchFamily="50" charset="-128"/>
              <a:ea typeface="メイリオ" panose="020B0604030504040204" pitchFamily="50" charset="-128"/>
            </a:endParaRPr>
          </a:p>
          <a:p>
            <a:pPr marL="0" indent="0">
              <a:buNone/>
            </a:pPr>
            <a:r>
              <a:rPr lang="en-US" altLang="ja-JP" sz="800" dirty="0">
                <a:highlight>
                  <a:srgbClr val="FFFF00"/>
                </a:highlight>
                <a:latin typeface="メイリオ" panose="020B0604030504040204" pitchFamily="50" charset="-128"/>
                <a:ea typeface="メイリオ" panose="020B0604030504040204" pitchFamily="50" charset="-128"/>
              </a:rPr>
              <a:t>CVE-2024-21338 </a:t>
            </a:r>
            <a:r>
              <a:rPr lang="ja-JP" altLang="en-US" sz="800" dirty="0">
                <a:highlight>
                  <a:srgbClr val="FFFF00"/>
                </a:highlight>
                <a:latin typeface="メイリオ" panose="020B0604030504040204" pitchFamily="50" charset="-128"/>
                <a:ea typeface="メイリオ" panose="020B0604030504040204" pitchFamily="50" charset="-128"/>
              </a:rPr>
              <a:t>（</a:t>
            </a:r>
            <a:r>
              <a:rPr lang="en-US" altLang="ja-JP" sz="800" dirty="0">
                <a:highlight>
                  <a:srgbClr val="FFFF00"/>
                </a:highlight>
                <a:latin typeface="メイリオ" panose="020B0604030504040204" pitchFamily="50" charset="-128"/>
                <a:ea typeface="メイリオ" panose="020B0604030504040204" pitchFamily="50" charset="-128"/>
              </a:rPr>
              <a:t>Critical, CVSS: 7.8</a:t>
            </a:r>
            <a:r>
              <a:rPr lang="ja-JP" altLang="en-US" sz="800" dirty="0">
                <a:highlight>
                  <a:srgbClr val="FFFF00"/>
                </a:highlight>
                <a:latin typeface="メイリオ" panose="020B0604030504040204" pitchFamily="50" charset="-128"/>
                <a:ea typeface="メイリオ" panose="020B0604030504040204" pitchFamily="50" charset="-128"/>
              </a:rPr>
              <a:t>）</a:t>
            </a:r>
            <a:endParaRPr lang="en-US" altLang="ja-JP" sz="800" dirty="0">
              <a:highlight>
                <a:srgbClr val="FFFF00"/>
              </a:highlight>
              <a:latin typeface="メイリオ" panose="020B0604030504040204" pitchFamily="50" charset="-128"/>
              <a:ea typeface="メイリオ" panose="020B0604030504040204" pitchFamily="50" charset="-128"/>
            </a:endParaRPr>
          </a:p>
          <a:p>
            <a:pPr marL="0" indent="0">
              <a:buNone/>
            </a:pPr>
            <a:r>
              <a:rPr lang="ja-JP" altLang="en-US" sz="800" b="1" dirty="0">
                <a:latin typeface="メイリオ" panose="020B0604030504040204" pitchFamily="50" charset="-128"/>
                <a:ea typeface="メイリオ" panose="020B0604030504040204" pitchFamily="50" charset="-128"/>
              </a:rPr>
              <a:t>概要</a:t>
            </a:r>
            <a:r>
              <a:rPr lang="en-US" altLang="ja-JP" sz="800" dirty="0">
                <a:latin typeface="メイリオ" panose="020B0604030504040204" pitchFamily="50" charset="-128"/>
                <a:ea typeface="メイリオ" panose="020B0604030504040204" pitchFamily="50" charset="-128"/>
              </a:rPr>
              <a:t>:Windows</a:t>
            </a:r>
            <a:r>
              <a:rPr lang="ja-JP" altLang="en-US" sz="800" dirty="0">
                <a:latin typeface="メイリオ" panose="020B0604030504040204" pitchFamily="50" charset="-128"/>
                <a:ea typeface="メイリオ" panose="020B0604030504040204" pitchFamily="50" charset="-128"/>
              </a:rPr>
              <a:t>のカーネルドライバの権限昇格（</a:t>
            </a:r>
            <a:r>
              <a:rPr lang="en-US" altLang="ja-JP" sz="800" dirty="0">
                <a:latin typeface="メイリオ" panose="020B0604030504040204" pitchFamily="50" charset="-128"/>
                <a:ea typeface="メイリオ" panose="020B0604030504040204" pitchFamily="50" charset="-128"/>
              </a:rPr>
              <a:t>Privilege Escalation</a:t>
            </a:r>
            <a:r>
              <a:rPr lang="ja-JP" altLang="en-US" sz="800" dirty="0">
                <a:latin typeface="メイリオ" panose="020B0604030504040204" pitchFamily="50" charset="-128"/>
                <a:ea typeface="メイリオ" panose="020B0604030504040204" pitchFamily="50" charset="-128"/>
              </a:rPr>
              <a:t>）脆弱性</a:t>
            </a:r>
          </a:p>
          <a:p>
            <a:pPr marL="0" indent="0">
              <a:buNone/>
            </a:pPr>
            <a:r>
              <a:rPr lang="ja-JP" altLang="en-US" sz="800" dirty="0">
                <a:latin typeface="メイリオ" panose="020B0604030504040204" pitchFamily="50" charset="-128"/>
                <a:ea typeface="メイリオ" panose="020B0604030504040204" pitchFamily="50" charset="-128"/>
              </a:rPr>
              <a:t>ローカル攻撃者が悪用すると、</a:t>
            </a:r>
            <a:r>
              <a:rPr lang="en-US" altLang="ja-JP" sz="800" dirty="0">
                <a:latin typeface="メイリオ" panose="020B0604030504040204" pitchFamily="50" charset="-128"/>
                <a:ea typeface="メイリオ" panose="020B0604030504040204" pitchFamily="50" charset="-128"/>
              </a:rPr>
              <a:t>SYSTEM</a:t>
            </a:r>
            <a:r>
              <a:rPr lang="ja-JP" altLang="en-US" sz="800" dirty="0">
                <a:latin typeface="メイリオ" panose="020B0604030504040204" pitchFamily="50" charset="-128"/>
                <a:ea typeface="メイリオ" panose="020B0604030504040204" pitchFamily="50" charset="-128"/>
              </a:rPr>
              <a:t>権限取得、カーネルレベルアクセス、セキュリティソフト無効化が可能になる。</a:t>
            </a:r>
          </a:p>
          <a:p>
            <a:pPr marL="0" indent="0">
              <a:buNone/>
            </a:pPr>
            <a:r>
              <a:rPr lang="ja-JP" altLang="en-US" sz="800" b="1" dirty="0">
                <a:latin typeface="メイリオ" panose="020B0604030504040204" pitchFamily="50" charset="-128"/>
                <a:ea typeface="メイリオ" panose="020B0604030504040204" pitchFamily="50" charset="-128"/>
              </a:rPr>
              <a:t>影響</a:t>
            </a: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攻撃成功時に管理者権限取得、完全な端末乗っ取り、永続化（</a:t>
            </a:r>
            <a:r>
              <a:rPr lang="en-US" altLang="ja-JP" sz="800" dirty="0">
                <a:latin typeface="メイリオ" panose="020B0604030504040204" pitchFamily="50" charset="-128"/>
                <a:ea typeface="メイリオ" panose="020B0604030504040204" pitchFamily="50" charset="-128"/>
              </a:rPr>
              <a:t>rootkit</a:t>
            </a:r>
            <a:r>
              <a:rPr lang="ja-JP" altLang="en-US" sz="800" dirty="0">
                <a:latin typeface="メイリオ" panose="020B0604030504040204" pitchFamily="50" charset="-128"/>
                <a:ea typeface="メイリオ" panose="020B0604030504040204" pitchFamily="50" charset="-128"/>
              </a:rPr>
              <a:t>）、横展開（</a:t>
            </a:r>
            <a:r>
              <a:rPr lang="en-US" altLang="ja-JP" sz="800" dirty="0">
                <a:latin typeface="メイリオ" panose="020B0604030504040204" pitchFamily="50" charset="-128"/>
                <a:ea typeface="メイリオ" panose="020B0604030504040204" pitchFamily="50" charset="-128"/>
              </a:rPr>
              <a:t>Lateral Movement</a:t>
            </a:r>
            <a:r>
              <a:rPr lang="ja-JP" altLang="en-US" sz="800" dirty="0">
                <a:latin typeface="メイリオ" panose="020B0604030504040204" pitchFamily="50" charset="-128"/>
                <a:ea typeface="メイリオ" panose="020B0604030504040204" pitchFamily="50" charset="-128"/>
              </a:rPr>
              <a:t>）</a:t>
            </a:r>
          </a:p>
          <a:p>
            <a:pPr marL="0" indent="0">
              <a:buNone/>
            </a:pPr>
            <a:r>
              <a:rPr lang="en-US" altLang="ja-JP" sz="800" b="1" dirty="0">
                <a:latin typeface="メイリオ" panose="020B0604030504040204" pitchFamily="50" charset="-128"/>
                <a:ea typeface="メイリオ" panose="020B0604030504040204" pitchFamily="50" charset="-128"/>
              </a:rPr>
              <a:t>2. </a:t>
            </a:r>
            <a:r>
              <a:rPr lang="ja-JP" altLang="en-US" sz="800" b="1" dirty="0">
                <a:latin typeface="メイリオ" panose="020B0604030504040204" pitchFamily="50" charset="-128"/>
                <a:ea typeface="メイリオ" panose="020B0604030504040204" pitchFamily="50" charset="-128"/>
              </a:rPr>
              <a:t>推奨される対応策</a:t>
            </a:r>
          </a:p>
          <a:p>
            <a:pPr marL="0" indent="0">
              <a:buNone/>
            </a:pPr>
            <a:r>
              <a:rPr lang="en-US" altLang="ja-JP" sz="800" dirty="0">
                <a:latin typeface="メイリオ" panose="020B0604030504040204" pitchFamily="50" charset="-128"/>
                <a:ea typeface="メイリオ" panose="020B0604030504040204" pitchFamily="50" charset="-128"/>
              </a:rPr>
              <a:t>Windows Update</a:t>
            </a:r>
            <a:r>
              <a:rPr lang="ja-JP" altLang="en-US" sz="800" dirty="0">
                <a:latin typeface="メイリオ" panose="020B0604030504040204" pitchFamily="50" charset="-128"/>
                <a:ea typeface="メイリオ" panose="020B0604030504040204" pitchFamily="50" charset="-128"/>
              </a:rPr>
              <a:t>適用（最優先）</a:t>
            </a:r>
          </a:p>
          <a:p>
            <a:pPr marL="0" indent="0">
              <a:buNone/>
            </a:pPr>
            <a:r>
              <a:rPr lang="ja-JP" altLang="en-US" sz="800" dirty="0">
                <a:latin typeface="メイリオ" panose="020B0604030504040204" pitchFamily="50" charset="-128"/>
                <a:ea typeface="メイリオ" panose="020B0604030504040204" pitchFamily="50" charset="-128"/>
              </a:rPr>
              <a:t>推奨：最新</a:t>
            </a:r>
            <a:r>
              <a:rPr lang="en-US" altLang="ja-JP" sz="800" dirty="0">
                <a:latin typeface="メイリオ" panose="020B0604030504040204" pitchFamily="50" charset="-128"/>
                <a:ea typeface="メイリオ" panose="020B0604030504040204" pitchFamily="50" charset="-128"/>
              </a:rPr>
              <a:t>Build</a:t>
            </a: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17763.5xxx</a:t>
            </a:r>
            <a:r>
              <a:rPr lang="ja-JP" altLang="en-US" sz="800" dirty="0">
                <a:latin typeface="メイリオ" panose="020B0604030504040204" pitchFamily="50" charset="-128"/>
                <a:ea typeface="メイリオ" panose="020B0604030504040204" pitchFamily="50" charset="-128"/>
              </a:rPr>
              <a:t>以降）へ更新、回避策（アップデート不可の場合）</a:t>
            </a:r>
          </a:p>
          <a:p>
            <a:pPr marL="0" indent="0">
              <a:buNone/>
            </a:pPr>
            <a:r>
              <a:rPr lang="ja-JP" altLang="en-US" sz="800" dirty="0">
                <a:latin typeface="メイリオ" panose="020B0604030504040204" pitchFamily="50" charset="-128"/>
                <a:ea typeface="メイリオ" panose="020B0604030504040204" pitchFamily="50" charset="-128"/>
              </a:rPr>
              <a:t>不審ファイル実行防止（メール添付、</a:t>
            </a:r>
            <a:r>
              <a:rPr lang="en-US" altLang="ja-JP" sz="800" dirty="0">
                <a:latin typeface="メイリオ" panose="020B0604030504040204" pitchFamily="50" charset="-128"/>
                <a:ea typeface="メイリオ" panose="020B0604030504040204" pitchFamily="50" charset="-128"/>
              </a:rPr>
              <a:t>USB</a:t>
            </a:r>
            <a:r>
              <a:rPr lang="ja-JP" altLang="en-US" sz="800" dirty="0">
                <a:latin typeface="メイリオ" panose="020B0604030504040204" pitchFamily="50" charset="-128"/>
                <a:ea typeface="メイリオ" panose="020B0604030504040204" pitchFamily="50" charset="-128"/>
              </a:rPr>
              <a:t>）</a:t>
            </a:r>
          </a:p>
          <a:p>
            <a:pPr marL="0" indent="0">
              <a:buNone/>
            </a:pPr>
            <a:r>
              <a:rPr lang="ja-JP" altLang="en-US" sz="800" dirty="0">
                <a:latin typeface="メイリオ" panose="020B0604030504040204" pitchFamily="50" charset="-128"/>
                <a:ea typeface="メイリオ" panose="020B0604030504040204" pitchFamily="50" charset="-128"/>
              </a:rPr>
              <a:t>管理者権限使用制限</a:t>
            </a:r>
          </a:p>
          <a:p>
            <a:pPr marL="0" indent="0">
              <a:buNone/>
            </a:pPr>
            <a:r>
              <a:rPr lang="en-US" altLang="ja-JP" sz="800" dirty="0">
                <a:latin typeface="メイリオ" panose="020B0604030504040204" pitchFamily="50" charset="-128"/>
                <a:ea typeface="メイリオ" panose="020B0604030504040204" pitchFamily="50" charset="-128"/>
              </a:rPr>
              <a:t>RDP</a:t>
            </a:r>
            <a:r>
              <a:rPr lang="ja-JP" altLang="en-US" sz="800" dirty="0">
                <a:latin typeface="メイリオ" panose="020B0604030504040204" pitchFamily="50" charset="-128"/>
                <a:ea typeface="メイリオ" panose="020B0604030504040204" pitchFamily="50" charset="-128"/>
              </a:rPr>
              <a:t>制限</a:t>
            </a:r>
          </a:p>
          <a:p>
            <a:pPr marL="0" indent="0">
              <a:buNone/>
            </a:pPr>
            <a:r>
              <a:rPr lang="ja-JP" altLang="en-US" sz="800" dirty="0">
                <a:latin typeface="メイリオ" panose="020B0604030504040204" pitchFamily="50" charset="-128"/>
                <a:ea typeface="メイリオ" panose="020B0604030504040204" pitchFamily="50" charset="-128"/>
              </a:rPr>
              <a:t>外部公開禁止</a:t>
            </a:r>
          </a:p>
        </p:txBody>
      </p:sp>
    </p:spTree>
    <p:extLst>
      <p:ext uri="{BB962C8B-B14F-4D97-AF65-F5344CB8AC3E}">
        <p14:creationId xmlns:p14="http://schemas.microsoft.com/office/powerpoint/2010/main" val="2252109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14DDC-9761-454E-BA8E-96CD3C6072E3}"/>
              </a:ext>
            </a:extLst>
          </p:cNvPr>
          <p:cNvSpPr>
            <a:spLocks noGrp="1"/>
          </p:cNvSpPr>
          <p:nvPr>
            <p:ph type="title"/>
          </p:nvPr>
        </p:nvSpPr>
        <p:spPr/>
        <p:txBody>
          <a:bodyPr>
            <a:normAutofit/>
          </a:bodyPr>
          <a:lstStyle/>
          <a:p>
            <a:r>
              <a:rPr lang="de-DE" altLang="ja-JP" dirty="0"/>
              <a:t>Red Hat Enterprise Linux 8.5</a:t>
            </a:r>
            <a:endParaRPr kumimoji="1" lang="ja-JP" altLang="en-US" dirty="0"/>
          </a:p>
        </p:txBody>
      </p:sp>
      <p:sp>
        <p:nvSpPr>
          <p:cNvPr id="3" name="コンテンツ プレースホルダー 2">
            <a:extLst>
              <a:ext uri="{FF2B5EF4-FFF2-40B4-BE49-F238E27FC236}">
                <a16:creationId xmlns:a16="http://schemas.microsoft.com/office/drawing/2014/main" id="{30FE7544-B4C3-4B80-B8ED-24E6A1C306E0}"/>
              </a:ext>
            </a:extLst>
          </p:cNvPr>
          <p:cNvSpPr>
            <a:spLocks noGrp="1"/>
          </p:cNvSpPr>
          <p:nvPr>
            <p:ph idx="1"/>
          </p:nvPr>
        </p:nvSpPr>
        <p:spPr>
          <a:xfrm>
            <a:off x="838200" y="810708"/>
            <a:ext cx="10515600" cy="5863470"/>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RHEL 8.5 </a:t>
            </a:r>
            <a:r>
              <a:rPr lang="ja-JP" altLang="en-US" b="1" dirty="0">
                <a:latin typeface="メイリオ" panose="020B0604030504040204" pitchFamily="50" charset="-128"/>
                <a:ea typeface="メイリオ" panose="020B0604030504040204" pitchFamily="50" charset="-128"/>
              </a:rPr>
              <a:t>に影響する主な脆弱性</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CVE-2024-1086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カーネルの権限昇格（</a:t>
            </a:r>
            <a:r>
              <a:rPr lang="en-US" altLang="ja-JP" dirty="0" err="1">
                <a:latin typeface="メイリオ" panose="020B0604030504040204" pitchFamily="50" charset="-128"/>
                <a:ea typeface="メイリオ" panose="020B0604030504040204" pitchFamily="50" charset="-128"/>
              </a:rPr>
              <a:t>nf_tables</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Linux</a:t>
            </a:r>
            <a:r>
              <a:rPr lang="ja-JP" altLang="en-US" dirty="0">
                <a:latin typeface="メイリオ" panose="020B0604030504040204" pitchFamily="50" charset="-128"/>
                <a:ea typeface="メイリオ" panose="020B0604030504040204" pitchFamily="50" charset="-128"/>
              </a:rPr>
              <a:t>カーネルのパケット処理の不備により、ローカルユーザーが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権限を取得可能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権限取得、サーバー完全制御、コンテナ脱出</a:t>
            </a:r>
          </a:p>
          <a:p>
            <a:pPr marL="0" indent="0">
              <a:buNone/>
            </a:pPr>
            <a:r>
              <a:rPr lang="ja-JP" altLang="en-US" dirty="0">
                <a:latin typeface="メイリオ" panose="020B0604030504040204" pitchFamily="50" charset="-128"/>
                <a:ea typeface="メイリオ" panose="020B0604030504040204" pitchFamily="50" charset="-128"/>
              </a:rPr>
              <a:t>影響対象：</a:t>
            </a:r>
            <a:r>
              <a:rPr lang="en-US" altLang="ja-JP" dirty="0">
                <a:latin typeface="メイリオ" panose="020B0604030504040204" pitchFamily="50" charset="-128"/>
                <a:ea typeface="メイリオ" panose="020B0604030504040204" pitchFamily="50" charset="-128"/>
              </a:rPr>
              <a:t>RHEL 8</a:t>
            </a:r>
            <a:r>
              <a:rPr lang="ja-JP" altLang="en-US" dirty="0">
                <a:latin typeface="メイリオ" panose="020B0604030504040204" pitchFamily="50" charset="-128"/>
                <a:ea typeface="メイリオ" panose="020B0604030504040204" pitchFamily="50" charset="-128"/>
              </a:rPr>
              <a:t>系 含む→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は該当</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CVE-2024-6387</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8.1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OpenSSH “</a:t>
            </a:r>
            <a:r>
              <a:rPr lang="en-US" altLang="ja-JP" dirty="0" err="1">
                <a:latin typeface="メイリオ" panose="020B0604030504040204" pitchFamily="50" charset="-128"/>
                <a:ea typeface="メイリオ" panose="020B0604030504040204" pitchFamily="50" charset="-128"/>
              </a:rPr>
              <a:t>regreSSHion</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リモートコード実行</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サービスの欠陥により、認証前にリモートコード実行の可能性</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経由侵入、サーバー乗っ取り</a:t>
            </a:r>
          </a:p>
          <a:p>
            <a:pPr marL="0" indent="0">
              <a:buNone/>
            </a:pPr>
            <a:r>
              <a:rPr lang="ja-JP" altLang="en-US" dirty="0">
                <a:latin typeface="メイリオ" panose="020B0604030504040204" pitchFamily="50" charset="-128"/>
                <a:ea typeface="メイリオ" panose="020B0604030504040204" pitchFamily="50" charset="-128"/>
              </a:rPr>
              <a:t>影響条件：</a:t>
            </a: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サービス有効（通常は有効）</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CVE-2023-4911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7.8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Looney </a:t>
            </a:r>
            <a:r>
              <a:rPr lang="en-US" altLang="ja-JP" dirty="0" err="1">
                <a:latin typeface="メイリオ" panose="020B0604030504040204" pitchFamily="50" charset="-128"/>
                <a:ea typeface="メイリオ" panose="020B0604030504040204" pitchFamily="50" charset="-128"/>
              </a:rPr>
              <a:t>Tunables</a:t>
            </a:r>
            <a:r>
              <a:rPr lang="ja-JP" altLang="en-US" dirty="0">
                <a:latin typeface="メイリオ" panose="020B0604030504040204" pitchFamily="50" charset="-128"/>
                <a:ea typeface="メイリオ" panose="020B0604030504040204" pitchFamily="50" charset="-128"/>
              </a:rPr>
              <a:t>（</a:t>
            </a:r>
            <a:r>
              <a:rPr lang="en-US" altLang="ja-JP" dirty="0" err="1">
                <a:latin typeface="メイリオ" panose="020B0604030504040204" pitchFamily="50" charset="-128"/>
                <a:ea typeface="メイリオ" panose="020B0604030504040204" pitchFamily="50" charset="-128"/>
              </a:rPr>
              <a:t>glibc</a:t>
            </a:r>
            <a:r>
              <a:rPr lang="ja-JP" altLang="en-US" dirty="0">
                <a:latin typeface="メイリオ" panose="020B0604030504040204" pitchFamily="50" charset="-128"/>
                <a:ea typeface="メイリオ" panose="020B0604030504040204" pitchFamily="50" charset="-128"/>
              </a:rPr>
              <a:t>）</a:t>
            </a:r>
          </a:p>
          <a:p>
            <a:pPr marL="0" indent="0">
              <a:buNone/>
            </a:pPr>
            <a:r>
              <a:rPr lang="ja-JP" altLang="en-US" dirty="0">
                <a:latin typeface="メイリオ" panose="020B0604030504040204" pitchFamily="50" charset="-128"/>
                <a:ea typeface="メイリオ" panose="020B0604030504040204" pitchFamily="50" charset="-128"/>
              </a:rPr>
              <a:t>環境変数処理の不備により、ローカルユーザーが</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root</a:t>
            </a:r>
            <a:r>
              <a:rPr lang="ja-JP" altLang="en-US" dirty="0">
                <a:latin typeface="メイリオ" panose="020B0604030504040204" pitchFamily="50" charset="-128"/>
                <a:ea typeface="メイリオ" panose="020B0604030504040204" pitchFamily="50" charset="-128"/>
              </a:rPr>
              <a:t>権限取得、システム完全侵害</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CVE-2024-3094</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10.0</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XZ </a:t>
            </a:r>
            <a:r>
              <a:rPr lang="en-US" altLang="ja-JP" dirty="0" err="1">
                <a:latin typeface="メイリオ" panose="020B0604030504040204" pitchFamily="50" charset="-128"/>
                <a:ea typeface="メイリオ" panose="020B0604030504040204" pitchFamily="50" charset="-128"/>
              </a:rPr>
              <a:t>Utils</a:t>
            </a: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バックドア</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認証を悪用し、外部から完全侵害可能　</a:t>
            </a:r>
            <a:r>
              <a:rPr lang="en-US" altLang="ja-JP" dirty="0">
                <a:latin typeface="メイリオ" panose="020B0604030504040204" pitchFamily="50" charset="-128"/>
                <a:ea typeface="メイリオ" panose="020B0604030504040204" pitchFamily="50" charset="-128"/>
              </a:rPr>
              <a:t>※RHEL 8.5 </a:t>
            </a:r>
            <a:r>
              <a:rPr lang="ja-JP" altLang="en-US" dirty="0">
                <a:latin typeface="メイリオ" panose="020B0604030504040204" pitchFamily="50" charset="-128"/>
                <a:ea typeface="メイリオ" panose="020B0604030504040204" pitchFamily="50" charset="-128"/>
              </a:rPr>
              <a:t>標準は通常非該当（手動更新している場合は影響あり）</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RHEL</a:t>
            </a:r>
            <a:r>
              <a:rPr lang="ja-JP" altLang="en-US" dirty="0">
                <a:latin typeface="メイリオ" panose="020B0604030504040204" pitchFamily="50" charset="-128"/>
                <a:ea typeface="メイリオ" panose="020B0604030504040204" pitchFamily="50" charset="-128"/>
              </a:rPr>
              <a:t>アップデート</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dnf</a:t>
            </a:r>
            <a:r>
              <a:rPr lang="en-US" altLang="ja-JP" dirty="0">
                <a:highlight>
                  <a:srgbClr val="C0C0C0"/>
                </a:highlight>
                <a:latin typeface="メイリオ" panose="020B0604030504040204" pitchFamily="50" charset="-128"/>
                <a:ea typeface="メイリオ" panose="020B0604030504040204" pitchFamily="50" charset="-128"/>
              </a:rPr>
              <a:t> update -y</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RHEL 8.10 </a:t>
            </a:r>
            <a:r>
              <a:rPr lang="ja-JP" altLang="en-US" dirty="0">
                <a:latin typeface="メイリオ" panose="020B0604030504040204" pitchFamily="50" charset="-128"/>
                <a:ea typeface="メイリオ" panose="020B0604030504040204" pitchFamily="50" charset="-128"/>
              </a:rPr>
              <a:t>以降または</a:t>
            </a:r>
            <a:r>
              <a:rPr lang="en-US" altLang="ja-JP" dirty="0">
                <a:latin typeface="メイリオ" panose="020B0604030504040204" pitchFamily="50" charset="-128"/>
                <a:ea typeface="メイリオ" panose="020B0604030504040204" pitchFamily="50" charset="-128"/>
              </a:rPr>
              <a:t>RHEL 9</a:t>
            </a:r>
            <a:r>
              <a:rPr lang="ja-JP" altLang="en-US" dirty="0">
                <a:latin typeface="メイリオ" panose="020B0604030504040204" pitchFamily="50" charset="-128"/>
                <a:ea typeface="メイリオ" panose="020B0604030504040204" pitchFamily="50" charset="-128"/>
              </a:rPr>
              <a:t>系</a:t>
            </a: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p>
          <a:p>
            <a:pPr marL="0" indent="0">
              <a:buNone/>
            </a:pPr>
            <a:r>
              <a:rPr lang="en-US" altLang="ja-JP" dirty="0">
                <a:latin typeface="メイリオ" panose="020B0604030504040204" pitchFamily="50" charset="-128"/>
                <a:ea typeface="メイリオ" panose="020B0604030504040204" pitchFamily="50" charset="-128"/>
              </a:rPr>
              <a:t>SSH</a:t>
            </a:r>
            <a:r>
              <a:rPr lang="ja-JP" altLang="en-US" dirty="0">
                <a:latin typeface="メイリオ" panose="020B0604030504040204" pitchFamily="50" charset="-128"/>
                <a:ea typeface="メイリオ" panose="020B0604030504040204" pitchFamily="50" charset="-128"/>
              </a:rPr>
              <a:t>アクセス制限</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etc</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a:t>
            </a:r>
            <a:r>
              <a:rPr lang="en-US" altLang="ja-JP" dirty="0">
                <a:highlight>
                  <a:srgbClr val="C0C0C0"/>
                </a:highlight>
                <a:latin typeface="メイリオ" panose="020B0604030504040204" pitchFamily="50" charset="-128"/>
                <a:ea typeface="メイリオ" panose="020B0604030504040204" pitchFamily="50" charset="-128"/>
              </a:rPr>
              <a:t>/</a:t>
            </a:r>
            <a:r>
              <a:rPr lang="en-US" altLang="ja-JP" dirty="0" err="1">
                <a:highlight>
                  <a:srgbClr val="C0C0C0"/>
                </a:highlight>
                <a:latin typeface="メイリオ" panose="020B0604030504040204" pitchFamily="50" charset="-128"/>
                <a:ea typeface="メイリオ" panose="020B0604030504040204" pitchFamily="50" charset="-128"/>
              </a:rPr>
              <a:t>sshd_config</a:t>
            </a:r>
            <a:endParaRPr lang="en-US" altLang="ja-JP" dirty="0">
              <a:highlight>
                <a:srgbClr val="C0C0C0"/>
              </a:highlight>
              <a:latin typeface="メイリオ" panose="020B0604030504040204" pitchFamily="50" charset="-128"/>
              <a:ea typeface="メイリオ" panose="020B0604030504040204" pitchFamily="50" charset="-128"/>
            </a:endParaRPr>
          </a:p>
          <a:p>
            <a:pPr marL="0" indent="0">
              <a:buNone/>
            </a:pPr>
            <a:r>
              <a:rPr lang="ja-JP" altLang="en-US" dirty="0">
                <a:latin typeface="メイリオ" panose="020B0604030504040204" pitchFamily="50" charset="-128"/>
                <a:ea typeface="メイリオ" panose="020B0604030504040204" pitchFamily="50" charset="-128"/>
              </a:rPr>
              <a:t>変更：</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PermitRootLogin</a:t>
            </a:r>
            <a:r>
              <a:rPr lang="en-US" altLang="ja-JP" dirty="0">
                <a:highlight>
                  <a:srgbClr val="C0C0C0"/>
                </a:highlight>
                <a:latin typeface="メイリオ" panose="020B0604030504040204" pitchFamily="50" charset="-128"/>
                <a:ea typeface="メイリオ" panose="020B0604030504040204" pitchFamily="50" charset="-128"/>
              </a:rPr>
              <a:t> no</a:t>
            </a:r>
          </a:p>
          <a:p>
            <a:pPr marL="0" indent="0">
              <a:buNone/>
            </a:pPr>
            <a:r>
              <a:rPr lang="ja-JP" altLang="en-US" dirty="0">
                <a:latin typeface="メイリオ" panose="020B0604030504040204" pitchFamily="50" charset="-128"/>
                <a:ea typeface="メイリオ" panose="020B0604030504040204" pitchFamily="50" charset="-128"/>
              </a:rPr>
              <a:t>不要サービス停止</a:t>
            </a:r>
          </a:p>
          <a:p>
            <a:pPr marL="0" indent="0">
              <a:buNone/>
            </a:pPr>
            <a:r>
              <a:rPr lang="en-US" altLang="ja-JP" dirty="0" err="1">
                <a:highlight>
                  <a:srgbClr val="C0C0C0"/>
                </a:highlight>
                <a:latin typeface="メイリオ" panose="020B0604030504040204" pitchFamily="50" charset="-128"/>
                <a:ea typeface="メイリオ" panose="020B0604030504040204" pitchFamily="50" charset="-128"/>
              </a:rPr>
              <a:t>systemctl</a:t>
            </a:r>
            <a:r>
              <a:rPr lang="en-US" altLang="ja-JP" dirty="0">
                <a:highlight>
                  <a:srgbClr val="C0C0C0"/>
                </a:highlight>
                <a:latin typeface="メイリオ" panose="020B0604030504040204" pitchFamily="50" charset="-128"/>
                <a:ea typeface="メイリオ" panose="020B0604030504040204" pitchFamily="50" charset="-128"/>
              </a:rPr>
              <a:t> disable telnet</a:t>
            </a:r>
          </a:p>
        </p:txBody>
      </p:sp>
    </p:spTree>
    <p:extLst>
      <p:ext uri="{BB962C8B-B14F-4D97-AF65-F5344CB8AC3E}">
        <p14:creationId xmlns:p14="http://schemas.microsoft.com/office/powerpoint/2010/main" val="2827457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BC3CAE-B7A8-4794-9808-687E2276BC17}"/>
              </a:ext>
            </a:extLst>
          </p:cNvPr>
          <p:cNvSpPr>
            <a:spLocks noGrp="1"/>
          </p:cNvSpPr>
          <p:nvPr>
            <p:ph type="title"/>
          </p:nvPr>
        </p:nvSpPr>
        <p:spPr/>
        <p:txBody>
          <a:bodyPr>
            <a:normAutofit/>
          </a:bodyPr>
          <a:lstStyle/>
          <a:p>
            <a:r>
              <a:rPr lang="en-US" altLang="ja-JP" dirty="0">
                <a:latin typeface="メイリオ" panose="020B0604030504040204" pitchFamily="50" charset="-128"/>
                <a:ea typeface="メイリオ" panose="020B0604030504040204" pitchFamily="50" charset="-128"/>
              </a:rPr>
              <a:t>Oracle WebLogic Server 14.1.1</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0EA517FB-C04F-4310-81F0-2C69D9609FA3}"/>
              </a:ext>
            </a:extLst>
          </p:cNvPr>
          <p:cNvSpPr>
            <a:spLocks noGrp="1"/>
          </p:cNvSpPr>
          <p:nvPr>
            <p:ph idx="1"/>
          </p:nvPr>
        </p:nvSpPr>
        <p:spPr>
          <a:xfrm>
            <a:off x="696798" y="835809"/>
            <a:ext cx="10515600" cy="5920573"/>
          </a:xfrm>
        </p:spPr>
        <p:txBody>
          <a:bodyPr>
            <a:normAutofit fontScale="25000" lnSpcReduction="20000"/>
          </a:bodyPr>
          <a:lstStyle/>
          <a:p>
            <a:pPr marL="0" indent="0">
              <a:buNone/>
            </a:pPr>
            <a:r>
              <a:rPr lang="en-US" altLang="ja-JP" b="1" dirty="0">
                <a:latin typeface="メイリオ" panose="020B0604030504040204" pitchFamily="50" charset="-128"/>
                <a:ea typeface="メイリオ" panose="020B0604030504040204" pitchFamily="50" charset="-128"/>
              </a:rPr>
              <a:t>1. 14.1.1 </a:t>
            </a:r>
            <a:r>
              <a:rPr lang="ja-JP" altLang="en-US" b="1" dirty="0">
                <a:latin typeface="メイリオ" panose="020B0604030504040204" pitchFamily="50" charset="-128"/>
                <a:ea typeface="メイリオ" panose="020B0604030504040204" pitchFamily="50" charset="-128"/>
              </a:rPr>
              <a:t>に影響する主な最新脆弱性</a:t>
            </a:r>
            <a:endParaRPr lang="en-US" altLang="ja-JP" b="1" dirty="0">
              <a:latin typeface="メイリオ" panose="020B0604030504040204" pitchFamily="50" charset="-128"/>
              <a:ea typeface="メイリオ" panose="020B0604030504040204" pitchFamily="50" charset="-128"/>
            </a:endParaRP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CVE-2024-20931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：未認証リモートコード実行（</a:t>
            </a:r>
            <a:r>
              <a:rPr lang="en-US" altLang="ja-JP" dirty="0">
                <a:latin typeface="メイリオ" panose="020B0604030504040204" pitchFamily="50" charset="-128"/>
                <a:ea typeface="メイリオ" panose="020B0604030504040204" pitchFamily="50" charset="-128"/>
              </a:rPr>
              <a:t>RCE</a:t>
            </a:r>
            <a:r>
              <a:rPr lang="ja-JP" altLang="en-US" dirty="0">
                <a:latin typeface="メイリオ" panose="020B0604030504040204" pitchFamily="50" charset="-128"/>
                <a:ea typeface="メイリオ" panose="020B0604030504040204" pitchFamily="50" charset="-128"/>
              </a:rPr>
              <a:t>）</a:t>
            </a:r>
          </a:p>
          <a:p>
            <a:pPr marL="0" indent="0">
              <a:buNone/>
            </a:pPr>
            <a:r>
              <a:rPr lang="en-US" altLang="ja-JP" dirty="0">
                <a:latin typeface="メイリオ" panose="020B0604030504040204" pitchFamily="50" charset="-128"/>
                <a:ea typeface="メイリオ" panose="020B0604030504040204" pitchFamily="50" charset="-128"/>
              </a:rPr>
              <a:t>IIOP / T3</a:t>
            </a:r>
            <a:r>
              <a:rPr lang="ja-JP" altLang="en-US" dirty="0">
                <a:latin typeface="メイリオ" panose="020B0604030504040204" pitchFamily="50" charset="-128"/>
                <a:ea typeface="メイリオ" panose="020B0604030504040204" pitchFamily="50" charset="-128"/>
              </a:rPr>
              <a:t>プロトコル処理の不備により、認証不要でリモートコード実行可能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サーバー完全乗っ取り、</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設置、マルウェア感染</a:t>
            </a:r>
          </a:p>
          <a:p>
            <a:pPr marL="0" indent="0">
              <a:buNone/>
            </a:pPr>
            <a:r>
              <a:rPr lang="ja-JP" altLang="en-US" dirty="0">
                <a:latin typeface="メイリオ" panose="020B0604030504040204" pitchFamily="50" charset="-128"/>
                <a:ea typeface="メイリオ" panose="020B0604030504040204" pitchFamily="50" charset="-128"/>
              </a:rPr>
              <a:t>影響バージョン：</a:t>
            </a:r>
            <a:r>
              <a:rPr lang="en-US" altLang="ja-JP" dirty="0">
                <a:latin typeface="メイリオ" panose="020B0604030504040204" pitchFamily="50" charset="-128"/>
                <a:ea typeface="メイリオ" panose="020B0604030504040204" pitchFamily="50" charset="-128"/>
              </a:rPr>
              <a:t>WebLogic Server 14.1.1 → </a:t>
            </a:r>
            <a:r>
              <a:rPr lang="ja-JP" altLang="en-US" dirty="0">
                <a:latin typeface="メイリオ" panose="020B0604030504040204" pitchFamily="50" charset="-128"/>
                <a:ea typeface="メイリオ" panose="020B0604030504040204" pitchFamily="50" charset="-128"/>
              </a:rPr>
              <a:t>該当</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CVE-2023-21839</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Critical, CVSS: 9.8</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T3/IIOP</a:t>
            </a:r>
            <a:r>
              <a:rPr lang="ja-JP" altLang="en-US" dirty="0">
                <a:latin typeface="メイリオ" panose="020B0604030504040204" pitchFamily="50" charset="-128"/>
                <a:ea typeface="メイリオ" panose="020B0604030504040204" pitchFamily="50" charset="-128"/>
              </a:rPr>
              <a:t>経由の</a:t>
            </a:r>
            <a:r>
              <a:rPr lang="en-US" altLang="ja-JP" dirty="0">
                <a:latin typeface="メイリオ" panose="020B0604030504040204" pitchFamily="50" charset="-128"/>
                <a:ea typeface="メイリオ" panose="020B0604030504040204" pitchFamily="50" charset="-128"/>
              </a:rPr>
              <a:t>RCE</a:t>
            </a:r>
          </a:p>
          <a:p>
            <a:pPr marL="0" indent="0">
              <a:buNone/>
            </a:pPr>
            <a:r>
              <a:rPr lang="ja-JP" altLang="en-US" dirty="0">
                <a:latin typeface="メイリオ" panose="020B0604030504040204" pitchFamily="50" charset="-128"/>
                <a:ea typeface="メイリオ" panose="020B0604030504040204" pitchFamily="50" charset="-128"/>
              </a:rPr>
              <a:t>外部から細工した通信を送ることで、サーバー上で任意コード実行可能</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：完全侵害、データベース侵入、</a:t>
            </a:r>
            <a:r>
              <a:rPr lang="en-US" altLang="ja-JP" dirty="0" err="1">
                <a:latin typeface="メイリオ" panose="020B0604030504040204" pitchFamily="50" charset="-128"/>
                <a:ea typeface="メイリオ" panose="020B0604030504040204" pitchFamily="50" charset="-128"/>
              </a:rPr>
              <a:t>WebShell</a:t>
            </a:r>
            <a:r>
              <a:rPr lang="ja-JP" altLang="en-US" dirty="0">
                <a:latin typeface="メイリオ" panose="020B0604030504040204" pitchFamily="50" charset="-128"/>
                <a:ea typeface="メイリオ" panose="020B0604030504040204" pitchFamily="50" charset="-128"/>
              </a:rPr>
              <a:t>設置</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CVE-2024-21006</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8.1</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：管理コンソール関連の脆弱性</a:t>
            </a:r>
          </a:p>
          <a:p>
            <a:pPr marL="0" indent="0">
              <a:buNone/>
            </a:pPr>
            <a:r>
              <a:rPr lang="ja-JP" altLang="en-US" dirty="0">
                <a:latin typeface="メイリオ" panose="020B0604030504040204" pitchFamily="50" charset="-128"/>
                <a:ea typeface="メイリオ" panose="020B0604030504040204" pitchFamily="50" charset="-128"/>
              </a:rPr>
              <a:t>攻撃者が管理機能を悪用</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：設定変更、不正アクセス</a:t>
            </a:r>
          </a:p>
          <a:p>
            <a:pPr marL="0" indent="0">
              <a:buNone/>
            </a:pPr>
            <a:r>
              <a:rPr lang="en-US" altLang="ja-JP" dirty="0">
                <a:highlight>
                  <a:srgbClr val="FFFF00"/>
                </a:highlight>
                <a:latin typeface="メイリオ" panose="020B0604030504040204" pitchFamily="50" charset="-128"/>
                <a:ea typeface="メイリオ" panose="020B0604030504040204" pitchFamily="50" charset="-128"/>
              </a:rPr>
              <a:t>CVE-2023-21931</a:t>
            </a:r>
            <a:r>
              <a:rPr lang="ja-JP" altLang="en-US" dirty="0">
                <a:highlight>
                  <a:srgbClr val="FFFF00"/>
                </a:highlight>
                <a:latin typeface="メイリオ" panose="020B0604030504040204" pitchFamily="50" charset="-128"/>
                <a:ea typeface="メイリオ" panose="020B0604030504040204" pitchFamily="50" charset="-128"/>
              </a:rPr>
              <a:t>（</a:t>
            </a:r>
            <a:r>
              <a:rPr lang="en-US" altLang="ja-JP" dirty="0">
                <a:highlight>
                  <a:srgbClr val="FFFF00"/>
                </a:highlight>
                <a:latin typeface="メイリオ" panose="020B0604030504040204" pitchFamily="50" charset="-128"/>
                <a:ea typeface="メイリオ" panose="020B0604030504040204" pitchFamily="50" charset="-128"/>
              </a:rPr>
              <a:t>High, CVSS: 7.5</a:t>
            </a:r>
            <a:r>
              <a:rPr lang="ja-JP" altLang="en-US"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b="1" dirty="0">
                <a:latin typeface="メイリオ" panose="020B0604030504040204" pitchFamily="50" charset="-128"/>
                <a:ea typeface="メイリオ" panose="020B0604030504040204" pitchFamily="50" charset="-128"/>
              </a:rPr>
              <a:t>概要</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DoS</a:t>
            </a:r>
            <a:r>
              <a:rPr lang="ja-JP" altLang="en-US" dirty="0">
                <a:latin typeface="メイリオ" panose="020B0604030504040204" pitchFamily="50" charset="-128"/>
                <a:ea typeface="メイリオ" panose="020B0604030504040204" pitchFamily="50" charset="-128"/>
              </a:rPr>
              <a:t>攻撃</a:t>
            </a:r>
          </a:p>
          <a:p>
            <a:pPr marL="0" indent="0">
              <a:buNone/>
            </a:pPr>
            <a:r>
              <a:rPr lang="ja-JP" altLang="en-US" dirty="0">
                <a:latin typeface="メイリオ" panose="020B0604030504040204" pitchFamily="50" charset="-128"/>
                <a:ea typeface="メイリオ" panose="020B0604030504040204" pitchFamily="50" charset="-128"/>
              </a:rPr>
              <a:t>攻撃者が細工したリクエストを送信</a:t>
            </a:r>
          </a:p>
          <a:p>
            <a:pPr marL="0" indent="0">
              <a:buNone/>
            </a:pPr>
            <a:r>
              <a:rPr lang="ja-JP" altLang="en-US" b="1" dirty="0">
                <a:latin typeface="メイリオ" panose="020B0604030504040204" pitchFamily="50" charset="-128"/>
                <a:ea typeface="メイリオ" panose="020B0604030504040204" pitchFamily="50" charset="-128"/>
              </a:rPr>
              <a:t>影響</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Web</a:t>
            </a:r>
            <a:r>
              <a:rPr lang="ja-JP" altLang="en-US" dirty="0">
                <a:latin typeface="メイリオ" panose="020B0604030504040204" pitchFamily="50" charset="-128"/>
                <a:ea typeface="メイリオ" panose="020B0604030504040204" pitchFamily="50" charset="-128"/>
              </a:rPr>
              <a:t>サービス停止</a:t>
            </a:r>
          </a:p>
          <a:p>
            <a:pPr marL="0" indent="0">
              <a:buNone/>
            </a:pPr>
            <a:r>
              <a:rPr lang="en-US" altLang="ja-JP" b="1" dirty="0">
                <a:latin typeface="メイリオ" panose="020B0604030504040204" pitchFamily="50" charset="-128"/>
                <a:ea typeface="メイリオ" panose="020B0604030504040204" pitchFamily="50" charset="-128"/>
              </a:rPr>
              <a:t>2. </a:t>
            </a:r>
            <a:r>
              <a:rPr lang="ja-JP" altLang="en-US" b="1" dirty="0">
                <a:latin typeface="メイリオ" panose="020B0604030504040204" pitchFamily="50" charset="-128"/>
                <a:ea typeface="メイリオ" panose="020B0604030504040204" pitchFamily="50" charset="-128"/>
              </a:rPr>
              <a:t>推奨される対応策</a:t>
            </a:r>
          </a:p>
          <a:p>
            <a:pPr marL="0" indent="0">
              <a:buNone/>
            </a:pPr>
            <a:r>
              <a:rPr lang="ja-JP" altLang="en-US" dirty="0">
                <a:latin typeface="メイリオ" panose="020B0604030504040204" pitchFamily="50" charset="-128"/>
                <a:ea typeface="メイリオ" panose="020B0604030504040204" pitchFamily="50" charset="-128"/>
              </a:rPr>
              <a:t>最優先：</a:t>
            </a:r>
            <a:r>
              <a:rPr lang="en-US" altLang="ja-JP" dirty="0">
                <a:latin typeface="メイリオ" panose="020B0604030504040204" pitchFamily="50" charset="-128"/>
                <a:ea typeface="メイリオ" panose="020B0604030504040204" pitchFamily="50" charset="-128"/>
              </a:rPr>
              <a:t>Oracle Critical Patch Update</a:t>
            </a:r>
            <a:r>
              <a:rPr lang="ja-JP" altLang="en-US" dirty="0">
                <a:latin typeface="メイリオ" panose="020B0604030504040204" pitchFamily="50" charset="-128"/>
                <a:ea typeface="メイリオ" panose="020B0604030504040204" pitchFamily="50" charset="-128"/>
              </a:rPr>
              <a:t>適用</a:t>
            </a:r>
          </a:p>
          <a:p>
            <a:pPr marL="0" indent="0">
              <a:buNone/>
            </a:pPr>
            <a:r>
              <a:rPr lang="en-US" altLang="ja-JP" dirty="0">
                <a:latin typeface="メイリオ" panose="020B0604030504040204" pitchFamily="50" charset="-128"/>
                <a:ea typeface="メイリオ" panose="020B0604030504040204" pitchFamily="50" charset="-128"/>
              </a:rPr>
              <a:t>Oracle</a:t>
            </a:r>
            <a:r>
              <a:rPr lang="ja-JP" altLang="en-US" dirty="0">
                <a:latin typeface="メイリオ" panose="020B0604030504040204" pitchFamily="50" charset="-128"/>
                <a:ea typeface="メイリオ" panose="020B0604030504040204" pitchFamily="50" charset="-128"/>
              </a:rPr>
              <a:t>公式：最新</a:t>
            </a:r>
            <a:r>
              <a:rPr lang="en-US" altLang="ja-JP" dirty="0">
                <a:latin typeface="メイリオ" panose="020B0604030504040204" pitchFamily="50" charset="-128"/>
                <a:ea typeface="メイリオ" panose="020B0604030504040204" pitchFamily="50" charset="-128"/>
              </a:rPr>
              <a:t>CPU</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Critical Patch Update</a:t>
            </a:r>
            <a:r>
              <a:rPr lang="ja-JP" altLang="en-US" dirty="0">
                <a:latin typeface="メイリオ" panose="020B0604030504040204" pitchFamily="50" charset="-128"/>
                <a:ea typeface="メイリオ" panose="020B0604030504040204" pitchFamily="50" charset="-128"/>
              </a:rPr>
              <a:t>）適用</a:t>
            </a:r>
          </a:p>
          <a:p>
            <a:pPr marL="0" indent="0">
              <a:buNone/>
            </a:pPr>
            <a:r>
              <a:rPr lang="ja-JP" altLang="en-US" dirty="0">
                <a:latin typeface="メイリオ" panose="020B0604030504040204" pitchFamily="50" charset="-128"/>
                <a:ea typeface="メイリオ" panose="020B0604030504040204" pitchFamily="50" charset="-128"/>
              </a:rPr>
              <a:t>推奨：</a:t>
            </a:r>
            <a:r>
              <a:rPr lang="en-US" altLang="ja-JP" dirty="0">
                <a:latin typeface="メイリオ" panose="020B0604030504040204" pitchFamily="50" charset="-128"/>
                <a:ea typeface="メイリオ" panose="020B0604030504040204" pitchFamily="50" charset="-128"/>
              </a:rPr>
              <a:t>2025</a:t>
            </a:r>
            <a:r>
              <a:rPr lang="ja-JP" altLang="en-US" dirty="0">
                <a:latin typeface="メイリオ" panose="020B0604030504040204" pitchFamily="50" charset="-128"/>
                <a:ea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rPr>
              <a:t>CPU</a:t>
            </a:r>
          </a:p>
          <a:p>
            <a:pPr marL="0" indent="0">
              <a:buNone/>
            </a:pPr>
            <a:r>
              <a:rPr lang="ja-JP" altLang="en-US" dirty="0">
                <a:latin typeface="メイリオ" panose="020B0604030504040204" pitchFamily="50" charset="-128"/>
                <a:ea typeface="メイリオ" panose="020B0604030504040204" pitchFamily="50" charset="-128"/>
              </a:rPr>
              <a:t>回避策（アップデート不可の場合）</a:t>
            </a:r>
          </a:p>
          <a:p>
            <a:pPr marL="0" indent="0">
              <a:buNone/>
            </a:pPr>
            <a:r>
              <a:rPr lang="en-US" altLang="ja-JP" dirty="0">
                <a:latin typeface="メイリオ" panose="020B0604030504040204" pitchFamily="50" charset="-128"/>
                <a:ea typeface="メイリオ" panose="020B0604030504040204" pitchFamily="50" charset="-128"/>
              </a:rPr>
              <a:t>T3</a:t>
            </a:r>
            <a:r>
              <a:rPr lang="ja-JP" altLang="en-US" dirty="0">
                <a:latin typeface="メイリオ" panose="020B0604030504040204" pitchFamily="50" charset="-128"/>
                <a:ea typeface="メイリオ" panose="020B0604030504040204" pitchFamily="50" charset="-128"/>
              </a:rPr>
              <a:t>プロトコル無効化</a:t>
            </a:r>
          </a:p>
          <a:p>
            <a:pPr marL="0" indent="0">
              <a:buNone/>
            </a:pPr>
            <a:r>
              <a:rPr lang="en-US" altLang="ja-JP" dirty="0">
                <a:highlight>
                  <a:srgbClr val="C0C0C0"/>
                </a:highlight>
                <a:latin typeface="メイリオ" panose="020B0604030504040204" pitchFamily="50" charset="-128"/>
                <a:ea typeface="メイリオ" panose="020B0604030504040204" pitchFamily="50" charset="-128"/>
              </a:rPr>
              <a:t>config.xml</a:t>
            </a:r>
            <a:r>
              <a:rPr lang="ja-JP" altLang="en-US" dirty="0">
                <a:highlight>
                  <a:srgbClr val="C0C0C0"/>
                </a:highlight>
                <a:latin typeface="メイリオ" panose="020B0604030504040204" pitchFamily="50" charset="-128"/>
                <a:ea typeface="メイリオ" panose="020B0604030504040204" pitchFamily="50" charset="-128"/>
              </a:rPr>
              <a:t>：</a:t>
            </a:r>
            <a:r>
              <a:rPr lang="en-US" altLang="ja-JP" dirty="0">
                <a:highlight>
                  <a:srgbClr val="C0C0C0"/>
                </a:highlight>
                <a:latin typeface="メイリオ" panose="020B0604030504040204" pitchFamily="50" charset="-128"/>
                <a:ea typeface="メイリオ" panose="020B0604030504040204" pitchFamily="50" charset="-128"/>
              </a:rPr>
              <a:t>&lt;t3-enabled&gt;false&lt;/t3-enabled&gt;</a:t>
            </a:r>
          </a:p>
          <a:p>
            <a:pPr marL="0" indent="0">
              <a:buNone/>
            </a:pPr>
            <a:r>
              <a:rPr lang="ja-JP" altLang="en-US" dirty="0">
                <a:latin typeface="メイリオ" panose="020B0604030504040204" pitchFamily="50" charset="-128"/>
                <a:ea typeface="メイリオ" panose="020B0604030504040204" pitchFamily="50" charset="-128"/>
              </a:rPr>
              <a:t>管理コンソール外部公開禁止</a:t>
            </a:r>
          </a:p>
          <a:p>
            <a:pPr marL="0" indent="0">
              <a:buNone/>
            </a:pPr>
            <a:r>
              <a:rPr lang="ja-JP" altLang="en-US" dirty="0">
                <a:latin typeface="メイリオ" panose="020B0604030504040204" pitchFamily="50" charset="-128"/>
                <a:ea typeface="メイリオ" panose="020B0604030504040204" pitchFamily="50" charset="-128"/>
              </a:rPr>
              <a:t>ポート：</a:t>
            </a:r>
            <a:r>
              <a:rPr lang="en-US" altLang="ja-JP" dirty="0">
                <a:latin typeface="メイリオ" panose="020B0604030504040204" pitchFamily="50" charset="-128"/>
                <a:ea typeface="メイリオ" panose="020B0604030504040204" pitchFamily="50" charset="-128"/>
              </a:rPr>
              <a:t>7001</a:t>
            </a:r>
            <a:r>
              <a:rPr lang="ja-JP" altLang="en-US" dirty="0" err="1">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7002</a:t>
            </a:r>
          </a:p>
          <a:p>
            <a:pPr marL="0" indent="0">
              <a:buNone/>
            </a:pPr>
            <a:r>
              <a:rPr lang="ja-JP" altLang="en-US" dirty="0">
                <a:latin typeface="メイリオ" panose="020B0604030504040204" pitchFamily="50" charset="-128"/>
                <a:ea typeface="メイリオ" panose="020B0604030504040204" pitchFamily="50" charset="-128"/>
              </a:rPr>
              <a:t>外部アクセス禁止</a:t>
            </a:r>
          </a:p>
          <a:p>
            <a:pPr marL="0" indent="0">
              <a:buNone/>
            </a:pPr>
            <a:r>
              <a:rPr lang="en-US" altLang="ja-JP" dirty="0">
                <a:latin typeface="メイリオ" panose="020B0604030504040204" pitchFamily="50" charset="-128"/>
                <a:ea typeface="メイリオ" panose="020B0604030504040204" pitchFamily="50" charset="-128"/>
              </a:rPr>
              <a:t>Web Application Firewall</a:t>
            </a:r>
            <a:r>
              <a:rPr lang="ja-JP" altLang="en-US" dirty="0">
                <a:latin typeface="メイリオ" panose="020B0604030504040204" pitchFamily="50" charset="-128"/>
                <a:ea typeface="メイリオ" panose="020B0604030504040204" pitchFamily="50" charset="-128"/>
              </a:rPr>
              <a:t>導入</a:t>
            </a:r>
            <a:endParaRPr kumimoji="1"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9958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76F1B3-E186-4B19-9D85-1BB70E9C0E6E}"/>
              </a:ext>
            </a:extLst>
          </p:cNvPr>
          <p:cNvSpPr>
            <a:spLocks noGrp="1"/>
          </p:cNvSpPr>
          <p:nvPr>
            <p:ph type="title"/>
          </p:nvPr>
        </p:nvSpPr>
        <p:spPr/>
        <p:txBody>
          <a:bodyPr>
            <a:normAutofit fontScale="90000"/>
          </a:bodyPr>
          <a:lstStyle/>
          <a:p>
            <a:r>
              <a:rPr lang="en-US" altLang="ja-JP" dirty="0">
                <a:latin typeface="メイリオ" panose="020B0604030504040204" pitchFamily="50" charset="-128"/>
                <a:ea typeface="メイリオ" panose="020B0604030504040204" pitchFamily="50" charset="-128"/>
              </a:rPr>
              <a:t>Oracle Database 19c Standard Edition 2</a:t>
            </a: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19.0.0.0.0</a:t>
            </a:r>
            <a:endParaRPr kumimoji="1" lang="ja-JP" altLang="en-US" dirty="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05537F83-DC71-470D-8A97-86DF80E20E2A}"/>
              </a:ext>
            </a:extLst>
          </p:cNvPr>
          <p:cNvSpPr>
            <a:spLocks noGrp="1"/>
          </p:cNvSpPr>
          <p:nvPr>
            <p:ph idx="1"/>
          </p:nvPr>
        </p:nvSpPr>
        <p:spPr>
          <a:xfrm>
            <a:off x="838200" y="787141"/>
            <a:ext cx="10515600" cy="5924744"/>
          </a:xfrm>
        </p:spPr>
        <p:txBody>
          <a:bodyPr>
            <a:normAutofit fontScale="25000" lnSpcReduction="20000"/>
          </a:bodyPr>
          <a:lstStyle/>
          <a:p>
            <a:pPr marL="0" indent="0">
              <a:buNone/>
            </a:pPr>
            <a:r>
              <a:rPr lang="en-US" altLang="ja-JP" sz="3200" b="1" dirty="0">
                <a:latin typeface="メイリオ" panose="020B0604030504040204" pitchFamily="50" charset="-128"/>
                <a:ea typeface="メイリオ" panose="020B0604030504040204" pitchFamily="50" charset="-128"/>
              </a:rPr>
              <a:t>Oracle Database 19c Standard Edition 2</a:t>
            </a:r>
            <a:r>
              <a:rPr lang="ja-JP" altLang="en-US" sz="3200" b="1" dirty="0">
                <a:latin typeface="メイリオ" panose="020B0604030504040204" pitchFamily="50" charset="-128"/>
                <a:ea typeface="メイリオ" panose="020B0604030504040204" pitchFamily="50" charset="-128"/>
              </a:rPr>
              <a:t>（</a:t>
            </a:r>
            <a:r>
              <a:rPr lang="en-US" altLang="ja-JP" sz="3200" b="1" dirty="0">
                <a:latin typeface="メイリオ" panose="020B0604030504040204" pitchFamily="50" charset="-128"/>
                <a:ea typeface="メイリオ" panose="020B0604030504040204" pitchFamily="50" charset="-128"/>
              </a:rPr>
              <a:t>19.0.0.0.0</a:t>
            </a:r>
            <a:r>
              <a:rPr lang="ja-JP" altLang="en-US" sz="3200" b="1" dirty="0">
                <a:latin typeface="メイリオ" panose="020B0604030504040204" pitchFamily="50" charset="-128"/>
                <a:ea typeface="メイリオ" panose="020B0604030504040204" pitchFamily="50" charset="-128"/>
              </a:rPr>
              <a:t>）の脆弱性</a:t>
            </a:r>
          </a:p>
          <a:p>
            <a:pPr marL="0" indent="0">
              <a:buNone/>
            </a:pPr>
            <a:r>
              <a:rPr lang="en-US" altLang="ja-JP" sz="3200" b="1" dirty="0">
                <a:latin typeface="メイリオ" panose="020B0604030504040204" pitchFamily="50" charset="-128"/>
                <a:ea typeface="メイリオ" panose="020B0604030504040204" pitchFamily="50" charset="-128"/>
              </a:rPr>
              <a:t>1. </a:t>
            </a:r>
            <a:r>
              <a:rPr lang="ja-JP" altLang="en-US" sz="3200" b="1" dirty="0">
                <a:latin typeface="メイリオ" panose="020B0604030504040204" pitchFamily="50" charset="-128"/>
                <a:ea typeface="メイリオ" panose="020B0604030504040204" pitchFamily="50" charset="-128"/>
              </a:rPr>
              <a:t>該当する主な脆弱性</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CVE-2025-21181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の脆弱性により、ネットワーク経由でサービス拒否（</a:t>
            </a:r>
            <a:r>
              <a:rPr lang="en-US" altLang="ja-JP" sz="3200" dirty="0">
                <a:latin typeface="メイリオ" panose="020B0604030504040204" pitchFamily="50" charset="-128"/>
                <a:ea typeface="メイリオ" panose="020B0604030504040204" pitchFamily="50" charset="-128"/>
              </a:rPr>
              <a:t>DoS</a:t>
            </a:r>
            <a:r>
              <a:rPr lang="ja-JP" altLang="en-US" sz="3200" dirty="0">
                <a:latin typeface="メイリオ" panose="020B0604030504040204" pitchFamily="50" charset="-128"/>
                <a:ea typeface="メイリオ" panose="020B0604030504040204" pitchFamily="50" charset="-128"/>
              </a:rPr>
              <a:t>）が発生する可能性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データベース停止、業務停止</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CVE-2024-21120</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Net Services </a:t>
            </a:r>
            <a:r>
              <a:rPr lang="ja-JP" altLang="en-US" sz="3200" dirty="0">
                <a:latin typeface="メイリオ" panose="020B0604030504040204" pitchFamily="50" charset="-128"/>
                <a:ea typeface="メイリオ" panose="020B0604030504040204" pitchFamily="50" charset="-128"/>
              </a:rPr>
              <a:t>の脆弱性により、認証済ユーザーが権限昇格やサービス妨害を行う可能性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権限昇格、不正操作、</a:t>
            </a:r>
            <a:r>
              <a:rPr lang="en-US" altLang="ja-JP" sz="3200" dirty="0">
                <a:latin typeface="メイリオ" panose="020B0604030504040204" pitchFamily="50" charset="-128"/>
                <a:ea typeface="メイリオ" panose="020B0604030504040204" pitchFamily="50" charset="-128"/>
              </a:rPr>
              <a:t>DoS</a:t>
            </a:r>
          </a:p>
          <a:p>
            <a:pPr marL="0" indent="0">
              <a:buNone/>
            </a:pPr>
            <a:r>
              <a:rPr lang="en-US" altLang="ja-JP" sz="3200" dirty="0">
                <a:highlight>
                  <a:srgbClr val="FFFF00"/>
                </a:highlight>
                <a:latin typeface="メイリオ" panose="020B0604030504040204" pitchFamily="50" charset="-128"/>
                <a:ea typeface="メイリオ" panose="020B0604030504040204" pitchFamily="50" charset="-128"/>
              </a:rPr>
              <a:t>CVE-2023-22081</a:t>
            </a:r>
            <a:r>
              <a:rPr lang="ja-JP" altLang="en-US" sz="3200" dirty="0">
                <a:highlight>
                  <a:srgbClr val="FFFF00"/>
                </a:highlight>
                <a:latin typeface="メイリオ" panose="020B0604030504040204" pitchFamily="50" charset="-128"/>
                <a:ea typeface="メイリオ" panose="020B0604030504040204" pitchFamily="50" charset="-128"/>
              </a:rPr>
              <a:t>（</a:t>
            </a:r>
            <a:r>
              <a:rPr lang="en-US" altLang="ja-JP" sz="3200" dirty="0">
                <a:highlight>
                  <a:srgbClr val="FFFF00"/>
                </a:highlight>
                <a:latin typeface="メイリオ" panose="020B0604030504040204" pitchFamily="50" charset="-128"/>
                <a:ea typeface="メイリオ" panose="020B0604030504040204" pitchFamily="50" charset="-128"/>
              </a:rPr>
              <a:t>High</a:t>
            </a:r>
            <a:r>
              <a:rPr lang="ja-JP" altLang="en-US" sz="3200" dirty="0">
                <a:highlight>
                  <a:srgbClr val="FFFF00"/>
                </a:highlight>
                <a:latin typeface="メイリオ" panose="020B0604030504040204" pitchFamily="50" charset="-128"/>
                <a:ea typeface="メイリオ" panose="020B0604030504040204" pitchFamily="50" charset="-128"/>
              </a:rPr>
              <a:t>）</a:t>
            </a:r>
          </a:p>
          <a:p>
            <a:pPr marL="0" indent="0">
              <a:buNone/>
            </a:pPr>
            <a:r>
              <a:rPr lang="ja-JP" altLang="en-US" sz="3200" b="1" dirty="0">
                <a:latin typeface="メイリオ" panose="020B0604030504040204" pitchFamily="50" charset="-128"/>
                <a:ea typeface="メイリオ" panose="020B0604030504040204" pitchFamily="50" charset="-128"/>
              </a:rPr>
              <a:t>概要</a:t>
            </a:r>
            <a:r>
              <a:rPr lang="en-US" altLang="ja-JP" sz="3200" dirty="0">
                <a:latin typeface="メイリオ" panose="020B0604030504040204" pitchFamily="50" charset="-128"/>
                <a:ea typeface="メイリオ" panose="020B0604030504040204" pitchFamily="50" charset="-128"/>
              </a:rPr>
              <a:t>:Oracle Database Server </a:t>
            </a:r>
            <a:r>
              <a:rPr lang="ja-JP" altLang="en-US" sz="3200" dirty="0">
                <a:latin typeface="メイリオ" panose="020B0604030504040204" pitchFamily="50" charset="-128"/>
                <a:ea typeface="メイリオ" panose="020B0604030504040204" pitchFamily="50" charset="-128"/>
              </a:rPr>
              <a:t>の脆弱性により、不正アクセスやサービス拒否が発生する可能性</a:t>
            </a:r>
          </a:p>
          <a:p>
            <a:pPr marL="0" indent="0">
              <a:buNone/>
            </a:pPr>
            <a:r>
              <a:rPr lang="ja-JP" altLang="en-US" sz="3200" b="1" dirty="0">
                <a:latin typeface="メイリオ" panose="020B0604030504040204" pitchFamily="50" charset="-128"/>
                <a:ea typeface="メイリオ" panose="020B0604030504040204" pitchFamily="50" charset="-128"/>
              </a:rPr>
              <a:t>影響</a:t>
            </a:r>
            <a:r>
              <a:rPr lang="en-US" altLang="ja-JP" sz="3200" dirty="0">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不正アクセス、</a:t>
            </a:r>
            <a:r>
              <a:rPr lang="en-US" altLang="ja-JP" sz="3200" dirty="0">
                <a:latin typeface="メイリオ" panose="020B0604030504040204" pitchFamily="50" charset="-128"/>
                <a:ea typeface="メイリオ" panose="020B0604030504040204" pitchFamily="50" charset="-128"/>
              </a:rPr>
              <a:t>DoS</a:t>
            </a:r>
          </a:p>
          <a:p>
            <a:pPr marL="0" indent="0">
              <a:buNone/>
            </a:pPr>
            <a:r>
              <a:rPr lang="en-US" altLang="ja-JP" sz="3200" b="1" dirty="0">
                <a:latin typeface="メイリオ" panose="020B0604030504040204" pitchFamily="50" charset="-128"/>
                <a:ea typeface="メイリオ" panose="020B0604030504040204" pitchFamily="50" charset="-128"/>
              </a:rPr>
              <a:t>2. </a:t>
            </a:r>
            <a:r>
              <a:rPr lang="ja-JP" altLang="en-US" sz="3200" b="1" dirty="0">
                <a:latin typeface="メイリオ" panose="020B0604030504040204" pitchFamily="50" charset="-128"/>
                <a:ea typeface="メイリオ" panose="020B0604030504040204" pitchFamily="50" charset="-128"/>
              </a:rPr>
              <a:t>推奨される対応策</a:t>
            </a:r>
          </a:p>
          <a:p>
            <a:pPr marL="0" indent="0">
              <a:buNone/>
            </a:pP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を最新のパッチレベルへ更新</a:t>
            </a:r>
          </a:p>
          <a:p>
            <a:pPr marL="0" indent="0">
              <a:buNone/>
            </a:pPr>
            <a:r>
              <a:rPr lang="ja-JP" altLang="en-US" sz="3200" dirty="0">
                <a:latin typeface="メイリオ" panose="020B0604030504040204" pitchFamily="50" charset="-128"/>
                <a:ea typeface="メイリオ" panose="020B0604030504040204" pitchFamily="50" charset="-128"/>
              </a:rPr>
              <a:t>推奨：</a:t>
            </a:r>
            <a:r>
              <a:rPr lang="en-US" altLang="ja-JP" sz="3200" dirty="0">
                <a:latin typeface="メイリオ" panose="020B0604030504040204" pitchFamily="50" charset="-128"/>
                <a:ea typeface="メイリオ" panose="020B0604030504040204" pitchFamily="50" charset="-128"/>
              </a:rPr>
              <a:t>Critical Patch Update</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CPU</a:t>
            </a:r>
            <a:r>
              <a:rPr lang="ja-JP" altLang="en-US" sz="3200" dirty="0">
                <a:latin typeface="メイリオ" panose="020B0604030504040204" pitchFamily="50" charset="-128"/>
                <a:ea typeface="メイリオ" panose="020B0604030504040204" pitchFamily="50" charset="-128"/>
              </a:rPr>
              <a:t>）を適用</a:t>
            </a:r>
          </a:p>
          <a:p>
            <a:pPr marL="0" indent="0">
              <a:buNone/>
            </a:pPr>
            <a:r>
              <a:rPr lang="ja-JP" altLang="en-US" sz="3200" dirty="0">
                <a:latin typeface="メイリオ" panose="020B0604030504040204" pitchFamily="50" charset="-128"/>
                <a:ea typeface="メイリオ" panose="020B0604030504040204" pitchFamily="50" charset="-128"/>
              </a:rPr>
              <a:t>可能であれば</a:t>
            </a:r>
            <a:r>
              <a:rPr lang="en-US" altLang="ja-JP" sz="3200" dirty="0">
                <a:latin typeface="メイリオ" panose="020B0604030504040204" pitchFamily="50" charset="-128"/>
                <a:ea typeface="メイリオ" panose="020B0604030504040204" pitchFamily="50" charset="-128"/>
              </a:rPr>
              <a:t>Oracle Database 19c </a:t>
            </a:r>
            <a:r>
              <a:rPr lang="ja-JP" altLang="en-US" sz="3200" dirty="0">
                <a:latin typeface="メイリオ" panose="020B0604030504040204" pitchFamily="50" charset="-128"/>
                <a:ea typeface="メイリオ" panose="020B0604030504040204" pitchFamily="50" charset="-128"/>
              </a:rPr>
              <a:t>最新</a:t>
            </a:r>
            <a:r>
              <a:rPr lang="en-US" altLang="ja-JP" sz="3200" dirty="0">
                <a:latin typeface="メイリオ" panose="020B0604030504040204" pitchFamily="50" charset="-128"/>
                <a:ea typeface="メイリオ" panose="020B0604030504040204" pitchFamily="50" charset="-128"/>
              </a:rPr>
              <a:t>RU</a:t>
            </a:r>
            <a:r>
              <a:rPr lang="ja-JP" altLang="en-US" sz="3200" dirty="0">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Release Update</a:t>
            </a:r>
            <a:r>
              <a:rPr lang="ja-JP" altLang="en-US" sz="3200" dirty="0">
                <a:latin typeface="メイリオ" panose="020B0604030504040204" pitchFamily="50" charset="-128"/>
                <a:ea typeface="メイリオ" panose="020B0604030504040204" pitchFamily="50" charset="-128"/>
              </a:rPr>
              <a:t>）</a:t>
            </a:r>
          </a:p>
          <a:p>
            <a:pPr marL="0" indent="0">
              <a:buNone/>
            </a:pPr>
            <a:r>
              <a:rPr lang="en-US" altLang="ja-JP" sz="3200" dirty="0">
                <a:latin typeface="メイリオ" panose="020B0604030504040204" pitchFamily="50" charset="-128"/>
                <a:ea typeface="メイリオ" panose="020B0604030504040204" pitchFamily="50" charset="-128"/>
              </a:rPr>
              <a:t>(19.22 </a:t>
            </a:r>
            <a:r>
              <a:rPr lang="ja-JP" altLang="en-US" sz="3200" dirty="0">
                <a:latin typeface="メイリオ" panose="020B0604030504040204" pitchFamily="50" charset="-128"/>
                <a:ea typeface="メイリオ" panose="020B0604030504040204" pitchFamily="50" charset="-128"/>
              </a:rPr>
              <a:t>以降、</a:t>
            </a:r>
            <a:r>
              <a:rPr lang="en-US" altLang="ja-JP" sz="3200" dirty="0">
                <a:latin typeface="メイリオ" panose="020B0604030504040204" pitchFamily="50" charset="-128"/>
                <a:ea typeface="メイリオ" panose="020B0604030504040204" pitchFamily="50" charset="-128"/>
              </a:rPr>
              <a:t>19.23 </a:t>
            </a:r>
            <a:r>
              <a:rPr lang="ja-JP" altLang="en-US" sz="3200" dirty="0">
                <a:latin typeface="メイリオ" panose="020B0604030504040204" pitchFamily="50" charset="-128"/>
                <a:ea typeface="メイリオ" panose="020B0604030504040204" pitchFamily="50" charset="-128"/>
              </a:rPr>
              <a:t>以降（推奨）</a:t>
            </a:r>
            <a:r>
              <a:rPr lang="en-US" altLang="ja-JP" sz="3200" dirty="0">
                <a:latin typeface="メイリオ" panose="020B0604030504040204" pitchFamily="50" charset="-128"/>
                <a:ea typeface="メイリオ" panose="020B0604030504040204" pitchFamily="50" charset="-128"/>
              </a:rPr>
              <a:t>)</a:t>
            </a:r>
            <a:endParaRPr lang="ja-JP" altLang="en-US" sz="3200" dirty="0">
              <a:latin typeface="メイリオ" panose="020B0604030504040204" pitchFamily="50" charset="-128"/>
              <a:ea typeface="メイリオ" panose="020B0604030504040204" pitchFamily="50" charset="-128"/>
            </a:endParaRPr>
          </a:p>
          <a:p>
            <a:pPr marL="0" indent="0">
              <a:buNone/>
            </a:pPr>
            <a:r>
              <a:rPr lang="ja-JP" altLang="en-US" sz="3200" dirty="0">
                <a:latin typeface="メイリオ" panose="020B0604030504040204" pitchFamily="50" charset="-128"/>
                <a:ea typeface="メイリオ" panose="020B0604030504040204" pitchFamily="50" charset="-128"/>
              </a:rPr>
              <a:t>回避策（アップデート不可の場合）</a:t>
            </a:r>
          </a:p>
          <a:p>
            <a:pPr marL="0" indent="0">
              <a:buNone/>
            </a:pPr>
            <a:r>
              <a:rPr lang="ja-JP" altLang="en-US" sz="3200" dirty="0">
                <a:latin typeface="メイリオ" panose="020B0604030504040204" pitchFamily="50" charset="-128"/>
                <a:ea typeface="メイリオ" panose="020B0604030504040204" pitchFamily="50" charset="-128"/>
              </a:rPr>
              <a:t>アップデートができない場合は、以下の対策を実施</a:t>
            </a:r>
          </a:p>
          <a:p>
            <a:pPr marL="0" indent="0">
              <a:buNone/>
            </a:pPr>
            <a:r>
              <a:rPr lang="ja-JP" altLang="en-US" sz="3200" dirty="0">
                <a:latin typeface="メイリオ" panose="020B0604030504040204" pitchFamily="50" charset="-128"/>
                <a:ea typeface="メイリオ" panose="020B0604030504040204" pitchFamily="50" charset="-128"/>
              </a:rPr>
              <a:t>① 外部からの接続制限（最重要）</a:t>
            </a:r>
          </a:p>
          <a:p>
            <a:pPr marL="0" indent="0">
              <a:buNone/>
            </a:pP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ポート：</a:t>
            </a:r>
            <a:r>
              <a:rPr lang="en-US" altLang="ja-JP" sz="3200" dirty="0">
                <a:latin typeface="メイリオ" panose="020B0604030504040204" pitchFamily="50" charset="-128"/>
                <a:ea typeface="メイリオ" panose="020B0604030504040204" pitchFamily="50" charset="-128"/>
              </a:rPr>
              <a:t>1521/TCP</a:t>
            </a:r>
            <a:r>
              <a:rPr lang="ja-JP" altLang="en-US" sz="3200" dirty="0">
                <a:latin typeface="メイリオ" panose="020B0604030504040204" pitchFamily="50" charset="-128"/>
                <a:ea typeface="メイリオ" panose="020B0604030504040204" pitchFamily="50" charset="-128"/>
              </a:rPr>
              <a:t>を</a:t>
            </a:r>
            <a:r>
              <a:rPr lang="en-US" altLang="ja-JP" sz="3200" dirty="0">
                <a:latin typeface="メイリオ" panose="020B0604030504040204" pitchFamily="50" charset="-128"/>
                <a:ea typeface="メイリオ" panose="020B0604030504040204" pitchFamily="50" charset="-128"/>
              </a:rPr>
              <a:t>FW</a:t>
            </a:r>
            <a:r>
              <a:rPr lang="ja-JP" altLang="en-US" sz="3200" dirty="0">
                <a:latin typeface="メイリオ" panose="020B0604030504040204" pitchFamily="50" charset="-128"/>
                <a:ea typeface="メイリオ" panose="020B0604030504040204" pitchFamily="50" charset="-128"/>
              </a:rPr>
              <a:t>で制限、管理ネットワークのみ許可</a:t>
            </a:r>
          </a:p>
          <a:p>
            <a:pPr marL="0" indent="0">
              <a:buNone/>
            </a:pPr>
            <a:r>
              <a:rPr lang="ja-JP" altLang="en-US" sz="3200" dirty="0">
                <a:latin typeface="メイリオ" panose="020B0604030504040204" pitchFamily="50" charset="-128"/>
                <a:ea typeface="メイリオ" panose="020B0604030504040204" pitchFamily="50" charset="-128"/>
              </a:rPr>
              <a:t>許可：</a:t>
            </a:r>
            <a:r>
              <a:rPr lang="en-US" altLang="ja-JP" sz="3200" dirty="0">
                <a:latin typeface="メイリオ" panose="020B0604030504040204" pitchFamily="50" charset="-128"/>
                <a:ea typeface="メイリオ" panose="020B0604030504040204" pitchFamily="50" charset="-128"/>
              </a:rPr>
              <a:t>DB</a:t>
            </a:r>
            <a:r>
              <a:rPr lang="ja-JP" altLang="en-US" sz="3200" dirty="0">
                <a:latin typeface="メイリオ" panose="020B0604030504040204" pitchFamily="50" charset="-128"/>
                <a:ea typeface="メイリオ" panose="020B0604030504040204" pitchFamily="50" charset="-128"/>
              </a:rPr>
              <a:t>サーバー、アプリサーバー</a:t>
            </a:r>
          </a:p>
          <a:p>
            <a:pPr marL="0" indent="0">
              <a:buNone/>
            </a:pPr>
            <a:r>
              <a:rPr lang="ja-JP" altLang="en-US" sz="3200" dirty="0">
                <a:latin typeface="メイリオ" panose="020B0604030504040204" pitchFamily="50" charset="-128"/>
                <a:ea typeface="メイリオ" panose="020B0604030504040204" pitchFamily="50" charset="-128"/>
              </a:rPr>
              <a:t>拒否：インターネット、一般端末</a:t>
            </a:r>
          </a:p>
          <a:p>
            <a:pPr marL="0" indent="0">
              <a:buNone/>
            </a:pPr>
            <a:r>
              <a:rPr lang="ja-JP" altLang="en-US" sz="3200" dirty="0">
                <a:latin typeface="メイリオ" panose="020B0604030504040204" pitchFamily="50" charset="-128"/>
                <a:ea typeface="メイリオ" panose="020B0604030504040204" pitchFamily="50" charset="-128"/>
              </a:rPr>
              <a:t>② 不要な</a:t>
            </a:r>
            <a:r>
              <a:rPr lang="en-US" altLang="ja-JP" sz="3200" dirty="0">
                <a:latin typeface="メイリオ" panose="020B0604030504040204" pitchFamily="50" charset="-128"/>
                <a:ea typeface="メイリオ" panose="020B0604030504040204" pitchFamily="50" charset="-128"/>
              </a:rPr>
              <a:t>Oracle</a:t>
            </a:r>
            <a:r>
              <a:rPr lang="ja-JP" altLang="en-US" sz="3200" dirty="0">
                <a:latin typeface="メイリオ" panose="020B0604030504040204" pitchFamily="50" charset="-128"/>
                <a:ea typeface="メイリオ" panose="020B0604030504040204" pitchFamily="50" charset="-128"/>
              </a:rPr>
              <a:t>サービス停止：</a:t>
            </a:r>
            <a:r>
              <a:rPr lang="en-US" altLang="ja-JP" sz="3200" dirty="0">
                <a:latin typeface="メイリオ" panose="020B0604030504040204" pitchFamily="50" charset="-128"/>
                <a:ea typeface="メイリオ" panose="020B0604030504040204" pitchFamily="50" charset="-128"/>
              </a:rPr>
              <a:t>Oracle XML DB</a:t>
            </a:r>
            <a:r>
              <a:rPr lang="ja-JP" altLang="en-US" sz="3200" dirty="0" err="1">
                <a:latin typeface="メイリオ" panose="020B0604030504040204" pitchFamily="50" charset="-128"/>
                <a:ea typeface="メイリオ" panose="020B0604030504040204" pitchFamily="50" charset="-128"/>
              </a:rPr>
              <a:t>、</a:t>
            </a:r>
            <a:r>
              <a:rPr lang="en-US" altLang="ja-JP" sz="3200" dirty="0">
                <a:latin typeface="メイリオ" panose="020B0604030504040204" pitchFamily="50" charset="-128"/>
                <a:ea typeface="メイリオ" panose="020B0604030504040204" pitchFamily="50" charset="-128"/>
              </a:rPr>
              <a:t>Oracle HTTP Server</a:t>
            </a:r>
            <a:r>
              <a:rPr lang="ja-JP" altLang="en-US" sz="3200" dirty="0" err="1">
                <a:latin typeface="メイリオ" panose="020B0604030504040204" pitchFamily="50" charset="-128"/>
                <a:ea typeface="メイリオ" panose="020B0604030504040204" pitchFamily="50" charset="-128"/>
              </a:rPr>
              <a:t>、</a:t>
            </a:r>
            <a:r>
              <a:rPr lang="ja-JP" altLang="en-US" sz="3200" dirty="0">
                <a:latin typeface="メイリオ" panose="020B0604030504040204" pitchFamily="50" charset="-128"/>
                <a:ea typeface="メイリオ" panose="020B0604030504040204" pitchFamily="50" charset="-128"/>
              </a:rPr>
              <a:t>外部プロシージャ</a:t>
            </a:r>
          </a:p>
          <a:p>
            <a:pPr marL="0" indent="0">
              <a:buNone/>
            </a:pPr>
            <a:r>
              <a:rPr lang="ja-JP" altLang="en-US" sz="3200" dirty="0">
                <a:latin typeface="メイリオ" panose="020B0604030504040204" pitchFamily="50" charset="-128"/>
                <a:ea typeface="メイリオ" panose="020B0604030504040204" pitchFamily="50" charset="-128"/>
              </a:rPr>
              <a:t>③ 権限管理の強化：</a:t>
            </a:r>
            <a:r>
              <a:rPr lang="en-US" altLang="ja-JP" sz="3200" dirty="0">
                <a:latin typeface="メイリオ" panose="020B0604030504040204" pitchFamily="50" charset="-128"/>
                <a:ea typeface="メイリオ" panose="020B0604030504040204" pitchFamily="50" charset="-128"/>
              </a:rPr>
              <a:t>DBA</a:t>
            </a:r>
            <a:r>
              <a:rPr lang="ja-JP" altLang="en-US" sz="3200" dirty="0">
                <a:latin typeface="メイリオ" panose="020B0604030504040204" pitchFamily="50" charset="-128"/>
                <a:ea typeface="メイリオ" panose="020B0604030504040204" pitchFamily="50" charset="-128"/>
              </a:rPr>
              <a:t>権限の最小化、不要なユーザー削除、強力なパスワード設定</a:t>
            </a:r>
          </a:p>
          <a:p>
            <a:pPr marL="0" indent="0">
              <a:buNone/>
            </a:pPr>
            <a:r>
              <a:rPr lang="ja-JP" altLang="en-US" sz="3200" dirty="0">
                <a:latin typeface="メイリオ" panose="020B0604030504040204" pitchFamily="50" charset="-128"/>
                <a:ea typeface="メイリオ" panose="020B0604030504040204" pitchFamily="50" charset="-128"/>
              </a:rPr>
              <a:t>④ </a:t>
            </a:r>
            <a:r>
              <a:rPr lang="en-US" altLang="ja-JP" sz="3200" dirty="0">
                <a:latin typeface="メイリオ" panose="020B0604030504040204" pitchFamily="50" charset="-128"/>
                <a:ea typeface="メイリオ" panose="020B0604030504040204" pitchFamily="50" charset="-128"/>
              </a:rPr>
              <a:t>Oracle Listener</a:t>
            </a:r>
            <a:r>
              <a:rPr lang="ja-JP" altLang="en-US" sz="3200" dirty="0">
                <a:latin typeface="メイリオ" panose="020B0604030504040204" pitchFamily="50" charset="-128"/>
                <a:ea typeface="メイリオ" panose="020B0604030504040204" pitchFamily="50" charset="-128"/>
              </a:rPr>
              <a:t>制限</a:t>
            </a:r>
          </a:p>
          <a:p>
            <a:pPr marL="0" indent="0">
              <a:buNone/>
            </a:pPr>
            <a:r>
              <a:rPr lang="en-US" altLang="ja-JP" sz="3200" dirty="0" err="1">
                <a:latin typeface="メイリオ" panose="020B0604030504040204" pitchFamily="50" charset="-128"/>
                <a:ea typeface="メイリオ" panose="020B0604030504040204" pitchFamily="50" charset="-128"/>
              </a:rPr>
              <a:t>listener.ora</a:t>
            </a:r>
            <a:r>
              <a:rPr lang="en-US" altLang="ja-JP" sz="3200" dirty="0">
                <a:latin typeface="メイリオ" panose="020B0604030504040204" pitchFamily="50" charset="-128"/>
                <a:ea typeface="メイリオ" panose="020B0604030504040204" pitchFamily="50" charset="-128"/>
              </a:rPr>
              <a:t> </a:t>
            </a:r>
            <a:r>
              <a:rPr lang="ja-JP" altLang="en-US" sz="3200" dirty="0" err="1">
                <a:latin typeface="メイリオ" panose="020B0604030504040204" pitchFamily="50" charset="-128"/>
                <a:ea typeface="メイリオ" panose="020B0604030504040204" pitchFamily="50" charset="-128"/>
              </a:rPr>
              <a:t>にて</a:t>
            </a:r>
            <a:r>
              <a:rPr lang="ja-JP" altLang="en-US" sz="3200" dirty="0">
                <a:latin typeface="メイリオ" panose="020B0604030504040204" pitchFamily="50" charset="-128"/>
                <a:ea typeface="メイリオ" panose="020B0604030504040204" pitchFamily="50" charset="-128"/>
              </a:rPr>
              <a:t>制限：</a:t>
            </a: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ADMIN_RESTRICTIONS_LISTENER=ON</a:t>
            </a:r>
          </a:p>
          <a:p>
            <a:pPr marL="0" indent="0">
              <a:buNone/>
            </a:pPr>
            <a:r>
              <a:rPr lang="en-US" altLang="ja-JP" sz="3200" dirty="0">
                <a:highlight>
                  <a:srgbClr val="C0C0C0"/>
                </a:highlight>
                <a:latin typeface="メイリオ" panose="020B0604030504040204" pitchFamily="50" charset="-128"/>
                <a:ea typeface="メイリオ" panose="020B0604030504040204" pitchFamily="50" charset="-128"/>
              </a:rPr>
              <a:t>VALID_NODE_CHECKING_REGISTRATION=ON</a:t>
            </a:r>
          </a:p>
          <a:p>
            <a:pPr marL="0" indent="0">
              <a:buNone/>
            </a:pPr>
            <a:endParaRPr kumimoji="1" lang="ja-JP" altLang="en-US" dirty="0"/>
          </a:p>
        </p:txBody>
      </p:sp>
    </p:spTree>
    <p:extLst>
      <p:ext uri="{BB962C8B-B14F-4D97-AF65-F5344CB8AC3E}">
        <p14:creationId xmlns:p14="http://schemas.microsoft.com/office/powerpoint/2010/main" val="4278958741"/>
      </p:ext>
    </p:extLst>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headEnd type="none" w="med" len="med"/>
          <a:tailEnd type="arrow" w="med" len="med"/>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ＭＳ ゴシック"/>
        <a:ea typeface="ＭＳ ゴシック"/>
        <a:cs typeface=""/>
      </a:majorFont>
      <a:minorFont>
        <a:latin typeface="ＭＳ 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lstStyle>
        <a:defPPr algn="l">
          <a:defRPr kumimoji="1" sz="12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none" rtlCol="0">
        <a:spAutoFit/>
      </a:bodyPr>
      <a:lstStyle>
        <a:defPPr algn="l">
          <a:defRPr kumimoji="1"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6858</TotalTime>
  <Words>5904</Words>
  <Application>Microsoft Office PowerPoint</Application>
  <PresentationFormat>ワイド画面</PresentationFormat>
  <Paragraphs>1185</Paragraphs>
  <Slides>22</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8</vt:i4>
      </vt:variant>
      <vt:variant>
        <vt:lpstr>スライド タイトル</vt:lpstr>
      </vt:variant>
      <vt:variant>
        <vt:i4>22</vt:i4>
      </vt:variant>
    </vt:vector>
  </HeadingPairs>
  <TitlesOfParts>
    <vt:vector size="41" baseType="lpstr">
      <vt:lpstr>HGｺﾞｼｯｸM</vt:lpstr>
      <vt:lpstr>ＭＳ Ｐゴシック</vt:lpstr>
      <vt:lpstr>ＭＳ ゴシック</vt:lpstr>
      <vt:lpstr>ＭＳ 明朝</vt:lpstr>
      <vt:lpstr>メイリオ</vt:lpstr>
      <vt:lpstr>遊ゴシック</vt:lpstr>
      <vt:lpstr>游ゴシック</vt:lpstr>
      <vt:lpstr>Arial</vt:lpstr>
      <vt:lpstr>Arial Black</vt:lpstr>
      <vt:lpstr>Century</vt:lpstr>
      <vt:lpstr>Times New Roman</vt:lpstr>
      <vt:lpstr>1_デザインの設定</vt:lpstr>
      <vt:lpstr>デザインの設定</vt:lpstr>
      <vt:lpstr>2_デザインの設定</vt:lpstr>
      <vt:lpstr>3_デザインの設定</vt:lpstr>
      <vt:lpstr>4_デザインの設定</vt:lpstr>
      <vt:lpstr>5_デザインの設定</vt:lpstr>
      <vt:lpstr>3_Office テーマ</vt:lpstr>
      <vt:lpstr>6_デザインの設定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APT４１</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Juniper Networks Junos OS 20.4R3-S3.4 脆弱性</vt:lpstr>
      <vt:lpstr>NEC UNIVERGE IX2207 OS 10.6.63 の脆弱性</vt:lpstr>
      <vt:lpstr>Ｌ２ＳＷ　なし</vt:lpstr>
      <vt:lpstr>ＳＲ　なし</vt:lpstr>
      <vt:lpstr>Windows Server 2019 Standard OS 10.0.17763.3770の脆弱性</vt:lpstr>
      <vt:lpstr>Windows 10 Enterprise LTSC 10.0.17763.3287</vt:lpstr>
      <vt:lpstr>Red Hat Enterprise Linux 8.5</vt:lpstr>
      <vt:lpstr>Oracle WebLogic Server 14.1.1</vt:lpstr>
      <vt:lpstr>Oracle Database 19c Standard Edition 2 19.0.0.0.0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A1251715</cp:lastModifiedBy>
  <cp:revision>360</cp:revision>
  <cp:lastPrinted>2025-09-22T07:38:57Z</cp:lastPrinted>
  <dcterms:created xsi:type="dcterms:W3CDTF">2025-07-06T05:53:21Z</dcterms:created>
  <dcterms:modified xsi:type="dcterms:W3CDTF">2026-02-17T04:39:09Z</dcterms:modified>
</cp:coreProperties>
</file>