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5"/>
  </p:notesMasterIdLst>
  <p:handoutMasterIdLst>
    <p:handoutMasterId r:id="rId116"/>
  </p:handoutMasterIdLst>
  <p:sldIdLst>
    <p:sldId id="264" r:id="rId2"/>
    <p:sldId id="265" r:id="rId3"/>
    <p:sldId id="372" r:id="rId4"/>
    <p:sldId id="373" r:id="rId5"/>
    <p:sldId id="625" r:id="rId6"/>
    <p:sldId id="627" r:id="rId7"/>
    <p:sldId id="628" r:id="rId8"/>
    <p:sldId id="629" r:id="rId9"/>
    <p:sldId id="630" r:id="rId10"/>
    <p:sldId id="631" r:id="rId11"/>
    <p:sldId id="632" r:id="rId12"/>
    <p:sldId id="633" r:id="rId13"/>
    <p:sldId id="634" r:id="rId14"/>
    <p:sldId id="637" r:id="rId15"/>
    <p:sldId id="635" r:id="rId16"/>
    <p:sldId id="636" r:id="rId17"/>
    <p:sldId id="638" r:id="rId18"/>
    <p:sldId id="639" r:id="rId19"/>
    <p:sldId id="640" r:id="rId20"/>
    <p:sldId id="641" r:id="rId21"/>
    <p:sldId id="642" r:id="rId22"/>
    <p:sldId id="644" r:id="rId23"/>
    <p:sldId id="645" r:id="rId24"/>
    <p:sldId id="646" r:id="rId25"/>
    <p:sldId id="647" r:id="rId26"/>
    <p:sldId id="651" r:id="rId27"/>
    <p:sldId id="648" r:id="rId28"/>
    <p:sldId id="649" r:id="rId29"/>
    <p:sldId id="650" r:id="rId30"/>
    <p:sldId id="652" r:id="rId31"/>
    <p:sldId id="653" r:id="rId32"/>
    <p:sldId id="654" r:id="rId33"/>
    <p:sldId id="655" r:id="rId34"/>
    <p:sldId id="656" r:id="rId35"/>
    <p:sldId id="657" r:id="rId36"/>
    <p:sldId id="658" r:id="rId37"/>
    <p:sldId id="659" r:id="rId38"/>
    <p:sldId id="661" r:id="rId39"/>
    <p:sldId id="665" r:id="rId40"/>
    <p:sldId id="662" r:id="rId41"/>
    <p:sldId id="663" r:id="rId42"/>
    <p:sldId id="664" r:id="rId43"/>
    <p:sldId id="666" r:id="rId44"/>
    <p:sldId id="667" r:id="rId45"/>
    <p:sldId id="668" r:id="rId46"/>
    <p:sldId id="669" r:id="rId47"/>
    <p:sldId id="670" r:id="rId48"/>
    <p:sldId id="671" r:id="rId49"/>
    <p:sldId id="672" r:id="rId50"/>
    <p:sldId id="673" r:id="rId51"/>
    <p:sldId id="674" r:id="rId52"/>
    <p:sldId id="675" r:id="rId53"/>
    <p:sldId id="676" r:id="rId54"/>
    <p:sldId id="677" r:id="rId55"/>
    <p:sldId id="678" r:id="rId56"/>
    <p:sldId id="679" r:id="rId57"/>
    <p:sldId id="680" r:id="rId58"/>
    <p:sldId id="681" r:id="rId59"/>
    <p:sldId id="682" r:id="rId60"/>
    <p:sldId id="683" r:id="rId61"/>
    <p:sldId id="684" r:id="rId62"/>
    <p:sldId id="685" r:id="rId63"/>
    <p:sldId id="686" r:id="rId64"/>
    <p:sldId id="687" r:id="rId65"/>
    <p:sldId id="688" r:id="rId66"/>
    <p:sldId id="689" r:id="rId67"/>
    <p:sldId id="690" r:id="rId68"/>
    <p:sldId id="691" r:id="rId69"/>
    <p:sldId id="692" r:id="rId70"/>
    <p:sldId id="693" r:id="rId71"/>
    <p:sldId id="736" r:id="rId72"/>
    <p:sldId id="694" r:id="rId73"/>
    <p:sldId id="695" r:id="rId74"/>
    <p:sldId id="696" r:id="rId75"/>
    <p:sldId id="697" r:id="rId76"/>
    <p:sldId id="698" r:id="rId77"/>
    <p:sldId id="699" r:id="rId78"/>
    <p:sldId id="700" r:id="rId79"/>
    <p:sldId id="701" r:id="rId80"/>
    <p:sldId id="702" r:id="rId81"/>
    <p:sldId id="703" r:id="rId82"/>
    <p:sldId id="704" r:id="rId83"/>
    <p:sldId id="705" r:id="rId84"/>
    <p:sldId id="706" r:id="rId85"/>
    <p:sldId id="707" r:id="rId86"/>
    <p:sldId id="708" r:id="rId87"/>
    <p:sldId id="709" r:id="rId88"/>
    <p:sldId id="710" r:id="rId89"/>
    <p:sldId id="711" r:id="rId90"/>
    <p:sldId id="712" r:id="rId91"/>
    <p:sldId id="713" r:id="rId92"/>
    <p:sldId id="714" r:id="rId93"/>
    <p:sldId id="715" r:id="rId94"/>
    <p:sldId id="716" r:id="rId95"/>
    <p:sldId id="717" r:id="rId96"/>
    <p:sldId id="718" r:id="rId97"/>
    <p:sldId id="719" r:id="rId98"/>
    <p:sldId id="720" r:id="rId99"/>
    <p:sldId id="721" r:id="rId100"/>
    <p:sldId id="722" r:id="rId101"/>
    <p:sldId id="723" r:id="rId102"/>
    <p:sldId id="724" r:id="rId103"/>
    <p:sldId id="725" r:id="rId104"/>
    <p:sldId id="726" r:id="rId105"/>
    <p:sldId id="727" r:id="rId106"/>
    <p:sldId id="728" r:id="rId107"/>
    <p:sldId id="729" r:id="rId108"/>
    <p:sldId id="730" r:id="rId109"/>
    <p:sldId id="731" r:id="rId110"/>
    <p:sldId id="732" r:id="rId111"/>
    <p:sldId id="733" r:id="rId112"/>
    <p:sldId id="734" r:id="rId113"/>
    <p:sldId id="735" r:id="rId114"/>
  </p:sldIdLst>
  <p:sldSz cx="6858000" cy="12192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5904" autoAdjust="0"/>
  </p:normalViewPr>
  <p:slideViewPr>
    <p:cSldViewPr snapToGrid="0">
      <p:cViewPr varScale="1">
        <p:scale>
          <a:sx n="33" d="100"/>
          <a:sy n="33" d="100"/>
        </p:scale>
        <p:origin x="2460" y="4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22"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D61A3E-AC6E-4B60-95A4-C1B3371851F9}" type="datetimeFigureOut">
              <a:rPr kumimoji="1" lang="ja-JP" altLang="en-US" smtClean="0"/>
              <a:t>2026/3/9</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90A3E0-14E8-4BE6-85AB-5C5385A62A44}"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34F6E-DEEE-400C-92A1-19923C75B907}" type="datetimeFigureOut">
              <a:rPr kumimoji="1" lang="ja-JP" altLang="en-US" smtClean="0"/>
              <a:t>2026/3/9</a:t>
            </a:fld>
            <a:endParaRPr kumimoji="1" lang="ja-JP" altLang="en-US"/>
          </a:p>
        </p:txBody>
      </p:sp>
      <p:sp>
        <p:nvSpPr>
          <p:cNvPr id="4" name="スライド イメージ プレースホルダー 3"/>
          <p:cNvSpPr>
            <a:spLocks noGrp="1" noRot="1" noChangeAspect="1"/>
          </p:cNvSpPr>
          <p:nvPr>
            <p:ph type="sldImg" idx="2"/>
          </p:nvPr>
        </p:nvSpPr>
        <p:spPr>
          <a:xfrm>
            <a:off x="2561120" y="1143000"/>
            <a:ext cx="173576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23A1E1-D89E-4D9F-ACC7-724568FAD569}"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560638" y="1143000"/>
            <a:ext cx="1736725" cy="30861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D23A1E1-D89E-4D9F-ACC7-724568FAD569}" type="slidenum">
              <a:rPr kumimoji="1" lang="ja-JP" altLang="en-US" smtClean="0"/>
              <a:t>74</a:t>
            </a:fld>
            <a:endParaRPr kumimoji="1" lang="ja-JP" altLang="en-US"/>
          </a:p>
        </p:txBody>
      </p:sp>
    </p:spTree>
    <p:extLst>
      <p:ext uri="{BB962C8B-B14F-4D97-AF65-F5344CB8AC3E}">
        <p14:creationId xmlns:p14="http://schemas.microsoft.com/office/powerpoint/2010/main" val="343726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560638" y="1143000"/>
            <a:ext cx="1736725" cy="30861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D23A1E1-D89E-4D9F-ACC7-724568FAD569}" type="slidenum">
              <a:rPr kumimoji="1" lang="ja-JP" altLang="en-US" smtClean="0"/>
              <a:t>84</a:t>
            </a:fld>
            <a:endParaRPr kumimoji="1" lang="ja-JP" altLang="en-US"/>
          </a:p>
        </p:txBody>
      </p:sp>
    </p:spTree>
    <p:extLst>
      <p:ext uri="{BB962C8B-B14F-4D97-AF65-F5344CB8AC3E}">
        <p14:creationId xmlns:p14="http://schemas.microsoft.com/office/powerpoint/2010/main" val="1390668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857250" y="1995508"/>
            <a:ext cx="5143500" cy="4245040"/>
          </a:xfrm>
        </p:spPr>
        <p:txBody>
          <a:bodyPr anchor="b"/>
          <a:lstStyle>
            <a:lvl1pPr algn="ctr">
              <a:defRPr sz="4500"/>
            </a:lvl1pPr>
          </a:lstStyle>
          <a:p>
            <a:r>
              <a:rPr kumimoji="1" lang="ja-JP" altLang="en-US"/>
              <a:t>マスター タイトルの書式設定</a:t>
            </a:r>
          </a:p>
        </p:txBody>
      </p:sp>
      <p:sp>
        <p:nvSpPr>
          <p:cNvPr id="3" name="サブタイトル 2"/>
          <p:cNvSpPr>
            <a:spLocks noGrp="1"/>
          </p:cNvSpPr>
          <p:nvPr>
            <p:ph type="subTitle" idx="1"/>
          </p:nvPr>
        </p:nvSpPr>
        <p:spPr>
          <a:xfrm>
            <a:off x="857250" y="6404254"/>
            <a:ext cx="5143500" cy="294386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467916" y="3039834"/>
            <a:ext cx="5915025" cy="5072032"/>
          </a:xfrm>
        </p:spPr>
        <p:txBody>
          <a:bodyPr anchor="b"/>
          <a:lstStyle>
            <a:lvl1pPr>
              <a:defRPr sz="45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67916" y="8159849"/>
            <a:ext cx="5915025" cy="2667262"/>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71488" y="3245875"/>
            <a:ext cx="2914650" cy="773647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3471863" y="3245875"/>
            <a:ext cx="2914650" cy="773647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14C5B98E-B881-44C6-965E-C4CBF4BD5DE0}" type="datetimeFigureOut">
              <a:rPr kumimoji="1" lang="ja-JP" altLang="en-US" smtClean="0"/>
              <a:t>2026/3/9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72381" y="649175"/>
            <a:ext cx="5915025" cy="2356788"/>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72381" y="2989029"/>
            <a:ext cx="2901255" cy="146487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72381" y="4453905"/>
            <a:ext cx="2901255" cy="655102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3471863" y="2989029"/>
            <a:ext cx="2915543" cy="146487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3471863" y="4453905"/>
            <a:ext cx="2915543" cy="655102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14C5B98E-B881-44C6-965E-C4CBF4BD5DE0}" type="datetimeFigureOut">
              <a:rPr kumimoji="1" lang="ja-JP" altLang="en-US" smtClean="0"/>
              <a:t>2026/3/9</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14C5B98E-B881-44C6-965E-C4CBF4BD5DE0}" type="datetimeFigureOut">
              <a:rPr kumimoji="1" lang="ja-JP" altLang="en-US" smtClean="0"/>
              <a:t>2026/3/9</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14C5B98E-B881-44C6-965E-C4CBF4BD5DE0}" type="datetimeFigureOut">
              <a:rPr kumimoji="1" lang="ja-JP" altLang="en-US" smtClean="0"/>
              <a:t>2026/3/9</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472381" y="812880"/>
            <a:ext cx="2211883" cy="2845080"/>
          </a:xfrm>
        </p:spPr>
        <p:txBody>
          <a:bodyPr anchor="b"/>
          <a:lstStyle>
            <a:lvl1pPr>
              <a:defRPr sz="2400"/>
            </a:lvl1pPr>
          </a:lstStyle>
          <a:p>
            <a:r>
              <a:rPr kumimoji="1" lang="ja-JP" altLang="en-US"/>
              <a:t>マスター タイトルの書式設定</a:t>
            </a:r>
          </a:p>
        </p:txBody>
      </p:sp>
      <p:sp>
        <p:nvSpPr>
          <p:cNvPr id="3" name="図プレースホルダー 2"/>
          <p:cNvSpPr>
            <a:spLocks noGrp="1"/>
          </p:cNvSpPr>
          <p:nvPr>
            <p:ph type="pic" idx="1"/>
          </p:nvPr>
        </p:nvSpPr>
        <p:spPr>
          <a:xfrm>
            <a:off x="2915543" y="1755595"/>
            <a:ext cx="3471863" cy="866507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p:cNvSpPr>
            <a:spLocks noGrp="1"/>
          </p:cNvSpPr>
          <p:nvPr>
            <p:ph type="body" sz="half" idx="2"/>
          </p:nvPr>
        </p:nvSpPr>
        <p:spPr>
          <a:xfrm>
            <a:off x="472381" y="3657960"/>
            <a:ext cx="2211883" cy="677682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14C5B98E-B881-44C6-965E-C4CBF4BD5DE0}" type="datetimeFigureOut">
              <a:rPr kumimoji="1" lang="ja-JP" altLang="en-US" smtClean="0"/>
              <a:t>2026/3/9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orient="vert"/>
          </p:nvPr>
        </p:nvSpPr>
        <p:spPr>
          <a:xfrm>
            <a:off x="5526272" y="649175"/>
            <a:ext cx="860240" cy="10333174"/>
          </a:xfrm>
        </p:spPr>
        <p:txBody>
          <a:bodyPr vert="eaVert">
            <a:normAutofit/>
          </a:bodyPr>
          <a:lstStyle>
            <a:lvl1pPr>
              <a:defRPr sz="3300"/>
            </a:lvl1pPr>
          </a:lstStyle>
          <a:p>
            <a:r>
              <a:rPr lang="ja-JP"/>
              <a:t>マスター タイトルの書式設定</a:t>
            </a:r>
          </a:p>
        </p:txBody>
      </p:sp>
      <p:sp>
        <p:nvSpPr>
          <p:cNvPr id="3" name="縦書きテキスト プレースホルダー 2"/>
          <p:cNvSpPr>
            <a:spLocks noGrp="1"/>
          </p:cNvSpPr>
          <p:nvPr>
            <p:ph type="body" orient="vert" idx="1"/>
          </p:nvPr>
        </p:nvSpPr>
        <p:spPr>
          <a:xfrm>
            <a:off x="471488" y="649175"/>
            <a:ext cx="4994976" cy="10333174"/>
          </a:xfrm>
        </p:spPr>
        <p:txBody>
          <a:bodyPr vert="eaVert"/>
          <a:lstStyle>
            <a:lvl1pPr marL="171450" indent="-171450">
              <a:defRPr kumimoji="1" lang="ja-JP" altLang="en-US" sz="2100" kern="1200" dirty="0" smtClean="0">
                <a:solidFill>
                  <a:schemeClr val="tx1"/>
                </a:solidFill>
                <a:latin typeface="+mn-lt"/>
                <a:ea typeface="+mn-ea"/>
                <a:cs typeface="+mn-cs"/>
              </a:defRPr>
            </a:lvl1pPr>
            <a:lvl2pPr marL="514350" indent="-171450">
              <a:defRPr kumimoji="1" lang="ja-JP" altLang="en-US" sz="1800" kern="1200" dirty="0" smtClean="0">
                <a:solidFill>
                  <a:schemeClr val="tx1"/>
                </a:solidFill>
                <a:latin typeface="+mn-lt"/>
                <a:ea typeface="+mn-ea"/>
                <a:cs typeface="+mn-cs"/>
              </a:defRPr>
            </a:lvl2pPr>
            <a:lvl3pPr marL="857250" indent="-171450">
              <a:defRPr kumimoji="1" lang="ja-JP" altLang="en-US" sz="1500" kern="1200" dirty="0" smtClean="0">
                <a:solidFill>
                  <a:schemeClr val="tx1"/>
                </a:solidFill>
                <a:latin typeface="+mn-lt"/>
                <a:ea typeface="+mn-ea"/>
                <a:cs typeface="+mn-cs"/>
              </a:defRPr>
            </a:lvl3pPr>
            <a:lvl4pPr marL="1200150" indent="-171450">
              <a:defRPr kumimoji="1" lang="ja-JP" altLang="en-US" sz="1350" kern="1200" dirty="0" smtClean="0">
                <a:solidFill>
                  <a:schemeClr val="tx1"/>
                </a:solidFill>
                <a:latin typeface="+mn-lt"/>
                <a:ea typeface="+mn-ea"/>
                <a:cs typeface="+mn-cs"/>
              </a:defRPr>
            </a:lvl4pPr>
            <a:lvl5pPr marL="1543050" indent="-171450">
              <a:defRPr kumimoji="1" lang="ja-JP" altLang="en-US" sz="1350" kern="1200" dirty="0">
                <a:solidFill>
                  <a:schemeClr val="tx1"/>
                </a:solidFill>
                <a:latin typeface="+mn-lt"/>
                <a:ea typeface="+mn-ea"/>
                <a:cs typeface="+mn-cs"/>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kumimoji="1" lang="ja-JP" altLang="en-US" dirty="0"/>
              <a:t>マスター テキストの書式設定</a:t>
            </a:r>
          </a:p>
          <a:p>
            <a:pPr marL="685800" lvl="1" indent="-228600" algn="l" defTabSz="914400" rtl="0" eaLnBrk="1" latinLnBrk="0" hangingPunct="1">
              <a:lnSpc>
                <a:spcPct val="90000"/>
              </a:lnSpc>
              <a:spcBef>
                <a:spcPts val="500"/>
              </a:spcBef>
              <a:buFont typeface="Arial" panose="020B0604020202020204" pitchFamily="34" charset="0"/>
              <a:buChar char="•"/>
            </a:pPr>
            <a:r>
              <a:rPr kumimoji="1" lang="ja-JP" altLang="en-US" dirty="0"/>
              <a:t>第 2 レベル</a:t>
            </a:r>
          </a:p>
          <a:p>
            <a:pPr marL="1143000" lvl="2"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3 </a:t>
            </a:r>
            <a:r>
              <a:rPr kumimoji="1" lang="ja-JP" altLang="en-US" dirty="0"/>
              <a:t>レベル</a:t>
            </a:r>
          </a:p>
          <a:p>
            <a:pPr marL="1600200" lvl="3"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4 </a:t>
            </a:r>
            <a:r>
              <a:rPr kumimoji="1" lang="ja-JP" altLang="en-US" dirty="0"/>
              <a:t>レベル</a:t>
            </a:r>
          </a:p>
          <a:p>
            <a:pPr marL="2057400" lvl="4"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5 </a:t>
            </a:r>
            <a:r>
              <a:rPr kumimoji="1" lang="ja-JP" altLang="en-US" dirty="0"/>
              <a:t>レベル</a:t>
            </a:r>
          </a:p>
        </p:txBody>
      </p:sp>
      <p:sp>
        <p:nvSpPr>
          <p:cNvPr id="4" name="Date Placeholder 3"/>
          <p:cNvSpPr>
            <a:spLocks noGrp="1"/>
          </p:cNvSpPr>
          <p:nvPr>
            <p:ph type="dt" sz="half" idx="10"/>
          </p:nvPr>
        </p:nvSpPr>
        <p:spPr/>
        <p:txBody>
          <a:bodyPr/>
          <a:lstStyle/>
          <a:p>
            <a:fld id="{760FBDFE-C587-4B4C-A407-44438C67B59E}" type="datetimeFigureOut">
              <a:rPr lang="en-US" altLang="ja-JP" smtClean="0"/>
              <a:t>3/9/2026</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49AE70B2-8BF9-45C0-BB95-33D1B9D3A854}" type="slidenum">
              <a:rPr lang="en-US" altLang="ja-JP" smtClean="0"/>
              <a:t>‹#›</a:t>
            </a:fld>
            <a:endParaRPr lang="ja-JP"/>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fld id="{760FBDFE-C587-4B4C-A407-44438C67B59E}" type="datetimeFigureOut">
              <a:rPr lang="en-US" smtClean="0"/>
              <a:t>3/9/2026</a:t>
            </a:fld>
            <a:endParaRPr lang="en-US"/>
          </a:p>
        </p:txBody>
      </p:sp>
      <p:sp>
        <p:nvSpPr>
          <p:cNvPr id="4" name="フッター プレースホルダー 3"/>
          <p:cNvSpPr>
            <a:spLocks noGrp="1"/>
          </p:cNvSpPr>
          <p:nvPr>
            <p:ph type="ftr" sz="quarter" idx="11"/>
          </p:nvPr>
        </p:nvSpPr>
        <p:spPr/>
        <p:txBody>
          <a:bodyPr/>
          <a:lstStyle/>
          <a:p>
            <a:r>
              <a:rPr lang="en-US"/>
              <a:t>フッター</a:t>
            </a:r>
          </a:p>
        </p:txBody>
      </p:sp>
      <p:sp>
        <p:nvSpPr>
          <p:cNvPr id="5" name="スライド番号プレースホルダー 4"/>
          <p:cNvSpPr>
            <a:spLocks noGrp="1"/>
          </p:cNvSpPr>
          <p:nvPr>
            <p:ph type="sldNum" sz="quarter" idx="12"/>
          </p:nvPr>
        </p:nvSpPr>
        <p:spPr/>
        <p:txBody>
          <a:bodyPr/>
          <a:lstStyle/>
          <a:p>
            <a:fld id="{49AE70B2-8BF9-45C0-BB95-33D1B9D3A854}" type="slidenum">
              <a:rPr lang="en-US" smtClean="0"/>
              <a:t>‹#›</a:t>
            </a:fld>
            <a:endParaRPr lang="en-US"/>
          </a:p>
        </p:txBody>
      </p:sp>
      <p:sp>
        <p:nvSpPr>
          <p:cNvPr id="7" name="コンテンツ プレースホルダー 6"/>
          <p:cNvSpPr>
            <a:spLocks noGrp="1"/>
          </p:cNvSpPr>
          <p:nvPr>
            <p:ph sz="quarter" idx="13"/>
          </p:nvPr>
        </p:nvSpPr>
        <p:spPr>
          <a:xfrm>
            <a:off x="471488" y="980617"/>
            <a:ext cx="5915025" cy="9883588"/>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71488" y="649175"/>
            <a:ext cx="5915025" cy="2356788"/>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71488" y="3245875"/>
            <a:ext cx="5915025" cy="773647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71488" y="11301291"/>
            <a:ext cx="1543050" cy="649175"/>
          </a:xfrm>
          <a:prstGeom prst="rect">
            <a:avLst/>
          </a:prstGeom>
        </p:spPr>
        <p:txBody>
          <a:bodyPr vert="horz" lIns="91440" tIns="45720" rIns="91440" bIns="45720" rtlCol="0" anchor="ctr"/>
          <a:lstStyle>
            <a:lvl1pPr algn="l">
              <a:defRPr sz="900">
                <a:solidFill>
                  <a:schemeClr val="tx1">
                    <a:tint val="75000"/>
                  </a:schemeClr>
                </a:solidFill>
              </a:defRPr>
            </a:lvl1pPr>
          </a:lstStyle>
          <a:p>
            <a:fld id="{14C5B98E-B881-44C6-965E-C4CBF4BD5DE0}" type="datetimeFigureOut">
              <a:rPr kumimoji="1" lang="ja-JP" altLang="en-US" smtClean="0"/>
              <a:t>2026/3/9</a:t>
            </a:fld>
            <a:endParaRPr kumimoji="1" lang="ja-JP" altLang="en-US"/>
          </a:p>
        </p:txBody>
      </p:sp>
      <p:sp>
        <p:nvSpPr>
          <p:cNvPr id="5" name="フッター プレースホルダー 4"/>
          <p:cNvSpPr>
            <a:spLocks noGrp="1"/>
          </p:cNvSpPr>
          <p:nvPr>
            <p:ph type="ftr" sz="quarter" idx="3"/>
          </p:nvPr>
        </p:nvSpPr>
        <p:spPr>
          <a:xfrm>
            <a:off x="2271713" y="11301291"/>
            <a:ext cx="2314575" cy="64917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4843463" y="11301291"/>
            <a:ext cx="1543050" cy="649175"/>
          </a:xfrm>
          <a:prstGeom prst="rect">
            <a:avLst/>
          </a:prstGeom>
        </p:spPr>
        <p:txBody>
          <a:bodyPr vert="horz" lIns="91440" tIns="45720" rIns="91440" bIns="45720" rtlCol="0" anchor="ctr"/>
          <a:lstStyle>
            <a:lvl1pPr algn="r">
              <a:defRPr sz="900">
                <a:solidFill>
                  <a:schemeClr val="tx1">
                    <a:tint val="75000"/>
                  </a:schemeClr>
                </a:solidFill>
              </a:defRPr>
            </a:lvl1pPr>
          </a:lstStyle>
          <a:p>
            <a:fld id="{B261B85B-3F11-4807-BF0A-089ABAB91E6D}"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プレースホルダ 2"/>
          <p:cNvSpPr>
            <a:spLocks noGrp="1"/>
          </p:cNvSpPr>
          <p:nvPr>
            <p:ph idx="1"/>
          </p:nvPr>
        </p:nvSpPr>
        <p:spPr/>
        <p:txBody>
          <a:bodyPr/>
          <a:lstStyle/>
          <a:p>
            <a:pPr marL="0" indent="0">
              <a:buNone/>
            </a:pPr>
            <a:r>
              <a:rPr lang="ja-JP" altLang="en-US"/>
              <a:t>空</a:t>
            </a:r>
          </a:p>
        </p:txBody>
      </p:sp>
      <p:pic>
        <p:nvPicPr>
          <p:cNvPr id="4" name="図形 3"/>
          <p:cNvPicPr>
            <a:picLocks noChangeAspect="1"/>
          </p:cNvPicPr>
          <p:nvPr/>
        </p:nvPicPr>
        <p:blipFill>
          <a:blip r:embed="rId2"/>
          <a:stretch>
            <a:fillRect/>
          </a:stretch>
        </p:blipFill>
        <p:spPr>
          <a:xfrm>
            <a:off x="273050" y="170815"/>
            <a:ext cx="6313170" cy="35852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プレースホルダ 2"/>
          <p:cNvSpPr>
            <a:spLocks noGrp="1"/>
          </p:cNvSpPr>
          <p:nvPr>
            <p:ph idx="1"/>
          </p:nvPr>
        </p:nvSpPr>
        <p:spPr>
          <a:xfrm>
            <a:off x="471487" y="4329608"/>
            <a:ext cx="5915025" cy="7736474"/>
          </a:xfrm>
        </p:spPr>
        <p:txBody>
          <a:bodyPr/>
          <a:lstStyle/>
          <a:p>
            <a:pPr marL="0" indent="0">
              <a:buNone/>
            </a:pPr>
            <a:r>
              <a:rPr lang="ja-JP" altLang="en-US" dirty="0"/>
              <a:t>空</a:t>
            </a:r>
          </a:p>
        </p:txBody>
      </p:sp>
      <p:pic>
        <p:nvPicPr>
          <p:cNvPr id="4" name="図 3">
            <a:extLst>
              <a:ext uri="{FF2B5EF4-FFF2-40B4-BE49-F238E27FC236}">
                <a16:creationId xmlns:a16="http://schemas.microsoft.com/office/drawing/2014/main" id="{82EA91AF-5D24-4535-B565-B84026EA1D45}"/>
              </a:ext>
            </a:extLst>
          </p:cNvPr>
          <p:cNvPicPr>
            <a:picLocks noChangeAspect="1"/>
          </p:cNvPicPr>
          <p:nvPr/>
        </p:nvPicPr>
        <p:blipFill>
          <a:blip r:embed="rId2"/>
          <a:stretch>
            <a:fillRect/>
          </a:stretch>
        </p:blipFill>
        <p:spPr>
          <a:xfrm>
            <a:off x="306421" y="125918"/>
            <a:ext cx="6245158" cy="35364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プレースホルダ 2"/>
          <p:cNvSpPr>
            <a:spLocks noGrp="1"/>
          </p:cNvSpPr>
          <p:nvPr>
            <p:ph idx="1"/>
          </p:nvPr>
        </p:nvSpPr>
        <p:spPr>
          <a:xfrm>
            <a:off x="471487" y="4455526"/>
            <a:ext cx="5915025" cy="7736474"/>
          </a:xfrm>
        </p:spPr>
        <p:txBody>
          <a:bodyPr/>
          <a:lstStyle/>
          <a:p>
            <a:pPr marL="0" indent="0">
              <a:buNone/>
            </a:pPr>
            <a:r>
              <a:rPr lang="ja-JP" altLang="en-US"/>
              <a:t>空</a:t>
            </a:r>
          </a:p>
        </p:txBody>
      </p:sp>
      <p:pic>
        <p:nvPicPr>
          <p:cNvPr id="4" name="図 3">
            <a:extLst>
              <a:ext uri="{FF2B5EF4-FFF2-40B4-BE49-F238E27FC236}">
                <a16:creationId xmlns:a16="http://schemas.microsoft.com/office/drawing/2014/main" id="{22E04580-848C-4E79-AC5D-9FF0E830CA89}"/>
              </a:ext>
            </a:extLst>
          </p:cNvPr>
          <p:cNvPicPr>
            <a:picLocks noChangeAspect="1"/>
          </p:cNvPicPr>
          <p:nvPr/>
        </p:nvPicPr>
        <p:blipFill>
          <a:blip r:embed="rId2"/>
          <a:stretch>
            <a:fillRect/>
          </a:stretch>
        </p:blipFill>
        <p:spPr>
          <a:xfrm>
            <a:off x="235743" y="151898"/>
            <a:ext cx="6386512" cy="36116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プレースホルダ 2"/>
          <p:cNvSpPr>
            <a:spLocks noGrp="1"/>
          </p:cNvSpPr>
          <p:nvPr>
            <p:ph idx="1"/>
          </p:nvPr>
        </p:nvSpPr>
        <p:spPr>
          <a:xfrm>
            <a:off x="471487" y="4261875"/>
            <a:ext cx="5915025" cy="7736474"/>
          </a:xfrm>
        </p:spPr>
        <p:txBody>
          <a:bodyPr/>
          <a:lstStyle/>
          <a:p>
            <a:pPr marL="0" indent="0">
              <a:buNone/>
            </a:pPr>
            <a:r>
              <a:rPr lang="ja-JP" altLang="en-US"/>
              <a:t>空</a:t>
            </a:r>
          </a:p>
        </p:txBody>
      </p:sp>
      <p:pic>
        <p:nvPicPr>
          <p:cNvPr id="4" name="図 3">
            <a:extLst>
              <a:ext uri="{FF2B5EF4-FFF2-40B4-BE49-F238E27FC236}">
                <a16:creationId xmlns:a16="http://schemas.microsoft.com/office/drawing/2014/main" id="{12497E3A-FB18-45F9-B437-71911B1289DC}"/>
              </a:ext>
            </a:extLst>
          </p:cNvPr>
          <p:cNvPicPr>
            <a:picLocks noChangeAspect="1"/>
          </p:cNvPicPr>
          <p:nvPr/>
        </p:nvPicPr>
        <p:blipFill>
          <a:blip r:embed="rId2"/>
          <a:stretch>
            <a:fillRect/>
          </a:stretch>
        </p:blipFill>
        <p:spPr>
          <a:xfrm>
            <a:off x="194297" y="193651"/>
            <a:ext cx="6469405" cy="36671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772527"/>
            <a:ext cx="6852285" cy="8348134"/>
          </a:xfrm>
        </p:spPr>
        <p:txBody>
          <a:bodyPr>
            <a:normAutofit fontScale="97500"/>
          </a:bodyPr>
          <a:lstStyle/>
          <a:p>
            <a:pPr algn="l"/>
            <a:r>
              <a:rPr lang="ja-JP" altLang="en-US" sz="1400" dirty="0"/>
              <a:t>ICS の世界では、Linux ベースのワークステーションは依然として珍しい ままです。</a:t>
            </a:r>
          </a:p>
          <a:p>
            <a:pPr algn="l"/>
            <a:r>
              <a:rPr lang="ja-JP" altLang="en-US" sz="1400" dirty="0"/>
              <a:t>ラップトップやデスクトップは、依然として Microsoft Windows が圧倒的に主流 だからです。</a:t>
            </a:r>
          </a:p>
          <a:p>
            <a:pPr algn="l"/>
            <a:r>
              <a:rPr lang="ja-JP" altLang="en-US" sz="1400" dirty="0"/>
              <a:t>唯一の例外として増えてきているのが モバイルデバイス ですが、</a:t>
            </a:r>
          </a:p>
          <a:p>
            <a:pPr algn="l"/>
            <a:r>
              <a:rPr lang="ja-JP" altLang="en-US" sz="1400" dirty="0"/>
              <a:t>これらを導入するには追加の管理作業が必要になり、</a:t>
            </a:r>
          </a:p>
          <a:p>
            <a:pPr algn="l"/>
            <a:r>
              <a:rPr lang="ja-JP" altLang="en-US" sz="1400" dirty="0"/>
              <a:t>場合によっては MDM（モバイルデバイス管理） や</a:t>
            </a:r>
          </a:p>
          <a:p>
            <a:pPr algn="l"/>
            <a:r>
              <a:rPr lang="ja-JP" altLang="en-US" sz="1400" dirty="0"/>
              <a:t>エンドポイント保護システムの導入が求められます。</a:t>
            </a:r>
          </a:p>
          <a:p>
            <a:pPr algn="l"/>
            <a:r>
              <a:rPr lang="ja-JP" altLang="en-US" sz="1400" dirty="0"/>
              <a:t>モバイル OS は主に：</a:t>
            </a:r>
          </a:p>
          <a:p>
            <a:pPr algn="l"/>
            <a:r>
              <a:rPr lang="ja-JP" altLang="en-US" sz="1400" dirty="0"/>
              <a:t>• 	Android（Linux ベース）</a:t>
            </a:r>
          </a:p>
          <a:p>
            <a:pPr algn="l"/>
            <a:r>
              <a:rPr lang="ja-JP" altLang="en-US" sz="1400" dirty="0"/>
              <a:t>• 	Apple iOS（Unix ベース）</a:t>
            </a:r>
          </a:p>
          <a:p>
            <a:pPr algn="l"/>
            <a:r>
              <a:rPr lang="ja-JP" altLang="en-US" sz="1400" dirty="0"/>
              <a:t>ですが、セキュリティリスクが高いため、実際の ICS 本番環境での利用はまだ稀 です。</a:t>
            </a:r>
          </a:p>
          <a:p>
            <a:pPr algn="l"/>
            <a:endParaRPr lang="ja-JP" altLang="en-US" sz="1400" dirty="0"/>
          </a:p>
          <a:p>
            <a:pPr algn="l"/>
            <a:r>
              <a:rPr lang="ja-JP" altLang="en-US" sz="1400" dirty="0"/>
              <a:t>サーバー側は状況が異なる</a:t>
            </a:r>
          </a:p>
          <a:p>
            <a:pPr algn="l"/>
            <a:r>
              <a:rPr lang="ja-JP" altLang="en-US" sz="1400" dirty="0"/>
              <a:t>サーバー領域では事情が違います。</a:t>
            </a:r>
          </a:p>
          <a:p>
            <a:pPr algn="l"/>
            <a:r>
              <a:rPr lang="ja-JP" altLang="en-US" sz="1400" dirty="0"/>
              <a:t>• 	古い ICS サーバーには Unix 系 OS が広く使われており、</a:t>
            </a:r>
          </a:p>
          <a:p>
            <a:pPr algn="l"/>
            <a:r>
              <a:rPr lang="ja-JP" altLang="en-US" sz="1400" dirty="0"/>
              <a:t>数年前〜数十年前に導入されたものが多い。</a:t>
            </a:r>
          </a:p>
          <a:p>
            <a:pPr algn="l"/>
            <a:r>
              <a:rPr lang="ja-JP" altLang="en-US" sz="1400" dirty="0"/>
              <a:t>• 	最新の ICS サーバーでは、</a:t>
            </a:r>
          </a:p>
          <a:p>
            <a:pPr algn="l"/>
            <a:r>
              <a:rPr lang="ja-JP" altLang="en-US" sz="1400" dirty="0"/>
              <a:t>メーカーやベンダーが提供する “クローズドボックス”型ソリューション に</a:t>
            </a:r>
          </a:p>
          <a:p>
            <a:pPr algn="l"/>
            <a:r>
              <a:rPr lang="ja-JP" altLang="en-US" sz="1400" dirty="0"/>
              <a:t>Linux が必須、あるいは自動的にインストールされているケースが増えています。</a:t>
            </a:r>
          </a:p>
          <a:p>
            <a:pPr algn="l"/>
            <a:r>
              <a:rPr lang="ja-JP" altLang="en-US" sz="1400" dirty="0"/>
              <a:t>特に高負荷サーバーで顕著です。</a:t>
            </a:r>
          </a:p>
          <a:p>
            <a:pPr algn="l"/>
            <a:r>
              <a:rPr lang="ja-JP" altLang="en-US" sz="1400" dirty="0"/>
              <a:t>ICS で最も一般的に使われている Linux ディストリビューションは：</a:t>
            </a:r>
          </a:p>
          <a:p>
            <a:pPr algn="l"/>
            <a:r>
              <a:rPr lang="ja-JP" altLang="en-US" sz="1400" dirty="0"/>
              <a:t>• 	Red Hat Enterprise Linux（RHEL）</a:t>
            </a:r>
          </a:p>
          <a:p>
            <a:pPr algn="l"/>
            <a:r>
              <a:rPr lang="ja-JP" altLang="en-US" sz="1400" dirty="0"/>
              <a:t>ですが、以下も一定の存在感があります：</a:t>
            </a:r>
          </a:p>
          <a:p>
            <a:pPr algn="l"/>
            <a:r>
              <a:rPr lang="ja-JP" altLang="en-US" sz="1400" dirty="0"/>
              <a:t>• 	Ubuntu</a:t>
            </a:r>
          </a:p>
          <a:p>
            <a:pPr algn="l"/>
            <a:r>
              <a:rPr lang="ja-JP" altLang="en-US" sz="1400" dirty="0"/>
              <a:t>• 	SUSE（Novell 系）</a:t>
            </a:r>
          </a:p>
          <a:p>
            <a:pPr algn="l"/>
            <a:endParaRPr lang="ja-JP" altLang="en-US" sz="1400" dirty="0"/>
          </a:p>
          <a:p>
            <a:pPr algn="l"/>
            <a:r>
              <a:rPr lang="ja-JP" altLang="en-US" sz="1400" dirty="0"/>
              <a:t>Unix/Linux サーバーは Windows サーバーと大きく異なる</a:t>
            </a:r>
          </a:p>
          <a:p>
            <a:pPr algn="l"/>
            <a:r>
              <a:rPr lang="ja-JP" altLang="en-US" sz="1400" dirty="0"/>
              <a:t>Unix/Linux サーバーは Windows サーバーとは構造も運用思想も大きく異なります。</a:t>
            </a:r>
          </a:p>
          <a:p>
            <a:pPr algn="l"/>
            <a:r>
              <a:rPr lang="ja-JP" altLang="en-US" sz="1400" dirty="0"/>
              <a:t>この後のセクションでは、両者の違いを比較しながら理解を深めていくことになります。</a:t>
            </a:r>
          </a:p>
        </p:txBody>
      </p:sp>
      <p:pic>
        <p:nvPicPr>
          <p:cNvPr id="4" name="図 3">
            <a:extLst>
              <a:ext uri="{FF2B5EF4-FFF2-40B4-BE49-F238E27FC236}">
                <a16:creationId xmlns:a16="http://schemas.microsoft.com/office/drawing/2014/main" id="{49FB9D6A-4251-4471-89D8-7C5F10DCEEDE}"/>
              </a:ext>
            </a:extLst>
          </p:cNvPr>
          <p:cNvPicPr>
            <a:picLocks noChangeAspect="1"/>
          </p:cNvPicPr>
          <p:nvPr/>
        </p:nvPicPr>
        <p:blipFill>
          <a:blip r:embed="rId2"/>
          <a:stretch>
            <a:fillRect/>
          </a:stretch>
        </p:blipFill>
        <p:spPr>
          <a:xfrm>
            <a:off x="305404" y="136184"/>
            <a:ext cx="6241475" cy="353906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534743"/>
            <a:ext cx="6852285" cy="8605376"/>
          </a:xfrm>
        </p:spPr>
        <p:txBody>
          <a:bodyPr>
            <a:noAutofit/>
          </a:bodyPr>
          <a:lstStyle/>
          <a:p>
            <a:pPr algn="l"/>
            <a:r>
              <a:rPr lang="ja-JP" altLang="en-US" sz="900" dirty="0"/>
              <a:t>今日もっとも広く使われている OS に慣れておくことは重要ですが、</a:t>
            </a:r>
          </a:p>
          <a:p>
            <a:pPr algn="l"/>
            <a:r>
              <a:rPr lang="ja-JP" altLang="en-US" sz="900" dirty="0"/>
              <a:t>他の OS を理解しておくことにも大きな（人によっては必須の）価値があります。</a:t>
            </a:r>
          </a:p>
          <a:p>
            <a:pPr algn="l"/>
            <a:r>
              <a:rPr lang="ja-JP" altLang="en-US" sz="900" dirty="0"/>
              <a:t>どの OS が「より優れているか」という議論は尽きませんが、</a:t>
            </a:r>
          </a:p>
          <a:p>
            <a:pPr algn="l"/>
            <a:r>
              <a:rPr lang="ja-JP" altLang="en-US" sz="900" dirty="0"/>
              <a:t>実際にはどの OS にも 長所・短所・弱点 が存在します。</a:t>
            </a:r>
          </a:p>
          <a:p>
            <a:pPr algn="l"/>
            <a:r>
              <a:rPr lang="ja-JP" altLang="en-US" sz="900" dirty="0"/>
              <a:t>そして、これらの OS は高速なネットワーク上で互いに接続されているため、</a:t>
            </a:r>
          </a:p>
          <a:p>
            <a:pPr algn="l"/>
            <a:r>
              <a:rPr lang="ja-JP" altLang="en-US" sz="900" dirty="0"/>
              <a:t>互いに脅威となり得る という点をセキュリティ担当者は理解し、対策する必要があります。</a:t>
            </a:r>
          </a:p>
          <a:p>
            <a:pPr algn="l"/>
            <a:r>
              <a:rPr lang="ja-JP" altLang="en-US" sz="900" dirty="0"/>
              <a:t>どの OS を選ぶかは、</a:t>
            </a:r>
          </a:p>
          <a:p>
            <a:pPr algn="l"/>
            <a:r>
              <a:rPr lang="ja-JP" altLang="en-US" sz="900" dirty="0"/>
              <a:t>そのコンピュータで何をしたいか によって決まります。</a:t>
            </a:r>
          </a:p>
          <a:p>
            <a:pPr algn="l"/>
            <a:r>
              <a:rPr lang="ja-JP" altLang="en-US" sz="900" dirty="0"/>
              <a:t>そのため、利用可能な OS を幅広く知っておくことが重要です。</a:t>
            </a:r>
          </a:p>
          <a:p>
            <a:pPr algn="l"/>
            <a:endParaRPr lang="ja-JP" altLang="en-US" sz="900" dirty="0"/>
          </a:p>
          <a:p>
            <a:pPr algn="l"/>
            <a:r>
              <a:rPr lang="ja-JP" altLang="en-US" sz="900" dirty="0"/>
              <a:t>Windows の進化：デスクトップからサーバーへ</a:t>
            </a:r>
          </a:p>
          <a:p>
            <a:pPr algn="l"/>
            <a:r>
              <a:rPr lang="ja-JP" altLang="en-US" sz="900" dirty="0"/>
              <a:t>Windows はもともと デスクトップ専用 OS として商用化されました。</a:t>
            </a:r>
          </a:p>
          <a:p>
            <a:pPr algn="l"/>
            <a:r>
              <a:rPr lang="ja-JP" altLang="en-US" sz="900" dirty="0"/>
              <a:t>1 人のユーザーが 1 </a:t>
            </a:r>
            <a:r>
              <a:rPr lang="ja-JP" altLang="en-US" sz="900" dirty="0" err="1"/>
              <a:t>つの</a:t>
            </a:r>
            <a:r>
              <a:rPr lang="ja-JP" altLang="en-US" sz="900" dirty="0"/>
              <a:t>作業を完了するために使う、</a:t>
            </a:r>
          </a:p>
          <a:p>
            <a:pPr algn="l"/>
            <a:r>
              <a:rPr lang="ja-JP" altLang="en-US" sz="900" dirty="0"/>
              <a:t>典型的なオフィス用途の OS でした。</a:t>
            </a:r>
          </a:p>
          <a:p>
            <a:pPr algn="l"/>
            <a:r>
              <a:rPr lang="ja-JP" altLang="en-US" sz="900" dirty="0"/>
              <a:t>しかし、プロジェクトを複数人で進める必要が生まれ、</a:t>
            </a:r>
          </a:p>
          <a:p>
            <a:pPr algn="l"/>
            <a:r>
              <a:rPr lang="ja-JP" altLang="en-US" sz="900" dirty="0"/>
              <a:t>同じ OS を動かす同じコンピュータに複数人がアクセスする必要が出てきました。</a:t>
            </a:r>
          </a:p>
          <a:p>
            <a:pPr algn="l"/>
            <a:r>
              <a:rPr lang="ja-JP" altLang="en-US" sz="900" dirty="0"/>
              <a:t>• 	ファイルを一元管理したい</a:t>
            </a:r>
          </a:p>
          <a:p>
            <a:pPr algn="l"/>
            <a:r>
              <a:rPr lang="ja-JP" altLang="en-US" sz="900" dirty="0"/>
              <a:t>• 	複数ユーザーが同時に作業したい</a:t>
            </a:r>
          </a:p>
          <a:p>
            <a:pPr algn="l"/>
            <a:r>
              <a:rPr lang="ja-JP" altLang="en-US" sz="900" dirty="0"/>
              <a:t>といったニーズから、Microsoft は Windows Server を開発しました。</a:t>
            </a:r>
          </a:p>
          <a:p>
            <a:pPr algn="l"/>
            <a:r>
              <a:rPr lang="ja-JP" altLang="en-US" sz="900" dirty="0"/>
              <a:t>こうして、</a:t>
            </a:r>
          </a:p>
          <a:p>
            <a:pPr algn="l"/>
            <a:r>
              <a:rPr lang="ja-JP" altLang="en-US" sz="900" dirty="0"/>
              <a:t>• 	デスクトップにはデスクトップ版 Windows</a:t>
            </a:r>
          </a:p>
          <a:p>
            <a:pPr algn="l"/>
            <a:r>
              <a:rPr lang="ja-JP" altLang="en-US" sz="900" dirty="0"/>
              <a:t>• 	サーバーにはサーバー版 Windows</a:t>
            </a:r>
          </a:p>
          <a:p>
            <a:pPr algn="l"/>
            <a:r>
              <a:rPr lang="ja-JP" altLang="en-US" sz="900" dirty="0"/>
              <a:t>という構成が一般化し、</a:t>
            </a:r>
          </a:p>
          <a:p>
            <a:pPr algn="l"/>
            <a:r>
              <a:rPr lang="ja-JP" altLang="en-US" sz="900" dirty="0"/>
              <a:t>サーバーは複数ユーザーの要求を同時に処理する OS へと進化しました。</a:t>
            </a:r>
          </a:p>
          <a:p>
            <a:pPr algn="l"/>
            <a:endParaRPr lang="ja-JP" altLang="en-US" sz="900" dirty="0"/>
          </a:p>
          <a:p>
            <a:pPr algn="l"/>
            <a:r>
              <a:rPr lang="ja-JP" altLang="en-US" sz="900" dirty="0"/>
              <a:t>Unix の進化：サーバーから広がっていく逆方向の道</a:t>
            </a:r>
          </a:p>
          <a:p>
            <a:pPr algn="l"/>
            <a:r>
              <a:rPr lang="ja-JP" altLang="en-US" sz="900" dirty="0"/>
              <a:t>興味深いことに、Unix は Windows と 逆方向 の進化をたどりました。</a:t>
            </a:r>
          </a:p>
          <a:p>
            <a:pPr algn="l"/>
            <a:r>
              <a:rPr lang="ja-JP" altLang="en-US" sz="900" dirty="0"/>
              <a:t>Unix は 1969 年に誕生し、</a:t>
            </a:r>
          </a:p>
          <a:p>
            <a:pPr algn="l"/>
            <a:r>
              <a:rPr lang="ja-JP" altLang="en-US" sz="900" dirty="0"/>
              <a:t>多数のユーザーが同時に異なる作業を行うサーバー OS として設計されました。</a:t>
            </a:r>
          </a:p>
          <a:p>
            <a:pPr algn="l"/>
            <a:r>
              <a:rPr lang="ja-JP" altLang="en-US" sz="900" dirty="0"/>
              <a:t>Unix は以下を管理する必要がありました：</a:t>
            </a:r>
          </a:p>
          <a:p>
            <a:pPr algn="l"/>
            <a:r>
              <a:rPr lang="ja-JP" altLang="en-US" sz="900" dirty="0"/>
              <a:t>• 	多数のユーザー</a:t>
            </a:r>
          </a:p>
          <a:p>
            <a:pPr algn="l"/>
            <a:r>
              <a:rPr lang="ja-JP" altLang="en-US" sz="900" dirty="0"/>
              <a:t>• 	それぞれのプロセス</a:t>
            </a:r>
          </a:p>
          <a:p>
            <a:pPr algn="l"/>
            <a:r>
              <a:rPr lang="ja-JP" altLang="en-US" sz="900" dirty="0"/>
              <a:t>• 	それらを支えるバックグラウンドサービス</a:t>
            </a:r>
          </a:p>
          <a:p>
            <a:pPr algn="l"/>
            <a:r>
              <a:rPr lang="ja-JP" altLang="en-US" sz="900" dirty="0"/>
              <a:t>その結果、Unix は非常に 安定性と信頼性 の高い OS となり、</a:t>
            </a:r>
          </a:p>
          <a:p>
            <a:pPr algn="l"/>
            <a:r>
              <a:rPr lang="ja-JP" altLang="en-US" sz="900" dirty="0"/>
              <a:t>Unix の開発・保守を専門とする企業が次々と誕生しました。</a:t>
            </a:r>
          </a:p>
          <a:p>
            <a:pPr algn="l"/>
            <a:r>
              <a:rPr lang="ja-JP" altLang="en-US" sz="900" dirty="0"/>
              <a:t>さらに、</a:t>
            </a:r>
          </a:p>
          <a:p>
            <a:pPr algn="l"/>
            <a:r>
              <a:rPr lang="ja-JP" altLang="en-US" sz="900" dirty="0"/>
              <a:t>「自分で Unix を作って世界中に無料で公開しよう」と考えた人物も現れ、</a:t>
            </a:r>
          </a:p>
          <a:p>
            <a:pPr algn="l"/>
            <a:r>
              <a:rPr lang="ja-JP" altLang="en-US" sz="900" dirty="0"/>
              <a:t>それが後の オープンソース Unix 系 OS（Linux） の流れにつながっていきます。</a:t>
            </a:r>
          </a:p>
        </p:txBody>
      </p:sp>
      <p:pic>
        <p:nvPicPr>
          <p:cNvPr id="4" name="図 3">
            <a:extLst>
              <a:ext uri="{FF2B5EF4-FFF2-40B4-BE49-F238E27FC236}">
                <a16:creationId xmlns:a16="http://schemas.microsoft.com/office/drawing/2014/main" id="{B1BF9E25-644E-44F2-952F-55C23A285294}"/>
              </a:ext>
            </a:extLst>
          </p:cNvPr>
          <p:cNvPicPr>
            <a:picLocks noChangeAspect="1"/>
          </p:cNvPicPr>
          <p:nvPr/>
        </p:nvPicPr>
        <p:blipFill>
          <a:blip r:embed="rId2"/>
          <a:stretch>
            <a:fillRect/>
          </a:stretch>
        </p:blipFill>
        <p:spPr>
          <a:xfrm>
            <a:off x="408073" y="38911"/>
            <a:ext cx="6041853" cy="343746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0"/>
            <a:ext cx="6852285" cy="6312535"/>
          </a:xfrm>
        </p:spPr>
        <p:txBody>
          <a:bodyPr>
            <a:normAutofit/>
          </a:bodyPr>
          <a:lstStyle/>
          <a:p>
            <a:pPr algn="l"/>
            <a:r>
              <a:rPr lang="ja-JP" altLang="en-US" sz="1400" dirty="0"/>
              <a:t>Reference:</a:t>
            </a:r>
          </a:p>
          <a:p>
            <a:pPr algn="l"/>
            <a:r>
              <a:rPr lang="ja-JP" altLang="en-US" sz="1400" dirty="0"/>
              <a:t>• https://en.wikipedia.org/wiki/Unix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731095"/>
            <a:ext cx="6852285" cy="5529634"/>
          </a:xfrm>
        </p:spPr>
        <p:txBody>
          <a:bodyPr>
            <a:normAutofit/>
          </a:bodyPr>
          <a:lstStyle/>
          <a:p>
            <a:pPr algn="l"/>
            <a:r>
              <a:rPr lang="ja-JP" altLang="en-US" sz="1400" dirty="0"/>
              <a:t>上記の Wikipedia の図（Unix Family Tree）について考えてみましょう。</a:t>
            </a:r>
          </a:p>
          <a:p>
            <a:pPr algn="l"/>
            <a:r>
              <a:rPr lang="ja-JP" altLang="en-US" sz="1400" dirty="0"/>
              <a:t>書籍では小さくて読みにくいかもしれないので、</a:t>
            </a:r>
          </a:p>
          <a:p>
            <a:pPr algn="l"/>
            <a:r>
              <a:rPr lang="ja-JP" altLang="en-US" sz="1400" dirty="0"/>
              <a:t>下記の URL から元の大きな図を参照することをおすすめします。</a:t>
            </a:r>
          </a:p>
          <a:p>
            <a:pPr algn="l"/>
            <a:r>
              <a:rPr lang="ja-JP" altLang="en-US" sz="1400" dirty="0"/>
              <a:t>Unix の現在の姿は、さまざまな要因が組み合わさって形成されてきました。</a:t>
            </a:r>
          </a:p>
          <a:p>
            <a:pPr algn="l"/>
            <a:r>
              <a:rPr lang="ja-JP" altLang="en-US" sz="1400" dirty="0"/>
              <a:t>- 法的な問題（ライセンス、著作権、商用化）</a:t>
            </a:r>
          </a:p>
          <a:p>
            <a:pPr algn="l"/>
            <a:r>
              <a:rPr lang="ja-JP" altLang="en-US" sz="1400" dirty="0"/>
              <a:t>- 技術の進歩</a:t>
            </a:r>
          </a:p>
          <a:p>
            <a:pPr algn="l"/>
            <a:r>
              <a:rPr lang="ja-JP" altLang="en-US" sz="1400" dirty="0"/>
              <a:t>- 数千人規模のプログラマーによる大規模な協力</a:t>
            </a:r>
          </a:p>
          <a:p>
            <a:pPr algn="l"/>
            <a:r>
              <a:rPr lang="ja-JP" altLang="en-US" sz="1400" dirty="0"/>
              <a:t>- ユーザーや管理者のニーズの変化</a:t>
            </a:r>
          </a:p>
          <a:p>
            <a:pPr algn="l"/>
            <a:r>
              <a:rPr lang="ja-JP" altLang="en-US" sz="1400" dirty="0"/>
              <a:t>これらすべてが、ソフトウェアに何が組み込まれ、どのように構成されるかを決定してきました。</a:t>
            </a:r>
          </a:p>
          <a:p>
            <a:pPr algn="l"/>
            <a:r>
              <a:rPr lang="ja-JP" altLang="en-US" sz="1400" dirty="0"/>
              <a:t>Unix Family Tree を見ると、</a:t>
            </a:r>
          </a:p>
          <a:p>
            <a:pPr algn="l"/>
            <a:r>
              <a:rPr lang="ja-JP" altLang="en-US" sz="1400" dirty="0"/>
              <a:t>過去 40 年以上にわたる Unix の進化の流れが非常によく分かります。</a:t>
            </a:r>
          </a:p>
          <a:p>
            <a:pPr algn="l"/>
            <a:endParaRPr lang="ja-JP" altLang="en-US" sz="1400" dirty="0"/>
          </a:p>
          <a:p>
            <a:pPr algn="l"/>
            <a:r>
              <a:rPr lang="ja-JP" altLang="en-US" sz="1400" dirty="0"/>
              <a:t>Reference:</a:t>
            </a:r>
          </a:p>
          <a:p>
            <a:pPr algn="l"/>
            <a:r>
              <a:rPr lang="ja-JP" altLang="en-US" sz="1400" dirty="0"/>
              <a:t>• Wikipedia Unix Family Tree – https://goo.gl/Xf8fGg</a:t>
            </a:r>
          </a:p>
        </p:txBody>
      </p:sp>
      <p:pic>
        <p:nvPicPr>
          <p:cNvPr id="4" name="図 3">
            <a:extLst>
              <a:ext uri="{FF2B5EF4-FFF2-40B4-BE49-F238E27FC236}">
                <a16:creationId xmlns:a16="http://schemas.microsoft.com/office/drawing/2014/main" id="{09CD0469-8CED-4563-98C0-779F25A2A8F6}"/>
              </a:ext>
            </a:extLst>
          </p:cNvPr>
          <p:cNvPicPr>
            <a:picLocks noChangeAspect="1"/>
          </p:cNvPicPr>
          <p:nvPr/>
        </p:nvPicPr>
        <p:blipFill>
          <a:blip r:embed="rId2"/>
          <a:stretch>
            <a:fillRect/>
          </a:stretch>
        </p:blipFill>
        <p:spPr>
          <a:xfrm>
            <a:off x="289127" y="97275"/>
            <a:ext cx="6279745" cy="355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991939"/>
            <a:ext cx="6852285" cy="9128721"/>
          </a:xfrm>
        </p:spPr>
        <p:txBody>
          <a:bodyPr>
            <a:normAutofit fontScale="55000" lnSpcReduction="20000"/>
          </a:bodyPr>
          <a:lstStyle/>
          <a:p>
            <a:pPr algn="l"/>
            <a:r>
              <a:rPr lang="ja-JP" altLang="en-US" sz="1400" dirty="0"/>
              <a:t>かつては Unix の“方言”（フレーバー）ごとに、</a:t>
            </a:r>
          </a:p>
          <a:p>
            <a:pPr algn="l"/>
            <a:r>
              <a:rPr lang="ja-JP" altLang="en-US" sz="1400" dirty="0"/>
              <a:t>ファイルがどこに置かれるかが大きく異なっていました。</a:t>
            </a:r>
          </a:p>
          <a:p>
            <a:pPr algn="l"/>
            <a:r>
              <a:rPr lang="ja-JP" altLang="en-US" sz="1400" dirty="0"/>
              <a:t>しかし現在の Unix 系 OS は、ほぼ同じ一般的なファイルシステム構造に落ち着いています。</a:t>
            </a:r>
          </a:p>
          <a:p>
            <a:pPr algn="l"/>
            <a:r>
              <a:rPr lang="ja-JP" altLang="en-US" sz="1400" dirty="0"/>
              <a:t>ファイルシステム階層の最上位は ルートディレクトリ  です。</a:t>
            </a:r>
          </a:p>
          <a:p>
            <a:pPr algn="l"/>
            <a:r>
              <a:rPr lang="ja-JP" altLang="en-US" sz="1400" dirty="0"/>
              <a:t>この下に、いくつもの重要なサブディレクトリが存在します。</a:t>
            </a:r>
          </a:p>
          <a:p>
            <a:pPr algn="l"/>
            <a:endParaRPr lang="ja-JP" altLang="en-US" sz="1400" dirty="0"/>
          </a:p>
          <a:p>
            <a:pPr algn="l"/>
            <a:r>
              <a:rPr lang="ja-JP" altLang="en-US" sz="1400" dirty="0"/>
              <a:t>/dev — デバイスファイル</a:t>
            </a:r>
          </a:p>
          <a:p>
            <a:pPr algn="l"/>
            <a:r>
              <a:rPr lang="ja-JP" altLang="en-US" sz="1400" dirty="0"/>
              <a:t> には デバイスファイル が置かれています。</a:t>
            </a:r>
          </a:p>
          <a:p>
            <a:pPr algn="l"/>
            <a:r>
              <a:rPr lang="ja-JP" altLang="en-US" sz="1400" dirty="0"/>
              <a:t>これらは OS カーネルが管理する物理デバイスと、</a:t>
            </a:r>
          </a:p>
          <a:p>
            <a:pPr algn="l"/>
            <a:r>
              <a:rPr lang="ja-JP" altLang="en-US" sz="1400" dirty="0"/>
              <a:t>ユーザープロセスがやり取りするための特別なファイルです。</a:t>
            </a:r>
          </a:p>
          <a:p>
            <a:pPr algn="l"/>
            <a:r>
              <a:rPr lang="ja-JP" altLang="en-US" sz="1400" dirty="0"/>
              <a:t>AT&amp;T System V（SYSV）系の Unix（Solaris、HP-UX など）では、</a:t>
            </a:r>
          </a:p>
          <a:p>
            <a:pPr algn="l"/>
            <a:r>
              <a:rPr lang="ja-JP" altLang="en-US" sz="1400" dirty="0"/>
              <a:t>これらを  に置くこともありますが、</a:t>
            </a:r>
          </a:p>
          <a:p>
            <a:pPr algn="l"/>
            <a:r>
              <a:rPr lang="ja-JP" altLang="en-US" sz="1400" dirty="0"/>
              <a:t>他システムとの互換性のために  も維持されます。</a:t>
            </a:r>
          </a:p>
          <a:p>
            <a:pPr algn="l"/>
            <a:endParaRPr lang="ja-JP" altLang="en-US" sz="1400" dirty="0"/>
          </a:p>
          <a:p>
            <a:pPr algn="l"/>
            <a:r>
              <a:rPr lang="ja-JP" altLang="en-US" sz="1400" dirty="0"/>
              <a:t>/usr — OS の主要コンポーネント</a:t>
            </a:r>
          </a:p>
          <a:p>
            <a:pPr algn="l"/>
            <a:r>
              <a:rPr lang="ja-JP" altLang="en-US" sz="1400" dirty="0"/>
              <a:t> には OS の主要部分が格納されています：</a:t>
            </a:r>
          </a:p>
          <a:p>
            <a:pPr algn="l"/>
            <a:r>
              <a:rPr lang="ja-JP" altLang="en-US" sz="1400" dirty="0"/>
              <a:t>• 	システムバイナリ</a:t>
            </a:r>
          </a:p>
          <a:p>
            <a:pPr algn="l"/>
            <a:r>
              <a:rPr lang="ja-JP" altLang="en-US" sz="1400" dirty="0"/>
              <a:t>• 	ライブラリ</a:t>
            </a:r>
          </a:p>
          <a:p>
            <a:pPr algn="l"/>
            <a:r>
              <a:rPr lang="ja-JP" altLang="en-US" sz="1400" dirty="0"/>
              <a:t>• 	開発ツール</a:t>
            </a:r>
          </a:p>
          <a:p>
            <a:pPr algn="l"/>
            <a:r>
              <a:rPr lang="ja-JP" altLang="en-US" sz="1400" dirty="0"/>
              <a:t>• 	オンラインドキュメント</a:t>
            </a:r>
          </a:p>
          <a:p>
            <a:pPr algn="l"/>
            <a:r>
              <a:rPr lang="ja-JP" altLang="en-US" sz="1400" dirty="0"/>
              <a:t> は 読み取り専用に近い領域 と考えられ、</a:t>
            </a:r>
          </a:p>
          <a:p>
            <a:pPr algn="l"/>
            <a:r>
              <a:rPr lang="ja-JP" altLang="en-US" sz="1400" dirty="0"/>
              <a:t>OS のアップグレードやパッチ適用時以外はほとんど変更されません。</a:t>
            </a:r>
          </a:p>
          <a:p>
            <a:pPr algn="l"/>
            <a:endParaRPr lang="ja-JP" altLang="en-US" sz="1400" dirty="0"/>
          </a:p>
          <a:p>
            <a:pPr algn="l"/>
            <a:r>
              <a:rPr lang="ja-JP" altLang="en-US" sz="1400" dirty="0"/>
              <a:t>/var — 変化するデータ</a:t>
            </a:r>
          </a:p>
          <a:p>
            <a:pPr algn="l"/>
            <a:r>
              <a:rPr lang="ja-JP" altLang="en-US" sz="1400" dirty="0"/>
              <a:t> には頻繁に変化するデータが置かれます：</a:t>
            </a:r>
          </a:p>
          <a:p>
            <a:pPr algn="l"/>
            <a:r>
              <a:rPr lang="ja-JP" altLang="en-US" sz="1400" dirty="0"/>
              <a:t>• 	ログファイル</a:t>
            </a:r>
          </a:p>
          <a:p>
            <a:pPr algn="l"/>
            <a:r>
              <a:rPr lang="ja-JP" altLang="en-US" sz="1400" dirty="0"/>
              <a:t>• 	メールや印刷などのキュー</a:t>
            </a:r>
          </a:p>
          <a:p>
            <a:pPr algn="l"/>
            <a:r>
              <a:rPr lang="ja-JP" altLang="en-US" sz="1400" dirty="0"/>
              <a:t>• 	一時的な状態データ</a:t>
            </a:r>
          </a:p>
          <a:p>
            <a:pPr algn="l"/>
            <a:endParaRPr lang="ja-JP" altLang="en-US" sz="1400" dirty="0"/>
          </a:p>
          <a:p>
            <a:pPr algn="l"/>
            <a:r>
              <a:rPr lang="ja-JP" altLang="en-US" sz="1400" dirty="0"/>
              <a:t>サードパーティソフトウェアの配置</a:t>
            </a:r>
          </a:p>
          <a:p>
            <a:pPr algn="l"/>
            <a:r>
              <a:rPr lang="ja-JP" altLang="en-US" sz="1400" dirty="0"/>
              <a:t>OS 標準のプログラムは  や  に置かれますが、</a:t>
            </a:r>
          </a:p>
          <a:p>
            <a:pPr algn="l"/>
            <a:r>
              <a:rPr lang="ja-JP" altLang="en-US" sz="1400" dirty="0"/>
              <a:t>サードパーティソフトは別の場所に配置されることが多いです。</a:t>
            </a:r>
          </a:p>
          <a:p>
            <a:pPr algn="l"/>
            <a:r>
              <a:rPr lang="ja-JP" altLang="en-US" sz="1400" dirty="0"/>
              <a:t>一般的な慣習：</a:t>
            </a:r>
          </a:p>
          <a:p>
            <a:pPr algn="l"/>
            <a:r>
              <a:rPr lang="ja-JP" altLang="en-US" sz="1400" dirty="0"/>
              <a:t>• 	 — インターネットなどから入手した OSS</a:t>
            </a:r>
          </a:p>
          <a:p>
            <a:pPr algn="l"/>
            <a:r>
              <a:rPr lang="ja-JP" altLang="en-US" sz="1400" dirty="0"/>
              <a:t>• 	 — SYSV 系（Solaris、HP-UX）での商用ソフトの配置先</a:t>
            </a:r>
          </a:p>
          <a:p>
            <a:pPr algn="l"/>
            <a:r>
              <a:rPr lang="ja-JP" altLang="en-US" sz="1400" dirty="0"/>
              <a:t>サイトによっては：</a:t>
            </a:r>
          </a:p>
          <a:p>
            <a:pPr algn="l"/>
            <a:r>
              <a:rPr lang="ja-JP" altLang="en-US" sz="1400" dirty="0"/>
              <a:t>• 	</a:t>
            </a:r>
          </a:p>
          <a:p>
            <a:pPr algn="l"/>
            <a:r>
              <a:rPr lang="ja-JP" altLang="en-US" sz="1400" dirty="0"/>
              <a:t>• 	</a:t>
            </a:r>
          </a:p>
          <a:p>
            <a:pPr algn="l"/>
            <a:r>
              <a:rPr lang="ja-JP" altLang="en-US" sz="1400" dirty="0"/>
              <a:t>など独自の命名規則を使うこともあります。</a:t>
            </a:r>
          </a:p>
          <a:p>
            <a:pPr algn="l"/>
            <a:endParaRPr lang="ja-JP" altLang="en-US" sz="1400" dirty="0"/>
          </a:p>
          <a:p>
            <a:pPr algn="l"/>
            <a:r>
              <a:rPr lang="ja-JP" altLang="en-US" sz="1400" dirty="0"/>
              <a:t>ユーザーホームディレクトリ</a:t>
            </a:r>
          </a:p>
          <a:p>
            <a:pPr algn="l"/>
            <a:r>
              <a:rPr lang="ja-JP" altLang="en-US" sz="1400" dirty="0"/>
              <a:t>一般的には  にユーザーディレクトリが置かれます。</a:t>
            </a:r>
          </a:p>
          <a:p>
            <a:pPr algn="l"/>
            <a:r>
              <a:rPr lang="ja-JP" altLang="en-US" sz="1400" dirty="0"/>
              <a:t>しかし大規模 Unix ネットワークでは  が NFS マウントされており、</a:t>
            </a:r>
          </a:p>
          <a:p>
            <a:pPr algn="l"/>
            <a:r>
              <a:rPr lang="ja-JP" altLang="en-US" sz="1400" dirty="0"/>
              <a:t>実際のデータはファイルサーバー上の  に置かれることもあります。</a:t>
            </a:r>
          </a:p>
          <a:p>
            <a:pPr algn="l"/>
            <a:r>
              <a:rPr lang="ja-JP" altLang="en-US" sz="1400" dirty="0"/>
              <a:t>その他のローカル慣習として：</a:t>
            </a:r>
          </a:p>
          <a:p>
            <a:pPr algn="l"/>
            <a:r>
              <a:rPr lang="ja-JP" altLang="en-US" sz="1400" dirty="0"/>
              <a:t>• 	</a:t>
            </a:r>
          </a:p>
          <a:p>
            <a:pPr algn="l"/>
            <a:r>
              <a:rPr lang="ja-JP" altLang="en-US" sz="1400" dirty="0"/>
              <a:t>• 	, , …</a:t>
            </a:r>
          </a:p>
          <a:p>
            <a:pPr algn="l"/>
            <a:r>
              <a:rPr lang="ja-JP" altLang="en-US" sz="1400" dirty="0"/>
              <a:t>などを使うサイトもあります。</a:t>
            </a:r>
          </a:p>
        </p:txBody>
      </p:sp>
      <p:pic>
        <p:nvPicPr>
          <p:cNvPr id="4" name="図 3">
            <a:extLst>
              <a:ext uri="{FF2B5EF4-FFF2-40B4-BE49-F238E27FC236}">
                <a16:creationId xmlns:a16="http://schemas.microsoft.com/office/drawing/2014/main" id="{BDBBEFC8-84C3-4E41-BCBD-567472414A5F}"/>
              </a:ext>
            </a:extLst>
          </p:cNvPr>
          <p:cNvPicPr>
            <a:picLocks noChangeAspect="1"/>
          </p:cNvPicPr>
          <p:nvPr/>
        </p:nvPicPr>
        <p:blipFill>
          <a:blip r:embed="rId2"/>
          <a:stretch>
            <a:fillRect/>
          </a:stretch>
        </p:blipFill>
        <p:spPr>
          <a:xfrm>
            <a:off x="999066" y="97275"/>
            <a:ext cx="4859868" cy="27584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949426"/>
            <a:ext cx="6852285" cy="5441366"/>
          </a:xfrm>
        </p:spPr>
        <p:txBody>
          <a:bodyPr>
            <a:normAutofit/>
          </a:bodyPr>
          <a:lstStyle/>
          <a:p>
            <a:pPr algn="l"/>
            <a:r>
              <a:rPr lang="ja-JP" altLang="en-US" sz="1400" dirty="0"/>
              <a:t>このスライドは、</a:t>
            </a:r>
          </a:p>
          <a:p>
            <a:pPr algn="l"/>
            <a:r>
              <a:rPr lang="ja-JP" altLang="en-US" sz="1400" dirty="0"/>
              <a:t>Windows の DOS コマンド（cmd.exe）に慣れている人向けに、</a:t>
            </a:r>
          </a:p>
          <a:p>
            <a:pPr algn="l"/>
            <a:r>
              <a:rPr lang="ja-JP" altLang="en-US" sz="1400" dirty="0"/>
              <a:t>Windows コマンドと Unix コマンドの対応関係を示したもの です。</a:t>
            </a:r>
          </a:p>
          <a:p>
            <a:pPr algn="l"/>
            <a:r>
              <a:rPr lang="ja-JP" altLang="en-US" sz="1400" dirty="0"/>
              <a:t>Windows のコマンドライン操作に親しんでいる人が、</a:t>
            </a:r>
          </a:p>
          <a:p>
            <a:pPr algn="l"/>
            <a:r>
              <a:rPr lang="ja-JP" altLang="en-US" sz="1400" dirty="0"/>
              <a:t>Unix のコマンド体系を理解しやすくするための比較表になっています。</a:t>
            </a:r>
          </a:p>
        </p:txBody>
      </p:sp>
      <p:pic>
        <p:nvPicPr>
          <p:cNvPr id="4" name="図 3">
            <a:extLst>
              <a:ext uri="{FF2B5EF4-FFF2-40B4-BE49-F238E27FC236}">
                <a16:creationId xmlns:a16="http://schemas.microsoft.com/office/drawing/2014/main" id="{F6501F81-5317-4E81-9F8A-9621C067E475}"/>
              </a:ext>
            </a:extLst>
          </p:cNvPr>
          <p:cNvPicPr>
            <a:picLocks noChangeAspect="1"/>
          </p:cNvPicPr>
          <p:nvPr/>
        </p:nvPicPr>
        <p:blipFill>
          <a:blip r:embed="rId2"/>
          <a:stretch>
            <a:fillRect/>
          </a:stretch>
        </p:blipFill>
        <p:spPr>
          <a:xfrm>
            <a:off x="182237" y="136185"/>
            <a:ext cx="6493525" cy="36770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843866"/>
            <a:ext cx="6852285" cy="6312535"/>
          </a:xfrm>
        </p:spPr>
        <p:txBody>
          <a:bodyPr>
            <a:normAutofit/>
          </a:bodyPr>
          <a:lstStyle/>
          <a:p>
            <a:pPr algn="l"/>
            <a:r>
              <a:rPr lang="ja-JP" altLang="en-US" sz="1400" dirty="0"/>
              <a:t>このスライドには、Unix の主要なコマンドがいくつか紹介されています。</a:t>
            </a:r>
          </a:p>
          <a:p>
            <a:pPr algn="l"/>
            <a:r>
              <a:rPr lang="ja-JP" altLang="en-US" sz="1400" dirty="0"/>
              <a:t>特にインシデント分析やファイル・プロセスの検索で頻繁に使われるのが  と  です。</a:t>
            </a:r>
          </a:p>
          <a:p>
            <a:pPr algn="l"/>
            <a:r>
              <a:rPr lang="ja-JP" altLang="en-US" sz="1400" dirty="0"/>
              <a:t>例として、以下のように複数のコマンドを組み合わせることができます：</a:t>
            </a:r>
          </a:p>
          <a:p>
            <a:pPr algn="l"/>
            <a:endParaRPr lang="ja-JP" altLang="en-US" sz="1400" dirty="0"/>
          </a:p>
          <a:p>
            <a:pPr algn="l"/>
            <a:r>
              <a:rPr lang="ja-JP" altLang="en-US" sz="1400" dirty="0"/>
              <a:t>ps -ef | grep &lt;検索語&gt;</a:t>
            </a:r>
          </a:p>
          <a:p>
            <a:pPr algn="l"/>
            <a:endParaRPr lang="ja-JP" altLang="en-US" sz="1400" dirty="0"/>
          </a:p>
          <a:p>
            <a:pPr algn="l"/>
            <a:r>
              <a:rPr lang="ja-JP" altLang="en-US" sz="1400" dirty="0"/>
              <a:t>このコマンドは、現在実行中のプロセス一覧を表示し、</a:t>
            </a:r>
          </a:p>
          <a:p>
            <a:pPr algn="l"/>
            <a:r>
              <a:rPr lang="ja-JP" altLang="en-US" sz="1400" dirty="0"/>
              <a:t>その中から指定した検索語に一致するものを抽出します。</a:t>
            </a:r>
          </a:p>
          <a:p>
            <a:pPr algn="l"/>
            <a:r>
              <a:rPr lang="ja-JP" altLang="en-US" sz="1400" dirty="0"/>
              <a:t>また、 コマンドの改良版として広く使われているのが  です。</a:t>
            </a:r>
          </a:p>
          <a:p>
            <a:pPr algn="l"/>
            <a:r>
              <a:rPr lang="ja-JP" altLang="en-US" sz="1400" dirty="0"/>
              <a:t> を使うと、ユーザーは 特定のコマンドだけを管理者権限（super user）で実行 できます。</a:t>
            </a:r>
          </a:p>
        </p:txBody>
      </p:sp>
      <p:pic>
        <p:nvPicPr>
          <p:cNvPr id="4" name="図 3">
            <a:extLst>
              <a:ext uri="{FF2B5EF4-FFF2-40B4-BE49-F238E27FC236}">
                <a16:creationId xmlns:a16="http://schemas.microsoft.com/office/drawing/2014/main" id="{2F6F475B-8932-413C-BBAE-9AC6BFE3A5D0}"/>
              </a:ext>
            </a:extLst>
          </p:cNvPr>
          <p:cNvPicPr>
            <a:picLocks noChangeAspect="1"/>
          </p:cNvPicPr>
          <p:nvPr/>
        </p:nvPicPr>
        <p:blipFill>
          <a:blip r:embed="rId2"/>
          <a:stretch>
            <a:fillRect/>
          </a:stretch>
        </p:blipFill>
        <p:spPr>
          <a:xfrm>
            <a:off x="310029" y="116730"/>
            <a:ext cx="6237941" cy="35228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6238" y="3936097"/>
            <a:ext cx="6852285" cy="6312535"/>
          </a:xfrm>
        </p:spPr>
        <p:txBody>
          <a:bodyPr>
            <a:normAutofit/>
          </a:bodyPr>
          <a:lstStyle/>
          <a:p>
            <a:pPr algn="l"/>
            <a:r>
              <a:rPr lang="ja-JP" altLang="en-US" sz="1400" dirty="0"/>
              <a:t>References:</a:t>
            </a:r>
          </a:p>
          <a:p>
            <a:pPr algn="l"/>
            <a:r>
              <a:rPr lang="ja-JP" altLang="en-US" sz="1400" dirty="0"/>
              <a:t>• Red Hat Satellite – https://goo.gl/c8TsrQ</a:t>
            </a:r>
          </a:p>
          <a:p>
            <a:pPr algn="l"/>
            <a:r>
              <a:rPr lang="ja-JP" altLang="en-US" sz="1400" dirty="0"/>
              <a:t>• SUSE Manager – https://www.suse.com/products/suse-manager/</a:t>
            </a:r>
          </a:p>
          <a:p>
            <a:pPr algn="l"/>
            <a:r>
              <a:rPr lang="ja-JP" altLang="en-US" sz="1400" dirty="0"/>
              <a:t>• Ubuntu Landscape – https://landscape.canonical.com</a:t>
            </a:r>
          </a:p>
          <a:p>
            <a:pPr algn="l"/>
            <a:r>
              <a:rPr lang="ja-JP" altLang="en-US" sz="1400" dirty="0"/>
              <a:t>• Puppet – https://puppet.com</a:t>
            </a:r>
          </a:p>
          <a:p>
            <a:pPr algn="l"/>
            <a:r>
              <a:rPr lang="ja-JP" altLang="en-US" sz="1400" dirty="0"/>
              <a:t>• Chef – https://www.chef.io</a:t>
            </a:r>
          </a:p>
          <a:p>
            <a:pPr algn="l"/>
            <a:r>
              <a:rPr lang="ja-JP" altLang="en-US" sz="1400" dirty="0"/>
              <a:t>• IBM BigFix for Patch Management – https://goo.gl/MmPjVz</a:t>
            </a:r>
          </a:p>
          <a:p>
            <a:pPr algn="l"/>
            <a:r>
              <a:rPr lang="ja-JP" altLang="en-US" sz="1400" dirty="0"/>
              <a:t>• Ivanti Patch – https://www.ivanti.com/products/patch-management-for-linux-unix-mac</a:t>
            </a:r>
          </a:p>
          <a:p>
            <a:pPr algn="l"/>
            <a:r>
              <a:rPr lang="ja-JP" altLang="en-US" sz="1400" dirty="0"/>
              <a:t>• Symantec Client Management Suite – https://www.broadcom.com/products/cyber-</a:t>
            </a:r>
          </a:p>
          <a:p>
            <a:pPr algn="l"/>
            <a:r>
              <a:rPr lang="ja-JP" altLang="en-US" sz="1400" dirty="0"/>
              <a:t>security/endpoint/management/client-management-suite</a:t>
            </a:r>
          </a:p>
        </p:txBody>
      </p:sp>
      <p:pic>
        <p:nvPicPr>
          <p:cNvPr id="4" name="図 3">
            <a:extLst>
              <a:ext uri="{FF2B5EF4-FFF2-40B4-BE49-F238E27FC236}">
                <a16:creationId xmlns:a16="http://schemas.microsoft.com/office/drawing/2014/main" id="{12841EB0-A12F-4A9D-A778-1E492E469E20}"/>
              </a:ext>
            </a:extLst>
          </p:cNvPr>
          <p:cNvPicPr>
            <a:picLocks noChangeAspect="1"/>
          </p:cNvPicPr>
          <p:nvPr/>
        </p:nvPicPr>
        <p:blipFill>
          <a:blip r:embed="rId2"/>
          <a:stretch>
            <a:fillRect/>
          </a:stretch>
        </p:blipFill>
        <p:spPr>
          <a:xfrm>
            <a:off x="189689" y="155640"/>
            <a:ext cx="6478621" cy="36772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590585"/>
            <a:ext cx="6852285" cy="8491166"/>
          </a:xfrm>
        </p:spPr>
        <p:txBody>
          <a:bodyPr>
            <a:normAutofit fontScale="82500" lnSpcReduction="20000"/>
          </a:bodyPr>
          <a:lstStyle/>
          <a:p>
            <a:pPr algn="l"/>
            <a:r>
              <a:rPr lang="ja-JP" altLang="en-US" sz="1400" dirty="0"/>
              <a:t>Unix の chroot() 制限 は、アプリケーションごとに有効化する必要がある</a:t>
            </a:r>
          </a:p>
          <a:p>
            <a:pPr algn="l"/>
            <a:r>
              <a:rPr lang="ja-JP" altLang="en-US" sz="1400" dirty="0"/>
              <a:t>アプリケーション隔離機能 です。</a:t>
            </a:r>
          </a:p>
          <a:p>
            <a:pPr algn="l"/>
            <a:r>
              <a:rPr lang="ja-JP" altLang="en-US" sz="1400" dirty="0"/>
              <a:t>アプリケーション開発者は、</a:t>
            </a:r>
          </a:p>
          <a:p>
            <a:pPr algn="l"/>
            <a:r>
              <a:rPr lang="ja-JP" altLang="en-US" sz="1400" dirty="0"/>
              <a:t>外部ユーザーからのリクエストを受け付け始める前の</a:t>
            </a:r>
          </a:p>
          <a:p>
            <a:pPr algn="l"/>
            <a:r>
              <a:rPr lang="ja-JP" altLang="en-US" sz="1400" dirty="0"/>
              <a:t>初期セットアップ段階で chroot() を呼び出す ように設計することがあります。</a:t>
            </a:r>
          </a:p>
          <a:p>
            <a:pPr algn="l"/>
            <a:r>
              <a:rPr lang="ja-JP" altLang="en-US" sz="1400" dirty="0"/>
              <a:t>アプリケーションが chroot() を呼び出すと、</a:t>
            </a:r>
          </a:p>
          <a:p>
            <a:pPr algn="l"/>
            <a:r>
              <a:rPr lang="ja-JP" altLang="en-US" sz="1400" dirty="0"/>
              <a:t>OS カーネルに対して「このディレクトリ以下だけを見える世界にしてほしい」と指定します。</a:t>
            </a:r>
          </a:p>
          <a:p>
            <a:pPr algn="l"/>
            <a:r>
              <a:rPr lang="ja-JP" altLang="en-US" sz="1400" dirty="0"/>
              <a:t>以降、カーネルはその制限を強制し、</a:t>
            </a:r>
          </a:p>
          <a:p>
            <a:pPr algn="l"/>
            <a:r>
              <a:rPr lang="ja-JP" altLang="en-US" sz="1400" dirty="0"/>
              <a:t>アプリケーションは 指定したディレクトリの外側のファイルシステムを一切見ることができなくなります。</a:t>
            </a:r>
          </a:p>
          <a:p>
            <a:pPr algn="l"/>
            <a:r>
              <a:rPr lang="ja-JP" altLang="en-US" sz="1400" dirty="0"/>
              <a:t>アプリケーションから見ると、</a:t>
            </a:r>
          </a:p>
          <a:p>
            <a:pPr algn="l"/>
            <a:r>
              <a:rPr lang="ja-JP" altLang="en-US" sz="1400" dirty="0"/>
              <a:t>そのディレクトリとその配下のファイル・ディレクトリだけが</a:t>
            </a:r>
          </a:p>
          <a:p>
            <a:pPr algn="l"/>
            <a:r>
              <a:rPr lang="ja-JP" altLang="en-US" sz="1400" dirty="0"/>
              <a:t>システム全体のファイルシステムであるかのように見える わけです。</a:t>
            </a:r>
          </a:p>
          <a:p>
            <a:pPr algn="l"/>
            <a:r>
              <a:rPr lang="ja-JP" altLang="en-US" sz="1400" dirty="0"/>
              <a:t>（chroot = “change root” の意味）</a:t>
            </a:r>
          </a:p>
          <a:p>
            <a:pPr algn="l"/>
            <a:endParaRPr lang="ja-JP" altLang="en-US" sz="1400" dirty="0"/>
          </a:p>
          <a:p>
            <a:pPr algn="l"/>
            <a:r>
              <a:rPr lang="ja-JP" altLang="en-US" sz="1400" dirty="0"/>
              <a:t>セキュリティ上の利点</a:t>
            </a:r>
          </a:p>
          <a:p>
            <a:pPr algn="l"/>
            <a:r>
              <a:rPr lang="ja-JP" altLang="en-US" sz="1400" dirty="0"/>
              <a:t>アプリケーションに脆弱性があり、攻撃者に悪用されたとしても、</a:t>
            </a:r>
          </a:p>
          <a:p>
            <a:pPr algn="l"/>
            <a:r>
              <a:rPr lang="ja-JP" altLang="en-US" sz="1400" dirty="0"/>
              <a:t>攻撃者がアクセスできるのは chroot() で隔離された領域だけ です。</a:t>
            </a:r>
          </a:p>
          <a:p>
            <a:pPr algn="l"/>
            <a:r>
              <a:rPr lang="ja-JP" altLang="en-US" sz="1400" dirty="0"/>
              <a:t>これにより：</a:t>
            </a:r>
          </a:p>
          <a:p>
            <a:pPr algn="l"/>
            <a:r>
              <a:rPr lang="ja-JP" altLang="en-US" sz="1400" dirty="0"/>
              <a:t>• 	OS 本体の設定ファイルやバイナリが改ざんされるのを防げる</a:t>
            </a:r>
          </a:p>
          <a:p>
            <a:pPr algn="l"/>
            <a:r>
              <a:rPr lang="ja-JP" altLang="en-US" sz="1400" dirty="0"/>
              <a:t>• 	攻撃者の exploit が、chroot 内に存在しない OS バイナリに依存している場合、攻撃が失敗する</a:t>
            </a:r>
          </a:p>
          <a:p>
            <a:pPr algn="l"/>
            <a:r>
              <a:rPr lang="ja-JP" altLang="en-US" sz="1400" dirty="0"/>
              <a:t>特に BIND や SSH のようなインターネットに面した複雑なアプリケーションでは、</a:t>
            </a:r>
          </a:p>
          <a:p>
            <a:pPr algn="l"/>
            <a:r>
              <a:rPr lang="ja-JP" altLang="en-US" sz="1400" dirty="0"/>
              <a:t>将来的に新たなリモート脆弱性が見つかる可能性が高いため、</a:t>
            </a:r>
          </a:p>
          <a:p>
            <a:pPr algn="l"/>
            <a:r>
              <a:rPr lang="ja-JP" altLang="en-US" sz="1400" dirty="0"/>
              <a:t>chroot() による隔離は 被害軽減策として非常に有効 です。</a:t>
            </a:r>
          </a:p>
          <a:p>
            <a:pPr algn="l"/>
            <a:endParaRPr lang="ja-JP" altLang="en-US" sz="1400" dirty="0"/>
          </a:p>
          <a:p>
            <a:pPr algn="l"/>
            <a:r>
              <a:rPr lang="ja-JP" altLang="en-US" sz="1400" dirty="0"/>
              <a:t>コンテナ技術は chroot の“進化版”</a:t>
            </a:r>
          </a:p>
          <a:p>
            <a:pPr algn="l"/>
            <a:r>
              <a:rPr lang="ja-JP" altLang="en-US" sz="1400" dirty="0"/>
              <a:t>Docker、Solaris Zones、Microsoft のコンテナ、Linux の LXC/LXD などの</a:t>
            </a:r>
          </a:p>
          <a:p>
            <a:pPr algn="l"/>
            <a:r>
              <a:rPr lang="ja-JP" altLang="en-US" sz="1400" dirty="0"/>
              <a:t>コンテナ技術 は、chroot の考え方をさらに発展させたものです。</a:t>
            </a:r>
          </a:p>
          <a:p>
            <a:pPr algn="l"/>
            <a:r>
              <a:rPr lang="ja-JP" altLang="en-US" sz="1400" dirty="0"/>
              <a:t>コンテナでは、プロセスを隔離する対象が：</a:t>
            </a:r>
          </a:p>
          <a:p>
            <a:pPr algn="l"/>
            <a:r>
              <a:rPr lang="ja-JP" altLang="en-US" sz="1400" dirty="0"/>
              <a:t>• 	ファイルシステム</a:t>
            </a:r>
          </a:p>
          <a:p>
            <a:pPr algn="l"/>
            <a:r>
              <a:rPr lang="ja-JP" altLang="en-US" sz="1400" dirty="0" err="1"/>
              <a:t>だけで</a:t>
            </a:r>
            <a:r>
              <a:rPr lang="ja-JP" altLang="en-US" sz="1400" dirty="0"/>
              <a:t>なく、</a:t>
            </a:r>
          </a:p>
          <a:p>
            <a:pPr algn="l"/>
            <a:r>
              <a:rPr lang="ja-JP" altLang="en-US" sz="1400" dirty="0"/>
              <a:t>• 	ネットワークスタック</a:t>
            </a:r>
          </a:p>
          <a:p>
            <a:pPr algn="l"/>
            <a:r>
              <a:rPr lang="ja-JP" altLang="en-US" sz="1400" dirty="0"/>
              <a:t>• 	プロセスツリー</a:t>
            </a:r>
          </a:p>
          <a:p>
            <a:pPr algn="l"/>
            <a:r>
              <a:rPr lang="ja-JP" altLang="en-US" sz="1400" dirty="0"/>
              <a:t>• 	ユーザーアカウント</a:t>
            </a:r>
          </a:p>
          <a:p>
            <a:pPr algn="l"/>
            <a:r>
              <a:rPr lang="ja-JP" altLang="en-US" sz="1400" dirty="0"/>
              <a:t>など、カーネルより上のほぼすべて に広がります。</a:t>
            </a:r>
          </a:p>
          <a:p>
            <a:pPr algn="l"/>
            <a:r>
              <a:rPr lang="ja-JP" altLang="en-US" sz="1400" dirty="0"/>
              <a:t>つまり、コンテナは “軽量な仮想マシン” のように</a:t>
            </a:r>
          </a:p>
          <a:p>
            <a:pPr algn="l"/>
            <a:r>
              <a:rPr lang="ja-JP" altLang="en-US" sz="1400" dirty="0"/>
              <a:t>アプリケーションを強力に隔離できる仕組みです。</a:t>
            </a:r>
          </a:p>
        </p:txBody>
      </p:sp>
      <p:pic>
        <p:nvPicPr>
          <p:cNvPr id="4" name="図 3">
            <a:extLst>
              <a:ext uri="{FF2B5EF4-FFF2-40B4-BE49-F238E27FC236}">
                <a16:creationId xmlns:a16="http://schemas.microsoft.com/office/drawing/2014/main" id="{056562CB-B846-4847-A548-B15E151E52DA}"/>
              </a:ext>
            </a:extLst>
          </p:cNvPr>
          <p:cNvPicPr>
            <a:picLocks noChangeAspect="1"/>
          </p:cNvPicPr>
          <p:nvPr/>
        </p:nvPicPr>
        <p:blipFill>
          <a:blip r:embed="rId2"/>
          <a:stretch>
            <a:fillRect/>
          </a:stretch>
        </p:blipFill>
        <p:spPr>
          <a:xfrm>
            <a:off x="389128" y="77820"/>
            <a:ext cx="6079743" cy="3454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3C7D587D-917F-418D-9761-4270A54AD24F}"/>
              </a:ext>
            </a:extLst>
          </p:cNvPr>
          <p:cNvPicPr>
            <a:picLocks noChangeAspect="1"/>
          </p:cNvPicPr>
          <p:nvPr/>
        </p:nvPicPr>
        <p:blipFill>
          <a:blip r:embed="rId2"/>
          <a:stretch>
            <a:fillRect/>
          </a:stretch>
        </p:blipFill>
        <p:spPr>
          <a:xfrm>
            <a:off x="209144" y="205596"/>
            <a:ext cx="6439711" cy="365520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912687"/>
            <a:ext cx="6852285" cy="2607732"/>
          </a:xfrm>
        </p:spPr>
        <p:txBody>
          <a:bodyPr>
            <a:normAutofit/>
          </a:bodyPr>
          <a:lstStyle/>
          <a:p>
            <a:pPr algn="l"/>
            <a:r>
              <a:rPr lang="ja-JP" altLang="en-US" sz="1400" dirty="0"/>
              <a:t>ここでは、systemd のターミナルコマンドの使用例をいくつか示しています。</a:t>
            </a:r>
          </a:p>
          <a:p>
            <a:pPr algn="l"/>
            <a:r>
              <a:rPr lang="ja-JP" altLang="en-US" sz="1400" dirty="0"/>
              <a:t>これらのコマンドは 2014 年以降の比較的新しい Linux システム でのみ利用できます。</a:t>
            </a:r>
          </a:p>
          <a:p>
            <a:pPr algn="l"/>
            <a:r>
              <a:rPr lang="ja-JP" altLang="en-US" sz="1400" dirty="0"/>
              <a:t>もし </a:t>
            </a:r>
            <a:r>
              <a:rPr lang="en-US" altLang="ja-JP" sz="1400" dirty="0" err="1"/>
              <a:t>systemctl</a:t>
            </a:r>
            <a:r>
              <a:rPr lang="ja-JP" altLang="en-US" sz="1400" dirty="0"/>
              <a:t> コマンドが存在しない場合、そのシステムには systemd が導入されていません。</a:t>
            </a:r>
          </a:p>
          <a:p>
            <a:pPr algn="l"/>
            <a:r>
              <a:rPr lang="ja-JP" altLang="en-US" sz="1400" dirty="0"/>
              <a:t>あなたの ControlThings Platform は systemd を使用している ため、</a:t>
            </a:r>
          </a:p>
          <a:p>
            <a:pPr algn="l"/>
            <a:r>
              <a:rPr lang="ja-JP" altLang="en-US" sz="1400" dirty="0"/>
              <a:t>実際に起動して以下のコマンドを試すことができます。</a:t>
            </a:r>
          </a:p>
          <a:p>
            <a:pPr algn="l"/>
            <a:r>
              <a:rPr lang="ja-JP" altLang="en-US" sz="1400" dirty="0"/>
              <a:t>下記の </a:t>
            </a:r>
            <a:r>
              <a:rPr lang="en-US" altLang="ja-JP" sz="1400" dirty="0"/>
              <a:t>status</a:t>
            </a:r>
            <a:r>
              <a:rPr lang="ja-JP" altLang="en-US" sz="1400" dirty="0"/>
              <a:t>コマンド以外にも、</a:t>
            </a:r>
          </a:p>
          <a:p>
            <a:pPr algn="l"/>
            <a:r>
              <a:rPr lang="ja-JP" altLang="en-US" sz="1400" dirty="0"/>
              <a:t>Apache が停止しているかどうかは ControlThings Platform のブラウザで</a:t>
            </a:r>
          </a:p>
          <a:p>
            <a:pPr algn="l"/>
            <a:r>
              <a:rPr lang="ja-JP" altLang="en-US" sz="1400" dirty="0"/>
              <a:t> </a:t>
            </a:r>
            <a:r>
              <a:rPr lang="en-US" altLang="ja-JP" sz="1400" dirty="0"/>
              <a:t>localhost</a:t>
            </a:r>
            <a:r>
              <a:rPr lang="ja-JP" altLang="en-US" sz="1400" dirty="0"/>
              <a:t>にアクセスして確認することもできます。</a:t>
            </a:r>
          </a:p>
        </p:txBody>
      </p:sp>
      <p:pic>
        <p:nvPicPr>
          <p:cNvPr id="4" name="図形 3"/>
          <p:cNvPicPr>
            <a:picLocks noChangeAspect="1"/>
          </p:cNvPicPr>
          <p:nvPr/>
        </p:nvPicPr>
        <p:blipFill>
          <a:blip r:embed="rId2"/>
          <a:stretch>
            <a:fillRect/>
          </a:stretch>
        </p:blipFill>
        <p:spPr>
          <a:xfrm>
            <a:off x="0" y="6757487"/>
            <a:ext cx="6750795" cy="4453467"/>
          </a:xfrm>
          <a:prstGeom prst="rect">
            <a:avLst/>
          </a:prstGeom>
        </p:spPr>
      </p:pic>
      <p:pic>
        <p:nvPicPr>
          <p:cNvPr id="5" name="図 4">
            <a:extLst>
              <a:ext uri="{FF2B5EF4-FFF2-40B4-BE49-F238E27FC236}">
                <a16:creationId xmlns:a16="http://schemas.microsoft.com/office/drawing/2014/main" id="{10DE267A-B35B-42D0-9A37-B84F4BF34B21}"/>
              </a:ext>
            </a:extLst>
          </p:cNvPr>
          <p:cNvPicPr>
            <a:picLocks noChangeAspect="1"/>
          </p:cNvPicPr>
          <p:nvPr/>
        </p:nvPicPr>
        <p:blipFill>
          <a:blip r:embed="rId3"/>
          <a:stretch>
            <a:fillRect/>
          </a:stretch>
        </p:blipFill>
        <p:spPr>
          <a:xfrm>
            <a:off x="160506" y="106481"/>
            <a:ext cx="6536988" cy="36917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3995857"/>
            <a:ext cx="6852285" cy="3860800"/>
          </a:xfrm>
        </p:spPr>
        <p:txBody>
          <a:bodyPr>
            <a:normAutofit/>
          </a:bodyPr>
          <a:lstStyle/>
          <a:p>
            <a:pPr algn="l"/>
            <a:r>
              <a:rPr lang="ja-JP" altLang="en-US" sz="1400" dirty="0"/>
              <a:t>References:</a:t>
            </a:r>
          </a:p>
          <a:p>
            <a:pPr algn="l"/>
            <a:r>
              <a:rPr lang="ja-JP" altLang="en-US" sz="1400" dirty="0"/>
              <a:t>• Lynis Homepage – https://cisofy.com/lynis</a:t>
            </a:r>
          </a:p>
          <a:p>
            <a:pPr algn="l"/>
            <a:r>
              <a:rPr lang="ja-JP" altLang="en-US" sz="1400" dirty="0"/>
              <a:t>• Lynis GitHub Repo – https://github.com/CISOfy/lynis</a:t>
            </a:r>
          </a:p>
          <a:p>
            <a:pPr algn="l"/>
            <a:r>
              <a:rPr lang="ja-JP" altLang="en-US" sz="1400" dirty="0"/>
              <a:t>• Bastille Linux – http://bastille-linux.sourceforge.net</a:t>
            </a:r>
          </a:p>
          <a:p>
            <a:pPr algn="l"/>
            <a:endParaRPr lang="ja-JP" altLang="en-US" sz="1400" dirty="0"/>
          </a:p>
        </p:txBody>
      </p:sp>
      <p:pic>
        <p:nvPicPr>
          <p:cNvPr id="4" name="図 3">
            <a:extLst>
              <a:ext uri="{FF2B5EF4-FFF2-40B4-BE49-F238E27FC236}">
                <a16:creationId xmlns:a16="http://schemas.microsoft.com/office/drawing/2014/main" id="{4E84F67B-E8BD-489F-8F0E-7CA186AF28C1}"/>
              </a:ext>
            </a:extLst>
          </p:cNvPr>
          <p:cNvPicPr>
            <a:picLocks noChangeAspect="1"/>
          </p:cNvPicPr>
          <p:nvPr/>
        </p:nvPicPr>
        <p:blipFill>
          <a:blip r:embed="rId2"/>
          <a:stretch>
            <a:fillRect/>
          </a:stretch>
        </p:blipFill>
        <p:spPr>
          <a:xfrm>
            <a:off x="170234" y="155640"/>
            <a:ext cx="6517532" cy="368457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3975008"/>
            <a:ext cx="6852285" cy="6312535"/>
          </a:xfrm>
        </p:spPr>
        <p:txBody>
          <a:bodyPr>
            <a:normAutofit/>
          </a:bodyPr>
          <a:lstStyle/>
          <a:p>
            <a:pPr algn="l"/>
            <a:r>
              <a:rPr lang="ja-JP" altLang="en-US" sz="1400" dirty="0"/>
              <a:t>References:</a:t>
            </a:r>
          </a:p>
          <a:p>
            <a:pPr algn="l"/>
            <a:r>
              <a:rPr lang="ja-JP" altLang="en-US" sz="1400" dirty="0"/>
              <a:t>Unix</a:t>
            </a:r>
          </a:p>
          <a:p>
            <a:pPr algn="l"/>
            <a:r>
              <a:rPr lang="ja-JP" altLang="en-US" sz="1400" dirty="0"/>
              <a:t>• ipfilter (ipf) in FreeBSD Handbook – https://goo.gl/nSp9EW</a:t>
            </a:r>
          </a:p>
          <a:p>
            <a:pPr algn="l"/>
            <a:r>
              <a:rPr lang="ja-JP" altLang="en-US" sz="1400" dirty="0"/>
              <a:t>• ipfw in FreeBSD Handbook – https://goo.gl/63cxRK</a:t>
            </a:r>
          </a:p>
          <a:p>
            <a:pPr algn="l"/>
            <a:r>
              <a:rPr lang="ja-JP" altLang="en-US" sz="1400" dirty="0"/>
              <a:t>• OpenBSD pf Handbook – https://goo.gl/9Gu7nz</a:t>
            </a:r>
          </a:p>
          <a:p>
            <a:pPr algn="l"/>
            <a:r>
              <a:rPr lang="ja-JP" altLang="en-US" sz="1400" dirty="0"/>
              <a:t>Linux</a:t>
            </a:r>
          </a:p>
          <a:p>
            <a:pPr algn="l"/>
            <a:r>
              <a:rPr lang="ja-JP" altLang="en-US" sz="1400" dirty="0"/>
              <a:t>• ipfwadm Project – https://goo.gl/24PSdP</a:t>
            </a:r>
          </a:p>
          <a:p>
            <a:pPr algn="l"/>
            <a:r>
              <a:rPr lang="ja-JP" altLang="en-US" sz="1400" dirty="0"/>
              <a:t>• ipchains Project – https://goo.gl/bPhY26</a:t>
            </a:r>
          </a:p>
          <a:p>
            <a:pPr algn="l"/>
            <a:r>
              <a:rPr lang="ja-JP" altLang="en-US" sz="1400" dirty="0"/>
              <a:t>• iptables Project – https://goo.gl/ssm77c</a:t>
            </a:r>
          </a:p>
          <a:p>
            <a:pPr algn="l"/>
            <a:r>
              <a:rPr lang="ja-JP" altLang="en-US" sz="1400" dirty="0"/>
              <a:t>• nftables Project – https://goo.gl/9PgwiV</a:t>
            </a:r>
          </a:p>
          <a:p>
            <a:pPr algn="l"/>
            <a:endParaRPr lang="ja-JP" altLang="en-US" sz="1400" dirty="0"/>
          </a:p>
        </p:txBody>
      </p:sp>
      <p:pic>
        <p:nvPicPr>
          <p:cNvPr id="4" name="図 3">
            <a:extLst>
              <a:ext uri="{FF2B5EF4-FFF2-40B4-BE49-F238E27FC236}">
                <a16:creationId xmlns:a16="http://schemas.microsoft.com/office/drawing/2014/main" id="{B18E511F-F104-4220-95FB-F6FC33CCE560}"/>
              </a:ext>
            </a:extLst>
          </p:cNvPr>
          <p:cNvPicPr>
            <a:picLocks noChangeAspect="1"/>
          </p:cNvPicPr>
          <p:nvPr/>
        </p:nvPicPr>
        <p:blipFill>
          <a:blip r:embed="rId2"/>
          <a:stretch>
            <a:fillRect/>
          </a:stretch>
        </p:blipFill>
        <p:spPr>
          <a:xfrm>
            <a:off x="150778" y="134723"/>
            <a:ext cx="6556444" cy="373401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989786"/>
            <a:ext cx="6852285" cy="6165895"/>
          </a:xfrm>
        </p:spPr>
        <p:txBody>
          <a:bodyPr>
            <a:normAutofit/>
          </a:bodyPr>
          <a:lstStyle/>
          <a:p>
            <a:pPr algn="l"/>
            <a:r>
              <a:rPr lang="ja-JP" altLang="en-US" sz="1400" dirty="0"/>
              <a:t>iptables は 完全なパケット検査システム であり、非常に強力なファイアウォールルールを実装できます。</a:t>
            </a:r>
          </a:p>
          <a:p>
            <a:pPr algn="l"/>
            <a:r>
              <a:rPr lang="ja-JP" altLang="en-US" sz="1400" dirty="0"/>
              <a:t>しかし、その強力さゆえに 設定の複雑さも非常に高い という問題があります。</a:t>
            </a:r>
          </a:p>
          <a:p>
            <a:pPr algn="l"/>
            <a:r>
              <a:rPr lang="ja-JP" altLang="en-US" sz="1400" dirty="0"/>
              <a:t>iptables のフィルタを書くには：</a:t>
            </a:r>
          </a:p>
          <a:p>
            <a:pPr algn="l"/>
            <a:r>
              <a:rPr lang="ja-JP" altLang="en-US" sz="1400" dirty="0"/>
              <a:t>- ファイアウォールの構成方法を理解すること</a:t>
            </a:r>
          </a:p>
          <a:p>
            <a:pPr algn="l"/>
            <a:r>
              <a:rPr lang="ja-JP" altLang="en-US" sz="1400" dirty="0"/>
              <a:t>- iptables 独特の、時に奇妙で分かりにくいルール記述方法を乗り越えること</a:t>
            </a:r>
          </a:p>
          <a:p>
            <a:pPr algn="l"/>
            <a:r>
              <a:rPr lang="ja-JP" altLang="en-US" sz="1400" dirty="0"/>
              <a:t>が必要になります。</a:t>
            </a:r>
          </a:p>
          <a:p>
            <a:pPr algn="l"/>
            <a:endParaRPr lang="ja-JP" altLang="en-US" sz="1400" dirty="0"/>
          </a:p>
          <a:p>
            <a:pPr algn="l"/>
            <a:r>
              <a:rPr lang="ja-JP" altLang="en-US" sz="1400" dirty="0"/>
              <a:t>iptables の仕組み：チェーンとルール</a:t>
            </a:r>
          </a:p>
          <a:p>
            <a:pPr algn="l"/>
            <a:r>
              <a:rPr lang="ja-JP" altLang="en-US" sz="1400" dirty="0"/>
              <a:t>iptables は チェーン内のルール によって動作します。</a:t>
            </a:r>
          </a:p>
          <a:p>
            <a:pPr algn="l"/>
            <a:r>
              <a:rPr lang="ja-JP" altLang="en-US" sz="1400" dirty="0"/>
              <a:t>- すべてのパケットは、該当するチェーンのルールを上から順にチェックされる</a:t>
            </a:r>
          </a:p>
          <a:p>
            <a:pPr algn="l"/>
            <a:r>
              <a:rPr lang="ja-JP" altLang="en-US" sz="1400" dirty="0"/>
              <a:t>- どれかのルールに一致した時点で、そのルールに書かれたアクションが実行される</a:t>
            </a:r>
          </a:p>
          <a:p>
            <a:pPr algn="l"/>
            <a:r>
              <a:rPr lang="ja-JP" altLang="en-US" sz="1400" dirty="0"/>
              <a:t>- どのルールにも一致しなかった場合は、そのチェーンに設定された デフォルトポリシー が適用される</a:t>
            </a:r>
          </a:p>
          <a:p>
            <a:pPr algn="l"/>
            <a:r>
              <a:rPr lang="ja-JP" altLang="en-US" sz="1400" dirty="0"/>
              <a:t>もし管理者がデフォルトポリシーを設定していない場合、</a:t>
            </a:r>
          </a:p>
          <a:p>
            <a:pPr algn="l"/>
            <a:r>
              <a:rPr lang="ja-JP" altLang="en-US" sz="1400" dirty="0"/>
              <a:t>デフォルトは ACCEPT（許可） になります。</a:t>
            </a:r>
          </a:p>
          <a:p>
            <a:pPr algn="l"/>
            <a:r>
              <a:rPr lang="ja-JP" altLang="en-US" sz="1400" dirty="0"/>
              <a:t>References:</a:t>
            </a:r>
          </a:p>
          <a:p>
            <a:pPr algn="l"/>
            <a:r>
              <a:rPr lang="ja-JP" altLang="en-US" sz="1400" dirty="0"/>
              <a:t>• Man page for iptables – https://goo.gl/pLT1Gt</a:t>
            </a:r>
          </a:p>
          <a:p>
            <a:pPr algn="l"/>
            <a:r>
              <a:rPr lang="ja-JP" altLang="en-US" sz="1400" dirty="0"/>
              <a:t>• Official documentation for iptables in multiple languages – https://goo.gl/8NKy9B</a:t>
            </a:r>
          </a:p>
          <a:p>
            <a:pPr algn="l"/>
            <a:r>
              <a:rPr lang="ja-JP" altLang="en-US" sz="1400" dirty="0"/>
              <a:t>• Oskar Andreasson's iptables tutorial – https://goo.gl/oMyjhZ</a:t>
            </a:r>
          </a:p>
        </p:txBody>
      </p:sp>
      <p:pic>
        <p:nvPicPr>
          <p:cNvPr id="4" name="図 3">
            <a:extLst>
              <a:ext uri="{FF2B5EF4-FFF2-40B4-BE49-F238E27FC236}">
                <a16:creationId xmlns:a16="http://schemas.microsoft.com/office/drawing/2014/main" id="{CFBCD079-305B-4207-8B2B-BCD5A417AC35}"/>
              </a:ext>
            </a:extLst>
          </p:cNvPr>
          <p:cNvPicPr>
            <a:picLocks noChangeAspect="1"/>
          </p:cNvPicPr>
          <p:nvPr/>
        </p:nvPicPr>
        <p:blipFill>
          <a:blip r:embed="rId2"/>
          <a:stretch>
            <a:fillRect/>
          </a:stretch>
        </p:blipFill>
        <p:spPr>
          <a:xfrm>
            <a:off x="137436" y="116730"/>
            <a:ext cx="6583128" cy="373542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形 3"/>
          <p:cNvPicPr>
            <a:picLocks noChangeAspect="1"/>
          </p:cNvPicPr>
          <p:nvPr/>
        </p:nvPicPr>
        <p:blipFill>
          <a:blip r:embed="rId2"/>
          <a:stretch>
            <a:fillRect/>
          </a:stretch>
        </p:blipFill>
        <p:spPr>
          <a:xfrm>
            <a:off x="58706" y="3999506"/>
            <a:ext cx="6605270" cy="4864735"/>
          </a:xfrm>
          <a:prstGeom prst="rect">
            <a:avLst/>
          </a:prstGeom>
        </p:spPr>
      </p:pic>
      <p:pic>
        <p:nvPicPr>
          <p:cNvPr id="5" name="図形 4"/>
          <p:cNvPicPr>
            <a:picLocks noChangeAspect="1"/>
          </p:cNvPicPr>
          <p:nvPr/>
        </p:nvPicPr>
        <p:blipFill>
          <a:blip r:embed="rId3"/>
          <a:stretch>
            <a:fillRect/>
          </a:stretch>
        </p:blipFill>
        <p:spPr>
          <a:xfrm>
            <a:off x="58706" y="8864241"/>
            <a:ext cx="6541770" cy="1624330"/>
          </a:xfrm>
          <a:prstGeom prst="rect">
            <a:avLst/>
          </a:prstGeom>
        </p:spPr>
      </p:pic>
      <p:pic>
        <p:nvPicPr>
          <p:cNvPr id="6" name="図 5">
            <a:extLst>
              <a:ext uri="{FF2B5EF4-FFF2-40B4-BE49-F238E27FC236}">
                <a16:creationId xmlns:a16="http://schemas.microsoft.com/office/drawing/2014/main" id="{F1F5D2D6-A3D2-434E-9D3F-E77FBC2B7C54}"/>
              </a:ext>
            </a:extLst>
          </p:cNvPr>
          <p:cNvPicPr>
            <a:picLocks noChangeAspect="1"/>
          </p:cNvPicPr>
          <p:nvPr/>
        </p:nvPicPr>
        <p:blipFill>
          <a:blip r:embed="rId4"/>
          <a:stretch>
            <a:fillRect/>
          </a:stretch>
        </p:blipFill>
        <p:spPr>
          <a:xfrm>
            <a:off x="158115" y="146114"/>
            <a:ext cx="6541770" cy="36982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998429"/>
            <a:ext cx="6852285" cy="5845964"/>
          </a:xfrm>
        </p:spPr>
        <p:txBody>
          <a:bodyPr>
            <a:normAutofit/>
          </a:bodyPr>
          <a:lstStyle/>
          <a:p>
            <a:pPr algn="l"/>
            <a:r>
              <a:rPr lang="ja-JP" altLang="en-US" sz="1400" dirty="0"/>
              <a:t>これらのルールは、個人用ノート PC のような 単純な構成のシステム では使えるかもしれませんが、</a:t>
            </a:r>
          </a:p>
          <a:p>
            <a:pPr algn="l"/>
            <a:r>
              <a:rPr lang="ja-JP" altLang="en-US" sz="1400" dirty="0"/>
              <a:t>実際のアプリケーション環境では、ファイアウォールルールは もっと複雑 になります。</a:t>
            </a:r>
          </a:p>
          <a:p>
            <a:pPr algn="l"/>
            <a:r>
              <a:rPr lang="ja-JP" altLang="en-US" sz="1400" dirty="0"/>
              <a:t>iptables のコマンドライン構文は強力である一方、</a:t>
            </a:r>
          </a:p>
          <a:p>
            <a:pPr algn="l"/>
            <a:r>
              <a:rPr lang="ja-JP" altLang="en-US" sz="1400" dirty="0"/>
              <a:t>その複雑さがユーザーや管理者を尻込みさせ、</a:t>
            </a:r>
          </a:p>
          <a:p>
            <a:pPr algn="l"/>
            <a:r>
              <a:rPr lang="ja-JP" altLang="en-US" sz="1400" dirty="0"/>
              <a:t>iptables の機能を十分に活用できない原因にもなっています。</a:t>
            </a:r>
          </a:p>
          <a:p>
            <a:pPr algn="l"/>
            <a:r>
              <a:rPr lang="ja-JP" altLang="en-US" sz="1400" dirty="0"/>
              <a:t>しかし良いニュースとして、</a:t>
            </a:r>
          </a:p>
          <a:p>
            <a:pPr algn="l"/>
            <a:r>
              <a:rPr lang="ja-JP" altLang="en-US" sz="1400" dirty="0"/>
              <a:t>初心者でも iptables の機能を使えるようにする GUI ツール が開発されています。</a:t>
            </a:r>
          </a:p>
          <a:p>
            <a:pPr algn="l"/>
            <a:r>
              <a:rPr lang="ja-JP" altLang="en-US" sz="1400" dirty="0"/>
              <a:t>たとえば Red Hat 系のシステムでは、</a:t>
            </a:r>
          </a:p>
          <a:p>
            <a:pPr algn="l"/>
            <a:r>
              <a:rPr lang="ja-JP" altLang="en-US" sz="1400" dirty="0"/>
              <a:t>「Applications → System Settings → Security Level」からアクセスできる GUI があり、</a:t>
            </a:r>
          </a:p>
          <a:p>
            <a:pPr algn="l"/>
            <a:r>
              <a:rPr lang="ja-JP" altLang="en-US" sz="1400" dirty="0"/>
              <a:t>ファイアウォールの ON/OFF や、外部からアクセスを許可するサービスの選択ができます。</a:t>
            </a:r>
          </a:p>
          <a:p>
            <a:pPr algn="l"/>
            <a:r>
              <a:rPr lang="ja-JP" altLang="en-US" sz="1400" dirty="0"/>
              <a:t>このスライドでは、iptables のコマンドラインがどのようなものかを示すために、</a:t>
            </a:r>
          </a:p>
          <a:p>
            <a:pPr algn="l"/>
            <a:r>
              <a:rPr lang="ja-JP" altLang="en-US" sz="1400" dirty="0"/>
              <a:t>管理者サブネットからの SSH/HTTPS を許可し、</a:t>
            </a:r>
          </a:p>
          <a:p>
            <a:pPr algn="l"/>
            <a:r>
              <a:rPr lang="ja-JP" altLang="en-US" sz="1400" dirty="0"/>
              <a:t>すべての TCP/UDP/ICMP のアウトバウンドを許可する</a:t>
            </a:r>
          </a:p>
          <a:p>
            <a:pPr algn="l"/>
            <a:r>
              <a:rPr lang="ja-JP" altLang="en-US" sz="1400" dirty="0"/>
              <a:t>というシンプルなポリシーを構築するコマンド例が紹介されています。</a:t>
            </a:r>
          </a:p>
        </p:txBody>
      </p:sp>
      <p:pic>
        <p:nvPicPr>
          <p:cNvPr id="4" name="図 3">
            <a:extLst>
              <a:ext uri="{FF2B5EF4-FFF2-40B4-BE49-F238E27FC236}">
                <a16:creationId xmlns:a16="http://schemas.microsoft.com/office/drawing/2014/main" id="{0DBC4476-FE99-41BB-B79E-5F351FCA4CE2}"/>
              </a:ext>
            </a:extLst>
          </p:cNvPr>
          <p:cNvPicPr>
            <a:picLocks noChangeAspect="1"/>
          </p:cNvPicPr>
          <p:nvPr/>
        </p:nvPicPr>
        <p:blipFill>
          <a:blip r:embed="rId2"/>
          <a:stretch>
            <a:fillRect/>
          </a:stretch>
        </p:blipFill>
        <p:spPr>
          <a:xfrm>
            <a:off x="168848" y="175095"/>
            <a:ext cx="6520304" cy="371596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960597"/>
            <a:ext cx="6852285" cy="3996628"/>
          </a:xfrm>
        </p:spPr>
        <p:txBody>
          <a:bodyPr>
            <a:normAutofit/>
          </a:bodyPr>
          <a:lstStyle/>
          <a:p>
            <a:pPr algn="l"/>
            <a:r>
              <a:rPr lang="ja-JP" altLang="en-US" sz="1400" dirty="0"/>
              <a:t>Reference:</a:t>
            </a:r>
          </a:p>
          <a:p>
            <a:pPr algn="l"/>
            <a:r>
              <a:rPr lang="ja-JP" altLang="en-US" sz="1400" dirty="0"/>
              <a:t>• NetFilter wiki for nftables – https://goo.gl/hqiby</a:t>
            </a:r>
            <a:r>
              <a:rPr lang="en-US" altLang="ja-JP" sz="1400" dirty="0"/>
              <a:t>T</a:t>
            </a:r>
          </a:p>
        </p:txBody>
      </p:sp>
      <p:pic>
        <p:nvPicPr>
          <p:cNvPr id="4" name="図 3">
            <a:extLst>
              <a:ext uri="{FF2B5EF4-FFF2-40B4-BE49-F238E27FC236}">
                <a16:creationId xmlns:a16="http://schemas.microsoft.com/office/drawing/2014/main" id="{5AB2E826-9AFE-4FCB-89ED-54A962437928}"/>
              </a:ext>
            </a:extLst>
          </p:cNvPr>
          <p:cNvPicPr>
            <a:picLocks noChangeAspect="1"/>
          </p:cNvPicPr>
          <p:nvPr/>
        </p:nvPicPr>
        <p:blipFill>
          <a:blip r:embed="rId2"/>
          <a:stretch>
            <a:fillRect/>
          </a:stretch>
        </p:blipFill>
        <p:spPr>
          <a:xfrm>
            <a:off x="215590" y="194550"/>
            <a:ext cx="6426820" cy="363814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752483"/>
            <a:ext cx="6852285" cy="3302000"/>
          </a:xfrm>
        </p:spPr>
        <p:txBody>
          <a:bodyPr>
            <a:normAutofit/>
          </a:bodyPr>
          <a:lstStyle/>
          <a:p>
            <a:pPr algn="l"/>
            <a:r>
              <a:rPr lang="ja-JP" altLang="en-US" sz="1400" dirty="0"/>
              <a:t>上記のルールの多くにはインラインコメントが付いているため、</a:t>
            </a:r>
          </a:p>
          <a:p>
            <a:pPr algn="l"/>
            <a:r>
              <a:rPr lang="ja-JP" altLang="en-US" sz="1400" dirty="0"/>
              <a:t>ほとんどは理解できるはずです。</a:t>
            </a:r>
          </a:p>
          <a:p>
            <a:pPr algn="l"/>
            <a:r>
              <a:rPr lang="ja-JP" altLang="en-US" sz="1400" dirty="0"/>
              <a:t>ただし、ICMPv6 の Neighbor Discovery（ND）プロトコル については</a:t>
            </a:r>
          </a:p>
          <a:p>
            <a:pPr algn="l"/>
            <a:r>
              <a:rPr lang="ja-JP" altLang="en-US" sz="1400" dirty="0"/>
              <a:t>馴染みがないかもしれません。</a:t>
            </a:r>
          </a:p>
          <a:p>
            <a:pPr algn="l"/>
            <a:r>
              <a:rPr lang="ja-JP" altLang="en-US" sz="1400" dirty="0"/>
              <a:t>ND は IPv6 における ARP と同じ役割 を果たします。</a:t>
            </a:r>
          </a:p>
          <a:p>
            <a:pPr algn="l"/>
            <a:r>
              <a:rPr lang="ja-JP" altLang="en-US" sz="1400" dirty="0"/>
              <a:t>紹介されている ICMPv6 のルールの中で、</a:t>
            </a:r>
            <a:r>
              <a:rPr lang="en-US" altLang="ja-JP" sz="1400" dirty="0" err="1"/>
              <a:t>nd</a:t>
            </a:r>
            <a:r>
              <a:rPr lang="en-US" altLang="ja-JP" sz="1400" dirty="0"/>
              <a:t>-neighbor-solicit</a:t>
            </a:r>
            <a:endParaRPr lang="ja-JP" altLang="en-US" sz="1400" dirty="0"/>
          </a:p>
          <a:p>
            <a:pPr algn="l"/>
            <a:r>
              <a:rPr lang="ja-JP" altLang="en-US" sz="1400" dirty="0"/>
              <a:t> メッセージを許可している部分があります。</a:t>
            </a:r>
          </a:p>
          <a:p>
            <a:pPr algn="l"/>
            <a:r>
              <a:rPr lang="ja-JP" altLang="en-US" sz="1400" dirty="0"/>
              <a:t>これは、IPv6 アドレスに基づいて通信しようとしている相手の</a:t>
            </a:r>
          </a:p>
          <a:p>
            <a:pPr algn="l"/>
            <a:r>
              <a:rPr lang="ja-JP" altLang="en-US" sz="1400" dirty="0"/>
              <a:t>MAC アドレスを取得するための問い合わせメッセージ です。</a:t>
            </a:r>
          </a:p>
          <a:p>
            <a:pPr algn="l"/>
            <a:r>
              <a:rPr lang="ja-JP" altLang="en-US" sz="1400" dirty="0"/>
              <a:t>つまり、IPv6 ネットワーク上で正常に通信するために</a:t>
            </a:r>
          </a:p>
          <a:p>
            <a:pPr algn="l"/>
            <a:r>
              <a:rPr lang="ja-JP" altLang="en-US" sz="1400" dirty="0"/>
              <a:t>必要不可欠なプロトコルを許可しているわけです。</a:t>
            </a:r>
          </a:p>
        </p:txBody>
      </p:sp>
      <p:pic>
        <p:nvPicPr>
          <p:cNvPr id="4" name="図形 3"/>
          <p:cNvPicPr>
            <a:picLocks noChangeAspect="1"/>
          </p:cNvPicPr>
          <p:nvPr/>
        </p:nvPicPr>
        <p:blipFill>
          <a:blip r:embed="rId2"/>
          <a:stretch>
            <a:fillRect/>
          </a:stretch>
        </p:blipFill>
        <p:spPr>
          <a:xfrm>
            <a:off x="0" y="9531618"/>
            <a:ext cx="6494145" cy="2596515"/>
          </a:xfrm>
          <a:prstGeom prst="rect">
            <a:avLst/>
          </a:prstGeom>
        </p:spPr>
      </p:pic>
      <p:pic>
        <p:nvPicPr>
          <p:cNvPr id="5" name="図形 4"/>
          <p:cNvPicPr>
            <a:picLocks noChangeAspect="1"/>
          </p:cNvPicPr>
          <p:nvPr/>
        </p:nvPicPr>
        <p:blipFill>
          <a:blip r:embed="rId3"/>
          <a:stretch>
            <a:fillRect/>
          </a:stretch>
        </p:blipFill>
        <p:spPr>
          <a:xfrm>
            <a:off x="0" y="7213233"/>
            <a:ext cx="6548755" cy="2216785"/>
          </a:xfrm>
          <a:prstGeom prst="rect">
            <a:avLst/>
          </a:prstGeom>
        </p:spPr>
      </p:pic>
      <p:pic>
        <p:nvPicPr>
          <p:cNvPr id="6" name="図 5">
            <a:extLst>
              <a:ext uri="{FF2B5EF4-FFF2-40B4-BE49-F238E27FC236}">
                <a16:creationId xmlns:a16="http://schemas.microsoft.com/office/drawing/2014/main" id="{C7EB4212-089B-48D5-8BBB-C6E3A8CDD92D}"/>
              </a:ext>
            </a:extLst>
          </p:cNvPr>
          <p:cNvPicPr>
            <a:picLocks noChangeAspect="1"/>
          </p:cNvPicPr>
          <p:nvPr/>
        </p:nvPicPr>
        <p:blipFill>
          <a:blip r:embed="rId4"/>
          <a:stretch>
            <a:fillRect/>
          </a:stretch>
        </p:blipFill>
        <p:spPr>
          <a:xfrm>
            <a:off x="273000" y="114208"/>
            <a:ext cx="6311999" cy="3576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6F4E1212-12E6-44F9-A57D-480E52E71095}"/>
              </a:ext>
            </a:extLst>
          </p:cNvPr>
          <p:cNvPicPr>
            <a:picLocks noChangeAspect="1"/>
          </p:cNvPicPr>
          <p:nvPr/>
        </p:nvPicPr>
        <p:blipFill>
          <a:blip r:embed="rId2"/>
          <a:stretch>
            <a:fillRect/>
          </a:stretch>
        </p:blipFill>
        <p:spPr>
          <a:xfrm>
            <a:off x="152987" y="175098"/>
            <a:ext cx="6552025" cy="373902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88DE5B46-6438-4DFA-9DCD-65184BB6A87C}"/>
              </a:ext>
            </a:extLst>
          </p:cNvPr>
          <p:cNvPicPr>
            <a:picLocks noChangeAspect="1"/>
          </p:cNvPicPr>
          <p:nvPr/>
        </p:nvPicPr>
        <p:blipFill>
          <a:blip r:embed="rId2"/>
          <a:stretch>
            <a:fillRect/>
          </a:stretch>
        </p:blipFill>
        <p:spPr>
          <a:xfrm>
            <a:off x="160506" y="186602"/>
            <a:ext cx="6536987" cy="370806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013ED595-35E5-49EF-998A-EF974DF8D227}"/>
              </a:ext>
            </a:extLst>
          </p:cNvPr>
          <p:cNvPicPr>
            <a:picLocks noChangeAspect="1"/>
          </p:cNvPicPr>
          <p:nvPr/>
        </p:nvPicPr>
        <p:blipFill>
          <a:blip r:embed="rId2"/>
          <a:stretch>
            <a:fillRect/>
          </a:stretch>
        </p:blipFill>
        <p:spPr>
          <a:xfrm>
            <a:off x="179961" y="198011"/>
            <a:ext cx="6498077" cy="368224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4BA8E9FE-8FF7-4389-B860-C504CC1C1D7F}"/>
              </a:ext>
            </a:extLst>
          </p:cNvPr>
          <p:cNvPicPr>
            <a:picLocks noChangeAspect="1"/>
          </p:cNvPicPr>
          <p:nvPr/>
        </p:nvPicPr>
        <p:blipFill>
          <a:blip r:embed="rId2"/>
          <a:stretch>
            <a:fillRect/>
          </a:stretch>
        </p:blipFill>
        <p:spPr>
          <a:xfrm>
            <a:off x="228600" y="166794"/>
            <a:ext cx="6400800" cy="363311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7094" y="3975007"/>
            <a:ext cx="6852285" cy="6312535"/>
          </a:xfrm>
        </p:spPr>
        <p:txBody>
          <a:bodyPr>
            <a:normAutofit/>
          </a:bodyPr>
          <a:lstStyle/>
          <a:p>
            <a:pPr algn="l"/>
            <a:r>
              <a:rPr lang="ja-JP" altLang="en-US" sz="1400" dirty="0"/>
              <a:t>以下に、提示された エンドポイント保護（Endpoint Protection / EDR / AV）ベンダー一覧 を</a:t>
            </a:r>
          </a:p>
          <a:p>
            <a:pPr algn="l"/>
            <a:r>
              <a:rPr lang="ja-JP" altLang="en-US" sz="1400" dirty="0"/>
              <a:t>表形式で整理 しました。</a:t>
            </a:r>
          </a:p>
          <a:p>
            <a:pPr algn="l"/>
            <a:r>
              <a:rPr lang="ja-JP" altLang="en-US" sz="1400" dirty="0"/>
              <a:t>ICS/OT でもよく名前を見る企業が多く含まれています。</a:t>
            </a:r>
          </a:p>
          <a:p>
            <a:pPr algn="l"/>
            <a:r>
              <a:rPr lang="ja-JP" altLang="en-US" sz="1400" dirty="0"/>
              <a:t>• Bitdefender • Cisco • Comodo • CrowdStrike • Cylance • Endgame • ESET • F-Secure • FireEye • Fortinet • Kaspersky Lab • Malwarebytes • McAfee • Microsoft • Palo Alto Networks • Panda Security • SentinelOne • Sophos • Symantec • Trend Micro</a:t>
            </a:r>
          </a:p>
        </p:txBody>
      </p:sp>
      <p:pic>
        <p:nvPicPr>
          <p:cNvPr id="4" name="図 3">
            <a:extLst>
              <a:ext uri="{FF2B5EF4-FFF2-40B4-BE49-F238E27FC236}">
                <a16:creationId xmlns:a16="http://schemas.microsoft.com/office/drawing/2014/main" id="{6E19F009-FF50-49B0-8E10-23392766C4C1}"/>
              </a:ext>
            </a:extLst>
          </p:cNvPr>
          <p:cNvPicPr>
            <a:picLocks noChangeAspect="1"/>
          </p:cNvPicPr>
          <p:nvPr/>
        </p:nvPicPr>
        <p:blipFill>
          <a:blip r:embed="rId2"/>
          <a:stretch>
            <a:fillRect/>
          </a:stretch>
        </p:blipFill>
        <p:spPr>
          <a:xfrm>
            <a:off x="174742" y="149004"/>
            <a:ext cx="6536988" cy="370545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63560" y="3882777"/>
            <a:ext cx="6852285" cy="6312535"/>
          </a:xfrm>
        </p:spPr>
        <p:txBody>
          <a:bodyPr>
            <a:normAutofit/>
          </a:bodyPr>
          <a:lstStyle/>
          <a:p>
            <a:pPr algn="l"/>
            <a:r>
              <a:rPr lang="ja-JP" altLang="en-US" sz="1400" dirty="0"/>
              <a:t>John Strand と Black Hills Information Security（BHIS）のチームは、</a:t>
            </a:r>
          </a:p>
          <a:p>
            <a:pPr algn="l"/>
            <a:r>
              <a:rPr lang="ja-JP" altLang="en-US" sz="1400" dirty="0"/>
              <a:t>アンチウイルス（AV）をバイパスする手法について、</a:t>
            </a:r>
          </a:p>
          <a:p>
            <a:pPr algn="l"/>
            <a:r>
              <a:rPr lang="ja-JP" altLang="en-US" sz="1400" dirty="0"/>
              <a:t>多数のウェブキャスト、ブログ記事、プレゼンテーションを公開しています。</a:t>
            </a:r>
          </a:p>
          <a:p>
            <a:pPr algn="l"/>
            <a:r>
              <a:rPr lang="ja-JP" altLang="en-US" sz="1400" dirty="0"/>
              <a:t>これらは非常に有益で、時間をかけて学ぶ価値があります。</a:t>
            </a:r>
          </a:p>
          <a:p>
            <a:pPr algn="l"/>
            <a:r>
              <a:rPr lang="ja-JP" altLang="en-US" sz="1400" dirty="0"/>
              <a:t>https://www.blackhillsinfosec.com/tag/anti-virus</a:t>
            </a:r>
          </a:p>
          <a:p>
            <a:pPr algn="l"/>
            <a:r>
              <a:rPr lang="ja-JP" altLang="en-US" sz="1400" dirty="0"/>
              <a:t>インターネット上には、他にも数百もの同様の資料や例が存在します。</a:t>
            </a:r>
          </a:p>
          <a:p>
            <a:pPr algn="l"/>
            <a:r>
              <a:rPr lang="ja-JP" altLang="en-US" sz="1400" dirty="0"/>
              <a:t>自分が使っているエンドポイント製品名と “bypass” を組み合わせて検索すると、</a:t>
            </a:r>
          </a:p>
          <a:p>
            <a:pPr algn="l"/>
            <a:r>
              <a:rPr lang="ja-JP" altLang="en-US" sz="1400" dirty="0"/>
              <a:t>多くの情報が見つかるでしょう。</a:t>
            </a:r>
          </a:p>
          <a:p>
            <a:pPr algn="l"/>
            <a:r>
              <a:rPr lang="ja-JP" altLang="en-US" sz="1400" dirty="0"/>
              <a:t>そして、自分の環境で実際に試してみることをおすすめします。</a:t>
            </a:r>
          </a:p>
          <a:p>
            <a:pPr algn="l"/>
            <a:r>
              <a:rPr lang="ja-JP" altLang="en-US" sz="1400" dirty="0"/>
              <a:t>自分自身のセキュリティ防御をバイパスできたときは、非常に学びが大きい のですが、</a:t>
            </a:r>
          </a:p>
          <a:p>
            <a:pPr algn="l"/>
            <a:r>
              <a:rPr lang="ja-JP" altLang="en-US" sz="1400" dirty="0"/>
              <a:t>そのバイパスを修正するためのリソースを確保することが難しい、という点が課題です。</a:t>
            </a:r>
          </a:p>
        </p:txBody>
      </p:sp>
      <p:pic>
        <p:nvPicPr>
          <p:cNvPr id="4" name="図 3">
            <a:extLst>
              <a:ext uri="{FF2B5EF4-FFF2-40B4-BE49-F238E27FC236}">
                <a16:creationId xmlns:a16="http://schemas.microsoft.com/office/drawing/2014/main" id="{5ADA5625-3F2A-46C5-96EE-1B6C479DE52D}"/>
              </a:ext>
            </a:extLst>
          </p:cNvPr>
          <p:cNvPicPr>
            <a:picLocks noChangeAspect="1"/>
          </p:cNvPicPr>
          <p:nvPr/>
        </p:nvPicPr>
        <p:blipFill>
          <a:blip r:embed="rId2"/>
          <a:stretch>
            <a:fillRect/>
          </a:stretch>
        </p:blipFill>
        <p:spPr>
          <a:xfrm>
            <a:off x="179208" y="116730"/>
            <a:ext cx="6499583" cy="367705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619" y="3877732"/>
            <a:ext cx="6852285" cy="6312535"/>
          </a:xfrm>
        </p:spPr>
        <p:txBody>
          <a:bodyPr>
            <a:normAutofit/>
          </a:bodyPr>
          <a:lstStyle/>
          <a:p>
            <a:pPr algn="l"/>
            <a:r>
              <a:rPr lang="ja-JP" altLang="en-US" sz="1400" dirty="0"/>
              <a:t>References:</a:t>
            </a:r>
          </a:p>
          <a:p>
            <a:pPr algn="l"/>
            <a:r>
              <a:rPr lang="ja-JP" altLang="en-US" sz="1400" dirty="0"/>
              <a:t>• Microsoft Software Restriction Policies – https://docs.microsoft.com/en-us/previous-</a:t>
            </a:r>
          </a:p>
          <a:p>
            <a:pPr algn="l"/>
            <a:r>
              <a:rPr lang="ja-JP" altLang="en-US" sz="1400" dirty="0"/>
              <a:t>versions/windows/it-pro/windows-xp/bb457006(v=technet.10)?redirectedfrom=MSDN</a:t>
            </a:r>
          </a:p>
          <a:p>
            <a:pPr algn="l"/>
            <a:r>
              <a:rPr lang="ja-JP" altLang="en-US" sz="1400" dirty="0"/>
              <a:t>• Microsoft AppLocker – https://docs.microsoft.com/en-us/previous-versions/windows/it-pro/windows-server-2012-R2-and-2012/hh831440(v=ws.11)?redirectedfrom=MSDN</a:t>
            </a:r>
          </a:p>
          <a:p>
            <a:pPr algn="l"/>
            <a:endParaRPr lang="ja-JP" altLang="en-US" sz="1400" dirty="0"/>
          </a:p>
        </p:txBody>
      </p:sp>
      <p:pic>
        <p:nvPicPr>
          <p:cNvPr id="4" name="図 3">
            <a:extLst>
              <a:ext uri="{FF2B5EF4-FFF2-40B4-BE49-F238E27FC236}">
                <a16:creationId xmlns:a16="http://schemas.microsoft.com/office/drawing/2014/main" id="{B06ECFB1-296A-4D86-B1D8-46BF9F45B1D1}"/>
              </a:ext>
            </a:extLst>
          </p:cNvPr>
          <p:cNvPicPr>
            <a:picLocks noChangeAspect="1"/>
          </p:cNvPicPr>
          <p:nvPr/>
        </p:nvPicPr>
        <p:blipFill>
          <a:blip r:embed="rId2"/>
          <a:stretch>
            <a:fillRect/>
          </a:stretch>
        </p:blipFill>
        <p:spPr>
          <a:xfrm>
            <a:off x="281101" y="155640"/>
            <a:ext cx="6295798" cy="356032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3843866"/>
            <a:ext cx="6852285" cy="6312535"/>
          </a:xfrm>
        </p:spPr>
        <p:txBody>
          <a:bodyPr>
            <a:normAutofit/>
          </a:bodyPr>
          <a:lstStyle/>
          <a:p>
            <a:pPr algn="l"/>
            <a:r>
              <a:rPr lang="ja-JP" altLang="en-US" sz="1400" dirty="0"/>
              <a:t>References:</a:t>
            </a:r>
          </a:p>
          <a:p>
            <a:pPr algn="l"/>
            <a:r>
              <a:rPr lang="ja-JP" altLang="en-US" sz="1400" dirty="0"/>
              <a:t>• Microsoft Software Restriction Policies – https://docs.microsoft.com/en-us/previous-</a:t>
            </a:r>
          </a:p>
          <a:p>
            <a:pPr algn="l"/>
            <a:r>
              <a:rPr lang="ja-JP" altLang="en-US" sz="1400" dirty="0"/>
              <a:t>versions/windows/it-pro/windows-xp/bb457006(v=technet.10)?redirectedfrom=MSDN</a:t>
            </a:r>
          </a:p>
          <a:p>
            <a:pPr algn="l"/>
            <a:r>
              <a:rPr lang="ja-JP" altLang="en-US" sz="1400" dirty="0"/>
              <a:t>• Microsoft AppLocker – https://docs.microsoft.com/en-us/previous-versions/windows/it-pro/windows-</a:t>
            </a:r>
          </a:p>
          <a:p>
            <a:pPr algn="l"/>
            <a:r>
              <a:rPr lang="ja-JP" altLang="en-US" sz="1400" dirty="0"/>
              <a:t>server-2012-R2-and-2012/hh831440(v=ws.11)?redirectedfrom=MSDN</a:t>
            </a:r>
          </a:p>
          <a:p>
            <a:pPr algn="l"/>
            <a:r>
              <a:rPr lang="ja-JP" altLang="en-US" sz="1400" dirty="0"/>
              <a:t>• Linux Kernel Security – https://www.cyberciti.biz/tips/selinux-vs-apparmor-vs-grsecurity.html</a:t>
            </a:r>
          </a:p>
          <a:p>
            <a:pPr algn="l"/>
            <a:endParaRPr lang="ja-JP" altLang="en-US" sz="1400" dirty="0"/>
          </a:p>
        </p:txBody>
      </p:sp>
      <p:pic>
        <p:nvPicPr>
          <p:cNvPr id="4" name="図 3">
            <a:extLst>
              <a:ext uri="{FF2B5EF4-FFF2-40B4-BE49-F238E27FC236}">
                <a16:creationId xmlns:a16="http://schemas.microsoft.com/office/drawing/2014/main" id="{F11E9444-DFD8-49A9-8E89-FD483A4E4EB8}"/>
              </a:ext>
            </a:extLst>
          </p:cNvPr>
          <p:cNvPicPr>
            <a:picLocks noChangeAspect="1"/>
          </p:cNvPicPr>
          <p:nvPr/>
        </p:nvPicPr>
        <p:blipFill>
          <a:blip r:embed="rId2"/>
          <a:stretch>
            <a:fillRect/>
          </a:stretch>
        </p:blipFill>
        <p:spPr>
          <a:xfrm>
            <a:off x="257782" y="155640"/>
            <a:ext cx="6342435" cy="358669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875930"/>
            <a:ext cx="6852285" cy="6312535"/>
          </a:xfrm>
        </p:spPr>
        <p:txBody>
          <a:bodyPr>
            <a:normAutofit/>
          </a:bodyPr>
          <a:lstStyle/>
          <a:p>
            <a:pPr algn="l"/>
            <a:r>
              <a:rPr lang="ja-JP" altLang="en-US" sz="1400" dirty="0"/>
              <a:t>整合性チェッカー（Integrity Checker）は、</a:t>
            </a:r>
          </a:p>
          <a:p>
            <a:pPr algn="l"/>
            <a:r>
              <a:rPr lang="ja-JP" altLang="en-US" sz="1400" dirty="0"/>
              <a:t>管理者がシステムの状態をチェックし、</a:t>
            </a:r>
          </a:p>
          <a:p>
            <a:pPr algn="l"/>
            <a:r>
              <a:rPr lang="ja-JP" altLang="en-US" sz="1400" dirty="0"/>
              <a:t>どのファイルがいつ変更されたかをスナップショットとして把握できる</a:t>
            </a:r>
          </a:p>
          <a:p>
            <a:pPr algn="l"/>
            <a:r>
              <a:rPr lang="ja-JP" altLang="en-US" sz="1400" dirty="0"/>
              <a:t>非常に有用なツールです。</a:t>
            </a:r>
          </a:p>
          <a:p>
            <a:pPr algn="l"/>
            <a:r>
              <a:rPr lang="ja-JP" altLang="en-US" sz="1400" dirty="0"/>
              <a:t>Tripwire は商用版とオープンソース版が存在する整合性検査ツールで、</a:t>
            </a:r>
          </a:p>
          <a:p>
            <a:pPr algn="l"/>
            <a:r>
              <a:rPr lang="ja-JP" altLang="en-US" sz="1400" dirty="0"/>
              <a:t>ファイルやディレクトリのデジタルスナップショットを作成し、</a:t>
            </a:r>
          </a:p>
          <a:p>
            <a:pPr algn="l"/>
            <a:r>
              <a:rPr lang="ja-JP" altLang="en-US" sz="1400" dirty="0"/>
              <a:t>それをポータブルなデータベースとして保存します。</a:t>
            </a:r>
          </a:p>
          <a:p>
            <a:pPr algn="l"/>
            <a:r>
              <a:rPr lang="ja-JP" altLang="en-US" sz="1400" dirty="0"/>
              <a:t>このデータベースは オフサイトで安全に保管 する必要があります。</a:t>
            </a:r>
          </a:p>
          <a:p>
            <a:pPr algn="l"/>
            <a:r>
              <a:rPr lang="ja-JP" altLang="en-US" sz="1400" dirty="0"/>
              <a:t>インシデントが発生した場合や、</a:t>
            </a:r>
          </a:p>
          <a:p>
            <a:pPr algn="l"/>
            <a:r>
              <a:rPr lang="ja-JP" altLang="en-US" sz="1400" dirty="0"/>
              <a:t>組織がシステム監査を行いたい場合、</a:t>
            </a:r>
          </a:p>
          <a:p>
            <a:pPr algn="l"/>
            <a:r>
              <a:rPr lang="ja-JP" altLang="en-US" sz="1400" dirty="0"/>
              <a:t>Tripwire はスナップショット以降に発生した変更を素早く可視化し、</a:t>
            </a:r>
          </a:p>
          <a:p>
            <a:pPr algn="l"/>
            <a:r>
              <a:rPr lang="ja-JP" altLang="en-US" sz="1400" dirty="0"/>
              <a:t>レスポンダーが 重要な変更点を即座に把握 できるようにします。</a:t>
            </a:r>
          </a:p>
          <a:p>
            <a:pPr algn="l"/>
            <a:r>
              <a:rPr lang="ja-JP" altLang="en-US" sz="1400" dirty="0"/>
              <a:t>References:</a:t>
            </a:r>
          </a:p>
          <a:p>
            <a:pPr algn="l"/>
            <a:r>
              <a:rPr lang="ja-JP" altLang="en-US" sz="1400" dirty="0"/>
              <a:t>• For more suggestions on its use – https://goo.gl/pAXn9y</a:t>
            </a:r>
          </a:p>
          <a:p>
            <a:pPr algn="l"/>
            <a:r>
              <a:rPr lang="ja-JP" altLang="en-US" sz="1400" dirty="0"/>
              <a:t>• PowerShell script by Jason Fossen – https://www.sans.org/blog/powershell-md5-hash-integrity-verifier-to-detect-file-system-changes/</a:t>
            </a:r>
          </a:p>
          <a:p>
            <a:pPr algn="l"/>
            <a:endParaRPr lang="ja-JP" altLang="en-US" sz="1400" dirty="0"/>
          </a:p>
        </p:txBody>
      </p:sp>
      <p:pic>
        <p:nvPicPr>
          <p:cNvPr id="4" name="図 3">
            <a:extLst>
              <a:ext uri="{FF2B5EF4-FFF2-40B4-BE49-F238E27FC236}">
                <a16:creationId xmlns:a16="http://schemas.microsoft.com/office/drawing/2014/main" id="{3459BEA4-0453-408F-8DEE-76011FB1E1F8}"/>
              </a:ext>
            </a:extLst>
          </p:cNvPr>
          <p:cNvPicPr>
            <a:picLocks noChangeAspect="1"/>
          </p:cNvPicPr>
          <p:nvPr/>
        </p:nvPicPr>
        <p:blipFill>
          <a:blip r:embed="rId2"/>
          <a:stretch>
            <a:fillRect/>
          </a:stretch>
        </p:blipFill>
        <p:spPr>
          <a:xfrm>
            <a:off x="248055" y="133540"/>
            <a:ext cx="6361890" cy="360620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754875"/>
            <a:ext cx="6852285" cy="8307421"/>
          </a:xfrm>
        </p:spPr>
        <p:txBody>
          <a:bodyPr>
            <a:normAutofit fontScale="97500" lnSpcReduction="10000"/>
          </a:bodyPr>
          <a:lstStyle/>
          <a:p>
            <a:pPr algn="l"/>
            <a:r>
              <a:rPr lang="ja-JP" altLang="en-US" sz="1400" dirty="0"/>
              <a:t>以下に、内容を 日本語訳（意訳）＋表での整理 でまとめます。</a:t>
            </a:r>
          </a:p>
          <a:p>
            <a:pPr algn="l"/>
            <a:r>
              <a:rPr lang="ja-JP" altLang="en-US" sz="1400" dirty="0"/>
              <a:t>Windows のイベントログの基本構造を理解するうえで非常に重要な部分です。</a:t>
            </a:r>
          </a:p>
          <a:p>
            <a:pPr algn="l"/>
            <a:endParaRPr lang="ja-JP" altLang="en-US" sz="1400" dirty="0"/>
          </a:p>
          <a:p>
            <a:pPr algn="l"/>
            <a:r>
              <a:rPr lang="ja-JP" altLang="en-US" sz="1400" dirty="0"/>
              <a:t>日本語訳（意訳）</a:t>
            </a:r>
          </a:p>
          <a:p>
            <a:pPr algn="l"/>
            <a:r>
              <a:rPr lang="ja-JP" altLang="en-US" sz="1400" dirty="0"/>
              <a:t>すべての Windows システムには、最低でも次の 3 </a:t>
            </a:r>
            <a:r>
              <a:rPr lang="ja-JP" altLang="en-US" sz="1400" dirty="0" err="1"/>
              <a:t>つの</a:t>
            </a:r>
            <a:r>
              <a:rPr lang="ja-JP" altLang="en-US" sz="1400" dirty="0"/>
              <a:t>イベントログが存在します：</a:t>
            </a:r>
          </a:p>
          <a:p>
            <a:pPr algn="l"/>
            <a:r>
              <a:rPr lang="ja-JP" altLang="en-US" sz="1400" dirty="0"/>
              <a:t>• 	Application（アプリケーション）</a:t>
            </a:r>
          </a:p>
          <a:p>
            <a:pPr algn="l"/>
            <a:r>
              <a:rPr lang="ja-JP" altLang="en-US" sz="1400" dirty="0"/>
              <a:t>• 	Security（セキュリティ）</a:t>
            </a:r>
          </a:p>
          <a:p>
            <a:pPr algn="l"/>
            <a:r>
              <a:rPr lang="ja-JP" altLang="en-US" sz="1400" dirty="0"/>
              <a:t>• 	System（システム）</a:t>
            </a:r>
          </a:p>
          <a:p>
            <a:pPr algn="l"/>
            <a:r>
              <a:rPr lang="ja-JP" altLang="en-US" sz="1400" dirty="0"/>
              <a:t>これらのログは、</a:t>
            </a:r>
          </a:p>
          <a:p>
            <a:pPr algn="l"/>
            <a:r>
              <a:rPr lang="ja-JP" altLang="en-US" sz="1400" dirty="0"/>
              <a:t>［管理ツール → Event Viewer（イベントビューア）］</a:t>
            </a:r>
          </a:p>
          <a:p>
            <a:pPr algn="l"/>
            <a:r>
              <a:rPr lang="ja-JP" altLang="en-US" sz="1400" dirty="0"/>
              <a:t>から閲覧できます。</a:t>
            </a:r>
          </a:p>
          <a:p>
            <a:pPr algn="l"/>
            <a:r>
              <a:rPr lang="ja-JP" altLang="en-US" sz="1400" dirty="0"/>
              <a:t>もしそのマシンが ドメインコントローラー であれば、さらに次のログが追加されます：</a:t>
            </a:r>
          </a:p>
          <a:p>
            <a:pPr algn="l"/>
            <a:r>
              <a:rPr lang="ja-JP" altLang="en-US" sz="1400" dirty="0"/>
              <a:t>• 	Directory Service</a:t>
            </a:r>
          </a:p>
          <a:p>
            <a:pPr algn="l"/>
            <a:r>
              <a:rPr lang="ja-JP" altLang="en-US" sz="1400" dirty="0"/>
              <a:t>• 	File Replication Service</a:t>
            </a:r>
          </a:p>
          <a:p>
            <a:pPr algn="l"/>
            <a:r>
              <a:rPr lang="ja-JP" altLang="en-US" sz="1400" dirty="0"/>
              <a:t>また、DNS サーバー機能をインストールしている場合は：</a:t>
            </a:r>
          </a:p>
          <a:p>
            <a:pPr algn="l"/>
            <a:r>
              <a:rPr lang="ja-JP" altLang="en-US" sz="1400" dirty="0"/>
              <a:t>• 	DNS Server ログ</a:t>
            </a:r>
          </a:p>
          <a:p>
            <a:pPr algn="l"/>
            <a:r>
              <a:rPr lang="ja-JP" altLang="en-US" sz="1400" dirty="0"/>
              <a:t>も表示されます。</a:t>
            </a:r>
          </a:p>
          <a:p>
            <a:pPr algn="l"/>
            <a:r>
              <a:rPr lang="ja-JP" altLang="en-US" sz="1400" dirty="0"/>
              <a:t>イベントログの内容を調べる最も簡単な方法は、</a:t>
            </a:r>
          </a:p>
          <a:p>
            <a:pPr algn="l"/>
            <a:r>
              <a:rPr lang="ja-JP" altLang="en-US" sz="1400" dirty="0"/>
              <a:t>「Windows Event ID XXXX」（XXXX はイベント ID）で検索することです。</a:t>
            </a:r>
          </a:p>
          <a:p>
            <a:pPr algn="l"/>
            <a:r>
              <a:rPr lang="ja-JP" altLang="en-US" sz="1400" dirty="0"/>
              <a:t>以下のサイトも便利です：</a:t>
            </a:r>
          </a:p>
          <a:p>
            <a:pPr algn="l"/>
            <a:r>
              <a:rPr lang="ja-JP" altLang="en-US" sz="1400" dirty="0"/>
              <a:t>https://www.ultimatewindowssecurity.com/securitylog/encyclopedia/</a:t>
            </a:r>
          </a:p>
          <a:p>
            <a:pPr algn="l"/>
            <a:endParaRPr lang="ja-JP" altLang="en-US" sz="1400" dirty="0"/>
          </a:p>
          <a:p>
            <a:pPr algn="l"/>
            <a:r>
              <a:rPr lang="ja-JP" altLang="en-US" sz="1400" dirty="0"/>
              <a:t>イベントログの役割</a:t>
            </a:r>
          </a:p>
          <a:p>
            <a:pPr algn="l"/>
            <a:r>
              <a:rPr lang="ja-JP" altLang="en-US" sz="1400" dirty="0"/>
              <a:t>• 	System ログ</a:t>
            </a:r>
          </a:p>
          <a:p>
            <a:pPr algn="l"/>
            <a:r>
              <a:rPr lang="ja-JP" altLang="en-US" sz="1400" dirty="0"/>
              <a:t>主に OS のトラブルシューティング用。</a:t>
            </a:r>
          </a:p>
          <a:p>
            <a:pPr algn="l"/>
            <a:r>
              <a:rPr lang="ja-JP" altLang="en-US" sz="1400" dirty="0"/>
              <a:t>サービスの開始／停止／失敗、デバイスドライバの問題、</a:t>
            </a:r>
          </a:p>
          <a:p>
            <a:pPr algn="l"/>
            <a:r>
              <a:rPr lang="ja-JP" altLang="en-US" sz="1400" dirty="0"/>
              <a:t>バックグラウンドメンテナンスの状態などが記録されます。</a:t>
            </a:r>
          </a:p>
          <a:p>
            <a:pPr algn="l"/>
            <a:r>
              <a:rPr lang="ja-JP" altLang="en-US" sz="1400" dirty="0"/>
              <a:t>• 	Application ログ</a:t>
            </a:r>
          </a:p>
          <a:p>
            <a:pPr algn="l"/>
            <a:r>
              <a:rPr lang="ja-JP" altLang="en-US" sz="1400" dirty="0"/>
              <a:t>アプリケーションやサードパーティ製ソフトが自由に書き込む領域。</a:t>
            </a:r>
          </a:p>
          <a:p>
            <a:pPr algn="l"/>
            <a:r>
              <a:rPr lang="ja-JP" altLang="en-US" sz="1400" dirty="0"/>
              <a:t>何が記録されるかは 開発者次第 で、管理者側で制御することはほぼできません。</a:t>
            </a:r>
          </a:p>
        </p:txBody>
      </p:sp>
      <p:pic>
        <p:nvPicPr>
          <p:cNvPr id="4" name="図 3">
            <a:extLst>
              <a:ext uri="{FF2B5EF4-FFF2-40B4-BE49-F238E27FC236}">
                <a16:creationId xmlns:a16="http://schemas.microsoft.com/office/drawing/2014/main" id="{2757C6E6-A971-4114-9743-5755D733F738}"/>
              </a:ext>
            </a:extLst>
          </p:cNvPr>
          <p:cNvPicPr>
            <a:picLocks noChangeAspect="1"/>
          </p:cNvPicPr>
          <p:nvPr/>
        </p:nvPicPr>
        <p:blipFill>
          <a:blip r:embed="rId2"/>
          <a:stretch>
            <a:fillRect/>
          </a:stretch>
        </p:blipFill>
        <p:spPr>
          <a:xfrm>
            <a:off x="335604" y="129704"/>
            <a:ext cx="6186791" cy="351635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9FCFEA70-747F-4F41-B612-20FAE83C7B4A}"/>
              </a:ext>
            </a:extLst>
          </p:cNvPr>
          <p:cNvPicPr>
            <a:picLocks noChangeAspect="1"/>
          </p:cNvPicPr>
          <p:nvPr/>
        </p:nvPicPr>
        <p:blipFill>
          <a:blip r:embed="rId2"/>
          <a:stretch>
            <a:fillRect/>
          </a:stretch>
        </p:blipFill>
        <p:spPr>
          <a:xfrm>
            <a:off x="209144" y="171571"/>
            <a:ext cx="6439712" cy="365031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851432"/>
            <a:ext cx="6852285" cy="5895682"/>
          </a:xfrm>
        </p:spPr>
        <p:txBody>
          <a:bodyPr>
            <a:normAutofit/>
          </a:bodyPr>
          <a:lstStyle/>
          <a:p>
            <a:pPr algn="l"/>
            <a:r>
              <a:rPr lang="ja-JP" altLang="en-US" sz="1400" dirty="0"/>
              <a:t>ログ内のイベントアイコンをダブルクリックすると、</a:t>
            </a:r>
          </a:p>
          <a:p>
            <a:pPr algn="l"/>
            <a:r>
              <a:rPr lang="ja-JP" altLang="en-US" sz="1400" dirty="0"/>
              <a:t>そのイベントの プロパティシート（詳細画面） が表示されます。</a:t>
            </a:r>
          </a:p>
          <a:p>
            <a:pPr algn="l"/>
            <a:r>
              <a:rPr lang="ja-JP" altLang="en-US" sz="1400" dirty="0"/>
              <a:t>ここでは、イベントに関する以下の情報を確認できます：</a:t>
            </a:r>
          </a:p>
          <a:p>
            <a:pPr algn="l"/>
            <a:r>
              <a:rPr lang="ja-JP" altLang="en-US" sz="1400" dirty="0"/>
              <a:t>• 	日付</a:t>
            </a:r>
          </a:p>
          <a:p>
            <a:pPr algn="l"/>
            <a:r>
              <a:rPr lang="ja-JP" altLang="en-US" sz="1400" dirty="0"/>
              <a:t>• 	時刻</a:t>
            </a:r>
          </a:p>
          <a:p>
            <a:pPr algn="l"/>
            <a:r>
              <a:rPr lang="ja-JP" altLang="en-US" sz="1400" dirty="0"/>
              <a:t>• 	ソース（どのサービス／アプリが生成したか）</a:t>
            </a:r>
          </a:p>
          <a:p>
            <a:pPr algn="l"/>
            <a:r>
              <a:rPr lang="ja-JP" altLang="en-US" sz="1400" dirty="0"/>
              <a:t>• 	ユーザー</a:t>
            </a:r>
          </a:p>
          <a:p>
            <a:pPr algn="l"/>
            <a:r>
              <a:rPr lang="ja-JP" altLang="en-US" sz="1400" dirty="0"/>
              <a:t>• 	コンピューター名</a:t>
            </a:r>
          </a:p>
          <a:p>
            <a:pPr algn="l"/>
            <a:r>
              <a:rPr lang="ja-JP" altLang="en-US" sz="1400" dirty="0"/>
              <a:t>• 	カテゴリ</a:t>
            </a:r>
          </a:p>
          <a:p>
            <a:pPr algn="l"/>
            <a:r>
              <a:rPr lang="ja-JP" altLang="en-US" sz="1400" dirty="0"/>
              <a:t>• 	イベント ID</a:t>
            </a:r>
          </a:p>
          <a:p>
            <a:pPr algn="l"/>
            <a:r>
              <a:rPr lang="ja-JP" altLang="en-US" sz="1400" dirty="0"/>
              <a:t>中央の 説明（Description）フィールド には、</a:t>
            </a:r>
          </a:p>
          <a:p>
            <a:pPr algn="l"/>
            <a:r>
              <a:rPr lang="ja-JP" altLang="en-US" sz="1400" dirty="0"/>
              <a:t>数行〜数段落のテキストが表示されることがあり、</a:t>
            </a:r>
          </a:p>
          <a:p>
            <a:pPr algn="l"/>
            <a:r>
              <a:rPr lang="ja-JP" altLang="en-US" sz="1400" dirty="0"/>
              <a:t>Microsoft の追加情報ページへの ハイパーリンク が含まれている場合もあります。</a:t>
            </a:r>
          </a:p>
          <a:p>
            <a:pPr algn="l"/>
            <a:r>
              <a:rPr lang="ja-JP" altLang="en-US" sz="1400" dirty="0"/>
              <a:t>クリックすると、そのイベントタイプに関する詳細情報を参照できます。</a:t>
            </a:r>
          </a:p>
        </p:txBody>
      </p:sp>
      <p:pic>
        <p:nvPicPr>
          <p:cNvPr id="4" name="図 3">
            <a:extLst>
              <a:ext uri="{FF2B5EF4-FFF2-40B4-BE49-F238E27FC236}">
                <a16:creationId xmlns:a16="http://schemas.microsoft.com/office/drawing/2014/main" id="{D1A839C8-5D9D-4ECE-A14D-022BDEB18CCD}"/>
              </a:ext>
            </a:extLst>
          </p:cNvPr>
          <p:cNvPicPr>
            <a:picLocks noChangeAspect="1"/>
          </p:cNvPicPr>
          <p:nvPr/>
        </p:nvPicPr>
        <p:blipFill>
          <a:blip r:embed="rId2"/>
          <a:stretch>
            <a:fillRect/>
          </a:stretch>
        </p:blipFill>
        <p:spPr>
          <a:xfrm>
            <a:off x="252029" y="97275"/>
            <a:ext cx="6353942" cy="361868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858997"/>
            <a:ext cx="6852285" cy="8060266"/>
          </a:xfrm>
        </p:spPr>
        <p:txBody>
          <a:bodyPr>
            <a:normAutofit/>
          </a:bodyPr>
          <a:lstStyle/>
          <a:p>
            <a:pPr algn="l"/>
            <a:r>
              <a:rPr lang="ja-JP" altLang="en-US" sz="1400" dirty="0"/>
              <a:t>Security ログへの記録を有効にするには、</a:t>
            </a:r>
          </a:p>
          <a:p>
            <a:pPr algn="l"/>
            <a:r>
              <a:rPr lang="ja-JP" altLang="en-US" sz="1400" dirty="0"/>
              <a:t>［管理ツール → ローカル セキュリティ設定 → 詳細監査ポリシー構成］</a:t>
            </a:r>
          </a:p>
          <a:p>
            <a:pPr algn="l"/>
            <a:r>
              <a:rPr lang="ja-JP" altLang="en-US" sz="1400" dirty="0"/>
              <a:t>（Windows XP では ［ローカル ポリシー → 監査ポリシー］）へ移動します。</a:t>
            </a:r>
          </a:p>
          <a:p>
            <a:pPr algn="l"/>
            <a:r>
              <a:rPr lang="ja-JP" altLang="en-US" sz="1400" dirty="0"/>
              <a:t>ここで、特定の種類のイベントについて</a:t>
            </a:r>
          </a:p>
          <a:p>
            <a:pPr algn="l"/>
            <a:r>
              <a:rPr lang="ja-JP" altLang="en-US" sz="1400" dirty="0"/>
              <a:t>成功イベント／失敗イベント を記録するかどうかを選択できます。</a:t>
            </a:r>
          </a:p>
          <a:p>
            <a:pPr algn="l"/>
            <a:r>
              <a:rPr lang="ja-JP" altLang="en-US" sz="1400" dirty="0"/>
              <a:t>ほとんどの監査ポリシー設定は、</a:t>
            </a:r>
          </a:p>
          <a:p>
            <a:pPr algn="l"/>
            <a:r>
              <a:rPr lang="ja-JP" altLang="en-US" sz="1400" dirty="0"/>
              <a:t>サーバーでもワークステーションでも グループポリシー（GPO） を使って</a:t>
            </a:r>
          </a:p>
          <a:p>
            <a:pPr algn="l"/>
            <a:r>
              <a:rPr lang="ja-JP" altLang="en-US" sz="1400" dirty="0"/>
              <a:t>リモートから一括設定できます。</a:t>
            </a:r>
          </a:p>
          <a:p>
            <a:pPr algn="l"/>
            <a:r>
              <a:rPr lang="ja-JP" altLang="en-US" sz="1400" dirty="0"/>
              <a:t>監査ポリシーは GPO の以下にあります：</a:t>
            </a:r>
          </a:p>
          <a:p>
            <a:pPr algn="l"/>
            <a:r>
              <a:rPr lang="ja-JP" altLang="en-US" sz="1400" dirty="0"/>
              <a:t>Computer Configuration → Windows Settings → Security Settings → Local Policies → Audit Policy</a:t>
            </a:r>
          </a:p>
          <a:p>
            <a:pPr algn="l"/>
            <a:r>
              <a:rPr lang="ja-JP" altLang="en-US" sz="1400" dirty="0"/>
              <a:t>ドメイン全体で監査設定を統一したい場合は、</a:t>
            </a:r>
          </a:p>
          <a:p>
            <a:pPr algn="l"/>
            <a:r>
              <a:rPr lang="ja-JP" altLang="en-US" sz="1400" dirty="0"/>
              <a:t>グループポリシーが最適な方法 です。</a:t>
            </a:r>
          </a:p>
          <a:p>
            <a:pPr algn="l"/>
            <a:r>
              <a:rPr lang="ja-JP" altLang="en-US" sz="1400" dirty="0"/>
              <a:t>コマンドラインで監査ポリシーを管理したい場合は、</a:t>
            </a:r>
          </a:p>
          <a:p>
            <a:pPr algn="l"/>
            <a:r>
              <a:rPr lang="ja-JP" altLang="en-US" sz="1400" dirty="0"/>
              <a:t>AUDITPOL.EXE を使用します。</a:t>
            </a:r>
          </a:p>
          <a:p>
            <a:pPr algn="l"/>
            <a:r>
              <a:rPr lang="ja-JP" altLang="en-US" sz="1400" dirty="0"/>
              <a:t>これは Windows Vista / 2008 / 7 以降には標準で含まれています。</a:t>
            </a:r>
          </a:p>
          <a:p>
            <a:pPr algn="l"/>
            <a:r>
              <a:rPr lang="ja-JP" altLang="en-US" sz="1400" dirty="0"/>
              <a:t>Vista 以降では、AUDITPOL.EXE を使って</a:t>
            </a:r>
          </a:p>
          <a:p>
            <a:pPr algn="l"/>
            <a:r>
              <a:rPr lang="ja-JP" altLang="en-US" sz="1400" dirty="0"/>
              <a:t>監査ポリシーのサブカテゴリ を有効化／無効化することもできます。</a:t>
            </a:r>
          </a:p>
          <a:p>
            <a:pPr algn="l"/>
            <a:r>
              <a:rPr lang="ja-JP" altLang="en-US" sz="1400" dirty="0"/>
              <a:t>現在有効になっている監査サブカテゴリを確認するには：</a:t>
            </a:r>
          </a:p>
          <a:p>
            <a:pPr algn="l"/>
            <a:r>
              <a:rPr lang="ja-JP" altLang="en-US" sz="1400" dirty="0"/>
              <a:t>auditpol.exe /get /category:*</a:t>
            </a:r>
          </a:p>
        </p:txBody>
      </p:sp>
      <p:pic>
        <p:nvPicPr>
          <p:cNvPr id="4" name="図 3">
            <a:extLst>
              <a:ext uri="{FF2B5EF4-FFF2-40B4-BE49-F238E27FC236}">
                <a16:creationId xmlns:a16="http://schemas.microsoft.com/office/drawing/2014/main" id="{D9B0F421-62CD-4AF7-B1C7-9EEAF3B3F1A7}"/>
              </a:ext>
            </a:extLst>
          </p:cNvPr>
          <p:cNvPicPr>
            <a:picLocks noChangeAspect="1"/>
          </p:cNvPicPr>
          <p:nvPr/>
        </p:nvPicPr>
        <p:blipFill>
          <a:blip r:embed="rId2"/>
          <a:stretch>
            <a:fillRect/>
          </a:stretch>
        </p:blipFill>
        <p:spPr>
          <a:xfrm>
            <a:off x="286189" y="175095"/>
            <a:ext cx="6285621" cy="357977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845303"/>
            <a:ext cx="6852285" cy="8139169"/>
          </a:xfrm>
        </p:spPr>
        <p:txBody>
          <a:bodyPr>
            <a:normAutofit fontScale="85000" lnSpcReduction="20000"/>
          </a:bodyPr>
          <a:lstStyle/>
          <a:p>
            <a:pPr algn="l"/>
            <a:r>
              <a:rPr lang="ja-JP" altLang="en-US" sz="1400" dirty="0"/>
              <a:t>ログを集中管理し始めると、</a:t>
            </a:r>
          </a:p>
          <a:p>
            <a:pPr algn="l"/>
            <a:r>
              <a:rPr lang="ja-JP" altLang="en-US" sz="1400" dirty="0"/>
              <a:t>「何を記録し、何を記録しないか」 という問題に必ず直面します。</a:t>
            </a:r>
          </a:p>
          <a:p>
            <a:pPr algn="l"/>
            <a:r>
              <a:rPr lang="ja-JP" altLang="en-US" sz="1400" dirty="0"/>
              <a:t>実際のところ、すべての企業に共通する“正解”は存在しません。</a:t>
            </a:r>
          </a:p>
          <a:p>
            <a:pPr algn="l"/>
            <a:r>
              <a:rPr lang="ja-JP" altLang="en-US" sz="1400" dirty="0"/>
              <a:t>• 	長期間ログを保存したい</a:t>
            </a:r>
          </a:p>
          <a:p>
            <a:pPr algn="l"/>
            <a:r>
              <a:rPr lang="ja-JP" altLang="en-US" sz="1400" dirty="0"/>
              <a:t>• 	しかしディスク容量には限りがある</a:t>
            </a:r>
          </a:p>
          <a:p>
            <a:pPr algn="l"/>
            <a:r>
              <a:rPr lang="ja-JP" altLang="en-US" sz="1400" dirty="0"/>
              <a:t>• 	詳細なログを残したい</a:t>
            </a:r>
          </a:p>
          <a:p>
            <a:pPr algn="l"/>
            <a:r>
              <a:rPr lang="ja-JP" altLang="en-US" sz="1400" dirty="0"/>
              <a:t>• 	しかし処理能力やアーキテクチャのスケールが追いつかない</a:t>
            </a:r>
          </a:p>
          <a:p>
            <a:pPr algn="l"/>
            <a:r>
              <a:rPr lang="ja-JP" altLang="en-US" sz="1400" dirty="0"/>
              <a:t>こうした相反する要素のバランスを取る必要があります。</a:t>
            </a:r>
          </a:p>
          <a:p>
            <a:pPr algn="l"/>
            <a:r>
              <a:rPr lang="ja-JP" altLang="en-US" sz="1400" dirty="0"/>
              <a:t>最終的には、</a:t>
            </a:r>
          </a:p>
          <a:p>
            <a:pPr algn="l"/>
            <a:r>
              <a:rPr lang="ja-JP" altLang="en-US" sz="1400" dirty="0"/>
              <a:t>自組織にとって何が最も重要かを明確にすることが、最適なログ設計の鍵 となります。</a:t>
            </a:r>
          </a:p>
          <a:p>
            <a:pPr algn="l"/>
            <a:endParaRPr lang="ja-JP" altLang="en-US" sz="1400" dirty="0"/>
          </a:p>
          <a:p>
            <a:pPr algn="l"/>
            <a:r>
              <a:rPr lang="ja-JP" altLang="en-US" sz="1400" dirty="0"/>
              <a:t>規制要件がある場合</a:t>
            </a:r>
          </a:p>
          <a:p>
            <a:pPr algn="l"/>
            <a:r>
              <a:rPr lang="ja-JP" altLang="en-US" sz="1400" dirty="0"/>
              <a:t>まず、組織に適用される 規制要件（コンプライアンス） を確認します。</a:t>
            </a:r>
          </a:p>
          <a:p>
            <a:pPr algn="l"/>
            <a:r>
              <a:rPr lang="ja-JP" altLang="en-US" sz="1400" dirty="0"/>
              <a:t>例：PCI DSS などの規制では、</a:t>
            </a:r>
          </a:p>
          <a:p>
            <a:pPr algn="l"/>
            <a:r>
              <a:rPr lang="ja-JP" altLang="en-US" sz="1400" dirty="0"/>
              <a:t>• 	A, B, C のイベントを</a:t>
            </a:r>
          </a:p>
          <a:p>
            <a:pPr algn="l"/>
            <a:r>
              <a:rPr lang="ja-JP" altLang="en-US" sz="1400" dirty="0"/>
              <a:t>• 	各端末で X 日間保持し</a:t>
            </a:r>
          </a:p>
          <a:p>
            <a:pPr algn="l"/>
            <a:r>
              <a:rPr lang="ja-JP" altLang="en-US" sz="1400" dirty="0"/>
              <a:t>• 	中央ストレージで Y </a:t>
            </a:r>
            <a:r>
              <a:rPr lang="ja-JP" altLang="en-US" sz="1400" dirty="0" err="1"/>
              <a:t>ヶ</a:t>
            </a:r>
            <a:r>
              <a:rPr lang="ja-JP" altLang="en-US" sz="1400" dirty="0"/>
              <a:t>月検索可能にし</a:t>
            </a:r>
          </a:p>
          <a:p>
            <a:pPr algn="l"/>
            <a:r>
              <a:rPr lang="ja-JP" altLang="en-US" sz="1400" dirty="0"/>
              <a:t>• 	Z 年間アーカイブ可能にする</a:t>
            </a:r>
          </a:p>
          <a:p>
            <a:pPr algn="l"/>
            <a:r>
              <a:rPr lang="ja-JP" altLang="en-US" sz="1400" dirty="0"/>
              <a:t>といった具体的な要件が定められています。</a:t>
            </a:r>
          </a:p>
          <a:p>
            <a:pPr algn="l"/>
            <a:r>
              <a:rPr lang="ja-JP" altLang="en-US" sz="1400" dirty="0"/>
              <a:t>ログ収集の目的がコンプライアンス遵守であるなら、</a:t>
            </a:r>
          </a:p>
          <a:p>
            <a:pPr algn="l"/>
            <a:r>
              <a:rPr lang="ja-JP" altLang="en-US" sz="1400" dirty="0"/>
              <a:t>まずは規制で指定されたイベントだけを収集するところから始めるべきです。</a:t>
            </a:r>
          </a:p>
          <a:p>
            <a:pPr algn="l"/>
            <a:r>
              <a:rPr lang="ja-JP" altLang="en-US" sz="1400" dirty="0"/>
              <a:t>これにより：</a:t>
            </a:r>
          </a:p>
          <a:p>
            <a:pPr algn="l"/>
            <a:r>
              <a:rPr lang="ja-JP" altLang="en-US" sz="1400" dirty="0"/>
              <a:t>• 	システムを早く稼働させられる</a:t>
            </a:r>
          </a:p>
          <a:p>
            <a:pPr algn="l"/>
            <a:r>
              <a:rPr lang="ja-JP" altLang="en-US" sz="1400" dirty="0"/>
              <a:t>• 	ストレージ容量の見積もりができる</a:t>
            </a:r>
          </a:p>
          <a:p>
            <a:pPr algn="l"/>
            <a:r>
              <a:rPr lang="ja-JP" altLang="en-US" sz="1400" dirty="0"/>
              <a:t>• 	ストレージサーバーの処理能力を評価できる</a:t>
            </a:r>
          </a:p>
          <a:p>
            <a:pPr algn="l"/>
            <a:r>
              <a:rPr lang="ja-JP" altLang="en-US" sz="1400" dirty="0"/>
              <a:t>といったメリットがあります。</a:t>
            </a:r>
          </a:p>
          <a:p>
            <a:pPr algn="l"/>
            <a:endParaRPr lang="ja-JP" altLang="en-US" sz="1400" dirty="0"/>
          </a:p>
          <a:p>
            <a:pPr algn="l"/>
            <a:r>
              <a:rPr lang="ja-JP" altLang="en-US" sz="1400" dirty="0"/>
              <a:t>侵入検知（セキュリティ）が目的の場合</a:t>
            </a:r>
          </a:p>
          <a:p>
            <a:pPr algn="l"/>
            <a:r>
              <a:rPr lang="ja-JP" altLang="en-US" sz="1400" dirty="0"/>
              <a:t>規制要件がない場合は、</a:t>
            </a:r>
          </a:p>
          <a:p>
            <a:pPr algn="l"/>
            <a:r>
              <a:rPr lang="ja-JP" altLang="en-US" sz="1400" dirty="0"/>
              <a:t>Microsoft が推奨する Windows 10 の最小監査ポリシー から始めることを強く推奨します。</a:t>
            </a:r>
          </a:p>
          <a:p>
            <a:pPr algn="l"/>
            <a:r>
              <a:rPr lang="ja-JP" altLang="en-US" sz="1400" dirty="0"/>
              <a:t>Windows 10 の監査ポリシーは、</a:t>
            </a:r>
          </a:p>
          <a:p>
            <a:pPr algn="l"/>
            <a:r>
              <a:rPr lang="ja-JP" altLang="en-US" sz="1400" dirty="0"/>
              <a:t>以前の Windows よりも セキュリティ重視 に設計されています。</a:t>
            </a:r>
          </a:p>
          <a:p>
            <a:pPr algn="l"/>
            <a:r>
              <a:rPr lang="ja-JP" altLang="en-US" sz="1400" dirty="0"/>
              <a:t>特に Windows Event Forwarding（WEF）のドキュメントでは、</a:t>
            </a:r>
          </a:p>
          <a:p>
            <a:pPr algn="l"/>
            <a:r>
              <a:rPr lang="ja-JP" altLang="en-US" sz="1400" dirty="0"/>
              <a:t>ワークステーションとして初めて、</a:t>
            </a:r>
          </a:p>
          <a:p>
            <a:pPr algn="l"/>
            <a:r>
              <a:rPr lang="ja-JP" altLang="en-US" sz="1400" dirty="0"/>
              <a:t>“セキュリティ監査を前提とした推奨設定” が明確に示されています。</a:t>
            </a:r>
          </a:p>
        </p:txBody>
      </p:sp>
      <p:pic>
        <p:nvPicPr>
          <p:cNvPr id="4" name="図 3">
            <a:extLst>
              <a:ext uri="{FF2B5EF4-FFF2-40B4-BE49-F238E27FC236}">
                <a16:creationId xmlns:a16="http://schemas.microsoft.com/office/drawing/2014/main" id="{B06D6D3A-F3C2-4003-A80B-9331D3DF8E8E}"/>
              </a:ext>
            </a:extLst>
          </p:cNvPr>
          <p:cNvPicPr>
            <a:picLocks noChangeAspect="1"/>
          </p:cNvPicPr>
          <p:nvPr/>
        </p:nvPicPr>
        <p:blipFill>
          <a:blip r:embed="rId2"/>
          <a:stretch>
            <a:fillRect/>
          </a:stretch>
        </p:blipFill>
        <p:spPr>
          <a:xfrm>
            <a:off x="280616" y="136185"/>
            <a:ext cx="6296768" cy="357293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6" y="22226"/>
            <a:ext cx="3425824" cy="8427508"/>
          </a:xfrm>
        </p:spPr>
        <p:txBody>
          <a:bodyPr>
            <a:normAutofit fontScale="97500"/>
          </a:bodyPr>
          <a:lstStyle/>
          <a:p>
            <a:pPr algn="l"/>
            <a:r>
              <a:rPr lang="ja-JP" altLang="en-US" sz="1000" dirty="0"/>
              <a:t>どの監査ポリシーを出発点にするにしても、</a:t>
            </a:r>
          </a:p>
          <a:p>
            <a:pPr algn="l"/>
            <a:r>
              <a:rPr lang="ja-JP" altLang="en-US" sz="1000" dirty="0"/>
              <a:t>最低限のイベント収集要件は、システムが完全に構築され、全エンドポイントが中央サーバーへ正常にログ送信できるようになるまで絶対に増やさないこと</a:t>
            </a:r>
          </a:p>
          <a:p>
            <a:pPr algn="l"/>
            <a:r>
              <a:rPr lang="ja-JP" altLang="en-US" sz="1000" dirty="0"/>
              <a:t>を強く推奨します。</a:t>
            </a:r>
          </a:p>
          <a:p>
            <a:pPr algn="l"/>
            <a:endParaRPr lang="ja-JP" altLang="en-US" sz="1000" dirty="0"/>
          </a:p>
          <a:p>
            <a:pPr algn="l"/>
            <a:r>
              <a:rPr lang="ja-JP" altLang="en-US" sz="1000" dirty="0"/>
              <a:t>稼働後にチューニングを開始する</a:t>
            </a:r>
          </a:p>
          <a:p>
            <a:pPr algn="l"/>
            <a:r>
              <a:rPr lang="ja-JP" altLang="en-US" sz="1000" dirty="0"/>
              <a:t>ログのチューニングは終わりのない作業であり、アナリストによって求めるものも異なります。</a:t>
            </a:r>
          </a:p>
          <a:p>
            <a:pPr algn="l"/>
            <a:r>
              <a:rPr lang="ja-JP" altLang="en-US" sz="1000" dirty="0"/>
              <a:t>一般的な法則は：</a:t>
            </a:r>
          </a:p>
          <a:p>
            <a:pPr algn="l"/>
            <a:endParaRPr lang="ja-JP" altLang="en-US" sz="1000" dirty="0"/>
          </a:p>
          <a:p>
            <a:pPr algn="l"/>
            <a:r>
              <a:rPr lang="ja-JP" altLang="en-US" sz="1000" dirty="0"/>
              <a:t>インシデント対応中、アナリストは必ずこう思います：</a:t>
            </a:r>
          </a:p>
          <a:p>
            <a:pPr algn="l"/>
            <a:endParaRPr lang="ja-JP" altLang="en-US" sz="1000" dirty="0"/>
          </a:p>
          <a:p>
            <a:pPr algn="l"/>
            <a:r>
              <a:rPr lang="ja-JP" altLang="en-US" sz="1000" dirty="0"/>
              <a:t>しかしイベント X を増やすと：</a:t>
            </a:r>
          </a:p>
          <a:p>
            <a:pPr algn="l"/>
            <a:r>
              <a:rPr lang="ja-JP" altLang="en-US" sz="1000" dirty="0"/>
              <a:t>• 	ログ量が増え続ける</a:t>
            </a:r>
          </a:p>
          <a:p>
            <a:pPr algn="l"/>
            <a:r>
              <a:rPr lang="ja-JP" altLang="en-US" sz="1000" dirty="0"/>
              <a:t>• 	中央サーバーの負荷が上がる</a:t>
            </a:r>
          </a:p>
          <a:p>
            <a:pPr algn="l"/>
            <a:r>
              <a:rPr lang="ja-JP" altLang="en-US" sz="1000" dirty="0"/>
              <a:t>• 	使わないイベントが大量に生成される</a:t>
            </a:r>
          </a:p>
          <a:p>
            <a:pPr algn="l"/>
            <a:r>
              <a:rPr lang="ja-JP" altLang="en-US" sz="1000" dirty="0"/>
              <a:t>といった問題が発生します。</a:t>
            </a:r>
          </a:p>
          <a:p>
            <a:pPr algn="l"/>
            <a:r>
              <a:rPr lang="ja-JP" altLang="en-US" sz="1000" dirty="0"/>
              <a:t>Windows XP / 7 / 8 時代に「追加すべき」とされていたイベントの多くは、</a:t>
            </a:r>
          </a:p>
          <a:p>
            <a:pPr algn="l"/>
            <a:r>
              <a:rPr lang="ja-JP" altLang="en-US" sz="1000" dirty="0"/>
              <a:t>すでに Windows 10 のベースラインに含まれています。</a:t>
            </a:r>
          </a:p>
          <a:p>
            <a:pPr algn="l"/>
            <a:r>
              <a:rPr lang="ja-JP" altLang="en-US" sz="1000" dirty="0"/>
              <a:t>そのため、Windows 10 では「全企業が必ず追加すべき」イベントはほぼありません。</a:t>
            </a:r>
          </a:p>
          <a:p>
            <a:pPr algn="l"/>
            <a:r>
              <a:rPr lang="ja-JP" altLang="en-US" sz="1000" dirty="0"/>
              <a:t>ただし、Windows 10 ベースラインを全端末で運用し、</a:t>
            </a:r>
          </a:p>
          <a:p>
            <a:pPr algn="l"/>
            <a:r>
              <a:rPr lang="ja-JP" altLang="en-US" sz="1000" dirty="0"/>
              <a:t>さらにイベント量を増やしても耐えられる と判断できた場合、</a:t>
            </a:r>
          </a:p>
          <a:p>
            <a:pPr algn="l"/>
            <a:r>
              <a:rPr lang="ja-JP" altLang="en-US" sz="1000" dirty="0"/>
              <a:t>次のイベントを追加候補として検討できます：</a:t>
            </a:r>
          </a:p>
          <a:p>
            <a:pPr algn="l"/>
            <a:r>
              <a:rPr lang="ja-JP" altLang="en-US" sz="1000" dirty="0"/>
              <a:t>• 	PowerShell ロギング</a:t>
            </a:r>
          </a:p>
          <a:p>
            <a:pPr algn="l"/>
            <a:r>
              <a:rPr lang="ja-JP" altLang="en-US" sz="1000" dirty="0"/>
              <a:t>• 	ローカルログオンに割り当てられたグループ</a:t>
            </a:r>
          </a:p>
          <a:p>
            <a:pPr algn="l"/>
            <a:r>
              <a:rPr lang="ja-JP" altLang="en-US" sz="1000" dirty="0"/>
              <a:t>• 	ネットワークセッションのログオンセッション作成</a:t>
            </a:r>
          </a:p>
          <a:p>
            <a:pPr algn="l"/>
            <a:r>
              <a:rPr lang="ja-JP" altLang="en-US" sz="1000" dirty="0"/>
              <a:t>• 	User Mode Driver Framework の “Driver Loaded” イベント</a:t>
            </a:r>
          </a:p>
          <a:p>
            <a:pPr algn="l"/>
            <a:r>
              <a:rPr lang="ja-JP" altLang="en-US" sz="1000" dirty="0"/>
              <a:t>これらは、攻撃者が侵害後に最初に行う行動を把握するのに役立ちます。</a:t>
            </a:r>
          </a:p>
          <a:p>
            <a:pPr algn="l"/>
            <a:r>
              <a:rPr lang="ja-JP" altLang="en-US" sz="1000" dirty="0"/>
              <a:t>なお、Windows Event Forwarding（WEF）の推奨設定に従っている場合、</a:t>
            </a:r>
          </a:p>
          <a:p>
            <a:pPr algn="l"/>
            <a:r>
              <a:rPr lang="ja-JP" altLang="en-US" sz="1000" dirty="0"/>
              <a:t>これらのイベントは 各端末では収集されているが、中央サーバーに転送されていないだけ です。</a:t>
            </a:r>
          </a:p>
        </p:txBody>
      </p:sp>
      <p:pic>
        <p:nvPicPr>
          <p:cNvPr id="4" name="図形 3"/>
          <p:cNvPicPr>
            <a:picLocks noChangeAspect="1"/>
          </p:cNvPicPr>
          <p:nvPr/>
        </p:nvPicPr>
        <p:blipFill>
          <a:blip r:embed="rId2"/>
          <a:stretch>
            <a:fillRect/>
          </a:stretch>
        </p:blipFill>
        <p:spPr>
          <a:xfrm>
            <a:off x="0" y="7985802"/>
            <a:ext cx="5069419" cy="2080279"/>
          </a:xfrm>
          <a:prstGeom prst="rect">
            <a:avLst/>
          </a:prstGeom>
        </p:spPr>
      </p:pic>
      <p:pic>
        <p:nvPicPr>
          <p:cNvPr id="5" name="図形 4"/>
          <p:cNvPicPr>
            <a:picLocks noChangeAspect="1"/>
          </p:cNvPicPr>
          <p:nvPr/>
        </p:nvPicPr>
        <p:blipFill>
          <a:blip r:embed="rId3"/>
          <a:stretch>
            <a:fillRect/>
          </a:stretch>
        </p:blipFill>
        <p:spPr>
          <a:xfrm>
            <a:off x="0" y="10089495"/>
            <a:ext cx="5069419" cy="2080279"/>
          </a:xfrm>
          <a:prstGeom prst="rect">
            <a:avLst/>
          </a:prstGeom>
        </p:spPr>
      </p:pic>
      <p:sp>
        <p:nvSpPr>
          <p:cNvPr id="6" name="サブタイトル 2">
            <a:extLst>
              <a:ext uri="{FF2B5EF4-FFF2-40B4-BE49-F238E27FC236}">
                <a16:creationId xmlns:a16="http://schemas.microsoft.com/office/drawing/2014/main" id="{B23933FC-FB96-4FE6-ACD4-F1A7321E2BB5}"/>
              </a:ext>
            </a:extLst>
          </p:cNvPr>
          <p:cNvSpPr txBox="1">
            <a:spLocks/>
          </p:cNvSpPr>
          <p:nvPr/>
        </p:nvSpPr>
        <p:spPr>
          <a:xfrm>
            <a:off x="3433797" y="169347"/>
            <a:ext cx="3425824" cy="4066633"/>
          </a:xfrm>
          <a:prstGeom prst="rect">
            <a:avLst/>
          </a:prstGeom>
        </p:spPr>
        <p:txBody>
          <a:bodyPr vert="horz" lIns="91440" tIns="45720" rIns="91440" bIns="45720" rtlCol="0">
            <a:normAutofit fontScale="97500"/>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000" dirty="0"/>
              <a:t>Suspect Subscription を使うべき理由</a:t>
            </a:r>
          </a:p>
          <a:p>
            <a:pPr algn="l"/>
            <a:r>
              <a:rPr lang="ja-JP" altLang="en-US" sz="1000" dirty="0"/>
              <a:t>Microsoft が推奨する “Suspect” という第2のイベント購読（サブスクリプション） は非常に有効です。</a:t>
            </a:r>
          </a:p>
          <a:p>
            <a:pPr algn="l"/>
            <a:r>
              <a:rPr lang="ja-JP" altLang="en-US" sz="1000" dirty="0"/>
              <a:t>• 	必要なときだけ</a:t>
            </a:r>
          </a:p>
          <a:p>
            <a:pPr algn="l"/>
            <a:r>
              <a:rPr lang="ja-JP" altLang="en-US" sz="1000" dirty="0"/>
              <a:t>• 	個別の端末に対して</a:t>
            </a:r>
          </a:p>
          <a:p>
            <a:pPr algn="l"/>
            <a:r>
              <a:rPr lang="ja-JP" altLang="en-US" sz="1000" dirty="0"/>
              <a:t>• 	追加のイベントを収集できる</a:t>
            </a:r>
          </a:p>
          <a:p>
            <a:pPr algn="l"/>
            <a:r>
              <a:rPr lang="ja-JP" altLang="en-US" sz="1000" dirty="0"/>
              <a:t>これにより、ベースラインのイベント数を増やす必要がほぼなくなります。</a:t>
            </a:r>
          </a:p>
          <a:p>
            <a:pPr algn="l"/>
            <a:r>
              <a:rPr lang="ja-JP" altLang="en-US" sz="1000" dirty="0"/>
              <a:t>先ほど挙げた 4 </a:t>
            </a:r>
            <a:r>
              <a:rPr lang="ja-JP" altLang="en-US" sz="1000" dirty="0" err="1"/>
              <a:t>つの</a:t>
            </a:r>
            <a:r>
              <a:rPr lang="ja-JP" altLang="en-US" sz="1000" dirty="0"/>
              <a:t>イベントを含む多くのイベントが</a:t>
            </a:r>
          </a:p>
          <a:p>
            <a:pPr algn="l"/>
            <a:r>
              <a:rPr lang="ja-JP" altLang="en-US" sz="1000" dirty="0"/>
              <a:t>Suspect Subscription に含まれています。</a:t>
            </a:r>
          </a:p>
          <a:p>
            <a:pPr algn="l"/>
            <a:r>
              <a:rPr lang="ja-JP" altLang="en-US" sz="1000" dirty="0"/>
              <a:t>また、Windows Server や Windows 7/8 など他バージョン向けにも：</a:t>
            </a:r>
          </a:p>
          <a:p>
            <a:pPr algn="l"/>
            <a:r>
              <a:rPr lang="ja-JP" altLang="en-US" sz="1000" dirty="0"/>
              <a:t>• 	Baseline（基本推奨）</a:t>
            </a:r>
          </a:p>
          <a:p>
            <a:pPr algn="l"/>
            <a:r>
              <a:rPr lang="ja-JP" altLang="en-US" sz="1000" dirty="0"/>
              <a:t>• 	Stronger Recommendation（強化推奨）</a:t>
            </a:r>
          </a:p>
          <a:p>
            <a:pPr algn="l"/>
            <a:r>
              <a:rPr lang="ja-JP" altLang="en-US" sz="1000" dirty="0"/>
              <a:t>の 2 種類のリストがあり、</a:t>
            </a:r>
          </a:p>
          <a:p>
            <a:pPr algn="l"/>
            <a:r>
              <a:rPr lang="ja-JP" altLang="en-US" sz="1000" dirty="0"/>
              <a:t>後者を「Suspect」相当として扱うことが推奨されています。</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781895"/>
            <a:ext cx="6852285" cy="8241489"/>
          </a:xfrm>
        </p:spPr>
        <p:txBody>
          <a:bodyPr>
            <a:normAutofit fontScale="67500" lnSpcReduction="20000"/>
          </a:bodyPr>
          <a:lstStyle/>
          <a:p>
            <a:pPr algn="l"/>
            <a:r>
              <a:rPr lang="ja-JP" altLang="en-US" sz="1400" dirty="0"/>
              <a:t>セキュリティテンプレートを使うと、イベントログの 最大サイズ や ラッピング（ローテーション）設定 を構成できます。</a:t>
            </a:r>
          </a:p>
          <a:p>
            <a:pPr algn="l"/>
            <a:r>
              <a:rPr lang="ja-JP" altLang="en-US" sz="1400" dirty="0"/>
              <a:t>Windows XP / 2003 ではログは</a:t>
            </a:r>
          </a:p>
          <a:p>
            <a:pPr algn="l"/>
            <a:r>
              <a:rPr lang="en-US" altLang="ja-JP" sz="1400" dirty="0"/>
              <a:t>%</a:t>
            </a:r>
            <a:r>
              <a:rPr lang="en-US" altLang="ja-JP" sz="1400" dirty="0" err="1"/>
              <a:t>SystemRoot</a:t>
            </a:r>
            <a:r>
              <a:rPr lang="en-US" altLang="ja-JP" sz="1400" dirty="0"/>
              <a:t>%\System32\Config</a:t>
            </a:r>
            <a:endParaRPr lang="ja-JP" altLang="en-US" sz="1400" dirty="0"/>
          </a:p>
          <a:p>
            <a:pPr algn="l"/>
            <a:r>
              <a:rPr lang="ja-JP" altLang="en-US" sz="1400" dirty="0" err="1"/>
              <a:t>に保</a:t>
            </a:r>
            <a:r>
              <a:rPr lang="ja-JP" altLang="en-US" sz="1400" dirty="0"/>
              <a:t>存されますが、</a:t>
            </a:r>
          </a:p>
          <a:p>
            <a:pPr algn="l"/>
            <a:r>
              <a:rPr lang="ja-JP" altLang="en-US" sz="1400" dirty="0"/>
              <a:t>Windows Vista 以降では</a:t>
            </a:r>
          </a:p>
          <a:p>
            <a:pPr algn="l"/>
            <a:r>
              <a:rPr lang="en-US" altLang="ja-JP" sz="1400" dirty="0"/>
              <a:t>%</a:t>
            </a:r>
            <a:r>
              <a:rPr lang="en-US" altLang="ja-JP" sz="1400" dirty="0" err="1"/>
              <a:t>SystemRoot</a:t>
            </a:r>
            <a:r>
              <a:rPr lang="en-US" altLang="ja-JP" sz="1400" dirty="0"/>
              <a:t>%\System32\</a:t>
            </a:r>
            <a:r>
              <a:rPr lang="en-US" altLang="ja-JP" sz="1400" dirty="0" err="1"/>
              <a:t>Winevt</a:t>
            </a:r>
            <a:r>
              <a:rPr lang="en-US" altLang="ja-JP" sz="1400" dirty="0"/>
              <a:t>\Logs\</a:t>
            </a:r>
            <a:endParaRPr lang="ja-JP" altLang="en-US" sz="1400" dirty="0"/>
          </a:p>
          <a:p>
            <a:pPr algn="l"/>
            <a:r>
              <a:rPr lang="ja-JP" altLang="en-US" sz="1400" dirty="0" err="1"/>
              <a:t>に保</a:t>
            </a:r>
            <a:r>
              <a:rPr lang="ja-JP" altLang="en-US" sz="1400" dirty="0"/>
              <a:t>存されます。</a:t>
            </a:r>
          </a:p>
          <a:p>
            <a:pPr algn="l"/>
            <a:r>
              <a:rPr lang="ja-JP" altLang="en-US" sz="1400" dirty="0"/>
              <a:t>ログファイル名は用途が分かるように命名されています。</a:t>
            </a:r>
          </a:p>
          <a:p>
            <a:pPr algn="l"/>
            <a:r>
              <a:rPr lang="ja-JP" altLang="en-US" sz="1400" dirty="0"/>
              <a:t>イベントログには 最大サイズ が設定されており、それ以上は成長できません。</a:t>
            </a:r>
          </a:p>
          <a:p>
            <a:pPr algn="l"/>
            <a:r>
              <a:rPr lang="ja-JP" altLang="en-US" sz="1400" dirty="0"/>
              <a:t>では、最大サイズに達したらどうなるのでしょうか？</a:t>
            </a:r>
          </a:p>
          <a:p>
            <a:pPr algn="l"/>
            <a:endParaRPr lang="ja-JP" altLang="en-US" sz="1400" dirty="0"/>
          </a:p>
          <a:p>
            <a:pPr algn="l"/>
            <a:r>
              <a:rPr lang="ja-JP" altLang="en-US" sz="1400" dirty="0"/>
              <a:t>イベントログのサイズ・ローテーション設定</a:t>
            </a:r>
          </a:p>
          <a:p>
            <a:pPr algn="l"/>
            <a:r>
              <a:rPr lang="ja-JP" altLang="en-US" sz="1400" dirty="0"/>
              <a:t>テンプレートを使わずに設定する場合は：</a:t>
            </a:r>
          </a:p>
          <a:p>
            <a:pPr algn="l"/>
            <a:r>
              <a:rPr lang="ja-JP" altLang="en-US" sz="1400" dirty="0"/>
              <a:t>［管理ツール → Event Viewer → 任意のログを右クリック → プロパティ → 全般タブ］</a:t>
            </a:r>
          </a:p>
          <a:p>
            <a:pPr algn="l"/>
            <a:r>
              <a:rPr lang="ja-JP" altLang="en-US" sz="1400" dirty="0"/>
              <a:t>から変更できます。</a:t>
            </a:r>
          </a:p>
          <a:p>
            <a:pPr algn="l"/>
            <a:r>
              <a:rPr lang="ja-JP" altLang="en-US" sz="1400" dirty="0"/>
              <a:t>Windows XP / 2003 の注意点</a:t>
            </a:r>
          </a:p>
          <a:p>
            <a:pPr algn="l"/>
            <a:r>
              <a:rPr lang="ja-JP" altLang="en-US" sz="1400" dirty="0"/>
              <a:t>• 	各ログは最大 4,194,240 KB（約 4.2 GB） に設定可能</a:t>
            </a:r>
          </a:p>
          <a:p>
            <a:pPr algn="l"/>
            <a:r>
              <a:rPr lang="ja-JP" altLang="en-US" sz="1400" dirty="0"/>
              <a:t>• 	しかし 絶対に設定してはいけない</a:t>
            </a:r>
          </a:p>
          <a:p>
            <a:pPr algn="l"/>
            <a:r>
              <a:rPr lang="ja-JP" altLang="en-US" sz="1400" dirty="0"/>
              <a:t>• 	理由：ログ全体が 300 MB を超えるとイベントが勝手に欠落する既知の問題（KB183097） がある</a:t>
            </a:r>
          </a:p>
          <a:p>
            <a:pPr algn="l"/>
            <a:r>
              <a:rPr lang="ja-JP" altLang="en-US" sz="1400" dirty="0"/>
              <a:t>• 	そのため XP/2003 では 全ログ合計 300 MB 以下 にすべき</a:t>
            </a:r>
          </a:p>
          <a:p>
            <a:pPr algn="l"/>
            <a:r>
              <a:rPr lang="ja-JP" altLang="en-US" sz="1400" dirty="0"/>
              <a:t>Windows Vista / 2008 / 7 以降</a:t>
            </a:r>
          </a:p>
          <a:p>
            <a:pPr algn="l"/>
            <a:r>
              <a:rPr lang="ja-JP" altLang="en-US" sz="1400" dirty="0"/>
              <a:t>• 	ログは 圧縮 XML 形式</a:t>
            </a:r>
          </a:p>
          <a:p>
            <a:pPr algn="l"/>
            <a:r>
              <a:rPr lang="ja-JP" altLang="en-US" sz="1400" dirty="0"/>
              <a:t>• 	300 MB 問題は存在しない</a:t>
            </a:r>
          </a:p>
          <a:p>
            <a:pPr algn="l"/>
            <a:r>
              <a:rPr lang="ja-JP" altLang="en-US" sz="1400" dirty="0"/>
              <a:t>• 	必要なら ボリューム最大サイズ まで設定可能</a:t>
            </a:r>
          </a:p>
          <a:p>
            <a:pPr algn="l"/>
            <a:endParaRPr lang="ja-JP" altLang="en-US" sz="1400" dirty="0"/>
          </a:p>
          <a:p>
            <a:pPr algn="l"/>
            <a:r>
              <a:rPr lang="ja-JP" altLang="en-US" sz="1400" dirty="0"/>
              <a:t>ログサイズの増え方と推奨値</a:t>
            </a:r>
          </a:p>
          <a:p>
            <a:pPr algn="l"/>
            <a:r>
              <a:rPr lang="ja-JP" altLang="en-US" sz="1400" dirty="0"/>
              <a:t>Windows はログの最大サイズ分の空き領域を予約しません。</a:t>
            </a:r>
          </a:p>
          <a:p>
            <a:pPr algn="l"/>
            <a:r>
              <a:rPr lang="ja-JP" altLang="en-US" sz="1400" dirty="0"/>
              <a:t>ログは必要に応じて増加し、以下のどちらかに達すると停止します：</a:t>
            </a:r>
          </a:p>
          <a:p>
            <a:pPr algn="l"/>
            <a:r>
              <a:rPr lang="ja-JP" altLang="en-US" sz="1400" dirty="0"/>
              <a:t>• 	最大サイズ</a:t>
            </a:r>
          </a:p>
          <a:p>
            <a:pPr algn="l"/>
            <a:r>
              <a:rPr lang="ja-JP" altLang="en-US" sz="1400" dirty="0"/>
              <a:t>• 	ディスクの空き容量が尽きる</a:t>
            </a:r>
          </a:p>
          <a:p>
            <a:pPr algn="l"/>
            <a:r>
              <a:rPr lang="ja-JP" altLang="en-US" sz="1400" dirty="0"/>
              <a:t>1 MB ≒ 約 7,500 イベント を保存できます。</a:t>
            </a:r>
          </a:p>
          <a:p>
            <a:pPr algn="l"/>
            <a:r>
              <a:rPr lang="ja-JP" altLang="en-US" sz="1400" dirty="0"/>
              <a:t>推奨初期値</a:t>
            </a:r>
          </a:p>
          <a:p>
            <a:pPr algn="l"/>
            <a:r>
              <a:rPr lang="ja-JP" altLang="en-US" sz="1400" dirty="0"/>
              <a:t>• 	各ログ 最低 50 MB から開始</a:t>
            </a:r>
          </a:p>
          <a:p>
            <a:pPr algn="l"/>
            <a:r>
              <a:rPr lang="ja-JP" altLang="en-US" sz="1400" dirty="0"/>
              <a:t>• 	実際のサイズは ローテーション（wrapping）要件 に依存</a:t>
            </a:r>
          </a:p>
          <a:p>
            <a:pPr algn="l"/>
            <a:endParaRPr lang="ja-JP" altLang="en-US" sz="1400" dirty="0"/>
          </a:p>
          <a:p>
            <a:pPr algn="l"/>
            <a:r>
              <a:rPr lang="ja-JP" altLang="en-US" sz="1400" dirty="0"/>
              <a:t>ログのアーカイブ方法</a:t>
            </a:r>
          </a:p>
          <a:p>
            <a:pPr algn="l"/>
            <a:r>
              <a:rPr lang="ja-JP" altLang="en-US" sz="1400" dirty="0"/>
              <a:t>ログをシステムから削除して保管する方法はいくつもあります：</a:t>
            </a:r>
          </a:p>
          <a:p>
            <a:pPr algn="l"/>
            <a:r>
              <a:rPr lang="ja-JP" altLang="en-US" sz="1400" dirty="0"/>
              <a:t>• 	オフラインストレージ（保管庫）に移動</a:t>
            </a:r>
          </a:p>
          <a:p>
            <a:pPr algn="l"/>
            <a:r>
              <a:rPr lang="ja-JP" altLang="en-US" sz="1400" dirty="0"/>
              <a:t>• 	WORM（Write Once / Read Many）メディアを使ったアーカイブサーバーへストリーミング</a:t>
            </a:r>
          </a:p>
          <a:p>
            <a:pPr algn="l"/>
            <a:r>
              <a:rPr lang="ja-JP" altLang="en-US" sz="1400" dirty="0"/>
              <a:t>• 	バックアップメディアに依存して古いログを保持</a:t>
            </a:r>
          </a:p>
          <a:p>
            <a:pPr algn="l"/>
            <a:r>
              <a:rPr lang="ja-JP" altLang="en-US" sz="1400" dirty="0"/>
              <a:t>• 	ログ集約基盤で長期保存</a:t>
            </a:r>
          </a:p>
        </p:txBody>
      </p:sp>
      <p:pic>
        <p:nvPicPr>
          <p:cNvPr id="4" name="図 3">
            <a:extLst>
              <a:ext uri="{FF2B5EF4-FFF2-40B4-BE49-F238E27FC236}">
                <a16:creationId xmlns:a16="http://schemas.microsoft.com/office/drawing/2014/main" id="{DC6E367E-A837-4FBA-BA6B-312FD71D9E36}"/>
              </a:ext>
            </a:extLst>
          </p:cNvPr>
          <p:cNvPicPr>
            <a:picLocks noChangeAspect="1"/>
          </p:cNvPicPr>
          <p:nvPr/>
        </p:nvPicPr>
        <p:blipFill>
          <a:blip r:embed="rId2"/>
          <a:stretch>
            <a:fillRect/>
          </a:stretch>
        </p:blipFill>
        <p:spPr>
          <a:xfrm>
            <a:off x="250773" y="97275"/>
            <a:ext cx="6356453" cy="36068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3780459"/>
            <a:ext cx="6852285" cy="5421910"/>
          </a:xfrm>
        </p:spPr>
        <p:txBody>
          <a:bodyPr>
            <a:normAutofit/>
          </a:bodyPr>
          <a:lstStyle/>
          <a:p>
            <a:pPr algn="l"/>
            <a:r>
              <a:rPr lang="ja-JP" altLang="en-US" sz="1400" dirty="0"/>
              <a:t>messages ログ（syslog）は、システム上で発生する主要なイベントを記録します。</a:t>
            </a:r>
          </a:p>
          <a:p>
            <a:pPr algn="l"/>
            <a:r>
              <a:rPr lang="ja-JP" altLang="en-US" sz="1400" dirty="0"/>
              <a:t>管理者が特に注意すべき重要イベントとしては：</a:t>
            </a:r>
          </a:p>
          <a:p>
            <a:pPr algn="l"/>
            <a:r>
              <a:rPr lang="ja-JP" altLang="en-US" sz="1400" dirty="0"/>
              <a:t>• 	 </a:t>
            </a:r>
            <a:r>
              <a:rPr lang="en-US" altLang="ja-JP" sz="1400" dirty="0" err="1"/>
              <a:t>su</a:t>
            </a:r>
            <a:r>
              <a:rPr lang="ja-JP" altLang="en-US" sz="1400" dirty="0"/>
              <a:t>による root への権限昇格の試行</a:t>
            </a:r>
          </a:p>
          <a:p>
            <a:pPr algn="l"/>
            <a:r>
              <a:rPr lang="ja-JP" altLang="en-US" sz="1400" dirty="0"/>
              <a:t>• 	ログイン失敗（failed login attempts）</a:t>
            </a:r>
          </a:p>
          <a:p>
            <a:pPr algn="l"/>
            <a:r>
              <a:rPr lang="ja-JP" altLang="en-US" sz="1400" dirty="0"/>
              <a:t>などがあります。</a:t>
            </a:r>
          </a:p>
          <a:p>
            <a:pPr algn="l"/>
            <a:r>
              <a:rPr lang="ja-JP" altLang="en-US" sz="1400" dirty="0"/>
              <a:t>これらの syslog メッセージは、監視システムやアラートシステムに集約されて送信されますが、</a:t>
            </a:r>
          </a:p>
          <a:p>
            <a:pPr algn="l"/>
            <a:r>
              <a:rPr lang="ja-JP" altLang="en-US" sz="1400" dirty="0"/>
              <a:t>システム名やイベント種別をそのまま外部に送ると、攻撃者に有用な情報を与えてしまう可能性があります。</a:t>
            </a:r>
          </a:p>
          <a:p>
            <a:pPr algn="l"/>
            <a:r>
              <a:rPr lang="ja-JP" altLang="en-US" sz="1400" dirty="0"/>
              <a:t>そのため、ログを外部に送信する際には、</a:t>
            </a:r>
          </a:p>
          <a:p>
            <a:pPr algn="l"/>
            <a:r>
              <a:rPr lang="ja-JP" altLang="en-US" sz="1400" dirty="0"/>
              <a:t>ホスト名やイベント内容を難読化（obfuscation）することを検討すべき です。</a:t>
            </a:r>
          </a:p>
        </p:txBody>
      </p:sp>
      <p:pic>
        <p:nvPicPr>
          <p:cNvPr id="4" name="図 3">
            <a:extLst>
              <a:ext uri="{FF2B5EF4-FFF2-40B4-BE49-F238E27FC236}">
                <a16:creationId xmlns:a16="http://schemas.microsoft.com/office/drawing/2014/main" id="{CA2AD134-2B1F-45D3-8D03-888C2E91B997}"/>
              </a:ext>
            </a:extLst>
          </p:cNvPr>
          <p:cNvPicPr>
            <a:picLocks noChangeAspect="1"/>
          </p:cNvPicPr>
          <p:nvPr/>
        </p:nvPicPr>
        <p:blipFill>
          <a:blip r:embed="rId2"/>
          <a:stretch>
            <a:fillRect/>
          </a:stretch>
        </p:blipFill>
        <p:spPr>
          <a:xfrm>
            <a:off x="306421" y="155640"/>
            <a:ext cx="6245157" cy="3529511"/>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877732"/>
            <a:ext cx="6852285" cy="6312535"/>
          </a:xfrm>
        </p:spPr>
        <p:txBody>
          <a:bodyPr>
            <a:normAutofit/>
          </a:bodyPr>
          <a:lstStyle/>
          <a:p>
            <a:pPr algn="l"/>
            <a:r>
              <a:rPr lang="ja-JP" altLang="en-US" sz="1400" dirty="0"/>
              <a:t>syslog によって記録されるメッセージには、次の 5 </a:t>
            </a:r>
            <a:r>
              <a:rPr lang="ja-JP" altLang="en-US" sz="1400" dirty="0" err="1"/>
              <a:t>つの</a:t>
            </a:r>
            <a:r>
              <a:rPr lang="ja-JP" altLang="en-US" sz="1400" dirty="0"/>
              <a:t>フィールドが含まれます：</a:t>
            </a:r>
          </a:p>
          <a:p>
            <a:pPr algn="l"/>
            <a:r>
              <a:rPr lang="ja-JP" altLang="en-US" sz="1400" dirty="0"/>
              <a:t>1. 	Date（日時）</a:t>
            </a:r>
          </a:p>
          <a:p>
            <a:pPr algn="l"/>
            <a:r>
              <a:rPr lang="ja-JP" altLang="en-US" sz="1400" dirty="0"/>
              <a:t>2. 	Time（時刻）</a:t>
            </a:r>
          </a:p>
          <a:p>
            <a:pPr algn="l"/>
            <a:r>
              <a:rPr lang="ja-JP" altLang="en-US" sz="1400" dirty="0"/>
              <a:t>3. 	Hostname（ホスト名）</a:t>
            </a:r>
          </a:p>
          <a:p>
            <a:pPr algn="l"/>
            <a:r>
              <a:rPr lang="ja-JP" altLang="en-US" sz="1400" dirty="0"/>
              <a:t>4. 	Originating program（ログを生成したプログラム）</a:t>
            </a:r>
          </a:p>
          <a:p>
            <a:pPr algn="l"/>
            <a:r>
              <a:rPr lang="ja-JP" altLang="en-US" sz="1400" dirty="0"/>
              <a:t>5. 	Message（syslogd に渡されるメッセージ本体）</a:t>
            </a:r>
          </a:p>
        </p:txBody>
      </p:sp>
      <p:pic>
        <p:nvPicPr>
          <p:cNvPr id="4" name="図 3">
            <a:extLst>
              <a:ext uri="{FF2B5EF4-FFF2-40B4-BE49-F238E27FC236}">
                <a16:creationId xmlns:a16="http://schemas.microsoft.com/office/drawing/2014/main" id="{66EAFF1C-CD96-4529-9E9A-524D8F856118}"/>
              </a:ext>
            </a:extLst>
          </p:cNvPr>
          <p:cNvPicPr>
            <a:picLocks noChangeAspect="1"/>
          </p:cNvPicPr>
          <p:nvPr/>
        </p:nvPicPr>
        <p:blipFill>
          <a:blip r:embed="rId2"/>
          <a:stretch>
            <a:fillRect/>
          </a:stretch>
        </p:blipFill>
        <p:spPr>
          <a:xfrm>
            <a:off x="218872" y="97275"/>
            <a:ext cx="6420255" cy="362958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551675"/>
            <a:ext cx="6852285" cy="8588443"/>
          </a:xfrm>
        </p:spPr>
        <p:txBody>
          <a:bodyPr>
            <a:noAutofit/>
          </a:bodyPr>
          <a:lstStyle/>
          <a:p>
            <a:pPr algn="l"/>
            <a:r>
              <a:rPr lang="ja-JP" altLang="en-US" sz="1050" dirty="0"/>
              <a:t>中央集約型ログの最大の利点は、</a:t>
            </a:r>
          </a:p>
          <a:p>
            <a:pPr algn="l"/>
            <a:r>
              <a:rPr lang="ja-JP" altLang="en-US" sz="1050" dirty="0"/>
              <a:t>リモート攻撃者がシステムログを削除したり改ざんしたりすることを難しくできる点 です。</a:t>
            </a:r>
          </a:p>
          <a:p>
            <a:pPr algn="l"/>
            <a:r>
              <a:rPr lang="ja-JP" altLang="en-US" sz="1050" dirty="0"/>
              <a:t>攻撃が発生した場合、そのログは即座に別のマシン（syslog サーバー）へ送信され、</a:t>
            </a:r>
          </a:p>
          <a:p>
            <a:pPr algn="l"/>
            <a:r>
              <a:rPr lang="ja-JP" altLang="en-US" sz="1050" dirty="0"/>
              <a:t>そこで保存されます。</a:t>
            </a:r>
          </a:p>
          <a:p>
            <a:pPr algn="l"/>
            <a:r>
              <a:rPr lang="ja-JP" altLang="en-US" sz="1050" dirty="0"/>
              <a:t>syslog サーバー自体が侵害されない限り、</a:t>
            </a:r>
          </a:p>
          <a:p>
            <a:pPr algn="l"/>
            <a:r>
              <a:rPr lang="ja-JP" altLang="en-US" sz="1050" dirty="0"/>
              <a:t>その情報は管理者によって後から確認でき、</a:t>
            </a:r>
          </a:p>
          <a:p>
            <a:pPr algn="l"/>
            <a:r>
              <a:rPr lang="ja-JP" altLang="en-US" sz="1050" dirty="0"/>
              <a:t>復旧作業にも役立ちます。</a:t>
            </a:r>
          </a:p>
          <a:p>
            <a:pPr algn="l"/>
            <a:endParaRPr lang="ja-JP" altLang="en-US" sz="1050" dirty="0"/>
          </a:p>
          <a:p>
            <a:pPr algn="l"/>
            <a:r>
              <a:rPr lang="ja-JP" altLang="en-US" sz="1050" dirty="0"/>
              <a:t>ログ量が大量に送られる場合の対策</a:t>
            </a:r>
          </a:p>
          <a:p>
            <a:pPr algn="l"/>
            <a:r>
              <a:rPr lang="ja-JP" altLang="en-US" sz="1050" dirty="0"/>
              <a:t>syslog クライアントが大量のログを送信してくる場合、</a:t>
            </a:r>
          </a:p>
          <a:p>
            <a:pPr algn="l"/>
            <a:r>
              <a:rPr lang="ja-JP" altLang="en-US" sz="1050" dirty="0"/>
              <a:t>唯一の防御策は 十分なディスク容量を持つ syslog サーバー を用意することです。</a:t>
            </a:r>
          </a:p>
          <a:p>
            <a:pPr algn="l"/>
            <a:r>
              <a:rPr lang="ja-JP" altLang="en-US" sz="1050" dirty="0"/>
              <a:t>• 	必要に応じてログローテーションを早める</a:t>
            </a:r>
          </a:p>
          <a:p>
            <a:pPr algn="l"/>
            <a:r>
              <a:rPr lang="ja-JP" altLang="en-US" sz="1050" dirty="0"/>
              <a:t>• 	複数パーティションに分けてログを保存し、環境全体のログが停止するリスクを分散する</a:t>
            </a:r>
          </a:p>
          <a:p>
            <a:pPr algn="l"/>
            <a:r>
              <a:rPr lang="ja-JP" altLang="en-US" sz="1050" dirty="0"/>
              <a:t>syslog には、同じメッセージが繰り返された場合に</a:t>
            </a:r>
          </a:p>
          <a:p>
            <a:pPr algn="l"/>
            <a:r>
              <a:rPr lang="ja-JP" altLang="en-US" sz="1050" dirty="0"/>
              <a:t>"last message repeated X times"</a:t>
            </a:r>
          </a:p>
          <a:p>
            <a:pPr algn="l"/>
            <a:r>
              <a:rPr lang="ja-JP" altLang="en-US" sz="1050" dirty="0" err="1"/>
              <a:t>のように</a:t>
            </a:r>
            <a:r>
              <a:rPr lang="ja-JP" altLang="en-US" sz="1050" dirty="0"/>
              <a:t>まとめる仕組みがあります。</a:t>
            </a:r>
          </a:p>
          <a:p>
            <a:pPr algn="l"/>
            <a:r>
              <a:rPr lang="ja-JP" altLang="en-US" sz="1050" dirty="0"/>
              <a:t>しかし最終的には、</a:t>
            </a:r>
          </a:p>
          <a:p>
            <a:pPr algn="l"/>
            <a:r>
              <a:rPr lang="ja-JP" altLang="en-US" sz="1050" dirty="0"/>
              <a:t>悪意あるユーザーによるログ埋め攻撃（log flooding） を防ぐには：</a:t>
            </a:r>
          </a:p>
          <a:p>
            <a:pPr algn="l"/>
            <a:r>
              <a:rPr lang="ja-JP" altLang="en-US" sz="1050" dirty="0"/>
              <a:t>• 	ファイアウォールで攻撃者をブロックする</a:t>
            </a:r>
          </a:p>
          <a:p>
            <a:pPr algn="l"/>
            <a:r>
              <a:rPr lang="ja-JP" altLang="en-US" sz="1050" dirty="0"/>
              <a:t>• 	ログローテーションを早める</a:t>
            </a:r>
          </a:p>
          <a:p>
            <a:pPr algn="l"/>
            <a:r>
              <a:rPr lang="ja-JP" altLang="en-US" sz="1050" dirty="0"/>
              <a:t>• 	大容量ディスクを用意する</a:t>
            </a:r>
          </a:p>
          <a:p>
            <a:pPr algn="l"/>
            <a:r>
              <a:rPr lang="ja-JP" altLang="en-US" sz="1050" dirty="0"/>
              <a:t>といった対策しかありません。</a:t>
            </a:r>
          </a:p>
          <a:p>
            <a:pPr algn="l"/>
            <a:endParaRPr lang="ja-JP" altLang="en-US" sz="1050" dirty="0"/>
          </a:p>
          <a:p>
            <a:pPr algn="l"/>
            <a:r>
              <a:rPr lang="ja-JP" altLang="en-US" sz="1050" dirty="0"/>
              <a:t>中央集約のデメリット：1 箇所に情報が集中する</a:t>
            </a:r>
          </a:p>
          <a:p>
            <a:pPr algn="l"/>
            <a:r>
              <a:rPr lang="ja-JP" altLang="en-US" sz="1050" dirty="0"/>
              <a:t>中央ログサーバーには、環境内のあらゆるログが集まります。</a:t>
            </a:r>
          </a:p>
          <a:p>
            <a:pPr algn="l"/>
            <a:r>
              <a:rPr lang="ja-JP" altLang="en-US" sz="1050" dirty="0"/>
              <a:t>• 	多くのログは、環境の重要情報を示す手がかりになる</a:t>
            </a:r>
          </a:p>
          <a:p>
            <a:pPr algn="l"/>
            <a:r>
              <a:rPr lang="ja-JP" altLang="en-US" sz="1050" dirty="0"/>
              <a:t>• 	一部のログには特権情報が含まれることもある</a:t>
            </a:r>
          </a:p>
          <a:p>
            <a:pPr algn="l"/>
            <a:r>
              <a:rPr lang="ja-JP" altLang="en-US" sz="1050" dirty="0"/>
              <a:t>つまり、</a:t>
            </a:r>
          </a:p>
          <a:p>
            <a:pPr algn="l"/>
            <a:r>
              <a:rPr lang="ja-JP" altLang="en-US" sz="1050" dirty="0"/>
              <a:t>中央 syslog サーバーは攻撃者にとって非常に価値の高いターゲット</a:t>
            </a:r>
          </a:p>
          <a:p>
            <a:pPr algn="l"/>
            <a:r>
              <a:rPr lang="ja-JP" altLang="en-US" sz="1050" dirty="0"/>
              <a:t>になります。</a:t>
            </a:r>
          </a:p>
          <a:p>
            <a:pPr algn="l"/>
            <a:r>
              <a:rPr lang="ja-JP" altLang="en-US" sz="1050" dirty="0"/>
              <a:t>そのため、このサーバーは厳重に保護する必要があります。</a:t>
            </a:r>
          </a:p>
          <a:p>
            <a:pPr algn="l"/>
            <a:r>
              <a:rPr lang="ja-JP" altLang="en-US" sz="1050" dirty="0"/>
              <a:t>推奨される構成：</a:t>
            </a:r>
          </a:p>
          <a:p>
            <a:pPr algn="l"/>
            <a:r>
              <a:rPr lang="ja-JP" altLang="en-US" sz="1050" dirty="0"/>
              <a:t>• 	ログ受信サービス（syslog）以外は動かさない</a:t>
            </a:r>
          </a:p>
          <a:p>
            <a:pPr algn="l"/>
            <a:r>
              <a:rPr lang="ja-JP" altLang="en-US" sz="1050" dirty="0"/>
              <a:t>• 	SSH は管理者の特定 IP からのみ接続許可</a:t>
            </a:r>
          </a:p>
          <a:p>
            <a:pPr algn="l"/>
            <a:r>
              <a:rPr lang="ja-JP" altLang="en-US" sz="1050" dirty="0"/>
              <a:t>• 	最小限のサービスのみ稼働</a:t>
            </a:r>
          </a:p>
        </p:txBody>
      </p:sp>
      <p:pic>
        <p:nvPicPr>
          <p:cNvPr id="4" name="図 3">
            <a:extLst>
              <a:ext uri="{FF2B5EF4-FFF2-40B4-BE49-F238E27FC236}">
                <a16:creationId xmlns:a16="http://schemas.microsoft.com/office/drawing/2014/main" id="{5FE078DB-860A-4524-A454-45963231A9B3}"/>
              </a:ext>
            </a:extLst>
          </p:cNvPr>
          <p:cNvPicPr>
            <a:picLocks noChangeAspect="1"/>
          </p:cNvPicPr>
          <p:nvPr/>
        </p:nvPicPr>
        <p:blipFill>
          <a:blip r:embed="rId2"/>
          <a:stretch>
            <a:fillRect/>
          </a:stretch>
        </p:blipFill>
        <p:spPr>
          <a:xfrm>
            <a:off x="497524" y="110247"/>
            <a:ext cx="5862952" cy="332677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843867"/>
            <a:ext cx="6852285" cy="8348133"/>
          </a:xfrm>
        </p:spPr>
        <p:txBody>
          <a:bodyPr>
            <a:noAutofit/>
          </a:bodyPr>
          <a:lstStyle/>
          <a:p>
            <a:pPr algn="l"/>
            <a:r>
              <a:rPr lang="ja-JP" altLang="en-US" sz="1200" dirty="0"/>
              <a:t>ICS 環境では、ログを 中央の場所に集約 することが重要です。</a:t>
            </a:r>
          </a:p>
          <a:p>
            <a:pPr algn="l"/>
            <a:r>
              <a:rPr lang="ja-JP" altLang="en-US" sz="1200" dirty="0"/>
              <a:t>まずは 中央制御センター（Control Center） に集約し、</a:t>
            </a:r>
          </a:p>
          <a:p>
            <a:pPr algn="l"/>
            <a:r>
              <a:rPr lang="ja-JP" altLang="en-US" sz="1200" dirty="0"/>
              <a:t>必要に応じて 制御ネットワーク外の場所 にもログサーバーを配置します。</a:t>
            </a:r>
          </a:p>
          <a:p>
            <a:pPr algn="l"/>
            <a:r>
              <a:rPr lang="ja-JP" altLang="en-US" sz="1200" dirty="0"/>
              <a:t>これにより：</a:t>
            </a:r>
          </a:p>
          <a:p>
            <a:pPr algn="l"/>
            <a:r>
              <a:rPr lang="ja-JP" altLang="en-US" sz="1200" dirty="0"/>
              <a:t>• 	制御エンジニアは制御ネットワーク内部から必要なログにアクセスできる</a:t>
            </a:r>
          </a:p>
          <a:p>
            <a:pPr algn="l"/>
            <a:r>
              <a:rPr lang="ja-JP" altLang="en-US" sz="1200" dirty="0"/>
              <a:t>• 	セキュリティ分析ツールや SOC は制御ネットワーク外からログを分析できる</a:t>
            </a:r>
          </a:p>
          <a:p>
            <a:pPr algn="l"/>
            <a:r>
              <a:rPr lang="ja-JP" altLang="en-US" sz="1200" dirty="0"/>
              <a:t>ただし、制御ネットワーク外に置くログサーバーは</a:t>
            </a:r>
          </a:p>
          <a:p>
            <a:pPr algn="l"/>
            <a:r>
              <a:rPr lang="ja-JP" altLang="en-US" sz="1200" dirty="0"/>
              <a:t>ビジネスネットワーク内の高セキュリティゾーンに配置 し、</a:t>
            </a:r>
          </a:p>
          <a:p>
            <a:pPr algn="l"/>
            <a:r>
              <a:rPr lang="ja-JP" altLang="en-US" sz="1200" dirty="0"/>
              <a:t>侵害されるリスクを最小化する必要があります。</a:t>
            </a:r>
          </a:p>
          <a:p>
            <a:pPr algn="l"/>
            <a:endParaRPr lang="ja-JP" altLang="en-US" sz="1200" dirty="0"/>
          </a:p>
          <a:p>
            <a:pPr algn="l"/>
            <a:r>
              <a:rPr lang="ja-JP" altLang="en-US" sz="1200" dirty="0"/>
              <a:t>ICS では「異常」だけでなく“正常の欠如”も監視対象</a:t>
            </a:r>
          </a:p>
          <a:p>
            <a:pPr algn="l"/>
            <a:r>
              <a:rPr lang="ja-JP" altLang="en-US" sz="1200" dirty="0"/>
              <a:t>IT 環境と同様に、まず 正常ログのベースライン を作成し、</a:t>
            </a:r>
          </a:p>
          <a:p>
            <a:pPr algn="l"/>
            <a:r>
              <a:rPr lang="ja-JP" altLang="en-US" sz="1200" dirty="0"/>
              <a:t>そこからの逸脱を監視します。</a:t>
            </a:r>
          </a:p>
          <a:p>
            <a:pPr algn="l"/>
            <a:r>
              <a:rPr lang="ja-JP" altLang="en-US" sz="1200" dirty="0"/>
              <a:t>しかし ICS では、</a:t>
            </a:r>
          </a:p>
          <a:p>
            <a:pPr algn="l"/>
            <a:r>
              <a:rPr lang="ja-JP" altLang="en-US" sz="1200" dirty="0"/>
              <a:t>異常ログを探すだけでなく、正常ログが“出なくなる”ことも重要な兆候 です。</a:t>
            </a:r>
          </a:p>
          <a:p>
            <a:pPr algn="l"/>
            <a:r>
              <a:rPr lang="ja-JP" altLang="en-US" sz="1200" dirty="0"/>
              <a:t>制御プロセスに影響を与える攻撃は：</a:t>
            </a:r>
          </a:p>
          <a:p>
            <a:pPr algn="l"/>
            <a:r>
              <a:rPr lang="ja-JP" altLang="en-US" sz="1200" dirty="0"/>
              <a:t>• 	ログの「いつものパターン」を変化させる</a:t>
            </a:r>
          </a:p>
          <a:p>
            <a:pPr algn="l"/>
            <a:r>
              <a:rPr lang="ja-JP" altLang="en-US" sz="1200" dirty="0"/>
              <a:t>• 	あるはずのログが突然出なくなる</a:t>
            </a:r>
          </a:p>
          <a:p>
            <a:pPr algn="l"/>
            <a:r>
              <a:rPr lang="ja-JP" altLang="en-US" sz="1200" dirty="0"/>
              <a:t>といった形で現れることが多いからです。</a:t>
            </a:r>
          </a:p>
          <a:p>
            <a:pPr algn="l"/>
            <a:r>
              <a:rPr lang="ja-JP" altLang="en-US" sz="1200" dirty="0"/>
              <a:t>ICS のログは本来 非常に予測可能 であり、</a:t>
            </a:r>
          </a:p>
          <a:p>
            <a:pPr algn="l"/>
            <a:r>
              <a:rPr lang="ja-JP" altLang="en-US" sz="1200" dirty="0"/>
              <a:t>IT のように変動が大きい環境とは異なります。</a:t>
            </a:r>
          </a:p>
          <a:p>
            <a:pPr algn="l"/>
            <a:endParaRPr lang="ja-JP" altLang="en-US" sz="1200" dirty="0"/>
          </a:p>
          <a:p>
            <a:pPr algn="l"/>
            <a:r>
              <a:rPr lang="ja-JP" altLang="en-US" sz="1200" dirty="0"/>
              <a:t>ヒストリアン（Historian）データを SIEM に送る案</a:t>
            </a:r>
          </a:p>
          <a:p>
            <a:pPr algn="l"/>
            <a:r>
              <a:rPr lang="ja-JP" altLang="en-US" sz="1200" dirty="0"/>
              <a:t>エンジニアと協力し、</a:t>
            </a:r>
          </a:p>
          <a:p>
            <a:pPr algn="l"/>
            <a:r>
              <a:rPr lang="ja-JP" altLang="en-US" sz="1200" dirty="0"/>
              <a:t>ヒストリアンのデータの一部を SIEM に送信することで、</a:t>
            </a:r>
          </a:p>
          <a:p>
            <a:pPr algn="l"/>
            <a:r>
              <a:rPr lang="ja-JP" altLang="en-US" sz="1200" dirty="0"/>
              <a:t>より高度な相関分析 が可能になります。</a:t>
            </a:r>
          </a:p>
          <a:p>
            <a:pPr algn="l"/>
            <a:r>
              <a:rPr lang="ja-JP" altLang="en-US" sz="1200" dirty="0"/>
              <a:t>• 	制御値の変化</a:t>
            </a:r>
          </a:p>
          <a:p>
            <a:pPr algn="l"/>
            <a:r>
              <a:rPr lang="ja-JP" altLang="en-US" sz="1200" dirty="0"/>
              <a:t>• 	アラームの発生</a:t>
            </a:r>
          </a:p>
          <a:p>
            <a:pPr algn="l"/>
            <a:r>
              <a:rPr lang="ja-JP" altLang="en-US" sz="1200" dirty="0"/>
              <a:t>• 	トレンドの異常</a:t>
            </a:r>
          </a:p>
          <a:p>
            <a:pPr algn="l"/>
            <a:r>
              <a:rPr lang="ja-JP" altLang="en-US" sz="1200" dirty="0"/>
              <a:t>などをセキュリティイベントと組み合わせることで、</a:t>
            </a:r>
          </a:p>
          <a:p>
            <a:pPr algn="l"/>
            <a:r>
              <a:rPr lang="ja-JP" altLang="en-US" sz="1200" dirty="0"/>
              <a:t>攻撃の兆候をより早く検知できます。</a:t>
            </a:r>
          </a:p>
        </p:txBody>
      </p:sp>
      <p:pic>
        <p:nvPicPr>
          <p:cNvPr id="4" name="図 3">
            <a:extLst>
              <a:ext uri="{FF2B5EF4-FFF2-40B4-BE49-F238E27FC236}">
                <a16:creationId xmlns:a16="http://schemas.microsoft.com/office/drawing/2014/main" id="{C6B9DD0E-0290-4C23-89D1-6E5C6DC3C2C0}"/>
              </a:ext>
            </a:extLst>
          </p:cNvPr>
          <p:cNvPicPr>
            <a:picLocks noChangeAspect="1"/>
          </p:cNvPicPr>
          <p:nvPr/>
        </p:nvPicPr>
        <p:blipFill>
          <a:blip r:embed="rId2"/>
          <a:stretch>
            <a:fillRect/>
          </a:stretch>
        </p:blipFill>
        <p:spPr>
          <a:xfrm>
            <a:off x="257783" y="116730"/>
            <a:ext cx="6342434" cy="3589261"/>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206F8F2B-FB6E-4664-BBB5-4F7EAC6D7195}"/>
              </a:ext>
            </a:extLst>
          </p:cNvPr>
          <p:cNvPicPr>
            <a:picLocks noChangeAspect="1"/>
          </p:cNvPicPr>
          <p:nvPr/>
        </p:nvPicPr>
        <p:blipFill>
          <a:blip r:embed="rId2"/>
          <a:stretch>
            <a:fillRect/>
          </a:stretch>
        </p:blipFill>
        <p:spPr>
          <a:xfrm>
            <a:off x="214822" y="214008"/>
            <a:ext cx="6428356" cy="367705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ADE0C05C-BC06-471D-814A-8E27227CC26E}"/>
              </a:ext>
            </a:extLst>
          </p:cNvPr>
          <p:cNvPicPr>
            <a:picLocks noChangeAspect="1"/>
          </p:cNvPicPr>
          <p:nvPr/>
        </p:nvPicPr>
        <p:blipFill>
          <a:blip r:embed="rId2"/>
          <a:stretch>
            <a:fillRect/>
          </a:stretch>
        </p:blipFill>
        <p:spPr>
          <a:xfrm>
            <a:off x="228600" y="116730"/>
            <a:ext cx="6400800" cy="364418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5993CAD2-61B4-469A-A2D2-E2946C3034F2}"/>
              </a:ext>
            </a:extLst>
          </p:cNvPr>
          <p:cNvPicPr>
            <a:picLocks noChangeAspect="1"/>
          </p:cNvPicPr>
          <p:nvPr/>
        </p:nvPicPr>
        <p:blipFill>
          <a:blip r:embed="rId2"/>
          <a:stretch>
            <a:fillRect/>
          </a:stretch>
        </p:blipFill>
        <p:spPr>
          <a:xfrm>
            <a:off x="241309" y="136185"/>
            <a:ext cx="6375382" cy="361869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6D7CAF33-FAFD-415C-B9E2-23845B93EBE9}"/>
              </a:ext>
            </a:extLst>
          </p:cNvPr>
          <p:cNvPicPr>
            <a:picLocks noChangeAspect="1"/>
          </p:cNvPicPr>
          <p:nvPr/>
        </p:nvPicPr>
        <p:blipFill>
          <a:blip r:embed="rId2"/>
          <a:stretch>
            <a:fillRect/>
          </a:stretch>
        </p:blipFill>
        <p:spPr>
          <a:xfrm>
            <a:off x="218872" y="136185"/>
            <a:ext cx="6420256" cy="364787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574371"/>
            <a:ext cx="6852285" cy="4284132"/>
          </a:xfrm>
        </p:spPr>
        <p:txBody>
          <a:bodyPr>
            <a:normAutofit fontScale="70000" lnSpcReduction="20000"/>
          </a:bodyPr>
          <a:lstStyle/>
          <a:p>
            <a:pPr algn="l"/>
            <a:r>
              <a:rPr lang="ja-JP" altLang="en-US" sz="1400" dirty="0"/>
              <a:t>ICS サイバーセキュリティプログラムを会社で立ち上げるには、多くのステップがあります。</a:t>
            </a:r>
          </a:p>
          <a:p>
            <a:pPr algn="l"/>
            <a:r>
              <a:rPr lang="ja-JP" altLang="en-US" sz="1400" dirty="0"/>
              <a:t>最初のステップは、</a:t>
            </a:r>
          </a:p>
          <a:p>
            <a:pPr algn="l"/>
            <a:r>
              <a:rPr lang="ja-JP" altLang="en-US" sz="1400" dirty="0"/>
              <a:t>経営層からの支援（予算・権限）を得ること です。</a:t>
            </a:r>
          </a:p>
          <a:p>
            <a:pPr algn="l"/>
            <a:r>
              <a:rPr lang="ja-JP" altLang="en-US" sz="1400" dirty="0"/>
              <a:t>次に、ICS サイバーセキュリティチームを構築 します。</a:t>
            </a:r>
          </a:p>
          <a:p>
            <a:pPr algn="l"/>
            <a:r>
              <a:rPr lang="ja-JP" altLang="en-US" sz="1400" dirty="0"/>
              <a:t>数名でもチームが動き始めたら、</a:t>
            </a:r>
          </a:p>
          <a:p>
            <a:pPr algn="l"/>
            <a:r>
              <a:rPr lang="ja-JP" altLang="en-US" sz="1400" dirty="0"/>
              <a:t>組織が満たすべき 規制要件 や、</a:t>
            </a:r>
          </a:p>
          <a:p>
            <a:pPr algn="l"/>
            <a:r>
              <a:rPr lang="ja-JP" altLang="en-US" sz="1400" dirty="0"/>
              <a:t>組織が直面する サイバーリスク を特定し始めます。</a:t>
            </a:r>
          </a:p>
          <a:p>
            <a:pPr algn="l"/>
            <a:r>
              <a:rPr lang="ja-JP" altLang="en-US" sz="1400" dirty="0"/>
              <a:t>これは簡単な作業ではなく、実際には 終わりのないプロセス です。</a:t>
            </a:r>
          </a:p>
          <a:p>
            <a:pPr algn="l"/>
            <a:endParaRPr lang="ja-JP" altLang="en-US" sz="1400" dirty="0"/>
          </a:p>
          <a:p>
            <a:pPr algn="l"/>
            <a:r>
              <a:rPr lang="ja-JP" altLang="en-US" sz="1400" dirty="0"/>
              <a:t>小さく始め、段階的に成長させる</a:t>
            </a:r>
          </a:p>
          <a:p>
            <a:pPr algn="l"/>
            <a:r>
              <a:rPr lang="ja-JP" altLang="en-US" sz="1400" dirty="0"/>
              <a:t>• 	小さく、自然に始める</a:t>
            </a:r>
          </a:p>
          <a:p>
            <a:pPr algn="l"/>
            <a:r>
              <a:rPr lang="ja-JP" altLang="en-US" sz="1400" dirty="0"/>
              <a:t>• 	一口サイズのタスクに分解する</a:t>
            </a:r>
          </a:p>
          <a:p>
            <a:pPr algn="l"/>
            <a:r>
              <a:rPr lang="ja-JP" altLang="en-US" sz="1400" dirty="0"/>
              <a:t>• 	リスク理解を継続的に深める</a:t>
            </a:r>
          </a:p>
          <a:p>
            <a:pPr algn="l"/>
            <a:r>
              <a:rPr lang="ja-JP" altLang="en-US" sz="1400" dirty="0"/>
              <a:t>これは アジャイル開発とウォーターフォール開発の違い に似ています。</a:t>
            </a:r>
          </a:p>
          <a:p>
            <a:pPr algn="l"/>
            <a:r>
              <a:rPr lang="ja-JP" altLang="en-US" sz="1400" dirty="0"/>
              <a:t>数週間で達成できる小さなマイルストーン を設定し、</a:t>
            </a:r>
          </a:p>
          <a:p>
            <a:pPr algn="l"/>
            <a:r>
              <a:rPr lang="ja-JP" altLang="en-US" sz="1400" dirty="0"/>
              <a:t>リスク理解が深まるにつれて、</a:t>
            </a:r>
          </a:p>
          <a:p>
            <a:pPr algn="l"/>
            <a:r>
              <a:rPr lang="ja-JP" altLang="en-US" sz="1400" dirty="0"/>
              <a:t>ポリシーや手順を作成し、必要に応じて修正し、</a:t>
            </a:r>
          </a:p>
          <a:p>
            <a:pPr algn="l"/>
            <a:r>
              <a:rPr lang="ja-JP" altLang="en-US" sz="1400" dirty="0"/>
              <a:t>組織内で実行していきます。</a:t>
            </a:r>
          </a:p>
          <a:p>
            <a:pPr algn="l"/>
            <a:endParaRPr lang="ja-JP" altLang="en-US" sz="1400" dirty="0"/>
          </a:p>
          <a:p>
            <a:pPr algn="l"/>
            <a:r>
              <a:rPr lang="ja-JP" altLang="en-US" sz="1400" dirty="0"/>
              <a:t>アジャイルソフトウェア開発の 12 原則（サイバーセキュリティにも適用可能）</a:t>
            </a:r>
          </a:p>
        </p:txBody>
      </p:sp>
      <p:pic>
        <p:nvPicPr>
          <p:cNvPr id="4" name="図形 3"/>
          <p:cNvPicPr>
            <a:picLocks noChangeAspect="1"/>
          </p:cNvPicPr>
          <p:nvPr/>
        </p:nvPicPr>
        <p:blipFill>
          <a:blip r:embed="rId2"/>
          <a:stretch>
            <a:fillRect/>
          </a:stretch>
        </p:blipFill>
        <p:spPr>
          <a:xfrm>
            <a:off x="-1" y="7965146"/>
            <a:ext cx="5272392" cy="4163092"/>
          </a:xfrm>
          <a:prstGeom prst="rect">
            <a:avLst/>
          </a:prstGeom>
        </p:spPr>
      </p:pic>
      <p:pic>
        <p:nvPicPr>
          <p:cNvPr id="5" name="図 4">
            <a:extLst>
              <a:ext uri="{FF2B5EF4-FFF2-40B4-BE49-F238E27FC236}">
                <a16:creationId xmlns:a16="http://schemas.microsoft.com/office/drawing/2014/main" id="{4C059BAC-B4E1-431A-AB52-6B6BBB41F4E1}"/>
              </a:ext>
            </a:extLst>
          </p:cNvPr>
          <p:cNvPicPr>
            <a:picLocks noChangeAspect="1"/>
          </p:cNvPicPr>
          <p:nvPr/>
        </p:nvPicPr>
        <p:blipFill>
          <a:blip r:embed="rId3"/>
          <a:stretch>
            <a:fillRect/>
          </a:stretch>
        </p:blipFill>
        <p:spPr>
          <a:xfrm>
            <a:off x="526185" y="97275"/>
            <a:ext cx="5805629" cy="3302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0"/>
            <a:ext cx="6852285" cy="6312535"/>
          </a:xfrm>
        </p:spPr>
        <p:txBody>
          <a:bodyPr>
            <a:normAutofit/>
          </a:bodyPr>
          <a:lstStyle/>
          <a:p>
            <a:pPr algn="l"/>
            <a:r>
              <a:rPr lang="ja-JP" altLang="en-US" sz="1400" dirty="0"/>
              <a:t>Reference:</a:t>
            </a:r>
          </a:p>
          <a:p>
            <a:pPr algn="l"/>
            <a:r>
              <a:rPr lang="ja-JP" altLang="en-US" sz="1400" dirty="0"/>
              <a:t>• https://en.wikipedia.org/wiki/Agile_software_development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847107"/>
            <a:ext cx="6852285" cy="6736584"/>
          </a:xfrm>
        </p:spPr>
        <p:txBody>
          <a:bodyPr>
            <a:normAutofit/>
          </a:bodyPr>
          <a:lstStyle/>
          <a:p>
            <a:pPr algn="l"/>
            <a:r>
              <a:rPr lang="ja-JP" altLang="en-US" sz="1400" dirty="0"/>
              <a:t>ICS セキュリティには、複数の対策を階層的に組み合わせた 包括的で統合的なアプローチ が必要です。</a:t>
            </a:r>
          </a:p>
          <a:p>
            <a:pPr algn="l"/>
            <a:r>
              <a:rPr lang="ja-JP" altLang="en-US" sz="1400" dirty="0"/>
              <a:t>単一のセキュリティ対策だけで組織や制御システムを守ることはできません。</a:t>
            </a:r>
          </a:p>
          <a:p>
            <a:pPr algn="l"/>
            <a:r>
              <a:rPr lang="ja-JP" altLang="en-US" sz="1400" dirty="0"/>
              <a:t>なぜなら、どんな対策でも バイパスされる可能性があり、攻撃を見逃す可能性がある からです。</a:t>
            </a:r>
          </a:p>
          <a:p>
            <a:pPr algn="l"/>
            <a:r>
              <a:rPr lang="ja-JP" altLang="en-US" sz="1400" dirty="0"/>
              <a:t>たとえば大統領を守る場合を考えると、</a:t>
            </a:r>
          </a:p>
          <a:p>
            <a:pPr algn="l"/>
            <a:r>
              <a:rPr lang="ja-JP" altLang="en-US" sz="1400" dirty="0"/>
              <a:t>多くの人員・仕組み・システムが重層的に配置されており、</a:t>
            </a:r>
          </a:p>
          <a:p>
            <a:pPr algn="l"/>
            <a:r>
              <a:rPr lang="ja-JP" altLang="en-US" sz="1400" dirty="0"/>
              <a:t>どれか 1 つが失敗しても他が補完するようになっています。</a:t>
            </a:r>
          </a:p>
          <a:p>
            <a:pPr algn="l"/>
            <a:r>
              <a:rPr lang="ja-JP" altLang="en-US" sz="1400" dirty="0"/>
              <a:t>同じ考え方を、あなたのネットワークや重要資産にも適用する必要があります。</a:t>
            </a:r>
          </a:p>
          <a:p>
            <a:pPr algn="l"/>
            <a:r>
              <a:rPr lang="ja-JP" altLang="en-US" sz="1400" dirty="0"/>
              <a:t>ICS セキュリティに「銀の弾丸（万能の解決策）」は存在しません。</a:t>
            </a:r>
          </a:p>
          <a:p>
            <a:pPr algn="l"/>
            <a:r>
              <a:rPr lang="ja-JP" altLang="en-US" sz="1400" dirty="0"/>
              <a:t>複数の対策を組み合わせ、互いに補完し合うように配置する必要があります。</a:t>
            </a:r>
          </a:p>
          <a:p>
            <a:pPr algn="l"/>
            <a:r>
              <a:rPr lang="ja-JP" altLang="en-US" sz="1400" dirty="0"/>
              <a:t>例として：</a:t>
            </a:r>
          </a:p>
          <a:p>
            <a:pPr algn="l"/>
            <a:r>
              <a:rPr lang="ja-JP" altLang="en-US" sz="1400" dirty="0"/>
              <a:t>• 	予防的対策（Preventive）：ファイアウォール</a:t>
            </a:r>
          </a:p>
          <a:p>
            <a:pPr algn="l"/>
            <a:r>
              <a:rPr lang="ja-JP" altLang="en-US" sz="1400" dirty="0"/>
              <a:t>• 	検知的対策（Detective）：IDS（侵入検知システム）</a:t>
            </a:r>
          </a:p>
          <a:p>
            <a:pPr algn="l"/>
            <a:r>
              <a:rPr lang="ja-JP" altLang="en-US" sz="1400" dirty="0"/>
              <a:t>• 	抑止的対策（Deterrent）：施設入口の警備員</a:t>
            </a:r>
          </a:p>
          <a:p>
            <a:pPr algn="l"/>
            <a:r>
              <a:rPr lang="ja-JP" altLang="en-US" sz="1400" dirty="0"/>
              <a:t>などがあります。</a:t>
            </a:r>
          </a:p>
          <a:p>
            <a:pPr algn="l"/>
            <a:r>
              <a:rPr lang="ja-JP" altLang="en-US" sz="1400" dirty="0"/>
              <a:t>どれか 1 つが失敗しても、他の対策が攻撃を検知したり、</a:t>
            </a:r>
          </a:p>
          <a:p>
            <a:pPr algn="l"/>
            <a:r>
              <a:rPr lang="ja-JP" altLang="en-US" sz="1400" dirty="0"/>
              <a:t>攻撃中に気づいて被害を最小化することができます。</a:t>
            </a:r>
          </a:p>
        </p:txBody>
      </p:sp>
      <p:pic>
        <p:nvPicPr>
          <p:cNvPr id="4" name="図 3">
            <a:extLst>
              <a:ext uri="{FF2B5EF4-FFF2-40B4-BE49-F238E27FC236}">
                <a16:creationId xmlns:a16="http://schemas.microsoft.com/office/drawing/2014/main" id="{DC1A9C07-A5DC-452C-A435-2367695E6D4F}"/>
              </a:ext>
            </a:extLst>
          </p:cNvPr>
          <p:cNvPicPr>
            <a:picLocks noChangeAspect="1"/>
          </p:cNvPicPr>
          <p:nvPr/>
        </p:nvPicPr>
        <p:blipFill>
          <a:blip r:embed="rId2"/>
          <a:stretch>
            <a:fillRect/>
          </a:stretch>
        </p:blipFill>
        <p:spPr>
          <a:xfrm>
            <a:off x="296693" y="155640"/>
            <a:ext cx="6264613" cy="356420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3192" y="3994463"/>
            <a:ext cx="6852285" cy="6312535"/>
          </a:xfrm>
        </p:spPr>
        <p:txBody>
          <a:bodyPr>
            <a:normAutofit/>
          </a:bodyPr>
          <a:lstStyle/>
          <a:p>
            <a:pPr algn="l"/>
            <a:r>
              <a:rPr lang="ja-JP" altLang="en-US" sz="1400" dirty="0"/>
              <a:t>Reference:</a:t>
            </a:r>
          </a:p>
          <a:p>
            <a:pPr algn="l"/>
            <a:r>
              <a:rPr lang="ja-JP" altLang="en-US" sz="1400" dirty="0"/>
              <a:t>• https://www.nist.gov/cyberframework</a:t>
            </a:r>
          </a:p>
        </p:txBody>
      </p:sp>
      <p:pic>
        <p:nvPicPr>
          <p:cNvPr id="4" name="図 3">
            <a:extLst>
              <a:ext uri="{FF2B5EF4-FFF2-40B4-BE49-F238E27FC236}">
                <a16:creationId xmlns:a16="http://schemas.microsoft.com/office/drawing/2014/main" id="{7FD9B80B-5A91-4B8D-A6E6-BB21757E87DC}"/>
              </a:ext>
            </a:extLst>
          </p:cNvPr>
          <p:cNvPicPr>
            <a:picLocks noChangeAspect="1"/>
          </p:cNvPicPr>
          <p:nvPr/>
        </p:nvPicPr>
        <p:blipFill>
          <a:blip r:embed="rId2"/>
          <a:stretch>
            <a:fillRect/>
          </a:stretch>
        </p:blipFill>
        <p:spPr>
          <a:xfrm>
            <a:off x="150778" y="155640"/>
            <a:ext cx="6556444" cy="372525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7" y="2754188"/>
            <a:ext cx="3423283" cy="6136893"/>
          </a:xfrm>
        </p:spPr>
        <p:txBody>
          <a:bodyPr>
            <a:normAutofit/>
          </a:bodyPr>
          <a:lstStyle/>
          <a:p>
            <a:pPr algn="l"/>
            <a:r>
              <a:rPr lang="ja-JP" altLang="en-US" sz="1100" dirty="0"/>
              <a:t>Identify（識別）</a:t>
            </a:r>
          </a:p>
          <a:p>
            <a:pPr algn="l"/>
            <a:r>
              <a:rPr lang="ja-JP" altLang="en-US" sz="1100" dirty="0"/>
              <a:t>組織が保有する システム・資産・データ・能力に対するサイバーリスクを理解し、管理するための基盤を作る。</a:t>
            </a:r>
          </a:p>
          <a:p>
            <a:pPr algn="l"/>
            <a:r>
              <a:rPr lang="ja-JP" altLang="en-US" sz="1100" dirty="0"/>
              <a:t>ビジネスの背景、重要機能を支えるリソース、関連するリスクを理解することで、</a:t>
            </a:r>
          </a:p>
          <a:p>
            <a:pPr algn="l"/>
            <a:r>
              <a:rPr lang="ja-JP" altLang="en-US" sz="1100" dirty="0"/>
              <a:t>組織はリスク管理戦略に沿って優先順位をつけられる。</a:t>
            </a:r>
          </a:p>
          <a:p>
            <a:pPr algn="l"/>
            <a:r>
              <a:rPr lang="ja-JP" altLang="en-US" sz="1100" dirty="0"/>
              <a:t>主なカテゴリ例：</a:t>
            </a:r>
          </a:p>
          <a:p>
            <a:pPr algn="l"/>
            <a:r>
              <a:rPr lang="ja-JP" altLang="en-US" sz="1100" dirty="0"/>
              <a:t>• 	資産管理</a:t>
            </a:r>
          </a:p>
          <a:p>
            <a:pPr algn="l"/>
            <a:r>
              <a:rPr lang="ja-JP" altLang="en-US" sz="1100" dirty="0"/>
              <a:t>• 	ビジネス環境</a:t>
            </a:r>
          </a:p>
          <a:p>
            <a:pPr algn="l"/>
            <a:r>
              <a:rPr lang="ja-JP" altLang="en-US" sz="1100" dirty="0"/>
              <a:t>• 	ガバナンス</a:t>
            </a:r>
          </a:p>
          <a:p>
            <a:pPr algn="l"/>
            <a:r>
              <a:rPr lang="ja-JP" altLang="en-US" sz="1100" dirty="0"/>
              <a:t>• 	リスク評価</a:t>
            </a:r>
          </a:p>
          <a:p>
            <a:pPr algn="l"/>
            <a:r>
              <a:rPr lang="ja-JP" altLang="en-US" sz="1100" dirty="0"/>
              <a:t>• 	リスク管理戦略</a:t>
            </a:r>
          </a:p>
          <a:p>
            <a:pPr algn="l"/>
            <a:endParaRPr lang="ja-JP" altLang="en-US" sz="1100" dirty="0"/>
          </a:p>
          <a:p>
            <a:pPr algn="l"/>
            <a:r>
              <a:rPr lang="ja-JP" altLang="en-US" sz="1100" dirty="0"/>
              <a:t>Protect（防御）</a:t>
            </a:r>
          </a:p>
          <a:p>
            <a:pPr algn="l"/>
            <a:r>
              <a:rPr lang="ja-JP" altLang="en-US" sz="1100" dirty="0"/>
              <a:t>重要インフラサービスを安全に提供するための 適切な保護策を実装する。</a:t>
            </a:r>
          </a:p>
          <a:p>
            <a:pPr algn="l"/>
            <a:r>
              <a:rPr lang="ja-JP" altLang="en-US" sz="1100" dirty="0"/>
              <a:t>潜在的なサイバー攻撃の影響を抑制・限定する役割を持つ。</a:t>
            </a:r>
          </a:p>
          <a:p>
            <a:pPr algn="l"/>
            <a:r>
              <a:rPr lang="ja-JP" altLang="en-US" sz="1100" dirty="0"/>
              <a:t>主なカテゴリ例：</a:t>
            </a:r>
          </a:p>
          <a:p>
            <a:pPr algn="l"/>
            <a:r>
              <a:rPr lang="ja-JP" altLang="en-US" sz="1100" dirty="0"/>
              <a:t>• 	ID 管理とアクセス制御</a:t>
            </a:r>
          </a:p>
          <a:p>
            <a:pPr algn="l"/>
            <a:r>
              <a:rPr lang="ja-JP" altLang="en-US" sz="1100" dirty="0"/>
              <a:t>• 	セキュリティ教育・訓練</a:t>
            </a:r>
          </a:p>
          <a:p>
            <a:pPr algn="l"/>
            <a:r>
              <a:rPr lang="ja-JP" altLang="en-US" sz="1100" dirty="0"/>
              <a:t>• 	データ保護</a:t>
            </a:r>
          </a:p>
          <a:p>
            <a:pPr algn="l"/>
            <a:r>
              <a:rPr lang="ja-JP" altLang="en-US" sz="1100" dirty="0"/>
              <a:t>• 	情報保護プロセスと手順</a:t>
            </a:r>
          </a:p>
          <a:p>
            <a:pPr algn="l"/>
            <a:r>
              <a:rPr lang="ja-JP" altLang="en-US" sz="1100" dirty="0"/>
              <a:t>• 	保守</a:t>
            </a:r>
          </a:p>
          <a:p>
            <a:pPr algn="l"/>
            <a:r>
              <a:rPr lang="ja-JP" altLang="en-US" sz="1100" dirty="0"/>
              <a:t>• 	保護技術</a:t>
            </a:r>
          </a:p>
          <a:p>
            <a:pPr algn="l"/>
            <a:endParaRPr lang="ja-JP" altLang="en-US" sz="1100" dirty="0"/>
          </a:p>
          <a:p>
            <a:pPr algn="l"/>
            <a:endParaRPr lang="ja-JP" altLang="en-US" sz="1100" dirty="0"/>
          </a:p>
        </p:txBody>
      </p:sp>
      <p:pic>
        <p:nvPicPr>
          <p:cNvPr id="4" name="図形 3"/>
          <p:cNvPicPr>
            <a:picLocks noChangeAspect="1"/>
          </p:cNvPicPr>
          <p:nvPr/>
        </p:nvPicPr>
        <p:blipFill>
          <a:blip r:embed="rId2"/>
          <a:stretch>
            <a:fillRect/>
          </a:stretch>
        </p:blipFill>
        <p:spPr>
          <a:xfrm>
            <a:off x="1137284" y="9554542"/>
            <a:ext cx="4572000" cy="2583593"/>
          </a:xfrm>
          <a:prstGeom prst="rect">
            <a:avLst/>
          </a:prstGeom>
        </p:spPr>
      </p:pic>
      <p:pic>
        <p:nvPicPr>
          <p:cNvPr id="5" name="図 4">
            <a:extLst>
              <a:ext uri="{FF2B5EF4-FFF2-40B4-BE49-F238E27FC236}">
                <a16:creationId xmlns:a16="http://schemas.microsoft.com/office/drawing/2014/main" id="{0DE12FD5-36C2-4DA8-A461-2990B0F98159}"/>
              </a:ext>
            </a:extLst>
          </p:cNvPr>
          <p:cNvPicPr>
            <a:picLocks noChangeAspect="1"/>
          </p:cNvPicPr>
          <p:nvPr/>
        </p:nvPicPr>
        <p:blipFill>
          <a:blip r:embed="rId3"/>
          <a:stretch>
            <a:fillRect/>
          </a:stretch>
        </p:blipFill>
        <p:spPr>
          <a:xfrm>
            <a:off x="1013951" y="90347"/>
            <a:ext cx="4830098" cy="2614483"/>
          </a:xfrm>
          <a:prstGeom prst="rect">
            <a:avLst/>
          </a:prstGeom>
        </p:spPr>
      </p:pic>
      <p:sp>
        <p:nvSpPr>
          <p:cNvPr id="7" name="サブタイトル 2">
            <a:extLst>
              <a:ext uri="{FF2B5EF4-FFF2-40B4-BE49-F238E27FC236}">
                <a16:creationId xmlns:a16="http://schemas.microsoft.com/office/drawing/2014/main" id="{EFA147DB-4F5C-4FC5-A8A1-48777D39C322}"/>
              </a:ext>
            </a:extLst>
          </p:cNvPr>
          <p:cNvSpPr txBox="1">
            <a:spLocks/>
          </p:cNvSpPr>
          <p:nvPr/>
        </p:nvSpPr>
        <p:spPr>
          <a:xfrm>
            <a:off x="3434717" y="2754188"/>
            <a:ext cx="3423283" cy="685421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100" dirty="0"/>
              <a:t>Detect（検知）</a:t>
            </a:r>
          </a:p>
          <a:p>
            <a:pPr algn="l"/>
            <a:r>
              <a:rPr lang="ja-JP" altLang="en-US" sz="1100" dirty="0"/>
              <a:t>サイバーセキュリティイベントの発生を 迅速に識別するための活動を実装する。</a:t>
            </a:r>
          </a:p>
          <a:p>
            <a:pPr algn="l"/>
            <a:r>
              <a:rPr lang="ja-JP" altLang="en-US" sz="1100" dirty="0"/>
              <a:t>攻撃を早期に発見することが目的。</a:t>
            </a:r>
          </a:p>
          <a:p>
            <a:pPr algn="l"/>
            <a:r>
              <a:rPr lang="ja-JP" altLang="en-US" sz="1100" dirty="0"/>
              <a:t>主なカテゴリ例：</a:t>
            </a:r>
          </a:p>
          <a:p>
            <a:pPr algn="l"/>
            <a:r>
              <a:rPr lang="ja-JP" altLang="en-US" sz="1100" dirty="0"/>
              <a:t>• 	異常とイベント</a:t>
            </a:r>
          </a:p>
          <a:p>
            <a:pPr algn="l"/>
            <a:r>
              <a:rPr lang="ja-JP" altLang="en-US" sz="1100" dirty="0"/>
              <a:t>• 	継続的監視</a:t>
            </a:r>
          </a:p>
          <a:p>
            <a:pPr algn="l"/>
            <a:r>
              <a:rPr lang="ja-JP" altLang="en-US" sz="1100" dirty="0"/>
              <a:t>• 	検知プロセス</a:t>
            </a:r>
          </a:p>
          <a:p>
            <a:pPr algn="l"/>
            <a:endParaRPr lang="ja-JP" altLang="en-US" sz="1100" dirty="0"/>
          </a:p>
          <a:p>
            <a:pPr algn="l"/>
            <a:r>
              <a:rPr lang="ja-JP" altLang="en-US" sz="1100" dirty="0"/>
              <a:t>Respond（対応）</a:t>
            </a:r>
          </a:p>
          <a:p>
            <a:pPr algn="l"/>
            <a:r>
              <a:rPr lang="ja-JP" altLang="en-US" sz="1100" dirty="0"/>
              <a:t>検知されたサイバーセキュリティインシデントに対して 適切な行動を取るための活動を実装する。</a:t>
            </a:r>
          </a:p>
          <a:p>
            <a:pPr algn="l"/>
            <a:r>
              <a:rPr lang="ja-JP" altLang="en-US" sz="1100" dirty="0"/>
              <a:t>インシデントの影響を封じ込めることが目的。</a:t>
            </a:r>
          </a:p>
          <a:p>
            <a:pPr algn="l"/>
            <a:r>
              <a:rPr lang="ja-JP" altLang="en-US" sz="1100" dirty="0"/>
              <a:t>主なカテゴリ例：</a:t>
            </a:r>
          </a:p>
          <a:p>
            <a:pPr algn="l"/>
            <a:r>
              <a:rPr lang="ja-JP" altLang="en-US" sz="1100" dirty="0"/>
              <a:t>• 	対応計画</a:t>
            </a:r>
          </a:p>
          <a:p>
            <a:pPr algn="l"/>
            <a:r>
              <a:rPr lang="ja-JP" altLang="en-US" sz="1100" dirty="0"/>
              <a:t>• 	コミュニケーション</a:t>
            </a:r>
          </a:p>
          <a:p>
            <a:pPr algn="l"/>
            <a:r>
              <a:rPr lang="ja-JP" altLang="en-US" sz="1100" dirty="0"/>
              <a:t>• 	分析</a:t>
            </a:r>
          </a:p>
          <a:p>
            <a:pPr algn="l"/>
            <a:r>
              <a:rPr lang="ja-JP" altLang="en-US" sz="1100" dirty="0"/>
              <a:t>• 	緩和（Mitigation）</a:t>
            </a:r>
          </a:p>
          <a:p>
            <a:pPr algn="l"/>
            <a:r>
              <a:rPr lang="ja-JP" altLang="en-US" sz="1100" dirty="0"/>
              <a:t>• 	改善</a:t>
            </a:r>
          </a:p>
          <a:p>
            <a:pPr algn="l"/>
            <a:endParaRPr lang="ja-JP" altLang="en-US" sz="1100" dirty="0"/>
          </a:p>
          <a:p>
            <a:pPr algn="l"/>
            <a:r>
              <a:rPr lang="ja-JP" altLang="en-US" sz="1100" dirty="0"/>
              <a:t>Recover（復旧）</a:t>
            </a:r>
          </a:p>
          <a:p>
            <a:pPr algn="l"/>
            <a:r>
              <a:rPr lang="ja-JP" altLang="en-US" sz="1100" dirty="0"/>
              <a:t>インシデントによって損なわれた 能力やサービスを回復し、レジリエンスを維持するための活動を実装する。</a:t>
            </a:r>
          </a:p>
          <a:p>
            <a:pPr algn="l"/>
            <a:r>
              <a:rPr lang="ja-JP" altLang="en-US" sz="1100" dirty="0"/>
              <a:t>通常運用への迅速な復帰を支援する。</a:t>
            </a:r>
          </a:p>
          <a:p>
            <a:pPr algn="l"/>
            <a:r>
              <a:rPr lang="ja-JP" altLang="en-US" sz="1100" dirty="0"/>
              <a:t>主なカテゴリ例：</a:t>
            </a:r>
          </a:p>
          <a:p>
            <a:pPr algn="l"/>
            <a:r>
              <a:rPr lang="ja-JP" altLang="en-US" sz="1100" dirty="0"/>
              <a:t>• 	復旧計画</a:t>
            </a:r>
          </a:p>
          <a:p>
            <a:pPr algn="l"/>
            <a:r>
              <a:rPr lang="ja-JP" altLang="en-US" sz="1100" dirty="0"/>
              <a:t>• 	改善</a:t>
            </a:r>
          </a:p>
          <a:p>
            <a:pPr algn="l"/>
            <a:r>
              <a:rPr lang="ja-JP" altLang="en-US" sz="1100" dirty="0"/>
              <a:t>• 	コミュニケーション</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0"/>
            <a:ext cx="6852285" cy="3735421"/>
          </a:xfrm>
        </p:spPr>
        <p:txBody>
          <a:bodyPr>
            <a:normAutofit/>
          </a:bodyPr>
          <a:lstStyle/>
          <a:p>
            <a:pPr algn="l"/>
            <a:r>
              <a:rPr lang="ja-JP" altLang="en-US" sz="1400" dirty="0"/>
              <a:t>Recover（復旧）機能のアウトカムカテゴリは「Recovery Planning」「Improvements」「Communications」</a:t>
            </a:r>
          </a:p>
          <a:p>
            <a:pPr algn="l"/>
            <a:r>
              <a:rPr lang="ja-JP" altLang="en-US" sz="1400" dirty="0"/>
              <a:t>Reference:</a:t>
            </a:r>
          </a:p>
          <a:p>
            <a:pPr algn="l"/>
            <a:r>
              <a:rPr lang="ja-JP" altLang="en-US" sz="1400" dirty="0"/>
              <a:t>• https://www.nist.gov/cyberframework</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9496" y="2509192"/>
            <a:ext cx="3429000" cy="6751540"/>
          </a:xfrm>
        </p:spPr>
        <p:txBody>
          <a:bodyPr>
            <a:noAutofit/>
          </a:bodyPr>
          <a:lstStyle/>
          <a:p>
            <a:pPr algn="l"/>
            <a:r>
              <a:rPr lang="ja-JP" altLang="en-US" sz="1000" dirty="0"/>
              <a:t>NIST CSF – Identify（識別）カテゴリの日本語訳と解説</a:t>
            </a:r>
          </a:p>
          <a:p>
            <a:pPr algn="l"/>
            <a:r>
              <a:rPr lang="ja-JP" altLang="en-US" sz="1000" dirty="0"/>
              <a:t>1. Asset Management（ID.AM）資産管理</a:t>
            </a:r>
          </a:p>
          <a:p>
            <a:pPr algn="l"/>
            <a:r>
              <a:rPr lang="ja-JP" altLang="en-US" sz="1000" dirty="0"/>
              <a:t>組織のビジネス目的を支える データ、要員、デバイス、システム、施設 を</a:t>
            </a:r>
          </a:p>
          <a:p>
            <a:pPr algn="l"/>
            <a:r>
              <a:rPr lang="ja-JP" altLang="en-US" sz="1000" dirty="0"/>
              <a:t>その重要度に応じて識別し、管理する。</a:t>
            </a:r>
          </a:p>
          <a:p>
            <a:pPr algn="l"/>
            <a:r>
              <a:rPr lang="ja-JP" altLang="en-US" sz="1000" dirty="0"/>
              <a:t>• 	何が重要資産か</a:t>
            </a:r>
          </a:p>
          <a:p>
            <a:pPr algn="l"/>
            <a:r>
              <a:rPr lang="ja-JP" altLang="en-US" sz="1000" dirty="0"/>
              <a:t>• 	どこにあるか</a:t>
            </a:r>
          </a:p>
          <a:p>
            <a:pPr algn="l"/>
            <a:r>
              <a:rPr lang="ja-JP" altLang="en-US" sz="1000" dirty="0"/>
              <a:t>• 	誰が使うか</a:t>
            </a:r>
          </a:p>
          <a:p>
            <a:pPr algn="l"/>
            <a:r>
              <a:rPr lang="ja-JP" altLang="en-US" sz="1000" dirty="0"/>
              <a:t>• 	どのように保護すべきか</a:t>
            </a:r>
          </a:p>
          <a:p>
            <a:pPr algn="l"/>
            <a:r>
              <a:rPr lang="ja-JP" altLang="en-US" sz="1000" dirty="0"/>
              <a:t>といった基礎情報を整備する領域。</a:t>
            </a:r>
          </a:p>
          <a:p>
            <a:pPr algn="l"/>
            <a:endParaRPr lang="ja-JP" altLang="en-US" sz="1000" dirty="0"/>
          </a:p>
          <a:p>
            <a:pPr algn="l"/>
            <a:r>
              <a:rPr lang="ja-JP" altLang="en-US" sz="1000" dirty="0"/>
              <a:t>2. Business Environment（ID.BE）ビジネス環境</a:t>
            </a:r>
          </a:p>
          <a:p>
            <a:pPr algn="l"/>
            <a:r>
              <a:rPr lang="ja-JP" altLang="en-US" sz="1000" dirty="0"/>
              <a:t>組織の 使命、目的、ステークホルダー、活動内容 を理解し、優先順位をつける。</a:t>
            </a:r>
          </a:p>
          <a:p>
            <a:pPr algn="l"/>
            <a:r>
              <a:rPr lang="ja-JP" altLang="en-US" sz="1000" dirty="0"/>
              <a:t>この情報は、サイバーセキュリティの役割・責任・リスク判断に直接影響する。</a:t>
            </a:r>
          </a:p>
          <a:p>
            <a:pPr algn="l"/>
            <a:r>
              <a:rPr lang="ja-JP" altLang="en-US" sz="1000" dirty="0"/>
              <a:t>• 	組織の目的は何か</a:t>
            </a:r>
          </a:p>
          <a:p>
            <a:pPr algn="l"/>
            <a:r>
              <a:rPr lang="ja-JP" altLang="en-US" sz="1000" dirty="0"/>
              <a:t>• 	どの業務が最重要か</a:t>
            </a:r>
          </a:p>
          <a:p>
            <a:pPr algn="l"/>
            <a:r>
              <a:rPr lang="ja-JP" altLang="en-US" sz="1000" dirty="0"/>
              <a:t>• 	ICS/OT ではどのプロセスが止められないか</a:t>
            </a:r>
          </a:p>
          <a:p>
            <a:pPr algn="l"/>
            <a:r>
              <a:rPr lang="ja-JP" altLang="en-US" sz="1000" dirty="0"/>
              <a:t>といった“ビジネス文脈”を理解する領域。</a:t>
            </a:r>
          </a:p>
          <a:p>
            <a:pPr algn="l"/>
            <a:endParaRPr lang="ja-JP" altLang="en-US" sz="1000" dirty="0"/>
          </a:p>
          <a:p>
            <a:pPr algn="l"/>
            <a:r>
              <a:rPr lang="ja-JP" altLang="en-US" sz="1000" dirty="0"/>
              <a:t>3. Governance（ID.GV）ガバナンス</a:t>
            </a:r>
          </a:p>
          <a:p>
            <a:pPr algn="l"/>
            <a:r>
              <a:rPr lang="ja-JP" altLang="en-US" sz="1000" dirty="0"/>
              <a:t>組織の 規制・法的要件・リスク・環境・運用要件 を管理・監視するための</a:t>
            </a:r>
          </a:p>
          <a:p>
            <a:pPr algn="l"/>
            <a:r>
              <a:rPr lang="ja-JP" altLang="en-US" sz="1000" dirty="0"/>
              <a:t>ポリシー、手順、プロセスを整備する。</a:t>
            </a:r>
          </a:p>
          <a:p>
            <a:pPr algn="l"/>
            <a:r>
              <a:rPr lang="ja-JP" altLang="en-US" sz="1000" dirty="0"/>
              <a:t>• 	セキュリティポリシー</a:t>
            </a:r>
          </a:p>
          <a:p>
            <a:pPr algn="l"/>
            <a:r>
              <a:rPr lang="ja-JP" altLang="en-US" sz="1000" dirty="0"/>
              <a:t>• 	ICS/OT の運用手順</a:t>
            </a:r>
          </a:p>
          <a:p>
            <a:pPr algn="l"/>
            <a:r>
              <a:rPr lang="ja-JP" altLang="en-US" sz="1000" dirty="0"/>
              <a:t>• 	法規制（例：NERC CIP、IEC 62443）</a:t>
            </a:r>
          </a:p>
          <a:p>
            <a:pPr algn="l"/>
            <a:r>
              <a:rPr lang="ja-JP" altLang="en-US" sz="1000" dirty="0"/>
              <a:t>• 	リスク管理プロセス</a:t>
            </a:r>
          </a:p>
          <a:p>
            <a:pPr algn="l"/>
            <a:r>
              <a:rPr lang="ja-JP" altLang="en-US" sz="1000" dirty="0"/>
              <a:t>などを含む“組織のルール作り”の領域。</a:t>
            </a:r>
          </a:p>
        </p:txBody>
      </p:sp>
      <p:pic>
        <p:nvPicPr>
          <p:cNvPr id="4" name="図形 3"/>
          <p:cNvPicPr>
            <a:picLocks noChangeAspect="1"/>
          </p:cNvPicPr>
          <p:nvPr/>
        </p:nvPicPr>
        <p:blipFill>
          <a:blip r:embed="rId2"/>
          <a:stretch>
            <a:fillRect/>
          </a:stretch>
        </p:blipFill>
        <p:spPr>
          <a:xfrm>
            <a:off x="1125178" y="9386714"/>
            <a:ext cx="4666635" cy="2712050"/>
          </a:xfrm>
          <a:prstGeom prst="rect">
            <a:avLst/>
          </a:prstGeom>
        </p:spPr>
      </p:pic>
      <p:pic>
        <p:nvPicPr>
          <p:cNvPr id="5" name="図 4">
            <a:extLst>
              <a:ext uri="{FF2B5EF4-FFF2-40B4-BE49-F238E27FC236}">
                <a16:creationId xmlns:a16="http://schemas.microsoft.com/office/drawing/2014/main" id="{DE9BB797-CB47-426B-AA5D-7E6BC35B5C6E}"/>
              </a:ext>
            </a:extLst>
          </p:cNvPr>
          <p:cNvPicPr>
            <a:picLocks noChangeAspect="1"/>
          </p:cNvPicPr>
          <p:nvPr/>
        </p:nvPicPr>
        <p:blipFill>
          <a:blip r:embed="rId3"/>
          <a:stretch>
            <a:fillRect/>
          </a:stretch>
        </p:blipFill>
        <p:spPr>
          <a:xfrm>
            <a:off x="1269772" y="15416"/>
            <a:ext cx="4377448" cy="2482205"/>
          </a:xfrm>
          <a:prstGeom prst="rect">
            <a:avLst/>
          </a:prstGeom>
        </p:spPr>
      </p:pic>
      <p:sp>
        <p:nvSpPr>
          <p:cNvPr id="6" name="サブタイトル 2">
            <a:extLst>
              <a:ext uri="{FF2B5EF4-FFF2-40B4-BE49-F238E27FC236}">
                <a16:creationId xmlns:a16="http://schemas.microsoft.com/office/drawing/2014/main" id="{F5C59ED3-DE74-4D42-8ADE-B81F687785E2}"/>
              </a:ext>
            </a:extLst>
          </p:cNvPr>
          <p:cNvSpPr txBox="1">
            <a:spLocks/>
          </p:cNvSpPr>
          <p:nvPr/>
        </p:nvSpPr>
        <p:spPr>
          <a:xfrm>
            <a:off x="3458496" y="2509191"/>
            <a:ext cx="3429000" cy="6245703"/>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000" dirty="0"/>
              <a:t>4. Risk Assessment（ID.RA）リスク評価</a:t>
            </a:r>
          </a:p>
          <a:p>
            <a:pPr algn="l"/>
            <a:r>
              <a:rPr lang="ja-JP" altLang="en-US" sz="1000" dirty="0"/>
              <a:t>組織の運用（ミッション、機能、評判など）、資産、個人に対する</a:t>
            </a:r>
          </a:p>
          <a:p>
            <a:pPr algn="l"/>
            <a:r>
              <a:rPr lang="ja-JP" altLang="en-US" sz="1000" dirty="0"/>
              <a:t>サイバーセキュリティリスクを理解する。</a:t>
            </a:r>
          </a:p>
          <a:p>
            <a:pPr algn="l"/>
            <a:r>
              <a:rPr lang="ja-JP" altLang="en-US" sz="1000" dirty="0"/>
              <a:t>• 	脅威は何か</a:t>
            </a:r>
          </a:p>
          <a:p>
            <a:pPr algn="l"/>
            <a:r>
              <a:rPr lang="ja-JP" altLang="en-US" sz="1000" dirty="0"/>
              <a:t>• 	脆弱性はどこにあるか</a:t>
            </a:r>
          </a:p>
          <a:p>
            <a:pPr algn="l"/>
            <a:r>
              <a:rPr lang="ja-JP" altLang="en-US" sz="1000" dirty="0"/>
              <a:t>• 	ICS プロセスにどんな影響が出るか</a:t>
            </a:r>
          </a:p>
          <a:p>
            <a:pPr algn="l"/>
            <a:r>
              <a:rPr lang="ja-JP" altLang="en-US" sz="1000" dirty="0"/>
              <a:t>といったリスク分析を行う領域。</a:t>
            </a:r>
          </a:p>
          <a:p>
            <a:pPr algn="l"/>
            <a:endParaRPr lang="ja-JP" altLang="en-US" sz="1000" dirty="0"/>
          </a:p>
          <a:p>
            <a:pPr algn="l"/>
            <a:r>
              <a:rPr lang="ja-JP" altLang="en-US" sz="1000" dirty="0"/>
              <a:t>5. Risk Management Strategy（ID.RM）リスク管理戦略</a:t>
            </a:r>
          </a:p>
          <a:p>
            <a:pPr algn="l"/>
            <a:r>
              <a:rPr lang="ja-JP" altLang="en-US" sz="1000" dirty="0"/>
              <a:t>組織の 優先順位、制約、リスク許容度、前提条件 を定義し、</a:t>
            </a:r>
          </a:p>
          <a:p>
            <a:pPr algn="l"/>
            <a:r>
              <a:rPr lang="ja-JP" altLang="en-US" sz="1000" dirty="0"/>
              <a:t>運用上のリスク判断を支える。</a:t>
            </a:r>
          </a:p>
          <a:p>
            <a:pPr algn="l"/>
            <a:r>
              <a:rPr lang="ja-JP" altLang="en-US" sz="1000" dirty="0"/>
              <a:t>• 	どこまでリスクを許容するか</a:t>
            </a:r>
          </a:p>
          <a:p>
            <a:pPr algn="l"/>
            <a:r>
              <a:rPr lang="ja-JP" altLang="en-US" sz="1000" dirty="0"/>
              <a:t>• 	どこに投資するか</a:t>
            </a:r>
          </a:p>
          <a:p>
            <a:pPr algn="l"/>
            <a:r>
              <a:rPr lang="ja-JP" altLang="en-US" sz="1000" dirty="0"/>
              <a:t>• 	ICS の停止許容時間はどれくらいか</a:t>
            </a:r>
          </a:p>
          <a:p>
            <a:pPr algn="l"/>
            <a:r>
              <a:rPr lang="ja-JP" altLang="en-US" sz="1000" dirty="0"/>
              <a:t>といった“リスクの方針”を決める領域。</a:t>
            </a:r>
          </a:p>
          <a:p>
            <a:pPr algn="l"/>
            <a:endParaRPr lang="ja-JP" altLang="en-US" sz="1000" dirty="0"/>
          </a:p>
          <a:p>
            <a:pPr algn="l"/>
            <a:r>
              <a:rPr lang="ja-JP" altLang="en-US" sz="1000" dirty="0"/>
              <a:t>6. Supply Chain Risk Management（ID.SC）サプライチェーンリスク管理</a:t>
            </a:r>
          </a:p>
          <a:p>
            <a:pPr algn="l"/>
            <a:r>
              <a:rPr lang="ja-JP" altLang="en-US" sz="1000" dirty="0"/>
              <a:t>サプライチェーンに関する リスク判断の基準（優先度、制約、許容度、前提条件） を定め、</a:t>
            </a:r>
          </a:p>
          <a:p>
            <a:pPr algn="l"/>
            <a:r>
              <a:rPr lang="ja-JP" altLang="en-US" sz="1000" dirty="0"/>
              <a:t>リスクを識別・評価・管理するプロセスを確立・実装する。</a:t>
            </a:r>
          </a:p>
          <a:p>
            <a:pPr algn="l"/>
            <a:r>
              <a:rPr lang="ja-JP" altLang="en-US" sz="1000" dirty="0"/>
              <a:t>• 	ベンダーの信頼性</a:t>
            </a:r>
          </a:p>
          <a:p>
            <a:pPr algn="l"/>
            <a:r>
              <a:rPr lang="ja-JP" altLang="en-US" sz="1000" dirty="0"/>
              <a:t>• 	ICS 機器のライフサイクル</a:t>
            </a:r>
          </a:p>
          <a:p>
            <a:pPr algn="l"/>
            <a:r>
              <a:rPr lang="ja-JP" altLang="en-US" sz="1000" dirty="0"/>
              <a:t>• 	アップデート供給元の安全性</a:t>
            </a:r>
          </a:p>
          <a:p>
            <a:pPr algn="l"/>
            <a:r>
              <a:rPr lang="ja-JP" altLang="en-US" sz="1000" dirty="0"/>
              <a:t>• 	サードパーティのリスク管理</a:t>
            </a:r>
          </a:p>
          <a:p>
            <a:pPr algn="l"/>
            <a:r>
              <a:rPr lang="ja-JP" altLang="en-US" sz="1000" dirty="0"/>
              <a:t>などを扱う領域。</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276274"/>
            <a:ext cx="3379510" cy="7373563"/>
          </a:xfrm>
        </p:spPr>
        <p:txBody>
          <a:bodyPr>
            <a:noAutofit/>
          </a:bodyPr>
          <a:lstStyle/>
          <a:p>
            <a:pPr algn="l"/>
            <a:r>
              <a:rPr lang="ja-JP" altLang="en-US" sz="800" dirty="0"/>
              <a:t>NIST CSF – Protect（防御）カテゴリの日本語訳と解説</a:t>
            </a:r>
          </a:p>
          <a:p>
            <a:pPr algn="l"/>
            <a:r>
              <a:rPr lang="ja-JP" altLang="en-US" sz="800" dirty="0"/>
              <a:t>**1. Identity Management, Authentication and Access Control（PR.AC）</a:t>
            </a:r>
          </a:p>
          <a:p>
            <a:pPr algn="l"/>
            <a:r>
              <a:rPr lang="ja-JP" altLang="en-US" sz="800" dirty="0"/>
              <a:t>ID 管理・認証・アクセス制御**</a:t>
            </a:r>
          </a:p>
          <a:p>
            <a:pPr algn="l"/>
            <a:r>
              <a:rPr lang="ja-JP" altLang="en-US" sz="800" dirty="0"/>
              <a:t>物理・論理資産および関連施設へのアクセスを、</a:t>
            </a:r>
          </a:p>
          <a:p>
            <a:pPr algn="l"/>
            <a:r>
              <a:rPr lang="ja-JP" altLang="en-US" sz="800" dirty="0"/>
              <a:t>認可されたユーザー・プロセス・デバイスのみに制限し、</a:t>
            </a:r>
          </a:p>
          <a:p>
            <a:pPr algn="l"/>
            <a:r>
              <a:rPr lang="ja-JP" altLang="en-US" sz="800" dirty="0"/>
              <a:t>不正アクセスのリスクに応じて管理する。</a:t>
            </a:r>
          </a:p>
          <a:p>
            <a:pPr algn="l"/>
            <a:r>
              <a:rPr lang="ja-JP" altLang="en-US" sz="800" dirty="0"/>
              <a:t>ICS では特に：</a:t>
            </a:r>
          </a:p>
          <a:p>
            <a:pPr algn="l"/>
            <a:r>
              <a:rPr lang="ja-JP" altLang="en-US" sz="800" dirty="0"/>
              <a:t>• 	制御室への物理アクセス</a:t>
            </a:r>
          </a:p>
          <a:p>
            <a:pPr algn="l"/>
            <a:r>
              <a:rPr lang="ja-JP" altLang="en-US" sz="800" dirty="0"/>
              <a:t>• 	PLC/HMI への論理アクセス</a:t>
            </a:r>
          </a:p>
          <a:p>
            <a:pPr algn="l"/>
            <a:r>
              <a:rPr lang="ja-JP" altLang="en-US" sz="800" dirty="0"/>
              <a:t>• 	アカウント管理（共有アカウント禁止など）</a:t>
            </a:r>
          </a:p>
          <a:p>
            <a:pPr algn="l"/>
            <a:r>
              <a:rPr lang="ja-JP" altLang="en-US" sz="800" dirty="0"/>
              <a:t>• 	多要素認証（MFA）</a:t>
            </a:r>
          </a:p>
          <a:p>
            <a:pPr algn="l"/>
            <a:r>
              <a:rPr lang="ja-JP" altLang="en-US" sz="800" dirty="0"/>
              <a:t>が重要になります。</a:t>
            </a:r>
          </a:p>
          <a:p>
            <a:pPr algn="l"/>
            <a:endParaRPr lang="ja-JP" altLang="en-US" sz="800" dirty="0"/>
          </a:p>
          <a:p>
            <a:pPr algn="l"/>
            <a:r>
              <a:rPr lang="ja-JP" altLang="en-US" sz="800" dirty="0"/>
              <a:t>**2. Awareness and Training（PR.AT）</a:t>
            </a:r>
          </a:p>
          <a:p>
            <a:pPr algn="l"/>
            <a:r>
              <a:rPr lang="ja-JP" altLang="en-US" sz="800" dirty="0"/>
              <a:t>セキュリティ意識向上と訓練**</a:t>
            </a:r>
          </a:p>
          <a:p>
            <a:pPr algn="l"/>
            <a:r>
              <a:rPr lang="ja-JP" altLang="en-US" sz="800" dirty="0"/>
              <a:t>組織の要員やパートナーに対し、</a:t>
            </a:r>
          </a:p>
          <a:p>
            <a:pPr algn="l"/>
            <a:r>
              <a:rPr lang="ja-JP" altLang="en-US" sz="800" dirty="0"/>
              <a:t>サイバーセキュリティ教育を提供し、</a:t>
            </a:r>
          </a:p>
          <a:p>
            <a:pPr algn="l"/>
            <a:r>
              <a:rPr lang="ja-JP" altLang="en-US" sz="800" dirty="0"/>
              <a:t>ポリシーや手順に沿って職務を遂行できるよう訓練する。</a:t>
            </a:r>
          </a:p>
          <a:p>
            <a:pPr algn="l"/>
            <a:r>
              <a:rPr lang="ja-JP" altLang="en-US" sz="800" dirty="0"/>
              <a:t>ICS では：</a:t>
            </a:r>
          </a:p>
          <a:p>
            <a:pPr algn="l"/>
            <a:r>
              <a:rPr lang="ja-JP" altLang="en-US" sz="800" dirty="0"/>
              <a:t>• 	OT エンジニア向けのサイバー教育</a:t>
            </a:r>
          </a:p>
          <a:p>
            <a:pPr algn="l"/>
            <a:r>
              <a:rPr lang="ja-JP" altLang="en-US" sz="800" dirty="0"/>
              <a:t>• 	フィッシング対策</a:t>
            </a:r>
          </a:p>
          <a:p>
            <a:pPr algn="l"/>
            <a:r>
              <a:rPr lang="ja-JP" altLang="en-US" sz="800" dirty="0"/>
              <a:t>• 	ICS 特有の脅威（Stuxnet、TRITON など）の理解</a:t>
            </a:r>
          </a:p>
          <a:p>
            <a:pPr algn="l"/>
            <a:r>
              <a:rPr lang="ja-JP" altLang="en-US" sz="800" dirty="0"/>
              <a:t>が含まれます。</a:t>
            </a:r>
          </a:p>
          <a:p>
            <a:pPr algn="l"/>
            <a:endParaRPr lang="ja-JP" altLang="en-US" sz="800" dirty="0"/>
          </a:p>
          <a:p>
            <a:pPr algn="l"/>
            <a:r>
              <a:rPr lang="ja-JP" altLang="en-US" sz="800" dirty="0"/>
              <a:t>**3. Data Security（PR.DS）</a:t>
            </a:r>
          </a:p>
          <a:p>
            <a:pPr algn="l"/>
            <a:r>
              <a:rPr lang="ja-JP" altLang="en-US" sz="800" dirty="0"/>
              <a:t>データセキュリティ**</a:t>
            </a:r>
          </a:p>
          <a:p>
            <a:pPr algn="l"/>
            <a:r>
              <a:rPr lang="ja-JP" altLang="en-US" sz="800" dirty="0"/>
              <a:t>情報や記録（データ）を、</a:t>
            </a:r>
          </a:p>
          <a:p>
            <a:pPr algn="l"/>
            <a:r>
              <a:rPr lang="ja-JP" altLang="en-US" sz="800" dirty="0"/>
              <a:t>機密性・完全性・可用性（CIA）を守るために</a:t>
            </a:r>
          </a:p>
          <a:p>
            <a:pPr algn="l"/>
            <a:r>
              <a:rPr lang="ja-JP" altLang="en-US" sz="800" dirty="0"/>
              <a:t>組織のリスク戦略に基づいて管理する。</a:t>
            </a:r>
          </a:p>
          <a:p>
            <a:pPr algn="l"/>
            <a:r>
              <a:rPr lang="ja-JP" altLang="en-US" sz="800" dirty="0"/>
              <a:t>ICS では：</a:t>
            </a:r>
          </a:p>
          <a:p>
            <a:pPr algn="l"/>
            <a:r>
              <a:rPr lang="ja-JP" altLang="en-US" sz="800" dirty="0"/>
              <a:t>• 	設定ファイル（PLC ロジック、HMI 設定）の保護</a:t>
            </a:r>
          </a:p>
          <a:p>
            <a:pPr algn="l"/>
            <a:r>
              <a:rPr lang="ja-JP" altLang="en-US" sz="800" dirty="0"/>
              <a:t>• 	Historian データの保全</a:t>
            </a:r>
          </a:p>
          <a:p>
            <a:pPr algn="l"/>
            <a:r>
              <a:rPr lang="ja-JP" altLang="en-US" sz="800" dirty="0"/>
              <a:t>• 	バックアップの整備</a:t>
            </a:r>
          </a:p>
          <a:p>
            <a:pPr algn="l"/>
            <a:r>
              <a:rPr lang="ja-JP" altLang="en-US" sz="800" dirty="0"/>
              <a:t>が特に重要です。</a:t>
            </a:r>
          </a:p>
        </p:txBody>
      </p:sp>
      <p:pic>
        <p:nvPicPr>
          <p:cNvPr id="4" name="図形 3"/>
          <p:cNvPicPr>
            <a:picLocks noChangeAspect="1"/>
          </p:cNvPicPr>
          <p:nvPr/>
        </p:nvPicPr>
        <p:blipFill>
          <a:blip r:embed="rId2"/>
          <a:stretch>
            <a:fillRect/>
          </a:stretch>
        </p:blipFill>
        <p:spPr>
          <a:xfrm>
            <a:off x="1056303" y="9986574"/>
            <a:ext cx="4745394" cy="2137329"/>
          </a:xfrm>
          <a:prstGeom prst="rect">
            <a:avLst/>
          </a:prstGeom>
        </p:spPr>
      </p:pic>
      <p:pic>
        <p:nvPicPr>
          <p:cNvPr id="5" name="図 4">
            <a:extLst>
              <a:ext uri="{FF2B5EF4-FFF2-40B4-BE49-F238E27FC236}">
                <a16:creationId xmlns:a16="http://schemas.microsoft.com/office/drawing/2014/main" id="{A8AA392E-0E43-4845-85CC-D627DAE42642}"/>
              </a:ext>
            </a:extLst>
          </p:cNvPr>
          <p:cNvPicPr>
            <a:picLocks noChangeAspect="1"/>
          </p:cNvPicPr>
          <p:nvPr/>
        </p:nvPicPr>
        <p:blipFill>
          <a:blip r:embed="rId3"/>
          <a:stretch>
            <a:fillRect/>
          </a:stretch>
        </p:blipFill>
        <p:spPr>
          <a:xfrm>
            <a:off x="1438592" y="48642"/>
            <a:ext cx="3881835" cy="2198450"/>
          </a:xfrm>
          <a:prstGeom prst="rect">
            <a:avLst/>
          </a:prstGeom>
        </p:spPr>
      </p:pic>
      <p:sp>
        <p:nvSpPr>
          <p:cNvPr id="6" name="サブタイトル 2">
            <a:extLst>
              <a:ext uri="{FF2B5EF4-FFF2-40B4-BE49-F238E27FC236}">
                <a16:creationId xmlns:a16="http://schemas.microsoft.com/office/drawing/2014/main" id="{930B540F-D6DC-4E76-9755-BE7EB37D7D19}"/>
              </a:ext>
            </a:extLst>
          </p:cNvPr>
          <p:cNvSpPr txBox="1">
            <a:spLocks/>
          </p:cNvSpPr>
          <p:nvPr/>
        </p:nvSpPr>
        <p:spPr>
          <a:xfrm>
            <a:off x="3379510" y="2276275"/>
            <a:ext cx="3379510" cy="7648693"/>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800" dirty="0"/>
              <a:t>**4. Information Protection Processes and Procedures（PR.IP）</a:t>
            </a:r>
          </a:p>
          <a:p>
            <a:pPr algn="l"/>
            <a:r>
              <a:rPr lang="ja-JP" altLang="en-US" sz="800" dirty="0"/>
              <a:t>情報保護プロセスと手順**</a:t>
            </a:r>
          </a:p>
          <a:p>
            <a:pPr algn="l"/>
            <a:r>
              <a:rPr lang="ja-JP" altLang="en-US" sz="800" dirty="0"/>
              <a:t>情報システムと資産を保護するための</a:t>
            </a:r>
          </a:p>
          <a:p>
            <a:pPr algn="l"/>
            <a:r>
              <a:rPr lang="ja-JP" altLang="en-US" sz="800" dirty="0"/>
              <a:t>セキュリティポリシー、プロセス、手順 を維持し、運用する。</a:t>
            </a:r>
          </a:p>
          <a:p>
            <a:pPr algn="l"/>
            <a:r>
              <a:rPr lang="ja-JP" altLang="en-US" sz="800" dirty="0"/>
              <a:t>内容には：</a:t>
            </a:r>
          </a:p>
          <a:p>
            <a:pPr algn="l"/>
            <a:r>
              <a:rPr lang="ja-JP" altLang="en-US" sz="800" dirty="0"/>
              <a:t>• 	目的・範囲</a:t>
            </a:r>
          </a:p>
          <a:p>
            <a:pPr algn="l"/>
            <a:r>
              <a:rPr lang="ja-JP" altLang="en-US" sz="800" dirty="0"/>
              <a:t>• 	役割・責任</a:t>
            </a:r>
          </a:p>
          <a:p>
            <a:pPr algn="l"/>
            <a:r>
              <a:rPr lang="ja-JP" altLang="en-US" sz="800" dirty="0"/>
              <a:t>• 	管理者のコミットメント</a:t>
            </a:r>
          </a:p>
          <a:p>
            <a:pPr algn="l"/>
            <a:r>
              <a:rPr lang="ja-JP" altLang="en-US" sz="800" dirty="0"/>
              <a:t>• 	組織間の調整</a:t>
            </a:r>
          </a:p>
          <a:p>
            <a:pPr algn="l"/>
            <a:r>
              <a:rPr lang="ja-JP" altLang="en-US" sz="800" dirty="0"/>
              <a:t>などが含まれます。</a:t>
            </a:r>
          </a:p>
          <a:p>
            <a:pPr algn="l"/>
            <a:r>
              <a:rPr lang="ja-JP" altLang="en-US" sz="800" dirty="0"/>
              <a:t>ICS では：</a:t>
            </a:r>
          </a:p>
          <a:p>
            <a:pPr algn="l"/>
            <a:r>
              <a:rPr lang="ja-JP" altLang="en-US" sz="800" dirty="0"/>
              <a:t>• 	変更管理（MOC）</a:t>
            </a:r>
          </a:p>
          <a:p>
            <a:pPr algn="l"/>
            <a:r>
              <a:rPr lang="ja-JP" altLang="en-US" sz="800" dirty="0"/>
              <a:t>• 	パッチ管理</a:t>
            </a:r>
          </a:p>
          <a:p>
            <a:pPr algn="l"/>
            <a:r>
              <a:rPr lang="ja-JP" altLang="en-US" sz="800" dirty="0"/>
              <a:t>• 	構成管理（CMDB）</a:t>
            </a:r>
          </a:p>
          <a:p>
            <a:pPr algn="l"/>
            <a:r>
              <a:rPr lang="ja-JP" altLang="en-US" sz="800" dirty="0"/>
              <a:t>が特に重要です。</a:t>
            </a:r>
          </a:p>
          <a:p>
            <a:pPr algn="l"/>
            <a:endParaRPr lang="ja-JP" altLang="en-US" sz="800" dirty="0"/>
          </a:p>
          <a:p>
            <a:pPr algn="l"/>
            <a:r>
              <a:rPr lang="ja-JP" altLang="en-US" sz="800" dirty="0"/>
              <a:t>**5. Maintenance（PR.MA）</a:t>
            </a:r>
          </a:p>
          <a:p>
            <a:pPr algn="l"/>
            <a:r>
              <a:rPr lang="ja-JP" altLang="en-US" sz="800" dirty="0"/>
              <a:t>保守**</a:t>
            </a:r>
          </a:p>
          <a:p>
            <a:pPr algn="l"/>
            <a:r>
              <a:rPr lang="ja-JP" altLang="en-US" sz="800" dirty="0"/>
              <a:t>ICS や情報システムの 保守・修理を</a:t>
            </a:r>
          </a:p>
          <a:p>
            <a:pPr algn="l"/>
            <a:r>
              <a:rPr lang="ja-JP" altLang="en-US" sz="800" dirty="0"/>
              <a:t>ポリシーと手順に従って実施する。</a:t>
            </a:r>
          </a:p>
          <a:p>
            <a:pPr algn="l"/>
            <a:r>
              <a:rPr lang="ja-JP" altLang="en-US" sz="800" dirty="0"/>
              <a:t>ICS では：</a:t>
            </a:r>
          </a:p>
          <a:p>
            <a:pPr algn="l"/>
            <a:r>
              <a:rPr lang="ja-JP" altLang="en-US" sz="800" dirty="0"/>
              <a:t>• 	ベンダーのリモート保守の管理</a:t>
            </a:r>
          </a:p>
          <a:p>
            <a:pPr algn="l"/>
            <a:r>
              <a:rPr lang="ja-JP" altLang="en-US" sz="800" dirty="0"/>
              <a:t>• 	物理的な機器交換手順</a:t>
            </a:r>
          </a:p>
          <a:p>
            <a:pPr algn="l"/>
            <a:r>
              <a:rPr lang="ja-JP" altLang="en-US" sz="800" dirty="0"/>
              <a:t>• 	保守作業のログ記録</a:t>
            </a:r>
          </a:p>
          <a:p>
            <a:pPr algn="l"/>
            <a:r>
              <a:rPr lang="ja-JP" altLang="en-US" sz="800" dirty="0"/>
              <a:t>などが含まれます。</a:t>
            </a:r>
          </a:p>
          <a:p>
            <a:pPr algn="l"/>
            <a:endParaRPr lang="ja-JP" altLang="en-US" sz="800" dirty="0"/>
          </a:p>
          <a:p>
            <a:pPr algn="l"/>
            <a:r>
              <a:rPr lang="ja-JP" altLang="en-US" sz="800" dirty="0"/>
              <a:t>**6. Protective Technology（PR.PT）</a:t>
            </a:r>
          </a:p>
          <a:p>
            <a:pPr algn="l"/>
            <a:r>
              <a:rPr lang="ja-JP" altLang="en-US" sz="800" dirty="0"/>
              <a:t>保護技術**</a:t>
            </a:r>
          </a:p>
          <a:p>
            <a:pPr algn="l"/>
            <a:r>
              <a:rPr lang="ja-JP" altLang="en-US" sz="800" dirty="0"/>
              <a:t>システムと資産のセキュリティとレジリエンスを確保するため、</a:t>
            </a:r>
          </a:p>
          <a:p>
            <a:pPr algn="l"/>
            <a:r>
              <a:rPr lang="ja-JP" altLang="en-US" sz="800" dirty="0"/>
              <a:t>技術的なセキュリティソリューションを管理する。</a:t>
            </a:r>
          </a:p>
          <a:p>
            <a:pPr algn="l"/>
            <a:r>
              <a:rPr lang="ja-JP" altLang="en-US" sz="800" dirty="0"/>
              <a:t>ICS では：</a:t>
            </a:r>
          </a:p>
          <a:p>
            <a:pPr algn="l"/>
            <a:r>
              <a:rPr lang="ja-JP" altLang="en-US" sz="800" dirty="0"/>
              <a:t>• 	ファイアウォール</a:t>
            </a:r>
          </a:p>
          <a:p>
            <a:pPr algn="l"/>
            <a:r>
              <a:rPr lang="ja-JP" altLang="en-US" sz="800" dirty="0"/>
              <a:t>• 	IDS/IPS</a:t>
            </a:r>
          </a:p>
          <a:p>
            <a:pPr algn="l"/>
            <a:r>
              <a:rPr lang="ja-JP" altLang="en-US" sz="800" dirty="0"/>
              <a:t>• 	アプリケーションホワイトリスト</a:t>
            </a:r>
          </a:p>
          <a:p>
            <a:pPr algn="l"/>
            <a:r>
              <a:rPr lang="ja-JP" altLang="en-US" sz="800" dirty="0"/>
              <a:t>• 	ネットワーク分離（セル/ゾーンモデル）</a:t>
            </a:r>
          </a:p>
          <a:p>
            <a:pPr algn="l"/>
            <a:r>
              <a:rPr lang="ja-JP" altLang="en-US" sz="800" dirty="0"/>
              <a:t>などが該当します。</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2878667"/>
            <a:ext cx="3423285" cy="7022507"/>
          </a:xfrm>
        </p:spPr>
        <p:txBody>
          <a:bodyPr>
            <a:normAutofit/>
          </a:bodyPr>
          <a:lstStyle/>
          <a:p>
            <a:pPr algn="l"/>
            <a:r>
              <a:rPr lang="ja-JP" altLang="en-US" sz="900" dirty="0"/>
              <a:t>NIST CSF – Detect（検知）カテゴリの日本語訳と解説</a:t>
            </a:r>
          </a:p>
          <a:p>
            <a:pPr algn="l"/>
            <a:r>
              <a:rPr lang="ja-JP" altLang="en-US" sz="900" dirty="0"/>
              <a:t>**1. Anomalies and Events（DE.AE）</a:t>
            </a:r>
          </a:p>
          <a:p>
            <a:pPr algn="l"/>
            <a:r>
              <a:rPr lang="ja-JP" altLang="en-US" sz="900" dirty="0"/>
              <a:t>異常とイベント**</a:t>
            </a:r>
          </a:p>
          <a:p>
            <a:pPr algn="l"/>
            <a:r>
              <a:rPr lang="ja-JP" altLang="en-US" sz="900" dirty="0"/>
              <a:t>異常な活動をタイムリーに検知し、その潜在的影響を理解する。</a:t>
            </a:r>
          </a:p>
          <a:p>
            <a:pPr algn="l"/>
            <a:r>
              <a:rPr lang="ja-JP" altLang="en-US" sz="900" dirty="0"/>
              <a:t>ポイント：</a:t>
            </a:r>
          </a:p>
          <a:p>
            <a:pPr algn="l"/>
            <a:r>
              <a:rPr lang="ja-JP" altLang="en-US" sz="900" dirty="0"/>
              <a:t>- 通常とは異なる挙動を検知する</a:t>
            </a:r>
          </a:p>
          <a:p>
            <a:pPr algn="l"/>
            <a:r>
              <a:rPr lang="ja-JP" altLang="en-US" sz="900" dirty="0"/>
              <a:t>- そのイベントがどの程度の影響を持つかを把握する</a:t>
            </a:r>
          </a:p>
          <a:p>
            <a:pPr algn="l"/>
            <a:r>
              <a:rPr lang="ja-JP" altLang="en-US" sz="900" dirty="0"/>
              <a:t>- ICS では「正常の欠如」も異常として扱う（周期ログが止まるなど）</a:t>
            </a:r>
          </a:p>
          <a:p>
            <a:pPr algn="l"/>
            <a:r>
              <a:rPr lang="ja-JP" altLang="en-US" sz="900" dirty="0"/>
              <a:t>ICS では特に：</a:t>
            </a:r>
          </a:p>
          <a:p>
            <a:pPr algn="l"/>
            <a:r>
              <a:rPr lang="ja-JP" altLang="en-US" sz="900" dirty="0"/>
              <a:t>- PLC のスキャン周期の乱れ</a:t>
            </a:r>
          </a:p>
          <a:p>
            <a:pPr algn="l"/>
            <a:r>
              <a:rPr lang="ja-JP" altLang="en-US" sz="900" dirty="0"/>
              <a:t>- HMI からの異常コマンド</a:t>
            </a:r>
          </a:p>
          <a:p>
            <a:pPr algn="l"/>
            <a:r>
              <a:rPr lang="ja-JP" altLang="en-US" sz="900" dirty="0"/>
              <a:t>- ネットワークトラフィックの急増</a:t>
            </a:r>
          </a:p>
          <a:p>
            <a:pPr algn="l"/>
            <a:r>
              <a:rPr lang="ja-JP" altLang="en-US" sz="900" dirty="0"/>
              <a:t>- 不審なログオン</a:t>
            </a:r>
          </a:p>
          <a:p>
            <a:pPr algn="l"/>
            <a:r>
              <a:rPr lang="ja-JP" altLang="en-US" sz="900" dirty="0"/>
              <a:t>などが該当します。</a:t>
            </a:r>
          </a:p>
          <a:p>
            <a:pPr algn="l"/>
            <a:endParaRPr lang="ja-JP" altLang="en-US" sz="900" dirty="0"/>
          </a:p>
          <a:p>
            <a:pPr algn="l"/>
            <a:r>
              <a:rPr lang="ja-JP" altLang="en-US" sz="900" dirty="0"/>
              <a:t>**2. Security Continuous Monitoring（DE.CM）</a:t>
            </a:r>
          </a:p>
          <a:p>
            <a:pPr algn="l"/>
            <a:r>
              <a:rPr lang="ja-JP" altLang="en-US" sz="900" dirty="0"/>
              <a:t>継続的監視**</a:t>
            </a:r>
          </a:p>
          <a:p>
            <a:pPr algn="l"/>
            <a:r>
              <a:rPr lang="ja-JP" altLang="en-US" sz="900" dirty="0"/>
              <a:t>情報システムと資産を 定期的または継続的に監視 し、</a:t>
            </a:r>
          </a:p>
          <a:p>
            <a:pPr algn="l"/>
            <a:r>
              <a:rPr lang="ja-JP" altLang="en-US" sz="900" dirty="0"/>
              <a:t>サイバーセキュリティイベントを識別し、</a:t>
            </a:r>
          </a:p>
          <a:p>
            <a:pPr algn="l"/>
            <a:r>
              <a:rPr lang="ja-JP" altLang="en-US" sz="900" dirty="0"/>
              <a:t>保護対策が有効に機能しているかを確認する。</a:t>
            </a:r>
          </a:p>
          <a:p>
            <a:pPr algn="l"/>
            <a:r>
              <a:rPr lang="ja-JP" altLang="en-US" sz="900" dirty="0"/>
              <a:t>ポイント：</a:t>
            </a:r>
          </a:p>
          <a:p>
            <a:pPr algn="l"/>
            <a:r>
              <a:rPr lang="ja-JP" altLang="en-US" sz="900" dirty="0"/>
              <a:t>- ログ監視</a:t>
            </a:r>
          </a:p>
          <a:p>
            <a:pPr algn="l"/>
            <a:r>
              <a:rPr lang="ja-JP" altLang="en-US" sz="900" dirty="0"/>
              <a:t>- ネットワーク監視</a:t>
            </a:r>
          </a:p>
          <a:p>
            <a:pPr algn="l"/>
            <a:r>
              <a:rPr lang="ja-JP" altLang="en-US" sz="900" dirty="0"/>
              <a:t>- エンドポイント監視</a:t>
            </a:r>
          </a:p>
          <a:p>
            <a:pPr algn="l"/>
            <a:r>
              <a:rPr lang="ja-JP" altLang="en-US" sz="900" dirty="0"/>
              <a:t>- アラートの継続的評価</a:t>
            </a:r>
          </a:p>
          <a:p>
            <a:pPr algn="l"/>
            <a:r>
              <a:rPr lang="ja-JP" altLang="en-US" sz="900" dirty="0"/>
              <a:t>ICS では：</a:t>
            </a:r>
          </a:p>
          <a:p>
            <a:pPr algn="l"/>
            <a:r>
              <a:rPr lang="ja-JP" altLang="en-US" sz="900" dirty="0"/>
              <a:t>- Historian の値の変化</a:t>
            </a:r>
          </a:p>
          <a:p>
            <a:pPr algn="l"/>
            <a:r>
              <a:rPr lang="ja-JP" altLang="en-US" sz="900" dirty="0"/>
              <a:t>- OT ネットワークのトラフィック監視（Zeek、Suricata）</a:t>
            </a:r>
          </a:p>
          <a:p>
            <a:pPr algn="l"/>
            <a:r>
              <a:rPr lang="ja-JP" altLang="en-US" sz="900" dirty="0"/>
              <a:t>- Windows イベントログ（WEF）</a:t>
            </a:r>
          </a:p>
          <a:p>
            <a:pPr algn="l"/>
            <a:r>
              <a:rPr lang="ja-JP" altLang="en-US" sz="900" dirty="0"/>
              <a:t>- Sysmon の継続監視</a:t>
            </a:r>
          </a:p>
          <a:p>
            <a:pPr algn="l"/>
            <a:r>
              <a:rPr lang="ja-JP" altLang="en-US" sz="900" dirty="0"/>
              <a:t>などが重要です。</a:t>
            </a:r>
          </a:p>
        </p:txBody>
      </p:sp>
      <p:pic>
        <p:nvPicPr>
          <p:cNvPr id="5" name="図形 4"/>
          <p:cNvPicPr>
            <a:picLocks noChangeAspect="1"/>
          </p:cNvPicPr>
          <p:nvPr/>
        </p:nvPicPr>
        <p:blipFill>
          <a:blip r:embed="rId2"/>
          <a:stretch>
            <a:fillRect/>
          </a:stretch>
        </p:blipFill>
        <p:spPr>
          <a:xfrm>
            <a:off x="1301500" y="9901174"/>
            <a:ext cx="4260715" cy="2229213"/>
          </a:xfrm>
          <a:prstGeom prst="rect">
            <a:avLst/>
          </a:prstGeom>
        </p:spPr>
      </p:pic>
      <p:pic>
        <p:nvPicPr>
          <p:cNvPr id="4" name="図 3">
            <a:extLst>
              <a:ext uri="{FF2B5EF4-FFF2-40B4-BE49-F238E27FC236}">
                <a16:creationId xmlns:a16="http://schemas.microsoft.com/office/drawing/2014/main" id="{BD2932FB-04EE-446D-B8FB-2A312AEAF3D5}"/>
              </a:ext>
            </a:extLst>
          </p:cNvPr>
          <p:cNvPicPr>
            <a:picLocks noChangeAspect="1"/>
          </p:cNvPicPr>
          <p:nvPr/>
        </p:nvPicPr>
        <p:blipFill>
          <a:blip r:embed="rId3"/>
          <a:stretch>
            <a:fillRect/>
          </a:stretch>
        </p:blipFill>
        <p:spPr>
          <a:xfrm>
            <a:off x="906078" y="85123"/>
            <a:ext cx="4794332" cy="2735178"/>
          </a:xfrm>
          <a:prstGeom prst="rect">
            <a:avLst/>
          </a:prstGeom>
        </p:spPr>
      </p:pic>
      <p:sp>
        <p:nvSpPr>
          <p:cNvPr id="6" name="サブタイトル 2">
            <a:extLst>
              <a:ext uri="{FF2B5EF4-FFF2-40B4-BE49-F238E27FC236}">
                <a16:creationId xmlns:a16="http://schemas.microsoft.com/office/drawing/2014/main" id="{47DA1795-5687-4E72-85BE-F659D8314A75}"/>
              </a:ext>
            </a:extLst>
          </p:cNvPr>
          <p:cNvSpPr txBox="1">
            <a:spLocks/>
          </p:cNvSpPr>
          <p:nvPr/>
        </p:nvSpPr>
        <p:spPr>
          <a:xfrm>
            <a:off x="3434715" y="2878668"/>
            <a:ext cx="3423285" cy="338594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900" dirty="0"/>
              <a:t>**3. Detection Processes（DE.DP）</a:t>
            </a:r>
          </a:p>
          <a:p>
            <a:pPr algn="l"/>
            <a:r>
              <a:rPr lang="ja-JP" altLang="en-US" sz="900" dirty="0"/>
              <a:t>検知プロセス**</a:t>
            </a:r>
          </a:p>
          <a:p>
            <a:pPr algn="l"/>
            <a:r>
              <a:rPr lang="ja-JP" altLang="en-US" sz="900" dirty="0"/>
              <a:t>異常イベントを タイムリーかつ適切に把握するための</a:t>
            </a:r>
          </a:p>
          <a:p>
            <a:pPr algn="l"/>
            <a:r>
              <a:rPr lang="ja-JP" altLang="en-US" sz="900" dirty="0"/>
              <a:t>検知プロセスと手順を維持し、定期的にテストする。</a:t>
            </a:r>
          </a:p>
          <a:p>
            <a:pPr algn="l"/>
            <a:r>
              <a:rPr lang="ja-JP" altLang="en-US" sz="900" dirty="0"/>
              <a:t>ポイント：</a:t>
            </a:r>
          </a:p>
          <a:p>
            <a:pPr algn="l"/>
            <a:r>
              <a:rPr lang="ja-JP" altLang="en-US" sz="900" dirty="0"/>
              <a:t>- 検知ルールの整備</a:t>
            </a:r>
          </a:p>
          <a:p>
            <a:pPr algn="l"/>
            <a:r>
              <a:rPr lang="ja-JP" altLang="en-US" sz="900" dirty="0"/>
              <a:t>- SIEM のアラートチューニング</a:t>
            </a:r>
          </a:p>
          <a:p>
            <a:pPr algn="l"/>
            <a:r>
              <a:rPr lang="ja-JP" altLang="en-US" sz="900" dirty="0"/>
              <a:t>- 手順書の更新</a:t>
            </a:r>
          </a:p>
          <a:p>
            <a:pPr algn="l"/>
            <a:r>
              <a:rPr lang="ja-JP" altLang="en-US" sz="900" dirty="0"/>
              <a:t>- 検知能力の定期テスト（演習）</a:t>
            </a:r>
          </a:p>
          <a:p>
            <a:pPr algn="l"/>
            <a:r>
              <a:rPr lang="ja-JP" altLang="en-US" sz="900" dirty="0"/>
              <a:t>ICS では：</a:t>
            </a:r>
          </a:p>
          <a:p>
            <a:pPr algn="l"/>
            <a:r>
              <a:rPr lang="ja-JP" altLang="en-US" sz="900" dirty="0"/>
              <a:t>- OT 特有のアラート（例：PLC ロジック変更）</a:t>
            </a:r>
          </a:p>
          <a:p>
            <a:pPr algn="l"/>
            <a:r>
              <a:rPr lang="ja-JP" altLang="en-US" sz="900" dirty="0"/>
              <a:t>- 変更管理（MOC）と検知の連動</a:t>
            </a:r>
          </a:p>
          <a:p>
            <a:pPr algn="l"/>
            <a:r>
              <a:rPr lang="ja-JP" altLang="en-US" sz="900" dirty="0"/>
              <a:t>- Red/Blue Team 演習による検証</a:t>
            </a:r>
          </a:p>
          <a:p>
            <a:pPr algn="l"/>
            <a:r>
              <a:rPr lang="ja-JP" altLang="en-US" sz="900" dirty="0"/>
              <a:t>が特に重要です。</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89436" y="2473972"/>
            <a:ext cx="3339563" cy="6864582"/>
          </a:xfrm>
        </p:spPr>
        <p:txBody>
          <a:bodyPr>
            <a:noAutofit/>
          </a:bodyPr>
          <a:lstStyle/>
          <a:p>
            <a:pPr algn="l"/>
            <a:r>
              <a:rPr lang="ja-JP" altLang="en-US" sz="800" dirty="0"/>
              <a:t>NIST CSF – Respond（対応）カテゴリの日本語訳と解説</a:t>
            </a:r>
          </a:p>
          <a:p>
            <a:pPr algn="l"/>
            <a:r>
              <a:rPr lang="ja-JP" altLang="en-US" sz="800" dirty="0"/>
              <a:t>**1. Response Planning（RS.RP）</a:t>
            </a:r>
          </a:p>
          <a:p>
            <a:pPr algn="l"/>
            <a:r>
              <a:rPr lang="ja-JP" altLang="en-US" sz="800" dirty="0"/>
              <a:t>対応計画**</a:t>
            </a:r>
          </a:p>
          <a:p>
            <a:pPr algn="l"/>
            <a:r>
              <a:rPr lang="ja-JP" altLang="en-US" sz="800" dirty="0"/>
              <a:t>検知されたサイバーセキュリティイベントに対して、</a:t>
            </a:r>
          </a:p>
          <a:p>
            <a:pPr algn="l"/>
            <a:r>
              <a:rPr lang="ja-JP" altLang="en-US" sz="800" dirty="0"/>
              <a:t>迅速に対応できるよう、対応プロセスと手順を実行・維持する。</a:t>
            </a:r>
          </a:p>
          <a:p>
            <a:pPr algn="l"/>
            <a:r>
              <a:rPr lang="ja-JP" altLang="en-US" sz="800" dirty="0"/>
              <a:t>ポイント：</a:t>
            </a:r>
          </a:p>
          <a:p>
            <a:pPr algn="l"/>
            <a:r>
              <a:rPr lang="ja-JP" altLang="en-US" sz="800" dirty="0"/>
              <a:t>• 	インシデント対応計画（IRP）の整備</a:t>
            </a:r>
          </a:p>
          <a:p>
            <a:pPr algn="l"/>
            <a:r>
              <a:rPr lang="ja-JP" altLang="en-US" sz="800" dirty="0"/>
              <a:t>• 	ICS/OT 特有の手順（緊急停止、手動運転切替など）</a:t>
            </a:r>
          </a:p>
          <a:p>
            <a:pPr algn="l"/>
            <a:r>
              <a:rPr lang="ja-JP" altLang="en-US" sz="800" dirty="0"/>
              <a:t>• 	役割と責任の明確化</a:t>
            </a:r>
          </a:p>
          <a:p>
            <a:pPr algn="l"/>
            <a:r>
              <a:rPr lang="ja-JP" altLang="en-US" sz="800" dirty="0"/>
              <a:t>ICS では、安全性（Safety）と可用性（Availability） を最優先にした計画が必須です。</a:t>
            </a:r>
          </a:p>
          <a:p>
            <a:pPr algn="l"/>
            <a:endParaRPr lang="ja-JP" altLang="en-US" sz="800" dirty="0"/>
          </a:p>
          <a:p>
            <a:pPr algn="l"/>
            <a:r>
              <a:rPr lang="ja-JP" altLang="en-US" sz="800" dirty="0"/>
              <a:t>**2. Communications（RS.CO）</a:t>
            </a:r>
          </a:p>
          <a:p>
            <a:pPr algn="l"/>
            <a:r>
              <a:rPr lang="ja-JP" altLang="en-US" sz="800" dirty="0"/>
              <a:t>コミュニケーション**</a:t>
            </a:r>
          </a:p>
          <a:p>
            <a:pPr algn="l"/>
            <a:r>
              <a:rPr lang="ja-JP" altLang="en-US" sz="800" dirty="0"/>
              <a:t>対応活動を、必要に応じて 内部・外部の関係者と調整 する。</a:t>
            </a:r>
          </a:p>
          <a:p>
            <a:pPr algn="l"/>
            <a:r>
              <a:rPr lang="ja-JP" altLang="en-US" sz="800" dirty="0"/>
              <a:t>必要であれば、法執行機関など外部支援も含む。</a:t>
            </a:r>
          </a:p>
          <a:p>
            <a:pPr algn="l"/>
            <a:r>
              <a:rPr lang="ja-JP" altLang="en-US" sz="800" dirty="0"/>
              <a:t>ポイント：</a:t>
            </a:r>
          </a:p>
          <a:p>
            <a:pPr algn="l"/>
            <a:r>
              <a:rPr lang="ja-JP" altLang="en-US" sz="800" dirty="0"/>
              <a:t>• 	OT/IT/経営層の連携</a:t>
            </a:r>
          </a:p>
          <a:p>
            <a:pPr algn="l"/>
            <a:r>
              <a:rPr lang="ja-JP" altLang="en-US" sz="800" dirty="0"/>
              <a:t>• 	ICS ベンダーとの連絡</a:t>
            </a:r>
          </a:p>
          <a:p>
            <a:pPr algn="l"/>
            <a:r>
              <a:rPr lang="ja-JP" altLang="en-US" sz="800" dirty="0"/>
              <a:t>• 	規制当局への報告</a:t>
            </a:r>
          </a:p>
          <a:p>
            <a:pPr algn="l"/>
            <a:r>
              <a:rPr lang="ja-JP" altLang="en-US" sz="800" dirty="0"/>
              <a:t>• 	インシデント中の情報共有ルール</a:t>
            </a:r>
          </a:p>
          <a:p>
            <a:pPr algn="l"/>
            <a:r>
              <a:rPr lang="ja-JP" altLang="en-US" sz="800" dirty="0"/>
              <a:t>ICS では、現場（フィールド）と制御室の連携 が特に重要です。</a:t>
            </a:r>
          </a:p>
          <a:p>
            <a:pPr algn="l"/>
            <a:endParaRPr lang="ja-JP" altLang="en-US" sz="800" dirty="0"/>
          </a:p>
          <a:p>
            <a:pPr algn="l"/>
            <a:r>
              <a:rPr lang="ja-JP" altLang="en-US" sz="800" dirty="0"/>
              <a:t>**3. Analysis（RS.AN）</a:t>
            </a:r>
          </a:p>
          <a:p>
            <a:pPr algn="l"/>
            <a:r>
              <a:rPr lang="ja-JP" altLang="en-US" sz="800" dirty="0"/>
              <a:t>分析**</a:t>
            </a:r>
          </a:p>
          <a:p>
            <a:pPr algn="l"/>
            <a:r>
              <a:rPr lang="ja-JP" altLang="en-US" sz="800" dirty="0"/>
              <a:t>適切な対応を行い、復旧活動を支援するために</a:t>
            </a:r>
          </a:p>
          <a:p>
            <a:pPr algn="l"/>
            <a:r>
              <a:rPr lang="ja-JP" altLang="en-US" sz="800" dirty="0"/>
              <a:t>インシデントの分析を実施する。</a:t>
            </a:r>
          </a:p>
          <a:p>
            <a:pPr algn="l"/>
            <a:r>
              <a:rPr lang="ja-JP" altLang="en-US" sz="800" dirty="0"/>
              <a:t>ポイント：</a:t>
            </a:r>
          </a:p>
          <a:p>
            <a:pPr algn="l"/>
            <a:r>
              <a:rPr lang="ja-JP" altLang="en-US" sz="800" dirty="0"/>
              <a:t>• 	影響範囲の特定</a:t>
            </a:r>
          </a:p>
          <a:p>
            <a:pPr algn="l"/>
            <a:r>
              <a:rPr lang="ja-JP" altLang="en-US" sz="800" dirty="0"/>
              <a:t>• 	攻撃経路の分析</a:t>
            </a:r>
          </a:p>
          <a:p>
            <a:pPr algn="l"/>
            <a:r>
              <a:rPr lang="ja-JP" altLang="en-US" sz="800" dirty="0"/>
              <a:t>• 	ICS プロセスへの影響評価</a:t>
            </a:r>
          </a:p>
          <a:p>
            <a:pPr algn="l"/>
            <a:r>
              <a:rPr lang="ja-JP" altLang="en-US" sz="800" dirty="0"/>
              <a:t>• 	ログ・パケット・ヒストリアンデータの分析</a:t>
            </a:r>
          </a:p>
          <a:p>
            <a:pPr algn="l"/>
            <a:r>
              <a:rPr lang="ja-JP" altLang="en-US" sz="800" dirty="0"/>
              <a:t>ICS では、プロセス異常とサイバー異常の両方を分析 する必要があります。</a:t>
            </a:r>
          </a:p>
        </p:txBody>
      </p:sp>
      <p:pic>
        <p:nvPicPr>
          <p:cNvPr id="6" name="図形 5"/>
          <p:cNvPicPr>
            <a:picLocks noChangeAspect="1"/>
          </p:cNvPicPr>
          <p:nvPr/>
        </p:nvPicPr>
        <p:blipFill>
          <a:blip r:embed="rId2"/>
          <a:stretch>
            <a:fillRect/>
          </a:stretch>
        </p:blipFill>
        <p:spPr>
          <a:xfrm>
            <a:off x="1077893" y="9513034"/>
            <a:ext cx="4702211" cy="2619974"/>
          </a:xfrm>
          <a:prstGeom prst="rect">
            <a:avLst/>
          </a:prstGeom>
        </p:spPr>
      </p:pic>
      <p:pic>
        <p:nvPicPr>
          <p:cNvPr id="4" name="図 3">
            <a:extLst>
              <a:ext uri="{FF2B5EF4-FFF2-40B4-BE49-F238E27FC236}">
                <a16:creationId xmlns:a16="http://schemas.microsoft.com/office/drawing/2014/main" id="{14013933-CEF6-4D26-831F-C052CD9BAD34}"/>
              </a:ext>
            </a:extLst>
          </p:cNvPr>
          <p:cNvPicPr>
            <a:picLocks noChangeAspect="1"/>
          </p:cNvPicPr>
          <p:nvPr/>
        </p:nvPicPr>
        <p:blipFill>
          <a:blip r:embed="rId3"/>
          <a:stretch>
            <a:fillRect/>
          </a:stretch>
        </p:blipFill>
        <p:spPr>
          <a:xfrm>
            <a:off x="1327823" y="53172"/>
            <a:ext cx="4202350" cy="2401343"/>
          </a:xfrm>
          <a:prstGeom prst="rect">
            <a:avLst/>
          </a:prstGeom>
        </p:spPr>
      </p:pic>
      <p:sp>
        <p:nvSpPr>
          <p:cNvPr id="7" name="サブタイトル 2">
            <a:extLst>
              <a:ext uri="{FF2B5EF4-FFF2-40B4-BE49-F238E27FC236}">
                <a16:creationId xmlns:a16="http://schemas.microsoft.com/office/drawing/2014/main" id="{B76F5988-98E7-4942-BF26-573075952ED7}"/>
              </a:ext>
            </a:extLst>
          </p:cNvPr>
          <p:cNvSpPr txBox="1">
            <a:spLocks/>
          </p:cNvSpPr>
          <p:nvPr/>
        </p:nvSpPr>
        <p:spPr>
          <a:xfrm>
            <a:off x="3428999" y="2473971"/>
            <a:ext cx="3339564" cy="4934400"/>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800" dirty="0"/>
              <a:t>**4. Mitigation（RS.MI）</a:t>
            </a:r>
          </a:p>
          <a:p>
            <a:pPr algn="l"/>
            <a:r>
              <a:rPr lang="ja-JP" altLang="en-US" sz="800" dirty="0"/>
              <a:t>緩和**</a:t>
            </a:r>
          </a:p>
          <a:p>
            <a:pPr algn="l"/>
            <a:r>
              <a:rPr lang="ja-JP" altLang="en-US" sz="800" dirty="0"/>
              <a:t>イベントの拡大を防ぎ、影響を軽減し、</a:t>
            </a:r>
          </a:p>
          <a:p>
            <a:pPr algn="l"/>
            <a:r>
              <a:rPr lang="ja-JP" altLang="en-US" sz="800" dirty="0"/>
              <a:t>インシデントを根絶するための活動を実施する。</a:t>
            </a:r>
          </a:p>
          <a:p>
            <a:pPr algn="l"/>
            <a:r>
              <a:rPr lang="ja-JP" altLang="en-US" sz="800" dirty="0"/>
              <a:t>ポイント：</a:t>
            </a:r>
          </a:p>
          <a:p>
            <a:pPr algn="l"/>
            <a:r>
              <a:rPr lang="ja-JP" altLang="en-US" sz="800" dirty="0"/>
              <a:t>• 	感染端末の隔離</a:t>
            </a:r>
          </a:p>
          <a:p>
            <a:pPr algn="l"/>
            <a:r>
              <a:rPr lang="ja-JP" altLang="en-US" sz="800" dirty="0"/>
              <a:t>• 	不正トラフィックの遮断</a:t>
            </a:r>
          </a:p>
          <a:p>
            <a:pPr algn="l"/>
            <a:r>
              <a:rPr lang="ja-JP" altLang="en-US" sz="800" dirty="0"/>
              <a:t>• 	悪意あるコードの除去</a:t>
            </a:r>
          </a:p>
          <a:p>
            <a:pPr algn="l"/>
            <a:r>
              <a:rPr lang="ja-JP" altLang="en-US" sz="800" dirty="0"/>
              <a:t>• 	ICS プロセスの安定化</a:t>
            </a:r>
          </a:p>
          <a:p>
            <a:pPr algn="l"/>
            <a:r>
              <a:rPr lang="ja-JP" altLang="en-US" sz="800" dirty="0"/>
              <a:t>ICS では、停止できないシステムを止めずに緩和する という難しさがあります。</a:t>
            </a:r>
          </a:p>
          <a:p>
            <a:pPr algn="l"/>
            <a:endParaRPr lang="ja-JP" altLang="en-US" sz="800" dirty="0"/>
          </a:p>
          <a:p>
            <a:pPr algn="l"/>
            <a:r>
              <a:rPr lang="ja-JP" altLang="en-US" sz="800" dirty="0"/>
              <a:t>**5. Improvements（RS.IM）</a:t>
            </a:r>
          </a:p>
          <a:p>
            <a:pPr algn="l"/>
            <a:r>
              <a:rPr lang="ja-JP" altLang="en-US" sz="800" dirty="0"/>
              <a:t>改善**</a:t>
            </a:r>
          </a:p>
          <a:p>
            <a:pPr algn="l"/>
            <a:r>
              <a:rPr lang="ja-JP" altLang="en-US" sz="800" dirty="0"/>
              <a:t>現在および過去の検知・対応活動から得た教訓を取り入れ、</a:t>
            </a:r>
          </a:p>
          <a:p>
            <a:pPr algn="l"/>
            <a:r>
              <a:rPr lang="ja-JP" altLang="en-US" sz="800" dirty="0"/>
              <a:t>組織の対応能力を継続的に改善する。</a:t>
            </a:r>
          </a:p>
          <a:p>
            <a:pPr algn="l"/>
            <a:r>
              <a:rPr lang="ja-JP" altLang="en-US" sz="800" dirty="0"/>
              <a:t>ポイント：</a:t>
            </a:r>
          </a:p>
          <a:p>
            <a:pPr algn="l"/>
            <a:r>
              <a:rPr lang="ja-JP" altLang="en-US" sz="800" dirty="0"/>
              <a:t>• 	事後レビュー（Post-Incident Review）</a:t>
            </a:r>
          </a:p>
          <a:p>
            <a:pPr algn="l"/>
            <a:r>
              <a:rPr lang="ja-JP" altLang="en-US" sz="800" dirty="0"/>
              <a:t>• 	手順書の更新</a:t>
            </a:r>
          </a:p>
          <a:p>
            <a:pPr algn="l"/>
            <a:r>
              <a:rPr lang="ja-JP" altLang="en-US" sz="800" dirty="0"/>
              <a:t>• 	検知ルールの改善</a:t>
            </a:r>
          </a:p>
          <a:p>
            <a:pPr algn="l"/>
            <a:r>
              <a:rPr lang="ja-JP" altLang="en-US" sz="800" dirty="0"/>
              <a:t>• 	トレーニングの強化</a:t>
            </a:r>
          </a:p>
          <a:p>
            <a:pPr algn="l"/>
            <a:r>
              <a:rPr lang="ja-JP" altLang="en-US" sz="800" dirty="0"/>
              <a:t>ICS では、運用手順（SOP）と安全手順（Safety Procedures）への反映 が重要です。</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2725608"/>
            <a:ext cx="6852285" cy="7789335"/>
          </a:xfrm>
        </p:spPr>
        <p:txBody>
          <a:bodyPr>
            <a:normAutofit fontScale="77500" lnSpcReduction="20000"/>
          </a:bodyPr>
          <a:lstStyle/>
          <a:p>
            <a:pPr algn="l"/>
            <a:r>
              <a:rPr lang="ja-JP" altLang="en-US" sz="1400" dirty="0"/>
              <a:t>NIST CSF – Recover（復旧）カテゴリの日本語訳と解説</a:t>
            </a:r>
          </a:p>
          <a:p>
            <a:pPr algn="l"/>
            <a:r>
              <a:rPr lang="ja-JP" altLang="en-US" sz="1400" dirty="0"/>
              <a:t>**1. Recovery Planning（RC.RP）</a:t>
            </a:r>
          </a:p>
          <a:p>
            <a:pPr algn="l"/>
            <a:r>
              <a:rPr lang="ja-JP" altLang="en-US" sz="1400" dirty="0"/>
              <a:t>復旧計画**</a:t>
            </a:r>
          </a:p>
          <a:p>
            <a:pPr algn="l"/>
            <a:r>
              <a:rPr lang="ja-JP" altLang="en-US" sz="1400" dirty="0"/>
              <a:t>サイバーセキュリティイベントによって影響を受けた</a:t>
            </a:r>
          </a:p>
          <a:p>
            <a:pPr algn="l"/>
            <a:r>
              <a:rPr lang="ja-JP" altLang="en-US" sz="1400" dirty="0"/>
              <a:t>システムや資産を迅速に復旧するためのプロセスと手順を</a:t>
            </a:r>
          </a:p>
          <a:p>
            <a:pPr algn="l"/>
            <a:r>
              <a:rPr lang="ja-JP" altLang="en-US" sz="1400" dirty="0"/>
              <a:t>実行し、維持する。</a:t>
            </a:r>
          </a:p>
          <a:p>
            <a:pPr algn="l"/>
            <a:r>
              <a:rPr lang="ja-JP" altLang="en-US" sz="1400" dirty="0"/>
              <a:t>ポイント：</a:t>
            </a:r>
          </a:p>
          <a:p>
            <a:pPr algn="l"/>
            <a:r>
              <a:rPr lang="ja-JP" altLang="en-US" sz="1400" dirty="0"/>
              <a:t>- 復旧手順（システム再構築、設定復元、プロセス再開）の整備</a:t>
            </a:r>
          </a:p>
          <a:p>
            <a:pPr algn="l"/>
            <a:r>
              <a:rPr lang="ja-JP" altLang="en-US" sz="1400" dirty="0"/>
              <a:t>- ICS/OT では「安全に復旧できるか」が最重要</a:t>
            </a:r>
          </a:p>
          <a:p>
            <a:pPr algn="l"/>
            <a:r>
              <a:rPr lang="ja-JP" altLang="en-US" sz="1400" dirty="0"/>
              <a:t>- バックアップとリストアの定期テスト</a:t>
            </a:r>
          </a:p>
          <a:p>
            <a:pPr algn="l"/>
            <a:r>
              <a:rPr lang="ja-JP" altLang="en-US" sz="1400" dirty="0"/>
              <a:t>- 代替運転（手動運転など）の準備</a:t>
            </a:r>
          </a:p>
          <a:p>
            <a:pPr algn="l"/>
            <a:r>
              <a:rPr lang="ja-JP" altLang="en-US" sz="1400" dirty="0"/>
              <a:t>ICS では、安全性（Safety）と可用性（Availability）を両立した復旧計画 が必須です。</a:t>
            </a:r>
          </a:p>
          <a:p>
            <a:pPr algn="l"/>
            <a:endParaRPr lang="ja-JP" altLang="en-US" sz="1400" dirty="0"/>
          </a:p>
          <a:p>
            <a:pPr algn="l"/>
            <a:r>
              <a:rPr lang="ja-JP" altLang="en-US" sz="1400" dirty="0"/>
              <a:t>**2. Improvements（RC.IM）</a:t>
            </a:r>
          </a:p>
          <a:p>
            <a:pPr algn="l"/>
            <a:r>
              <a:rPr lang="ja-JP" altLang="en-US" sz="1400" dirty="0"/>
              <a:t>改善**</a:t>
            </a:r>
          </a:p>
          <a:p>
            <a:pPr algn="l"/>
            <a:r>
              <a:rPr lang="ja-JP" altLang="en-US" sz="1400" dirty="0"/>
              <a:t>復旧計画や復旧プロセスを、</a:t>
            </a:r>
          </a:p>
          <a:p>
            <a:pPr algn="l"/>
            <a:r>
              <a:rPr lang="ja-JP" altLang="en-US" sz="1400" dirty="0"/>
              <a:t>過去のインシデントや演習から得た教訓を取り入れて改善する。</a:t>
            </a:r>
          </a:p>
          <a:p>
            <a:pPr algn="l"/>
            <a:r>
              <a:rPr lang="ja-JP" altLang="en-US" sz="1400" dirty="0"/>
              <a:t>ポイント：</a:t>
            </a:r>
          </a:p>
          <a:p>
            <a:pPr algn="l"/>
            <a:r>
              <a:rPr lang="ja-JP" altLang="en-US" sz="1400" dirty="0"/>
              <a:t>- 事後レビュー（Post-Incident Review）</a:t>
            </a:r>
          </a:p>
          <a:p>
            <a:pPr algn="l"/>
            <a:r>
              <a:rPr lang="ja-JP" altLang="en-US" sz="1400" dirty="0"/>
              <a:t>- 復旧手順の更新</a:t>
            </a:r>
          </a:p>
          <a:p>
            <a:pPr algn="l"/>
            <a:r>
              <a:rPr lang="ja-JP" altLang="en-US" sz="1400" dirty="0"/>
              <a:t>- バックアップ戦略の見直し</a:t>
            </a:r>
          </a:p>
          <a:p>
            <a:pPr algn="l"/>
            <a:r>
              <a:rPr lang="ja-JP" altLang="en-US" sz="1400" dirty="0"/>
              <a:t>- ICS ベンダーとの連携改善</a:t>
            </a:r>
          </a:p>
          <a:p>
            <a:pPr algn="l"/>
            <a:r>
              <a:rPr lang="ja-JP" altLang="en-US" sz="1400" dirty="0"/>
              <a:t>ICS では、復旧後のプロセス安定性 を重視した改善が必要です。</a:t>
            </a:r>
          </a:p>
          <a:p>
            <a:pPr algn="l"/>
            <a:endParaRPr lang="ja-JP" altLang="en-US" sz="1400" dirty="0"/>
          </a:p>
          <a:p>
            <a:pPr algn="l"/>
            <a:r>
              <a:rPr lang="ja-JP" altLang="en-US" sz="1400" dirty="0"/>
              <a:t>**3. Communications（RC.CO）</a:t>
            </a:r>
          </a:p>
          <a:p>
            <a:pPr algn="l"/>
            <a:r>
              <a:rPr lang="ja-JP" altLang="en-US" sz="1400" dirty="0"/>
              <a:t>コミュニケーション**</a:t>
            </a:r>
          </a:p>
          <a:p>
            <a:pPr algn="l"/>
            <a:r>
              <a:rPr lang="ja-JP" altLang="en-US" sz="1400" dirty="0"/>
              <a:t>復旧活動を、</a:t>
            </a:r>
          </a:p>
          <a:p>
            <a:pPr algn="l"/>
            <a:r>
              <a:rPr lang="ja-JP" altLang="en-US" sz="1400" dirty="0"/>
              <a:t>内部および外部の関係者と調整しながら進める。</a:t>
            </a:r>
          </a:p>
          <a:p>
            <a:pPr algn="l"/>
            <a:r>
              <a:rPr lang="ja-JP" altLang="en-US" sz="1400" dirty="0"/>
              <a:t>外部には、調整センター、ISP、攻撃元システムの所有者、被害者、CSIRT、ベンダーなどが含まれる。</a:t>
            </a:r>
          </a:p>
          <a:p>
            <a:pPr algn="l"/>
            <a:r>
              <a:rPr lang="ja-JP" altLang="en-US" sz="1400" dirty="0"/>
              <a:t>ポイント：</a:t>
            </a:r>
          </a:p>
          <a:p>
            <a:pPr algn="l"/>
            <a:r>
              <a:rPr lang="ja-JP" altLang="en-US" sz="1400" dirty="0"/>
              <a:t>- OT/IT/経営層の連携</a:t>
            </a:r>
          </a:p>
          <a:p>
            <a:pPr algn="l"/>
            <a:r>
              <a:rPr lang="ja-JP" altLang="en-US" sz="1400" dirty="0"/>
              <a:t>- ICS ベンダーとの技術調整</a:t>
            </a:r>
          </a:p>
          <a:p>
            <a:pPr algn="l"/>
            <a:r>
              <a:rPr lang="ja-JP" altLang="en-US" sz="1400" dirty="0"/>
              <a:t>- 規制当局への報告</a:t>
            </a:r>
          </a:p>
          <a:p>
            <a:pPr algn="l"/>
            <a:r>
              <a:rPr lang="ja-JP" altLang="en-US" sz="1400" dirty="0"/>
              <a:t>- 他組織の CSIRT との情報共有</a:t>
            </a:r>
          </a:p>
          <a:p>
            <a:pPr algn="l"/>
            <a:r>
              <a:rPr lang="ja-JP" altLang="en-US" sz="1400" dirty="0"/>
              <a:t>ICS では、現場（フィールド）・制御室・本社の三者連携 が特に重要です。</a:t>
            </a:r>
          </a:p>
        </p:txBody>
      </p:sp>
      <p:pic>
        <p:nvPicPr>
          <p:cNvPr id="4" name="図形 3"/>
          <p:cNvPicPr>
            <a:picLocks noChangeAspect="1"/>
          </p:cNvPicPr>
          <p:nvPr/>
        </p:nvPicPr>
        <p:blipFill>
          <a:blip r:embed="rId2"/>
          <a:stretch>
            <a:fillRect/>
          </a:stretch>
        </p:blipFill>
        <p:spPr>
          <a:xfrm>
            <a:off x="804333" y="10456578"/>
            <a:ext cx="5249333" cy="1677057"/>
          </a:xfrm>
          <a:prstGeom prst="rect">
            <a:avLst/>
          </a:prstGeom>
        </p:spPr>
      </p:pic>
      <p:pic>
        <p:nvPicPr>
          <p:cNvPr id="5" name="図 4">
            <a:extLst>
              <a:ext uri="{FF2B5EF4-FFF2-40B4-BE49-F238E27FC236}">
                <a16:creationId xmlns:a16="http://schemas.microsoft.com/office/drawing/2014/main" id="{932CB903-5DB3-4BC9-8DFB-3271B86DED3B}"/>
              </a:ext>
            </a:extLst>
          </p:cNvPr>
          <p:cNvPicPr>
            <a:picLocks noChangeAspect="1"/>
          </p:cNvPicPr>
          <p:nvPr/>
        </p:nvPicPr>
        <p:blipFill>
          <a:blip r:embed="rId3"/>
          <a:stretch>
            <a:fillRect/>
          </a:stretch>
        </p:blipFill>
        <p:spPr>
          <a:xfrm>
            <a:off x="1143000" y="38910"/>
            <a:ext cx="4572000" cy="2618912"/>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533657"/>
            <a:ext cx="6852285" cy="8587001"/>
          </a:xfrm>
        </p:spPr>
        <p:txBody>
          <a:bodyPr>
            <a:normAutofit fontScale="92500" lnSpcReduction="20000"/>
          </a:bodyPr>
          <a:lstStyle/>
          <a:p>
            <a:pPr algn="l"/>
            <a:r>
              <a:rPr lang="ja-JP" altLang="en-US" sz="1400" dirty="0"/>
              <a:t>NIST CSF：Implementation Tiers（実装ティア）の分かりやすい説明</a:t>
            </a:r>
          </a:p>
          <a:p>
            <a:pPr algn="l"/>
            <a:r>
              <a:rPr lang="ja-JP" altLang="en-US" sz="1400" dirty="0"/>
              <a:t>Implementation Tiers（ティア） は、</a:t>
            </a:r>
          </a:p>
          <a:p>
            <a:pPr algn="l"/>
            <a:r>
              <a:rPr lang="ja-JP" altLang="en-US" sz="1400" dirty="0"/>
              <a:t>「組織がサイバーセキュリティリスクをどう捉え、どの程度の仕組みで管理しているか」</a:t>
            </a:r>
          </a:p>
          <a:p>
            <a:pPr algn="l"/>
            <a:r>
              <a:rPr lang="ja-JP" altLang="en-US" sz="1400" dirty="0"/>
              <a:t>を示すためのレベル分けです。</a:t>
            </a:r>
          </a:p>
          <a:p>
            <a:pPr algn="l"/>
            <a:r>
              <a:rPr lang="ja-JP" altLang="en-US" sz="1400" dirty="0"/>
              <a:t>ティアは Tier 1（部分的）〜 Tier 4（適応的） の4段階で、</a:t>
            </a:r>
          </a:p>
          <a:p>
            <a:pPr algn="l"/>
            <a:r>
              <a:rPr lang="ja-JP" altLang="en-US" sz="1400" dirty="0"/>
              <a:t>数字が大きいほど リスク管理が体系的で高度 になります。</a:t>
            </a:r>
          </a:p>
          <a:p>
            <a:pPr algn="l"/>
            <a:r>
              <a:rPr lang="ja-JP" altLang="en-US" sz="1400" dirty="0"/>
              <a:t>ティアは「成熟度そのもの」を表すわけではなく、</a:t>
            </a:r>
          </a:p>
          <a:p>
            <a:pPr algn="l"/>
            <a:r>
              <a:rPr lang="ja-JP" altLang="en-US" sz="1400" dirty="0"/>
              <a:t>組織がどの程度リスク管理をビジネスに統合できているか を示す指標です。</a:t>
            </a:r>
          </a:p>
          <a:p>
            <a:pPr algn="l"/>
            <a:endParaRPr lang="ja-JP" altLang="en-US" sz="1400" dirty="0"/>
          </a:p>
          <a:p>
            <a:pPr algn="l"/>
            <a:r>
              <a:rPr lang="ja-JP" altLang="en-US" sz="1400" dirty="0"/>
              <a:t>ティアが示すもの</a:t>
            </a:r>
          </a:p>
          <a:p>
            <a:pPr algn="l"/>
            <a:r>
              <a:rPr lang="ja-JP" altLang="en-US" sz="1400" dirty="0"/>
              <a:t>ティアは次のような観点を反映します：</a:t>
            </a:r>
          </a:p>
          <a:p>
            <a:pPr algn="l"/>
            <a:r>
              <a:rPr lang="ja-JP" altLang="en-US" sz="1400" dirty="0"/>
              <a:t>- 組織のリスク管理プロセスがどれだけ整備されているか</a:t>
            </a:r>
          </a:p>
          <a:p>
            <a:pPr algn="l"/>
            <a:r>
              <a:rPr lang="ja-JP" altLang="en-US" sz="1400" dirty="0"/>
              <a:t>- ビジネスニーズに基づいてリスク管理が行われているか</a:t>
            </a:r>
          </a:p>
          <a:p>
            <a:pPr algn="l"/>
            <a:r>
              <a:rPr lang="ja-JP" altLang="en-US" sz="1400" dirty="0"/>
              <a:t>- プライバシーや市民の権利への配慮が組み込まれているか</a:t>
            </a:r>
          </a:p>
          <a:p>
            <a:pPr algn="l"/>
            <a:r>
              <a:rPr lang="ja-JP" altLang="en-US" sz="1400" dirty="0"/>
              <a:t>- サイバーリスクへの対応が組織全体のリスク管理に統合されているか</a:t>
            </a:r>
          </a:p>
          <a:p>
            <a:pPr algn="l"/>
            <a:endParaRPr lang="ja-JP" altLang="en-US" sz="1400" dirty="0"/>
          </a:p>
          <a:p>
            <a:pPr algn="l"/>
            <a:r>
              <a:rPr lang="ja-JP" altLang="en-US" sz="1400" dirty="0"/>
              <a:t>ティアを決めるときに考慮する要素</a:t>
            </a:r>
          </a:p>
          <a:p>
            <a:pPr algn="l"/>
            <a:r>
              <a:rPr lang="ja-JP" altLang="en-US" sz="1400" dirty="0"/>
              <a:t>組織がどのティアに属するか、またはどのティアを目指すかは、次のような要素で判断します：</a:t>
            </a:r>
          </a:p>
          <a:p>
            <a:pPr algn="l"/>
            <a:r>
              <a:rPr lang="ja-JP" altLang="en-US" sz="1400" dirty="0"/>
              <a:t>- 現在のリスク管理のやり方</a:t>
            </a:r>
          </a:p>
          <a:p>
            <a:pPr algn="l"/>
            <a:r>
              <a:rPr lang="ja-JP" altLang="en-US" sz="1400" dirty="0"/>
              <a:t>- 脅威環境（攻撃者のレベル、業界の状況）</a:t>
            </a:r>
          </a:p>
          <a:p>
            <a:pPr algn="l"/>
            <a:r>
              <a:rPr lang="ja-JP" altLang="en-US" sz="1400" dirty="0"/>
              <a:t>- 法規制やコンプライアンス要件</a:t>
            </a:r>
          </a:p>
          <a:p>
            <a:pPr algn="l"/>
            <a:r>
              <a:rPr lang="ja-JP" altLang="en-US" sz="1400" dirty="0"/>
              <a:t>- 情報共有の仕組み（ISAC/ISAO など）</a:t>
            </a:r>
          </a:p>
          <a:p>
            <a:pPr algn="l"/>
            <a:r>
              <a:rPr lang="ja-JP" altLang="en-US" sz="1400" dirty="0"/>
              <a:t>- ビジネス・ミッションの目的</a:t>
            </a:r>
          </a:p>
          <a:p>
            <a:pPr algn="l"/>
            <a:r>
              <a:rPr lang="ja-JP" altLang="en-US" sz="1400" dirty="0"/>
              <a:t>- サプライチェーンのセキュリティ要件</a:t>
            </a:r>
          </a:p>
          <a:p>
            <a:pPr algn="l"/>
            <a:r>
              <a:rPr lang="ja-JP" altLang="en-US" sz="1400" dirty="0"/>
              <a:t>- 組織の制約（予算、人員、技術など）</a:t>
            </a:r>
          </a:p>
          <a:p>
            <a:pPr algn="l"/>
            <a:r>
              <a:rPr lang="ja-JP" altLang="en-US" sz="1400" dirty="0"/>
              <a:t>組織は 自社の目標に合い、実現可能で、重要資産のリスクを許容範囲まで下げられるティア を選ぶべきです。</a:t>
            </a:r>
          </a:p>
          <a:p>
            <a:pPr algn="l"/>
            <a:endParaRPr lang="ja-JP" altLang="en-US" sz="1400" dirty="0"/>
          </a:p>
          <a:p>
            <a:pPr algn="l"/>
            <a:r>
              <a:rPr lang="ja-JP" altLang="en-US" sz="1400" dirty="0"/>
              <a:t>ティアは「成熟度レベル」ではない</a:t>
            </a:r>
          </a:p>
          <a:p>
            <a:pPr algn="l"/>
            <a:r>
              <a:rPr lang="ja-JP" altLang="en-US" sz="1400" dirty="0"/>
              <a:t>Tier 1 の組織が「悪い」わけではありません。</a:t>
            </a:r>
          </a:p>
          <a:p>
            <a:pPr algn="l"/>
            <a:r>
              <a:rPr lang="ja-JP" altLang="en-US" sz="1400" dirty="0"/>
              <a:t>ティアは 組織がどのようにリスク管理を行うべきかを判断するための道具 です。</a:t>
            </a:r>
          </a:p>
          <a:p>
            <a:pPr algn="l"/>
            <a:r>
              <a:rPr lang="ja-JP" altLang="en-US" sz="1400" dirty="0"/>
              <a:t>- 必要なら Tier 2 以上を目指すことが推奨される</a:t>
            </a:r>
          </a:p>
          <a:p>
            <a:pPr algn="l"/>
            <a:r>
              <a:rPr lang="ja-JP" altLang="en-US" sz="1400" dirty="0"/>
              <a:t>- ただし、ティアを上げること自体が目的ではない</a:t>
            </a:r>
          </a:p>
          <a:p>
            <a:pPr algn="l"/>
            <a:r>
              <a:rPr lang="ja-JP" altLang="en-US" sz="1400" dirty="0"/>
              <a:t>- コストと効果を比較し、合理的にリスクを下げられる場合にのみ上位ティアを目指す</a:t>
            </a:r>
          </a:p>
          <a:p>
            <a:pPr algn="l"/>
            <a:r>
              <a:rPr lang="ja-JP" altLang="en-US" sz="1400" dirty="0"/>
              <a:t>最終的に重要なのは ティアではなく、Target Profile（目標プロファイル）で定義した成果を達成できているか です。</a:t>
            </a:r>
          </a:p>
          <a:p>
            <a:pPr algn="l"/>
            <a:endParaRPr lang="ja-JP" altLang="en-US" sz="1400" dirty="0"/>
          </a:p>
        </p:txBody>
      </p:sp>
      <p:pic>
        <p:nvPicPr>
          <p:cNvPr id="4" name="図 3">
            <a:extLst>
              <a:ext uri="{FF2B5EF4-FFF2-40B4-BE49-F238E27FC236}">
                <a16:creationId xmlns:a16="http://schemas.microsoft.com/office/drawing/2014/main" id="{369438E2-CDEC-451E-A8B8-EA9BAA37C1BC}"/>
              </a:ext>
            </a:extLst>
          </p:cNvPr>
          <p:cNvPicPr>
            <a:picLocks noChangeAspect="1"/>
          </p:cNvPicPr>
          <p:nvPr/>
        </p:nvPicPr>
        <p:blipFill>
          <a:blip r:embed="rId2"/>
          <a:stretch>
            <a:fillRect/>
          </a:stretch>
        </p:blipFill>
        <p:spPr>
          <a:xfrm>
            <a:off x="471791" y="90797"/>
            <a:ext cx="5914417" cy="3379667"/>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0"/>
            <a:ext cx="6852285" cy="8229600"/>
          </a:xfrm>
        </p:spPr>
        <p:txBody>
          <a:bodyPr>
            <a:normAutofit/>
          </a:bodyPr>
          <a:lstStyle/>
          <a:p>
            <a:pPr algn="l"/>
            <a:r>
              <a:rPr lang="ja-JP" altLang="en-US" sz="1400" dirty="0"/>
              <a:t>とはいえ、どのティア（Tier）を選ぶか、どのティアに分類されるかは、</a:t>
            </a:r>
          </a:p>
          <a:p>
            <a:pPr algn="l"/>
            <a:r>
              <a:rPr lang="ja-JP" altLang="en-US" sz="1400" dirty="0"/>
              <a:t>Framework Profile（フレームワーク・プロファイル）にも自然と影響します。</a:t>
            </a:r>
          </a:p>
          <a:p>
            <a:pPr algn="l"/>
            <a:r>
              <a:rPr lang="ja-JP" altLang="en-US" sz="1400" dirty="0"/>
              <a:t>ビジネス部門やプロセス部門の管理者が推奨し、</a:t>
            </a:r>
          </a:p>
          <a:p>
            <a:pPr algn="l"/>
            <a:r>
              <a:rPr lang="ja-JP" altLang="en-US" sz="1400" dirty="0"/>
              <a:t>経営層が承認したティアは、</a:t>
            </a:r>
          </a:p>
          <a:p>
            <a:pPr algn="l"/>
            <a:r>
              <a:rPr lang="ja-JP" altLang="en-US" sz="1400" dirty="0"/>
              <a:t>組織がサイバーセキュリティリスクをどのように扱うかの“全体方針”を決める基準 になります。</a:t>
            </a:r>
          </a:p>
          <a:p>
            <a:pPr algn="l"/>
            <a:r>
              <a:rPr lang="ja-JP" altLang="en-US" sz="1400" dirty="0"/>
              <a:t>そのティアは、次のような場面に影響します：</a:t>
            </a:r>
          </a:p>
          <a:p>
            <a:pPr algn="l"/>
            <a:r>
              <a:rPr lang="ja-JP" altLang="en-US" sz="1400" dirty="0"/>
              <a:t>- Target Profile（目標プロファイル）で何を優先するか</a:t>
            </a:r>
          </a:p>
          <a:p>
            <a:pPr algn="l"/>
            <a:r>
              <a:rPr lang="ja-JP" altLang="en-US" sz="1400" dirty="0"/>
              <a:t>- どのギャップ（不足点）を先に埋めるべきかの判断</a:t>
            </a:r>
          </a:p>
          <a:p>
            <a:pPr algn="l"/>
            <a:r>
              <a:rPr lang="ja-JP" altLang="en-US" sz="1400" dirty="0"/>
              <a:t>- 改善の進捗をどう評価するか</a:t>
            </a:r>
          </a:p>
          <a:p>
            <a:pPr algn="l"/>
            <a:r>
              <a:rPr lang="ja-JP" altLang="en-US" sz="1400" dirty="0"/>
              <a:t>つまり、ティアの選択は単なるラベルではなく、</a:t>
            </a:r>
          </a:p>
          <a:p>
            <a:pPr algn="l"/>
            <a:r>
              <a:rPr lang="ja-JP" altLang="en-US" sz="1400" dirty="0"/>
              <a:t>組織全体のリスク管理の方向性と優先順位を決める重要な要素 ということです。</a:t>
            </a:r>
          </a:p>
          <a:p>
            <a:pPr algn="l"/>
            <a:endParaRPr lang="ja-JP" altLang="en-US" sz="1400" dirty="0"/>
          </a:p>
          <a:p>
            <a:pPr algn="l"/>
            <a:r>
              <a:rPr lang="ja-JP" altLang="en-US" sz="1400" dirty="0"/>
              <a:t>さらに噛み砕くと</a:t>
            </a:r>
          </a:p>
          <a:p>
            <a:pPr algn="l"/>
            <a:r>
              <a:rPr lang="ja-JP" altLang="en-US" sz="1400" dirty="0"/>
              <a:t>- ティアは「うちはどれくらい本気でリスク管理するか」を示す旗印</a:t>
            </a:r>
          </a:p>
          <a:p>
            <a:pPr algn="l"/>
            <a:r>
              <a:rPr lang="ja-JP" altLang="en-US" sz="1400" dirty="0"/>
              <a:t>- 経営層が承認したティアは、組織全体の“セキュリティの姿勢”を決める</a:t>
            </a:r>
          </a:p>
          <a:p>
            <a:pPr algn="l"/>
            <a:r>
              <a:rPr lang="ja-JP" altLang="en-US" sz="1400" dirty="0"/>
              <a:t>- その姿勢が、目標プロファイルの優先順位や改善計画に影響する</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871606"/>
            <a:ext cx="6852285" cy="7038863"/>
          </a:xfrm>
        </p:spPr>
        <p:txBody>
          <a:bodyPr>
            <a:normAutofit/>
          </a:bodyPr>
          <a:lstStyle/>
          <a:p>
            <a:pPr algn="l"/>
            <a:r>
              <a:rPr lang="ja-JP" altLang="en-US" sz="1400" dirty="0"/>
              <a:t>これまで説明してきたステップは、</a:t>
            </a:r>
          </a:p>
          <a:p>
            <a:pPr algn="l"/>
            <a:r>
              <a:rPr lang="ja-JP" altLang="en-US" sz="1400" dirty="0"/>
              <a:t>NIST CSF を使って ICS サイバーセキュリティプログラムを新しく作る、</a:t>
            </a:r>
          </a:p>
          <a:p>
            <a:pPr algn="l"/>
            <a:r>
              <a:rPr lang="ja-JP" altLang="en-US" sz="1400" dirty="0"/>
              <a:t>または既存のプログラムを改善するための流れ を示したものです。</a:t>
            </a:r>
          </a:p>
          <a:p>
            <a:pPr algn="l"/>
            <a:r>
              <a:rPr lang="ja-JP" altLang="en-US" sz="1400" dirty="0"/>
              <a:t>大切なのは、小さく始めて、少しずつ改善していくこと。</a:t>
            </a:r>
          </a:p>
          <a:p>
            <a:pPr algn="l"/>
            <a:r>
              <a:rPr lang="ja-JP" altLang="en-US" sz="1400" dirty="0"/>
              <a:t>多くの組織は、</a:t>
            </a:r>
          </a:p>
          <a:p>
            <a:pPr algn="l"/>
            <a:r>
              <a:rPr lang="ja-JP" altLang="en-US" sz="1400" dirty="0"/>
              <a:t>- 人手不足</a:t>
            </a:r>
          </a:p>
          <a:p>
            <a:pPr algn="l"/>
            <a:r>
              <a:rPr lang="ja-JP" altLang="en-US" sz="1400" dirty="0"/>
              <a:t>- 予算不足</a:t>
            </a:r>
          </a:p>
          <a:p>
            <a:pPr algn="l"/>
            <a:r>
              <a:rPr lang="ja-JP" altLang="en-US" sz="1400" dirty="0"/>
              <a:t>- 兼任が多い</a:t>
            </a:r>
          </a:p>
          <a:p>
            <a:pPr algn="l"/>
            <a:r>
              <a:rPr lang="ja-JP" altLang="en-US" sz="1400" dirty="0"/>
              <a:t>といった状況で動いています。</a:t>
            </a:r>
          </a:p>
          <a:p>
            <a:pPr algn="l"/>
            <a:r>
              <a:rPr lang="ja-JP" altLang="en-US" sz="1400" dirty="0"/>
              <a:t>そんな中で 一度に全部やろうとするのが最悪のパターン です。</a:t>
            </a:r>
          </a:p>
          <a:p>
            <a:pPr algn="l"/>
            <a:r>
              <a:rPr lang="ja-JP" altLang="en-US" sz="1400" dirty="0"/>
              <a:t>その結果、計画ばかりが増えて、実行がほとんど進まない、という状況になりがちです。</a:t>
            </a:r>
          </a:p>
          <a:p>
            <a:pPr algn="l"/>
            <a:r>
              <a:rPr lang="ja-JP" altLang="en-US" sz="1400" dirty="0"/>
              <a:t>あなたのプログラムの目的は、</a:t>
            </a:r>
          </a:p>
          <a:p>
            <a:pPr algn="l"/>
            <a:r>
              <a:rPr lang="ja-JP" altLang="en-US" sz="1400" dirty="0"/>
              <a:t>システムをより安全にすること です。</a:t>
            </a:r>
          </a:p>
          <a:p>
            <a:pPr algn="l"/>
            <a:r>
              <a:rPr lang="ja-JP" altLang="en-US" sz="1400" dirty="0"/>
              <a:t>もちろん計画は必要ですが、</a:t>
            </a:r>
          </a:p>
          <a:p>
            <a:pPr algn="l"/>
            <a:r>
              <a:rPr lang="ja-JP" altLang="en-US" sz="1400" dirty="0"/>
              <a:t>計画だけではシステムは1ミリも安全になりません。</a:t>
            </a:r>
          </a:p>
          <a:p>
            <a:pPr algn="l"/>
            <a:r>
              <a:rPr lang="ja-JP" altLang="en-US" sz="1400" dirty="0"/>
              <a:t>実際に手を動かし、改善を積み重ねていくことが本当の防御につながります。</a:t>
            </a:r>
          </a:p>
          <a:p>
            <a:pPr algn="l"/>
            <a:endParaRPr lang="ja-JP" altLang="en-US" sz="1400" dirty="0"/>
          </a:p>
          <a:p>
            <a:pPr algn="l"/>
            <a:r>
              <a:rPr lang="ja-JP" altLang="en-US" sz="1400" dirty="0"/>
              <a:t>さらに噛み砕くと</a:t>
            </a:r>
          </a:p>
          <a:p>
            <a:pPr algn="l"/>
            <a:r>
              <a:rPr lang="ja-JP" altLang="en-US" sz="1400" dirty="0"/>
              <a:t>- ICS セキュリティは「一気に完成させるもの」ではなく「育てるもの」</a:t>
            </a:r>
          </a:p>
          <a:p>
            <a:pPr algn="l"/>
            <a:r>
              <a:rPr lang="ja-JP" altLang="en-US" sz="1400" dirty="0"/>
              <a:t>- 小さな改善を積み重ねる方が、結果的に強いプログラムになる</a:t>
            </a:r>
          </a:p>
          <a:p>
            <a:pPr algn="l"/>
            <a:r>
              <a:rPr lang="ja-JP" altLang="en-US" sz="1400" dirty="0"/>
              <a:t>- 計画だけして満足するのではなく、必ず実行まで落とし込む</a:t>
            </a:r>
          </a:p>
          <a:p>
            <a:pPr algn="l"/>
            <a:r>
              <a:rPr lang="ja-JP" altLang="en-US" sz="1400" dirty="0"/>
              <a:t>- 人手も予算も限られている前提で、現実的に進めることが重要</a:t>
            </a:r>
          </a:p>
        </p:txBody>
      </p:sp>
      <p:pic>
        <p:nvPicPr>
          <p:cNvPr id="4" name="図 3">
            <a:extLst>
              <a:ext uri="{FF2B5EF4-FFF2-40B4-BE49-F238E27FC236}">
                <a16:creationId xmlns:a16="http://schemas.microsoft.com/office/drawing/2014/main" id="{7369B418-AA53-4455-9EE1-FEE365011165}"/>
              </a:ext>
            </a:extLst>
          </p:cNvPr>
          <p:cNvPicPr>
            <a:picLocks noChangeAspect="1"/>
          </p:cNvPicPr>
          <p:nvPr/>
        </p:nvPicPr>
        <p:blipFill>
          <a:blip r:embed="rId2"/>
          <a:stretch>
            <a:fillRect/>
          </a:stretch>
        </p:blipFill>
        <p:spPr>
          <a:xfrm>
            <a:off x="181477" y="97275"/>
            <a:ext cx="6495045" cy="3715966"/>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8AE6B018-8F4E-4A8E-B971-B0F377BEA20A}"/>
              </a:ext>
            </a:extLst>
          </p:cNvPr>
          <p:cNvPicPr>
            <a:picLocks noChangeAspect="1"/>
          </p:cNvPicPr>
          <p:nvPr/>
        </p:nvPicPr>
        <p:blipFill>
          <a:blip r:embed="rId2"/>
          <a:stretch>
            <a:fillRect/>
          </a:stretch>
        </p:blipFill>
        <p:spPr>
          <a:xfrm>
            <a:off x="218872" y="77820"/>
            <a:ext cx="6420255" cy="3650937"/>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2C15E6CC-F340-4E28-AEE8-D828903CB137}"/>
              </a:ext>
            </a:extLst>
          </p:cNvPr>
          <p:cNvPicPr>
            <a:picLocks noChangeAspect="1"/>
          </p:cNvPicPr>
          <p:nvPr/>
        </p:nvPicPr>
        <p:blipFill>
          <a:blip r:embed="rId2"/>
          <a:stretch>
            <a:fillRect/>
          </a:stretch>
        </p:blipFill>
        <p:spPr>
          <a:xfrm>
            <a:off x="185338" y="97275"/>
            <a:ext cx="6487323" cy="3696511"/>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FFC15224-7AFE-4356-ACC4-2EDBD37ECA1C}"/>
              </a:ext>
            </a:extLst>
          </p:cNvPr>
          <p:cNvPicPr>
            <a:picLocks noChangeAspect="1"/>
          </p:cNvPicPr>
          <p:nvPr/>
        </p:nvPicPr>
        <p:blipFill>
          <a:blip r:embed="rId2"/>
          <a:stretch>
            <a:fillRect/>
          </a:stretch>
        </p:blipFill>
        <p:spPr>
          <a:xfrm>
            <a:off x="150778" y="155644"/>
            <a:ext cx="6556443" cy="3735896"/>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4096786"/>
            <a:ext cx="6852285" cy="3588065"/>
          </a:xfrm>
        </p:spPr>
        <p:txBody>
          <a:bodyPr>
            <a:normAutofit/>
          </a:bodyPr>
          <a:lstStyle/>
          <a:p>
            <a:pPr algn="l"/>
            <a:r>
              <a:rPr lang="ja-JP" altLang="en-US" sz="1400" dirty="0"/>
              <a:t>例として示されている組織の実装図を見ると、</a:t>
            </a:r>
          </a:p>
          <a:p>
            <a:pPr algn="l"/>
            <a:r>
              <a:rPr lang="ja-JP" altLang="en-US" sz="1400" dirty="0"/>
              <a:t>ポリシー（方針）は組織の最上位レベルと結びついており、</a:t>
            </a:r>
          </a:p>
          <a:p>
            <a:pPr algn="l"/>
            <a:r>
              <a:rPr lang="ja-JP" altLang="en-US" sz="1400" dirty="0"/>
              <a:t>経営層が各部門に対して共通の基準（スタンダード）を適用している ことが分かります。</a:t>
            </a:r>
          </a:p>
          <a:p>
            <a:pPr algn="l"/>
            <a:r>
              <a:rPr lang="ja-JP" altLang="en-US" sz="1400" dirty="0"/>
              <a:t>一方で、</a:t>
            </a:r>
          </a:p>
          <a:p>
            <a:pPr algn="l"/>
            <a:r>
              <a:rPr lang="ja-JP" altLang="en-US" sz="1400" dirty="0"/>
              <a:t>ガイドライン（指針）や手順書（プロシージャ）は、</a:t>
            </a:r>
          </a:p>
          <a:p>
            <a:pPr algn="l"/>
            <a:r>
              <a:rPr lang="ja-JP" altLang="en-US" sz="1400" dirty="0"/>
              <a:t>実際に作業を行う現場レベルの担当者が実装するもの です。</a:t>
            </a:r>
          </a:p>
          <a:p>
            <a:pPr algn="l"/>
            <a:r>
              <a:rPr lang="ja-JP" altLang="en-US" sz="1400" dirty="0"/>
              <a:t>これから、</a:t>
            </a:r>
          </a:p>
          <a:p>
            <a:pPr algn="l"/>
            <a:r>
              <a:rPr lang="ja-JP" altLang="en-US" sz="1400" dirty="0"/>
              <a:t>それぞれの文書がどんな役割を持ち、なぜ必要なのか</a:t>
            </a:r>
          </a:p>
          <a:p>
            <a:pPr algn="l"/>
            <a:r>
              <a:rPr lang="ja-JP" altLang="en-US" sz="1400" dirty="0"/>
              <a:t>を詳しく説明していきます。</a:t>
            </a:r>
          </a:p>
        </p:txBody>
      </p:sp>
      <p:pic>
        <p:nvPicPr>
          <p:cNvPr id="4" name="図 3">
            <a:extLst>
              <a:ext uri="{FF2B5EF4-FFF2-40B4-BE49-F238E27FC236}">
                <a16:creationId xmlns:a16="http://schemas.microsoft.com/office/drawing/2014/main" id="{21A7D02D-4767-478B-8460-1E8260F57C55}"/>
              </a:ext>
            </a:extLst>
          </p:cNvPr>
          <p:cNvPicPr>
            <a:picLocks noChangeAspect="1"/>
          </p:cNvPicPr>
          <p:nvPr/>
        </p:nvPicPr>
        <p:blipFill>
          <a:blip r:embed="rId2"/>
          <a:stretch>
            <a:fillRect/>
          </a:stretch>
        </p:blipFill>
        <p:spPr>
          <a:xfrm>
            <a:off x="111867" y="179942"/>
            <a:ext cx="6634265" cy="3768006"/>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513484"/>
            <a:ext cx="3424136" cy="8548812"/>
          </a:xfrm>
        </p:spPr>
        <p:txBody>
          <a:bodyPr>
            <a:normAutofit lnSpcReduction="10000"/>
          </a:bodyPr>
          <a:lstStyle/>
          <a:p>
            <a:pPr algn="l"/>
            <a:r>
              <a:rPr lang="ja-JP" altLang="en-US" sz="1400" dirty="0"/>
              <a:t>必要なポリシーが存在しない場合や、内容が古くなっている場合は、</a:t>
            </a:r>
          </a:p>
          <a:p>
            <a:pPr algn="l"/>
            <a:r>
              <a:rPr lang="ja-JP" altLang="en-US" sz="1400" dirty="0"/>
              <a:t>新しく作成するか、更新して承認を得る ことが重要です。</a:t>
            </a:r>
          </a:p>
          <a:p>
            <a:pPr algn="l"/>
            <a:r>
              <a:rPr lang="ja-JP" altLang="en-US" sz="1400" dirty="0"/>
              <a:t>フレームワークを確立する最後のステップは、</a:t>
            </a:r>
          </a:p>
          <a:p>
            <a:pPr algn="l"/>
            <a:r>
              <a:rPr lang="ja-JP" altLang="en-US" sz="1400" dirty="0"/>
              <a:t>重要なポリシーを評価（レビュー）すること です。</a:t>
            </a:r>
          </a:p>
          <a:p>
            <a:pPr algn="l"/>
            <a:r>
              <a:rPr lang="ja-JP" altLang="en-US" sz="1400" dirty="0"/>
              <a:t>たとえ自分で書いたばかりのポリシーで「正しい」と思っていても、</a:t>
            </a:r>
          </a:p>
          <a:p>
            <a:pPr algn="l"/>
            <a:r>
              <a:rPr lang="ja-JP" altLang="en-US" sz="1400" dirty="0"/>
              <a:t>必ずチェックを受けるべき です。</a:t>
            </a:r>
          </a:p>
          <a:p>
            <a:pPr algn="l"/>
            <a:r>
              <a:rPr lang="ja-JP" altLang="en-US" sz="1400" dirty="0"/>
              <a:t>自分のミスは自分ではほとんど見つけられないからです。</a:t>
            </a:r>
          </a:p>
          <a:p>
            <a:pPr algn="l"/>
            <a:r>
              <a:rPr lang="ja-JP" altLang="en-US" sz="1400" dirty="0"/>
              <a:t>他の人にポリシー内容を確認してもらうときは、</a:t>
            </a:r>
          </a:p>
          <a:p>
            <a:pPr algn="l"/>
            <a:r>
              <a:rPr lang="ja-JP" altLang="en-US" sz="1400" dirty="0"/>
              <a:t>次のような「基本要素」が含まれているかをチェックしてもらうと良いでしょう。</a:t>
            </a:r>
          </a:p>
          <a:p>
            <a:pPr algn="l"/>
            <a:endParaRPr lang="ja-JP" altLang="en-US" sz="1400" dirty="0"/>
          </a:p>
          <a:p>
            <a:pPr algn="l"/>
            <a:r>
              <a:rPr lang="ja-JP" altLang="en-US" sz="1400" dirty="0"/>
              <a:t>ポリシーに含めるべき基本要素（分かりやすい説明）</a:t>
            </a:r>
          </a:p>
          <a:p>
            <a:pPr algn="l"/>
            <a:r>
              <a:rPr lang="ja-JP" altLang="en-US" sz="1400" dirty="0"/>
              <a:t>1. Purpose（目的）</a:t>
            </a:r>
          </a:p>
          <a:p>
            <a:pPr algn="l"/>
            <a:r>
              <a:rPr lang="ja-JP" altLang="en-US" sz="1400" dirty="0"/>
              <a:t>ポリシーを作る理由や、達成したい目標を明確にする部分。</a:t>
            </a:r>
          </a:p>
          <a:p>
            <a:pPr algn="l"/>
            <a:r>
              <a:rPr lang="ja-JP" altLang="en-US" sz="1400" dirty="0"/>
              <a:t>通常は文書の冒頭に書かれます。</a:t>
            </a:r>
          </a:p>
          <a:p>
            <a:pPr algn="l"/>
            <a:endParaRPr lang="ja-JP" altLang="en-US" sz="1400" dirty="0"/>
          </a:p>
          <a:p>
            <a:pPr algn="l"/>
            <a:r>
              <a:rPr lang="ja-JP" altLang="en-US" sz="1400" dirty="0"/>
              <a:t>2. Related documents（関連文書 / 参照文献）</a:t>
            </a:r>
          </a:p>
          <a:p>
            <a:pPr algn="l"/>
            <a:r>
              <a:rPr lang="ja-JP" altLang="en-US" sz="1400" dirty="0"/>
              <a:t>上位ポリシーや関連する標準、ガイドラインなどを示す部分。</a:t>
            </a:r>
          </a:p>
          <a:p>
            <a:pPr algn="l"/>
            <a:r>
              <a:rPr lang="ja-JP" altLang="en-US" sz="1400" dirty="0"/>
              <a:t>「References」と書かれることも多いです。</a:t>
            </a:r>
          </a:p>
          <a:p>
            <a:pPr algn="l"/>
            <a:endParaRPr lang="ja-JP" altLang="en-US" sz="1400" dirty="0"/>
          </a:p>
          <a:p>
            <a:pPr algn="l"/>
            <a:r>
              <a:rPr lang="ja-JP" altLang="en-US" sz="1400" dirty="0"/>
              <a:t>3. Cancellation（廃止・置き換え）</a:t>
            </a:r>
          </a:p>
          <a:p>
            <a:pPr algn="l"/>
            <a:r>
              <a:rPr lang="ja-JP" altLang="en-US" sz="1400" dirty="0"/>
              <a:t>新しいポリシーが、古いポリシーを置き換える場合に記載します。</a:t>
            </a:r>
          </a:p>
          <a:p>
            <a:pPr algn="l"/>
            <a:r>
              <a:rPr lang="ja-JP" altLang="en-US" sz="1400" dirty="0"/>
              <a:t>どの文書が無効になったのかを明確にします。</a:t>
            </a:r>
          </a:p>
        </p:txBody>
      </p:sp>
      <p:pic>
        <p:nvPicPr>
          <p:cNvPr id="4" name="図 3">
            <a:extLst>
              <a:ext uri="{FF2B5EF4-FFF2-40B4-BE49-F238E27FC236}">
                <a16:creationId xmlns:a16="http://schemas.microsoft.com/office/drawing/2014/main" id="{7B3E11C5-D636-421D-BFAD-F185C9BFE575}"/>
              </a:ext>
            </a:extLst>
          </p:cNvPr>
          <p:cNvPicPr>
            <a:picLocks noChangeAspect="1"/>
          </p:cNvPicPr>
          <p:nvPr/>
        </p:nvPicPr>
        <p:blipFill>
          <a:blip r:embed="rId2"/>
          <a:stretch>
            <a:fillRect/>
          </a:stretch>
        </p:blipFill>
        <p:spPr>
          <a:xfrm>
            <a:off x="511796" y="77820"/>
            <a:ext cx="5824679" cy="3318933"/>
          </a:xfrm>
          <a:prstGeom prst="rect">
            <a:avLst/>
          </a:prstGeom>
        </p:spPr>
      </p:pic>
      <p:sp>
        <p:nvSpPr>
          <p:cNvPr id="5" name="サブタイトル 2">
            <a:extLst>
              <a:ext uri="{FF2B5EF4-FFF2-40B4-BE49-F238E27FC236}">
                <a16:creationId xmlns:a16="http://schemas.microsoft.com/office/drawing/2014/main" id="{CD68A8E0-D99D-4E3C-A81F-4F5867AB65EF}"/>
              </a:ext>
            </a:extLst>
          </p:cNvPr>
          <p:cNvSpPr txBox="1">
            <a:spLocks/>
          </p:cNvSpPr>
          <p:nvPr/>
        </p:nvSpPr>
        <p:spPr>
          <a:xfrm>
            <a:off x="3424136" y="3513483"/>
            <a:ext cx="3424136" cy="7264761"/>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4. Background（背景）※任意</a:t>
            </a:r>
          </a:p>
          <a:p>
            <a:pPr algn="l"/>
            <a:r>
              <a:rPr lang="ja-JP" altLang="en-US" sz="1400" dirty="0"/>
              <a:t>なぜこのポリシーが必要なのか、</a:t>
            </a:r>
          </a:p>
          <a:p>
            <a:pPr algn="l"/>
            <a:r>
              <a:rPr lang="ja-JP" altLang="en-US" sz="1400" dirty="0"/>
              <a:t>背景情報や歴史的経緯を補足する部分。</a:t>
            </a:r>
          </a:p>
          <a:p>
            <a:pPr algn="l"/>
            <a:r>
              <a:rPr lang="ja-JP" altLang="en-US" sz="1400" dirty="0"/>
              <a:t>必須ではありませんが、理解を助けます。</a:t>
            </a:r>
          </a:p>
          <a:p>
            <a:pPr algn="l"/>
            <a:endParaRPr lang="ja-JP" altLang="en-US" sz="1400" dirty="0"/>
          </a:p>
          <a:p>
            <a:pPr algn="l"/>
            <a:r>
              <a:rPr lang="ja-JP" altLang="en-US" sz="1400" dirty="0"/>
              <a:t>5. Scope（適用範囲）</a:t>
            </a:r>
          </a:p>
          <a:p>
            <a:pPr algn="l"/>
            <a:r>
              <a:rPr lang="ja-JP" altLang="en-US" sz="1400" dirty="0"/>
              <a:t>このポリシーが 誰に、何に適用されるのか を明確にします。</a:t>
            </a:r>
          </a:p>
          <a:p>
            <a:pPr algn="l"/>
            <a:r>
              <a:rPr lang="ja-JP" altLang="en-US" sz="1400" dirty="0"/>
              <a:t>例：</a:t>
            </a:r>
          </a:p>
          <a:p>
            <a:pPr algn="l"/>
            <a:r>
              <a:rPr lang="ja-JP" altLang="en-US" sz="1400" dirty="0"/>
              <a:t>- 組織全体か</a:t>
            </a:r>
          </a:p>
          <a:p>
            <a:pPr algn="l"/>
            <a:r>
              <a:rPr lang="ja-JP" altLang="en-US" sz="1400" dirty="0"/>
              <a:t>- 特定部門だけか</a:t>
            </a:r>
          </a:p>
          <a:p>
            <a:pPr algn="l"/>
            <a:r>
              <a:rPr lang="ja-JP" altLang="en-US" sz="1400" dirty="0"/>
              <a:t>- 外部委託業者にも適用するのか</a:t>
            </a:r>
          </a:p>
          <a:p>
            <a:pPr algn="l"/>
            <a:r>
              <a:rPr lang="ja-JP" altLang="en-US" sz="1400" dirty="0"/>
              <a:t>ICS/OT では「現場作業員」「ベンダー」「保守会社」など範囲が広がりがちなので特に重要です。</a:t>
            </a:r>
          </a:p>
          <a:p>
            <a:pPr algn="l"/>
            <a:endParaRPr lang="ja-JP" altLang="en-US" sz="1400" dirty="0"/>
          </a:p>
          <a:p>
            <a:pPr algn="l"/>
            <a:r>
              <a:rPr lang="ja-JP" altLang="en-US" sz="1400" dirty="0"/>
              <a:t>6. Policy statement（ポリシー本文）</a:t>
            </a:r>
          </a:p>
          <a:p>
            <a:pPr algn="l"/>
            <a:r>
              <a:rPr lang="ja-JP" altLang="en-US" sz="1400" dirty="0"/>
              <a:t>実際に 何をすべきか、どんな原則に従うべきか を記述する最重要部分。</a:t>
            </a:r>
          </a:p>
          <a:p>
            <a:pPr algn="l"/>
            <a:r>
              <a:rPr lang="ja-JP" altLang="en-US" sz="1400" dirty="0"/>
              <a:t>- 組織として望ましい行動</a:t>
            </a:r>
          </a:p>
          <a:p>
            <a:pPr algn="l"/>
            <a:r>
              <a:rPr lang="ja-JP" altLang="en-US" sz="1400" dirty="0"/>
              <a:t>- 守るべきルール</a:t>
            </a:r>
          </a:p>
          <a:p>
            <a:pPr algn="l"/>
            <a:r>
              <a:rPr lang="ja-JP" altLang="en-US" sz="1400" dirty="0"/>
              <a:t>- 判断基準</a:t>
            </a:r>
          </a:p>
          <a:p>
            <a:pPr algn="l"/>
            <a:r>
              <a:rPr lang="ja-JP" altLang="en-US" sz="1400" dirty="0"/>
              <a:t>- 実施すべき行動</a:t>
            </a:r>
          </a:p>
          <a:p>
            <a:pPr algn="l"/>
            <a:r>
              <a:rPr lang="ja-JP" altLang="en-US" sz="1400" dirty="0"/>
              <a:t>などを明確にします。</a:t>
            </a:r>
          </a:p>
          <a:p>
            <a:pPr algn="l"/>
            <a:r>
              <a:rPr lang="ja-JP" altLang="en-US" sz="1400" dirty="0"/>
              <a:t>ここが曖昧だと、現場が迷い、統一した運用ができなくなります。</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715775"/>
            <a:ext cx="6852285" cy="3132497"/>
          </a:xfrm>
        </p:spPr>
        <p:txBody>
          <a:bodyPr>
            <a:normAutofit/>
          </a:bodyPr>
          <a:lstStyle/>
          <a:p>
            <a:pPr algn="l"/>
            <a:r>
              <a:rPr lang="ja-JP" altLang="en-US" sz="1400" dirty="0"/>
              <a:t>家族旅行を例にすると、</a:t>
            </a:r>
          </a:p>
          <a:p>
            <a:pPr algn="l"/>
            <a:r>
              <a:rPr lang="ja-JP" altLang="en-US" sz="1400" dirty="0"/>
              <a:t>ポリシー（方針） は「家族がどこへ行くのか」という“目的地”を示します。</a:t>
            </a:r>
          </a:p>
          <a:p>
            <a:pPr algn="l"/>
            <a:r>
              <a:rPr lang="ja-JP" altLang="en-US" sz="1400" dirty="0"/>
              <a:t>スタンダード（基準） は「いつその場所に着くのか、そこで何をするのか」という“計画の枠組み”を示します。</a:t>
            </a:r>
          </a:p>
          <a:p>
            <a:pPr algn="l"/>
            <a:r>
              <a:rPr lang="ja-JP" altLang="en-US" sz="1400" dirty="0"/>
              <a:t>ガイドライン（指針） は「その地域でおすすめの過ごし方や、やってみると良いこと」といった“提案”です。</a:t>
            </a:r>
          </a:p>
          <a:p>
            <a:pPr algn="l"/>
            <a:r>
              <a:rPr lang="ja-JP" altLang="en-US" sz="1400" dirty="0"/>
              <a:t>手順書（プロシージャ） は「その場所へ行くための具体的な道順」のように、</a:t>
            </a:r>
          </a:p>
          <a:p>
            <a:pPr algn="l"/>
            <a:r>
              <a:rPr lang="ja-JP" altLang="en-US" sz="1400" dirty="0"/>
              <a:t>実際にどうやって行動するかを ステップごとに示すもの です。</a:t>
            </a:r>
          </a:p>
        </p:txBody>
      </p:sp>
      <p:pic>
        <p:nvPicPr>
          <p:cNvPr id="4" name="図 3">
            <a:extLst>
              <a:ext uri="{FF2B5EF4-FFF2-40B4-BE49-F238E27FC236}">
                <a16:creationId xmlns:a16="http://schemas.microsoft.com/office/drawing/2014/main" id="{0754A492-1F56-429F-BFFB-7980843BB1A6}"/>
              </a:ext>
            </a:extLst>
          </p:cNvPr>
          <p:cNvPicPr>
            <a:picLocks noChangeAspect="1"/>
          </p:cNvPicPr>
          <p:nvPr/>
        </p:nvPicPr>
        <p:blipFill>
          <a:blip r:embed="rId2"/>
          <a:stretch>
            <a:fillRect/>
          </a:stretch>
        </p:blipFill>
        <p:spPr>
          <a:xfrm>
            <a:off x="325876" y="97275"/>
            <a:ext cx="6206247" cy="354068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4918" y="3962389"/>
            <a:ext cx="3483918" cy="7438417"/>
          </a:xfrm>
        </p:spPr>
        <p:txBody>
          <a:bodyPr>
            <a:normAutofit/>
          </a:bodyPr>
          <a:lstStyle/>
          <a:p>
            <a:pPr algn="l"/>
            <a:r>
              <a:rPr lang="ja-JP" altLang="en-US" sz="1200" dirty="0"/>
              <a:t>ポリシーをチェックする良い方法として、</a:t>
            </a:r>
          </a:p>
          <a:p>
            <a:pPr algn="l"/>
            <a:r>
              <a:rPr lang="ja-JP" altLang="en-US" sz="1200" dirty="0"/>
              <a:t>SMART（具体的・測定可能・達成可能・関連性・期限） の考え方を使うと効果的です。</a:t>
            </a:r>
          </a:p>
          <a:p>
            <a:pPr algn="l"/>
            <a:r>
              <a:rPr lang="ja-JP" altLang="en-US" sz="1200" dirty="0"/>
              <a:t>SMART 目標を作るのと同じように、SMART なポリシーは実行性が高くなります。</a:t>
            </a:r>
          </a:p>
          <a:p>
            <a:pPr algn="l"/>
            <a:endParaRPr lang="ja-JP" altLang="en-US" sz="1200" dirty="0"/>
          </a:p>
          <a:p>
            <a:pPr algn="l"/>
            <a:r>
              <a:rPr lang="ja-JP" altLang="en-US" sz="1200" dirty="0"/>
              <a:t>ポリシーは“詳細を書くものではない”</a:t>
            </a:r>
          </a:p>
          <a:p>
            <a:pPr algn="l"/>
            <a:r>
              <a:rPr lang="ja-JP" altLang="en-US" sz="1200" dirty="0"/>
              <a:t>ポリシーは 誰が、何をしなければならないか を示す高レベルの文書です。</a:t>
            </a:r>
          </a:p>
          <a:p>
            <a:pPr algn="l"/>
            <a:r>
              <a:rPr lang="ja-JP" altLang="en-US" sz="1200" dirty="0"/>
              <a:t>具体的な手順（ステップバイステップ）は書きません。</a:t>
            </a:r>
          </a:p>
          <a:p>
            <a:pPr algn="l"/>
            <a:r>
              <a:rPr lang="ja-JP" altLang="en-US" sz="1200" dirty="0"/>
              <a:t>- ポリシー：誰が、何をする必要があるか</a:t>
            </a:r>
          </a:p>
          <a:p>
            <a:pPr algn="l"/>
            <a:r>
              <a:rPr lang="ja-JP" altLang="en-US" sz="1200" dirty="0"/>
              <a:t>- 手順書（Procedure）：どうやって実行するか</a:t>
            </a:r>
          </a:p>
          <a:p>
            <a:pPr algn="l"/>
            <a:r>
              <a:rPr lang="ja-JP" altLang="en-US" sz="1200" dirty="0"/>
              <a:t>例：</a:t>
            </a:r>
          </a:p>
          <a:p>
            <a:pPr algn="l"/>
            <a:r>
              <a:rPr lang="ja-JP" altLang="en-US" sz="1200" dirty="0"/>
              <a:t>- ポリシー：「全ユーザーは 90 日ごとにパスワードを変更しなければならない」</a:t>
            </a:r>
          </a:p>
          <a:p>
            <a:pPr algn="l"/>
            <a:r>
              <a:rPr lang="ja-JP" altLang="en-US" sz="1200" dirty="0"/>
              <a:t>- 手順書：「Windows でパスワードを変更する方法」「Linux での変更手順」</a:t>
            </a:r>
          </a:p>
          <a:p>
            <a:pPr algn="l"/>
            <a:r>
              <a:rPr lang="ja-JP" altLang="en-US" sz="1200" dirty="0"/>
              <a:t>一般的に、手順書は頻繁に更新できるが、ポリシーは慎重に更新する必要がある という違いがあります。</a:t>
            </a:r>
          </a:p>
          <a:p>
            <a:pPr algn="l"/>
            <a:endParaRPr lang="ja-JP" altLang="en-US" sz="1200" dirty="0"/>
          </a:p>
          <a:p>
            <a:pPr algn="l"/>
            <a:r>
              <a:rPr lang="ja-JP" altLang="en-US" sz="1200" dirty="0"/>
              <a:t>ポリシーの種類と役割</a:t>
            </a:r>
          </a:p>
          <a:p>
            <a:pPr algn="l"/>
            <a:r>
              <a:rPr lang="ja-JP" altLang="en-US" sz="1200" dirty="0"/>
              <a:t>1. Program Policy（プログラムポリシー）</a:t>
            </a:r>
          </a:p>
          <a:p>
            <a:pPr algn="l"/>
            <a:r>
              <a:rPr lang="ja-JP" altLang="en-US" sz="1200" dirty="0"/>
              <a:t>- 組織全体のセキュリティの“基本方針”を示す最上位のポリシー</a:t>
            </a:r>
          </a:p>
          <a:p>
            <a:pPr algn="l"/>
            <a:r>
              <a:rPr lang="ja-JP" altLang="en-US" sz="1200" dirty="0"/>
              <a:t>- 他のポリシーを作る際の方向性や責任者を定める</a:t>
            </a:r>
          </a:p>
          <a:p>
            <a:pPr algn="l"/>
            <a:r>
              <a:rPr lang="ja-JP" altLang="en-US" sz="1200" dirty="0"/>
              <a:t>- ISO、QS、BS、AS などの業界標準への準拠方針もここに含まれる</a:t>
            </a:r>
          </a:p>
          <a:p>
            <a:pPr algn="l"/>
            <a:r>
              <a:rPr lang="ja-JP" altLang="en-US" sz="1200" dirty="0"/>
              <a:t>ICS/OT で言えば、</a:t>
            </a:r>
          </a:p>
          <a:p>
            <a:pPr algn="l"/>
            <a:r>
              <a:rPr lang="ja-JP" altLang="en-US" sz="1200" dirty="0"/>
              <a:t>「OT ネットワークは安全性と可用性を最優先とする」</a:t>
            </a:r>
          </a:p>
          <a:p>
            <a:pPr algn="l"/>
            <a:r>
              <a:rPr lang="ja-JP" altLang="en-US" sz="1200" dirty="0"/>
              <a:t>といった大方針がこれにあたります。</a:t>
            </a:r>
          </a:p>
        </p:txBody>
      </p:sp>
      <p:pic>
        <p:nvPicPr>
          <p:cNvPr id="4" name="図 3">
            <a:extLst>
              <a:ext uri="{FF2B5EF4-FFF2-40B4-BE49-F238E27FC236}">
                <a16:creationId xmlns:a16="http://schemas.microsoft.com/office/drawing/2014/main" id="{76325D14-063B-472D-AF26-0EDC46D25712}"/>
              </a:ext>
            </a:extLst>
          </p:cNvPr>
          <p:cNvPicPr>
            <a:picLocks noChangeAspect="1"/>
          </p:cNvPicPr>
          <p:nvPr/>
        </p:nvPicPr>
        <p:blipFill>
          <a:blip r:embed="rId2"/>
          <a:stretch>
            <a:fillRect/>
          </a:stretch>
        </p:blipFill>
        <p:spPr>
          <a:xfrm>
            <a:off x="214272" y="136185"/>
            <a:ext cx="6429455" cy="3657600"/>
          </a:xfrm>
          <a:prstGeom prst="rect">
            <a:avLst/>
          </a:prstGeom>
        </p:spPr>
      </p:pic>
      <p:sp>
        <p:nvSpPr>
          <p:cNvPr id="5" name="サブタイトル 2">
            <a:extLst>
              <a:ext uri="{FF2B5EF4-FFF2-40B4-BE49-F238E27FC236}">
                <a16:creationId xmlns:a16="http://schemas.microsoft.com/office/drawing/2014/main" id="{7EC8F1CB-9C39-408F-99F2-D52CD68D0B73}"/>
              </a:ext>
            </a:extLst>
          </p:cNvPr>
          <p:cNvSpPr txBox="1">
            <a:spLocks/>
          </p:cNvSpPr>
          <p:nvPr/>
        </p:nvSpPr>
        <p:spPr>
          <a:xfrm>
            <a:off x="3374082" y="3962389"/>
            <a:ext cx="3483918" cy="7924800"/>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2. Issue-specific Policy（課題別ポリシー）</a:t>
            </a:r>
          </a:p>
          <a:p>
            <a:pPr algn="l"/>
            <a:r>
              <a:rPr lang="ja-JP" altLang="en-US" sz="1200" dirty="0"/>
              <a:t>- 組織内の特定のテーマに対するポリシー</a:t>
            </a:r>
          </a:p>
          <a:p>
            <a:pPr algn="l"/>
            <a:r>
              <a:rPr lang="ja-JP" altLang="en-US" sz="1200" dirty="0"/>
              <a:t>- 例：パスワード管理、インターネット利用、メール利用、リモートアクセスなど</a:t>
            </a:r>
          </a:p>
          <a:p>
            <a:pPr algn="l"/>
            <a:r>
              <a:rPr lang="ja-JP" altLang="en-US" sz="1200" dirty="0"/>
              <a:t>- Program Policy より狭いが、System-specific より広い範囲を扱う</a:t>
            </a:r>
          </a:p>
          <a:p>
            <a:pPr algn="l"/>
            <a:r>
              <a:rPr lang="ja-JP" altLang="en-US" sz="1200" dirty="0"/>
              <a:t>ICS では、</a:t>
            </a:r>
          </a:p>
          <a:p>
            <a:pPr algn="l"/>
            <a:r>
              <a:rPr lang="ja-JP" altLang="en-US" sz="1200" dirty="0"/>
              <a:t>「ベンダーのリモート保守は VPN + MFA を必須とする」</a:t>
            </a:r>
          </a:p>
          <a:p>
            <a:pPr algn="l"/>
            <a:r>
              <a:rPr lang="ja-JP" altLang="en-US" sz="1200" dirty="0"/>
              <a:t>などが該当します。</a:t>
            </a:r>
          </a:p>
          <a:p>
            <a:pPr algn="l"/>
            <a:endParaRPr lang="ja-JP" altLang="en-US" sz="1200" dirty="0"/>
          </a:p>
          <a:p>
            <a:pPr algn="l"/>
            <a:r>
              <a:rPr lang="ja-JP" altLang="en-US" sz="1200" dirty="0"/>
              <a:t>3. System-specific Policy（システム固有ポリシー）</a:t>
            </a:r>
          </a:p>
          <a:p>
            <a:pPr algn="l"/>
            <a:r>
              <a:rPr lang="ja-JP" altLang="en-US" sz="1200" dirty="0"/>
              <a:t>- 特定のシステムごとに必要なポリシー</a:t>
            </a:r>
          </a:p>
          <a:p>
            <a:pPr algn="l"/>
            <a:r>
              <a:rPr lang="ja-JP" altLang="en-US" sz="1200" dirty="0"/>
              <a:t>- 例：SCADA システム、PLC、HMI、Historian など</a:t>
            </a:r>
          </a:p>
          <a:p>
            <a:pPr algn="l"/>
            <a:r>
              <a:rPr lang="ja-JP" altLang="en-US" sz="1200" dirty="0"/>
              <a:t>- 1 </a:t>
            </a:r>
            <a:r>
              <a:rPr lang="ja-JP" altLang="en-US" sz="1200" dirty="0" err="1"/>
              <a:t>つの</a:t>
            </a:r>
            <a:r>
              <a:rPr lang="ja-JP" altLang="en-US" sz="1200" dirty="0"/>
              <a:t>ポリシーで全システムをカバーできない場合に作成する</a:t>
            </a:r>
          </a:p>
          <a:p>
            <a:pPr algn="l"/>
            <a:r>
              <a:rPr lang="ja-JP" altLang="en-US" sz="1200" dirty="0"/>
              <a:t>ICS では、</a:t>
            </a:r>
          </a:p>
          <a:p>
            <a:pPr algn="l"/>
            <a:r>
              <a:rPr lang="ja-JP" altLang="en-US" sz="1200" dirty="0"/>
              <a:t>「PLC のロジック変更は 2 名承認を必須とする」</a:t>
            </a:r>
          </a:p>
          <a:p>
            <a:pPr algn="l"/>
            <a:r>
              <a:rPr lang="ja-JP" altLang="en-US" sz="1200" dirty="0"/>
              <a:t>といった内容が典型です。</a:t>
            </a:r>
          </a:p>
          <a:p>
            <a:pPr algn="l"/>
            <a:endParaRPr lang="ja-JP" altLang="en-US" sz="1200" dirty="0"/>
          </a:p>
          <a:p>
            <a:pPr algn="l"/>
            <a:r>
              <a:rPr lang="ja-JP" altLang="en-US" sz="1200" dirty="0"/>
              <a:t>ポリシーのレビューで確認すべきこと</a:t>
            </a:r>
          </a:p>
          <a:p>
            <a:pPr algn="l"/>
            <a:r>
              <a:rPr lang="ja-JP" altLang="en-US" sz="1200" dirty="0"/>
              <a:t>ポリシーを読んでいて矛盾や不備を見つけたら、必ずメモして修正します。</a:t>
            </a:r>
          </a:p>
          <a:p>
            <a:pPr algn="l"/>
            <a:r>
              <a:rPr lang="ja-JP" altLang="en-US" sz="1200" dirty="0"/>
              <a:t>ポリシーは 正確でなければ意味がありません。</a:t>
            </a:r>
          </a:p>
          <a:p>
            <a:pPr algn="l"/>
            <a:r>
              <a:rPr lang="ja-JP" altLang="en-US" sz="1200" dirty="0"/>
              <a:t>確認すべきポイント：</a:t>
            </a:r>
          </a:p>
          <a:p>
            <a:pPr algn="l"/>
            <a:r>
              <a:rPr lang="ja-JP" altLang="en-US" sz="1200" dirty="0"/>
              <a:t>- 内容に矛盾がないか</a:t>
            </a:r>
          </a:p>
          <a:p>
            <a:pPr algn="l"/>
            <a:r>
              <a:rPr lang="ja-JP" altLang="en-US" sz="1200" dirty="0"/>
              <a:t>- 他のポリシーと衝突していないか</a:t>
            </a:r>
          </a:p>
          <a:p>
            <a:pPr algn="l"/>
            <a:r>
              <a:rPr lang="ja-JP" altLang="en-US" sz="1200" dirty="0"/>
              <a:t>- 最新の脅威やインシデントから学んだ教訓が反映されているか</a:t>
            </a:r>
          </a:p>
          <a:p>
            <a:pPr algn="l"/>
            <a:r>
              <a:rPr lang="ja-JP" altLang="en-US" sz="1200" dirty="0"/>
              <a:t>- 定期的に見直す仕組みがあるか</a:t>
            </a:r>
          </a:p>
          <a:p>
            <a:pPr algn="l"/>
            <a:r>
              <a:rPr lang="ja-JP" altLang="en-US" sz="1200" dirty="0"/>
              <a:t>セキュリティポリシーは 定期的にレビューし、最新化することが必須 です。</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526488"/>
            <a:ext cx="6852285" cy="8535809"/>
          </a:xfrm>
        </p:spPr>
        <p:txBody>
          <a:bodyPr>
            <a:normAutofit fontScale="82500" lnSpcReduction="20000"/>
          </a:bodyPr>
          <a:lstStyle/>
          <a:p>
            <a:pPr algn="l"/>
            <a:r>
              <a:rPr lang="ja-JP" altLang="en-US" sz="1400" dirty="0"/>
              <a:t>ICS セキュリティポリシーを作るときに最初にやるべきことは、</a:t>
            </a:r>
          </a:p>
          <a:p>
            <a:pPr algn="l"/>
            <a:r>
              <a:rPr lang="ja-JP" altLang="en-US" sz="1400" dirty="0"/>
              <a:t>IT 部門がすでに持っている IT セキュリティポリシーを確認すること です。</a:t>
            </a:r>
          </a:p>
          <a:p>
            <a:pPr algn="l"/>
            <a:r>
              <a:rPr lang="ja-JP" altLang="en-US" sz="1400" dirty="0"/>
              <a:t>ICS セキュリティチームがやってはいけないのは、</a:t>
            </a:r>
          </a:p>
          <a:p>
            <a:pPr algn="l"/>
            <a:r>
              <a:rPr lang="ja-JP" altLang="en-US" sz="1400" dirty="0"/>
              <a:t>会社の正式な IT セキュリティポリシーの“例外扱い”になること です。</a:t>
            </a:r>
          </a:p>
          <a:p>
            <a:pPr algn="l"/>
            <a:r>
              <a:rPr lang="ja-JP" altLang="en-US" sz="1400" dirty="0"/>
              <a:t>ICS は例外ではありません。</a:t>
            </a:r>
          </a:p>
          <a:p>
            <a:pPr algn="l"/>
            <a:r>
              <a:rPr lang="ja-JP" altLang="en-US" sz="1400" dirty="0"/>
              <a:t>ただ、IT とは違う制約や要件があるだけ です。</a:t>
            </a:r>
          </a:p>
          <a:p>
            <a:pPr algn="l"/>
            <a:endParaRPr lang="ja-JP" altLang="en-US" sz="1400" dirty="0"/>
          </a:p>
          <a:p>
            <a:pPr algn="l"/>
            <a:r>
              <a:rPr lang="ja-JP" altLang="en-US" sz="1400" dirty="0"/>
              <a:t>IT ポリシーをそのまま使い、ICS 用に調整する</a:t>
            </a:r>
          </a:p>
          <a:p>
            <a:pPr algn="l"/>
            <a:r>
              <a:rPr lang="ja-JP" altLang="en-US" sz="1400" dirty="0"/>
              <a:t>- まずは IT セキュリティポリシーを“コピー”する</a:t>
            </a:r>
          </a:p>
          <a:p>
            <a:pPr algn="l"/>
            <a:r>
              <a:rPr lang="ja-JP" altLang="en-US" sz="1400" dirty="0"/>
              <a:t>- ICS に合わせて スコープ（適用範囲）だけ調整する</a:t>
            </a:r>
          </a:p>
          <a:p>
            <a:pPr algn="l"/>
            <a:r>
              <a:rPr lang="ja-JP" altLang="en-US" sz="1400" dirty="0"/>
              <a:t>- できる限り IT ポリシーに近い形を維持する</a:t>
            </a:r>
          </a:p>
          <a:p>
            <a:pPr algn="l"/>
            <a:r>
              <a:rPr lang="ja-JP" altLang="en-US" sz="1400" dirty="0"/>
              <a:t>こうすることで：</a:t>
            </a:r>
          </a:p>
          <a:p>
            <a:pPr algn="l"/>
            <a:r>
              <a:rPr lang="ja-JP" altLang="en-US" sz="1400" dirty="0"/>
              <a:t>- 会社全体でのポリシー更新が簡単になる</a:t>
            </a:r>
          </a:p>
          <a:p>
            <a:pPr algn="l"/>
            <a:r>
              <a:rPr lang="ja-JP" altLang="en-US" sz="1400" dirty="0"/>
              <a:t>- 「ICS だけ特別扱いなのか」という反発を減らせる</a:t>
            </a:r>
          </a:p>
          <a:p>
            <a:pPr algn="l"/>
            <a:r>
              <a:rPr lang="ja-JP" altLang="en-US" sz="1400" dirty="0"/>
              <a:t>- IT と ICS のポリシーが矛盾しにくくなる</a:t>
            </a:r>
          </a:p>
          <a:p>
            <a:pPr algn="l"/>
            <a:r>
              <a:rPr lang="ja-JP" altLang="en-US" sz="1400" dirty="0"/>
              <a:t>IT と経営層と協力しながら、</a:t>
            </a:r>
          </a:p>
          <a:p>
            <a:pPr algn="l"/>
            <a:r>
              <a:rPr lang="ja-JP" altLang="en-US" sz="1400" dirty="0"/>
              <a:t>IT ポリシーと ICS ポリシーのスコープを調整する のが理想です。</a:t>
            </a:r>
          </a:p>
          <a:p>
            <a:pPr algn="l"/>
            <a:r>
              <a:rPr lang="ja-JP" altLang="en-US" sz="1400" dirty="0"/>
              <a:t>ICS の場合、特に ネットワーク（レイヤー3以下）に関する部分 が IT と異なるため、</a:t>
            </a:r>
          </a:p>
          <a:p>
            <a:pPr algn="l"/>
            <a:r>
              <a:rPr lang="ja-JP" altLang="en-US" sz="1400" dirty="0"/>
              <a:t>そこを中心にスコープを変えていきます。</a:t>
            </a:r>
          </a:p>
          <a:p>
            <a:pPr algn="l"/>
            <a:r>
              <a:rPr lang="ja-JP" altLang="en-US" sz="1400" dirty="0"/>
              <a:t>最終的には：</a:t>
            </a:r>
          </a:p>
          <a:p>
            <a:pPr algn="l"/>
            <a:r>
              <a:rPr lang="ja-JP" altLang="en-US" sz="1400" dirty="0"/>
              <a:t>- 最上位のポリシー（Program Policy）は IT と ICS の両方をカバー</a:t>
            </a:r>
          </a:p>
          <a:p>
            <a:pPr algn="l"/>
            <a:r>
              <a:rPr lang="ja-JP" altLang="en-US" sz="1400" dirty="0"/>
              <a:t>- 中位・下位のポリシーで IT と ICS が分岐していく</a:t>
            </a:r>
          </a:p>
          <a:p>
            <a:pPr algn="l"/>
            <a:r>
              <a:rPr lang="ja-JP" altLang="en-US" sz="1400" dirty="0"/>
              <a:t>という構造が望ましい形になります。</a:t>
            </a:r>
          </a:p>
          <a:p>
            <a:pPr algn="l"/>
            <a:endParaRPr lang="ja-JP" altLang="en-US" sz="1400" dirty="0"/>
          </a:p>
          <a:p>
            <a:pPr algn="l"/>
            <a:r>
              <a:rPr lang="ja-JP" altLang="en-US" sz="1400" dirty="0"/>
              <a:t>ICS ポリシーは“IT 技術ベース”で作るのが基本</a:t>
            </a:r>
          </a:p>
          <a:p>
            <a:pPr algn="l"/>
            <a:r>
              <a:rPr lang="ja-JP" altLang="en-US" sz="1400" dirty="0"/>
              <a:t>ICS 向けのポリシーをゼロから作る場合、</a:t>
            </a:r>
          </a:p>
          <a:p>
            <a:pPr algn="l"/>
            <a:r>
              <a:rPr lang="ja-JP" altLang="en-US" sz="1400" dirty="0"/>
              <a:t>参考にできるテンプレートや資料は多くありますが、</a:t>
            </a:r>
          </a:p>
          <a:p>
            <a:pPr algn="l"/>
            <a:r>
              <a:rPr lang="ja-JP" altLang="en-US" sz="1400" dirty="0"/>
              <a:t>それらはほとんど IT 向けのポリシー です。</a:t>
            </a:r>
          </a:p>
          <a:p>
            <a:pPr algn="l"/>
            <a:r>
              <a:rPr lang="ja-JP" altLang="en-US" sz="1400" dirty="0"/>
              <a:t>しかし、それで問題ありません。</a:t>
            </a:r>
          </a:p>
          <a:p>
            <a:pPr algn="l"/>
            <a:r>
              <a:rPr lang="ja-JP" altLang="en-US" sz="1400" dirty="0"/>
              <a:t>なぜなら：</a:t>
            </a:r>
          </a:p>
          <a:p>
            <a:pPr algn="l"/>
            <a:r>
              <a:rPr lang="ja-JP" altLang="en-US" sz="1400" dirty="0"/>
              <a:t>- ICS が脆弱な理由の多くは IT 技術をベースにしているから</a:t>
            </a:r>
          </a:p>
          <a:p>
            <a:pPr algn="l"/>
            <a:r>
              <a:rPr lang="ja-JP" altLang="en-US" sz="1400" dirty="0"/>
              <a:t>- ICS を守るための対策も IT セキュリティ技術が中心</a:t>
            </a:r>
          </a:p>
          <a:p>
            <a:pPr algn="l"/>
            <a:r>
              <a:rPr lang="ja-JP" altLang="en-US" sz="1400" dirty="0"/>
              <a:t>- そのため ICS ポリシーの大部分は IT ポリシーを ICS 用に調整したもの で十分</a:t>
            </a:r>
          </a:p>
          <a:p>
            <a:pPr algn="l"/>
            <a:r>
              <a:rPr lang="ja-JP" altLang="en-US" sz="1400" dirty="0"/>
              <a:t>テンプレートは、</a:t>
            </a:r>
          </a:p>
          <a:p>
            <a:pPr algn="l"/>
            <a:r>
              <a:rPr lang="ja-JP" altLang="en-US" sz="1400" dirty="0"/>
              <a:t>- ポリシー作成の出発点として</a:t>
            </a:r>
          </a:p>
          <a:p>
            <a:pPr algn="l"/>
            <a:r>
              <a:rPr lang="ja-JP" altLang="en-US" sz="1400" dirty="0"/>
              <a:t>- 既存ポリシーのギャップ分析の材料として</a:t>
            </a:r>
          </a:p>
          <a:p>
            <a:pPr algn="l"/>
            <a:r>
              <a:rPr lang="ja-JP" altLang="en-US" sz="1400" dirty="0"/>
              <a:t>非常に役に立ちます。</a:t>
            </a:r>
          </a:p>
        </p:txBody>
      </p:sp>
      <p:pic>
        <p:nvPicPr>
          <p:cNvPr id="4" name="図 3">
            <a:extLst>
              <a:ext uri="{FF2B5EF4-FFF2-40B4-BE49-F238E27FC236}">
                <a16:creationId xmlns:a16="http://schemas.microsoft.com/office/drawing/2014/main" id="{17939A82-A99E-4B1E-ADEF-848A9E8C4389}"/>
              </a:ext>
            </a:extLst>
          </p:cNvPr>
          <p:cNvPicPr>
            <a:picLocks noChangeAspect="1"/>
          </p:cNvPicPr>
          <p:nvPr/>
        </p:nvPicPr>
        <p:blipFill>
          <a:blip r:embed="rId2"/>
          <a:stretch>
            <a:fillRect/>
          </a:stretch>
        </p:blipFill>
        <p:spPr>
          <a:xfrm>
            <a:off x="556482" y="97275"/>
            <a:ext cx="5739319" cy="3274296"/>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240273"/>
            <a:ext cx="3429000" cy="8899839"/>
          </a:xfrm>
        </p:spPr>
        <p:txBody>
          <a:bodyPr>
            <a:noAutofit/>
          </a:bodyPr>
          <a:lstStyle/>
          <a:p>
            <a:pPr algn="l"/>
            <a:r>
              <a:rPr lang="ja-JP" altLang="en-US" sz="1200" dirty="0"/>
              <a:t>ISO 27001 が要求する文書（ICS 向けに分かりやすく解説）</a:t>
            </a:r>
          </a:p>
          <a:p>
            <a:pPr algn="l"/>
            <a:r>
              <a:rPr lang="ja-JP" altLang="en-US" sz="1200" dirty="0"/>
              <a:t>◆ Policies（ポリシー：組織の方針）</a:t>
            </a:r>
          </a:p>
          <a:p>
            <a:pPr algn="l"/>
            <a:r>
              <a:rPr lang="ja-JP" altLang="en-US" sz="1200" dirty="0"/>
              <a:t>1. ISMS の適用範囲（4.3）</a:t>
            </a:r>
          </a:p>
          <a:p>
            <a:pPr algn="l"/>
            <a:r>
              <a:rPr lang="ja-JP" altLang="en-US" sz="1200" dirty="0"/>
              <a:t>情報セキュリティマネジメントシステムが どこまでを対象にするか を定義する文書。</a:t>
            </a:r>
          </a:p>
          <a:p>
            <a:pPr algn="l"/>
            <a:r>
              <a:rPr lang="ja-JP" altLang="en-US" sz="1200" dirty="0"/>
              <a:t>ICS では「OT ネットワークのどこまで含むか」が重要。</a:t>
            </a:r>
          </a:p>
          <a:p>
            <a:pPr algn="l"/>
            <a:r>
              <a:rPr lang="ja-JP" altLang="en-US" sz="1200" dirty="0"/>
              <a:t>2. 情報セキュリティ方針と目標（5.2 / 6.2）</a:t>
            </a:r>
          </a:p>
          <a:p>
            <a:pPr algn="l"/>
            <a:r>
              <a:rPr lang="ja-JP" altLang="en-US" sz="1200" dirty="0"/>
              <a:t>組織としてのセキュリティの大方針と、達成すべき目標を定める。</a:t>
            </a:r>
          </a:p>
          <a:p>
            <a:pPr algn="l"/>
            <a:r>
              <a:rPr lang="ja-JP" altLang="en-US" sz="1200" dirty="0"/>
              <a:t>ICS では「安全性（Safety）と可用性（Availability）を最優先」といった内容が入る。</a:t>
            </a:r>
          </a:p>
          <a:p>
            <a:pPr algn="l"/>
            <a:r>
              <a:rPr lang="ja-JP" altLang="en-US" sz="1200" dirty="0"/>
              <a:t>3. リスクアセスメントとリスク対応の方法論（6.1.2）</a:t>
            </a:r>
          </a:p>
          <a:p>
            <a:pPr algn="l"/>
            <a:r>
              <a:rPr lang="ja-JP" altLang="en-US" sz="1200" dirty="0"/>
              <a:t>リスクをどう評価し、どう対処するかの“やり方”を定義する文書。</a:t>
            </a:r>
          </a:p>
          <a:p>
            <a:pPr algn="l"/>
            <a:r>
              <a:rPr lang="ja-JP" altLang="en-US" sz="1200" dirty="0"/>
              <a:t>4. 適用宣言書（Statement of Applicability, SoA）（6.1.3 d）</a:t>
            </a:r>
          </a:p>
          <a:p>
            <a:pPr algn="l"/>
            <a:r>
              <a:rPr lang="ja-JP" altLang="en-US" sz="1200" dirty="0"/>
              <a:t>ISO 27001 の管理策のうち、</a:t>
            </a:r>
          </a:p>
          <a:p>
            <a:pPr algn="l"/>
            <a:r>
              <a:rPr lang="ja-JP" altLang="en-US" sz="1200" dirty="0"/>
              <a:t>どれを採用し、どれを採用しないか を明確にする文書。</a:t>
            </a:r>
          </a:p>
          <a:p>
            <a:pPr algn="l"/>
            <a:r>
              <a:rPr lang="ja-JP" altLang="en-US" sz="1200" dirty="0"/>
              <a:t>ICS では OT 特有の理由で「適用しない」項目も出てくる。</a:t>
            </a:r>
          </a:p>
          <a:p>
            <a:pPr algn="l"/>
            <a:r>
              <a:rPr lang="ja-JP" altLang="en-US" sz="1200" dirty="0"/>
              <a:t>5. セキュリティの役割と責任の定義（A.7.1.2 / A.13.2.4）</a:t>
            </a:r>
          </a:p>
          <a:p>
            <a:pPr algn="l"/>
            <a:r>
              <a:rPr lang="ja-JP" altLang="en-US" sz="1200" dirty="0"/>
              <a:t>誰が何を担当するかを明確にする。</a:t>
            </a:r>
          </a:p>
          <a:p>
            <a:pPr algn="l"/>
            <a:r>
              <a:rPr lang="ja-JP" altLang="en-US" sz="1200" dirty="0"/>
              <a:t>ICS では OT エンジニア、ベンダー、IT、SOC など役割が多いので特に重要。</a:t>
            </a:r>
          </a:p>
          <a:p>
            <a:pPr algn="l"/>
            <a:r>
              <a:rPr lang="ja-JP" altLang="en-US" sz="1200" dirty="0"/>
              <a:t>6. 資産の適切な利用（A.8.1.3）</a:t>
            </a:r>
          </a:p>
          <a:p>
            <a:pPr algn="l"/>
            <a:r>
              <a:rPr lang="ja-JP" altLang="en-US" sz="1200" dirty="0"/>
              <a:t>機器やデータをどう扱うべきかのルール。</a:t>
            </a:r>
          </a:p>
          <a:p>
            <a:pPr algn="l"/>
            <a:r>
              <a:rPr lang="ja-JP" altLang="en-US" sz="1200" dirty="0"/>
              <a:t>例：USB 使用禁止、HMI の利用制限など。</a:t>
            </a:r>
          </a:p>
          <a:p>
            <a:pPr algn="l"/>
            <a:r>
              <a:rPr lang="ja-JP" altLang="en-US" sz="1200" dirty="0"/>
              <a:t>7. アクセス制御ポリシー（A.9.1.1）</a:t>
            </a:r>
          </a:p>
          <a:p>
            <a:pPr algn="l"/>
            <a:r>
              <a:rPr lang="ja-JP" altLang="en-US" sz="1200" dirty="0"/>
              <a:t>誰がどのシステムにアクセスできるかを定める。</a:t>
            </a:r>
          </a:p>
          <a:p>
            <a:pPr algn="l"/>
            <a:r>
              <a:rPr lang="ja-JP" altLang="en-US" sz="1200" dirty="0"/>
              <a:t>ICS では「共有アカウント禁止」「最小権限」が重要。</a:t>
            </a:r>
          </a:p>
          <a:p>
            <a:pPr algn="l"/>
            <a:r>
              <a:rPr lang="ja-JP" altLang="en-US" sz="1200" dirty="0"/>
              <a:t>8. セキュアなシステム設計原則（A.14.2.5）</a:t>
            </a:r>
          </a:p>
          <a:p>
            <a:pPr algn="l"/>
            <a:r>
              <a:rPr lang="ja-JP" altLang="en-US" sz="1200" dirty="0"/>
              <a:t>安全なシステム設計の基本方針。</a:t>
            </a:r>
          </a:p>
          <a:p>
            <a:pPr algn="l"/>
            <a:r>
              <a:rPr lang="ja-JP" altLang="en-US" sz="1200" dirty="0"/>
              <a:t>ICS では「ネットワーク分離」「セル/ゾーンモデル」などが該当。</a:t>
            </a:r>
          </a:p>
          <a:p>
            <a:pPr algn="l"/>
            <a:endParaRPr lang="ja-JP" altLang="en-US" sz="1200" dirty="0"/>
          </a:p>
        </p:txBody>
      </p:sp>
      <p:pic>
        <p:nvPicPr>
          <p:cNvPr id="4" name="図 3">
            <a:extLst>
              <a:ext uri="{FF2B5EF4-FFF2-40B4-BE49-F238E27FC236}">
                <a16:creationId xmlns:a16="http://schemas.microsoft.com/office/drawing/2014/main" id="{837AACF5-2667-4EED-AB5A-E521765895F2}"/>
              </a:ext>
            </a:extLst>
          </p:cNvPr>
          <p:cNvPicPr>
            <a:picLocks noChangeAspect="1"/>
          </p:cNvPicPr>
          <p:nvPr/>
        </p:nvPicPr>
        <p:blipFill>
          <a:blip r:embed="rId2"/>
          <a:stretch>
            <a:fillRect/>
          </a:stretch>
        </p:blipFill>
        <p:spPr>
          <a:xfrm>
            <a:off x="710163" y="90798"/>
            <a:ext cx="5437674" cy="3093395"/>
          </a:xfrm>
          <a:prstGeom prst="rect">
            <a:avLst/>
          </a:prstGeom>
        </p:spPr>
      </p:pic>
      <p:sp>
        <p:nvSpPr>
          <p:cNvPr id="5" name="サブタイトル 2">
            <a:extLst>
              <a:ext uri="{FF2B5EF4-FFF2-40B4-BE49-F238E27FC236}">
                <a16:creationId xmlns:a16="http://schemas.microsoft.com/office/drawing/2014/main" id="{EC4F2221-7A21-4B3B-A0DD-F2860BE6CE14}"/>
              </a:ext>
            </a:extLst>
          </p:cNvPr>
          <p:cNvSpPr txBox="1">
            <a:spLocks/>
          </p:cNvSpPr>
          <p:nvPr/>
        </p:nvSpPr>
        <p:spPr>
          <a:xfrm>
            <a:off x="3429000" y="3240272"/>
            <a:ext cx="3429000" cy="6839850"/>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9. サプライヤーセキュリティポリシー（A.15.1.1）</a:t>
            </a:r>
          </a:p>
          <a:p>
            <a:pPr algn="l"/>
            <a:r>
              <a:rPr lang="ja-JP" altLang="en-US" sz="1200" dirty="0"/>
              <a:t>ベンダーや外部委託先に求めるセキュリティ要件。</a:t>
            </a:r>
          </a:p>
          <a:p>
            <a:pPr algn="l"/>
            <a:r>
              <a:rPr lang="ja-JP" altLang="en-US" sz="1200" dirty="0"/>
              <a:t>ICS ではリモート保守や PLC ベンダーが関わるため必須。</a:t>
            </a:r>
          </a:p>
          <a:p>
            <a:pPr algn="l"/>
            <a:r>
              <a:rPr lang="ja-JP" altLang="en-US" sz="1200" dirty="0"/>
              <a:t>◆ Procedures（手順書：実際のやり方）</a:t>
            </a:r>
          </a:p>
          <a:p>
            <a:pPr algn="l"/>
            <a:r>
              <a:rPr lang="ja-JP" altLang="en-US" sz="1200" dirty="0"/>
              <a:t>1. リスク対応計画（6.1.3 e / 6.2）</a:t>
            </a:r>
          </a:p>
          <a:p>
            <a:pPr algn="l"/>
            <a:r>
              <a:rPr lang="ja-JP" altLang="en-US" sz="1200" dirty="0"/>
              <a:t>リスクをどう処理するかの具体的な計画。</a:t>
            </a:r>
          </a:p>
          <a:p>
            <a:pPr algn="l"/>
            <a:r>
              <a:rPr lang="ja-JP" altLang="en-US" sz="1200" dirty="0"/>
              <a:t>2. IT 管理の運用手順（A.12.1.1）</a:t>
            </a:r>
          </a:p>
          <a:p>
            <a:pPr algn="l"/>
            <a:r>
              <a:rPr lang="ja-JP" altLang="en-US" sz="1200" dirty="0"/>
              <a:t>システム運用の具体的な手順。</a:t>
            </a:r>
          </a:p>
          <a:p>
            <a:pPr algn="l"/>
            <a:r>
              <a:rPr lang="ja-JP" altLang="en-US" sz="1200" dirty="0"/>
              <a:t>ICS では OT ネットワークの運用手順に置き換えられる。</a:t>
            </a:r>
          </a:p>
          <a:p>
            <a:pPr algn="l"/>
            <a:r>
              <a:rPr lang="ja-JP" altLang="en-US" sz="1200" dirty="0"/>
              <a:t>3. インシデント管理手順（A.16.1.5）</a:t>
            </a:r>
          </a:p>
          <a:p>
            <a:pPr algn="l"/>
            <a:r>
              <a:rPr lang="ja-JP" altLang="en-US" sz="1200" dirty="0"/>
              <a:t>インシデントが起きたときの対応手順。</a:t>
            </a:r>
          </a:p>
          <a:p>
            <a:pPr algn="l"/>
            <a:r>
              <a:rPr lang="ja-JP" altLang="en-US" sz="1200" dirty="0"/>
              <a:t>ICS では「安全停止」「手動運転切替」などが追加される。</a:t>
            </a:r>
          </a:p>
          <a:p>
            <a:pPr algn="l"/>
            <a:r>
              <a:rPr lang="ja-JP" altLang="en-US" sz="1200" dirty="0"/>
              <a:t>4. 事業継続手順（A.17.1.2）</a:t>
            </a:r>
          </a:p>
          <a:p>
            <a:pPr algn="l"/>
            <a:r>
              <a:rPr lang="ja-JP" altLang="en-US" sz="1200" dirty="0"/>
              <a:t>災害やサイバー攻撃後に業務を継続・復旧するための手順。</a:t>
            </a:r>
          </a:p>
          <a:p>
            <a:pPr algn="l"/>
            <a:r>
              <a:rPr lang="ja-JP" altLang="en-US" sz="1200" dirty="0"/>
              <a:t>ICS では「プロセスの復旧」が中心。</a:t>
            </a:r>
          </a:p>
          <a:p>
            <a:pPr algn="l"/>
            <a:r>
              <a:rPr lang="ja-JP" altLang="en-US" sz="1200" dirty="0"/>
              <a:t>◆ Other（その他の必須文書）</a:t>
            </a:r>
          </a:p>
          <a:p>
            <a:pPr algn="l"/>
            <a:r>
              <a:rPr lang="ja-JP" altLang="en-US" sz="1200" dirty="0"/>
              <a:t>1. 資産台帳（A.8.1.1）</a:t>
            </a:r>
          </a:p>
          <a:p>
            <a:pPr algn="l"/>
            <a:r>
              <a:rPr lang="ja-JP" altLang="en-US" sz="1200" dirty="0"/>
              <a:t>すべての資産（機器、ソフト、データ）の一覧。</a:t>
            </a:r>
          </a:p>
          <a:p>
            <a:pPr algn="l"/>
            <a:r>
              <a:rPr lang="ja-JP" altLang="en-US" sz="1200" dirty="0"/>
              <a:t>ICS では PLC、HMI、RTU、SCADA、ネットワーク機器などが対象。</a:t>
            </a:r>
          </a:p>
          <a:p>
            <a:pPr algn="l"/>
            <a:r>
              <a:rPr lang="ja-JP" altLang="en-US" sz="1200" dirty="0"/>
              <a:t>2. リスクアセスメント報告書（8.2）</a:t>
            </a:r>
          </a:p>
          <a:p>
            <a:pPr algn="l"/>
            <a:r>
              <a:rPr lang="ja-JP" altLang="en-US" sz="1200" dirty="0"/>
              <a:t>リスク評価の結果をまとめた文書。</a:t>
            </a:r>
          </a:p>
          <a:p>
            <a:pPr algn="l"/>
            <a:r>
              <a:rPr lang="ja-JP" altLang="en-US" sz="1200" dirty="0"/>
              <a:t>ICS では「プロセスへの影響」も含める必要がある。</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C9B527EE-CB2D-4A42-AAD5-EE16FFF9CBB2}"/>
              </a:ext>
            </a:extLst>
          </p:cNvPr>
          <p:cNvPicPr>
            <a:picLocks noChangeAspect="1"/>
          </p:cNvPicPr>
          <p:nvPr/>
        </p:nvPicPr>
        <p:blipFill>
          <a:blip r:embed="rId2"/>
          <a:stretch>
            <a:fillRect/>
          </a:stretch>
        </p:blipFill>
        <p:spPr>
          <a:xfrm>
            <a:off x="128774" y="136187"/>
            <a:ext cx="6600451" cy="3754877"/>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428999" y="0"/>
            <a:ext cx="3429001" cy="13171252"/>
          </a:xfrm>
        </p:spPr>
        <p:txBody>
          <a:bodyPr>
            <a:noAutofit/>
          </a:bodyPr>
          <a:lstStyle/>
          <a:p>
            <a:pPr algn="l"/>
            <a:r>
              <a:rPr lang="ja-JP" altLang="en-US" sz="700" dirty="0"/>
              <a:t>9. バックアップポリシー（A.12.3.1）</a:t>
            </a:r>
          </a:p>
          <a:p>
            <a:pPr algn="l"/>
            <a:r>
              <a:rPr lang="ja-JP" altLang="en-US" sz="700" dirty="0"/>
              <a:t>バックアップの取得・保存・復元のルール。</a:t>
            </a:r>
          </a:p>
          <a:p>
            <a:pPr algn="l"/>
            <a:r>
              <a:rPr lang="ja-JP" altLang="en-US" sz="700" dirty="0"/>
              <a:t>ICS では：</a:t>
            </a:r>
          </a:p>
          <a:p>
            <a:pPr algn="l"/>
            <a:r>
              <a:rPr lang="ja-JP" altLang="en-US" sz="700" dirty="0"/>
              <a:t>- PLC/HMI 設定</a:t>
            </a:r>
          </a:p>
          <a:p>
            <a:pPr algn="l"/>
            <a:r>
              <a:rPr lang="ja-JP" altLang="en-US" sz="700" dirty="0"/>
              <a:t>- Historian</a:t>
            </a:r>
          </a:p>
          <a:p>
            <a:pPr algn="l"/>
            <a:r>
              <a:rPr lang="ja-JP" altLang="en-US" sz="700" dirty="0"/>
              <a:t>- SCADA サーバ</a:t>
            </a:r>
          </a:p>
          <a:p>
            <a:pPr algn="l"/>
            <a:r>
              <a:rPr lang="ja-JP" altLang="en-US" sz="700" dirty="0"/>
              <a:t>のバックアップが必須。</a:t>
            </a:r>
          </a:p>
          <a:p>
            <a:pPr algn="l"/>
            <a:endParaRPr lang="ja-JP" altLang="en-US" sz="700" dirty="0"/>
          </a:p>
          <a:p>
            <a:pPr algn="l"/>
            <a:r>
              <a:rPr lang="ja-JP" altLang="en-US" sz="700" dirty="0"/>
              <a:t>10. 情報転送ポリシー（A.13.2.x）</a:t>
            </a:r>
          </a:p>
          <a:p>
            <a:pPr algn="l"/>
            <a:r>
              <a:rPr lang="ja-JP" altLang="en-US" sz="700" dirty="0"/>
              <a:t>データを外部に送る際のルール。</a:t>
            </a:r>
          </a:p>
          <a:p>
            <a:pPr algn="l"/>
            <a:r>
              <a:rPr lang="ja-JP" altLang="en-US" sz="700" dirty="0"/>
              <a:t>ICS では：</a:t>
            </a:r>
          </a:p>
          <a:p>
            <a:pPr algn="l"/>
            <a:r>
              <a:rPr lang="ja-JP" altLang="en-US" sz="700" dirty="0"/>
              <a:t>- ベンダーへのログ提供</a:t>
            </a:r>
          </a:p>
          <a:p>
            <a:pPr algn="l"/>
            <a:r>
              <a:rPr lang="ja-JP" altLang="en-US" sz="700" dirty="0"/>
              <a:t>- OT → IT へのデータ転送</a:t>
            </a:r>
          </a:p>
          <a:p>
            <a:pPr algn="l"/>
            <a:r>
              <a:rPr lang="ja-JP" altLang="en-US" sz="700" dirty="0"/>
              <a:t>が該当。</a:t>
            </a:r>
          </a:p>
          <a:p>
            <a:pPr algn="l"/>
            <a:endParaRPr lang="ja-JP" altLang="en-US" sz="700" dirty="0"/>
          </a:p>
          <a:p>
            <a:pPr algn="l"/>
            <a:r>
              <a:rPr lang="ja-JP" altLang="en-US" sz="700" dirty="0"/>
              <a:t>11. 事業継続戦略（A.17.2.1）</a:t>
            </a:r>
          </a:p>
          <a:p>
            <a:pPr algn="l"/>
            <a:r>
              <a:rPr lang="ja-JP" altLang="en-US" sz="700" dirty="0"/>
              <a:t>災害や攻撃後に業務を継続するための戦略。</a:t>
            </a:r>
          </a:p>
          <a:p>
            <a:pPr algn="l"/>
            <a:r>
              <a:rPr lang="ja-JP" altLang="en-US" sz="700" dirty="0"/>
              <a:t>ICS では：</a:t>
            </a:r>
          </a:p>
          <a:p>
            <a:pPr algn="l"/>
            <a:r>
              <a:rPr lang="ja-JP" altLang="en-US" sz="700" dirty="0"/>
              <a:t>- プロセスの継続</a:t>
            </a:r>
          </a:p>
          <a:p>
            <a:pPr algn="l"/>
            <a:r>
              <a:rPr lang="ja-JP" altLang="en-US" sz="700" dirty="0"/>
              <a:t>- 手動運転への切替</a:t>
            </a:r>
          </a:p>
          <a:p>
            <a:pPr algn="l"/>
            <a:r>
              <a:rPr lang="ja-JP" altLang="en-US" sz="700" dirty="0"/>
              <a:t>が重要。</a:t>
            </a:r>
          </a:p>
          <a:p>
            <a:pPr algn="l"/>
            <a:endParaRPr lang="ja-JP" altLang="en-US" sz="700" dirty="0"/>
          </a:p>
          <a:p>
            <a:pPr algn="l"/>
            <a:r>
              <a:rPr lang="ja-JP" altLang="en-US" sz="700" dirty="0"/>
              <a:t>◆ Procedures（手順書：実際のやり方）</a:t>
            </a:r>
          </a:p>
          <a:p>
            <a:pPr algn="l"/>
            <a:r>
              <a:rPr lang="ja-JP" altLang="en-US" sz="700" dirty="0"/>
              <a:t>1. 文書管理手順（7.5）</a:t>
            </a:r>
          </a:p>
          <a:p>
            <a:pPr algn="l"/>
            <a:r>
              <a:rPr lang="ja-JP" altLang="en-US" sz="700" dirty="0"/>
              <a:t>文書の作成・更新・廃止の手順。</a:t>
            </a:r>
          </a:p>
          <a:p>
            <a:pPr algn="l"/>
            <a:endParaRPr lang="ja-JP" altLang="en-US" sz="700" dirty="0"/>
          </a:p>
          <a:p>
            <a:pPr algn="l"/>
            <a:r>
              <a:rPr lang="ja-JP" altLang="en-US" sz="700" dirty="0"/>
              <a:t>2. 内部監査手順（9.2）</a:t>
            </a:r>
          </a:p>
          <a:p>
            <a:pPr algn="l"/>
            <a:r>
              <a:rPr lang="ja-JP" altLang="en-US" sz="700" dirty="0"/>
              <a:t>内部監査をどう実施するか。</a:t>
            </a:r>
          </a:p>
          <a:p>
            <a:pPr algn="l"/>
            <a:r>
              <a:rPr lang="ja-JP" altLang="en-US" sz="700" dirty="0"/>
              <a:t>ICS では：</a:t>
            </a:r>
          </a:p>
          <a:p>
            <a:pPr algn="l"/>
            <a:r>
              <a:rPr lang="ja-JP" altLang="en-US" sz="700" dirty="0"/>
              <a:t>- OT ネットワークの監査</a:t>
            </a:r>
          </a:p>
          <a:p>
            <a:pPr algn="l"/>
            <a:r>
              <a:rPr lang="ja-JP" altLang="en-US" sz="700" dirty="0"/>
              <a:t>- アクセス権の監査</a:t>
            </a:r>
          </a:p>
          <a:p>
            <a:pPr algn="l"/>
            <a:r>
              <a:rPr lang="ja-JP" altLang="en-US" sz="700" dirty="0"/>
              <a:t>など。</a:t>
            </a:r>
          </a:p>
          <a:p>
            <a:pPr algn="l"/>
            <a:endParaRPr lang="ja-JP" altLang="en-US" sz="700" dirty="0"/>
          </a:p>
          <a:p>
            <a:pPr algn="l"/>
            <a:r>
              <a:rPr lang="ja-JP" altLang="en-US" sz="700" dirty="0"/>
              <a:t>3. 是正処置手順（10.1）</a:t>
            </a:r>
          </a:p>
          <a:p>
            <a:pPr algn="l"/>
            <a:r>
              <a:rPr lang="ja-JP" altLang="en-US" sz="700" dirty="0"/>
              <a:t>問題が見つかったときの修正手順。</a:t>
            </a:r>
          </a:p>
          <a:p>
            <a:pPr algn="l"/>
            <a:endParaRPr lang="ja-JP" altLang="en-US" sz="700" dirty="0"/>
          </a:p>
          <a:p>
            <a:pPr algn="l"/>
            <a:r>
              <a:rPr lang="ja-JP" altLang="en-US" sz="700" dirty="0"/>
              <a:t>4. セキュアエリアでの作業手順（A.11.1.5）</a:t>
            </a:r>
          </a:p>
          <a:p>
            <a:pPr algn="l"/>
            <a:r>
              <a:rPr lang="ja-JP" altLang="en-US" sz="700" dirty="0"/>
              <a:t>制御室やサーバ室などでの作業ルール。</a:t>
            </a:r>
          </a:p>
          <a:p>
            <a:pPr algn="l"/>
            <a:endParaRPr lang="ja-JP" altLang="en-US" sz="700" dirty="0"/>
          </a:p>
          <a:p>
            <a:pPr algn="l"/>
            <a:r>
              <a:rPr lang="ja-JP" altLang="en-US" sz="700" dirty="0"/>
              <a:t>5. 演習・テスト計画（A.17.1.3）</a:t>
            </a:r>
          </a:p>
          <a:p>
            <a:pPr algn="l"/>
            <a:r>
              <a:rPr lang="ja-JP" altLang="en-US" sz="700" dirty="0"/>
              <a:t>BCP/DR（事業継続・災害復旧）の演習手順。</a:t>
            </a:r>
          </a:p>
          <a:p>
            <a:pPr algn="l"/>
            <a:r>
              <a:rPr lang="ja-JP" altLang="en-US" sz="700" dirty="0"/>
              <a:t>ICS では：</a:t>
            </a:r>
          </a:p>
          <a:p>
            <a:pPr algn="l"/>
            <a:r>
              <a:rPr lang="ja-JP" altLang="en-US" sz="700" dirty="0"/>
              <a:t>- 手動運転切替の訓練</a:t>
            </a:r>
          </a:p>
          <a:p>
            <a:pPr algn="l"/>
            <a:r>
              <a:rPr lang="ja-JP" altLang="en-US" sz="700" dirty="0"/>
              <a:t>- SCADA 復旧演習</a:t>
            </a:r>
          </a:p>
          <a:p>
            <a:pPr algn="l"/>
            <a:r>
              <a:rPr lang="ja-JP" altLang="en-US" sz="700" dirty="0"/>
              <a:t>が該当。</a:t>
            </a:r>
          </a:p>
          <a:p>
            <a:pPr algn="l"/>
            <a:endParaRPr lang="ja-JP" altLang="en-US" sz="700" dirty="0"/>
          </a:p>
          <a:p>
            <a:pPr algn="l"/>
            <a:r>
              <a:rPr lang="ja-JP" altLang="en-US" sz="700" dirty="0"/>
              <a:t>6. メンテナンス・レビュー計画（A.17.1.3）</a:t>
            </a:r>
          </a:p>
          <a:p>
            <a:pPr algn="l"/>
            <a:r>
              <a:rPr lang="ja-JP" altLang="en-US" sz="700" dirty="0"/>
              <a:t>BCP/DR の定期見直し手順。</a:t>
            </a:r>
          </a:p>
          <a:p>
            <a:pPr algn="l"/>
            <a:endParaRPr lang="ja-JP" altLang="en-US" sz="700" dirty="0"/>
          </a:p>
          <a:p>
            <a:pPr algn="l"/>
            <a:r>
              <a:rPr lang="ja-JP" altLang="en-US" sz="700" dirty="0"/>
              <a:t>◆ Other（その他）</a:t>
            </a:r>
          </a:p>
          <a:p>
            <a:pPr algn="l"/>
            <a:r>
              <a:rPr lang="ja-JP" altLang="en-US" sz="700" dirty="0"/>
              <a:t>1. ビジネス影響分析（BIA）（A.17.1.1）</a:t>
            </a:r>
          </a:p>
          <a:p>
            <a:pPr algn="l"/>
            <a:r>
              <a:rPr lang="ja-JP" altLang="en-US" sz="700" dirty="0"/>
              <a:t>停止した場合の影響を分析する文書。</a:t>
            </a:r>
          </a:p>
          <a:p>
            <a:pPr algn="l"/>
            <a:r>
              <a:rPr lang="ja-JP" altLang="en-US" sz="700" dirty="0"/>
              <a:t>ICS では：</a:t>
            </a:r>
          </a:p>
          <a:p>
            <a:pPr algn="l"/>
            <a:r>
              <a:rPr lang="ja-JP" altLang="en-US" sz="700" dirty="0"/>
              <a:t>- プロセス停止の影響</a:t>
            </a:r>
          </a:p>
          <a:p>
            <a:pPr algn="l"/>
            <a:r>
              <a:rPr lang="ja-JP" altLang="en-US" sz="700" dirty="0"/>
              <a:t>- 安全リスク</a:t>
            </a:r>
          </a:p>
          <a:p>
            <a:pPr algn="l"/>
            <a:r>
              <a:rPr lang="ja-JP" altLang="en-US" sz="700" dirty="0"/>
              <a:t>- 生産損失</a:t>
            </a:r>
          </a:p>
          <a:p>
            <a:pPr algn="l"/>
            <a:r>
              <a:rPr lang="ja-JP" altLang="en-US" sz="700" dirty="0"/>
              <a:t>などを評価。</a:t>
            </a:r>
          </a:p>
        </p:txBody>
      </p:sp>
      <p:sp>
        <p:nvSpPr>
          <p:cNvPr id="5" name="サブタイトル 2">
            <a:extLst>
              <a:ext uri="{FF2B5EF4-FFF2-40B4-BE49-F238E27FC236}">
                <a16:creationId xmlns:a16="http://schemas.microsoft.com/office/drawing/2014/main" id="{E4B9BBC8-D52B-4BB4-83BE-50BEB45A8B8B}"/>
              </a:ext>
            </a:extLst>
          </p:cNvPr>
          <p:cNvSpPr txBox="1">
            <a:spLocks/>
          </p:cNvSpPr>
          <p:nvPr/>
        </p:nvSpPr>
        <p:spPr>
          <a:xfrm>
            <a:off x="0" y="0"/>
            <a:ext cx="3429000" cy="13369047"/>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700" dirty="0"/>
              <a:t>ISO 27001 が推奨する文書（ICS 向けに分かりやすく解説）</a:t>
            </a:r>
          </a:p>
          <a:p>
            <a:pPr algn="l"/>
            <a:endParaRPr lang="ja-JP" altLang="en-US" sz="700" dirty="0"/>
          </a:p>
          <a:p>
            <a:pPr algn="l"/>
            <a:r>
              <a:rPr lang="ja-JP" altLang="en-US" sz="700" dirty="0"/>
              <a:t>◆ Policies（ポリシー：組織のルール）</a:t>
            </a:r>
          </a:p>
          <a:p>
            <a:pPr algn="l"/>
            <a:r>
              <a:rPr lang="ja-JP" altLang="en-US" sz="700" dirty="0"/>
              <a:t>1. 記録管理のコントロール（7.5）</a:t>
            </a:r>
          </a:p>
          <a:p>
            <a:pPr algn="l"/>
            <a:r>
              <a:rPr lang="ja-JP" altLang="en-US" sz="700" dirty="0"/>
              <a:t>ログ、設定ファイル、監査証跡などをどう管理・保存・保護するか。</a:t>
            </a:r>
          </a:p>
          <a:p>
            <a:pPr algn="l"/>
            <a:r>
              <a:rPr lang="ja-JP" altLang="en-US" sz="700" dirty="0"/>
              <a:t>ICS では：</a:t>
            </a:r>
          </a:p>
          <a:p>
            <a:pPr algn="l"/>
            <a:r>
              <a:rPr lang="ja-JP" altLang="en-US" sz="700" dirty="0"/>
              <a:t>- PLC/HMI の設定ファイル</a:t>
            </a:r>
          </a:p>
          <a:p>
            <a:pPr algn="l"/>
            <a:r>
              <a:rPr lang="ja-JP" altLang="en-US" sz="700" dirty="0"/>
              <a:t>- Historian データ</a:t>
            </a:r>
          </a:p>
          <a:p>
            <a:pPr algn="l"/>
            <a:r>
              <a:rPr lang="ja-JP" altLang="en-US" sz="700" dirty="0"/>
              <a:t>- OT ネットワークログ</a:t>
            </a:r>
          </a:p>
          <a:p>
            <a:pPr algn="l"/>
            <a:r>
              <a:rPr lang="ja-JP" altLang="en-US" sz="700" dirty="0"/>
              <a:t>が対象。</a:t>
            </a:r>
          </a:p>
          <a:p>
            <a:pPr algn="l"/>
            <a:endParaRPr lang="ja-JP" altLang="en-US" sz="700" dirty="0"/>
          </a:p>
          <a:p>
            <a:pPr algn="l"/>
            <a:r>
              <a:rPr lang="ja-JP" altLang="en-US" sz="700" dirty="0"/>
              <a:t>2. BYOD（私物デバイス持ち込み）ポリシー（A.6.2.1）</a:t>
            </a:r>
          </a:p>
          <a:p>
            <a:pPr algn="l"/>
            <a:r>
              <a:rPr lang="ja-JP" altLang="en-US" sz="700" dirty="0"/>
              <a:t>個人スマホや個人PCを業務に使う際のルール。</a:t>
            </a:r>
          </a:p>
          <a:p>
            <a:pPr algn="l"/>
            <a:r>
              <a:rPr lang="ja-JP" altLang="en-US" sz="700" dirty="0"/>
              <a:t>ICS では：</a:t>
            </a:r>
          </a:p>
          <a:p>
            <a:pPr algn="l"/>
            <a:r>
              <a:rPr lang="ja-JP" altLang="en-US" sz="700" dirty="0"/>
              <a:t>- OT ネットワークへの BYOD 接続は禁止が基本。</a:t>
            </a:r>
          </a:p>
          <a:p>
            <a:pPr algn="l"/>
            <a:endParaRPr lang="ja-JP" altLang="en-US" sz="700" dirty="0"/>
          </a:p>
          <a:p>
            <a:pPr algn="l"/>
            <a:r>
              <a:rPr lang="ja-JP" altLang="en-US" sz="700" dirty="0"/>
              <a:t>3. モバイルデバイス・テレワークポリシー（A.6.2.1）</a:t>
            </a:r>
          </a:p>
          <a:p>
            <a:pPr algn="l"/>
            <a:r>
              <a:rPr lang="ja-JP" altLang="en-US" sz="700" dirty="0"/>
              <a:t>リモート作業やモバイル端末利用のルール。</a:t>
            </a:r>
          </a:p>
          <a:p>
            <a:pPr algn="l"/>
            <a:r>
              <a:rPr lang="ja-JP" altLang="en-US" sz="700" dirty="0"/>
              <a:t>ICS では：</a:t>
            </a:r>
          </a:p>
          <a:p>
            <a:pPr algn="l"/>
            <a:r>
              <a:rPr lang="ja-JP" altLang="en-US" sz="700" dirty="0"/>
              <a:t>- ベンダーのリモート保守</a:t>
            </a:r>
          </a:p>
          <a:p>
            <a:pPr algn="l"/>
            <a:r>
              <a:rPr lang="ja-JP" altLang="en-US" sz="700" dirty="0"/>
              <a:t>- OT への VPN 接続</a:t>
            </a:r>
          </a:p>
          <a:p>
            <a:pPr algn="l"/>
            <a:r>
              <a:rPr lang="ja-JP" altLang="en-US" sz="700" dirty="0"/>
              <a:t>が重要。</a:t>
            </a:r>
          </a:p>
          <a:p>
            <a:pPr algn="l"/>
            <a:endParaRPr lang="ja-JP" altLang="en-US" sz="700" dirty="0"/>
          </a:p>
          <a:p>
            <a:pPr algn="l"/>
            <a:r>
              <a:rPr lang="ja-JP" altLang="en-US" sz="700" dirty="0"/>
              <a:t>4. 情報分類ポリシー（A.8.2.1–8.2.3）</a:t>
            </a:r>
          </a:p>
          <a:p>
            <a:pPr algn="l"/>
            <a:r>
              <a:rPr lang="ja-JP" altLang="en-US" sz="700" dirty="0"/>
              <a:t>情報を「機密」「内部」「公開」などに分類するルール。</a:t>
            </a:r>
          </a:p>
          <a:p>
            <a:pPr algn="l"/>
            <a:r>
              <a:rPr lang="ja-JP" altLang="en-US" sz="700" dirty="0"/>
              <a:t>ICS では：</a:t>
            </a:r>
          </a:p>
          <a:p>
            <a:pPr algn="l"/>
            <a:r>
              <a:rPr lang="ja-JP" altLang="en-US" sz="700" dirty="0"/>
              <a:t>- PLC ロジック</a:t>
            </a:r>
          </a:p>
          <a:p>
            <a:pPr algn="l"/>
            <a:r>
              <a:rPr lang="ja-JP" altLang="en-US" sz="700" dirty="0"/>
              <a:t>- HMI 設定</a:t>
            </a:r>
          </a:p>
          <a:p>
            <a:pPr algn="l"/>
            <a:r>
              <a:rPr lang="ja-JP" altLang="en-US" sz="700" dirty="0"/>
              <a:t>- ネットワーク図</a:t>
            </a:r>
          </a:p>
          <a:p>
            <a:pPr algn="l"/>
            <a:r>
              <a:rPr lang="ja-JP" altLang="en-US" sz="700" dirty="0"/>
              <a:t>などは高機密扱い。</a:t>
            </a:r>
          </a:p>
          <a:p>
            <a:pPr algn="l"/>
            <a:endParaRPr lang="ja-JP" altLang="en-US" sz="700" dirty="0"/>
          </a:p>
          <a:p>
            <a:pPr algn="l"/>
            <a:r>
              <a:rPr lang="ja-JP" altLang="en-US" sz="700" dirty="0"/>
              <a:t>5. パスワードポリシー（A.9.2.x / A.9.3.1 / A.9.4.3）</a:t>
            </a:r>
          </a:p>
          <a:p>
            <a:pPr algn="l"/>
            <a:r>
              <a:rPr lang="ja-JP" altLang="en-US" sz="700" dirty="0"/>
              <a:t>パスワードの長さ、複雑性、更新頻度など。</a:t>
            </a:r>
          </a:p>
          <a:p>
            <a:pPr algn="l"/>
            <a:r>
              <a:rPr lang="ja-JP" altLang="en-US" sz="700" dirty="0"/>
              <a:t>ICS では：</a:t>
            </a:r>
          </a:p>
          <a:p>
            <a:pPr algn="l"/>
            <a:r>
              <a:rPr lang="ja-JP" altLang="en-US" sz="700" dirty="0"/>
              <a:t>- 共有アカウント禁止</a:t>
            </a:r>
          </a:p>
          <a:p>
            <a:pPr algn="l"/>
            <a:r>
              <a:rPr lang="ja-JP" altLang="en-US" sz="700" dirty="0"/>
              <a:t>- ベンダーアカウントの管理</a:t>
            </a:r>
          </a:p>
          <a:p>
            <a:pPr algn="l"/>
            <a:r>
              <a:rPr lang="ja-JP" altLang="en-US" sz="700" dirty="0"/>
              <a:t>が特に重要。</a:t>
            </a:r>
          </a:p>
          <a:p>
            <a:pPr algn="l"/>
            <a:endParaRPr lang="ja-JP" altLang="en-US" sz="700" dirty="0"/>
          </a:p>
          <a:p>
            <a:pPr algn="l"/>
            <a:r>
              <a:rPr lang="ja-JP" altLang="en-US" sz="700" dirty="0"/>
              <a:t>6. 廃棄・破壊ポリシー（A.8.3.2 / A.11.2.7）</a:t>
            </a:r>
          </a:p>
          <a:p>
            <a:pPr algn="l"/>
            <a:r>
              <a:rPr lang="ja-JP" altLang="en-US" sz="700" dirty="0"/>
              <a:t>機器やデータを安全に廃棄するルール。</a:t>
            </a:r>
          </a:p>
          <a:p>
            <a:pPr algn="l"/>
            <a:r>
              <a:rPr lang="ja-JP" altLang="en-US" sz="700" dirty="0"/>
              <a:t>ICS では：</a:t>
            </a:r>
          </a:p>
          <a:p>
            <a:pPr algn="l"/>
            <a:r>
              <a:rPr lang="ja-JP" altLang="en-US" sz="700" dirty="0"/>
              <a:t>- 古い PLC/HMI のストレージ破壊</a:t>
            </a:r>
          </a:p>
          <a:p>
            <a:pPr algn="l"/>
            <a:r>
              <a:rPr lang="ja-JP" altLang="en-US" sz="700" dirty="0"/>
              <a:t>- OT ネットワーク機器の廃棄</a:t>
            </a:r>
          </a:p>
          <a:p>
            <a:pPr algn="l"/>
            <a:r>
              <a:rPr lang="ja-JP" altLang="en-US" sz="700" dirty="0"/>
              <a:t>が対象。</a:t>
            </a:r>
          </a:p>
          <a:p>
            <a:pPr algn="l"/>
            <a:endParaRPr lang="ja-JP" altLang="en-US" sz="700" dirty="0"/>
          </a:p>
          <a:p>
            <a:pPr algn="l"/>
            <a:r>
              <a:rPr lang="ja-JP" altLang="en-US" sz="700" dirty="0"/>
              <a:t>7. クリアデスク・クリアスクリーンポリシー（A.11.2.9）</a:t>
            </a:r>
          </a:p>
          <a:p>
            <a:pPr algn="l"/>
            <a:r>
              <a:rPr lang="ja-JP" altLang="en-US" sz="700" dirty="0"/>
              <a:t>机の上や画面に機密情報を放置しないルール。</a:t>
            </a:r>
          </a:p>
          <a:p>
            <a:pPr algn="l"/>
            <a:r>
              <a:rPr lang="ja-JP" altLang="en-US" sz="700" dirty="0"/>
              <a:t>ICS では：</a:t>
            </a:r>
          </a:p>
          <a:p>
            <a:pPr algn="l"/>
            <a:r>
              <a:rPr lang="ja-JP" altLang="en-US" sz="700" dirty="0"/>
              <a:t>- 制御室の HMI 画面放置防止</a:t>
            </a:r>
          </a:p>
          <a:p>
            <a:pPr algn="l"/>
            <a:r>
              <a:rPr lang="ja-JP" altLang="en-US" sz="700" dirty="0"/>
              <a:t>- 操作手順書の管理</a:t>
            </a:r>
          </a:p>
          <a:p>
            <a:pPr algn="l"/>
            <a:r>
              <a:rPr lang="ja-JP" altLang="en-US" sz="700" dirty="0"/>
              <a:t>が重要。</a:t>
            </a:r>
          </a:p>
          <a:p>
            <a:pPr algn="l"/>
            <a:endParaRPr lang="ja-JP" altLang="en-US" sz="700" dirty="0"/>
          </a:p>
          <a:p>
            <a:pPr algn="l"/>
            <a:r>
              <a:rPr lang="ja-JP" altLang="en-US" sz="700" dirty="0"/>
              <a:t>8. 変更管理ポリシー（A.12.1.2 / A.14.2.4）</a:t>
            </a:r>
          </a:p>
          <a:p>
            <a:pPr algn="l"/>
            <a:r>
              <a:rPr lang="ja-JP" altLang="en-US" sz="700" dirty="0"/>
              <a:t>システム変更を管理するルール。</a:t>
            </a:r>
          </a:p>
          <a:p>
            <a:pPr algn="l"/>
            <a:r>
              <a:rPr lang="ja-JP" altLang="en-US" sz="700" dirty="0"/>
              <a:t>ICS では：</a:t>
            </a:r>
          </a:p>
          <a:p>
            <a:pPr algn="l"/>
            <a:r>
              <a:rPr lang="ja-JP" altLang="en-US" sz="700" dirty="0"/>
              <a:t>- PLC ロジック変更</a:t>
            </a:r>
          </a:p>
          <a:p>
            <a:pPr algn="l"/>
            <a:r>
              <a:rPr lang="ja-JP" altLang="en-US" sz="700" dirty="0"/>
              <a:t>- ネットワーク構成変更</a:t>
            </a:r>
          </a:p>
          <a:p>
            <a:pPr algn="l"/>
            <a:r>
              <a:rPr lang="ja-JP" altLang="en-US" sz="700" dirty="0"/>
              <a:t>- HMI 画面変更</a:t>
            </a:r>
          </a:p>
          <a:p>
            <a:pPr algn="l"/>
            <a:r>
              <a:rPr lang="ja-JP" altLang="en-US" sz="700" dirty="0"/>
              <a:t>が対象。</a:t>
            </a:r>
          </a:p>
        </p:txBody>
      </p:sp>
    </p:spTree>
    <p:extLst>
      <p:ext uri="{BB962C8B-B14F-4D97-AF65-F5344CB8AC3E}">
        <p14:creationId xmlns:p14="http://schemas.microsoft.com/office/powerpoint/2010/main" val="273326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724616"/>
            <a:ext cx="6852285" cy="5283198"/>
          </a:xfrm>
        </p:spPr>
        <p:txBody>
          <a:bodyPr>
            <a:normAutofit/>
          </a:bodyPr>
          <a:lstStyle/>
          <a:p>
            <a:pPr algn="l"/>
            <a:r>
              <a:rPr lang="ja-JP" altLang="en-US" sz="1400" dirty="0"/>
              <a:t>NERC CIP-003 は、</a:t>
            </a:r>
          </a:p>
          <a:p>
            <a:pPr algn="l"/>
            <a:r>
              <a:rPr lang="ja-JP" altLang="en-US" sz="1400" dirty="0"/>
              <a:t>「セキュリティ管理（Security Management Controls）」に関する要求事項 をまとめた標準で、</a:t>
            </a:r>
          </a:p>
          <a:p>
            <a:pPr algn="l"/>
            <a:r>
              <a:rPr lang="ja-JP" altLang="en-US" sz="1400" dirty="0"/>
              <a:t>CIP 全体のサイバーセキュリティ要件に対応するための サイバーセキュリティポリシー を</a:t>
            </a:r>
          </a:p>
          <a:p>
            <a:pPr algn="l"/>
            <a:r>
              <a:rPr lang="ja-JP" altLang="en-US" sz="1400" dirty="0"/>
              <a:t>組織が整備することを求めています。</a:t>
            </a:r>
          </a:p>
          <a:p>
            <a:pPr algn="l"/>
            <a:r>
              <a:rPr lang="ja-JP" altLang="en-US" sz="1400" dirty="0"/>
              <a:t>特に CIP-003-6 R1.1 では、</a:t>
            </a:r>
          </a:p>
          <a:p>
            <a:pPr algn="l"/>
            <a:r>
              <a:rPr lang="ja-JP" altLang="en-US" sz="1400" dirty="0"/>
              <a:t>高影響（High）および中影響（Medium）に分類される BES Cyber Systems に対して、</a:t>
            </a:r>
          </a:p>
          <a:p>
            <a:pPr algn="l"/>
            <a:r>
              <a:rPr lang="ja-JP" altLang="en-US" sz="1400" dirty="0"/>
              <a:t>必ず整備しなければならない サイバーセキュリティポリシーのトピック が列挙されています。</a:t>
            </a:r>
          </a:p>
          <a:p>
            <a:pPr algn="l"/>
            <a:r>
              <a:rPr lang="ja-JP" altLang="en-US" sz="1400" dirty="0"/>
              <a:t>これらのポリシーは：</a:t>
            </a:r>
          </a:p>
          <a:p>
            <a:pPr algn="l"/>
            <a:r>
              <a:rPr lang="ja-JP" altLang="en-US" sz="1400" dirty="0"/>
              <a:t>- 個別のポリシーとして作成してもよい</a:t>
            </a:r>
          </a:p>
          <a:p>
            <a:pPr algn="l"/>
            <a:r>
              <a:rPr lang="ja-JP" altLang="en-US" sz="1400" dirty="0"/>
              <a:t>- あるいは「包括的な上位ポリシー（umbrella policy）」としてまとめてもよい</a:t>
            </a:r>
          </a:p>
          <a:p>
            <a:pPr algn="l"/>
            <a:r>
              <a:rPr lang="ja-JP" altLang="en-US" sz="1400" dirty="0"/>
              <a:t>という柔軟な構成が認められています。</a:t>
            </a:r>
          </a:p>
          <a:p>
            <a:pPr algn="l"/>
            <a:r>
              <a:rPr lang="ja-JP" altLang="en-US" sz="1400" dirty="0"/>
              <a:t>さらに、CIP-004-6 R2.1 では、</a:t>
            </a:r>
          </a:p>
          <a:p>
            <a:pPr algn="l"/>
            <a:r>
              <a:rPr lang="ja-JP" altLang="en-US" sz="1400" dirty="0"/>
              <a:t>これらのポリシーに関する 教育・訓練（Training） を</a:t>
            </a:r>
          </a:p>
          <a:p>
            <a:pPr algn="l"/>
            <a:r>
              <a:rPr lang="ja-JP" altLang="en-US" sz="1400" dirty="0"/>
              <a:t>関係者に実施することも義務付けられています。</a:t>
            </a:r>
          </a:p>
        </p:txBody>
      </p:sp>
      <p:pic>
        <p:nvPicPr>
          <p:cNvPr id="4" name="図 3">
            <a:extLst>
              <a:ext uri="{FF2B5EF4-FFF2-40B4-BE49-F238E27FC236}">
                <a16:creationId xmlns:a16="http://schemas.microsoft.com/office/drawing/2014/main" id="{0373FBEE-738B-4D51-9376-D26B1A616BC9}"/>
              </a:ext>
            </a:extLst>
          </p:cNvPr>
          <p:cNvPicPr>
            <a:picLocks noChangeAspect="1"/>
          </p:cNvPicPr>
          <p:nvPr/>
        </p:nvPicPr>
        <p:blipFill>
          <a:blip r:embed="rId2"/>
          <a:stretch>
            <a:fillRect/>
          </a:stretch>
        </p:blipFill>
        <p:spPr>
          <a:xfrm>
            <a:off x="325711" y="58365"/>
            <a:ext cx="6206578" cy="3540868"/>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963480"/>
            <a:ext cx="6852285" cy="8098817"/>
          </a:xfrm>
        </p:spPr>
        <p:txBody>
          <a:bodyPr>
            <a:normAutofit fontScale="95000"/>
          </a:bodyPr>
          <a:lstStyle/>
          <a:p>
            <a:pPr algn="l"/>
            <a:r>
              <a:rPr lang="ja-JP" altLang="en-US" sz="1200" dirty="0"/>
              <a:t>どれだけよく書かれたポリシーでも、</a:t>
            </a:r>
          </a:p>
          <a:p>
            <a:pPr algn="l"/>
            <a:r>
              <a:rPr lang="ja-JP" altLang="en-US" sz="1200" dirty="0"/>
              <a:t>実際に守られなければ意味がありません。</a:t>
            </a:r>
          </a:p>
          <a:p>
            <a:pPr algn="l"/>
            <a:r>
              <a:rPr lang="ja-JP" altLang="en-US" sz="1200" dirty="0"/>
              <a:t>ポリシーを確実に実行させるためには、</a:t>
            </a:r>
          </a:p>
          <a:p>
            <a:pPr algn="l"/>
            <a:r>
              <a:rPr lang="ja-JP" altLang="en-US" sz="1200" dirty="0"/>
              <a:t>まず組織の文化として</a:t>
            </a:r>
          </a:p>
          <a:p>
            <a:pPr algn="l"/>
            <a:r>
              <a:rPr lang="ja-JP" altLang="en-US" sz="1200" dirty="0"/>
              <a:t>「コンプライアンス（遵守）が最重要である」</a:t>
            </a:r>
          </a:p>
          <a:p>
            <a:pPr algn="l"/>
            <a:r>
              <a:rPr lang="ja-JP" altLang="en-US" sz="1200" dirty="0"/>
              <a:t>という共通認識が必要です。</a:t>
            </a:r>
          </a:p>
          <a:p>
            <a:pPr algn="l"/>
            <a:r>
              <a:rPr lang="ja-JP" altLang="en-US" sz="1200" dirty="0"/>
              <a:t>これは経営層の強い支援から始まり、</a:t>
            </a:r>
          </a:p>
          <a:p>
            <a:pPr algn="l"/>
            <a:r>
              <a:rPr lang="ja-JP" altLang="en-US" sz="1200" dirty="0"/>
              <a:t>組織全体に浸透していく必要があります。</a:t>
            </a:r>
          </a:p>
          <a:p>
            <a:pPr algn="l"/>
            <a:r>
              <a:rPr lang="ja-JP" altLang="en-US" sz="1200" dirty="0"/>
              <a:t>これを コンプライアンス文化（culture of compliance） と呼び、</a:t>
            </a:r>
          </a:p>
          <a:p>
            <a:pPr algn="l"/>
            <a:r>
              <a:rPr lang="ja-JP" altLang="en-US" sz="1200" dirty="0"/>
              <a:t>多くの組織では、この文化を周知するための</a:t>
            </a:r>
          </a:p>
          <a:p>
            <a:pPr algn="l"/>
            <a:r>
              <a:rPr lang="ja-JP" altLang="en-US" sz="1200" dirty="0"/>
              <a:t>コミュニケーション施策を用意しています。</a:t>
            </a:r>
          </a:p>
          <a:p>
            <a:pPr algn="l"/>
            <a:endParaRPr lang="ja-JP" altLang="en-US" sz="1200" dirty="0"/>
          </a:p>
          <a:p>
            <a:pPr algn="l"/>
            <a:r>
              <a:rPr lang="ja-JP" altLang="en-US" sz="1200" dirty="0"/>
              <a:t>コンプライアンスを確実にするための仕組み</a:t>
            </a:r>
          </a:p>
          <a:p>
            <a:pPr algn="l"/>
            <a:r>
              <a:rPr lang="ja-JP" altLang="en-US" sz="1200" dirty="0"/>
              <a:t>組織は通常、</a:t>
            </a:r>
          </a:p>
          <a:p>
            <a:pPr algn="l"/>
            <a:r>
              <a:rPr lang="ja-JP" altLang="en-US" sz="1200" dirty="0"/>
              <a:t>ポリシーが正しく実施されているかを確認するための「コンプライアンス管理（controls）」</a:t>
            </a:r>
          </a:p>
          <a:p>
            <a:pPr algn="l"/>
            <a:r>
              <a:rPr lang="ja-JP" altLang="en-US" sz="1200" dirty="0"/>
              <a:t>を導入します。</a:t>
            </a:r>
          </a:p>
          <a:p>
            <a:pPr algn="l"/>
            <a:r>
              <a:rPr lang="ja-JP" altLang="en-US" sz="1200" dirty="0"/>
              <a:t>これにより：</a:t>
            </a:r>
          </a:p>
          <a:p>
            <a:pPr algn="l"/>
            <a:r>
              <a:rPr lang="ja-JP" altLang="en-US" sz="1200" dirty="0"/>
              <a:t>- ポリシーが守られているかを定期的にチェックできる</a:t>
            </a:r>
          </a:p>
          <a:p>
            <a:pPr algn="l"/>
            <a:r>
              <a:rPr lang="ja-JP" altLang="en-US" sz="1200" dirty="0"/>
              <a:t>- 不備があれば記録し、再発防止のために改善できる</a:t>
            </a:r>
          </a:p>
          <a:p>
            <a:pPr algn="l"/>
            <a:r>
              <a:rPr lang="ja-JP" altLang="en-US" sz="1200" dirty="0"/>
              <a:t>という仕組みが整います。</a:t>
            </a:r>
          </a:p>
          <a:p>
            <a:pPr algn="l"/>
            <a:endParaRPr lang="ja-JP" altLang="en-US" sz="1200" dirty="0"/>
          </a:p>
          <a:p>
            <a:pPr algn="l"/>
            <a:r>
              <a:rPr lang="ja-JP" altLang="en-US" sz="1200" dirty="0"/>
              <a:t>ポリシーは定期的に見直す必要がある</a:t>
            </a:r>
          </a:p>
          <a:p>
            <a:pPr algn="l"/>
            <a:r>
              <a:rPr lang="ja-JP" altLang="en-US" sz="1200" dirty="0"/>
              <a:t>強いコンプライアンス文化と管理体制に加えて、</a:t>
            </a:r>
          </a:p>
          <a:p>
            <a:pPr algn="l"/>
            <a:r>
              <a:rPr lang="ja-JP" altLang="en-US" sz="1200" dirty="0"/>
              <a:t>組織は ポリシーを定期的にレビューし、必要に応じて更新 しなければなりません。</a:t>
            </a:r>
          </a:p>
          <a:p>
            <a:pPr algn="l"/>
            <a:r>
              <a:rPr lang="ja-JP" altLang="en-US" sz="1200" dirty="0"/>
              <a:t>これにより：</a:t>
            </a:r>
          </a:p>
          <a:p>
            <a:pPr algn="l"/>
            <a:r>
              <a:rPr lang="ja-JP" altLang="en-US" sz="1200" dirty="0"/>
              <a:t>- ポリシーが現在のビジネス状況に合っているか確認できる</a:t>
            </a:r>
          </a:p>
          <a:p>
            <a:pPr algn="l"/>
            <a:r>
              <a:rPr lang="ja-JP" altLang="en-US" sz="1200" dirty="0"/>
              <a:t>- 現在の経営層が内容を理解し、承認している状態を維持できる</a:t>
            </a:r>
          </a:p>
          <a:p>
            <a:pPr algn="l"/>
            <a:r>
              <a:rPr lang="ja-JP" altLang="en-US" sz="1200" dirty="0"/>
              <a:t>また、</a:t>
            </a:r>
          </a:p>
          <a:p>
            <a:pPr algn="l"/>
            <a:r>
              <a:rPr lang="ja-JP" altLang="en-US" sz="1200" dirty="0"/>
              <a:t>コンプライアンスギャップ評価（gap assessment） を行うことで、</a:t>
            </a:r>
          </a:p>
          <a:p>
            <a:pPr algn="l"/>
            <a:r>
              <a:rPr lang="ja-JP" altLang="en-US" sz="1200" dirty="0"/>
              <a:t>「今の実施状況」と「求められる基準」の差を明確にし、</a:t>
            </a:r>
          </a:p>
          <a:p>
            <a:pPr algn="l"/>
            <a:r>
              <a:rPr lang="ja-JP" altLang="en-US" sz="1200" dirty="0"/>
              <a:t>改善すべき点を把握できます。</a:t>
            </a:r>
          </a:p>
        </p:txBody>
      </p:sp>
      <p:pic>
        <p:nvPicPr>
          <p:cNvPr id="4" name="図 3">
            <a:extLst>
              <a:ext uri="{FF2B5EF4-FFF2-40B4-BE49-F238E27FC236}">
                <a16:creationId xmlns:a16="http://schemas.microsoft.com/office/drawing/2014/main" id="{727DB7C5-43CB-443F-A3FF-9BA60552F0F2}"/>
              </a:ext>
            </a:extLst>
          </p:cNvPr>
          <p:cNvPicPr>
            <a:picLocks noChangeAspect="1"/>
          </p:cNvPicPr>
          <p:nvPr/>
        </p:nvPicPr>
        <p:blipFill>
          <a:blip r:embed="rId2"/>
          <a:stretch>
            <a:fillRect/>
          </a:stretch>
        </p:blipFill>
        <p:spPr>
          <a:xfrm>
            <a:off x="239156" y="188068"/>
            <a:ext cx="6379687" cy="3639627"/>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906561"/>
            <a:ext cx="3423285" cy="7883367"/>
          </a:xfrm>
        </p:spPr>
        <p:txBody>
          <a:bodyPr>
            <a:normAutofit/>
          </a:bodyPr>
          <a:lstStyle/>
          <a:p>
            <a:pPr algn="l"/>
            <a:r>
              <a:rPr lang="ja-JP" altLang="en-US" sz="1200" dirty="0"/>
              <a:t>FERC は「コンプライアンス（規制遵守）をどう組織として実現すべきか」について、</a:t>
            </a:r>
          </a:p>
          <a:p>
            <a:pPr algn="l"/>
            <a:r>
              <a:rPr lang="ja-JP" altLang="en-US" sz="1200" dirty="0"/>
              <a:t>Policy Statement on Compliance（Docket No. PL09‑1‑000） という文書で明確な指針を示しています。</a:t>
            </a:r>
          </a:p>
          <a:p>
            <a:pPr algn="l"/>
            <a:r>
              <a:rPr lang="ja-JP" altLang="en-US" sz="1200" dirty="0"/>
              <a:t>その内容は次のようなものです。</a:t>
            </a:r>
          </a:p>
          <a:p>
            <a:pPr algn="l"/>
            <a:endParaRPr lang="ja-JP" altLang="en-US" sz="1200" dirty="0"/>
          </a:p>
          <a:p>
            <a:pPr algn="l"/>
            <a:r>
              <a:rPr lang="ja-JP" altLang="en-US" sz="1200" dirty="0"/>
              <a:t>FERC が求めるコンプライアンス体制のポイント</a:t>
            </a:r>
          </a:p>
          <a:p>
            <a:pPr algn="l"/>
            <a:r>
              <a:rPr lang="ja-JP" altLang="en-US" sz="1200" dirty="0"/>
              <a:t>1. コンプライアンス担当者に十分な予算を与えること</a:t>
            </a:r>
          </a:p>
          <a:p>
            <a:pPr algn="l"/>
            <a:r>
              <a:rPr lang="ja-JP" altLang="en-US" sz="1200" dirty="0"/>
              <a:t>コンプライアンスプログラムを運営するために、</a:t>
            </a:r>
          </a:p>
          <a:p>
            <a:pPr algn="l"/>
            <a:r>
              <a:rPr lang="ja-JP" altLang="en-US" sz="1200" dirty="0"/>
              <a:t>専任の担当者（Compliance Officer）に必要な資金を確保する。</a:t>
            </a:r>
          </a:p>
          <a:p>
            <a:pPr algn="l"/>
            <a:r>
              <a:rPr lang="ja-JP" altLang="en-US" sz="1200" dirty="0"/>
              <a:t>→ ICS/OT では「人も予算も足りない」が常ですが、</a:t>
            </a:r>
          </a:p>
          <a:p>
            <a:pPr algn="l"/>
            <a:r>
              <a:rPr lang="ja-JP" altLang="en-US" sz="1200" dirty="0"/>
              <a:t>FERC は「それではダメ。まず資源を確保せよ」と明確に言っています。</a:t>
            </a:r>
          </a:p>
          <a:p>
            <a:pPr algn="l"/>
            <a:endParaRPr lang="ja-JP" altLang="en-US" sz="1200" dirty="0"/>
          </a:p>
          <a:p>
            <a:pPr algn="l"/>
            <a:r>
              <a:rPr lang="ja-JP" altLang="en-US" sz="1200" dirty="0"/>
              <a:t>2. 測定可能な目標を設定し、遵守を促進すること</a:t>
            </a:r>
          </a:p>
          <a:p>
            <a:pPr algn="l"/>
            <a:r>
              <a:rPr lang="ja-JP" altLang="en-US" sz="1200" dirty="0"/>
              <a:t>コンプライアンスが達成されているかどうかを判断できるよう、</a:t>
            </a:r>
          </a:p>
          <a:p>
            <a:pPr algn="l"/>
            <a:r>
              <a:rPr lang="ja-JP" altLang="en-US" sz="1200" dirty="0"/>
              <a:t>数値化できる目標（KPI）を設定する。</a:t>
            </a:r>
          </a:p>
          <a:p>
            <a:pPr algn="l"/>
            <a:r>
              <a:rPr lang="ja-JP" altLang="en-US" sz="1200" dirty="0"/>
              <a:t>例：</a:t>
            </a:r>
          </a:p>
          <a:p>
            <a:pPr algn="l"/>
            <a:r>
              <a:rPr lang="ja-JP" altLang="en-US" sz="1200" dirty="0"/>
              <a:t>- 変更管理の承認率</a:t>
            </a:r>
          </a:p>
          <a:p>
            <a:pPr algn="l"/>
            <a:r>
              <a:rPr lang="ja-JP" altLang="en-US" sz="1200" dirty="0"/>
              <a:t>- インシデント対応の SLA</a:t>
            </a:r>
          </a:p>
          <a:p>
            <a:pPr algn="l"/>
            <a:r>
              <a:rPr lang="ja-JP" altLang="en-US" sz="1200" dirty="0"/>
              <a:t>- トレーニング受講率</a:t>
            </a:r>
          </a:p>
          <a:p>
            <a:pPr algn="l"/>
            <a:endParaRPr lang="ja-JP" altLang="en-US" sz="1200" dirty="0"/>
          </a:p>
          <a:p>
            <a:pPr algn="l"/>
            <a:r>
              <a:rPr lang="ja-JP" altLang="en-US" sz="1200" dirty="0"/>
              <a:t>3. コンプライアンスを人事評価・報酬と連動させること</a:t>
            </a:r>
          </a:p>
          <a:p>
            <a:pPr algn="l"/>
            <a:r>
              <a:rPr lang="ja-JP" altLang="en-US" sz="1200" dirty="0"/>
              <a:t>規制遵守の状況を、</a:t>
            </a:r>
          </a:p>
          <a:p>
            <a:pPr algn="l"/>
            <a:r>
              <a:rPr lang="ja-JP" altLang="en-US" sz="1200" dirty="0"/>
              <a:t>従業員や管理職の評価・報酬に反映させる。</a:t>
            </a:r>
          </a:p>
          <a:p>
            <a:pPr algn="l"/>
            <a:r>
              <a:rPr lang="ja-JP" altLang="en-US" sz="1200" dirty="0"/>
              <a:t>→ つまり「守らないと損をする」「守ると得をする」仕組みを作る。</a:t>
            </a:r>
          </a:p>
          <a:p>
            <a:pPr algn="l"/>
            <a:endParaRPr lang="ja-JP" altLang="en-US" sz="1200" dirty="0"/>
          </a:p>
        </p:txBody>
      </p:sp>
      <p:pic>
        <p:nvPicPr>
          <p:cNvPr id="4" name="図 3">
            <a:extLst>
              <a:ext uri="{FF2B5EF4-FFF2-40B4-BE49-F238E27FC236}">
                <a16:creationId xmlns:a16="http://schemas.microsoft.com/office/drawing/2014/main" id="{A06FF9A7-6415-4F86-AF51-009A14B9165B}"/>
              </a:ext>
            </a:extLst>
          </p:cNvPr>
          <p:cNvPicPr>
            <a:picLocks noChangeAspect="1"/>
          </p:cNvPicPr>
          <p:nvPr/>
        </p:nvPicPr>
        <p:blipFill>
          <a:blip r:embed="rId3"/>
          <a:stretch>
            <a:fillRect/>
          </a:stretch>
        </p:blipFill>
        <p:spPr>
          <a:xfrm>
            <a:off x="201629" y="155640"/>
            <a:ext cx="6443309" cy="3653638"/>
          </a:xfrm>
          <a:prstGeom prst="rect">
            <a:avLst/>
          </a:prstGeom>
        </p:spPr>
      </p:pic>
      <p:sp>
        <p:nvSpPr>
          <p:cNvPr id="5" name="サブタイトル 2">
            <a:extLst>
              <a:ext uri="{FF2B5EF4-FFF2-40B4-BE49-F238E27FC236}">
                <a16:creationId xmlns:a16="http://schemas.microsoft.com/office/drawing/2014/main" id="{B3942FC1-5834-42FE-97AD-5819775EF084}"/>
              </a:ext>
            </a:extLst>
          </p:cNvPr>
          <p:cNvSpPr txBox="1">
            <a:spLocks/>
          </p:cNvSpPr>
          <p:nvPr/>
        </p:nvSpPr>
        <p:spPr>
          <a:xfrm>
            <a:off x="3428999" y="3906561"/>
            <a:ext cx="3423286" cy="737752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4. 規制違反に対する懲戒措置を設けること</a:t>
            </a:r>
          </a:p>
          <a:p>
            <a:pPr algn="l"/>
            <a:r>
              <a:rPr lang="ja-JP" altLang="en-US" sz="1200" dirty="0"/>
              <a:t>規制違反があった場合、</a:t>
            </a:r>
          </a:p>
          <a:p>
            <a:pPr algn="l"/>
            <a:r>
              <a:rPr lang="ja-JP" altLang="en-US" sz="1200" dirty="0"/>
              <a:t>明確なペナルティ（懲戒）を適用する仕組み を用意する。</a:t>
            </a:r>
          </a:p>
          <a:p>
            <a:pPr algn="l"/>
            <a:r>
              <a:rPr lang="ja-JP" altLang="en-US" sz="1200" dirty="0"/>
              <a:t>→ 罰則がないとルールは守られない、という現実的な視点。</a:t>
            </a:r>
          </a:p>
          <a:p>
            <a:pPr algn="l"/>
            <a:endParaRPr lang="ja-JP" altLang="en-US" sz="1200" dirty="0"/>
          </a:p>
          <a:p>
            <a:pPr algn="l"/>
            <a:r>
              <a:rPr lang="ja-JP" altLang="en-US" sz="1200" dirty="0"/>
              <a:t>5. 実例を含む必須トレーニングを頻繁に実施すること</a:t>
            </a:r>
          </a:p>
          <a:p>
            <a:pPr algn="l"/>
            <a:r>
              <a:rPr lang="ja-JP" altLang="en-US" sz="1200" dirty="0"/>
              <a:t>- 定期的な必須トレーニング</a:t>
            </a:r>
          </a:p>
          <a:p>
            <a:pPr algn="l"/>
            <a:r>
              <a:rPr lang="ja-JP" altLang="en-US" sz="1200" dirty="0"/>
              <a:t>- 実際の事例（real-world examples）</a:t>
            </a:r>
          </a:p>
          <a:p>
            <a:pPr algn="l"/>
            <a:r>
              <a:rPr lang="ja-JP" altLang="en-US" sz="1200" dirty="0"/>
              <a:t>- 禁止事項のリスト</a:t>
            </a:r>
          </a:p>
          <a:p>
            <a:pPr algn="l"/>
            <a:r>
              <a:rPr lang="ja-JP" altLang="en-US" sz="1200" dirty="0"/>
              <a:t>これらを含む教育を 全員に義務化 する。</a:t>
            </a:r>
          </a:p>
          <a:p>
            <a:pPr algn="l"/>
            <a:r>
              <a:rPr lang="ja-JP" altLang="en-US" sz="1200" dirty="0"/>
              <a:t>→ ICS/OT では「現場の人が理解していない」ことが最大のリスクなので特に重要。</a:t>
            </a:r>
          </a:p>
          <a:p>
            <a:pPr algn="l"/>
            <a:endParaRPr lang="ja-JP" altLang="en-US" sz="1200" dirty="0"/>
          </a:p>
          <a:p>
            <a:pPr algn="l"/>
            <a:r>
              <a:rPr lang="ja-JP" altLang="en-US" sz="1200" dirty="0"/>
              <a:t>6. 匿名で通報できる内部ホットラインを設置すること</a:t>
            </a:r>
          </a:p>
          <a:p>
            <a:pPr algn="l"/>
            <a:r>
              <a:rPr lang="ja-JP" altLang="en-US" sz="1200" dirty="0"/>
              <a:t>従業員が 匿名でコンプライアンス違反を報告できる窓口 を設ける。</a:t>
            </a:r>
          </a:p>
          <a:p>
            <a:pPr algn="l"/>
            <a:r>
              <a:rPr lang="ja-JP" altLang="en-US" sz="1200" dirty="0"/>
              <a:t>→ 内部告発ができる環境が、組織の健全性を保つ。</a:t>
            </a:r>
          </a:p>
          <a:p>
            <a:pPr algn="l"/>
            <a:endParaRPr lang="ja-JP" altLang="en-US" sz="1200" dirty="0"/>
          </a:p>
          <a:p>
            <a:pPr algn="l"/>
            <a:r>
              <a:rPr lang="ja-JP" altLang="en-US" sz="1200" dirty="0"/>
              <a:t>7. 包括的なコンプライアンス監査プログラムを実施すること</a:t>
            </a:r>
          </a:p>
          <a:p>
            <a:pPr algn="l"/>
            <a:r>
              <a:rPr lang="ja-JP" altLang="en-US" sz="1200" dirty="0"/>
              <a:t>- コンプライアンス監査を定期的に実施</a:t>
            </a:r>
          </a:p>
          <a:p>
            <a:pPr algn="l"/>
            <a:r>
              <a:rPr lang="ja-JP" altLang="en-US" sz="1200" dirty="0"/>
              <a:t>- 違反事例を記録・追跡</a:t>
            </a:r>
          </a:p>
          <a:p>
            <a:pPr algn="l"/>
            <a:r>
              <a:rPr lang="ja-JP" altLang="en-US" sz="1200" dirty="0"/>
              <a:t>- 再発防止策を評価</a:t>
            </a:r>
          </a:p>
          <a:p>
            <a:pPr algn="l"/>
            <a:r>
              <a:rPr lang="ja-JP" altLang="en-US" sz="1200" dirty="0"/>
              <a:t>- 結果を経営層・取締役会に報告</a:t>
            </a:r>
          </a:p>
          <a:p>
            <a:pPr algn="l"/>
            <a:r>
              <a:rPr lang="ja-JP" altLang="en-US" sz="1200" dirty="0"/>
              <a:t>という 完全な監査サイクル を構築する。</a:t>
            </a:r>
          </a:p>
          <a:p>
            <a:pPr algn="l"/>
            <a:endParaRPr lang="ja-JP" altLang="en-US" sz="1200" dirty="0"/>
          </a:p>
          <a:p>
            <a:pPr algn="l"/>
            <a:endParaRPr lang="ja-JP" alt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394235"/>
            <a:ext cx="6852285" cy="8681035"/>
          </a:xfrm>
        </p:spPr>
        <p:txBody>
          <a:bodyPr>
            <a:normAutofit/>
          </a:bodyPr>
          <a:lstStyle/>
          <a:p>
            <a:pPr algn="l"/>
            <a:r>
              <a:rPr lang="ja-JP" altLang="en-US" sz="1100" dirty="0"/>
              <a:t>コントロール（統制） は、</a:t>
            </a:r>
          </a:p>
          <a:p>
            <a:pPr algn="l"/>
            <a:r>
              <a:rPr lang="ja-JP" altLang="en-US" sz="1100" dirty="0"/>
              <a:t>組織全体でポリシーがきちんと守られているかを確保するための</a:t>
            </a:r>
          </a:p>
          <a:p>
            <a:pPr algn="l"/>
            <a:r>
              <a:rPr lang="ja-JP" altLang="en-US" sz="1100" dirty="0"/>
              <a:t>ガバナンスの仕組み です。</a:t>
            </a:r>
          </a:p>
          <a:p>
            <a:pPr algn="l"/>
            <a:r>
              <a:rPr lang="ja-JP" altLang="en-US" sz="1100" dirty="0"/>
              <a:t>強力な 技術的コントロール と 手続き的コントロール があることで、</a:t>
            </a:r>
          </a:p>
          <a:p>
            <a:pPr algn="l"/>
            <a:r>
              <a:rPr lang="ja-JP" altLang="en-US" sz="1100" dirty="0"/>
              <a:t>業務プロセスが 正確に、安定して、繰り返し実行される ようになります。</a:t>
            </a:r>
          </a:p>
          <a:p>
            <a:pPr algn="l"/>
            <a:endParaRPr lang="ja-JP" altLang="en-US" sz="1100" dirty="0"/>
          </a:p>
          <a:p>
            <a:pPr algn="l"/>
            <a:r>
              <a:rPr lang="ja-JP" altLang="en-US" sz="1100" dirty="0"/>
              <a:t>コントロールを継続的に使うと何が分かるか</a:t>
            </a:r>
          </a:p>
          <a:p>
            <a:pPr algn="l"/>
            <a:r>
              <a:rPr lang="ja-JP" altLang="en-US" sz="1100" dirty="0"/>
              <a:t>コントロールを一貫して運用すると、</a:t>
            </a:r>
          </a:p>
          <a:p>
            <a:pPr algn="l"/>
            <a:r>
              <a:rPr lang="ja-JP" altLang="en-US" sz="1100" dirty="0"/>
              <a:t>組織全体のパフォーマンスを可視化する「スコアカード」のようなものができ、</a:t>
            </a:r>
          </a:p>
          <a:p>
            <a:pPr algn="l"/>
            <a:r>
              <a:rPr lang="ja-JP" altLang="en-US" sz="1100" dirty="0"/>
              <a:t>どこに問題があるかを把握できます。</a:t>
            </a:r>
          </a:p>
          <a:p>
            <a:pPr algn="l"/>
            <a:r>
              <a:rPr lang="ja-JP" altLang="en-US" sz="1100" dirty="0"/>
              <a:t>また、外部規制（例：NERC CIP、ISO、法規制）への</a:t>
            </a:r>
          </a:p>
          <a:p>
            <a:pPr algn="l"/>
            <a:r>
              <a:rPr lang="ja-JP" altLang="en-US" sz="1100" dirty="0"/>
              <a:t>継続的な準拠状況を確認するための仕組み としても使えます。</a:t>
            </a:r>
          </a:p>
          <a:p>
            <a:pPr algn="l"/>
            <a:endParaRPr lang="ja-JP" altLang="en-US" sz="1100" dirty="0"/>
          </a:p>
          <a:p>
            <a:pPr algn="l"/>
            <a:r>
              <a:rPr lang="ja-JP" altLang="en-US" sz="1100" dirty="0"/>
              <a:t>ICS 環境ではどう実現するか</a:t>
            </a:r>
          </a:p>
          <a:p>
            <a:pPr algn="l"/>
            <a:r>
              <a:rPr lang="ja-JP" altLang="en-US" sz="1100" dirty="0"/>
              <a:t>ICS では、</a:t>
            </a:r>
          </a:p>
          <a:p>
            <a:pPr algn="l"/>
            <a:r>
              <a:rPr lang="ja-JP" altLang="en-US" sz="1100" dirty="0"/>
              <a:t>- 技術的コントロール（自動化された仕組み）</a:t>
            </a:r>
          </a:p>
          <a:p>
            <a:pPr algn="l"/>
            <a:r>
              <a:rPr lang="ja-JP" altLang="en-US" sz="1100" dirty="0"/>
              <a:t>- 手続き的コントロール（人が守るルール）</a:t>
            </a:r>
          </a:p>
          <a:p>
            <a:pPr algn="l"/>
            <a:r>
              <a:rPr lang="ja-JP" altLang="en-US" sz="1100" dirty="0"/>
              <a:t>の両方を組み合わせて実現します。</a:t>
            </a:r>
          </a:p>
          <a:p>
            <a:pPr algn="l"/>
            <a:endParaRPr lang="ja-JP" altLang="en-US" sz="1100" dirty="0"/>
          </a:p>
          <a:p>
            <a:pPr algn="l"/>
            <a:r>
              <a:rPr lang="ja-JP" altLang="en-US" sz="1100" dirty="0"/>
              <a:t>技術的コントロールの例（ICS 版）</a:t>
            </a:r>
          </a:p>
          <a:p>
            <a:pPr algn="l"/>
            <a:r>
              <a:rPr lang="ja-JP" altLang="en-US" sz="1100" dirty="0"/>
              <a:t>- 物理セキュリティの入退室バッジシステム</a:t>
            </a:r>
          </a:p>
          <a:p>
            <a:pPr algn="l"/>
            <a:r>
              <a:rPr lang="ja-JP" altLang="en-US" sz="1100" dirty="0"/>
              <a:t>→ 誰がいつ制御室に入ったかを自動記録</a:t>
            </a:r>
          </a:p>
          <a:p>
            <a:pPr algn="l"/>
            <a:r>
              <a:rPr lang="ja-JP" altLang="en-US" sz="1100" dirty="0"/>
              <a:t>- サイバー資産の電子認証システム</a:t>
            </a:r>
          </a:p>
          <a:p>
            <a:pPr algn="l"/>
            <a:r>
              <a:rPr lang="ja-JP" altLang="en-US" sz="1100" dirty="0"/>
              <a:t>→ HMI/SCADA/PLC にアクセスする際の MFA や AD 認証</a:t>
            </a:r>
          </a:p>
          <a:p>
            <a:pPr algn="l"/>
            <a:r>
              <a:rPr lang="ja-JP" altLang="en-US" sz="1100" dirty="0"/>
              <a:t>- ファイアウォールや VLAN によるネットワーク分離</a:t>
            </a:r>
          </a:p>
          <a:p>
            <a:pPr algn="l"/>
            <a:r>
              <a:rPr lang="ja-JP" altLang="en-US" sz="1100" dirty="0"/>
              <a:t>- Sysmon + WEF によるログ収集の自動化</a:t>
            </a:r>
          </a:p>
          <a:p>
            <a:pPr algn="l"/>
            <a:r>
              <a:rPr lang="ja-JP" altLang="en-US" sz="1100" dirty="0"/>
              <a:t>- 変更管理ツールによる PLC/HMI の変更履歴の自動記録</a:t>
            </a:r>
          </a:p>
          <a:p>
            <a:pPr algn="l"/>
            <a:endParaRPr lang="ja-JP" altLang="en-US" sz="1100" dirty="0"/>
          </a:p>
          <a:p>
            <a:pPr algn="l"/>
            <a:r>
              <a:rPr lang="ja-JP" altLang="en-US" sz="1100" dirty="0"/>
              <a:t>手続き的コントロールの例（ICS 版）</a:t>
            </a:r>
          </a:p>
          <a:p>
            <a:pPr algn="l"/>
            <a:r>
              <a:rPr lang="ja-JP" altLang="en-US" sz="1100" dirty="0"/>
              <a:t>- 施設に入る全ての訪問者に受付でサインインさせる</a:t>
            </a:r>
          </a:p>
          <a:p>
            <a:pPr algn="l"/>
            <a:r>
              <a:rPr lang="ja-JP" altLang="en-US" sz="1100" dirty="0"/>
              <a:t>- PLC ロジック変更は 2 名承認を必須とする</a:t>
            </a:r>
          </a:p>
          <a:p>
            <a:pPr algn="l"/>
            <a:r>
              <a:rPr lang="ja-JP" altLang="en-US" sz="1100" dirty="0"/>
              <a:t>- USB 使用は申請制にする</a:t>
            </a:r>
          </a:p>
          <a:p>
            <a:pPr algn="l"/>
            <a:r>
              <a:rPr lang="ja-JP" altLang="en-US" sz="1100" dirty="0"/>
              <a:t>- 現場作業は作業許可書（Work Permit）を必須とする</a:t>
            </a:r>
          </a:p>
          <a:p>
            <a:pPr algn="l"/>
            <a:r>
              <a:rPr lang="ja-JP" altLang="en-US" sz="1100" dirty="0"/>
              <a:t>- ベンダーのリモートアクセスは事前承認＋時間制限</a:t>
            </a:r>
          </a:p>
        </p:txBody>
      </p:sp>
      <p:pic>
        <p:nvPicPr>
          <p:cNvPr id="4" name="図 3">
            <a:extLst>
              <a:ext uri="{FF2B5EF4-FFF2-40B4-BE49-F238E27FC236}">
                <a16:creationId xmlns:a16="http://schemas.microsoft.com/office/drawing/2014/main" id="{A461F84D-8355-4E43-99C2-9B002E8711A3}"/>
              </a:ext>
            </a:extLst>
          </p:cNvPr>
          <p:cNvPicPr>
            <a:picLocks noChangeAspect="1"/>
          </p:cNvPicPr>
          <p:nvPr/>
        </p:nvPicPr>
        <p:blipFill>
          <a:blip r:embed="rId2"/>
          <a:stretch>
            <a:fillRect/>
          </a:stretch>
        </p:blipFill>
        <p:spPr>
          <a:xfrm>
            <a:off x="607563" y="116730"/>
            <a:ext cx="5642873" cy="3210128"/>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2997200"/>
            <a:ext cx="6852285" cy="9194800"/>
          </a:xfrm>
        </p:spPr>
        <p:txBody>
          <a:bodyPr>
            <a:normAutofit fontScale="70000" lnSpcReduction="20000"/>
          </a:bodyPr>
          <a:lstStyle/>
          <a:p>
            <a:pPr algn="l"/>
            <a:r>
              <a:rPr lang="ja-JP" altLang="en-US" sz="1400" dirty="0"/>
              <a:t>Policies, Standards, Guidelines, and Procedures（ポリシー・標準・ガイドライン・手順）</a:t>
            </a:r>
          </a:p>
          <a:p>
            <a:pPr algn="l"/>
            <a:r>
              <a:rPr lang="ja-JP" altLang="en-US" sz="1400" dirty="0"/>
              <a:t>私たちは、以下の4つの文書の違いを学びました。</a:t>
            </a:r>
          </a:p>
          <a:p>
            <a:pPr algn="l"/>
            <a:r>
              <a:rPr lang="ja-JP" altLang="en-US" sz="1400" dirty="0"/>
              <a:t>1. Policy（ポリシー）</a:t>
            </a:r>
          </a:p>
          <a:p>
            <a:pPr algn="l"/>
            <a:r>
              <a:rPr lang="ja-JP" altLang="en-US" sz="1400" dirty="0"/>
              <a:t>- 組織の目標と直接結びつく 高レベルの方針文書</a:t>
            </a:r>
          </a:p>
          <a:p>
            <a:pPr algn="l"/>
            <a:r>
              <a:rPr lang="ja-JP" altLang="en-US" sz="1400" dirty="0"/>
              <a:t>- 「何を、誰が、なぜ行うのか」を示す</a:t>
            </a:r>
          </a:p>
          <a:p>
            <a:pPr algn="l"/>
            <a:r>
              <a:rPr lang="ja-JP" altLang="en-US" sz="1400" dirty="0"/>
              <a:t>- 具体的な手順は書かない</a:t>
            </a:r>
          </a:p>
          <a:p>
            <a:pPr algn="l"/>
            <a:r>
              <a:rPr lang="ja-JP" altLang="en-US" sz="1400" dirty="0"/>
              <a:t>2. Standard（標準）</a:t>
            </a:r>
          </a:p>
          <a:p>
            <a:pPr algn="l"/>
            <a:r>
              <a:rPr lang="ja-JP" altLang="en-US" sz="1400" dirty="0"/>
              <a:t>- ポリシーを実現するために 必ず守るべき要件 を定義</a:t>
            </a:r>
          </a:p>
          <a:p>
            <a:pPr algn="l"/>
            <a:r>
              <a:rPr lang="ja-JP" altLang="en-US" sz="1400" dirty="0"/>
              <a:t>- 「何を満たさなければならないか」を明確にする</a:t>
            </a:r>
          </a:p>
          <a:p>
            <a:pPr algn="l"/>
            <a:r>
              <a:rPr lang="ja-JP" altLang="en-US" sz="1400" dirty="0"/>
              <a:t>3. Guideline（ガイドライン）</a:t>
            </a:r>
          </a:p>
          <a:p>
            <a:pPr algn="l"/>
            <a:r>
              <a:rPr lang="ja-JP" altLang="en-US" sz="1400" dirty="0"/>
              <a:t>- 標準を満たすための 推奨方法・ベストプラクティス</a:t>
            </a:r>
          </a:p>
          <a:p>
            <a:pPr algn="l"/>
            <a:r>
              <a:rPr lang="ja-JP" altLang="en-US" sz="1400" dirty="0"/>
              <a:t>- 例や方法を示し、状況に応じて柔軟に変わる</a:t>
            </a:r>
          </a:p>
          <a:p>
            <a:pPr algn="l"/>
            <a:r>
              <a:rPr lang="ja-JP" altLang="en-US" sz="1400" dirty="0"/>
              <a:t>4. Procedure（手順書）</a:t>
            </a:r>
          </a:p>
          <a:p>
            <a:pPr algn="l"/>
            <a:r>
              <a:rPr lang="ja-JP" altLang="en-US" sz="1400" dirty="0"/>
              <a:t>- 標準の要件を満たすための 具体的なステップバイステップの作業手順</a:t>
            </a:r>
          </a:p>
          <a:p>
            <a:pPr algn="l"/>
            <a:r>
              <a:rPr lang="ja-JP" altLang="en-US" sz="1400" dirty="0"/>
              <a:t>- 現場担当者が実際に行う作業を詳細に記述</a:t>
            </a:r>
          </a:p>
          <a:p>
            <a:pPr algn="l"/>
            <a:endParaRPr lang="ja-JP" altLang="en-US" sz="1400" dirty="0"/>
          </a:p>
          <a:p>
            <a:pPr algn="l"/>
            <a:r>
              <a:rPr lang="ja-JP" altLang="en-US" sz="1400" dirty="0"/>
              <a:t>Writing a Policy（ポリシーの作成）</a:t>
            </a:r>
          </a:p>
          <a:p>
            <a:pPr algn="l"/>
            <a:r>
              <a:rPr lang="ja-JP" altLang="en-US" sz="1400" dirty="0"/>
              <a:t>ポリシーを作成する際には、以下のような要素が重要であることを学びました。</a:t>
            </a:r>
          </a:p>
          <a:p>
            <a:pPr algn="l"/>
            <a:r>
              <a:rPr lang="ja-JP" altLang="en-US" sz="1400" dirty="0"/>
              <a:t>- ビジネス上の目的（Business Drivers）</a:t>
            </a:r>
          </a:p>
          <a:p>
            <a:pPr algn="l"/>
            <a:r>
              <a:rPr lang="ja-JP" altLang="en-US" sz="1400" dirty="0"/>
              <a:t>例：安全性、可用性、法規制遵守、リスク低減</a:t>
            </a:r>
          </a:p>
          <a:p>
            <a:pPr algn="l"/>
            <a:r>
              <a:rPr lang="ja-JP" altLang="en-US" sz="1400" dirty="0"/>
              <a:t>- 役割と責任（Roles）</a:t>
            </a:r>
          </a:p>
          <a:p>
            <a:pPr algn="l"/>
            <a:r>
              <a:rPr lang="ja-JP" altLang="en-US" sz="1400" dirty="0"/>
              <a:t>誰が承認し、誰が実施し、誰が監査するのか</a:t>
            </a:r>
          </a:p>
          <a:p>
            <a:pPr algn="l"/>
            <a:r>
              <a:rPr lang="ja-JP" altLang="en-US" sz="1400" dirty="0"/>
              <a:t>- 作成プロセス（Activities）</a:t>
            </a:r>
          </a:p>
          <a:p>
            <a:pPr algn="l"/>
            <a:r>
              <a:rPr lang="ja-JP" altLang="en-US" sz="1400" dirty="0"/>
              <a:t>- 目的の明確化</a:t>
            </a:r>
          </a:p>
          <a:p>
            <a:pPr algn="l"/>
            <a:r>
              <a:rPr lang="ja-JP" altLang="en-US" sz="1400" dirty="0"/>
              <a:t>- 適用範囲の定義</a:t>
            </a:r>
          </a:p>
          <a:p>
            <a:pPr algn="l"/>
            <a:r>
              <a:rPr lang="ja-JP" altLang="en-US" sz="1400" dirty="0"/>
              <a:t>- 関係者との調整</a:t>
            </a:r>
          </a:p>
          <a:p>
            <a:pPr algn="l"/>
            <a:r>
              <a:rPr lang="ja-JP" altLang="en-US" sz="1400" dirty="0"/>
              <a:t>- レビューと承認</a:t>
            </a:r>
          </a:p>
          <a:p>
            <a:pPr algn="l"/>
            <a:r>
              <a:rPr lang="ja-JP" altLang="en-US" sz="1400" dirty="0"/>
              <a:t>- 公開と教育</a:t>
            </a:r>
          </a:p>
          <a:p>
            <a:pPr algn="l"/>
            <a:r>
              <a:rPr lang="ja-JP" altLang="en-US" sz="1400" dirty="0"/>
              <a:t>- 定期的な更新</a:t>
            </a:r>
          </a:p>
          <a:p>
            <a:pPr algn="l"/>
            <a:r>
              <a:rPr lang="ja-JP" altLang="en-US" sz="1400" dirty="0"/>
              <a:t>ICS/OT では、特に「安全性（Safety）」と「可用性（Availability）」が強いビジネスドライバーになります。</a:t>
            </a:r>
          </a:p>
          <a:p>
            <a:pPr algn="l"/>
            <a:endParaRPr lang="ja-JP" altLang="en-US" sz="1400" dirty="0"/>
          </a:p>
          <a:p>
            <a:pPr algn="l"/>
            <a:r>
              <a:rPr lang="ja-JP" altLang="en-US" sz="1400" dirty="0"/>
              <a:t>NERC CIP Example（NERC CIP の例）</a:t>
            </a:r>
          </a:p>
          <a:p>
            <a:pPr algn="l"/>
            <a:r>
              <a:rPr lang="ja-JP" altLang="en-US" sz="1400" dirty="0"/>
              <a:t>最後に、北米電力信頼性協議会（NERC）が作成した</a:t>
            </a:r>
          </a:p>
          <a:p>
            <a:pPr algn="l"/>
            <a:r>
              <a:rPr lang="ja-JP" altLang="en-US" sz="1400" dirty="0"/>
              <a:t>CIP（Critical Infrastructure Protection）ポリシーの例 を学びました。</a:t>
            </a:r>
          </a:p>
          <a:p>
            <a:pPr algn="l"/>
            <a:r>
              <a:rPr lang="ja-JP" altLang="en-US" sz="1400" dirty="0"/>
              <a:t>NERC CIP は、電力インフラを守るための非常に厳格な基準で、</a:t>
            </a:r>
          </a:p>
          <a:p>
            <a:pPr algn="l"/>
            <a:r>
              <a:rPr lang="ja-JP" altLang="en-US" sz="1400" dirty="0"/>
              <a:t>ポリシーの構造や内容が ICS/OT セキュリティプログラムの参考になります。</a:t>
            </a:r>
          </a:p>
          <a:p>
            <a:pPr algn="l"/>
            <a:r>
              <a:rPr lang="ja-JP" altLang="en-US" sz="1400" dirty="0"/>
              <a:t>例：</a:t>
            </a:r>
          </a:p>
          <a:p>
            <a:pPr algn="l"/>
            <a:r>
              <a:rPr lang="ja-JP" altLang="en-US" sz="1400" dirty="0"/>
              <a:t>- CIP-003（セキュリティ管理）</a:t>
            </a:r>
          </a:p>
          <a:p>
            <a:pPr algn="l"/>
            <a:r>
              <a:rPr lang="ja-JP" altLang="en-US" sz="1400" dirty="0"/>
              <a:t>- CIP-004（トレーニング）</a:t>
            </a:r>
          </a:p>
          <a:p>
            <a:pPr algn="l"/>
            <a:r>
              <a:rPr lang="ja-JP" altLang="en-US" sz="1400" dirty="0"/>
              <a:t>- CIP-005（電子境界防御）</a:t>
            </a:r>
          </a:p>
          <a:p>
            <a:pPr algn="l"/>
            <a:r>
              <a:rPr lang="ja-JP" altLang="en-US" sz="1400" dirty="0"/>
              <a:t>- CIP-007（システムセキュリティ管理）</a:t>
            </a:r>
          </a:p>
          <a:p>
            <a:pPr algn="l"/>
            <a:r>
              <a:rPr lang="ja-JP" altLang="en-US" sz="1400" dirty="0"/>
              <a:t>など</a:t>
            </a:r>
          </a:p>
          <a:p>
            <a:pPr algn="l"/>
            <a:r>
              <a:rPr lang="ja-JP" altLang="en-US" sz="1400" dirty="0"/>
              <a:t>これらは ICS/OT のポリシー作成において、</a:t>
            </a:r>
          </a:p>
          <a:p>
            <a:pPr algn="l"/>
            <a:r>
              <a:rPr lang="ja-JP" altLang="en-US" sz="1400" dirty="0"/>
              <a:t>「どのような項目を含めるべきか」 の良いモデルになります。</a:t>
            </a:r>
          </a:p>
        </p:txBody>
      </p:sp>
      <p:pic>
        <p:nvPicPr>
          <p:cNvPr id="4" name="図 3">
            <a:extLst>
              <a:ext uri="{FF2B5EF4-FFF2-40B4-BE49-F238E27FC236}">
                <a16:creationId xmlns:a16="http://schemas.microsoft.com/office/drawing/2014/main" id="{97F39410-0B63-4323-8F63-858B00A1FF1C}"/>
              </a:ext>
            </a:extLst>
          </p:cNvPr>
          <p:cNvPicPr>
            <a:picLocks noChangeAspect="1"/>
          </p:cNvPicPr>
          <p:nvPr/>
        </p:nvPicPr>
        <p:blipFill>
          <a:blip r:embed="rId2"/>
          <a:stretch>
            <a:fillRect/>
          </a:stretch>
        </p:blipFill>
        <p:spPr>
          <a:xfrm>
            <a:off x="938441" y="77820"/>
            <a:ext cx="4981118" cy="2821021"/>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6DAF5A00-53C6-4E31-8316-18BC17AB45A4}"/>
              </a:ext>
            </a:extLst>
          </p:cNvPr>
          <p:cNvPicPr>
            <a:picLocks noChangeAspect="1"/>
          </p:cNvPicPr>
          <p:nvPr/>
        </p:nvPicPr>
        <p:blipFill>
          <a:blip r:embed="rId2"/>
          <a:stretch>
            <a:fillRect/>
          </a:stretch>
        </p:blipFill>
        <p:spPr>
          <a:xfrm>
            <a:off x="325876" y="175095"/>
            <a:ext cx="6206247" cy="3514864"/>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4C4B73DD-DFC3-4311-8334-CC26775D38A9}"/>
              </a:ext>
            </a:extLst>
          </p:cNvPr>
          <p:cNvPicPr>
            <a:picLocks noChangeAspect="1"/>
          </p:cNvPicPr>
          <p:nvPr/>
        </p:nvPicPr>
        <p:blipFill>
          <a:blip r:embed="rId2"/>
          <a:stretch>
            <a:fillRect/>
          </a:stretch>
        </p:blipFill>
        <p:spPr>
          <a:xfrm>
            <a:off x="223242" y="155643"/>
            <a:ext cx="6411516" cy="3663724"/>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545548"/>
            <a:ext cx="6852285" cy="8536204"/>
          </a:xfrm>
        </p:spPr>
        <p:txBody>
          <a:bodyPr>
            <a:normAutofit fontScale="82500" lnSpcReduction="20000"/>
          </a:bodyPr>
          <a:lstStyle/>
          <a:p>
            <a:pPr algn="l"/>
            <a:r>
              <a:rPr lang="ja-JP" altLang="en-US" sz="1400" dirty="0"/>
              <a:t>リスクアセスメントには 定量（Quantitative） と 定性（Qualitative） の2つの方法があります。</a:t>
            </a:r>
          </a:p>
          <a:p>
            <a:pPr algn="l"/>
            <a:endParaRPr lang="ja-JP" altLang="en-US" sz="1400" dirty="0"/>
          </a:p>
          <a:p>
            <a:pPr algn="l"/>
            <a:r>
              <a:rPr lang="ja-JP" altLang="en-US" sz="1400" dirty="0"/>
              <a:t>1. Quantitative Risk Assessment（定量的リスク評価）</a:t>
            </a:r>
          </a:p>
          <a:p>
            <a:pPr algn="l"/>
            <a:r>
              <a:rPr lang="ja-JP" altLang="en-US" sz="1400" dirty="0"/>
              <a:t>• 	数値（特に金額）でリスクを評価する方法</a:t>
            </a:r>
          </a:p>
          <a:p>
            <a:pPr algn="l"/>
            <a:r>
              <a:rPr lang="ja-JP" altLang="en-US" sz="1400" dirty="0"/>
              <a:t>• 	例：</a:t>
            </a:r>
          </a:p>
          <a:p>
            <a:pPr algn="l"/>
            <a:r>
              <a:rPr lang="ja-JP" altLang="en-US" sz="1400" dirty="0"/>
              <a:t>• 	事故が起きたら いくら損失が出るか</a:t>
            </a:r>
          </a:p>
          <a:p>
            <a:pPr algn="l"/>
            <a:r>
              <a:rPr lang="ja-JP" altLang="en-US" sz="1400" dirty="0"/>
              <a:t>• 	システム停止で 何ドルの売上が失われるか</a:t>
            </a:r>
          </a:p>
          <a:p>
            <a:pPr algn="l"/>
            <a:r>
              <a:rPr lang="ja-JP" altLang="en-US" sz="1400" dirty="0"/>
              <a:t>経営層は「結局いくら損するのか」を知りたいので、</a:t>
            </a:r>
          </a:p>
          <a:p>
            <a:pPr algn="l"/>
            <a:r>
              <a:rPr lang="ja-JP" altLang="en-US" sz="1400" dirty="0"/>
              <a:t>ビジネス判断には非常に有効 です。</a:t>
            </a:r>
          </a:p>
          <a:p>
            <a:pPr algn="l"/>
            <a:endParaRPr lang="ja-JP" altLang="en-US" sz="1400" dirty="0"/>
          </a:p>
          <a:p>
            <a:pPr algn="l"/>
            <a:r>
              <a:rPr lang="ja-JP" altLang="en-US" sz="1400" dirty="0"/>
              <a:t>2. Qualitative Risk Assessment（定性的リスク評価）</a:t>
            </a:r>
          </a:p>
          <a:p>
            <a:pPr algn="l"/>
            <a:r>
              <a:rPr lang="ja-JP" altLang="en-US" sz="1400" dirty="0"/>
              <a:t>• 	数値化が難しいリスクを扱う</a:t>
            </a:r>
          </a:p>
          <a:p>
            <a:pPr algn="l"/>
            <a:r>
              <a:rPr lang="ja-JP" altLang="en-US" sz="1400" dirty="0"/>
              <a:t>• 	金額ではなく、状況・脅威・脆弱性などの“質的な要素”で判断</a:t>
            </a:r>
          </a:p>
          <a:p>
            <a:pPr algn="l"/>
            <a:r>
              <a:rPr lang="ja-JP" altLang="en-US" sz="1400" dirty="0"/>
              <a:t>• 	結果は通常 Low / Medium / High の3段階などで表す</a:t>
            </a:r>
          </a:p>
          <a:p>
            <a:pPr algn="l"/>
            <a:r>
              <a:rPr lang="ja-JP" altLang="en-US" sz="1400" dirty="0"/>
              <a:t>実施が簡単で、</a:t>
            </a:r>
          </a:p>
          <a:p>
            <a:pPr algn="l"/>
            <a:r>
              <a:rPr lang="ja-JP" altLang="en-US" sz="1400" dirty="0"/>
              <a:t>どこが危険かを素早く把握するのに向いています。</a:t>
            </a:r>
          </a:p>
          <a:p>
            <a:pPr algn="l"/>
            <a:endParaRPr lang="ja-JP" altLang="en-US" sz="1400" dirty="0"/>
          </a:p>
          <a:p>
            <a:pPr algn="l"/>
            <a:r>
              <a:rPr lang="ja-JP" altLang="en-US" sz="1400" dirty="0"/>
              <a:t>例：無線 LAN（Wi-Fi）を ICS/OT に導入する場合</a:t>
            </a:r>
          </a:p>
          <a:p>
            <a:pPr algn="l"/>
            <a:r>
              <a:rPr lang="ja-JP" altLang="en-US" sz="1400" dirty="0"/>
              <a:t>まず、脆弱性・脅威・リスクを洗い出します。</a:t>
            </a:r>
          </a:p>
          <a:p>
            <a:pPr algn="l"/>
            <a:r>
              <a:rPr lang="ja-JP" altLang="en-US" sz="1400" dirty="0"/>
              <a:t>• 	無線通信が盗聴される可能性</a:t>
            </a:r>
          </a:p>
          <a:p>
            <a:pPr algn="l"/>
            <a:r>
              <a:rPr lang="ja-JP" altLang="en-US" sz="1400" dirty="0"/>
              <a:t>• 	誤設定されたアクセスポイントから不正接続される可能性</a:t>
            </a:r>
          </a:p>
          <a:p>
            <a:pPr algn="l"/>
            <a:r>
              <a:rPr lang="ja-JP" altLang="en-US" sz="1400" dirty="0"/>
              <a:t>• 	ログが残らない攻撃が行われる可能性</a:t>
            </a:r>
          </a:p>
          <a:p>
            <a:pPr algn="l"/>
            <a:r>
              <a:rPr lang="ja-JP" altLang="en-US" sz="1400" dirty="0"/>
              <a:t>これらは 現実的なリスク です。</a:t>
            </a:r>
          </a:p>
          <a:p>
            <a:pPr algn="l"/>
            <a:r>
              <a:rPr lang="ja-JP" altLang="en-US" sz="1400" dirty="0"/>
              <a:t>しかし、ここで問題が出ます。</a:t>
            </a:r>
          </a:p>
          <a:p>
            <a:pPr algn="l"/>
            <a:endParaRPr lang="ja-JP" altLang="en-US" sz="1400" dirty="0"/>
          </a:p>
          <a:p>
            <a:pPr algn="l"/>
            <a:r>
              <a:rPr lang="ja-JP" altLang="en-US" sz="1400" dirty="0"/>
              <a:t>こうした金額の算出は 非常に難しい。</a:t>
            </a:r>
          </a:p>
          <a:p>
            <a:pPr algn="l"/>
            <a:r>
              <a:rPr lang="ja-JP" altLang="en-US" sz="1400" dirty="0"/>
              <a:t>つまり、このケースでは 定量評価は向いていない のです。</a:t>
            </a:r>
          </a:p>
          <a:p>
            <a:pPr algn="l"/>
            <a:endParaRPr lang="ja-JP" altLang="en-US" sz="1400" dirty="0"/>
          </a:p>
          <a:p>
            <a:pPr algn="l"/>
            <a:r>
              <a:rPr lang="ja-JP" altLang="en-US" sz="1400" dirty="0"/>
              <a:t>定性評価のほうが適している理由</a:t>
            </a:r>
          </a:p>
          <a:p>
            <a:pPr algn="l"/>
            <a:r>
              <a:rPr lang="ja-JP" altLang="en-US" sz="1400" dirty="0"/>
              <a:t>定性評価なら、状況に応じてリスクを分類できます。</a:t>
            </a:r>
          </a:p>
          <a:p>
            <a:pPr algn="l"/>
            <a:r>
              <a:rPr lang="ja-JP" altLang="en-US" sz="1400" dirty="0"/>
              <a:t>例：</a:t>
            </a:r>
          </a:p>
          <a:p>
            <a:pPr algn="l"/>
            <a:r>
              <a:rPr lang="ja-JP" altLang="en-US" sz="1400" dirty="0"/>
              <a:t>• 	田舎の変電所（周囲50マイルに誰もいない）</a:t>
            </a:r>
          </a:p>
          <a:p>
            <a:pPr algn="l"/>
            <a:r>
              <a:rPr lang="ja-JP" altLang="en-US" sz="1400" dirty="0"/>
              <a:t>→ 無線 LAN を狙う攻撃者がほぼいないため Low Risk</a:t>
            </a:r>
          </a:p>
          <a:p>
            <a:pPr algn="l"/>
            <a:r>
              <a:rPr lang="ja-JP" altLang="en-US" sz="1400" dirty="0"/>
              <a:t>• 	ハイテク企業が集まる都市部の変電所</a:t>
            </a:r>
          </a:p>
          <a:p>
            <a:pPr algn="l"/>
            <a:r>
              <a:rPr lang="ja-JP" altLang="en-US" sz="1400" dirty="0"/>
              <a:t>→ 攻撃者が近くにいる可能性が高く、設定不備があれば High Risk</a:t>
            </a:r>
          </a:p>
          <a:p>
            <a:pPr algn="l"/>
            <a:r>
              <a:rPr lang="ja-JP" altLang="en-US" sz="1400" dirty="0"/>
              <a:t>このように、</a:t>
            </a:r>
          </a:p>
          <a:p>
            <a:pPr algn="l"/>
            <a:r>
              <a:rPr lang="ja-JP" altLang="en-US" sz="1400" dirty="0"/>
              <a:t>環境・脅威・脆弱性を踏まえて直感的に判断できる のが定性評価の強みです。</a:t>
            </a:r>
          </a:p>
        </p:txBody>
      </p:sp>
      <p:pic>
        <p:nvPicPr>
          <p:cNvPr id="4" name="図 3">
            <a:extLst>
              <a:ext uri="{FF2B5EF4-FFF2-40B4-BE49-F238E27FC236}">
                <a16:creationId xmlns:a16="http://schemas.microsoft.com/office/drawing/2014/main" id="{D3915EA2-2061-4F2F-A1AA-48DA6FB29695}"/>
              </a:ext>
            </a:extLst>
          </p:cNvPr>
          <p:cNvPicPr>
            <a:picLocks noChangeAspect="1"/>
          </p:cNvPicPr>
          <p:nvPr/>
        </p:nvPicPr>
        <p:blipFill>
          <a:blip r:embed="rId2"/>
          <a:stretch>
            <a:fillRect/>
          </a:stretch>
        </p:blipFill>
        <p:spPr>
          <a:xfrm>
            <a:off x="593289" y="136185"/>
            <a:ext cx="5671421" cy="3234267"/>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145275"/>
            <a:ext cx="6852285" cy="8975387"/>
          </a:xfrm>
        </p:spPr>
        <p:txBody>
          <a:bodyPr>
            <a:normAutofit fontScale="75000" lnSpcReduction="20000"/>
          </a:bodyPr>
          <a:lstStyle/>
          <a:p>
            <a:pPr algn="l"/>
            <a:r>
              <a:rPr lang="ja-JP" altLang="en-US" sz="1400" dirty="0"/>
              <a:t>リスクを「受け入れる（Accept）」「軽減する（Mitigate）」「移転する（Transfer）」のどれにするかを決めるには、</a:t>
            </a:r>
          </a:p>
          <a:p>
            <a:pPr algn="l"/>
            <a:r>
              <a:rPr lang="ja-JP" altLang="en-US" sz="1400" dirty="0"/>
              <a:t>まず そのリスクを正しく理解し、組織にどんな影響があるかを把握する必要があります。</a:t>
            </a:r>
          </a:p>
          <a:p>
            <a:pPr algn="l"/>
            <a:r>
              <a:rPr lang="ja-JP" altLang="en-US" sz="1400" dirty="0"/>
              <a:t>リスクを評価するときには、いくつかの重要な質問を自分に投げかけると役に立ちます。</a:t>
            </a:r>
          </a:p>
          <a:p>
            <a:pPr algn="l"/>
            <a:r>
              <a:rPr lang="ja-JP" altLang="en-US" sz="1400" dirty="0"/>
              <a:t>これらの質問に答えることで、実際の脅威に集中でき、</a:t>
            </a:r>
          </a:p>
          <a:p>
            <a:pPr algn="l"/>
            <a:r>
              <a:rPr lang="ja-JP" altLang="en-US" sz="1400" dirty="0"/>
              <a:t>その脅威が現実化した場合の影響をより正確に理解できます。</a:t>
            </a:r>
          </a:p>
          <a:p>
            <a:pPr algn="l"/>
            <a:endParaRPr lang="ja-JP" altLang="en-US" sz="1400" dirty="0"/>
          </a:p>
          <a:p>
            <a:pPr algn="l"/>
            <a:r>
              <a:rPr lang="ja-JP" altLang="en-US" sz="1400" dirty="0"/>
              <a:t>1. 何を恐れているのか？（脅威の正体）</a:t>
            </a:r>
          </a:p>
          <a:p>
            <a:pPr algn="l"/>
            <a:r>
              <a:rPr lang="ja-JP" altLang="en-US" sz="1400" dirty="0"/>
              <a:t>まず最初に問うべきは：</a:t>
            </a:r>
          </a:p>
          <a:p>
            <a:pPr algn="l"/>
            <a:r>
              <a:rPr lang="ja-JP" altLang="en-US" sz="1400" dirty="0"/>
              <a:t>- 具体的に何が脅威なのか？</a:t>
            </a:r>
          </a:p>
          <a:p>
            <a:pPr algn="l"/>
            <a:r>
              <a:rPr lang="ja-JP" altLang="en-US" sz="1400" dirty="0"/>
              <a:t>- その脅威は明確に定義できるか？</a:t>
            </a:r>
          </a:p>
          <a:p>
            <a:pPr algn="l"/>
            <a:r>
              <a:rPr lang="ja-JP" altLang="en-US" sz="1400" dirty="0"/>
              <a:t>- 実体のある脅威か？</a:t>
            </a:r>
          </a:p>
          <a:p>
            <a:pPr algn="l"/>
            <a:r>
              <a:rPr lang="ja-JP" altLang="en-US" sz="1400" dirty="0"/>
              <a:t>脅威を曖昧にしたままでは、正しいリスク評価はできません。</a:t>
            </a:r>
          </a:p>
          <a:p>
            <a:pPr algn="l"/>
            <a:endParaRPr lang="ja-JP" altLang="en-US" sz="1400" dirty="0"/>
          </a:p>
          <a:p>
            <a:pPr algn="l"/>
            <a:r>
              <a:rPr lang="ja-JP" altLang="en-US" sz="1400" dirty="0"/>
              <a:t>2. その脅威が実現したら、どんな被害が起きるのか？（影響の大きさ）</a:t>
            </a:r>
          </a:p>
          <a:p>
            <a:pPr algn="l"/>
            <a:r>
              <a:rPr lang="ja-JP" altLang="en-US" sz="1400" dirty="0"/>
              <a:t>脅威を定義できたら、次は 被害の範囲 を考えます。</a:t>
            </a:r>
          </a:p>
          <a:p>
            <a:pPr algn="l"/>
            <a:r>
              <a:rPr lang="ja-JP" altLang="en-US" sz="1400" dirty="0"/>
              <a:t>被害は小さなものから大きなものまで幅があります：</a:t>
            </a:r>
          </a:p>
          <a:p>
            <a:pPr algn="l"/>
            <a:r>
              <a:rPr lang="ja-JP" altLang="en-US" sz="1400" dirty="0"/>
              <a:t>- 例：数個のファイルが壊れる</a:t>
            </a:r>
          </a:p>
          <a:p>
            <a:pPr algn="l"/>
            <a:r>
              <a:rPr lang="ja-JP" altLang="en-US" sz="1400" dirty="0"/>
              <a:t>- 例：重要プロセスが完全に停止する</a:t>
            </a:r>
          </a:p>
          <a:p>
            <a:pPr algn="l"/>
            <a:r>
              <a:rPr lang="ja-JP" altLang="en-US" sz="1400" dirty="0"/>
              <a:t>- 例：最悪の場合、人命に関わる事故や環境破壊 に発展する（ICS では現実的）</a:t>
            </a:r>
          </a:p>
          <a:p>
            <a:pPr algn="l"/>
            <a:r>
              <a:rPr lang="ja-JP" altLang="en-US" sz="1400" dirty="0"/>
              <a:t>つまり、</a:t>
            </a:r>
          </a:p>
          <a:p>
            <a:pPr algn="l"/>
            <a:r>
              <a:rPr lang="ja-JP" altLang="en-US" sz="1400" dirty="0"/>
              <a:t>「このリスクが現実化したら、どれほどの影響があるか？」</a:t>
            </a:r>
          </a:p>
          <a:p>
            <a:pPr algn="l"/>
            <a:r>
              <a:rPr lang="ja-JP" altLang="en-US" sz="1400" dirty="0"/>
              <a:t>を考えることが重要です。</a:t>
            </a:r>
          </a:p>
          <a:p>
            <a:pPr algn="l"/>
            <a:endParaRPr lang="ja-JP" altLang="en-US" sz="1400" dirty="0"/>
          </a:p>
          <a:p>
            <a:pPr algn="l"/>
            <a:r>
              <a:rPr lang="ja-JP" altLang="en-US" sz="1400" dirty="0"/>
              <a:t>3. その脅威はどれくらいの頻度で起こり得るのか？（発生確率）</a:t>
            </a:r>
          </a:p>
          <a:p>
            <a:pPr algn="l"/>
            <a:r>
              <a:rPr lang="ja-JP" altLang="en-US" sz="1400" dirty="0"/>
              <a:t>次に考えるべきは 発生頻度 です。</a:t>
            </a:r>
          </a:p>
          <a:p>
            <a:pPr algn="l"/>
            <a:r>
              <a:rPr lang="ja-JP" altLang="en-US" sz="1400" dirty="0"/>
              <a:t>- 一度だけ起こる可能性なのか</a:t>
            </a:r>
          </a:p>
          <a:p>
            <a:pPr algn="l"/>
            <a:r>
              <a:rPr lang="ja-JP" altLang="en-US" sz="1400" dirty="0"/>
              <a:t>- 年に数回起こり得るのか</a:t>
            </a:r>
          </a:p>
          <a:p>
            <a:pPr algn="l"/>
            <a:r>
              <a:rPr lang="ja-JP" altLang="en-US" sz="1400" dirty="0"/>
              <a:t>- 毎日発生する可能性があるのか</a:t>
            </a:r>
          </a:p>
          <a:p>
            <a:pPr algn="l"/>
            <a:r>
              <a:rPr lang="ja-JP" altLang="en-US" sz="1400" dirty="0"/>
              <a:t>頻度が高ければ、リスクは当然高くなります。</a:t>
            </a:r>
          </a:p>
          <a:p>
            <a:pPr algn="l"/>
            <a:endParaRPr lang="ja-JP" altLang="en-US" sz="1400" dirty="0"/>
          </a:p>
          <a:p>
            <a:pPr algn="l"/>
            <a:r>
              <a:rPr lang="ja-JP" altLang="en-US" sz="1400" dirty="0"/>
              <a:t>4. どれだけ確信を持って答えられるか？（不確実性の認識）</a:t>
            </a:r>
          </a:p>
          <a:p>
            <a:pPr algn="l"/>
            <a:r>
              <a:rPr lang="ja-JP" altLang="en-US" sz="1400" dirty="0"/>
              <a:t>最後の質問は 不確実性の認識 です。</a:t>
            </a:r>
          </a:p>
          <a:p>
            <a:pPr algn="l"/>
            <a:r>
              <a:rPr lang="ja-JP" altLang="en-US" sz="1400" dirty="0"/>
              <a:t>- これらの答えにどれだけ自信があるか？</a:t>
            </a:r>
          </a:p>
          <a:p>
            <a:pPr algn="l"/>
            <a:r>
              <a:rPr lang="ja-JP" altLang="en-US" sz="1400" dirty="0"/>
              <a:t>- 根拠を示せるか？</a:t>
            </a:r>
          </a:p>
          <a:p>
            <a:pPr algn="l"/>
            <a:r>
              <a:rPr lang="ja-JP" altLang="en-US" sz="1400" dirty="0"/>
              <a:t>- 証拠やデータで裏付けられるか？</a:t>
            </a:r>
          </a:p>
          <a:p>
            <a:pPr algn="l"/>
            <a:r>
              <a:rPr lang="ja-JP" altLang="en-US" sz="1400" dirty="0"/>
              <a:t>これは特に難しい質問です。</a:t>
            </a:r>
          </a:p>
          <a:p>
            <a:pPr algn="l"/>
            <a:r>
              <a:rPr lang="ja-JP" altLang="en-US" sz="1400" dirty="0"/>
              <a:t>なぜなら：</a:t>
            </a:r>
          </a:p>
          <a:p>
            <a:pPr algn="l"/>
            <a:r>
              <a:rPr lang="ja-JP" altLang="en-US" sz="1400" dirty="0"/>
              <a:t>- OS やアプリには常に新しい脆弱性が見つかる</a:t>
            </a:r>
          </a:p>
          <a:p>
            <a:pPr algn="l"/>
            <a:r>
              <a:rPr lang="ja-JP" altLang="en-US" sz="1400" dirty="0"/>
              <a:t>- ICS/OT の資産はブラックボックス化していることが多い</a:t>
            </a:r>
          </a:p>
          <a:p>
            <a:pPr algn="l"/>
            <a:r>
              <a:rPr lang="ja-JP" altLang="en-US" sz="1400" dirty="0"/>
              <a:t>- 実際の攻撃データが少ない場合もある</a:t>
            </a:r>
          </a:p>
          <a:p>
            <a:pPr algn="l"/>
            <a:r>
              <a:rPr lang="ja-JP" altLang="en-US" sz="1400" dirty="0"/>
              <a:t>そのため、リスク計算を正確に行うのは簡単ではありません。</a:t>
            </a:r>
          </a:p>
        </p:txBody>
      </p:sp>
      <p:pic>
        <p:nvPicPr>
          <p:cNvPr id="4" name="図 3">
            <a:extLst>
              <a:ext uri="{FF2B5EF4-FFF2-40B4-BE49-F238E27FC236}">
                <a16:creationId xmlns:a16="http://schemas.microsoft.com/office/drawing/2014/main" id="{1BB75071-F4FA-4EAD-8B6D-364CD0C1A532}"/>
              </a:ext>
            </a:extLst>
          </p:cNvPr>
          <p:cNvPicPr>
            <a:picLocks noChangeAspect="1"/>
          </p:cNvPicPr>
          <p:nvPr/>
        </p:nvPicPr>
        <p:blipFill>
          <a:blip r:embed="rId2"/>
          <a:stretch>
            <a:fillRect/>
          </a:stretch>
        </p:blipFill>
        <p:spPr>
          <a:xfrm>
            <a:off x="750483" y="58365"/>
            <a:ext cx="5351318" cy="30480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875284"/>
            <a:ext cx="3429001" cy="8225920"/>
          </a:xfrm>
        </p:spPr>
        <p:txBody>
          <a:bodyPr>
            <a:noAutofit/>
          </a:bodyPr>
          <a:lstStyle/>
          <a:p>
            <a:pPr algn="l"/>
            <a:r>
              <a:rPr lang="ja-JP" altLang="en-US" sz="1000" dirty="0"/>
              <a:t>SLE（Single Loss Expectancy：単一損失期待値）</a:t>
            </a:r>
          </a:p>
          <a:p>
            <a:pPr algn="l"/>
            <a:r>
              <a:rPr lang="ja-JP" altLang="en-US" sz="1000" dirty="0"/>
              <a:t>SLE とは、</a:t>
            </a:r>
          </a:p>
          <a:p>
            <a:pPr algn="l"/>
            <a:r>
              <a:rPr lang="ja-JP" altLang="en-US" sz="1000" dirty="0"/>
              <a:t>1回のインシデントが発生したときに組織が被る金銭的損失額 のことです。</a:t>
            </a:r>
          </a:p>
          <a:p>
            <a:pPr algn="l"/>
            <a:r>
              <a:rPr lang="ja-JP" altLang="en-US" sz="1000" dirty="0"/>
              <a:t>計算式は：</a:t>
            </a:r>
          </a:p>
          <a:p>
            <a:pPr algn="l"/>
            <a:r>
              <a:rPr lang="ja-JP" altLang="en-US" sz="1000" dirty="0"/>
              <a:t>\mathrm{SLE}=\mathrm{資産価値}\times \mathrm{EF（Exposure\  Factor）}</a:t>
            </a:r>
          </a:p>
          <a:p>
            <a:pPr algn="l"/>
            <a:r>
              <a:rPr lang="ja-JP" altLang="en-US" sz="1000" dirty="0"/>
              <a:t>EF（Exposure Factor：曝露係数）とは？</a:t>
            </a:r>
          </a:p>
          <a:p>
            <a:pPr algn="l"/>
            <a:r>
              <a:rPr lang="ja-JP" altLang="en-US" sz="1000" dirty="0"/>
              <a:t>- 脅威が発生した場合に、資産がどれだけ損失するかを 0〜100% で表す</a:t>
            </a:r>
          </a:p>
          <a:p>
            <a:pPr algn="l"/>
            <a:r>
              <a:rPr lang="ja-JP" altLang="en-US" sz="1000" dirty="0"/>
              <a:t>- 例：EF = 40% → 資産価値の 40% が失われる</a:t>
            </a:r>
          </a:p>
          <a:p>
            <a:pPr algn="l"/>
            <a:r>
              <a:rPr lang="ja-JP" altLang="en-US" sz="1000" dirty="0"/>
              <a:t>ALE（Annualized Loss Expectancy：年間損失期待値）</a:t>
            </a:r>
          </a:p>
          <a:p>
            <a:pPr algn="l"/>
            <a:r>
              <a:rPr lang="ja-JP" altLang="en-US" sz="1000" dirty="0"/>
              <a:t>もしそのイベントが 年に複数回起きる可能性がある なら、</a:t>
            </a:r>
          </a:p>
          <a:p>
            <a:pPr algn="l"/>
            <a:r>
              <a:rPr lang="ja-JP" altLang="en-US" sz="1000" dirty="0"/>
              <a:t>年間の損失額を計算する必要があります。</a:t>
            </a:r>
          </a:p>
          <a:p>
            <a:pPr algn="l"/>
            <a:r>
              <a:rPr lang="ja-JP" altLang="en-US" sz="1000" dirty="0"/>
              <a:t>\mathrm{ALE}=\mathrm{SLE}\times \mathrm{ARO（Annual\  Rate\  of\  Occurrence）}</a:t>
            </a:r>
          </a:p>
          <a:p>
            <a:pPr algn="l"/>
            <a:r>
              <a:rPr lang="ja-JP" altLang="en-US" sz="1000" dirty="0"/>
              <a:t>ARO = 年間発生率（例：0.5回/年、2回/年など）</a:t>
            </a:r>
          </a:p>
          <a:p>
            <a:pPr algn="l"/>
            <a:r>
              <a:rPr lang="ja-JP" altLang="en-US" sz="1000" dirty="0"/>
              <a:t>“新しいリスク評価アプローチ”の考え方</a:t>
            </a:r>
          </a:p>
          <a:p>
            <a:pPr algn="l"/>
            <a:r>
              <a:rPr lang="ja-JP" altLang="en-US" sz="1000" dirty="0"/>
              <a:t>従来のリスク評価では、</a:t>
            </a:r>
          </a:p>
          <a:p>
            <a:pPr algn="l"/>
            <a:r>
              <a:rPr lang="ja-JP" altLang="en-US" sz="1000" dirty="0"/>
              <a:t>- 影響（Impact）</a:t>
            </a:r>
          </a:p>
          <a:p>
            <a:pPr algn="l"/>
            <a:r>
              <a:rPr lang="ja-JP" altLang="en-US" sz="1000" dirty="0"/>
              <a:t>- 発生確率（Likelihood）</a:t>
            </a:r>
          </a:p>
          <a:p>
            <a:pPr algn="l"/>
            <a:r>
              <a:rPr lang="ja-JP" altLang="en-US" sz="1000" dirty="0"/>
              <a:t>- 頻度（Frequency）</a:t>
            </a:r>
          </a:p>
          <a:p>
            <a:pPr algn="l"/>
            <a:r>
              <a:rPr lang="ja-JP" altLang="en-US" sz="1000" dirty="0"/>
              <a:t>- 難易度（Difficulty）</a:t>
            </a:r>
          </a:p>
          <a:p>
            <a:pPr algn="l"/>
            <a:r>
              <a:rPr lang="ja-JP" altLang="en-US" sz="1000" dirty="0"/>
              <a:t>などを同時に評価しようとするため、</a:t>
            </a:r>
          </a:p>
          <a:p>
            <a:pPr algn="l"/>
            <a:r>
              <a:rPr lang="ja-JP" altLang="en-US" sz="1000" dirty="0"/>
              <a:t>主観が入りすぎて、重大リスクを見落とす可能性がある という問題がありました。</a:t>
            </a:r>
          </a:p>
          <a:p>
            <a:pPr algn="l"/>
            <a:r>
              <a:rPr lang="ja-JP" altLang="en-US" sz="1000" dirty="0"/>
              <a:t>そこで、FERC Order 706（NERC CIP の基礎となった指針）では、</a:t>
            </a:r>
          </a:p>
          <a:p>
            <a:pPr algn="l"/>
            <a:r>
              <a:rPr lang="ja-JP" altLang="en-US" sz="1000" dirty="0"/>
              <a:t>次のような 2段階アプローチ を推奨しています。</a:t>
            </a:r>
          </a:p>
          <a:p>
            <a:pPr algn="l"/>
            <a:r>
              <a:rPr lang="ja-JP" altLang="en-US" sz="1000" dirty="0"/>
              <a:t>ステップ1：まず「影響（Impact）」だけで分類する</a:t>
            </a:r>
          </a:p>
          <a:p>
            <a:pPr algn="l"/>
            <a:r>
              <a:rPr lang="ja-JP" altLang="en-US" sz="1000" dirty="0"/>
              <a:t>最初の段階では、</a:t>
            </a:r>
          </a:p>
          <a:p>
            <a:pPr algn="l"/>
            <a:r>
              <a:rPr lang="ja-JP" altLang="en-US" sz="1000" dirty="0"/>
              <a:t>発生確率や難易度を一切考えず、影響だけでリスクを分類する。</a:t>
            </a:r>
          </a:p>
          <a:p>
            <a:pPr algn="l"/>
            <a:r>
              <a:rPr lang="ja-JP" altLang="en-US" sz="1000" dirty="0"/>
              <a:t>理由：</a:t>
            </a:r>
          </a:p>
          <a:p>
            <a:pPr algn="l"/>
            <a:r>
              <a:rPr lang="ja-JP" altLang="en-US" sz="1000" dirty="0"/>
              <a:t>- 影響が極めて大きいリスク（ブラックスワン）は、確率が低くても無視できない</a:t>
            </a:r>
          </a:p>
          <a:p>
            <a:pPr algn="l"/>
            <a:r>
              <a:rPr lang="ja-JP" altLang="en-US" sz="1000" dirty="0"/>
              <a:t>- 影響だけで分類すると、重大リスクを確実にリストアップできる</a:t>
            </a:r>
          </a:p>
        </p:txBody>
      </p:sp>
      <p:pic>
        <p:nvPicPr>
          <p:cNvPr id="4" name="図 3">
            <a:extLst>
              <a:ext uri="{FF2B5EF4-FFF2-40B4-BE49-F238E27FC236}">
                <a16:creationId xmlns:a16="http://schemas.microsoft.com/office/drawing/2014/main" id="{487DAC78-B65D-4F04-BE77-866234CF1BF6}"/>
              </a:ext>
            </a:extLst>
          </p:cNvPr>
          <p:cNvPicPr>
            <a:picLocks noChangeAspect="1"/>
          </p:cNvPicPr>
          <p:nvPr/>
        </p:nvPicPr>
        <p:blipFill>
          <a:blip r:embed="rId2"/>
          <a:stretch>
            <a:fillRect/>
          </a:stretch>
        </p:blipFill>
        <p:spPr>
          <a:xfrm>
            <a:off x="252366" y="90796"/>
            <a:ext cx="6353268" cy="3618689"/>
          </a:xfrm>
          <a:prstGeom prst="rect">
            <a:avLst/>
          </a:prstGeom>
        </p:spPr>
      </p:pic>
      <p:sp>
        <p:nvSpPr>
          <p:cNvPr id="5" name="サブタイトル 2">
            <a:extLst>
              <a:ext uri="{FF2B5EF4-FFF2-40B4-BE49-F238E27FC236}">
                <a16:creationId xmlns:a16="http://schemas.microsoft.com/office/drawing/2014/main" id="{C878D847-E7EA-4222-80BB-1699ACB0FCE2}"/>
              </a:ext>
            </a:extLst>
          </p:cNvPr>
          <p:cNvSpPr txBox="1">
            <a:spLocks/>
          </p:cNvSpPr>
          <p:nvPr/>
        </p:nvSpPr>
        <p:spPr>
          <a:xfrm>
            <a:off x="3429000" y="3875283"/>
            <a:ext cx="3429001" cy="7398630"/>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000" dirty="0"/>
              <a:t>ステップ2：次に「確率・頻度・難易度」で優先順位をつける</a:t>
            </a:r>
          </a:p>
          <a:p>
            <a:pPr algn="l"/>
            <a:r>
              <a:rPr lang="ja-JP" altLang="en-US" sz="1000" dirty="0"/>
              <a:t>影響で分類した後に、</a:t>
            </a:r>
          </a:p>
          <a:p>
            <a:pPr algn="l"/>
            <a:r>
              <a:rPr lang="ja-JP" altLang="en-US" sz="1000" dirty="0"/>
              <a:t>- 発生確率（Likelihood）</a:t>
            </a:r>
          </a:p>
          <a:p>
            <a:pPr algn="l"/>
            <a:r>
              <a:rPr lang="ja-JP" altLang="en-US" sz="1000" dirty="0"/>
              <a:t>- 発生頻度（Frequency）</a:t>
            </a:r>
          </a:p>
          <a:p>
            <a:pPr algn="l"/>
            <a:r>
              <a:rPr lang="ja-JP" altLang="en-US" sz="1000" dirty="0"/>
              <a:t>- 攻撃の難易度（Difficulty）</a:t>
            </a:r>
          </a:p>
          <a:p>
            <a:pPr algn="l"/>
            <a:r>
              <a:rPr lang="ja-JP" altLang="en-US" sz="1000" dirty="0"/>
              <a:t>などの主観的な要素を使って、</a:t>
            </a:r>
          </a:p>
          <a:p>
            <a:pPr algn="l"/>
            <a:r>
              <a:rPr lang="ja-JP" altLang="en-US" sz="1000" dirty="0"/>
              <a:t>どの順番で対策するかを決める。</a:t>
            </a:r>
          </a:p>
          <a:p>
            <a:pPr algn="l"/>
            <a:r>
              <a:rPr lang="ja-JP" altLang="en-US" sz="1000" dirty="0"/>
              <a:t>例：EMP（電磁パルス）攻撃のリスク</a:t>
            </a:r>
          </a:p>
          <a:p>
            <a:pPr algn="l"/>
            <a:r>
              <a:rPr lang="ja-JP" altLang="en-US" sz="1000" dirty="0"/>
              <a:t>電力会社が共通して抱えるリスクとして、</a:t>
            </a:r>
          </a:p>
          <a:p>
            <a:pPr algn="l"/>
            <a:r>
              <a:rPr lang="ja-JP" altLang="en-US" sz="1000" dirty="0"/>
              <a:t>「外国が高度1マイルで核爆発を起こし、EMPで送電網が壊滅する」というものがあります。</a:t>
            </a:r>
          </a:p>
          <a:p>
            <a:pPr algn="l"/>
            <a:r>
              <a:rPr lang="ja-JP" altLang="en-US" sz="1000" dirty="0"/>
              <a:t>- 発生確率：極めて低い</a:t>
            </a:r>
          </a:p>
          <a:p>
            <a:pPr algn="l"/>
            <a:r>
              <a:rPr lang="ja-JP" altLang="en-US" sz="1000" dirty="0"/>
              <a:t>- 発生頻度：ほぼゼロ</a:t>
            </a:r>
          </a:p>
          <a:p>
            <a:pPr algn="l"/>
            <a:r>
              <a:rPr lang="ja-JP" altLang="en-US" sz="1000" dirty="0"/>
              <a:t>- 実行難易度：非常に高い（核兵器を持つ国は少ない）</a:t>
            </a:r>
          </a:p>
          <a:p>
            <a:pPr algn="l"/>
            <a:r>
              <a:rPr lang="ja-JP" altLang="en-US" sz="1000" dirty="0"/>
              <a:t>しかし、</a:t>
            </a:r>
          </a:p>
          <a:p>
            <a:pPr algn="l"/>
            <a:r>
              <a:rPr lang="ja-JP" altLang="en-US" sz="1000" dirty="0"/>
              <a:t>影響は最大級（国家レベルの壊滅）。</a:t>
            </a:r>
          </a:p>
          <a:p>
            <a:pPr algn="l"/>
            <a:r>
              <a:rPr lang="ja-JP" altLang="en-US" sz="1000" dirty="0"/>
              <a:t>もし確率や難易度を重視しすぎると、</a:t>
            </a:r>
          </a:p>
          <a:p>
            <a:pPr algn="l"/>
            <a:r>
              <a:rPr lang="ja-JP" altLang="en-US" sz="1000" dirty="0"/>
              <a:t>「どうせ起きないから無視しよう」となり、</a:t>
            </a:r>
          </a:p>
          <a:p>
            <a:pPr algn="l"/>
            <a:r>
              <a:rPr lang="ja-JP" altLang="en-US" sz="1000" dirty="0"/>
              <a:t>重大リスクを永遠に放置してしまいます。</a:t>
            </a:r>
          </a:p>
          <a:p>
            <a:pPr algn="l"/>
            <a:r>
              <a:rPr lang="ja-JP" altLang="en-US" sz="1000" dirty="0"/>
              <a:t>新しいアプローチではどう扱うか？</a:t>
            </a:r>
          </a:p>
          <a:p>
            <a:pPr algn="l"/>
            <a:r>
              <a:rPr lang="ja-JP" altLang="en-US" sz="1000" dirty="0"/>
              <a:t>ステップ1：影響だけで分類 → EMP は“最高リスク”に分類される</a:t>
            </a:r>
          </a:p>
          <a:p>
            <a:pPr algn="l"/>
            <a:r>
              <a:rPr lang="ja-JP" altLang="en-US" sz="1000" dirty="0"/>
              <a:t>これにより、</a:t>
            </a:r>
          </a:p>
          <a:p>
            <a:pPr algn="l"/>
            <a:r>
              <a:rPr lang="ja-JP" altLang="en-US" sz="1000" dirty="0"/>
              <a:t>EMP は必ず検討すべきリスクとして扱われる。</a:t>
            </a:r>
          </a:p>
          <a:p>
            <a:pPr algn="l"/>
            <a:r>
              <a:rPr lang="ja-JP" altLang="en-US" sz="1000" dirty="0"/>
              <a:t>ステップ2：確率・頻度・難易度で“優先順位”と“対策範囲”を決める</a:t>
            </a:r>
          </a:p>
          <a:p>
            <a:pPr algn="l"/>
            <a:r>
              <a:rPr lang="ja-JP" altLang="en-US" sz="1000" dirty="0"/>
              <a:t>- 全システムに EMP 対策をするのはコスト的に不可能</a:t>
            </a:r>
          </a:p>
          <a:p>
            <a:pPr algn="l"/>
            <a:r>
              <a:rPr lang="ja-JP" altLang="en-US" sz="1000" dirty="0"/>
              <a:t>- しかし、送電網の中枢（バックボーン）だけなら対策可能</a:t>
            </a:r>
          </a:p>
          <a:p>
            <a:pPr algn="l"/>
            <a:r>
              <a:rPr lang="ja-JP" altLang="en-US" sz="1000" dirty="0"/>
              <a:t>つまり：</a:t>
            </a:r>
          </a:p>
          <a:p>
            <a:pPr algn="l"/>
            <a:r>
              <a:rPr lang="ja-JP" altLang="en-US" sz="1000" dirty="0"/>
              <a:t>“EMP は重大リスクとして扱うべきだが、対策は現実的な範囲に絞る”</a:t>
            </a:r>
          </a:p>
          <a:p>
            <a:pPr algn="l"/>
            <a:r>
              <a:rPr lang="ja-JP" altLang="en-US" sz="1000" dirty="0"/>
              <a:t>という合理的な判断ができる。</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564418"/>
            <a:ext cx="3360055" cy="6560126"/>
          </a:xfrm>
        </p:spPr>
        <p:txBody>
          <a:bodyPr>
            <a:noAutofit/>
          </a:bodyPr>
          <a:lstStyle/>
          <a:p>
            <a:pPr algn="l"/>
            <a:r>
              <a:rPr lang="ja-JP" altLang="en-US" sz="1000" dirty="0"/>
              <a:t>ICS システムの優先順位付けは「機能」と「影響」で決める</a:t>
            </a:r>
          </a:p>
          <a:p>
            <a:pPr algn="l"/>
            <a:r>
              <a:rPr lang="ja-JP" altLang="en-US" sz="1000" dirty="0"/>
              <a:t>ICS のアプリケーションやシステムは、</a:t>
            </a:r>
          </a:p>
          <a:p>
            <a:pPr algn="l"/>
            <a:r>
              <a:rPr lang="ja-JP" altLang="en-US" sz="1000" dirty="0"/>
              <a:t>そのシステムが提供する機能 と、</a:t>
            </a:r>
          </a:p>
          <a:p>
            <a:pPr algn="l"/>
            <a:r>
              <a:rPr lang="ja-JP" altLang="en-US" sz="1000" dirty="0"/>
              <a:t>その機能が失われたり悪用された場合の影響（Consequences）</a:t>
            </a:r>
          </a:p>
          <a:p>
            <a:pPr algn="l"/>
            <a:r>
              <a:rPr lang="ja-JP" altLang="en-US" sz="1000" dirty="0"/>
              <a:t>によって優先順位を決めるのが最も合理的です。</a:t>
            </a:r>
          </a:p>
          <a:p>
            <a:pPr algn="l"/>
            <a:r>
              <a:rPr lang="ja-JP" altLang="en-US" sz="1000" dirty="0"/>
              <a:t>1. 機能 → 影響（Consequences）へのマッピング</a:t>
            </a:r>
          </a:p>
          <a:p>
            <a:pPr algn="l"/>
            <a:r>
              <a:rPr lang="ja-JP" altLang="en-US" sz="1000" dirty="0"/>
              <a:t>システムの機能が停止・誤動作・悪用された場合に、</a:t>
            </a:r>
          </a:p>
          <a:p>
            <a:pPr algn="l"/>
            <a:r>
              <a:rPr lang="ja-JP" altLang="en-US" sz="1000" dirty="0"/>
              <a:t>どんな影響が起きるかを整理します。</a:t>
            </a:r>
          </a:p>
          <a:p>
            <a:pPr algn="l"/>
            <a:r>
              <a:rPr lang="ja-JP" altLang="en-US" sz="1000" dirty="0"/>
              <a:t>例：</a:t>
            </a:r>
          </a:p>
          <a:p>
            <a:pPr algn="l"/>
            <a:r>
              <a:rPr lang="ja-JP" altLang="en-US" sz="1000" dirty="0"/>
              <a:t>- PLC の制御機能が失われる → プロセス停止</a:t>
            </a:r>
          </a:p>
          <a:p>
            <a:pPr algn="l"/>
            <a:r>
              <a:rPr lang="ja-JP" altLang="en-US" sz="1000" dirty="0"/>
              <a:t>- 安全計装システム（SIS）が誤動作 → 人命リスク</a:t>
            </a:r>
          </a:p>
          <a:p>
            <a:pPr algn="l"/>
            <a:r>
              <a:rPr lang="ja-JP" altLang="en-US" sz="1000" dirty="0"/>
              <a:t>- Historian が停止 → 規制報告ができない</a:t>
            </a:r>
          </a:p>
          <a:p>
            <a:pPr algn="l"/>
            <a:r>
              <a:rPr lang="ja-JP" altLang="en-US" sz="1000" dirty="0"/>
              <a:t>- HMI が誤操作される → プロセス逸脱</a:t>
            </a:r>
          </a:p>
          <a:p>
            <a:pPr algn="l"/>
            <a:r>
              <a:rPr lang="ja-JP" altLang="en-US" sz="1000" dirty="0"/>
              <a:t>これらの影響を明確にするために、</a:t>
            </a:r>
          </a:p>
          <a:p>
            <a:pPr algn="l"/>
            <a:r>
              <a:rPr lang="ja-JP" altLang="en-US" sz="1000" dirty="0"/>
              <a:t>プロセスエンジニアとセキュリティアナリストが共同で分析 する必要があります。</a:t>
            </a:r>
          </a:p>
          <a:p>
            <a:pPr algn="l"/>
            <a:r>
              <a:rPr lang="ja-JP" altLang="en-US" sz="1000" dirty="0"/>
              <a:t>2. 工学的リスク評価手法を活用する</a:t>
            </a:r>
          </a:p>
          <a:p>
            <a:pPr algn="l"/>
            <a:r>
              <a:rPr lang="ja-JP" altLang="en-US" sz="1000" dirty="0"/>
              <a:t>ICS の影響分析は、既存の工学的手法をベースにできます。</a:t>
            </a:r>
          </a:p>
          <a:p>
            <a:pPr algn="l"/>
            <a:r>
              <a:rPr lang="ja-JP" altLang="en-US" sz="1000" dirty="0"/>
              <a:t>- PHA（Process Hazard Analysis）</a:t>
            </a:r>
          </a:p>
          <a:p>
            <a:pPr algn="l"/>
            <a:r>
              <a:rPr lang="ja-JP" altLang="en-US" sz="1000" dirty="0"/>
              <a:t>- HAZOP（Hazard and Operability Study）</a:t>
            </a:r>
          </a:p>
          <a:p>
            <a:pPr algn="l"/>
            <a:r>
              <a:rPr lang="ja-JP" altLang="en-US" sz="1000" dirty="0"/>
              <a:t>- LOPA（Layer of Protection Analysis）</a:t>
            </a:r>
          </a:p>
          <a:p>
            <a:pPr algn="l"/>
            <a:r>
              <a:rPr lang="ja-JP" altLang="en-US" sz="1000" dirty="0"/>
              <a:t>- FSA（Functional Safety Assessment）</a:t>
            </a:r>
          </a:p>
          <a:p>
            <a:pPr algn="l"/>
            <a:r>
              <a:rPr lang="ja-JP" altLang="en-US" sz="1000" dirty="0"/>
              <a:t>これらは本来「安全（Safety）」のための手法ですが、</a:t>
            </a:r>
          </a:p>
          <a:p>
            <a:pPr algn="l"/>
            <a:r>
              <a:rPr lang="ja-JP" altLang="en-US" sz="1000" dirty="0"/>
              <a:t>サイバー攻撃による誤動作も“プロセス異常”として扱える ため、非常に相性が良いです。</a:t>
            </a:r>
          </a:p>
          <a:p>
            <a:pPr algn="l"/>
            <a:r>
              <a:rPr lang="ja-JP" altLang="en-US" sz="1000" dirty="0"/>
              <a:t>セキュリティアナリストが参加することで、</a:t>
            </a:r>
          </a:p>
          <a:p>
            <a:pPr algn="l"/>
            <a:r>
              <a:rPr lang="ja-JP" altLang="en-US" sz="1000" dirty="0"/>
              <a:t>「攻撃者視点の盲点」を防ぐことができます。</a:t>
            </a:r>
          </a:p>
        </p:txBody>
      </p:sp>
      <p:pic>
        <p:nvPicPr>
          <p:cNvPr id="4" name="図 3">
            <a:extLst>
              <a:ext uri="{FF2B5EF4-FFF2-40B4-BE49-F238E27FC236}">
                <a16:creationId xmlns:a16="http://schemas.microsoft.com/office/drawing/2014/main" id="{49D0B53F-A691-4729-8582-6C1012B0C26D}"/>
              </a:ext>
            </a:extLst>
          </p:cNvPr>
          <p:cNvPicPr>
            <a:picLocks noChangeAspect="1"/>
          </p:cNvPicPr>
          <p:nvPr/>
        </p:nvPicPr>
        <p:blipFill>
          <a:blip r:embed="rId2"/>
          <a:stretch>
            <a:fillRect/>
          </a:stretch>
        </p:blipFill>
        <p:spPr>
          <a:xfrm>
            <a:off x="1270519" y="77820"/>
            <a:ext cx="4179069" cy="2373549"/>
          </a:xfrm>
          <a:prstGeom prst="rect">
            <a:avLst/>
          </a:prstGeom>
        </p:spPr>
      </p:pic>
      <p:sp>
        <p:nvSpPr>
          <p:cNvPr id="5" name="サブタイトル 2">
            <a:extLst>
              <a:ext uri="{FF2B5EF4-FFF2-40B4-BE49-F238E27FC236}">
                <a16:creationId xmlns:a16="http://schemas.microsoft.com/office/drawing/2014/main" id="{1975AA8B-9BBB-4488-ACD0-749AA4873272}"/>
              </a:ext>
            </a:extLst>
          </p:cNvPr>
          <p:cNvSpPr txBox="1">
            <a:spLocks/>
          </p:cNvSpPr>
          <p:nvPr/>
        </p:nvSpPr>
        <p:spPr>
          <a:xfrm>
            <a:off x="3487365" y="2564418"/>
            <a:ext cx="3360055" cy="9575700"/>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000" dirty="0"/>
              <a:t>3. Mission-Critical（ミッションクリティカル）システムの特定</a:t>
            </a:r>
          </a:p>
          <a:p>
            <a:pPr algn="l"/>
            <a:r>
              <a:rPr lang="ja-JP" altLang="en-US" sz="1000" dirty="0"/>
              <a:t>一部の ICS システムは、</a:t>
            </a:r>
          </a:p>
          <a:p>
            <a:pPr algn="l"/>
            <a:r>
              <a:rPr lang="ja-JP" altLang="en-US" sz="1000" dirty="0"/>
              <a:t>プラントやプロセスが正常に稼働するために絶対に必要 です。</a:t>
            </a:r>
          </a:p>
          <a:p>
            <a:pPr algn="l"/>
            <a:r>
              <a:rPr lang="ja-JP" altLang="en-US" sz="1000" dirty="0"/>
              <a:t>例：</a:t>
            </a:r>
          </a:p>
          <a:p>
            <a:pPr algn="l"/>
            <a:r>
              <a:rPr lang="ja-JP" altLang="en-US" sz="1000" dirty="0"/>
              <a:t>- PLC</a:t>
            </a:r>
          </a:p>
          <a:p>
            <a:pPr algn="l"/>
            <a:r>
              <a:rPr lang="ja-JP" altLang="en-US" sz="1000" dirty="0"/>
              <a:t>- SIS（Safety Instrumented System）</a:t>
            </a:r>
          </a:p>
          <a:p>
            <a:pPr algn="l"/>
            <a:r>
              <a:rPr lang="ja-JP" altLang="en-US" sz="1000" dirty="0"/>
              <a:t>- SCADA</a:t>
            </a:r>
          </a:p>
          <a:p>
            <a:pPr algn="l"/>
            <a:r>
              <a:rPr lang="ja-JP" altLang="en-US" sz="1000" dirty="0"/>
              <a:t>- 重要なネットワーク機器</a:t>
            </a:r>
          </a:p>
          <a:p>
            <a:pPr algn="l"/>
            <a:r>
              <a:rPr lang="ja-JP" altLang="en-US" sz="1000" dirty="0"/>
              <a:t>- 主要な Historian</a:t>
            </a:r>
          </a:p>
          <a:p>
            <a:pPr algn="l"/>
            <a:r>
              <a:rPr lang="ja-JP" altLang="en-US" sz="1000" dirty="0"/>
              <a:t>ただし、ミッションクリティカルは 見た目だけでは判断できない 場合があります。</a:t>
            </a:r>
          </a:p>
          <a:p>
            <a:pPr algn="l"/>
            <a:r>
              <a:rPr lang="ja-JP" altLang="en-US" sz="1000" dirty="0"/>
              <a:t>例：規制要件による“隠れミッションクリティカル”</a:t>
            </a:r>
          </a:p>
          <a:p>
            <a:pPr algn="l"/>
            <a:r>
              <a:rPr lang="ja-JP" altLang="en-US" sz="1000" dirty="0"/>
              <a:t>石炭火力発電所の排ガス監視センサー（CEMS）は、</a:t>
            </a:r>
          </a:p>
          <a:p>
            <a:pPr algn="l"/>
            <a:r>
              <a:rPr lang="ja-JP" altLang="en-US" sz="1000" dirty="0"/>
              <a:t>プロセス自体の安全には直接関係しないかもしれません。</a:t>
            </a:r>
          </a:p>
          <a:p>
            <a:pPr algn="l"/>
            <a:r>
              <a:rPr lang="ja-JP" altLang="en-US" sz="1000" dirty="0"/>
              <a:t>しかし：</a:t>
            </a:r>
          </a:p>
          <a:p>
            <a:pPr algn="l"/>
            <a:r>
              <a:rPr lang="ja-JP" altLang="en-US" sz="1000" dirty="0"/>
              <a:t>- CEMS が停止すると規制違反</a:t>
            </a:r>
          </a:p>
          <a:p>
            <a:pPr algn="l"/>
            <a:r>
              <a:rPr lang="ja-JP" altLang="en-US" sz="1000" dirty="0"/>
              <a:t>- 規制違反 → プラント停止命令</a:t>
            </a:r>
          </a:p>
          <a:p>
            <a:pPr algn="l"/>
            <a:r>
              <a:rPr lang="ja-JP" altLang="en-US" sz="1000" dirty="0"/>
              <a:t>つまり、</a:t>
            </a:r>
          </a:p>
          <a:p>
            <a:pPr algn="l"/>
            <a:r>
              <a:rPr lang="ja-JP" altLang="en-US" sz="1000" dirty="0"/>
              <a:t>プロセスは動いていても、規制のせいで停止せざるを得ない</a:t>
            </a:r>
          </a:p>
          <a:p>
            <a:pPr algn="l"/>
            <a:r>
              <a:rPr lang="ja-JP" altLang="en-US" sz="1000" dirty="0"/>
              <a:t>というケースがあるわけです。</a:t>
            </a:r>
          </a:p>
          <a:p>
            <a:pPr algn="l"/>
            <a:r>
              <a:rPr lang="ja-JP" altLang="en-US" sz="1000" dirty="0"/>
              <a:t>4. Trust（信頼）の概念と ICS アーキテクチャ</a:t>
            </a:r>
          </a:p>
          <a:p>
            <a:pPr algn="l"/>
            <a:r>
              <a:rPr lang="ja-JP" altLang="en-US" sz="1000" dirty="0"/>
              <a:t>ICS セキュリティでは 信頼レベル（Trust Gradient） が重要です。</a:t>
            </a:r>
          </a:p>
          <a:p>
            <a:pPr algn="l"/>
            <a:r>
              <a:rPr lang="ja-JP" altLang="en-US" sz="1000" dirty="0"/>
              <a:t>- 最も信頼できるシステム</a:t>
            </a:r>
          </a:p>
          <a:p>
            <a:pPr algn="l"/>
            <a:r>
              <a:rPr lang="ja-JP" altLang="en-US" sz="1000" dirty="0"/>
              <a:t>- </a:t>
            </a:r>
            <a:r>
              <a:rPr lang="ja-JP" altLang="en-US" sz="1000" dirty="0" err="1"/>
              <a:t>そこそこ</a:t>
            </a:r>
            <a:r>
              <a:rPr lang="ja-JP" altLang="en-US" sz="1000" dirty="0"/>
              <a:t>信頼できるシステム</a:t>
            </a:r>
          </a:p>
          <a:p>
            <a:pPr algn="l"/>
            <a:r>
              <a:rPr lang="ja-JP" altLang="en-US" sz="1000" dirty="0"/>
              <a:t>- 信頼できないシステム</a:t>
            </a:r>
          </a:p>
          <a:p>
            <a:pPr algn="l"/>
            <a:r>
              <a:rPr lang="ja-JP" altLang="en-US" sz="1000" dirty="0"/>
              <a:t>このように「信頼の段階（グラデーション）」を定義し、</a:t>
            </a:r>
          </a:p>
          <a:p>
            <a:pPr algn="l"/>
            <a:r>
              <a:rPr lang="ja-JP" altLang="en-US" sz="1000" dirty="0"/>
              <a:t>信頼レベルが異なるシステム同士を接続する場合は、必ずセキュリティ制御が必要 になります。</a:t>
            </a:r>
          </a:p>
          <a:p>
            <a:pPr algn="l"/>
            <a:r>
              <a:rPr lang="ja-JP" altLang="en-US" sz="1000" dirty="0"/>
              <a:t>これは ISA‑99 / IEC‑62443 の基本思想です。</a:t>
            </a:r>
          </a:p>
          <a:p>
            <a:pPr algn="l"/>
            <a:r>
              <a:rPr lang="ja-JP" altLang="en-US" sz="1000" dirty="0"/>
              <a:t>5. 構成変更が可能なシステムは“接続先のレベル”に合わせる</a:t>
            </a:r>
          </a:p>
          <a:p>
            <a:pPr algn="l"/>
            <a:r>
              <a:rPr lang="ja-JP" altLang="en-US" sz="1000" dirty="0"/>
              <a:t>重要なポイント：</a:t>
            </a:r>
          </a:p>
          <a:p>
            <a:pPr algn="l"/>
            <a:r>
              <a:rPr lang="ja-JP" altLang="en-US" sz="1000" dirty="0"/>
              <a:t>設定変更や構成管理ができるシステムは、接続先のデバイスと同じレベルに分類する必要がある。</a:t>
            </a:r>
          </a:p>
          <a:p>
            <a:pPr algn="l"/>
            <a:r>
              <a:rPr lang="ja-JP" altLang="en-US" sz="1000" dirty="0"/>
              <a:t>例：</a:t>
            </a:r>
          </a:p>
          <a:p>
            <a:pPr algn="l"/>
            <a:r>
              <a:rPr lang="ja-JP" altLang="en-US" sz="1000" dirty="0"/>
              <a:t>- 安全システム（SIS）に接続できるエンジニアリングワークステーション（EWS）は、</a:t>
            </a:r>
          </a:p>
          <a:p>
            <a:pPr algn="l"/>
            <a:r>
              <a:rPr lang="ja-JP" altLang="en-US" sz="1000" dirty="0"/>
              <a:t>Level 0（最下層）扱い にすべき。</a:t>
            </a:r>
          </a:p>
          <a:p>
            <a:pPr algn="l"/>
            <a:r>
              <a:rPr lang="ja-JP" altLang="en-US" sz="1000" dirty="0"/>
              <a:t>理由：</a:t>
            </a:r>
          </a:p>
          <a:p>
            <a:pPr algn="l"/>
            <a:r>
              <a:rPr lang="ja-JP" altLang="en-US" sz="1000" dirty="0"/>
              <a:t>EWS が侵害されれば、SIS を直接操作できてしまうため。</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0"/>
            <a:ext cx="3429000" cy="10992255"/>
          </a:xfrm>
        </p:spPr>
        <p:txBody>
          <a:bodyPr>
            <a:noAutofit/>
          </a:bodyPr>
          <a:lstStyle/>
          <a:p>
            <a:pPr algn="l"/>
            <a:r>
              <a:rPr lang="ja-JP" altLang="en-US" sz="1200" dirty="0"/>
              <a:t>ICS システムは、信頼レベル（Level 0〜5） に応じて分類できます。</a:t>
            </a:r>
          </a:p>
          <a:p>
            <a:pPr algn="l"/>
            <a:r>
              <a:rPr lang="ja-JP" altLang="en-US" sz="1200" dirty="0"/>
              <a:t>レベルが低いほど「プロセスに近く、信頼度が高い（攻撃されると危険）」という意味です。</a:t>
            </a:r>
          </a:p>
          <a:p>
            <a:pPr algn="l"/>
            <a:r>
              <a:rPr lang="ja-JP" altLang="en-US" sz="1200" dirty="0"/>
              <a:t>Level 0 – Safety &amp; Emergency（安全・緊急停止）</a:t>
            </a:r>
          </a:p>
          <a:p>
            <a:pPr algn="l"/>
            <a:r>
              <a:rPr lang="ja-JP" altLang="en-US" sz="1200" dirty="0"/>
              <a:t>最も信頼度が高く、最も保護すべき層。</a:t>
            </a:r>
          </a:p>
          <a:p>
            <a:pPr algn="l"/>
            <a:r>
              <a:rPr lang="ja-JP" altLang="en-US" sz="1200" dirty="0"/>
              <a:t>含まれるシステムの例：</a:t>
            </a:r>
          </a:p>
          <a:p>
            <a:pPr algn="l"/>
            <a:r>
              <a:rPr lang="ja-JP" altLang="en-US" sz="1200" dirty="0"/>
              <a:t>• 	Safety Instrumented Systems（SIS）</a:t>
            </a:r>
          </a:p>
          <a:p>
            <a:pPr algn="l"/>
            <a:r>
              <a:rPr lang="ja-JP" altLang="en-US" sz="1200" dirty="0"/>
              <a:t>• 	Emergency Shutdown Systems（ESD）</a:t>
            </a:r>
          </a:p>
          <a:p>
            <a:pPr algn="l"/>
            <a:r>
              <a:rPr lang="ja-JP" altLang="en-US" sz="1200" dirty="0"/>
              <a:t>• 	Fire &amp; Gas（F&amp;G）</a:t>
            </a:r>
          </a:p>
          <a:p>
            <a:pPr algn="l"/>
            <a:r>
              <a:rPr lang="ja-JP" altLang="en-US" sz="1200" dirty="0"/>
              <a:t>• 	Safety Logic Solver</a:t>
            </a:r>
          </a:p>
          <a:p>
            <a:pPr algn="l"/>
            <a:r>
              <a:rPr lang="ja-JP" altLang="en-US" sz="1200" dirty="0"/>
              <a:t>• 	Safety Controller</a:t>
            </a:r>
          </a:p>
          <a:p>
            <a:pPr algn="l"/>
            <a:r>
              <a:rPr lang="ja-JP" altLang="en-US" sz="1200" dirty="0"/>
              <a:t>• 	Safety Instrumented Function（SIF）を持つデバイス</a:t>
            </a:r>
          </a:p>
          <a:p>
            <a:pPr algn="l"/>
            <a:r>
              <a:rPr lang="ja-JP" altLang="en-US" sz="1200" dirty="0"/>
              <a:t>• 	放射線監視などの Health &amp; Safety システム</a:t>
            </a:r>
          </a:p>
          <a:p>
            <a:pPr algn="l"/>
            <a:r>
              <a:rPr lang="ja-JP" altLang="en-US" sz="1200" dirty="0"/>
              <a:t>注意点：安全と制御が統合された ICS はすべて Level 0 扱い</a:t>
            </a:r>
          </a:p>
          <a:p>
            <a:pPr algn="l"/>
            <a:r>
              <a:rPr lang="ja-JP" altLang="en-US" sz="1200" dirty="0"/>
              <a:t>最近の ICS では、安全機能と制御機能が統合されている場合があります。</a:t>
            </a:r>
          </a:p>
          <a:p>
            <a:pPr algn="l"/>
            <a:r>
              <a:rPr lang="ja-JP" altLang="en-US" sz="1200" dirty="0"/>
              <a:t>こうした 統合 SIS/Control システムは必ず Level 0 として扱うべき です。</a:t>
            </a:r>
          </a:p>
          <a:p>
            <a:pPr algn="l"/>
            <a:r>
              <a:rPr lang="ja-JP" altLang="en-US" sz="1200" dirty="0"/>
              <a:t>Level 1 – Control（制御）</a:t>
            </a:r>
          </a:p>
          <a:p>
            <a:pPr algn="l"/>
            <a:r>
              <a:rPr lang="ja-JP" altLang="en-US" sz="1200" dirty="0"/>
              <a:t>プロセスを直接制御する層。</a:t>
            </a:r>
          </a:p>
          <a:p>
            <a:pPr algn="l"/>
            <a:r>
              <a:rPr lang="ja-JP" altLang="en-US" sz="1200" dirty="0"/>
              <a:t>例：</a:t>
            </a:r>
          </a:p>
          <a:p>
            <a:pPr algn="l"/>
            <a:r>
              <a:rPr lang="ja-JP" altLang="en-US" sz="1200" dirty="0"/>
              <a:t>• 	PLC（Programmable Logic Controller）</a:t>
            </a:r>
          </a:p>
          <a:p>
            <a:pPr algn="l"/>
            <a:r>
              <a:rPr lang="ja-JP" altLang="en-US" sz="1200" dirty="0"/>
              <a:t>• 	RTU（Remote Terminal Unit）</a:t>
            </a:r>
          </a:p>
          <a:p>
            <a:pPr algn="l"/>
            <a:r>
              <a:rPr lang="ja-JP" altLang="en-US" sz="1200" dirty="0"/>
              <a:t>• 	プロセスコントローラ</a:t>
            </a:r>
          </a:p>
          <a:p>
            <a:pPr algn="l"/>
            <a:r>
              <a:rPr lang="ja-JP" altLang="en-US" sz="1200" dirty="0"/>
              <a:t>• 	電力保護リレー</a:t>
            </a:r>
          </a:p>
          <a:p>
            <a:pPr algn="l"/>
            <a:r>
              <a:rPr lang="ja-JP" altLang="en-US" sz="1200" dirty="0"/>
              <a:t>• 	Process Shutdown（PSD）</a:t>
            </a:r>
          </a:p>
          <a:p>
            <a:pPr algn="l"/>
            <a:r>
              <a:rPr lang="ja-JP" altLang="en-US" sz="1200" dirty="0"/>
              <a:t>• 	制御サーバ</a:t>
            </a:r>
          </a:p>
          <a:p>
            <a:pPr algn="l"/>
            <a:r>
              <a:rPr lang="ja-JP" altLang="en-US" sz="1200" dirty="0"/>
              <a:t>Level 2 – Supervisory Control（監視・操作）</a:t>
            </a:r>
          </a:p>
          <a:p>
            <a:pPr algn="l"/>
            <a:r>
              <a:rPr lang="ja-JP" altLang="en-US" sz="1200" dirty="0"/>
              <a:t>オペレーターがプロセスを監視・操作する層。</a:t>
            </a:r>
          </a:p>
          <a:p>
            <a:pPr algn="l"/>
            <a:r>
              <a:rPr lang="ja-JP" altLang="en-US" sz="1200" dirty="0"/>
              <a:t>例：</a:t>
            </a:r>
          </a:p>
          <a:p>
            <a:pPr algn="l"/>
            <a:r>
              <a:rPr lang="ja-JP" altLang="en-US" sz="1200" dirty="0"/>
              <a:t>• 	HMI（Human Machine Interface）</a:t>
            </a:r>
          </a:p>
          <a:p>
            <a:pPr algn="l"/>
            <a:r>
              <a:rPr lang="ja-JP" altLang="en-US" sz="1200" dirty="0"/>
              <a:t>• 	オペレーターが操作に必要なアラーム</a:t>
            </a:r>
          </a:p>
          <a:p>
            <a:pPr algn="l"/>
            <a:r>
              <a:rPr lang="ja-JP" altLang="en-US" sz="1200" dirty="0"/>
              <a:t>Level 3 – Monitoring &amp; Alarming（監視・記録）</a:t>
            </a:r>
          </a:p>
          <a:p>
            <a:pPr algn="l"/>
            <a:r>
              <a:rPr lang="ja-JP" altLang="en-US" sz="1200" dirty="0"/>
              <a:t>監視・記録・アラーム管理を行う層。</a:t>
            </a:r>
          </a:p>
          <a:p>
            <a:pPr algn="l"/>
            <a:r>
              <a:rPr lang="ja-JP" altLang="en-US" sz="1200" dirty="0"/>
              <a:t>例：</a:t>
            </a:r>
          </a:p>
          <a:p>
            <a:pPr algn="l"/>
            <a:r>
              <a:rPr lang="ja-JP" altLang="en-US" sz="1200" dirty="0"/>
              <a:t>• 	アラームサーバ</a:t>
            </a:r>
          </a:p>
          <a:p>
            <a:pPr algn="l"/>
            <a:r>
              <a:rPr lang="ja-JP" altLang="en-US" sz="1200" dirty="0"/>
              <a:t>• 	SOE（Sequence of Events Recorder）</a:t>
            </a:r>
          </a:p>
          <a:p>
            <a:pPr algn="l"/>
            <a:r>
              <a:rPr lang="ja-JP" altLang="en-US" sz="1200" dirty="0"/>
              <a:t>• 	ローカル Historian</a:t>
            </a:r>
          </a:p>
          <a:p>
            <a:pPr algn="l"/>
            <a:r>
              <a:rPr lang="ja-JP" altLang="en-US" sz="1200" dirty="0"/>
              <a:t>• 	HMI（監視専用）</a:t>
            </a:r>
          </a:p>
        </p:txBody>
      </p:sp>
      <p:sp>
        <p:nvSpPr>
          <p:cNvPr id="4" name="サブタイトル 2">
            <a:extLst>
              <a:ext uri="{FF2B5EF4-FFF2-40B4-BE49-F238E27FC236}">
                <a16:creationId xmlns:a16="http://schemas.microsoft.com/office/drawing/2014/main" id="{1775849B-B9DD-4F72-93A4-C84E2EEBC7F1}"/>
              </a:ext>
            </a:extLst>
          </p:cNvPr>
          <p:cNvSpPr txBox="1">
            <a:spLocks/>
          </p:cNvSpPr>
          <p:nvPr/>
        </p:nvSpPr>
        <p:spPr>
          <a:xfrm>
            <a:off x="3430621" y="0"/>
            <a:ext cx="3429001" cy="11420272"/>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Level 4 – Telemetry Only（遠隔計測）</a:t>
            </a:r>
          </a:p>
          <a:p>
            <a:pPr algn="l"/>
            <a:r>
              <a:rPr lang="ja-JP" altLang="en-US" sz="1200" dirty="0"/>
              <a:t>計測データの収集のみを行う層。</a:t>
            </a:r>
          </a:p>
          <a:p>
            <a:pPr algn="l"/>
            <a:r>
              <a:rPr lang="ja-JP" altLang="en-US" sz="1200" dirty="0"/>
              <a:t>例：</a:t>
            </a:r>
          </a:p>
          <a:p>
            <a:pPr algn="l"/>
            <a:r>
              <a:rPr lang="ja-JP" altLang="en-US" sz="1200" dirty="0"/>
              <a:t>• 	メータリングシステム</a:t>
            </a:r>
          </a:p>
          <a:p>
            <a:pPr algn="l"/>
            <a:r>
              <a:rPr lang="ja-JP" altLang="en-US" sz="1200" dirty="0"/>
              <a:t>• 	Historian（集約用）</a:t>
            </a:r>
          </a:p>
          <a:p>
            <a:pPr algn="l"/>
            <a:r>
              <a:rPr lang="ja-JP" altLang="en-US" sz="1200" dirty="0"/>
              <a:t>• 	テレメトリ収集システム</a:t>
            </a:r>
          </a:p>
          <a:p>
            <a:pPr algn="l"/>
            <a:r>
              <a:rPr lang="ja-JP" altLang="en-US" sz="1200" dirty="0"/>
              <a:t>Level 5 – Auxiliary Services（補助サービス）</a:t>
            </a:r>
          </a:p>
          <a:p>
            <a:pPr algn="l"/>
            <a:r>
              <a:rPr lang="ja-JP" altLang="en-US" sz="1200" dirty="0"/>
              <a:t>プロセスを直接制御しないが、運用に必要な補助システム。</a:t>
            </a:r>
          </a:p>
          <a:p>
            <a:pPr algn="l"/>
            <a:r>
              <a:rPr lang="ja-JP" altLang="en-US" sz="1200" dirty="0"/>
              <a:t>例：</a:t>
            </a:r>
          </a:p>
          <a:p>
            <a:pPr algn="l"/>
            <a:r>
              <a:rPr lang="ja-JP" altLang="en-US" sz="1200" dirty="0"/>
              <a:t>• 	気象システム</a:t>
            </a:r>
          </a:p>
          <a:p>
            <a:pPr algn="l"/>
            <a:r>
              <a:rPr lang="ja-JP" altLang="en-US" sz="1200" dirty="0"/>
              <a:t>• 	メッセージングシステム</a:t>
            </a:r>
          </a:p>
          <a:p>
            <a:pPr algn="l"/>
            <a:r>
              <a:rPr lang="ja-JP" altLang="en-US" sz="1200" dirty="0"/>
              <a:t>• 	作業チケット（Work Ticketing）</a:t>
            </a:r>
          </a:p>
          <a:p>
            <a:pPr algn="l"/>
            <a:r>
              <a:rPr lang="ja-JP" altLang="en-US" sz="1200" dirty="0"/>
              <a:t>• 	スケジューリングシステム</a:t>
            </a:r>
          </a:p>
          <a:p>
            <a:pPr algn="l"/>
            <a:r>
              <a:rPr lang="ja-JP" altLang="en-US" sz="1200" dirty="0"/>
              <a:t>• 	メンテナンスシステム</a:t>
            </a:r>
          </a:p>
          <a:p>
            <a:pPr algn="l"/>
            <a:r>
              <a:rPr lang="ja-JP" altLang="en-US" sz="1200" dirty="0"/>
              <a:t>• 	CCTV</a:t>
            </a:r>
          </a:p>
          <a:p>
            <a:pPr algn="l"/>
            <a:r>
              <a:rPr lang="ja-JP" altLang="en-US" sz="1200" dirty="0"/>
              <a:t>• 	ラボシステム（Level 1 に接続される場合あり）</a:t>
            </a:r>
          </a:p>
          <a:p>
            <a:pPr algn="l"/>
            <a:r>
              <a:rPr lang="ja-JP" altLang="en-US" sz="1200" dirty="0"/>
              <a:t>• 	腐食監視システム</a:t>
            </a:r>
          </a:p>
          <a:p>
            <a:pPr algn="l"/>
            <a:r>
              <a:rPr lang="ja-JP" altLang="en-US" sz="1200" dirty="0"/>
              <a:t>• 	排ガス監視システム（CEMS）</a:t>
            </a:r>
          </a:p>
          <a:p>
            <a:pPr algn="l"/>
            <a:r>
              <a:rPr lang="ja-JP" altLang="en-US" sz="1200" dirty="0"/>
              <a:t>重要な注意点（実務で最も誤解されやすい部分）</a:t>
            </a:r>
          </a:p>
          <a:p>
            <a:pPr algn="l"/>
            <a:r>
              <a:rPr lang="ja-JP" altLang="en-US" sz="1200" dirty="0"/>
              <a:t>1. Level 2 に分類される“隠れミッションクリティカル”が存在する</a:t>
            </a:r>
          </a:p>
          <a:p>
            <a:pPr algn="l"/>
            <a:r>
              <a:rPr lang="ja-JP" altLang="en-US" sz="1200" dirty="0"/>
              <a:t>例えば：</a:t>
            </a:r>
          </a:p>
          <a:p>
            <a:pPr algn="l"/>
            <a:r>
              <a:rPr lang="ja-JP" altLang="en-US" sz="1200" dirty="0"/>
              <a:t>• 	排ガス監視システム（CEMS）</a:t>
            </a:r>
          </a:p>
          <a:p>
            <a:pPr algn="l"/>
            <a:r>
              <a:rPr lang="ja-JP" altLang="en-US" sz="1200" dirty="0"/>
              <a:t>• 	規制報告システム</a:t>
            </a:r>
          </a:p>
          <a:p>
            <a:pPr algn="l"/>
            <a:r>
              <a:rPr lang="ja-JP" altLang="en-US" sz="1200" dirty="0"/>
              <a:t>• 	重要なアラーム管理システム</a:t>
            </a:r>
          </a:p>
          <a:p>
            <a:pPr algn="l"/>
            <a:r>
              <a:rPr lang="ja-JP" altLang="en-US" sz="1200" dirty="0"/>
              <a:t>これらはプロセスを直接制御しないが、</a:t>
            </a:r>
          </a:p>
          <a:p>
            <a:pPr algn="l"/>
            <a:r>
              <a:rPr lang="ja-JP" altLang="en-US" sz="1200" dirty="0"/>
              <a:t>停止すると規制違反 → プラント停止</a:t>
            </a:r>
          </a:p>
          <a:p>
            <a:pPr algn="l"/>
            <a:r>
              <a:rPr lang="ja-JP" altLang="en-US" sz="1200" dirty="0"/>
              <a:t>となるため、実質的にミッションクリティカル。</a:t>
            </a:r>
          </a:p>
          <a:p>
            <a:pPr algn="l"/>
            <a:endParaRPr lang="ja-JP" altLang="en-US" sz="1200" dirty="0"/>
          </a:p>
          <a:p>
            <a:pPr algn="l"/>
            <a:r>
              <a:rPr lang="ja-JP" altLang="en-US" sz="1200" dirty="0"/>
              <a:t>2. セキュリティシステムは「保護対象と同じか、それ以上の信頼レベル」に置くべき</a:t>
            </a:r>
          </a:p>
          <a:p>
            <a:pPr algn="l"/>
            <a:r>
              <a:rPr lang="ja-JP" altLang="en-US" sz="1200" dirty="0"/>
              <a:t>多くの組織では、</a:t>
            </a:r>
          </a:p>
          <a:p>
            <a:pPr algn="l"/>
            <a:r>
              <a:rPr lang="ja-JP" altLang="en-US" sz="1200" dirty="0"/>
              <a:t>• 	ファイアウォール</a:t>
            </a:r>
          </a:p>
          <a:p>
            <a:pPr algn="l"/>
            <a:r>
              <a:rPr lang="ja-JP" altLang="en-US" sz="1200" dirty="0"/>
              <a:t>• 	セキュリティ監視システム</a:t>
            </a:r>
          </a:p>
          <a:p>
            <a:pPr algn="l"/>
            <a:r>
              <a:rPr lang="ja-JP" altLang="en-US" sz="1200" dirty="0"/>
              <a:t>• 	認証サーバ</a:t>
            </a:r>
          </a:p>
          <a:p>
            <a:pPr algn="l"/>
            <a:r>
              <a:rPr lang="ja-JP" altLang="en-US" sz="1200" dirty="0"/>
              <a:t>• 	ログ収集基盤</a:t>
            </a:r>
          </a:p>
          <a:p>
            <a:pPr algn="l"/>
            <a:r>
              <a:rPr lang="ja-JP" altLang="en-US" sz="1200" dirty="0"/>
              <a:t>などを 企業ネットワーク（低信頼）側で管理してしまう という誤りがあります。</a:t>
            </a:r>
          </a:p>
          <a:p>
            <a:pPr algn="l"/>
            <a:r>
              <a:rPr lang="ja-JP" altLang="en-US" sz="1200" dirty="0"/>
              <a:t>しかし本来は：</a:t>
            </a:r>
          </a:p>
          <a:p>
            <a:pPr algn="l"/>
            <a:r>
              <a:rPr lang="ja-JP" altLang="en-US" sz="1200" dirty="0"/>
              <a:t>理由：</a:t>
            </a:r>
          </a:p>
          <a:p>
            <a:pPr algn="l"/>
            <a:r>
              <a:rPr lang="ja-JP" altLang="en-US" sz="1200" dirty="0"/>
              <a:t>攻撃者がセキュリティ機器を突破したら、</a:t>
            </a:r>
          </a:p>
          <a:p>
            <a:pPr algn="l"/>
            <a:r>
              <a:rPr lang="ja-JP" altLang="en-US" sz="1200" dirty="0"/>
              <a:t>そのまま高信頼システムに侵入できてしまうため。</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608452"/>
            <a:ext cx="3429000" cy="9512210"/>
          </a:xfrm>
        </p:spPr>
        <p:txBody>
          <a:bodyPr>
            <a:noAutofit/>
          </a:bodyPr>
          <a:lstStyle/>
          <a:p>
            <a:pPr algn="l"/>
            <a:r>
              <a:rPr lang="ja-JP" altLang="en-US" sz="1100" dirty="0"/>
              <a:t>1. 誰が“リスク受容”を決める権限を持つのか？</a:t>
            </a:r>
          </a:p>
          <a:p>
            <a:pPr algn="l"/>
            <a:r>
              <a:rPr lang="ja-JP" altLang="en-US" sz="1100" dirty="0"/>
              <a:t>まず最初に明確にすべき重要な質問は：</a:t>
            </a:r>
          </a:p>
          <a:p>
            <a:pPr algn="l"/>
            <a:endParaRPr lang="ja-JP" altLang="en-US" sz="1100" dirty="0"/>
          </a:p>
          <a:p>
            <a:pPr algn="l"/>
            <a:r>
              <a:rPr lang="ja-JP" altLang="en-US" sz="1100" dirty="0"/>
              <a:t>という点です。</a:t>
            </a:r>
          </a:p>
          <a:p>
            <a:pPr algn="l"/>
            <a:r>
              <a:rPr lang="ja-JP" altLang="en-US" sz="1100" dirty="0"/>
              <a:t>よくある問題として、</a:t>
            </a:r>
          </a:p>
          <a:p>
            <a:pPr algn="l"/>
            <a:r>
              <a:rPr lang="ja-JP" altLang="en-US" sz="1100" dirty="0"/>
              <a:t>技術やリスクを十分に理解していない下位マネージャーが、組織全体に影響するリスク受容を勝手に決めてしまう</a:t>
            </a:r>
          </a:p>
          <a:p>
            <a:pPr algn="l"/>
            <a:r>
              <a:rPr lang="ja-JP" altLang="en-US" sz="1100" dirty="0"/>
              <a:t>というケースがあります。</a:t>
            </a:r>
          </a:p>
          <a:p>
            <a:pPr algn="l"/>
            <a:r>
              <a:rPr lang="ja-JP" altLang="en-US" sz="1100" dirty="0"/>
              <a:t>これを防ぐ方法のひとつが セキュリティ意識向上トレーニング（Awareness Training） です。</a:t>
            </a:r>
          </a:p>
          <a:p>
            <a:pPr algn="l"/>
            <a:endParaRPr lang="ja-JP" altLang="en-US" sz="1100" dirty="0"/>
          </a:p>
          <a:p>
            <a:pPr algn="l"/>
            <a:r>
              <a:rPr lang="ja-JP" altLang="en-US" sz="1100" dirty="0"/>
              <a:t>2. 保護コストと資産価値のバランス</a:t>
            </a:r>
          </a:p>
          <a:p>
            <a:pPr algn="l"/>
            <a:r>
              <a:rPr lang="ja-JP" altLang="en-US" sz="1100" dirty="0"/>
              <a:t>次に考えるべきは、</a:t>
            </a:r>
          </a:p>
          <a:p>
            <a:pPr algn="l"/>
            <a:r>
              <a:rPr lang="ja-JP" altLang="en-US" sz="1100" dirty="0"/>
              <a:t>対策コストと守るべき資産の価値のバランス です。</a:t>
            </a:r>
          </a:p>
          <a:p>
            <a:pPr algn="l"/>
            <a:r>
              <a:rPr lang="ja-JP" altLang="en-US" sz="1100" dirty="0"/>
              <a:t>例として：</a:t>
            </a:r>
          </a:p>
          <a:p>
            <a:pPr algn="l"/>
            <a:endParaRPr lang="ja-JP" altLang="en-US" sz="1100" dirty="0"/>
          </a:p>
          <a:p>
            <a:pPr algn="l"/>
            <a:r>
              <a:rPr lang="ja-JP" altLang="en-US" sz="1100" dirty="0"/>
              <a:t>当然、これは不合理です。</a:t>
            </a:r>
          </a:p>
          <a:p>
            <a:pPr algn="l"/>
            <a:r>
              <a:rPr lang="ja-JP" altLang="en-US" sz="1100" dirty="0"/>
              <a:t>ICS でも同じで、</a:t>
            </a:r>
          </a:p>
          <a:p>
            <a:pPr algn="l"/>
            <a:r>
              <a:rPr lang="ja-JP" altLang="en-US" sz="1100" dirty="0"/>
              <a:t>対策コストが資産価値を大きく上回る場合は、対策として適切ではない</a:t>
            </a:r>
          </a:p>
          <a:p>
            <a:pPr algn="l"/>
            <a:r>
              <a:rPr lang="ja-JP" altLang="en-US" sz="1100" dirty="0"/>
              <a:t>ということです。</a:t>
            </a:r>
            <a:endParaRPr lang="en-US" altLang="ja-JP" sz="1100" dirty="0"/>
          </a:p>
          <a:p>
            <a:pPr algn="l"/>
            <a:endParaRPr lang="en-US" altLang="ja-JP" sz="1100" dirty="0"/>
          </a:p>
          <a:p>
            <a:pPr algn="l"/>
            <a:r>
              <a:rPr lang="ja-JP" altLang="en-US" sz="1100" dirty="0"/>
              <a:t>3. 費用対効果分析（Cost-Benefit Analysis）</a:t>
            </a:r>
          </a:p>
          <a:p>
            <a:pPr algn="l"/>
            <a:r>
              <a:rPr lang="ja-JP" altLang="en-US" sz="1100" dirty="0"/>
              <a:t>費用対効果分析とは：</a:t>
            </a:r>
          </a:p>
          <a:p>
            <a:pPr algn="l"/>
            <a:r>
              <a:rPr lang="ja-JP" altLang="en-US" sz="1100" dirty="0"/>
              <a:t>• 	対策にかかるコスト と</a:t>
            </a:r>
          </a:p>
          <a:p>
            <a:pPr algn="l"/>
            <a:r>
              <a:rPr lang="ja-JP" altLang="en-US" sz="1100" dirty="0"/>
              <a:t>• 	リスクが減ることで得られる価値（損失回避）</a:t>
            </a:r>
          </a:p>
          <a:p>
            <a:pPr algn="l"/>
            <a:r>
              <a:rPr lang="ja-JP" altLang="en-US" sz="1100" dirty="0"/>
              <a:t>を比較することです。</a:t>
            </a:r>
          </a:p>
          <a:p>
            <a:pPr algn="l"/>
            <a:r>
              <a:rPr lang="ja-JP" altLang="en-US" sz="1100" dirty="0"/>
              <a:t>しかし、ここで重要なポイントがあります：</a:t>
            </a:r>
          </a:p>
          <a:p>
            <a:pPr algn="l"/>
            <a:r>
              <a:rPr lang="ja-JP" altLang="en-US" sz="1100" dirty="0"/>
              <a:t>どんな対策も 100% 効果があるわけではない</a:t>
            </a:r>
          </a:p>
          <a:p>
            <a:pPr algn="l"/>
            <a:r>
              <a:rPr lang="ja-JP" altLang="en-US" sz="1100" dirty="0"/>
              <a:t>例：</a:t>
            </a:r>
          </a:p>
          <a:p>
            <a:pPr algn="l"/>
            <a:r>
              <a:rPr lang="ja-JP" altLang="en-US" sz="1100" dirty="0"/>
              <a:t>• 	アンチウイルス → 未知のマルウェアには効かない</a:t>
            </a:r>
          </a:p>
          <a:p>
            <a:pPr algn="l"/>
            <a:r>
              <a:rPr lang="ja-JP" altLang="en-US" sz="1100" dirty="0"/>
              <a:t>• 	ファイアウォール → バイパスされる可能性がある</a:t>
            </a:r>
          </a:p>
          <a:p>
            <a:pPr algn="l"/>
            <a:r>
              <a:rPr lang="ja-JP" altLang="en-US" sz="1100" dirty="0"/>
              <a:t>• 	IDS/IPS → 誤検知・見逃しがある</a:t>
            </a:r>
          </a:p>
          <a:p>
            <a:pPr algn="l"/>
            <a:r>
              <a:rPr lang="ja-JP" altLang="en-US" sz="1100" dirty="0"/>
              <a:t>つまり、</a:t>
            </a:r>
          </a:p>
          <a:p>
            <a:pPr algn="l"/>
            <a:r>
              <a:rPr lang="ja-JP" altLang="en-US" sz="1100" dirty="0"/>
              <a:t>「この対策は100%安全です」などというものは存在しない</a:t>
            </a:r>
          </a:p>
          <a:p>
            <a:pPr algn="l"/>
            <a:r>
              <a:rPr lang="ja-JP" altLang="en-US" sz="1100" dirty="0"/>
              <a:t>という前提で判断する必要があります。</a:t>
            </a:r>
          </a:p>
          <a:p>
            <a:pPr algn="l"/>
            <a:endParaRPr lang="ja-JP" altLang="en-US" sz="1100" dirty="0"/>
          </a:p>
        </p:txBody>
      </p:sp>
      <p:pic>
        <p:nvPicPr>
          <p:cNvPr id="4" name="図 3">
            <a:extLst>
              <a:ext uri="{FF2B5EF4-FFF2-40B4-BE49-F238E27FC236}">
                <a16:creationId xmlns:a16="http://schemas.microsoft.com/office/drawing/2014/main" id="{3A2B4DC3-ED84-422E-BB87-0D649A6BA3D7}"/>
              </a:ext>
            </a:extLst>
          </p:cNvPr>
          <p:cNvPicPr>
            <a:picLocks noChangeAspect="1"/>
          </p:cNvPicPr>
          <p:nvPr/>
        </p:nvPicPr>
        <p:blipFill>
          <a:blip r:embed="rId3"/>
          <a:stretch>
            <a:fillRect/>
          </a:stretch>
        </p:blipFill>
        <p:spPr>
          <a:xfrm>
            <a:off x="1251718" y="77820"/>
            <a:ext cx="4354560" cy="2472267"/>
          </a:xfrm>
          <a:prstGeom prst="rect">
            <a:avLst/>
          </a:prstGeom>
        </p:spPr>
      </p:pic>
      <p:sp>
        <p:nvSpPr>
          <p:cNvPr id="5" name="サブタイトル 2">
            <a:extLst>
              <a:ext uri="{FF2B5EF4-FFF2-40B4-BE49-F238E27FC236}">
                <a16:creationId xmlns:a16="http://schemas.microsoft.com/office/drawing/2014/main" id="{88EA8439-594D-4550-903A-F62437A067A9}"/>
              </a:ext>
            </a:extLst>
          </p:cNvPr>
          <p:cNvSpPr txBox="1">
            <a:spLocks/>
          </p:cNvSpPr>
          <p:nvPr/>
        </p:nvSpPr>
        <p:spPr>
          <a:xfrm>
            <a:off x="3428999" y="2608453"/>
            <a:ext cx="3429001" cy="4823477"/>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100" dirty="0"/>
              <a:t>4. ICS では“収益を守る対策”が最大の価値を持つ</a:t>
            </a:r>
          </a:p>
          <a:p>
            <a:pPr algn="l"/>
            <a:r>
              <a:rPr lang="ja-JP" altLang="en-US" sz="1100" dirty="0"/>
              <a:t>ICS の場合、</a:t>
            </a:r>
          </a:p>
          <a:p>
            <a:pPr algn="l"/>
            <a:r>
              <a:rPr lang="ja-JP" altLang="en-US" sz="1100" dirty="0"/>
              <a:t>最大の利益（Benefit）は“収益の流れを止めないこと” です。</a:t>
            </a:r>
          </a:p>
          <a:p>
            <a:pPr algn="l"/>
            <a:r>
              <a:rPr lang="ja-JP" altLang="en-US" sz="1100" dirty="0"/>
              <a:t>• 	プラント停止 → 数百万〜数千万ドルの損失</a:t>
            </a:r>
          </a:p>
          <a:p>
            <a:pPr algn="l"/>
            <a:r>
              <a:rPr lang="ja-JP" altLang="en-US" sz="1100" dirty="0"/>
              <a:t>• 	製造ライン停止 → 生産遅延・契約違反</a:t>
            </a:r>
          </a:p>
          <a:p>
            <a:pPr algn="l"/>
            <a:r>
              <a:rPr lang="ja-JP" altLang="en-US" sz="1100" dirty="0"/>
              <a:t>• 	電力会社 → 罰金・規制違反・信頼失墜</a:t>
            </a:r>
          </a:p>
          <a:p>
            <a:pPr algn="l"/>
            <a:r>
              <a:rPr lang="ja-JP" altLang="en-US" sz="1100" dirty="0"/>
              <a:t>つまり、</a:t>
            </a:r>
          </a:p>
          <a:p>
            <a:pPr algn="l"/>
            <a:r>
              <a:rPr lang="ja-JP" altLang="en-US" sz="1100" dirty="0"/>
              <a:t>ICS の対策は「停止させないための投資」 という側面が非常に強い。</a:t>
            </a:r>
          </a:p>
          <a:p>
            <a:pPr algn="l"/>
            <a:endParaRPr lang="ja-JP" altLang="en-US" sz="1100" dirty="0"/>
          </a:p>
          <a:p>
            <a:pPr algn="l"/>
            <a:r>
              <a:rPr lang="ja-JP" altLang="en-US" sz="1100" dirty="0"/>
              <a:t>5. 対策コストは“初期費用だけではない”</a:t>
            </a:r>
          </a:p>
          <a:p>
            <a:pPr algn="l"/>
            <a:r>
              <a:rPr lang="ja-JP" altLang="en-US" sz="1100" dirty="0"/>
              <a:t>対策のコストには以下が含まれます：</a:t>
            </a:r>
          </a:p>
          <a:p>
            <a:pPr algn="l"/>
            <a:r>
              <a:rPr lang="ja-JP" altLang="en-US" sz="1100" dirty="0"/>
              <a:t>• 	初期導入費</a:t>
            </a:r>
          </a:p>
          <a:p>
            <a:pPr algn="l"/>
            <a:r>
              <a:rPr lang="ja-JP" altLang="en-US" sz="1100" dirty="0"/>
              <a:t>• 	運用監視の人件費</a:t>
            </a:r>
          </a:p>
          <a:p>
            <a:pPr algn="l"/>
            <a:r>
              <a:rPr lang="ja-JP" altLang="en-US" sz="1100" dirty="0"/>
              <a:t>• 	メンテナンス費</a:t>
            </a:r>
          </a:p>
          <a:p>
            <a:pPr algn="l"/>
            <a:r>
              <a:rPr lang="ja-JP" altLang="en-US" sz="1100" dirty="0"/>
              <a:t>• 	ライフサイクルコスト（更新・交換）</a:t>
            </a:r>
          </a:p>
          <a:p>
            <a:pPr algn="l"/>
            <a:r>
              <a:rPr lang="ja-JP" altLang="en-US" sz="1100" dirty="0"/>
              <a:t>ICS は長寿命（10〜30年）なので、</a:t>
            </a:r>
          </a:p>
          <a:p>
            <a:pPr algn="l"/>
            <a:r>
              <a:rPr lang="ja-JP" altLang="en-US" sz="1100" dirty="0"/>
              <a:t>ライフサイクルコストが非常に大きい のが特徴です。</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347752"/>
            <a:ext cx="3382752" cy="8772910"/>
          </a:xfrm>
        </p:spPr>
        <p:txBody>
          <a:bodyPr>
            <a:noAutofit/>
          </a:bodyPr>
          <a:lstStyle/>
          <a:p>
            <a:pPr algn="l"/>
            <a:r>
              <a:rPr lang="ja-JP" altLang="en-US" sz="1200" dirty="0"/>
              <a:t>このスライドは、事業継続計画（BC） や 災害復旧計画（DR） を作成する際に必要な基本ステップを示しています。</a:t>
            </a:r>
          </a:p>
          <a:p>
            <a:pPr algn="l"/>
            <a:r>
              <a:rPr lang="ja-JP" altLang="en-US" sz="1200" dirty="0"/>
              <a:t>1. プロジェクト開始（Project Initiation）</a:t>
            </a:r>
          </a:p>
          <a:p>
            <a:pPr algn="l"/>
            <a:r>
              <a:rPr lang="ja-JP" altLang="en-US" sz="1200" dirty="0"/>
              <a:t>まず最初に、</a:t>
            </a:r>
          </a:p>
          <a:p>
            <a:pPr algn="l"/>
            <a:r>
              <a:rPr lang="ja-JP" altLang="en-US" sz="1200" dirty="0"/>
              <a:t>新しい機能が必要になったり、既存の仕組みを強化する必要が生じた時点で、BC/DR プロジェクトを開始します。</a:t>
            </a:r>
          </a:p>
          <a:p>
            <a:pPr algn="l"/>
            <a:r>
              <a:rPr lang="ja-JP" altLang="en-US" sz="1200" dirty="0"/>
              <a:t>ここで重要なのは：</a:t>
            </a:r>
          </a:p>
          <a:p>
            <a:pPr algn="l"/>
            <a:r>
              <a:rPr lang="ja-JP" altLang="en-US" sz="1200" dirty="0"/>
              <a:t>- 経営層の承認を得ること</a:t>
            </a:r>
          </a:p>
          <a:p>
            <a:pPr algn="l"/>
            <a:r>
              <a:rPr lang="ja-JP" altLang="en-US" sz="1200" dirty="0"/>
              <a:t>- 経営層が必要なリソース（人・予算・設備）を確保してくれること</a:t>
            </a:r>
          </a:p>
          <a:p>
            <a:pPr algn="l"/>
            <a:r>
              <a:rPr lang="ja-JP" altLang="en-US" sz="1200" dirty="0"/>
              <a:t>BC/DR は組織全体に関わるため、経営層の支援が不可欠です。</a:t>
            </a:r>
          </a:p>
          <a:p>
            <a:pPr algn="l"/>
            <a:r>
              <a:rPr lang="ja-JP" altLang="en-US" sz="1200" dirty="0"/>
              <a:t>2. 脆弱性の把握（Risk Analysis）</a:t>
            </a:r>
          </a:p>
          <a:p>
            <a:pPr algn="l"/>
            <a:r>
              <a:rPr lang="ja-JP" altLang="en-US" sz="1200" dirty="0"/>
              <a:t>次に、会社が抱える 脆弱性（Vulnerabilities） を洗い出します。</a:t>
            </a:r>
          </a:p>
          <a:p>
            <a:pPr algn="l"/>
            <a:r>
              <a:rPr lang="ja-JP" altLang="en-US" sz="1200" dirty="0"/>
              <a:t>例：</a:t>
            </a:r>
          </a:p>
          <a:p>
            <a:pPr algn="l"/>
            <a:r>
              <a:rPr lang="ja-JP" altLang="en-US" sz="1200" dirty="0"/>
              <a:t>- 単一障害点（SPOF）</a:t>
            </a:r>
          </a:p>
          <a:p>
            <a:pPr algn="l"/>
            <a:r>
              <a:rPr lang="ja-JP" altLang="en-US" sz="1200" dirty="0"/>
              <a:t>- 老朽化した設備</a:t>
            </a:r>
          </a:p>
          <a:p>
            <a:pPr algn="l"/>
            <a:r>
              <a:rPr lang="ja-JP" altLang="en-US" sz="1200" dirty="0"/>
              <a:t>- 冗長性のないネットワーク</a:t>
            </a:r>
          </a:p>
          <a:p>
            <a:pPr algn="l"/>
            <a:r>
              <a:rPr lang="ja-JP" altLang="en-US" sz="1200" dirty="0"/>
              <a:t>- 重要システムのバックアップ不足</a:t>
            </a:r>
          </a:p>
          <a:p>
            <a:pPr algn="l"/>
            <a:r>
              <a:rPr lang="ja-JP" altLang="en-US" sz="1200" dirty="0"/>
              <a:t>- 物理災害リスク（地震・洪水）</a:t>
            </a:r>
          </a:p>
          <a:p>
            <a:pPr algn="l"/>
            <a:r>
              <a:rPr lang="ja-JP" altLang="en-US" sz="1200" dirty="0"/>
              <a:t>- サイバー攻撃リスク</a:t>
            </a:r>
          </a:p>
          <a:p>
            <a:pPr algn="l"/>
            <a:r>
              <a:rPr lang="ja-JP" altLang="en-US" sz="1200" dirty="0"/>
              <a:t>3. 影響分析（Business Impact Analysis：BIA）</a:t>
            </a:r>
          </a:p>
          <a:p>
            <a:pPr algn="l"/>
            <a:r>
              <a:rPr lang="ja-JP" altLang="en-US" sz="1200" dirty="0"/>
              <a:t>洗い出した脆弱性が、</a:t>
            </a:r>
          </a:p>
          <a:p>
            <a:pPr algn="l"/>
            <a:r>
              <a:rPr lang="ja-JP" altLang="en-US" sz="1200" dirty="0"/>
              <a:t>実際に会社へどれほどの影響を与えるか を評価します。</a:t>
            </a:r>
          </a:p>
          <a:p>
            <a:pPr algn="l"/>
            <a:r>
              <a:rPr lang="ja-JP" altLang="en-US" sz="1200" dirty="0"/>
              <a:t>影響は金銭だけではありません：</a:t>
            </a:r>
          </a:p>
          <a:p>
            <a:pPr algn="l"/>
            <a:r>
              <a:rPr lang="ja-JP" altLang="en-US" sz="1200" dirty="0"/>
              <a:t>- 顧客満足度の低下</a:t>
            </a:r>
          </a:p>
          <a:p>
            <a:pPr algn="l"/>
            <a:r>
              <a:rPr lang="ja-JP" altLang="en-US" sz="1200" dirty="0"/>
              <a:t>- ブランドイメージの悪化</a:t>
            </a:r>
          </a:p>
          <a:p>
            <a:pPr algn="l"/>
            <a:r>
              <a:rPr lang="ja-JP" altLang="en-US" sz="1200" dirty="0"/>
              <a:t>- 規制違反</a:t>
            </a:r>
          </a:p>
          <a:p>
            <a:pPr algn="l"/>
            <a:r>
              <a:rPr lang="ja-JP" altLang="en-US" sz="1200" dirty="0"/>
              <a:t>- 生産停止</a:t>
            </a:r>
          </a:p>
          <a:p>
            <a:pPr algn="l"/>
            <a:r>
              <a:rPr lang="ja-JP" altLang="en-US" sz="1200" dirty="0"/>
              <a:t>- 安全リスク</a:t>
            </a:r>
          </a:p>
          <a:p>
            <a:pPr algn="l"/>
            <a:r>
              <a:rPr lang="ja-JP" altLang="en-US" sz="1200" dirty="0"/>
              <a:t>ICS/OT では「安全（Safety）」と「可用性（Availability）」が特に重要です。</a:t>
            </a:r>
          </a:p>
        </p:txBody>
      </p:sp>
      <p:pic>
        <p:nvPicPr>
          <p:cNvPr id="5" name="図 4">
            <a:extLst>
              <a:ext uri="{FF2B5EF4-FFF2-40B4-BE49-F238E27FC236}">
                <a16:creationId xmlns:a16="http://schemas.microsoft.com/office/drawing/2014/main" id="{63092FE9-78ED-476C-8402-A078191AACFD}"/>
              </a:ext>
            </a:extLst>
          </p:cNvPr>
          <p:cNvPicPr>
            <a:picLocks noChangeAspect="1"/>
          </p:cNvPicPr>
          <p:nvPr/>
        </p:nvPicPr>
        <p:blipFill>
          <a:blip r:embed="rId2"/>
          <a:stretch>
            <a:fillRect/>
          </a:stretch>
        </p:blipFill>
        <p:spPr>
          <a:xfrm>
            <a:off x="707920" y="116730"/>
            <a:ext cx="5349662" cy="3054485"/>
          </a:xfrm>
          <a:prstGeom prst="rect">
            <a:avLst/>
          </a:prstGeom>
        </p:spPr>
      </p:pic>
      <p:sp>
        <p:nvSpPr>
          <p:cNvPr id="6" name="サブタイトル 2">
            <a:extLst>
              <a:ext uri="{FF2B5EF4-FFF2-40B4-BE49-F238E27FC236}">
                <a16:creationId xmlns:a16="http://schemas.microsoft.com/office/drawing/2014/main" id="{4B2D27E1-6F6B-41B3-89A5-9A7169B7E214}"/>
              </a:ext>
            </a:extLst>
          </p:cNvPr>
          <p:cNvSpPr txBox="1">
            <a:spLocks/>
          </p:cNvSpPr>
          <p:nvPr/>
        </p:nvSpPr>
        <p:spPr>
          <a:xfrm>
            <a:off x="3455793" y="3347752"/>
            <a:ext cx="3382751" cy="8422714"/>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4. 脆弱性の優先順位付け（Likelihood × Impact）</a:t>
            </a:r>
          </a:p>
          <a:p>
            <a:pPr algn="l"/>
            <a:r>
              <a:rPr lang="ja-JP" altLang="en-US" sz="1200" dirty="0"/>
              <a:t>すべての脆弱性に対策することは現実的ではありません。</a:t>
            </a:r>
          </a:p>
          <a:p>
            <a:pPr algn="l"/>
            <a:r>
              <a:rPr lang="ja-JP" altLang="en-US" sz="1200" dirty="0"/>
              <a:t>そのため：</a:t>
            </a:r>
          </a:p>
          <a:p>
            <a:pPr algn="l"/>
            <a:r>
              <a:rPr lang="ja-JP" altLang="en-US" sz="1200" dirty="0"/>
              <a:t>- 発生確率（Likelihood）</a:t>
            </a:r>
          </a:p>
          <a:p>
            <a:pPr algn="l"/>
            <a:r>
              <a:rPr lang="ja-JP" altLang="en-US" sz="1200" dirty="0"/>
              <a:t>- 影響度（Impact）</a:t>
            </a:r>
          </a:p>
          <a:p>
            <a:pPr algn="l"/>
            <a:r>
              <a:rPr lang="ja-JP" altLang="en-US" sz="1200" dirty="0"/>
              <a:t>を基準に 優先順位をつけます。</a:t>
            </a:r>
          </a:p>
          <a:p>
            <a:pPr algn="l"/>
            <a:r>
              <a:rPr lang="ja-JP" altLang="en-US" sz="1200" dirty="0"/>
              <a:t>優先度が高いものから順に：</a:t>
            </a:r>
          </a:p>
          <a:p>
            <a:pPr algn="l"/>
            <a:r>
              <a:rPr lang="ja-JP" altLang="en-US" sz="1200" dirty="0"/>
              <a:t>- 発生を防ぐための対策を計画</a:t>
            </a:r>
          </a:p>
          <a:p>
            <a:pPr algn="l"/>
            <a:r>
              <a:rPr lang="ja-JP" altLang="en-US" sz="1200" dirty="0"/>
              <a:t>- 万が一発生した場合の復旧手順を準備</a:t>
            </a:r>
          </a:p>
          <a:p>
            <a:pPr algn="l"/>
            <a:r>
              <a:rPr lang="ja-JP" altLang="en-US" sz="1200" dirty="0"/>
              <a:t>という2段階で対応します。</a:t>
            </a:r>
          </a:p>
          <a:p>
            <a:pPr algn="l"/>
            <a:r>
              <a:rPr lang="ja-JP" altLang="en-US" sz="1200" dirty="0"/>
              <a:t>5. 損失は“金銭だけではない”ことを忘れない</a:t>
            </a:r>
          </a:p>
          <a:p>
            <a:pPr algn="l"/>
            <a:r>
              <a:rPr lang="ja-JP" altLang="en-US" sz="1200" dirty="0"/>
              <a:t>多くの人は「損失＝お金」と考えがちですが、</a:t>
            </a:r>
          </a:p>
          <a:p>
            <a:pPr algn="l"/>
            <a:r>
              <a:rPr lang="ja-JP" altLang="en-US" sz="1200" dirty="0"/>
              <a:t>実際には 無形の損失（Intangible Losses） が非常に大きいことがあります。</a:t>
            </a:r>
          </a:p>
          <a:p>
            <a:pPr algn="l"/>
            <a:r>
              <a:rPr lang="ja-JP" altLang="en-US" sz="1200" dirty="0"/>
              <a:t>例：</a:t>
            </a:r>
          </a:p>
          <a:p>
            <a:pPr algn="l"/>
            <a:r>
              <a:rPr lang="ja-JP" altLang="en-US" sz="1200" dirty="0"/>
              <a:t>大規模 EC サイトが長時間ダウンした場合：</a:t>
            </a:r>
          </a:p>
          <a:p>
            <a:pPr algn="l"/>
            <a:r>
              <a:rPr lang="ja-JP" altLang="en-US" sz="1200" dirty="0"/>
              <a:t>- 顧客が離れる</a:t>
            </a:r>
          </a:p>
          <a:p>
            <a:pPr algn="l"/>
            <a:r>
              <a:rPr lang="ja-JP" altLang="en-US" sz="1200" dirty="0"/>
              <a:t>- 信頼が失われる</a:t>
            </a:r>
          </a:p>
          <a:p>
            <a:pPr algn="l"/>
            <a:r>
              <a:rPr lang="ja-JP" altLang="en-US" sz="1200" dirty="0"/>
              <a:t>- SNS で炎上する</a:t>
            </a:r>
          </a:p>
          <a:p>
            <a:pPr algn="l"/>
            <a:r>
              <a:rPr lang="ja-JP" altLang="en-US" sz="1200" dirty="0"/>
              <a:t>- 競合に乗り換えられる</a:t>
            </a:r>
          </a:p>
          <a:p>
            <a:pPr algn="l"/>
            <a:r>
              <a:rPr lang="ja-JP" altLang="en-US" sz="1200" dirty="0"/>
              <a:t>原因が地震でも、洪水でも、DDoS 攻撃でも、</a:t>
            </a:r>
          </a:p>
          <a:p>
            <a:pPr algn="l"/>
            <a:r>
              <a:rPr lang="ja-JP" altLang="en-US" sz="1200" dirty="0"/>
              <a:t>「サイトが落ちていた」という事実が最も重要 です。</a:t>
            </a:r>
          </a:p>
          <a:p>
            <a:pPr algn="l"/>
            <a:r>
              <a:rPr lang="ja-JP" altLang="en-US" sz="1200" dirty="0"/>
              <a:t>復旧が早ければ早いほど、損失は小さくなります。</a:t>
            </a:r>
          </a:p>
          <a:p>
            <a:pPr algn="l"/>
            <a:r>
              <a:rPr lang="ja-JP" altLang="en-US" sz="1200" dirty="0"/>
              <a:t>6. 災害対応の“プロフェッショナルさ”は企業の評価を上げる</a:t>
            </a:r>
          </a:p>
          <a:p>
            <a:pPr algn="l"/>
            <a:r>
              <a:rPr lang="ja-JP" altLang="en-US" sz="1200" dirty="0"/>
              <a:t>逆に、災害や障害が発生したときに：</a:t>
            </a:r>
          </a:p>
          <a:p>
            <a:pPr algn="l"/>
            <a:r>
              <a:rPr lang="ja-JP" altLang="en-US" sz="1200" dirty="0"/>
              <a:t>- 迅速に対応し</a:t>
            </a:r>
          </a:p>
          <a:p>
            <a:pPr algn="l"/>
            <a:r>
              <a:rPr lang="ja-JP" altLang="en-US" sz="1200" dirty="0"/>
              <a:t>- 正確に情報を公開し</a:t>
            </a:r>
          </a:p>
          <a:p>
            <a:pPr algn="l"/>
            <a:r>
              <a:rPr lang="ja-JP" altLang="en-US" sz="1200" dirty="0"/>
              <a:t>- 冷静に復旧を進める</a:t>
            </a:r>
          </a:p>
          <a:p>
            <a:pPr algn="l"/>
            <a:r>
              <a:rPr lang="ja-JP" altLang="en-US" sz="1200" dirty="0"/>
              <a:t>といった プロフェッショナルな対応 を行うことで、</a:t>
            </a:r>
          </a:p>
          <a:p>
            <a:pPr algn="l"/>
            <a:r>
              <a:rPr lang="ja-JP" altLang="en-US" sz="1200" dirty="0"/>
              <a:t>企業の信頼性が高まることもあります。</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255875"/>
            <a:ext cx="3426143" cy="6877096"/>
          </a:xfrm>
        </p:spPr>
        <p:txBody>
          <a:bodyPr>
            <a:normAutofit/>
          </a:bodyPr>
          <a:lstStyle/>
          <a:p>
            <a:pPr algn="l"/>
            <a:r>
              <a:rPr lang="ja-JP" altLang="en-US" sz="1200" dirty="0"/>
              <a:t>BIA（事業影響分析）とは何か？</a:t>
            </a:r>
          </a:p>
          <a:p>
            <a:pPr algn="l"/>
            <a:r>
              <a:rPr lang="ja-JP" altLang="en-US" sz="1200" dirty="0"/>
              <a:t>BIA は、</a:t>
            </a:r>
          </a:p>
          <a:p>
            <a:pPr algn="l"/>
            <a:r>
              <a:rPr lang="ja-JP" altLang="en-US" sz="1200" dirty="0"/>
              <a:t>「業務が止まったときに、会社にどんな影響が出るか」</a:t>
            </a:r>
          </a:p>
          <a:p>
            <a:pPr algn="l"/>
            <a:r>
              <a:rPr lang="ja-JP" altLang="en-US" sz="1200" dirty="0"/>
              <a:t>を文書化するプロセスです。</a:t>
            </a:r>
          </a:p>
          <a:p>
            <a:pPr algn="l"/>
            <a:r>
              <a:rPr lang="ja-JP" altLang="en-US" sz="1200" dirty="0"/>
              <a:t>目的は、</a:t>
            </a:r>
          </a:p>
          <a:p>
            <a:pPr algn="l"/>
            <a:r>
              <a:rPr lang="ja-JP" altLang="en-US" sz="1200" dirty="0"/>
              <a:t>どの業務がどれだけ重要か（クリティカルか）を明確にし、</a:t>
            </a:r>
          </a:p>
          <a:p>
            <a:pPr algn="l"/>
            <a:r>
              <a:rPr lang="ja-JP" altLang="en-US" sz="1200" dirty="0"/>
              <a:t>どのくらいの時間で復旧しなければならないかを決めること。</a:t>
            </a:r>
          </a:p>
          <a:p>
            <a:pPr algn="l"/>
            <a:r>
              <a:rPr lang="ja-JP" altLang="en-US" sz="1200" dirty="0"/>
              <a:t>業務によって影響は大きく異なります：</a:t>
            </a:r>
          </a:p>
          <a:p>
            <a:pPr algn="l"/>
            <a:r>
              <a:rPr lang="ja-JP" altLang="en-US" sz="1200" dirty="0"/>
              <a:t>• 	数秒止まるだけで大損害になる業務</a:t>
            </a:r>
          </a:p>
          <a:p>
            <a:pPr algn="l"/>
            <a:r>
              <a:rPr lang="ja-JP" altLang="en-US" sz="1200" dirty="0"/>
              <a:t>• 	数日止まっても問題ない業務</a:t>
            </a:r>
          </a:p>
          <a:p>
            <a:pPr algn="l"/>
            <a:r>
              <a:rPr lang="ja-JP" altLang="en-US" sz="1200" dirty="0"/>
              <a:t>この違いを明確にするのが BIA です。</a:t>
            </a:r>
          </a:p>
          <a:p>
            <a:pPr algn="l"/>
            <a:endParaRPr lang="ja-JP" altLang="en-US" sz="1200" dirty="0"/>
          </a:p>
          <a:p>
            <a:pPr algn="l"/>
            <a:r>
              <a:rPr lang="ja-JP" altLang="en-US" sz="1200" dirty="0"/>
              <a:t>BIA の最重要ポイント：MTD（最大許容停止時間）</a:t>
            </a:r>
          </a:p>
          <a:p>
            <a:pPr algn="l"/>
            <a:r>
              <a:rPr lang="ja-JP" altLang="en-US" sz="1200" dirty="0"/>
              <a:t>BIA の最終目的は MTD（Maximum Tolerable Downtime） を決めることです。</a:t>
            </a:r>
          </a:p>
          <a:p>
            <a:pPr algn="l"/>
            <a:endParaRPr lang="ja-JP" altLang="en-US" sz="1200" dirty="0"/>
          </a:p>
          <a:p>
            <a:pPr algn="l"/>
            <a:r>
              <a:rPr lang="ja-JP" altLang="en-US" sz="1200" dirty="0"/>
              <a:t>MTD を知らないと、</a:t>
            </a:r>
          </a:p>
          <a:p>
            <a:pPr algn="l"/>
            <a:r>
              <a:rPr lang="ja-JP" altLang="en-US" sz="1200" dirty="0"/>
              <a:t>DR（災害復旧）計画がビジネス要求を満たしているか判断できません。</a:t>
            </a:r>
          </a:p>
          <a:p>
            <a:pPr algn="l"/>
            <a:r>
              <a:rPr lang="ja-JP" altLang="en-US" sz="1200" dirty="0"/>
              <a:t>• 	MTD より遅い復旧 → ビジネスに損害</a:t>
            </a:r>
          </a:p>
          <a:p>
            <a:pPr algn="l"/>
            <a:r>
              <a:rPr lang="ja-JP" altLang="en-US" sz="1200" dirty="0"/>
              <a:t>• 	MTD より早すぎる復旧 → 過剰投資でコストが無駄になる</a:t>
            </a:r>
          </a:p>
          <a:p>
            <a:pPr algn="l"/>
            <a:r>
              <a:rPr lang="ja-JP" altLang="en-US" sz="1200" dirty="0"/>
              <a:t>つまり、</a:t>
            </a:r>
          </a:p>
          <a:p>
            <a:pPr algn="l"/>
            <a:r>
              <a:rPr lang="ja-JP" altLang="en-US" sz="1200" dirty="0"/>
              <a:t>MTD は DR 計画の“設計基準”になる ということです。</a:t>
            </a:r>
          </a:p>
        </p:txBody>
      </p:sp>
      <p:pic>
        <p:nvPicPr>
          <p:cNvPr id="5" name="図 4">
            <a:extLst>
              <a:ext uri="{FF2B5EF4-FFF2-40B4-BE49-F238E27FC236}">
                <a16:creationId xmlns:a16="http://schemas.microsoft.com/office/drawing/2014/main" id="{3C9E0A57-06C9-4B60-A1A0-98DEF6457C3D}"/>
              </a:ext>
            </a:extLst>
          </p:cNvPr>
          <p:cNvPicPr>
            <a:picLocks noChangeAspect="1"/>
          </p:cNvPicPr>
          <p:nvPr/>
        </p:nvPicPr>
        <p:blipFill>
          <a:blip r:embed="rId2"/>
          <a:stretch>
            <a:fillRect/>
          </a:stretch>
        </p:blipFill>
        <p:spPr>
          <a:xfrm>
            <a:off x="668092" y="54026"/>
            <a:ext cx="5518958" cy="3143484"/>
          </a:xfrm>
          <a:prstGeom prst="rect">
            <a:avLst/>
          </a:prstGeom>
        </p:spPr>
      </p:pic>
      <p:sp>
        <p:nvSpPr>
          <p:cNvPr id="4" name="サブタイトル 2">
            <a:extLst>
              <a:ext uri="{FF2B5EF4-FFF2-40B4-BE49-F238E27FC236}">
                <a16:creationId xmlns:a16="http://schemas.microsoft.com/office/drawing/2014/main" id="{C5E74FC0-8679-44B4-B756-58CDE810B289}"/>
              </a:ext>
            </a:extLst>
          </p:cNvPr>
          <p:cNvSpPr txBox="1">
            <a:spLocks/>
          </p:cNvSpPr>
          <p:nvPr/>
        </p:nvSpPr>
        <p:spPr>
          <a:xfrm>
            <a:off x="3429000" y="3255875"/>
            <a:ext cx="3426143" cy="8884237"/>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BIA の作成方法：キーユーザーへのヒアリング</a:t>
            </a:r>
          </a:p>
          <a:p>
            <a:pPr algn="l"/>
            <a:r>
              <a:rPr lang="ja-JP" altLang="en-US" sz="1200" dirty="0"/>
              <a:t>BIA を作るときは、</a:t>
            </a:r>
          </a:p>
          <a:p>
            <a:pPr algn="l"/>
            <a:r>
              <a:rPr lang="ja-JP" altLang="en-US" sz="1200" dirty="0"/>
              <a:t>各システムの主要ユーザーにインタビューして、</a:t>
            </a:r>
          </a:p>
          <a:p>
            <a:pPr algn="l"/>
            <a:r>
              <a:rPr lang="ja-JP" altLang="en-US" sz="1200" dirty="0"/>
              <a:t>「災害が起きたら業務にどう影響するか」を深掘りします。</a:t>
            </a:r>
          </a:p>
          <a:p>
            <a:pPr algn="l"/>
            <a:r>
              <a:rPr lang="ja-JP" altLang="en-US" sz="1200" dirty="0"/>
              <a:t>代表的な質問は次の通り：</a:t>
            </a:r>
          </a:p>
          <a:p>
            <a:pPr algn="l"/>
            <a:r>
              <a:rPr lang="ja-JP" altLang="en-US" sz="1200" dirty="0"/>
              <a:t>1. IT 障害がキャッシュフローや売上にどんな影響を与えるか？</a:t>
            </a:r>
          </a:p>
          <a:p>
            <a:pPr algn="l"/>
            <a:r>
              <a:rPr lang="ja-JP" altLang="en-US" sz="1200" dirty="0"/>
              <a:t>2. サービスレベルは低下するか？</a:t>
            </a:r>
          </a:p>
          <a:p>
            <a:pPr algn="l"/>
            <a:r>
              <a:rPr lang="ja-JP" altLang="en-US" sz="1200" dirty="0"/>
              <a:t>3. どれくらいの停止時間で生産性に影響が出るか？</a:t>
            </a:r>
          </a:p>
          <a:p>
            <a:pPr algn="l"/>
            <a:r>
              <a:rPr lang="ja-JP" altLang="en-US" sz="1200" dirty="0"/>
              <a:t>4. データが失われた場合、復旧不能な損失はあるか？</a:t>
            </a:r>
          </a:p>
          <a:p>
            <a:pPr algn="l"/>
            <a:r>
              <a:rPr lang="ja-JP" altLang="en-US" sz="1200" dirty="0"/>
              <a:t>5. 継続運用に必要な“必須リソース”は何か？</a:t>
            </a:r>
          </a:p>
          <a:p>
            <a:pPr algn="l"/>
            <a:r>
              <a:rPr lang="ja-JP" altLang="en-US" sz="1200" dirty="0"/>
              <a:t>6. そのリソースはいつまでに復旧している必要があるか？</a:t>
            </a:r>
          </a:p>
          <a:p>
            <a:pPr algn="l"/>
            <a:r>
              <a:rPr lang="ja-JP" altLang="en-US" sz="1200" dirty="0"/>
              <a:t>7. このプロセスは他のプロセスとどう連携しているか？依存関係は？</a:t>
            </a:r>
          </a:p>
          <a:p>
            <a:pPr algn="l"/>
            <a:r>
              <a:rPr lang="ja-JP" altLang="en-US" sz="1200" dirty="0"/>
              <a:t>ICS/OT では依存関係が非常に複雑なので、</a:t>
            </a:r>
          </a:p>
          <a:p>
            <a:pPr algn="l"/>
            <a:r>
              <a:rPr lang="ja-JP" altLang="en-US" sz="1200" dirty="0"/>
              <a:t>この質問は特に重要です。</a:t>
            </a:r>
          </a:p>
          <a:p>
            <a:pPr algn="l"/>
            <a:endParaRPr lang="ja-JP" altLang="en-US" sz="1200" dirty="0"/>
          </a:p>
          <a:p>
            <a:pPr algn="l"/>
            <a:r>
              <a:rPr lang="ja-JP" altLang="en-US" sz="1200" dirty="0"/>
              <a:t>よくある失敗：管理層の判断のズレ</a:t>
            </a:r>
          </a:p>
          <a:p>
            <a:pPr algn="l"/>
            <a:r>
              <a:rPr lang="ja-JP" altLang="en-US" sz="1200" dirty="0"/>
              <a:t>BIA では、</a:t>
            </a:r>
          </a:p>
          <a:p>
            <a:pPr algn="l"/>
            <a:r>
              <a:rPr lang="ja-JP" altLang="en-US" sz="1200" dirty="0"/>
              <a:t>管理層のレベルによってリスク判断がズレ</a:t>
            </a:r>
            <a:r>
              <a:rPr lang="ja-JP" altLang="en-US" sz="1200" dirty="0" err="1"/>
              <a:t>る</a:t>
            </a:r>
            <a:r>
              <a:rPr lang="ja-JP" altLang="en-US" sz="1200" dirty="0"/>
              <a:t> という問題がよく起きます。</a:t>
            </a:r>
          </a:p>
          <a:p>
            <a:pPr algn="l"/>
            <a:r>
              <a:rPr lang="ja-JP" altLang="en-US" sz="1200" dirty="0"/>
              <a:t>下位管理者（現場側）</a:t>
            </a:r>
          </a:p>
          <a:p>
            <a:pPr algn="l"/>
            <a:r>
              <a:rPr lang="ja-JP" altLang="en-US" sz="1200" dirty="0"/>
              <a:t>• 	リスクを避けすぎる</a:t>
            </a:r>
          </a:p>
          <a:p>
            <a:pPr algn="l"/>
            <a:r>
              <a:rPr lang="ja-JP" altLang="en-US" sz="1200" dirty="0"/>
              <a:t>• 	「全部守りたい」「全部重要」と言いがち</a:t>
            </a:r>
          </a:p>
          <a:p>
            <a:pPr algn="l"/>
            <a:r>
              <a:rPr lang="ja-JP" altLang="en-US" sz="1200" dirty="0"/>
              <a:t>• 	結果：対策コストが膨れ上がる</a:t>
            </a:r>
          </a:p>
          <a:p>
            <a:pPr algn="l"/>
            <a:r>
              <a:rPr lang="ja-JP" altLang="en-US" sz="1200" dirty="0"/>
              <a:t>上位管理者（経営側）</a:t>
            </a:r>
          </a:p>
          <a:p>
            <a:pPr algn="l"/>
            <a:r>
              <a:rPr lang="ja-JP" altLang="en-US" sz="1200" dirty="0"/>
              <a:t>• 	リスクを受容しがち</a:t>
            </a:r>
          </a:p>
          <a:p>
            <a:pPr algn="l"/>
            <a:r>
              <a:rPr lang="ja-JP" altLang="en-US" sz="1200" dirty="0"/>
              <a:t>• 	「そこまで金をかける必要はない」と判断しがち</a:t>
            </a:r>
          </a:p>
          <a:p>
            <a:pPr algn="l"/>
            <a:r>
              <a:rPr lang="ja-JP" altLang="en-US" sz="1200" dirty="0"/>
              <a:t>• 	結果：必要な対策が後回しになる</a:t>
            </a:r>
          </a:p>
          <a:p>
            <a:pPr algn="l"/>
            <a:r>
              <a:rPr lang="ja-JP" altLang="en-US" sz="1200" dirty="0"/>
              <a:t>このギャップが、</a:t>
            </a:r>
          </a:p>
          <a:p>
            <a:pPr algn="l"/>
            <a:r>
              <a:rPr lang="ja-JP" altLang="en-US" sz="1200" dirty="0"/>
              <a:t>BC/DR 計画の失敗につながる典型例 です。</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9135D30E-EC20-459D-946B-F33A29997EC1}"/>
              </a:ext>
            </a:extLst>
          </p:cNvPr>
          <p:cNvPicPr>
            <a:picLocks noChangeAspect="1"/>
          </p:cNvPicPr>
          <p:nvPr/>
        </p:nvPicPr>
        <p:blipFill>
          <a:blip r:embed="rId2"/>
          <a:stretch>
            <a:fillRect/>
          </a:stretch>
        </p:blipFill>
        <p:spPr>
          <a:xfrm>
            <a:off x="179961" y="233464"/>
            <a:ext cx="6498077" cy="3684694"/>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1C6C1A6C-BA73-4E04-A731-DCEE736CD42E}"/>
              </a:ext>
            </a:extLst>
          </p:cNvPr>
          <p:cNvPicPr>
            <a:picLocks noChangeAspect="1"/>
          </p:cNvPicPr>
          <p:nvPr/>
        </p:nvPicPr>
        <p:blipFill>
          <a:blip r:embed="rId2"/>
          <a:stretch>
            <a:fillRect/>
          </a:stretch>
        </p:blipFill>
        <p:spPr>
          <a:xfrm>
            <a:off x="252367" y="194553"/>
            <a:ext cx="6353266" cy="3618689"/>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DFD4434B-5F77-40B7-8D16-F837C14BE1D2}"/>
              </a:ext>
            </a:extLst>
          </p:cNvPr>
          <p:cNvPicPr>
            <a:picLocks noChangeAspect="1"/>
          </p:cNvPicPr>
          <p:nvPr/>
        </p:nvPicPr>
        <p:blipFill>
          <a:blip r:embed="rId2"/>
          <a:stretch>
            <a:fillRect/>
          </a:stretch>
        </p:blipFill>
        <p:spPr>
          <a:xfrm>
            <a:off x="267400" y="175098"/>
            <a:ext cx="6323199" cy="3638146"/>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7968" y="3928532"/>
            <a:ext cx="6852285" cy="8144935"/>
          </a:xfrm>
        </p:spPr>
        <p:txBody>
          <a:bodyPr>
            <a:normAutofit/>
          </a:bodyPr>
          <a:lstStyle/>
          <a:p>
            <a:pPr algn="l"/>
            <a:r>
              <a:rPr lang="ja-JP" altLang="en-US" sz="1400" dirty="0"/>
              <a:t>産業界全体でインシデント対応が極めて重要であることを踏まえると、</a:t>
            </a:r>
          </a:p>
          <a:p>
            <a:pPr algn="l"/>
            <a:r>
              <a:rPr lang="ja-JP" altLang="en-US" sz="1400" dirty="0"/>
              <a:t>明確で標準化されたプロセスに従うことが不可欠 です。</a:t>
            </a:r>
          </a:p>
          <a:p>
            <a:pPr algn="l"/>
            <a:r>
              <a:rPr lang="ja-JP" altLang="en-US" sz="1400" dirty="0"/>
              <a:t>その出発点として、</a:t>
            </a:r>
          </a:p>
          <a:p>
            <a:pPr algn="l"/>
            <a:r>
              <a:rPr lang="ja-JP" altLang="en-US" sz="1400" dirty="0"/>
              <a:t>1990年代初頭に 米国エネルギー省（DOE） が中心となり、</a:t>
            </a:r>
          </a:p>
          <a:p>
            <a:pPr algn="l"/>
            <a:r>
              <a:rPr lang="ja-JP" altLang="en-US" sz="1400" dirty="0"/>
              <a:t>インシデント対応のための 6ステッププロセス を作成しました。</a:t>
            </a:r>
          </a:p>
          <a:p>
            <a:pPr algn="l"/>
            <a:r>
              <a:rPr lang="ja-JP" altLang="en-US" sz="1400" dirty="0"/>
              <a:t>この 6 ステップは、</a:t>
            </a:r>
          </a:p>
          <a:p>
            <a:pPr algn="l"/>
            <a:r>
              <a:rPr lang="ja-JP" altLang="en-US" sz="1400" dirty="0"/>
              <a:t>現在も ICS/OT を含む多くの業界で使われている標準的なプロセスの基礎となっており、</a:t>
            </a:r>
          </a:p>
          <a:p>
            <a:pPr algn="l"/>
            <a:r>
              <a:rPr lang="ja-JP" altLang="en-US" sz="1400" dirty="0"/>
              <a:t>後に NIST SP 800‑61（Computer Security Incident Handling Guide） として拡張・体系化されました。</a:t>
            </a:r>
          </a:p>
          <a:p>
            <a:pPr algn="l"/>
            <a:r>
              <a:rPr lang="ja-JP" altLang="en-US" sz="1400" dirty="0"/>
              <a:t>この 6 ステップは、</a:t>
            </a:r>
          </a:p>
          <a:p>
            <a:pPr algn="l"/>
            <a:r>
              <a:rPr lang="ja-JP" altLang="en-US" sz="1400" dirty="0"/>
              <a:t>インシデント対応を段階的に進めるための “ロードマップ” あるいは “コンパス” のような役割を果たします。</a:t>
            </a:r>
          </a:p>
          <a:p>
            <a:pPr algn="l"/>
            <a:r>
              <a:rPr lang="ja-JP" altLang="en-US" sz="1400" dirty="0"/>
              <a:t>そして重要なのは：</a:t>
            </a:r>
          </a:p>
          <a:p>
            <a:pPr algn="l"/>
            <a:r>
              <a:rPr lang="ja-JP" altLang="en-US" sz="1400" dirty="0"/>
              <a:t>このプロセスは、6つすべてのステップを順番に実施して初めて効果を発揮する。</a:t>
            </a:r>
          </a:p>
          <a:p>
            <a:pPr algn="l"/>
            <a:r>
              <a:rPr lang="ja-JP" altLang="en-US" sz="1400" dirty="0"/>
              <a:t>という点です。</a:t>
            </a:r>
          </a:p>
        </p:txBody>
      </p:sp>
      <p:pic>
        <p:nvPicPr>
          <p:cNvPr id="4" name="図 3">
            <a:extLst>
              <a:ext uri="{FF2B5EF4-FFF2-40B4-BE49-F238E27FC236}">
                <a16:creationId xmlns:a16="http://schemas.microsoft.com/office/drawing/2014/main" id="{4853ADE8-71E6-48BF-97B7-F806593F4577}"/>
              </a:ext>
            </a:extLst>
          </p:cNvPr>
          <p:cNvPicPr>
            <a:picLocks noChangeAspect="1"/>
          </p:cNvPicPr>
          <p:nvPr/>
        </p:nvPicPr>
        <p:blipFill>
          <a:blip r:embed="rId2"/>
          <a:stretch>
            <a:fillRect/>
          </a:stretch>
        </p:blipFill>
        <p:spPr>
          <a:xfrm>
            <a:off x="172343" y="118533"/>
            <a:ext cx="6513313" cy="3735422"/>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6" y="3505196"/>
            <a:ext cx="3423284" cy="8314266"/>
          </a:xfrm>
        </p:spPr>
        <p:txBody>
          <a:bodyPr>
            <a:noAutofit/>
          </a:bodyPr>
          <a:lstStyle/>
          <a:p>
            <a:pPr algn="l"/>
            <a:r>
              <a:rPr lang="ja-JP" altLang="en-US" sz="900" dirty="0"/>
              <a:t>準備（Preparation）はインシデント対応で最も重要なステップ</a:t>
            </a:r>
          </a:p>
          <a:p>
            <a:pPr algn="l"/>
            <a:r>
              <a:rPr lang="ja-JP" altLang="en-US" sz="900" dirty="0"/>
              <a:t>インシデント対応プロセスの最初のステップである 準備 は、</a:t>
            </a:r>
          </a:p>
          <a:p>
            <a:pPr algn="l"/>
            <a:r>
              <a:rPr lang="ja-JP" altLang="en-US" sz="900" dirty="0"/>
              <a:t>全体の成功を左右する最も重要な工程です。</a:t>
            </a:r>
          </a:p>
          <a:p>
            <a:pPr algn="l"/>
            <a:r>
              <a:rPr lang="ja-JP" altLang="en-US" sz="900" dirty="0"/>
              <a:t>しかし、準備は インシデントが起きる前に行う必要がある ため、</a:t>
            </a:r>
          </a:p>
          <a:p>
            <a:pPr algn="l"/>
            <a:r>
              <a:rPr lang="ja-JP" altLang="en-US" sz="900" dirty="0"/>
              <a:t>軽視されたり、最悪の場合スキップされることがあります。</a:t>
            </a:r>
          </a:p>
          <a:p>
            <a:pPr algn="l"/>
            <a:r>
              <a:rPr lang="ja-JP" altLang="en-US" sz="900" dirty="0"/>
              <a:t>SANS は、</a:t>
            </a:r>
          </a:p>
          <a:p>
            <a:pPr algn="l"/>
            <a:r>
              <a:rPr lang="ja-JP" altLang="en-US" sz="900" dirty="0"/>
              <a:t>インシデント発生時に必要となる要素を事前に十分準備しておくことが成功の鍵</a:t>
            </a:r>
          </a:p>
          <a:p>
            <a:pPr algn="l"/>
            <a:r>
              <a:rPr lang="ja-JP" altLang="en-US" sz="900" dirty="0"/>
              <a:t>だと強調しています。</a:t>
            </a:r>
          </a:p>
          <a:p>
            <a:pPr algn="l"/>
            <a:r>
              <a:rPr lang="ja-JP" altLang="en-US" sz="900" dirty="0"/>
              <a:t>1. 準備＝計画がすべて</a:t>
            </a:r>
          </a:p>
          <a:p>
            <a:pPr algn="l"/>
            <a:r>
              <a:rPr lang="ja-JP" altLang="en-US" sz="900" dirty="0"/>
              <a:t>インシデント対応では、</a:t>
            </a:r>
          </a:p>
          <a:p>
            <a:pPr algn="l"/>
            <a:r>
              <a:rPr lang="ja-JP" altLang="en-US" sz="900" dirty="0"/>
              <a:t>計画がすべて です。</a:t>
            </a:r>
          </a:p>
          <a:p>
            <a:pPr algn="l"/>
            <a:r>
              <a:rPr lang="ja-JP" altLang="en-US" sz="900" dirty="0"/>
              <a:t>そのため、組織には以下を含む 明確なポリシー が必要です：</a:t>
            </a:r>
          </a:p>
          <a:p>
            <a:pPr algn="l"/>
            <a:r>
              <a:rPr lang="ja-JP" altLang="en-US" sz="900" dirty="0"/>
              <a:t>● インシデント発生時に法執行機関へ通報するか？</a:t>
            </a:r>
          </a:p>
          <a:p>
            <a:pPr algn="l"/>
            <a:r>
              <a:rPr lang="ja-JP" altLang="en-US" sz="900" dirty="0"/>
              <a:t>• 	通報するのか、しないのか</a:t>
            </a:r>
          </a:p>
          <a:p>
            <a:pPr algn="l"/>
            <a:r>
              <a:rPr lang="ja-JP" altLang="en-US" sz="900" dirty="0"/>
              <a:t>• 	どのレベルの重大度で通報するのか</a:t>
            </a:r>
          </a:p>
          <a:p>
            <a:pPr algn="l"/>
            <a:r>
              <a:rPr lang="ja-JP" altLang="en-US" sz="900" dirty="0"/>
              <a:t>• 	誰が判断するのか</a:t>
            </a:r>
          </a:p>
          <a:p>
            <a:pPr algn="l"/>
            <a:r>
              <a:rPr lang="ja-JP" altLang="en-US" sz="900" dirty="0"/>
              <a:t>• 	どの機関に連絡するのか（電話番号リストを準備）</a:t>
            </a:r>
          </a:p>
          <a:p>
            <a:pPr algn="l"/>
            <a:r>
              <a:rPr lang="ja-JP" altLang="en-US" sz="900" dirty="0"/>
              <a:t>これらは 事前に決めておかないと、現場が混乱する典型例 です。</a:t>
            </a:r>
          </a:p>
          <a:p>
            <a:pPr algn="l"/>
            <a:r>
              <a:rPr lang="ja-JP" altLang="en-US" sz="900" dirty="0"/>
              <a:t>2. 事件を“封じ込める”か、“観察して証拠を集める”か</a:t>
            </a:r>
          </a:p>
          <a:p>
            <a:pPr algn="l"/>
            <a:r>
              <a:rPr lang="ja-JP" altLang="en-US" sz="900" dirty="0"/>
              <a:t>インシデント対応では、</a:t>
            </a:r>
          </a:p>
          <a:p>
            <a:pPr algn="l"/>
            <a:r>
              <a:rPr lang="ja-JP" altLang="en-US" sz="900" dirty="0"/>
              <a:t>すぐに封じ込めるか、あえて観察して証拠を集めるか</a:t>
            </a:r>
          </a:p>
          <a:p>
            <a:pPr algn="l"/>
            <a:r>
              <a:rPr lang="ja-JP" altLang="en-US" sz="900" dirty="0"/>
              <a:t>という判断が必要になることがあります。</a:t>
            </a:r>
          </a:p>
          <a:p>
            <a:pPr algn="l"/>
            <a:r>
              <a:rPr lang="ja-JP" altLang="en-US" sz="900" dirty="0"/>
              <a:t>例：</a:t>
            </a:r>
          </a:p>
          <a:p>
            <a:pPr algn="l"/>
            <a:r>
              <a:rPr lang="ja-JP" altLang="en-US" sz="900" dirty="0"/>
              <a:t>• 	マルウェア感染 → 即封じ込めが必要</a:t>
            </a:r>
          </a:p>
          <a:p>
            <a:pPr algn="l"/>
            <a:r>
              <a:rPr lang="ja-JP" altLang="en-US" sz="900" dirty="0"/>
              <a:t>• 	APT（高度持続的脅威） → 証拠収集のため観察する場合もある</a:t>
            </a:r>
          </a:p>
          <a:p>
            <a:pPr algn="l"/>
            <a:r>
              <a:rPr lang="ja-JP" altLang="en-US" sz="900" dirty="0"/>
              <a:t>この判断基準も ポリシーに明記しておく必要がある。</a:t>
            </a:r>
          </a:p>
          <a:p>
            <a:pPr algn="l"/>
            <a:r>
              <a:rPr lang="ja-JP" altLang="en-US" sz="900" dirty="0"/>
              <a:t>3. 他組織との連携（Interorganizational Incidents）</a:t>
            </a:r>
          </a:p>
          <a:p>
            <a:pPr algn="l"/>
            <a:r>
              <a:rPr lang="ja-JP" altLang="en-US" sz="900" dirty="0"/>
              <a:t>サプライチェーン攻撃やベンダー経由の侵害など、</a:t>
            </a:r>
          </a:p>
          <a:p>
            <a:pPr algn="l"/>
            <a:r>
              <a:rPr lang="ja-JP" altLang="en-US" sz="900" dirty="0"/>
              <a:t>複数組織が関わるインシデントも増えています。</a:t>
            </a:r>
          </a:p>
          <a:p>
            <a:pPr algn="l"/>
            <a:r>
              <a:rPr lang="ja-JP" altLang="en-US" sz="900" dirty="0"/>
              <a:t>そのため、ポリシーには：</a:t>
            </a:r>
          </a:p>
          <a:p>
            <a:pPr algn="l"/>
            <a:r>
              <a:rPr lang="ja-JP" altLang="en-US" sz="900" dirty="0"/>
              <a:t>• 	他社との連携方法</a:t>
            </a:r>
          </a:p>
          <a:p>
            <a:pPr algn="l"/>
            <a:r>
              <a:rPr lang="ja-JP" altLang="en-US" sz="900" dirty="0"/>
              <a:t>• 	情報共有のルール</a:t>
            </a:r>
          </a:p>
          <a:p>
            <a:pPr algn="l"/>
            <a:r>
              <a:rPr lang="ja-JP" altLang="en-US" sz="900" dirty="0"/>
              <a:t>• 	連絡窓口</a:t>
            </a:r>
          </a:p>
          <a:p>
            <a:pPr algn="l"/>
            <a:r>
              <a:rPr lang="ja-JP" altLang="en-US" sz="900" dirty="0"/>
              <a:t>• 	NDA（秘密保持）に関する扱い</a:t>
            </a:r>
          </a:p>
          <a:p>
            <a:pPr algn="l"/>
            <a:r>
              <a:rPr lang="ja-JP" altLang="en-US" sz="900" dirty="0"/>
              <a:t>なども含める必要があります。</a:t>
            </a:r>
          </a:p>
          <a:p>
            <a:pPr algn="l"/>
            <a:endParaRPr lang="ja-JP" altLang="en-US" sz="900" dirty="0"/>
          </a:p>
        </p:txBody>
      </p:sp>
      <p:pic>
        <p:nvPicPr>
          <p:cNvPr id="4" name="図 3">
            <a:extLst>
              <a:ext uri="{FF2B5EF4-FFF2-40B4-BE49-F238E27FC236}">
                <a16:creationId xmlns:a16="http://schemas.microsoft.com/office/drawing/2014/main" id="{50C225D2-9720-410A-B53B-5069A9A5B89F}"/>
              </a:ext>
            </a:extLst>
          </p:cNvPr>
          <p:cNvPicPr>
            <a:picLocks noChangeAspect="1"/>
          </p:cNvPicPr>
          <p:nvPr/>
        </p:nvPicPr>
        <p:blipFill>
          <a:blip r:embed="rId2"/>
          <a:stretch>
            <a:fillRect/>
          </a:stretch>
        </p:blipFill>
        <p:spPr>
          <a:xfrm>
            <a:off x="1137596" y="77820"/>
            <a:ext cx="4582807" cy="3307404"/>
          </a:xfrm>
          <a:prstGeom prst="rect">
            <a:avLst/>
          </a:prstGeom>
        </p:spPr>
      </p:pic>
      <p:sp>
        <p:nvSpPr>
          <p:cNvPr id="5" name="サブタイトル 2">
            <a:extLst>
              <a:ext uri="{FF2B5EF4-FFF2-40B4-BE49-F238E27FC236}">
                <a16:creationId xmlns:a16="http://schemas.microsoft.com/office/drawing/2014/main" id="{FB81AF7A-3794-483F-AEF9-17F3FC68DBD9}"/>
              </a:ext>
            </a:extLst>
          </p:cNvPr>
          <p:cNvSpPr txBox="1">
            <a:spLocks/>
          </p:cNvSpPr>
          <p:nvPr/>
        </p:nvSpPr>
        <p:spPr>
          <a:xfrm>
            <a:off x="3589867" y="3505196"/>
            <a:ext cx="3262417" cy="8534400"/>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900" dirty="0"/>
              <a:t>4. インシデント対応中は“極度のプレッシャー”がかかる</a:t>
            </a:r>
          </a:p>
          <a:p>
            <a:pPr algn="l"/>
            <a:r>
              <a:rPr lang="ja-JP" altLang="en-US" sz="900" dirty="0"/>
              <a:t>インシデント対応チームは、</a:t>
            </a:r>
          </a:p>
          <a:p>
            <a:pPr algn="l"/>
            <a:r>
              <a:rPr lang="ja-JP" altLang="en-US" sz="900" dirty="0"/>
              <a:t>非常に高いストレス下で作業することがあります。</a:t>
            </a:r>
          </a:p>
          <a:p>
            <a:pPr algn="l"/>
            <a:r>
              <a:rPr lang="ja-JP" altLang="en-US" sz="900" dirty="0"/>
              <a:t>例：</a:t>
            </a:r>
          </a:p>
          <a:p>
            <a:pPr algn="l"/>
            <a:r>
              <a:rPr lang="ja-JP" altLang="en-US" sz="900" dirty="0"/>
              <a:t>• 	ワームが全ネットワークを感染させ、システムが全滅</a:t>
            </a:r>
          </a:p>
          <a:p>
            <a:pPr algn="l"/>
            <a:r>
              <a:rPr lang="ja-JP" altLang="en-US" sz="900" dirty="0"/>
              <a:t>• 	OT ネットワークが停止し、プラントが危険状態に近づく</a:t>
            </a:r>
          </a:p>
          <a:p>
            <a:pPr algn="l"/>
            <a:r>
              <a:rPr lang="ja-JP" altLang="en-US" sz="900" dirty="0"/>
              <a:t>• 	経営層がリアルタイムで状況を求めてくる</a:t>
            </a:r>
          </a:p>
          <a:p>
            <a:pPr algn="l"/>
            <a:r>
              <a:rPr lang="ja-JP" altLang="en-US" sz="900" dirty="0"/>
              <a:t>こうした状況では、</a:t>
            </a:r>
          </a:p>
          <a:p>
            <a:pPr algn="l"/>
            <a:r>
              <a:rPr lang="ja-JP" altLang="en-US" sz="900" dirty="0"/>
              <a:t>VoIP に依存してはいけない という教訓があります。</a:t>
            </a:r>
          </a:p>
          <a:p>
            <a:pPr algn="l"/>
            <a:r>
              <a:rPr lang="ja-JP" altLang="en-US" sz="900" dirty="0"/>
              <a:t>理由：</a:t>
            </a:r>
          </a:p>
          <a:p>
            <a:pPr algn="l"/>
            <a:r>
              <a:rPr lang="ja-JP" altLang="en-US" sz="900" dirty="0"/>
              <a:t>• 	ネットワークが落ちると VoIP も落ちる</a:t>
            </a:r>
          </a:p>
          <a:p>
            <a:pPr algn="l"/>
            <a:r>
              <a:rPr lang="ja-JP" altLang="en-US" sz="900" dirty="0"/>
              <a:t>• 	ICS/OT の障害ではネットワーク断がよく起きる</a:t>
            </a:r>
          </a:p>
          <a:p>
            <a:pPr algn="l"/>
            <a:r>
              <a:rPr lang="ja-JP" altLang="en-US" sz="900" dirty="0"/>
              <a:t>代替手段として：</a:t>
            </a:r>
          </a:p>
          <a:p>
            <a:pPr algn="l"/>
            <a:r>
              <a:rPr lang="ja-JP" altLang="en-US" sz="900" dirty="0"/>
              <a:t>• 	携帯電話</a:t>
            </a:r>
          </a:p>
          <a:p>
            <a:pPr algn="l"/>
            <a:r>
              <a:rPr lang="ja-JP" altLang="en-US" sz="900" dirty="0"/>
              <a:t>• 	無線機（walkie-talkie）</a:t>
            </a:r>
          </a:p>
          <a:p>
            <a:pPr algn="l"/>
            <a:r>
              <a:rPr lang="ja-JP" altLang="en-US" sz="900" dirty="0"/>
              <a:t>• 	独立した通信手段</a:t>
            </a:r>
          </a:p>
          <a:p>
            <a:pPr algn="l"/>
            <a:r>
              <a:rPr lang="ja-JP" altLang="en-US" sz="900" dirty="0"/>
              <a:t>を準備しておく必要があります。</a:t>
            </a:r>
          </a:p>
          <a:p>
            <a:pPr algn="l"/>
            <a:r>
              <a:rPr lang="ja-JP" altLang="en-US" sz="900" dirty="0"/>
              <a:t>5. インシデント対応は“大規模戦”になることがある</a:t>
            </a:r>
          </a:p>
          <a:p>
            <a:pPr algn="l"/>
            <a:r>
              <a:rPr lang="ja-JP" altLang="en-US" sz="900" dirty="0"/>
              <a:t>インシデント対応は、</a:t>
            </a:r>
          </a:p>
          <a:p>
            <a:pPr algn="l"/>
            <a:r>
              <a:rPr lang="ja-JP" altLang="en-US" sz="900" dirty="0"/>
              <a:t>多くの人が多くのシステムで同時に作業する 大規模プロジェクト になることがあります。</a:t>
            </a:r>
          </a:p>
          <a:p>
            <a:pPr algn="l"/>
            <a:r>
              <a:rPr lang="ja-JP" altLang="en-US" sz="900" dirty="0"/>
              <a:t>そのため：</a:t>
            </a:r>
          </a:p>
          <a:p>
            <a:pPr algn="l"/>
            <a:r>
              <a:rPr lang="ja-JP" altLang="en-US" sz="900" dirty="0"/>
              <a:t>• 	役割分担</a:t>
            </a:r>
          </a:p>
          <a:p>
            <a:pPr algn="l"/>
            <a:r>
              <a:rPr lang="ja-JP" altLang="en-US" sz="900" dirty="0"/>
              <a:t>• 	指揮系統</a:t>
            </a:r>
          </a:p>
          <a:p>
            <a:pPr algn="l"/>
            <a:r>
              <a:rPr lang="ja-JP" altLang="en-US" sz="900" dirty="0"/>
              <a:t>• 	連絡手段</a:t>
            </a:r>
          </a:p>
          <a:p>
            <a:pPr algn="l"/>
            <a:r>
              <a:rPr lang="ja-JP" altLang="en-US" sz="900" dirty="0"/>
              <a:t>• 	作業手順</a:t>
            </a:r>
          </a:p>
          <a:p>
            <a:pPr algn="l"/>
            <a:r>
              <a:rPr lang="ja-JP" altLang="en-US" sz="900" dirty="0"/>
              <a:t>• 	ログの記録方法</a:t>
            </a:r>
          </a:p>
          <a:p>
            <a:pPr algn="l"/>
            <a:r>
              <a:rPr lang="ja-JP" altLang="en-US" sz="900" dirty="0"/>
              <a:t>などを 事前に決めておくことが必須 です。</a:t>
            </a:r>
          </a:p>
          <a:p>
            <a:pPr algn="l"/>
            <a:r>
              <a:rPr lang="ja-JP" altLang="en-US" sz="900" dirty="0"/>
              <a:t>6. 重要な意思決定は“インシデント前”に行うべき</a:t>
            </a:r>
          </a:p>
          <a:p>
            <a:pPr algn="l"/>
            <a:r>
              <a:rPr lang="ja-JP" altLang="en-US" sz="900" dirty="0"/>
              <a:t>インシデント対応中に判断を迷うと、</a:t>
            </a:r>
          </a:p>
          <a:p>
            <a:pPr algn="l"/>
            <a:r>
              <a:rPr lang="ja-JP" altLang="en-US" sz="900" dirty="0"/>
              <a:t>対応が遅れ、被害が拡大します。</a:t>
            </a:r>
          </a:p>
          <a:p>
            <a:pPr algn="l"/>
            <a:r>
              <a:rPr lang="ja-JP" altLang="en-US" sz="900" dirty="0"/>
              <a:t>さらに：</a:t>
            </a:r>
          </a:p>
          <a:p>
            <a:pPr algn="l"/>
            <a:r>
              <a:rPr lang="ja-JP" altLang="en-US" sz="900" dirty="0"/>
              <a:t>• 	経営層</a:t>
            </a:r>
          </a:p>
          <a:p>
            <a:pPr algn="l"/>
            <a:r>
              <a:rPr lang="ja-JP" altLang="en-US" sz="900" dirty="0"/>
              <a:t>• 	法務部門</a:t>
            </a:r>
          </a:p>
          <a:p>
            <a:pPr algn="l"/>
            <a:r>
              <a:rPr lang="ja-JP" altLang="en-US" sz="900" dirty="0"/>
              <a:t>と事前に合意していない判断を現場が勝手に行うと、</a:t>
            </a:r>
          </a:p>
          <a:p>
            <a:pPr algn="l"/>
            <a:r>
              <a:rPr lang="ja-JP" altLang="en-US" sz="900" dirty="0"/>
              <a:t>後で責任問題に発展する可能性があります。</a:t>
            </a:r>
          </a:p>
          <a:p>
            <a:pPr algn="l"/>
            <a:r>
              <a:rPr lang="ja-JP" altLang="en-US" sz="900" dirty="0"/>
              <a:t>つまり：</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0"/>
            <a:ext cx="3423285" cy="8957733"/>
          </a:xfrm>
        </p:spPr>
        <p:txBody>
          <a:bodyPr>
            <a:noAutofit/>
          </a:bodyPr>
          <a:lstStyle/>
          <a:p>
            <a:pPr algn="l"/>
            <a:r>
              <a:rPr lang="ja-JP" altLang="en-US" sz="900" dirty="0"/>
              <a:t>1. インシデント対応に向いている人・向いていない人</a:t>
            </a:r>
          </a:p>
          <a:p>
            <a:pPr algn="l"/>
            <a:r>
              <a:rPr lang="ja-JP" altLang="en-US" sz="900" dirty="0"/>
              <a:t>インシデント対応チームのメンバー選定では、</a:t>
            </a:r>
          </a:p>
          <a:p>
            <a:pPr algn="l"/>
            <a:r>
              <a:rPr lang="ja-JP" altLang="en-US" sz="900" dirty="0"/>
              <a:t>技術力だけでは不十分 です。</a:t>
            </a:r>
          </a:p>
          <a:p>
            <a:pPr algn="l"/>
            <a:r>
              <a:rPr lang="ja-JP" altLang="en-US" sz="900" dirty="0"/>
              <a:t>向いていない人の例：</a:t>
            </a:r>
          </a:p>
          <a:p>
            <a:pPr algn="l"/>
            <a:r>
              <a:rPr lang="ja-JP" altLang="en-US" sz="900" dirty="0"/>
              <a:t>• 	極度のプレッシャーに弱い</a:t>
            </a:r>
          </a:p>
          <a:p>
            <a:pPr algn="l"/>
            <a:r>
              <a:rPr lang="ja-JP" altLang="en-US" sz="900" dirty="0"/>
              <a:t>• 	チームで動くのが苦手</a:t>
            </a:r>
          </a:p>
          <a:p>
            <a:pPr algn="l"/>
            <a:r>
              <a:rPr lang="ja-JP" altLang="en-US" sz="900" dirty="0"/>
              <a:t>• 	“自分がヒーローになりたい”タイプ</a:t>
            </a:r>
          </a:p>
          <a:p>
            <a:pPr algn="l"/>
            <a:r>
              <a:rPr lang="ja-JP" altLang="en-US" sz="900" dirty="0"/>
              <a:t>• 	ソロで動きたがる人</a:t>
            </a:r>
          </a:p>
          <a:p>
            <a:pPr algn="l"/>
            <a:r>
              <a:rPr lang="ja-JP" altLang="en-US" sz="900" dirty="0"/>
              <a:t>向いている人の特徴：</a:t>
            </a:r>
          </a:p>
          <a:p>
            <a:pPr algn="l"/>
            <a:r>
              <a:rPr lang="ja-JP" altLang="en-US" sz="900" dirty="0"/>
              <a:t>• 	強い技術基盤</a:t>
            </a:r>
          </a:p>
          <a:p>
            <a:pPr algn="l"/>
            <a:r>
              <a:rPr lang="ja-JP" altLang="en-US" sz="900" dirty="0"/>
              <a:t>• 	チームワークを重視</a:t>
            </a:r>
          </a:p>
          <a:p>
            <a:pPr algn="l"/>
            <a:r>
              <a:rPr lang="ja-JP" altLang="en-US" sz="900" dirty="0"/>
              <a:t>• 	現実的で冷静な判断ができる</a:t>
            </a:r>
          </a:p>
          <a:p>
            <a:pPr algn="l"/>
            <a:r>
              <a:rPr lang="ja-JP" altLang="en-US" sz="900" dirty="0"/>
              <a:t>• 	混乱時でも落ち着いて行動できる</a:t>
            </a:r>
          </a:p>
          <a:p>
            <a:pPr algn="l"/>
            <a:r>
              <a:rPr lang="ja-JP" altLang="en-US" sz="900" dirty="0"/>
              <a:t>ICS/OT のインシデント対応は特にストレスが大きいため、</a:t>
            </a:r>
          </a:p>
          <a:p>
            <a:pPr algn="l"/>
            <a:r>
              <a:rPr lang="ja-JP" altLang="en-US" sz="900" dirty="0"/>
              <a:t>性格適性が非常に重要 です。</a:t>
            </a:r>
          </a:p>
          <a:p>
            <a:pPr algn="l"/>
            <a:endParaRPr lang="ja-JP" altLang="en-US" sz="900" dirty="0"/>
          </a:p>
          <a:p>
            <a:pPr algn="l"/>
            <a:r>
              <a:rPr lang="ja-JP" altLang="en-US" sz="900" dirty="0"/>
              <a:t>2. チームの燃え尽き（Burnout）と報酬の必要性</a:t>
            </a:r>
          </a:p>
          <a:p>
            <a:pPr algn="l"/>
            <a:r>
              <a:rPr lang="ja-JP" altLang="en-US" sz="900" dirty="0"/>
              <a:t>インシデント対応チームは、</a:t>
            </a:r>
          </a:p>
          <a:p>
            <a:pPr algn="l"/>
            <a:r>
              <a:rPr lang="ja-JP" altLang="en-US" sz="900" dirty="0"/>
              <a:t>大規模インシデントを経験するほど 燃え尽きやすい。</a:t>
            </a:r>
          </a:p>
          <a:p>
            <a:pPr algn="l"/>
            <a:r>
              <a:rPr lang="ja-JP" altLang="en-US" sz="900" dirty="0"/>
              <a:t>理由：</a:t>
            </a:r>
          </a:p>
          <a:p>
            <a:pPr algn="l"/>
            <a:r>
              <a:rPr lang="ja-JP" altLang="en-US" sz="900" dirty="0"/>
              <a:t>• 	深夜・休日の呼び出し</a:t>
            </a:r>
          </a:p>
          <a:p>
            <a:pPr algn="l"/>
            <a:r>
              <a:rPr lang="ja-JP" altLang="en-US" sz="900" dirty="0"/>
              <a:t>• 	高いプレッシャー</a:t>
            </a:r>
          </a:p>
          <a:p>
            <a:pPr algn="l"/>
            <a:r>
              <a:rPr lang="ja-JP" altLang="en-US" sz="900" dirty="0"/>
              <a:t>• 	長時間作業</a:t>
            </a:r>
          </a:p>
          <a:p>
            <a:pPr algn="l"/>
            <a:r>
              <a:rPr lang="ja-JP" altLang="en-US" sz="900" dirty="0"/>
              <a:t>• 	経営層からの強い期待</a:t>
            </a:r>
          </a:p>
          <a:p>
            <a:pPr algn="l"/>
            <a:r>
              <a:rPr lang="ja-JP" altLang="en-US" sz="900" dirty="0"/>
              <a:t>そのため、</a:t>
            </a:r>
          </a:p>
          <a:p>
            <a:pPr algn="l"/>
            <a:r>
              <a:rPr lang="ja-JP" altLang="en-US" sz="900" dirty="0"/>
              <a:t>報酬・手当・表彰などのインセンティブ を用意することが望ましい。</a:t>
            </a:r>
          </a:p>
          <a:p>
            <a:pPr algn="l"/>
            <a:r>
              <a:rPr lang="ja-JP" altLang="en-US" sz="900" dirty="0"/>
              <a:t>これは組織の既存ポリシーと矛盾する場合もあるが、</a:t>
            </a:r>
          </a:p>
          <a:p>
            <a:pPr algn="l"/>
            <a:r>
              <a:rPr lang="ja-JP" altLang="en-US" sz="900" dirty="0"/>
              <a:t>インシデント対応は特殊で負荷が高い業務 であることを理解する必要がある。</a:t>
            </a:r>
          </a:p>
          <a:p>
            <a:pPr algn="l"/>
            <a:endParaRPr lang="ja-JP" altLang="en-US" sz="900" dirty="0"/>
          </a:p>
          <a:p>
            <a:pPr algn="l"/>
            <a:r>
              <a:rPr lang="ja-JP" altLang="en-US" sz="900" dirty="0"/>
              <a:t>3. DR（災害復旧）計画にインシデント対応を統合する</a:t>
            </a:r>
          </a:p>
          <a:p>
            <a:pPr algn="l"/>
            <a:r>
              <a:rPr lang="ja-JP" altLang="en-US" sz="900" dirty="0"/>
              <a:t>災害（Disaster）とは、</a:t>
            </a:r>
          </a:p>
          <a:p>
            <a:pPr algn="l"/>
            <a:r>
              <a:rPr lang="ja-JP" altLang="en-US" sz="900" dirty="0"/>
              <a:t>本質的には“重大インシデント” である。</a:t>
            </a:r>
          </a:p>
          <a:p>
            <a:pPr algn="l"/>
            <a:r>
              <a:rPr lang="ja-JP" altLang="en-US" sz="900" dirty="0"/>
              <a:t>そのため：</a:t>
            </a:r>
          </a:p>
          <a:p>
            <a:pPr algn="l"/>
            <a:r>
              <a:rPr lang="ja-JP" altLang="en-US" sz="900" dirty="0"/>
              <a:t>• 	DR 計画にインシデント対応プロセスを組み込む</a:t>
            </a:r>
          </a:p>
          <a:p>
            <a:pPr algn="l"/>
            <a:r>
              <a:rPr lang="ja-JP" altLang="en-US" sz="900" dirty="0"/>
              <a:t>• 	インシデント対応チームのスキルを DR に活用する</a:t>
            </a:r>
          </a:p>
          <a:p>
            <a:pPr algn="l"/>
            <a:r>
              <a:rPr lang="ja-JP" altLang="en-US" sz="900" dirty="0"/>
              <a:t>• 	緊急時の通信手段を DR 計画に明記する</a:t>
            </a:r>
          </a:p>
          <a:p>
            <a:pPr algn="l"/>
            <a:r>
              <a:rPr lang="ja-JP" altLang="en-US" sz="900" dirty="0"/>
              <a:t>ICS/OT では、</a:t>
            </a:r>
          </a:p>
          <a:p>
            <a:pPr algn="l"/>
            <a:r>
              <a:rPr lang="ja-JP" altLang="en-US" sz="900" dirty="0"/>
              <a:t>災害＝プロセス停止＝安全リスク</a:t>
            </a:r>
          </a:p>
          <a:p>
            <a:pPr algn="l"/>
            <a:r>
              <a:rPr lang="ja-JP" altLang="en-US" sz="900" dirty="0"/>
              <a:t>となるため、統合は必須。</a:t>
            </a:r>
          </a:p>
          <a:p>
            <a:pPr algn="l"/>
            <a:endParaRPr lang="ja-JP" altLang="en-US" sz="900" dirty="0"/>
          </a:p>
        </p:txBody>
      </p:sp>
      <p:sp>
        <p:nvSpPr>
          <p:cNvPr id="4" name="サブタイトル 2">
            <a:extLst>
              <a:ext uri="{FF2B5EF4-FFF2-40B4-BE49-F238E27FC236}">
                <a16:creationId xmlns:a16="http://schemas.microsoft.com/office/drawing/2014/main" id="{EF177755-FF74-4C9C-BEFE-E921EEE200A0}"/>
              </a:ext>
            </a:extLst>
          </p:cNvPr>
          <p:cNvSpPr txBox="1">
            <a:spLocks/>
          </p:cNvSpPr>
          <p:nvPr/>
        </p:nvSpPr>
        <p:spPr>
          <a:xfrm>
            <a:off x="3429000" y="0"/>
            <a:ext cx="3423285" cy="11731557"/>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900" dirty="0"/>
              <a:t>4. 特権パスワードの扱い（非常に重要）</a:t>
            </a:r>
          </a:p>
          <a:p>
            <a:pPr algn="l"/>
            <a:r>
              <a:rPr lang="ja-JP" altLang="en-US" sz="900" dirty="0"/>
              <a:t>緊急時には、</a:t>
            </a:r>
          </a:p>
          <a:p>
            <a:pPr algn="l"/>
            <a:r>
              <a:rPr lang="ja-JP" altLang="en-US" sz="900" dirty="0"/>
              <a:t>インシデント対応者が 特権アカウント にアクセスする必要がある。</a:t>
            </a:r>
          </a:p>
          <a:p>
            <a:pPr algn="l"/>
            <a:r>
              <a:rPr lang="ja-JP" altLang="en-US" sz="900" dirty="0"/>
              <a:t>しかし、特権パスワードの共有は非常にデリケート。</a:t>
            </a:r>
          </a:p>
          <a:p>
            <a:pPr algn="l"/>
            <a:r>
              <a:rPr lang="ja-JP" altLang="en-US" sz="900" dirty="0"/>
              <a:t>推奨される方法：</a:t>
            </a:r>
          </a:p>
          <a:p>
            <a:pPr algn="l"/>
            <a:r>
              <a:rPr lang="ja-JP" altLang="en-US" sz="900" dirty="0"/>
              <a:t>• 	パスワードを封筒に入れて密封</a:t>
            </a:r>
          </a:p>
          <a:p>
            <a:pPr algn="l"/>
            <a:r>
              <a:rPr lang="ja-JP" altLang="en-US" sz="900" dirty="0"/>
              <a:t>• 	施錠された金庫やデータセンターに保管</a:t>
            </a:r>
          </a:p>
          <a:p>
            <a:pPr algn="l"/>
            <a:r>
              <a:rPr lang="ja-JP" altLang="en-US" sz="900" dirty="0"/>
              <a:t>• 	必要時のみ開封</a:t>
            </a:r>
          </a:p>
          <a:p>
            <a:pPr algn="l"/>
            <a:r>
              <a:rPr lang="ja-JP" altLang="en-US" sz="900" dirty="0"/>
              <a:t>• 	開封ログを残す</a:t>
            </a:r>
          </a:p>
          <a:p>
            <a:pPr algn="l"/>
            <a:r>
              <a:rPr lang="ja-JP" altLang="en-US" sz="900" dirty="0"/>
              <a:t>• 	システム管理者が定期的に封筒内のパスワードを更新</a:t>
            </a:r>
          </a:p>
          <a:p>
            <a:pPr algn="l"/>
            <a:r>
              <a:rPr lang="ja-JP" altLang="en-US" sz="900" dirty="0"/>
              <a:t>重要な注意点：</a:t>
            </a:r>
          </a:p>
          <a:p>
            <a:pPr algn="l"/>
            <a:r>
              <a:rPr lang="ja-JP" altLang="en-US" sz="900" dirty="0"/>
              <a:t>• 	資格のない人が root/Administrator を使うのは最悪の事態を招く</a:t>
            </a:r>
          </a:p>
          <a:p>
            <a:pPr algn="l"/>
            <a:r>
              <a:rPr lang="ja-JP" altLang="en-US" sz="900" dirty="0"/>
              <a:t>• 	インシデント対応者は、変更を必ず管理者に報告する</a:t>
            </a:r>
          </a:p>
          <a:p>
            <a:pPr algn="l"/>
            <a:r>
              <a:rPr lang="ja-JP" altLang="en-US" sz="900" dirty="0"/>
              <a:t>• 	“触ってはいけないもの”を理解している人だけが特権を使うべき</a:t>
            </a:r>
          </a:p>
          <a:p>
            <a:pPr algn="l"/>
            <a:r>
              <a:rPr lang="ja-JP" altLang="en-US" sz="900" dirty="0"/>
              <a:t>ICS/OT では、誤操作が 物理的事故 に直結するため特に重要。</a:t>
            </a:r>
          </a:p>
          <a:p>
            <a:pPr algn="l"/>
            <a:endParaRPr lang="ja-JP" altLang="en-US" sz="900" dirty="0"/>
          </a:p>
          <a:p>
            <a:pPr algn="l"/>
            <a:r>
              <a:rPr lang="ja-JP" altLang="en-US" sz="900" dirty="0"/>
              <a:t>5. 継続的な訓練と最新化されたチェックリスト</a:t>
            </a:r>
          </a:p>
          <a:p>
            <a:pPr algn="l"/>
            <a:r>
              <a:rPr lang="ja-JP" altLang="en-US" sz="900" dirty="0"/>
              <a:t>環境は常に変化するため、</a:t>
            </a:r>
          </a:p>
          <a:p>
            <a:pPr algn="l"/>
            <a:r>
              <a:rPr lang="ja-JP" altLang="en-US" sz="900" dirty="0"/>
              <a:t>訓練とチェックリストの更新が必須。</a:t>
            </a:r>
          </a:p>
          <a:p>
            <a:pPr algn="l"/>
            <a:r>
              <a:rPr lang="ja-JP" altLang="en-US" sz="900" dirty="0"/>
              <a:t>• 	記憶は時間とともに薄れる</a:t>
            </a:r>
          </a:p>
          <a:p>
            <a:pPr algn="l"/>
            <a:r>
              <a:rPr lang="ja-JP" altLang="en-US" sz="900" dirty="0"/>
              <a:t>• 	年に数回しか使わないスキルはすぐに劣化する</a:t>
            </a:r>
          </a:p>
          <a:p>
            <a:pPr algn="l"/>
            <a:r>
              <a:rPr lang="ja-JP" altLang="en-US" sz="900" dirty="0"/>
              <a:t>• 	古いチェックリストは逆に事故を招く</a:t>
            </a:r>
          </a:p>
          <a:p>
            <a:pPr algn="l"/>
            <a:r>
              <a:rPr lang="ja-JP" altLang="en-US" sz="900" dirty="0"/>
              <a:t>例：</a:t>
            </a:r>
          </a:p>
          <a:p>
            <a:pPr algn="l"/>
            <a:r>
              <a:rPr lang="ja-JP" altLang="en-US" sz="900" dirty="0"/>
              <a:t>• 	システムを安全に停止する手順</a:t>
            </a:r>
          </a:p>
          <a:p>
            <a:pPr algn="l"/>
            <a:r>
              <a:rPr lang="ja-JP" altLang="en-US" sz="900" dirty="0"/>
              <a:t>• 	バックアップから復旧する手順</a:t>
            </a:r>
          </a:p>
          <a:p>
            <a:pPr algn="l"/>
            <a:r>
              <a:rPr lang="ja-JP" altLang="en-US" sz="900" dirty="0"/>
              <a:t>• 	ネットワーク隔離の手順</a:t>
            </a:r>
          </a:p>
          <a:p>
            <a:pPr algn="l"/>
            <a:r>
              <a:rPr lang="ja-JP" altLang="en-US" sz="900" dirty="0"/>
              <a:t>ICS/OT では、</a:t>
            </a:r>
          </a:p>
          <a:p>
            <a:pPr algn="l"/>
            <a:r>
              <a:rPr lang="ja-JP" altLang="en-US" sz="900" dirty="0"/>
              <a:t>誤った手順がプロセス停止や安全事故につながる ため、</a:t>
            </a:r>
          </a:p>
          <a:p>
            <a:pPr algn="l"/>
            <a:r>
              <a:rPr lang="ja-JP" altLang="en-US" sz="900" dirty="0"/>
              <a:t>最新化は特に重要。</a:t>
            </a:r>
          </a:p>
          <a:p>
            <a:pPr algn="l"/>
            <a:endParaRPr lang="ja-JP" altLang="en-US" sz="900" dirty="0"/>
          </a:p>
          <a:p>
            <a:pPr algn="l"/>
            <a:r>
              <a:rPr lang="ja-JP" altLang="en-US" sz="900" dirty="0"/>
              <a:t>6. 反応速度（Reaction Time）は決定的に重要</a:t>
            </a:r>
          </a:p>
          <a:p>
            <a:pPr algn="l"/>
            <a:r>
              <a:rPr lang="ja-JP" altLang="en-US" sz="900" dirty="0"/>
              <a:t>インシデント対応では、</a:t>
            </a:r>
          </a:p>
          <a:p>
            <a:pPr algn="l"/>
            <a:r>
              <a:rPr lang="ja-JP" altLang="en-US" sz="900" dirty="0"/>
              <a:t>反応が遅れるほど被害が拡大する。</a:t>
            </a:r>
          </a:p>
          <a:p>
            <a:pPr algn="l"/>
            <a:r>
              <a:rPr lang="ja-JP" altLang="en-US" sz="900" dirty="0"/>
              <a:t>そのため：</a:t>
            </a:r>
          </a:p>
          <a:p>
            <a:pPr algn="l"/>
            <a:r>
              <a:rPr lang="ja-JP" altLang="en-US" sz="900" dirty="0"/>
              <a:t>• 	すぐに現場対応できるメンバーを選ぶ</a:t>
            </a:r>
          </a:p>
          <a:p>
            <a:pPr algn="l"/>
            <a:r>
              <a:rPr lang="ja-JP" altLang="en-US" sz="900" dirty="0"/>
              <a:t>• 	2時間通勤の人は緊急対応には不向き</a:t>
            </a:r>
          </a:p>
          <a:p>
            <a:pPr algn="l"/>
            <a:r>
              <a:rPr lang="ja-JP" altLang="en-US" sz="900" dirty="0"/>
              <a:t>• 	代替手段として「ジャンプバッグ（Jump Bag）」を用意する</a:t>
            </a:r>
          </a:p>
          <a:p>
            <a:pPr algn="l"/>
            <a:r>
              <a:rPr lang="ja-JP" altLang="en-US" sz="900" dirty="0"/>
              <a:t>ジャンプバッグに入れるべきもの：</a:t>
            </a:r>
          </a:p>
          <a:p>
            <a:pPr algn="l"/>
            <a:r>
              <a:rPr lang="ja-JP" altLang="en-US" sz="900" dirty="0"/>
              <a:t>• 	連絡先リスト</a:t>
            </a:r>
          </a:p>
          <a:p>
            <a:pPr algn="l"/>
            <a:r>
              <a:rPr lang="ja-JP" altLang="en-US" sz="900" dirty="0"/>
              <a:t>• 	チェックリスト</a:t>
            </a:r>
          </a:p>
          <a:p>
            <a:pPr algn="l"/>
            <a:r>
              <a:rPr lang="ja-JP" altLang="en-US" sz="900" dirty="0"/>
              <a:t>• 	携帯電話</a:t>
            </a:r>
          </a:p>
          <a:p>
            <a:pPr algn="l"/>
            <a:r>
              <a:rPr lang="ja-JP" altLang="en-US" sz="900" dirty="0"/>
              <a:t>• 	メモ帳・筆記具</a:t>
            </a:r>
          </a:p>
          <a:p>
            <a:pPr algn="l"/>
            <a:r>
              <a:rPr lang="ja-JP" altLang="en-US" sz="900" dirty="0"/>
              <a:t>• 	予備ネットワークケーブル</a:t>
            </a:r>
          </a:p>
          <a:p>
            <a:pPr algn="l"/>
            <a:r>
              <a:rPr lang="ja-JP" altLang="en-US" sz="900" dirty="0"/>
              <a:t>• 	予備 HDD</a:t>
            </a:r>
          </a:p>
          <a:p>
            <a:pPr algn="l"/>
            <a:r>
              <a:rPr lang="ja-JP" altLang="en-US" sz="900" dirty="0"/>
              <a:t>• 	小型ハブ</a:t>
            </a:r>
          </a:p>
          <a:p>
            <a:pPr algn="l"/>
            <a:r>
              <a:rPr lang="ja-JP" altLang="en-US" sz="900" dirty="0"/>
              <a:t>• 	PC 作業用ツール</a:t>
            </a:r>
          </a:p>
          <a:p>
            <a:pPr algn="l"/>
            <a:r>
              <a:rPr lang="ja-JP" altLang="en-US" sz="900" dirty="0"/>
              <a:t>ICS/OT の現場では、</a:t>
            </a:r>
          </a:p>
          <a:p>
            <a:pPr algn="l"/>
            <a:r>
              <a:rPr lang="ja-JP" altLang="en-US" sz="900" dirty="0"/>
              <a:t>現場に行かないと対応できないケースが多い ため、</a:t>
            </a:r>
          </a:p>
          <a:p>
            <a:pPr algn="l"/>
            <a:r>
              <a:rPr lang="ja-JP" altLang="en-US" sz="900" dirty="0"/>
              <a:t>ジャンプバッグは非常に有効。</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074652"/>
            <a:ext cx="3429000" cy="8812540"/>
          </a:xfrm>
        </p:spPr>
        <p:txBody>
          <a:bodyPr>
            <a:noAutofit/>
          </a:bodyPr>
          <a:lstStyle/>
          <a:p>
            <a:pPr algn="l"/>
            <a:r>
              <a:rPr lang="ja-JP" altLang="en-US" sz="1100" dirty="0"/>
              <a:t>1. インシデントを正しく識別できるかどうかが、被害規模を決める</a:t>
            </a:r>
          </a:p>
          <a:p>
            <a:pPr algn="l"/>
            <a:r>
              <a:rPr lang="ja-JP" altLang="en-US" sz="1100" dirty="0"/>
              <a:t>インシデントを正しく見極められるかどうかで、</a:t>
            </a:r>
          </a:p>
          <a:p>
            <a:pPr algn="l"/>
            <a:r>
              <a:rPr lang="ja-JP" altLang="en-US" sz="1100" dirty="0"/>
              <a:t>• 	数分で終わる軽微な対応</a:t>
            </a:r>
          </a:p>
          <a:p>
            <a:pPr algn="l"/>
            <a:r>
              <a:rPr lang="ja-JP" altLang="en-US" sz="1100" dirty="0"/>
              <a:t>になるのか</a:t>
            </a:r>
          </a:p>
          <a:p>
            <a:pPr algn="l"/>
            <a:r>
              <a:rPr lang="ja-JP" altLang="en-US" sz="1100" dirty="0"/>
              <a:t>• 	数時間〜数日間の大規模障害</a:t>
            </a:r>
          </a:p>
          <a:p>
            <a:pPr algn="l"/>
            <a:r>
              <a:rPr lang="ja-JP" altLang="en-US" sz="1100" dirty="0"/>
              <a:t>になるのか</a:t>
            </a:r>
          </a:p>
          <a:p>
            <a:pPr algn="l"/>
            <a:r>
              <a:rPr lang="ja-JP" altLang="en-US" sz="1100" dirty="0"/>
              <a:t>が決まります。</a:t>
            </a:r>
          </a:p>
          <a:p>
            <a:pPr algn="l"/>
            <a:r>
              <a:rPr lang="ja-JP" altLang="en-US" sz="1100" dirty="0"/>
              <a:t>ICS/OT では停止が莫大な損失につながるため、</a:t>
            </a:r>
          </a:p>
          <a:p>
            <a:pPr algn="l"/>
            <a:r>
              <a:rPr lang="ja-JP" altLang="en-US" sz="1100" dirty="0"/>
              <a:t>最初の判断が極めて重要 です。</a:t>
            </a:r>
          </a:p>
          <a:p>
            <a:pPr algn="l"/>
            <a:endParaRPr lang="ja-JP" altLang="en-US" sz="1100" dirty="0"/>
          </a:p>
          <a:p>
            <a:pPr algn="l"/>
            <a:r>
              <a:rPr lang="ja-JP" altLang="en-US" sz="1100" dirty="0"/>
              <a:t>2. “早めのアラート”は正しい文化</a:t>
            </a:r>
          </a:p>
          <a:p>
            <a:pPr algn="l"/>
            <a:r>
              <a:rPr lang="ja-JP" altLang="en-US" sz="1100" dirty="0"/>
              <a:t>推奨される姿勢は：</a:t>
            </a:r>
          </a:p>
          <a:p>
            <a:pPr algn="l"/>
            <a:r>
              <a:rPr lang="ja-JP" altLang="en-US" sz="1100" dirty="0"/>
              <a:t>• 	早めにアラートを上げる</a:t>
            </a:r>
          </a:p>
          <a:p>
            <a:pPr algn="l"/>
            <a:r>
              <a:rPr lang="ja-JP" altLang="en-US" sz="1100" dirty="0"/>
              <a:t>• 	訓練された人が状況を確認する</a:t>
            </a:r>
          </a:p>
          <a:p>
            <a:pPr algn="l"/>
            <a:r>
              <a:rPr lang="ja-JP" altLang="en-US" sz="1100" dirty="0"/>
              <a:t>• 	問題がなければすぐに解除する（Stand down）</a:t>
            </a:r>
          </a:p>
          <a:p>
            <a:pPr algn="l"/>
            <a:r>
              <a:rPr lang="ja-JP" altLang="en-US" sz="1100" dirty="0"/>
              <a:t>これが最もコストが低く、最も安全な運用です。</a:t>
            </a:r>
          </a:p>
          <a:p>
            <a:pPr algn="l"/>
            <a:r>
              <a:rPr lang="ja-JP" altLang="en-US" sz="1100" dirty="0"/>
              <a:t>ただし、</a:t>
            </a:r>
          </a:p>
          <a:p>
            <a:pPr algn="l"/>
            <a:r>
              <a:rPr lang="ja-JP" altLang="en-US" sz="1100" dirty="0"/>
              <a:t>過剰反応して大騒ぎしないこと も重要。</a:t>
            </a:r>
          </a:p>
          <a:p>
            <a:pPr algn="l"/>
            <a:r>
              <a:rPr lang="ja-JP" altLang="en-US" sz="1100" dirty="0"/>
              <a:t>誤報が多すぎると、</a:t>
            </a:r>
          </a:p>
          <a:p>
            <a:pPr algn="l"/>
            <a:r>
              <a:rPr lang="ja-JP" altLang="en-US" sz="1100" dirty="0"/>
              <a:t>「オオカミ少年」状態になり、</a:t>
            </a:r>
          </a:p>
          <a:p>
            <a:pPr algn="l"/>
            <a:r>
              <a:rPr lang="ja-JP" altLang="en-US" sz="1100" dirty="0"/>
              <a:t>本当に危険なときに誰も信じなくなります。</a:t>
            </a:r>
          </a:p>
          <a:p>
            <a:pPr algn="l"/>
            <a:endParaRPr lang="ja-JP" altLang="en-US" sz="1100" dirty="0"/>
          </a:p>
          <a:p>
            <a:pPr algn="l"/>
            <a:r>
              <a:rPr lang="ja-JP" altLang="en-US" sz="1100" dirty="0"/>
              <a:t>3. プライマリーハンドラー（Incident Lead）を必ず置く</a:t>
            </a:r>
          </a:p>
          <a:p>
            <a:pPr algn="l"/>
            <a:r>
              <a:rPr lang="ja-JP" altLang="en-US" sz="1100" dirty="0"/>
              <a:t>インシデント対応では、</a:t>
            </a:r>
          </a:p>
          <a:p>
            <a:pPr algn="l"/>
            <a:r>
              <a:rPr lang="ja-JP" altLang="en-US" sz="1100" dirty="0"/>
              <a:t>プロセス全体を管理するリーダー（Primary Handler） が必要です。</a:t>
            </a:r>
          </a:p>
          <a:p>
            <a:pPr algn="l"/>
            <a:r>
              <a:rPr lang="ja-JP" altLang="en-US" sz="1100" dirty="0"/>
              <a:t>役割：</a:t>
            </a:r>
          </a:p>
          <a:p>
            <a:pPr algn="l"/>
            <a:r>
              <a:rPr lang="ja-JP" altLang="en-US" sz="1100" dirty="0"/>
              <a:t>• 	手順が抜け落ちないように管理</a:t>
            </a:r>
          </a:p>
          <a:p>
            <a:pPr algn="l"/>
            <a:r>
              <a:rPr lang="ja-JP" altLang="en-US" sz="1100" dirty="0"/>
              <a:t>• 	チームの動きを調整</a:t>
            </a:r>
          </a:p>
          <a:p>
            <a:pPr algn="l"/>
            <a:r>
              <a:rPr lang="ja-JP" altLang="en-US" sz="1100" dirty="0"/>
              <a:t>• 	優先順位を決める</a:t>
            </a:r>
          </a:p>
          <a:p>
            <a:pPr algn="l"/>
            <a:r>
              <a:rPr lang="ja-JP" altLang="en-US" sz="1100" dirty="0"/>
              <a:t>• 	状況を全体に共有する</a:t>
            </a:r>
          </a:p>
          <a:p>
            <a:pPr algn="l"/>
            <a:r>
              <a:rPr lang="ja-JP" altLang="en-US" sz="1100" dirty="0"/>
              <a:t>小規模インシデント（「ちょっと見てくれない？」レベル）では、</a:t>
            </a:r>
          </a:p>
          <a:p>
            <a:pPr algn="l"/>
            <a:r>
              <a:rPr lang="ja-JP" altLang="en-US" sz="1100" dirty="0"/>
              <a:t>フルチームを動かす必要はありません。</a:t>
            </a:r>
          </a:p>
        </p:txBody>
      </p:sp>
      <p:sp>
        <p:nvSpPr>
          <p:cNvPr id="4" name="サブタイトル 2">
            <a:extLst>
              <a:ext uri="{FF2B5EF4-FFF2-40B4-BE49-F238E27FC236}">
                <a16:creationId xmlns:a16="http://schemas.microsoft.com/office/drawing/2014/main" id="{203B4CEC-4751-46E3-85C7-F64FFBE5F68A}"/>
              </a:ext>
            </a:extLst>
          </p:cNvPr>
          <p:cNvSpPr txBox="1">
            <a:spLocks/>
          </p:cNvSpPr>
          <p:nvPr/>
        </p:nvSpPr>
        <p:spPr>
          <a:xfrm>
            <a:off x="3429000" y="3074652"/>
            <a:ext cx="3428999" cy="9056811"/>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100" dirty="0"/>
              <a:t>4. “多層の消防士”モデルが理想</a:t>
            </a:r>
          </a:p>
          <a:p>
            <a:pPr algn="l"/>
            <a:r>
              <a:rPr lang="ja-JP" altLang="en-US" sz="1100" dirty="0"/>
              <a:t>推奨される組織構造：</a:t>
            </a:r>
          </a:p>
          <a:p>
            <a:pPr algn="l"/>
            <a:r>
              <a:rPr lang="ja-JP" altLang="en-US" sz="1100" dirty="0"/>
              <a:t>• 	コアの Incident Response Team（IRT）</a:t>
            </a:r>
          </a:p>
          <a:p>
            <a:pPr algn="l"/>
            <a:r>
              <a:rPr lang="ja-JP" altLang="en-US" sz="1100" dirty="0"/>
              <a:t>→ 高度訓練された専門チーム</a:t>
            </a:r>
          </a:p>
          <a:p>
            <a:pPr algn="l"/>
            <a:r>
              <a:rPr lang="ja-JP" altLang="en-US" sz="1100" dirty="0"/>
              <a:t>• 	セキュリティ担当者・シスアドにも IR スキルを持たせる</a:t>
            </a:r>
          </a:p>
          <a:p>
            <a:pPr algn="l"/>
            <a:r>
              <a:rPr lang="ja-JP" altLang="en-US" sz="1100" dirty="0"/>
              <a:t>→ 小規模インシデントを処理できる</a:t>
            </a:r>
          </a:p>
          <a:p>
            <a:pPr algn="l"/>
            <a:r>
              <a:rPr lang="ja-JP" altLang="en-US" sz="1100" dirty="0"/>
              <a:t>• 	必要に応じてエスカレーション</a:t>
            </a:r>
          </a:p>
          <a:p>
            <a:pPr algn="l"/>
            <a:r>
              <a:rPr lang="ja-JP" altLang="en-US" sz="1100" dirty="0"/>
              <a:t>これにより、</a:t>
            </a:r>
          </a:p>
          <a:p>
            <a:pPr algn="l"/>
            <a:r>
              <a:rPr lang="ja-JP" altLang="en-US" sz="1100" dirty="0"/>
              <a:t>複数レイヤーでインシデントに対応できる強い組織 になります。</a:t>
            </a:r>
          </a:p>
          <a:p>
            <a:pPr algn="l"/>
            <a:endParaRPr lang="ja-JP" altLang="en-US" sz="1100" dirty="0"/>
          </a:p>
          <a:p>
            <a:pPr algn="l"/>
            <a:r>
              <a:rPr lang="ja-JP" altLang="en-US" sz="1100" dirty="0"/>
              <a:t>5. パートタイム対応者には“期待値”を明確に伝える</a:t>
            </a:r>
          </a:p>
          <a:p>
            <a:pPr algn="l"/>
            <a:r>
              <a:rPr lang="ja-JP" altLang="en-US" sz="1100" dirty="0"/>
              <a:t>パートタイムで対応するメンバーには、</a:t>
            </a:r>
          </a:p>
          <a:p>
            <a:pPr algn="l"/>
            <a:r>
              <a:rPr lang="ja-JP" altLang="en-US" sz="1100" dirty="0"/>
              <a:t>以下を明確に伝える必要があります：</a:t>
            </a:r>
          </a:p>
          <a:p>
            <a:pPr algn="l"/>
            <a:r>
              <a:rPr lang="ja-JP" altLang="en-US" sz="1100" dirty="0"/>
              <a:t>• 	調査の品質</a:t>
            </a:r>
          </a:p>
          <a:p>
            <a:pPr algn="l"/>
            <a:r>
              <a:rPr lang="ja-JP" altLang="en-US" sz="1100" dirty="0"/>
              <a:t>• 	証拠保全の責任</a:t>
            </a:r>
          </a:p>
          <a:p>
            <a:pPr algn="l"/>
            <a:r>
              <a:rPr lang="ja-JP" altLang="en-US" sz="1100" dirty="0"/>
              <a:t>• 	作成すべき文書</a:t>
            </a:r>
          </a:p>
          <a:p>
            <a:pPr algn="l"/>
            <a:r>
              <a:rPr lang="ja-JP" altLang="en-US" sz="1100" dirty="0"/>
              <a:t>• 	提出期限</a:t>
            </a:r>
          </a:p>
          <a:p>
            <a:pPr algn="l"/>
            <a:r>
              <a:rPr lang="ja-JP" altLang="en-US" sz="1100" dirty="0"/>
              <a:t>• 	相談すべき相手（エスカレーション先）</a:t>
            </a:r>
          </a:p>
          <a:p>
            <a:pPr algn="l"/>
            <a:r>
              <a:rPr lang="ja-JP" altLang="en-US" sz="1100" dirty="0"/>
              <a:t>曖昧なまま任せると、</a:t>
            </a:r>
          </a:p>
          <a:p>
            <a:pPr algn="l"/>
            <a:r>
              <a:rPr lang="ja-JP" altLang="en-US" sz="1100" dirty="0"/>
              <a:t>証拠が失われたり、対応が混乱します。</a:t>
            </a:r>
          </a:p>
          <a:p>
            <a:pPr algn="l"/>
            <a:endParaRPr lang="ja-JP" altLang="en-US" sz="1100" dirty="0"/>
          </a:p>
          <a:p>
            <a:pPr algn="l"/>
            <a:r>
              <a:rPr lang="ja-JP" altLang="en-US" sz="1100" dirty="0"/>
              <a:t>6. インシデントと確定したら、法的手続きの準備が必要になる場合がある</a:t>
            </a:r>
          </a:p>
          <a:p>
            <a:pPr algn="l"/>
            <a:r>
              <a:rPr lang="ja-JP" altLang="en-US" sz="1100" dirty="0"/>
              <a:t>インシデントが 犯罪行為や法的問題に発展する可能性 がある場合、</a:t>
            </a:r>
          </a:p>
          <a:p>
            <a:pPr algn="l"/>
            <a:r>
              <a:rPr lang="ja-JP" altLang="en-US" sz="1100" dirty="0"/>
              <a:t>以下の対応が必要になります：</a:t>
            </a:r>
          </a:p>
          <a:p>
            <a:pPr algn="l"/>
            <a:r>
              <a:rPr lang="ja-JP" altLang="en-US" sz="1100" dirty="0"/>
              <a:t>• 	証人の特定</a:t>
            </a:r>
          </a:p>
          <a:p>
            <a:pPr algn="l"/>
            <a:r>
              <a:rPr lang="ja-JP" altLang="en-US" sz="1100" dirty="0"/>
              <a:t>• 	証言の書面化（Written Statement）</a:t>
            </a:r>
          </a:p>
          <a:p>
            <a:pPr algn="l"/>
            <a:r>
              <a:rPr lang="ja-JP" altLang="en-US" sz="1100" dirty="0"/>
              <a:t>• 	証拠の完全な保全（Forensic Soundness）</a:t>
            </a:r>
          </a:p>
          <a:p>
            <a:pPr algn="l"/>
            <a:r>
              <a:rPr lang="ja-JP" altLang="en-US" sz="1100" dirty="0"/>
              <a:t>ICS/OT では、</a:t>
            </a:r>
          </a:p>
          <a:p>
            <a:pPr algn="l"/>
            <a:r>
              <a:rPr lang="ja-JP" altLang="en-US" sz="1100" dirty="0"/>
              <a:t>• 	内部不正</a:t>
            </a:r>
          </a:p>
          <a:p>
            <a:pPr algn="l"/>
            <a:r>
              <a:rPr lang="ja-JP" altLang="en-US" sz="1100" dirty="0"/>
              <a:t>• 	サプライチェーン攻撃</a:t>
            </a:r>
          </a:p>
          <a:p>
            <a:pPr algn="l"/>
            <a:r>
              <a:rPr lang="ja-JP" altLang="en-US" sz="1100" dirty="0"/>
              <a:t>• 	破壊行為</a:t>
            </a:r>
          </a:p>
          <a:p>
            <a:pPr algn="l"/>
            <a:r>
              <a:rPr lang="ja-JP" altLang="en-US" sz="1100" dirty="0"/>
              <a:t>などが法的問題に発展することがあるため、</a:t>
            </a:r>
          </a:p>
          <a:p>
            <a:pPr algn="l"/>
            <a:r>
              <a:rPr lang="ja-JP" altLang="en-US" sz="1100" dirty="0"/>
              <a:t>このステップは非常に重要です。</a:t>
            </a:r>
          </a:p>
        </p:txBody>
      </p:sp>
      <p:pic>
        <p:nvPicPr>
          <p:cNvPr id="5" name="図 4">
            <a:extLst>
              <a:ext uri="{FF2B5EF4-FFF2-40B4-BE49-F238E27FC236}">
                <a16:creationId xmlns:a16="http://schemas.microsoft.com/office/drawing/2014/main" id="{87FD014B-5AA6-4C55-9A04-18C0D267B60E}"/>
              </a:ext>
            </a:extLst>
          </p:cNvPr>
          <p:cNvPicPr>
            <a:picLocks noChangeAspect="1"/>
          </p:cNvPicPr>
          <p:nvPr/>
        </p:nvPicPr>
        <p:blipFill>
          <a:blip r:embed="rId2"/>
          <a:stretch>
            <a:fillRect/>
          </a:stretch>
        </p:blipFill>
        <p:spPr>
          <a:xfrm>
            <a:off x="1502924" y="60537"/>
            <a:ext cx="3852152" cy="2929536"/>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0"/>
            <a:ext cx="6852285" cy="6312535"/>
          </a:xfrm>
        </p:spPr>
        <p:txBody>
          <a:bodyPr>
            <a:normAutofit/>
          </a:bodyPr>
          <a:lstStyle/>
          <a:p>
            <a:pPr algn="l"/>
            <a:r>
              <a:rPr lang="ja-JP" altLang="en-US" sz="1400" dirty="0"/>
              <a:t>インシデント対応者が 見たこと・聞いたこと は、</a:t>
            </a:r>
          </a:p>
          <a:p>
            <a:pPr algn="l"/>
            <a:r>
              <a:rPr lang="ja-JP" altLang="en-US" sz="1400" dirty="0"/>
              <a:t>記憶が鮮明なうちに すぐに書き留める必要があります。</a:t>
            </a:r>
          </a:p>
          <a:p>
            <a:pPr algn="l"/>
            <a:r>
              <a:rPr lang="ja-JP" altLang="en-US" sz="1400" dirty="0"/>
              <a:t>時間が経つと記憶は曖昧になり、</a:t>
            </a:r>
          </a:p>
          <a:p>
            <a:pPr algn="l"/>
            <a:r>
              <a:rPr lang="ja-JP" altLang="en-US" sz="1400" dirty="0"/>
              <a:t>証拠としての価値が下がるためです。</a:t>
            </a:r>
          </a:p>
          <a:p>
            <a:pPr algn="l"/>
            <a:r>
              <a:rPr lang="ja-JP" altLang="en-US" sz="1400" dirty="0"/>
              <a:t>また、</a:t>
            </a:r>
          </a:p>
          <a:p>
            <a:pPr algn="l"/>
            <a:r>
              <a:rPr lang="ja-JP" altLang="en-US" sz="1400" dirty="0"/>
              <a:t>法執行機関（警察など）を巻き込むかどうか を判断した場合は、</a:t>
            </a:r>
          </a:p>
          <a:p>
            <a:pPr algn="l"/>
            <a:r>
              <a:rPr lang="ja-JP" altLang="en-US" sz="1400" dirty="0"/>
              <a:t>詳細なポリシーが存在しない限り、</a:t>
            </a:r>
          </a:p>
          <a:p>
            <a:pPr algn="l"/>
            <a:r>
              <a:rPr lang="ja-JP" altLang="en-US" sz="1400" dirty="0"/>
              <a:t>必ず経営層へ報告する必要があります。</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2997" y="3333701"/>
            <a:ext cx="3416004" cy="8786959"/>
          </a:xfrm>
        </p:spPr>
        <p:txBody>
          <a:bodyPr>
            <a:normAutofit/>
          </a:bodyPr>
          <a:lstStyle/>
          <a:p>
            <a:pPr algn="l"/>
            <a:r>
              <a:rPr lang="ja-JP" altLang="en-US" sz="1200" dirty="0"/>
              <a:t>1. インシデントを特定した後に必要なのは「封じ込め」と「根絶」</a:t>
            </a:r>
          </a:p>
          <a:p>
            <a:pPr algn="l"/>
            <a:r>
              <a:rPr lang="ja-JP" altLang="en-US" sz="1200" dirty="0"/>
              <a:t>膨大な準備を経て、インシデントを正しく識別できるようになったとしても、</a:t>
            </a:r>
          </a:p>
          <a:p>
            <a:pPr algn="l"/>
            <a:r>
              <a:rPr lang="ja-JP" altLang="en-US" sz="1200" dirty="0"/>
              <a:t>それは 問題の半分しか解決していません。</a:t>
            </a:r>
          </a:p>
          <a:p>
            <a:pPr algn="l"/>
            <a:r>
              <a:rPr lang="ja-JP" altLang="en-US" sz="1200" dirty="0"/>
              <a:t>次に必要なのは：</a:t>
            </a:r>
          </a:p>
          <a:p>
            <a:pPr algn="l"/>
            <a:r>
              <a:rPr lang="ja-JP" altLang="en-US" sz="1200" dirty="0"/>
              <a:t>• 	インシデントの影響を封じ込める（Containment）</a:t>
            </a:r>
          </a:p>
          <a:p>
            <a:pPr algn="l"/>
            <a:r>
              <a:rPr lang="ja-JP" altLang="en-US" sz="1200" dirty="0"/>
              <a:t>• 	原因を排除する（Eradication）</a:t>
            </a:r>
          </a:p>
          <a:p>
            <a:pPr algn="l"/>
            <a:r>
              <a:rPr lang="ja-JP" altLang="en-US" sz="1200" dirty="0"/>
              <a:t>これらを適切に行うことで、</a:t>
            </a:r>
          </a:p>
          <a:p>
            <a:pPr algn="l"/>
            <a:r>
              <a:rPr lang="ja-JP" altLang="en-US" sz="1200" dirty="0"/>
              <a:t>組織への被害を最小限に抑えることができます。</a:t>
            </a:r>
          </a:p>
          <a:p>
            <a:pPr algn="l"/>
            <a:endParaRPr lang="ja-JP" altLang="en-US" sz="1200" dirty="0"/>
          </a:p>
          <a:p>
            <a:pPr algn="l"/>
            <a:r>
              <a:rPr lang="ja-JP" altLang="en-US" sz="1200" dirty="0"/>
              <a:t>2. インシデントハンドラーの最優先責任</a:t>
            </a:r>
          </a:p>
          <a:p>
            <a:pPr algn="l"/>
            <a:r>
              <a:rPr lang="ja-JP" altLang="en-US" sz="1200" dirty="0"/>
              <a:t>インシデントハンドラーの最も重要な責任は：</a:t>
            </a:r>
          </a:p>
          <a:p>
            <a:pPr algn="l"/>
            <a:endParaRPr lang="ja-JP" altLang="en-US" sz="1200" dirty="0"/>
          </a:p>
          <a:p>
            <a:pPr algn="l"/>
            <a:r>
              <a:rPr lang="ja-JP" altLang="en-US" sz="1200" dirty="0"/>
              <a:t>法律上の「過失」とは：</a:t>
            </a:r>
          </a:p>
          <a:p>
            <a:pPr algn="l"/>
            <a:endParaRPr lang="ja-JP" altLang="en-US" sz="1200" dirty="0"/>
          </a:p>
          <a:p>
            <a:pPr algn="l"/>
            <a:r>
              <a:rPr lang="ja-JP" altLang="en-US" sz="1200" dirty="0"/>
              <a:t>つまり、</a:t>
            </a:r>
          </a:p>
          <a:p>
            <a:pPr algn="l"/>
            <a:r>
              <a:rPr lang="ja-JP" altLang="en-US" sz="1200" dirty="0"/>
              <a:t>“慎重な人ならこうする”という基準（Prudent Person Rule）を満たす必要がある</a:t>
            </a:r>
          </a:p>
          <a:p>
            <a:pPr algn="l"/>
            <a:r>
              <a:rPr lang="ja-JP" altLang="en-US" sz="1200" dirty="0"/>
              <a:t>ということです。</a:t>
            </a:r>
          </a:p>
          <a:p>
            <a:pPr algn="l"/>
            <a:r>
              <a:rPr lang="ja-JP" altLang="en-US" sz="1200" dirty="0"/>
              <a:t>企業が合理的に、適切な注意を払って行動していれば、</a:t>
            </a:r>
          </a:p>
          <a:p>
            <a:pPr algn="l"/>
            <a:r>
              <a:rPr lang="ja-JP" altLang="en-US" sz="1200" dirty="0"/>
              <a:t>通常は過失と判断されません。</a:t>
            </a:r>
          </a:p>
          <a:p>
            <a:pPr algn="l"/>
            <a:endParaRPr lang="ja-JP" altLang="en-US" sz="1200" dirty="0"/>
          </a:p>
          <a:p>
            <a:pPr algn="l"/>
            <a:r>
              <a:rPr lang="ja-JP" altLang="en-US" sz="1200" dirty="0"/>
              <a:t>3. ICS/OT では運転部門との連携が必須</a:t>
            </a:r>
          </a:p>
          <a:p>
            <a:pPr algn="l"/>
            <a:r>
              <a:rPr lang="ja-JP" altLang="en-US" sz="1200" dirty="0"/>
              <a:t>異常が発生し、設備や施設に影響が出る可能性がある場合は：</a:t>
            </a:r>
          </a:p>
          <a:p>
            <a:pPr algn="l"/>
            <a:r>
              <a:rPr lang="ja-JP" altLang="en-US" sz="1200" dirty="0"/>
              <a:t>• 	運転管理（Operations Management）と即座に連携し、</a:t>
            </a:r>
          </a:p>
          <a:p>
            <a:pPr algn="l"/>
            <a:r>
              <a:rPr lang="ja-JP" altLang="en-US" sz="1200" dirty="0"/>
              <a:t>保守的運転（Conservative Operations）や停止判断が必要かを協議する。</a:t>
            </a:r>
          </a:p>
          <a:p>
            <a:pPr algn="l"/>
            <a:r>
              <a:rPr lang="ja-JP" altLang="en-US" sz="1200" dirty="0"/>
              <a:t>ICS/OT では、</a:t>
            </a:r>
          </a:p>
          <a:p>
            <a:pPr algn="l"/>
            <a:r>
              <a:rPr lang="ja-JP" altLang="en-US" sz="1200" dirty="0"/>
              <a:t>安全（Safety）と可用性（Availability）が最優先 であるため、</a:t>
            </a:r>
          </a:p>
          <a:p>
            <a:pPr algn="l"/>
            <a:r>
              <a:rPr lang="ja-JP" altLang="en-US" sz="1200" dirty="0"/>
              <a:t>IT だけで判断してはいけません。</a:t>
            </a:r>
          </a:p>
          <a:p>
            <a:pPr algn="l"/>
            <a:endParaRPr lang="ja-JP" altLang="en-US" sz="1200" dirty="0"/>
          </a:p>
        </p:txBody>
      </p:sp>
      <p:pic>
        <p:nvPicPr>
          <p:cNvPr id="4" name="図 3">
            <a:extLst>
              <a:ext uri="{FF2B5EF4-FFF2-40B4-BE49-F238E27FC236}">
                <a16:creationId xmlns:a16="http://schemas.microsoft.com/office/drawing/2014/main" id="{A0596E1B-9A00-4621-8B4B-EDBDD0F4A4A6}"/>
              </a:ext>
            </a:extLst>
          </p:cNvPr>
          <p:cNvPicPr>
            <a:picLocks noChangeAspect="1"/>
          </p:cNvPicPr>
          <p:nvPr/>
        </p:nvPicPr>
        <p:blipFill>
          <a:blip r:embed="rId2"/>
          <a:stretch>
            <a:fillRect/>
          </a:stretch>
        </p:blipFill>
        <p:spPr>
          <a:xfrm>
            <a:off x="697427" y="116730"/>
            <a:ext cx="5531296" cy="3151762"/>
          </a:xfrm>
          <a:prstGeom prst="rect">
            <a:avLst/>
          </a:prstGeom>
        </p:spPr>
      </p:pic>
      <p:sp>
        <p:nvSpPr>
          <p:cNvPr id="5" name="サブタイトル 2">
            <a:extLst>
              <a:ext uri="{FF2B5EF4-FFF2-40B4-BE49-F238E27FC236}">
                <a16:creationId xmlns:a16="http://schemas.microsoft.com/office/drawing/2014/main" id="{B7A15654-074A-4295-AC9A-7458FAD17F79}"/>
              </a:ext>
            </a:extLst>
          </p:cNvPr>
          <p:cNvSpPr txBox="1">
            <a:spLocks/>
          </p:cNvSpPr>
          <p:nvPr/>
        </p:nvSpPr>
        <p:spPr>
          <a:xfrm>
            <a:off x="3463075" y="3333701"/>
            <a:ext cx="3416005" cy="7292142"/>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4. インシデント対応中でも“法律を破ることは絶対に許されない”</a:t>
            </a:r>
          </a:p>
          <a:p>
            <a:pPr algn="l"/>
            <a:r>
              <a:rPr lang="ja-JP" altLang="en-US" sz="1400" dirty="0"/>
              <a:t>インシデント対応は緊急性が高くても、</a:t>
            </a:r>
          </a:p>
          <a:p>
            <a:pPr algn="l"/>
            <a:r>
              <a:rPr lang="ja-JP" altLang="en-US" sz="1400" dirty="0"/>
              <a:t>法律を破ることは一切許されません。</a:t>
            </a:r>
          </a:p>
          <a:p>
            <a:pPr algn="l"/>
            <a:r>
              <a:rPr lang="ja-JP" altLang="en-US" sz="1400" dirty="0"/>
              <a:t>例：</a:t>
            </a:r>
          </a:p>
          <a:p>
            <a:pPr algn="l"/>
            <a:r>
              <a:rPr lang="ja-JP" altLang="en-US" sz="1400" dirty="0"/>
              <a:t>• 	社内の誰かが児童ポルノをダウンロードした疑いがあっても、</a:t>
            </a:r>
          </a:p>
          <a:p>
            <a:pPr algn="l"/>
            <a:r>
              <a:rPr lang="ja-JP" altLang="en-US" sz="1400" dirty="0"/>
              <a:t>ハンドラー自身がそのファイルをダウンロードして調査することは違法。</a:t>
            </a:r>
          </a:p>
          <a:p>
            <a:pPr algn="l"/>
            <a:r>
              <a:rPr lang="ja-JP" altLang="en-US" sz="1400" dirty="0"/>
              <a:t>• 	電子通信プライバシー法（ECPA）により、</a:t>
            </a:r>
          </a:p>
          <a:p>
            <a:pPr algn="l"/>
            <a:r>
              <a:rPr lang="ja-JP" altLang="en-US" sz="1400" dirty="0"/>
              <a:t>ISP は「攻撃元 IP だから」という理由だけで</a:t>
            </a:r>
          </a:p>
          <a:p>
            <a:pPr algn="l"/>
            <a:r>
              <a:rPr lang="ja-JP" altLang="en-US" sz="1400" dirty="0"/>
              <a:t>加入者の個人情報を勝手に開示してはいけない。</a:t>
            </a:r>
          </a:p>
          <a:p>
            <a:pPr algn="l"/>
            <a:r>
              <a:rPr lang="ja-JP" altLang="en-US" sz="1400" dirty="0"/>
              <a:t>つまり：</a:t>
            </a:r>
          </a:p>
          <a:p>
            <a:pPr algn="l"/>
            <a:endParaRPr lang="ja-JP" altLang="en-US" sz="1400" dirty="0"/>
          </a:p>
          <a:p>
            <a:pPr algn="l"/>
            <a:endParaRPr lang="ja-JP" altLang="en-US" sz="1400" dirty="0"/>
          </a:p>
          <a:p>
            <a:pPr algn="l"/>
            <a:r>
              <a:rPr lang="ja-JP" altLang="en-US" sz="1400" dirty="0"/>
              <a:t>5. 組織の役員も“あなたの行動”で責任を問われる可能性がある</a:t>
            </a:r>
          </a:p>
          <a:p>
            <a:pPr algn="l"/>
            <a:r>
              <a:rPr lang="ja-JP" altLang="en-US" sz="1400" dirty="0"/>
              <a:t>インシデントハンドラーが違法行為を行った場合、</a:t>
            </a:r>
          </a:p>
          <a:p>
            <a:pPr algn="l"/>
            <a:r>
              <a:rPr lang="ja-JP" altLang="en-US" sz="1400" dirty="0"/>
              <a:t>責任は本人だけでなく、</a:t>
            </a:r>
          </a:p>
          <a:p>
            <a:pPr algn="l"/>
            <a:r>
              <a:rPr lang="ja-JP" altLang="en-US" sz="1400" dirty="0"/>
              <a:t>組織の役員（Corporate Officers）にも及ぶ可能性があります。</a:t>
            </a:r>
          </a:p>
          <a:p>
            <a:pPr algn="l"/>
            <a:r>
              <a:rPr lang="ja-JP" altLang="en-US" sz="1400" dirty="0"/>
              <a:t>これは特に ICS/OT 企業では重大で、</a:t>
            </a:r>
          </a:p>
          <a:p>
            <a:pPr algn="l"/>
            <a:r>
              <a:rPr lang="ja-JP" altLang="en-US" sz="1400" dirty="0"/>
              <a:t>規制産業（電力・石油・化学）では法的責任が非常に重くなります。</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0"/>
            <a:ext cx="6852285" cy="11867745"/>
          </a:xfrm>
        </p:spPr>
        <p:txBody>
          <a:bodyPr>
            <a:normAutofit fontScale="85000" lnSpcReduction="20000"/>
          </a:bodyPr>
          <a:lstStyle/>
          <a:p>
            <a:pPr algn="l"/>
            <a:r>
              <a:rPr lang="ja-JP" altLang="en-US" sz="1400" dirty="0"/>
              <a:t>1. 封じ込めの第一歩は「現場の確保」</a:t>
            </a:r>
          </a:p>
          <a:p>
            <a:pPr algn="l"/>
            <a:r>
              <a:rPr lang="ja-JP" altLang="en-US" sz="1400" dirty="0"/>
              <a:t>インシデントを封じ込める際、最初に行うべきことは：</a:t>
            </a:r>
          </a:p>
          <a:p>
            <a:pPr algn="l"/>
            <a:r>
              <a:rPr lang="ja-JP" altLang="en-US" sz="1400" dirty="0"/>
              <a:t>• 	現場（システム・ネットワーク）の安全確保</a:t>
            </a:r>
          </a:p>
          <a:p>
            <a:pPr algn="l"/>
            <a:r>
              <a:rPr lang="ja-JP" altLang="en-US" sz="1400" dirty="0"/>
              <a:t>これにより、被害の拡大を防ぎ、証拠を守ることができます。</a:t>
            </a:r>
          </a:p>
          <a:p>
            <a:pPr algn="l"/>
            <a:endParaRPr lang="ja-JP" altLang="en-US" sz="1400" dirty="0"/>
          </a:p>
          <a:p>
            <a:pPr algn="l"/>
            <a:r>
              <a:rPr lang="ja-JP" altLang="en-US" sz="1400" dirty="0"/>
              <a:t>2. フォレンジックに適したバックアップを作成する</a:t>
            </a:r>
          </a:p>
          <a:p>
            <a:pPr algn="l"/>
            <a:r>
              <a:rPr lang="ja-JP" altLang="en-US" sz="1400" dirty="0"/>
              <a:t>感染したシステムは、</a:t>
            </a:r>
          </a:p>
          <a:p>
            <a:pPr algn="l"/>
            <a:r>
              <a:rPr lang="ja-JP" altLang="en-US" sz="1400" dirty="0"/>
              <a:t>フォレンジックに適した（forensically sound）方法でバックアップ を取る必要があります。</a:t>
            </a:r>
          </a:p>
          <a:p>
            <a:pPr algn="l"/>
            <a:r>
              <a:rPr lang="ja-JP" altLang="en-US" sz="1400" dirty="0"/>
              <a:t>ポイント：</a:t>
            </a:r>
          </a:p>
          <a:p>
            <a:pPr algn="l"/>
            <a:r>
              <a:rPr lang="ja-JP" altLang="en-US" sz="1400" dirty="0"/>
              <a:t>• 	元のディスクを証拠として保持できない場合</a:t>
            </a:r>
          </a:p>
          <a:p>
            <a:pPr algn="l"/>
            <a:r>
              <a:rPr lang="ja-JP" altLang="en-US" sz="1400" dirty="0"/>
              <a:t>→ バックアップを複数作成する</a:t>
            </a:r>
          </a:p>
          <a:p>
            <a:pPr algn="l"/>
            <a:r>
              <a:rPr lang="ja-JP" altLang="en-US" sz="1400" dirty="0"/>
              <a:t>• 	用途を分ける</a:t>
            </a:r>
          </a:p>
          <a:p>
            <a:pPr algn="l"/>
            <a:r>
              <a:rPr lang="ja-JP" altLang="en-US" sz="1400" dirty="0"/>
              <a:t>• 	証拠用（絶対に変更しない）</a:t>
            </a:r>
          </a:p>
          <a:p>
            <a:pPr algn="l"/>
            <a:r>
              <a:rPr lang="ja-JP" altLang="en-US" sz="1400" dirty="0"/>
              <a:t>• 	分析用（調査に使用する）</a:t>
            </a:r>
          </a:p>
          <a:p>
            <a:pPr algn="l"/>
            <a:r>
              <a:rPr lang="ja-JP" altLang="en-US" sz="1400" dirty="0"/>
              <a:t>ICS/OT では、</a:t>
            </a:r>
          </a:p>
          <a:p>
            <a:pPr algn="l"/>
            <a:r>
              <a:rPr lang="ja-JP" altLang="en-US" sz="1400" dirty="0"/>
              <a:t>PLC/HMI/SCADA のディスクイメージも同様に扱う必要があります。</a:t>
            </a:r>
          </a:p>
          <a:p>
            <a:pPr algn="l"/>
            <a:endParaRPr lang="ja-JP" altLang="en-US" sz="1400" dirty="0"/>
          </a:p>
          <a:p>
            <a:pPr algn="l"/>
            <a:r>
              <a:rPr lang="ja-JP" altLang="en-US" sz="1400" dirty="0"/>
              <a:t>3. ネットワークから切り離すかどうかの判断</a:t>
            </a:r>
          </a:p>
          <a:p>
            <a:pPr algn="l"/>
            <a:r>
              <a:rPr lang="ja-JP" altLang="en-US" sz="1400" dirty="0"/>
              <a:t>封じ込めの途中で必ず判断が必要になります：</a:t>
            </a:r>
          </a:p>
          <a:p>
            <a:pPr algn="l"/>
            <a:r>
              <a:rPr lang="ja-JP" altLang="en-US" sz="1400" dirty="0"/>
              <a:t>• 	感染したシステムだけをネットワークから外すか？</a:t>
            </a:r>
          </a:p>
          <a:p>
            <a:pPr algn="l"/>
            <a:r>
              <a:rPr lang="ja-JP" altLang="en-US" sz="1400" dirty="0"/>
              <a:t>• 	ネットワーク全体をインターネットから切断するか？</a:t>
            </a:r>
          </a:p>
          <a:p>
            <a:pPr algn="l"/>
            <a:r>
              <a:rPr lang="ja-JP" altLang="en-US" sz="1400" dirty="0"/>
              <a:t>ICS/OT では、</a:t>
            </a:r>
          </a:p>
          <a:p>
            <a:pPr algn="l"/>
            <a:r>
              <a:rPr lang="ja-JP" altLang="en-US" sz="1400" dirty="0"/>
              <a:t>ネットワークを切断するとプロセスに影響が出るため、</a:t>
            </a:r>
          </a:p>
          <a:p>
            <a:pPr algn="l"/>
            <a:r>
              <a:rPr lang="ja-JP" altLang="en-US" sz="1400" dirty="0"/>
              <a:t>運転部門との連携が必須 です。</a:t>
            </a:r>
          </a:p>
          <a:p>
            <a:pPr algn="l"/>
            <a:endParaRPr lang="ja-JP" altLang="en-US" sz="1400" dirty="0"/>
          </a:p>
          <a:p>
            <a:pPr algn="l"/>
            <a:r>
              <a:rPr lang="ja-JP" altLang="en-US" sz="1400" dirty="0"/>
              <a:t>4. パスワードは即座に変更する</a:t>
            </a:r>
          </a:p>
          <a:p>
            <a:pPr algn="l"/>
            <a:r>
              <a:rPr lang="ja-JP" altLang="en-US" sz="1400" dirty="0"/>
              <a:t>攻撃者が再侵入するのを防ぐため、</a:t>
            </a:r>
          </a:p>
          <a:p>
            <a:pPr algn="l"/>
            <a:r>
              <a:rPr lang="ja-JP" altLang="en-US" sz="1400" dirty="0"/>
              <a:t>すべての関連アカウントのパスワードを早急に変更 します。</a:t>
            </a:r>
          </a:p>
          <a:p>
            <a:pPr algn="l"/>
            <a:r>
              <a:rPr lang="ja-JP" altLang="en-US" sz="1400" dirty="0"/>
              <a:t>特に：</a:t>
            </a:r>
          </a:p>
          <a:p>
            <a:pPr algn="l"/>
            <a:r>
              <a:rPr lang="ja-JP" altLang="en-US" sz="1400" dirty="0"/>
              <a:t>• 	ドメイン管理者</a:t>
            </a:r>
          </a:p>
          <a:p>
            <a:pPr algn="l"/>
            <a:r>
              <a:rPr lang="ja-JP" altLang="en-US" sz="1400" dirty="0"/>
              <a:t>• 	OT 管理者</a:t>
            </a:r>
          </a:p>
          <a:p>
            <a:pPr algn="l"/>
            <a:r>
              <a:rPr lang="ja-JP" altLang="en-US" sz="1400" dirty="0"/>
              <a:t>• 	VPN アカウント</a:t>
            </a:r>
          </a:p>
          <a:p>
            <a:pPr algn="l"/>
            <a:r>
              <a:rPr lang="ja-JP" altLang="en-US" sz="1400" dirty="0"/>
              <a:t>• 	ベンダーのリモートアクセスアカウント</a:t>
            </a:r>
          </a:p>
          <a:p>
            <a:pPr algn="l"/>
            <a:r>
              <a:rPr lang="ja-JP" altLang="en-US" sz="1400" dirty="0"/>
              <a:t>などは最優先。</a:t>
            </a:r>
          </a:p>
          <a:p>
            <a:pPr algn="l"/>
            <a:endParaRPr lang="ja-JP" altLang="en-US" sz="1400" dirty="0"/>
          </a:p>
          <a:p>
            <a:pPr algn="l"/>
            <a:r>
              <a:rPr lang="ja-JP" altLang="en-US" sz="1400" dirty="0"/>
              <a:t>5. 証拠と行動の“完全な記録”が不可欠</a:t>
            </a:r>
          </a:p>
          <a:p>
            <a:pPr algn="l"/>
            <a:r>
              <a:rPr lang="ja-JP" altLang="en-US" sz="1400" dirty="0"/>
              <a:t>インシデント対応の重要な要素は：</a:t>
            </a:r>
          </a:p>
          <a:p>
            <a:pPr algn="l"/>
            <a:endParaRPr lang="ja-JP" altLang="en-US" sz="1400" dirty="0"/>
          </a:p>
          <a:p>
            <a:pPr algn="l"/>
            <a:r>
              <a:rPr lang="ja-JP" altLang="en-US" sz="1400" dirty="0"/>
              <a:t>理由：</a:t>
            </a:r>
          </a:p>
          <a:p>
            <a:pPr algn="l"/>
            <a:r>
              <a:rPr lang="ja-JP" altLang="en-US" sz="1400" dirty="0"/>
              <a:t>• 	後のフォレンジック分析に必要</a:t>
            </a:r>
          </a:p>
          <a:p>
            <a:pPr algn="l"/>
            <a:r>
              <a:rPr lang="ja-JP" altLang="en-US" sz="1400" dirty="0"/>
              <a:t>• 	法的手続きに必要</a:t>
            </a:r>
          </a:p>
          <a:p>
            <a:pPr algn="l"/>
            <a:r>
              <a:rPr lang="ja-JP" altLang="en-US" sz="1400" dirty="0"/>
              <a:t>• 	経営層への説明に必要</a:t>
            </a:r>
          </a:p>
          <a:p>
            <a:pPr algn="l"/>
            <a:r>
              <a:rPr lang="ja-JP" altLang="en-US" sz="1400" dirty="0"/>
              <a:t>• 	再発防止策の作成に必要</a:t>
            </a:r>
          </a:p>
          <a:p>
            <a:pPr algn="l"/>
            <a:r>
              <a:rPr lang="ja-JP" altLang="en-US" sz="1400" dirty="0"/>
              <a:t>記録は、</a:t>
            </a:r>
          </a:p>
          <a:p>
            <a:pPr algn="l"/>
            <a:r>
              <a:rPr lang="ja-JP" altLang="en-US" sz="1400" dirty="0"/>
              <a:t>インシデント識別（ステップ2）から復旧（ステップ5）まで</a:t>
            </a:r>
          </a:p>
          <a:p>
            <a:pPr algn="l"/>
            <a:r>
              <a:rPr lang="ja-JP" altLang="en-US" sz="1400" dirty="0"/>
              <a:t>すべて残します。</a:t>
            </a:r>
          </a:p>
          <a:p>
            <a:pPr algn="l"/>
            <a:r>
              <a:rPr lang="ja-JP" altLang="en-US" sz="1400" dirty="0"/>
              <a:t>推奨される方法：</a:t>
            </a:r>
          </a:p>
          <a:p>
            <a:pPr algn="l"/>
            <a:r>
              <a:rPr lang="ja-JP" altLang="en-US" sz="1400" dirty="0"/>
              <a:t>• 	番号付きの紙のノート（Numbered Notebook）</a:t>
            </a:r>
          </a:p>
          <a:p>
            <a:pPr algn="l"/>
            <a:r>
              <a:rPr lang="ja-JP" altLang="en-US" sz="1400" dirty="0"/>
              <a:t>→ 改ざん防止のため</a:t>
            </a:r>
          </a:p>
          <a:p>
            <a:pPr algn="l"/>
            <a:r>
              <a:rPr lang="ja-JP" altLang="en-US" sz="1400" dirty="0"/>
              <a:t>→ 法的証拠として扱いやすい</a:t>
            </a:r>
          </a:p>
          <a:p>
            <a:pPr algn="l"/>
            <a:r>
              <a:rPr lang="ja-JP" altLang="en-US" sz="1400" dirty="0"/>
              <a:t>→ ICS/OT では現場での利用に強い</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2572385"/>
            <a:ext cx="3691079" cy="9619615"/>
          </a:xfrm>
        </p:spPr>
        <p:txBody>
          <a:bodyPr>
            <a:noAutofit/>
          </a:bodyPr>
          <a:lstStyle/>
          <a:p>
            <a:pPr algn="l"/>
            <a:r>
              <a:rPr lang="ja-JP" altLang="en-US" sz="900" dirty="0"/>
              <a:t>1. 復旧前に必ず“原因そのもの”を修正する必要がある</a:t>
            </a:r>
          </a:p>
          <a:p>
            <a:pPr algn="l"/>
            <a:r>
              <a:rPr lang="ja-JP" altLang="en-US" sz="900" dirty="0"/>
              <a:t>システムをオンラインに戻す前に、</a:t>
            </a:r>
          </a:p>
          <a:p>
            <a:pPr algn="l"/>
            <a:r>
              <a:rPr lang="ja-JP" altLang="en-US" sz="900" dirty="0"/>
              <a:t>インシデントハンドラーは 攻撃者が侵入に使った脆弱性や問題を必ず修正 しなければなりません。</a:t>
            </a:r>
          </a:p>
          <a:p>
            <a:pPr algn="l"/>
            <a:r>
              <a:rPr lang="ja-JP" altLang="en-US" sz="900" dirty="0"/>
              <a:t>よくある誤り：</a:t>
            </a:r>
          </a:p>
          <a:p>
            <a:pPr algn="l"/>
            <a:r>
              <a:rPr lang="ja-JP" altLang="en-US" sz="900" dirty="0"/>
              <a:t>• 	OS を丸ごと再インストールする</a:t>
            </a:r>
          </a:p>
          <a:p>
            <a:pPr algn="l"/>
            <a:r>
              <a:rPr lang="ja-JP" altLang="en-US" sz="900" dirty="0"/>
              <a:t>• 	システムを初期化して「きれいにする」</a:t>
            </a:r>
          </a:p>
          <a:p>
            <a:pPr algn="l"/>
            <a:r>
              <a:rPr lang="ja-JP" altLang="en-US" sz="900" dirty="0"/>
              <a:t>これは確かにマルウェアを消すには有効ですが、</a:t>
            </a:r>
          </a:p>
          <a:p>
            <a:pPr algn="l"/>
            <a:r>
              <a:rPr lang="ja-JP" altLang="en-US" sz="900" dirty="0"/>
              <a:t>根本原因（Root Cause）を直さない限り、再感染は防げません。</a:t>
            </a:r>
          </a:p>
          <a:p>
            <a:pPr algn="l"/>
            <a:r>
              <a:rPr lang="ja-JP" altLang="en-US" sz="900" dirty="0"/>
              <a:t>実際に多くのケースで：</a:t>
            </a:r>
          </a:p>
          <a:p>
            <a:pPr algn="l"/>
            <a:r>
              <a:rPr lang="ja-JP" altLang="en-US" sz="900" dirty="0"/>
              <a:t>• 	システムを再構築</a:t>
            </a:r>
          </a:p>
          <a:p>
            <a:pPr algn="l"/>
            <a:r>
              <a:rPr lang="ja-JP" altLang="en-US" sz="900" dirty="0"/>
              <a:t>• 	ネットワークに戻す</a:t>
            </a:r>
          </a:p>
          <a:p>
            <a:pPr algn="l"/>
            <a:r>
              <a:rPr lang="ja-JP" altLang="en-US" sz="900" dirty="0"/>
              <a:t>• 	数分〜数時間で再び侵害される</a:t>
            </a:r>
          </a:p>
          <a:p>
            <a:pPr algn="l"/>
            <a:r>
              <a:rPr lang="ja-JP" altLang="en-US" sz="900" dirty="0"/>
              <a:t>という事例が発生しています。</a:t>
            </a:r>
          </a:p>
          <a:p>
            <a:pPr algn="l"/>
            <a:r>
              <a:rPr lang="ja-JP" altLang="en-US" sz="900" dirty="0"/>
              <a:t>理由は明確で：</a:t>
            </a:r>
          </a:p>
          <a:p>
            <a:pPr algn="l"/>
            <a:endParaRPr lang="ja-JP" altLang="en-US" sz="900" dirty="0"/>
          </a:p>
          <a:p>
            <a:pPr algn="l"/>
            <a:endParaRPr lang="ja-JP" altLang="en-US" sz="900" dirty="0"/>
          </a:p>
          <a:p>
            <a:pPr algn="l"/>
            <a:r>
              <a:rPr lang="ja-JP" altLang="en-US" sz="900" dirty="0"/>
              <a:t>2. 復旧＝システムを戻すことではなく、脆弱性を“修正”すること</a:t>
            </a:r>
          </a:p>
          <a:p>
            <a:pPr algn="l"/>
            <a:r>
              <a:rPr lang="ja-JP" altLang="en-US" sz="900" dirty="0"/>
              <a:t>単にシステムを復旧してオンラインに戻すだけでは不十分です。</a:t>
            </a:r>
          </a:p>
          <a:p>
            <a:pPr algn="l"/>
            <a:r>
              <a:rPr lang="ja-JP" altLang="en-US" sz="900" dirty="0"/>
              <a:t>必要なのは：</a:t>
            </a:r>
          </a:p>
          <a:p>
            <a:pPr algn="l"/>
            <a:r>
              <a:rPr lang="ja-JP" altLang="en-US" sz="900" dirty="0"/>
              <a:t>• 	セキュリティ設定の修正</a:t>
            </a:r>
          </a:p>
          <a:p>
            <a:pPr algn="l"/>
            <a:r>
              <a:rPr lang="ja-JP" altLang="en-US" sz="900" dirty="0"/>
              <a:t>• 	パッチ適用</a:t>
            </a:r>
          </a:p>
          <a:p>
            <a:pPr algn="l"/>
            <a:r>
              <a:rPr lang="ja-JP" altLang="en-US" sz="900" dirty="0"/>
              <a:t>• 	設定の強化</a:t>
            </a:r>
          </a:p>
          <a:p>
            <a:pPr algn="l"/>
            <a:r>
              <a:rPr lang="ja-JP" altLang="en-US" sz="900" dirty="0"/>
              <a:t>• 	不要サービスの停止</a:t>
            </a:r>
          </a:p>
          <a:p>
            <a:pPr algn="l"/>
            <a:r>
              <a:rPr lang="ja-JP" altLang="en-US" sz="900" dirty="0"/>
              <a:t>• 	認証方式の改善</a:t>
            </a:r>
          </a:p>
          <a:p>
            <a:pPr algn="l"/>
            <a:r>
              <a:rPr lang="ja-JP" altLang="en-US" sz="900" dirty="0"/>
              <a:t>• 	ネットワークセグメンテーションの見直し</a:t>
            </a:r>
          </a:p>
          <a:p>
            <a:pPr algn="l"/>
            <a:r>
              <a:rPr lang="ja-JP" altLang="en-US" sz="900" dirty="0"/>
              <a:t>ICS/OT では「本番環境に手を入れるな」という反対意見が出がちですが、</a:t>
            </a:r>
          </a:p>
          <a:p>
            <a:pPr algn="l"/>
            <a:r>
              <a:rPr lang="ja-JP" altLang="en-US" sz="900" dirty="0"/>
              <a:t>侵害されたという事実は“他のシステムにも同じ脆弱性がある可能性”を示す警告 です。</a:t>
            </a:r>
          </a:p>
          <a:p>
            <a:pPr algn="l"/>
            <a:endParaRPr lang="ja-JP" altLang="en-US" sz="900" dirty="0"/>
          </a:p>
          <a:p>
            <a:pPr algn="l"/>
            <a:r>
              <a:rPr lang="ja-JP" altLang="en-US" sz="900" dirty="0"/>
              <a:t>3. 手動で被害を片付けるだけでは再発を防げない</a:t>
            </a:r>
          </a:p>
          <a:p>
            <a:pPr algn="l"/>
            <a:r>
              <a:rPr lang="ja-JP" altLang="en-US" sz="900" dirty="0"/>
              <a:t>手動で：</a:t>
            </a:r>
          </a:p>
          <a:p>
            <a:pPr algn="l"/>
            <a:r>
              <a:rPr lang="ja-JP" altLang="en-US" sz="900" dirty="0"/>
              <a:t>• 	不審ファイルを削除</a:t>
            </a:r>
          </a:p>
          <a:p>
            <a:pPr algn="l"/>
            <a:r>
              <a:rPr lang="ja-JP" altLang="en-US" sz="900" dirty="0"/>
              <a:t>• 	設定を戻す</a:t>
            </a:r>
          </a:p>
          <a:p>
            <a:pPr algn="l"/>
            <a:r>
              <a:rPr lang="ja-JP" altLang="en-US" sz="900" dirty="0"/>
              <a:t>• 	プロセスを停止</a:t>
            </a:r>
          </a:p>
          <a:p>
            <a:pPr algn="l"/>
            <a:r>
              <a:rPr lang="ja-JP" altLang="en-US" sz="900" dirty="0"/>
              <a:t>などを行っても、</a:t>
            </a:r>
          </a:p>
          <a:p>
            <a:pPr algn="l"/>
            <a:r>
              <a:rPr lang="ja-JP" altLang="en-US" sz="900" dirty="0"/>
              <a:t>根本原因が残っていれば再発します。</a:t>
            </a:r>
          </a:p>
          <a:p>
            <a:pPr algn="l"/>
            <a:r>
              <a:rPr lang="ja-JP" altLang="en-US" sz="900" dirty="0"/>
              <a:t>再発防止には：</a:t>
            </a:r>
          </a:p>
          <a:p>
            <a:pPr algn="l"/>
            <a:r>
              <a:rPr lang="ja-JP" altLang="en-US" sz="900" dirty="0"/>
              <a:t>• 	原因の特定</a:t>
            </a:r>
          </a:p>
          <a:p>
            <a:pPr algn="l"/>
            <a:r>
              <a:rPr lang="ja-JP" altLang="en-US" sz="900" dirty="0"/>
              <a:t>• 	パッチ適用</a:t>
            </a:r>
          </a:p>
          <a:p>
            <a:pPr algn="l"/>
            <a:r>
              <a:rPr lang="ja-JP" altLang="en-US" sz="900" dirty="0"/>
              <a:t>• 	設定変更</a:t>
            </a:r>
          </a:p>
          <a:p>
            <a:pPr algn="l"/>
            <a:r>
              <a:rPr lang="ja-JP" altLang="en-US" sz="900" dirty="0"/>
              <a:t>• 	攻撃経路の遮断</a:t>
            </a:r>
          </a:p>
          <a:p>
            <a:pPr algn="l"/>
            <a:r>
              <a:rPr lang="ja-JP" altLang="en-US" sz="900" dirty="0"/>
              <a:t>が必須です。</a:t>
            </a:r>
          </a:p>
        </p:txBody>
      </p:sp>
      <p:pic>
        <p:nvPicPr>
          <p:cNvPr id="4" name="図 3">
            <a:extLst>
              <a:ext uri="{FF2B5EF4-FFF2-40B4-BE49-F238E27FC236}">
                <a16:creationId xmlns:a16="http://schemas.microsoft.com/office/drawing/2014/main" id="{CACA2BF4-DB79-4C50-B061-9B1895E85738}"/>
              </a:ext>
            </a:extLst>
          </p:cNvPr>
          <p:cNvPicPr>
            <a:picLocks noChangeAspect="1"/>
          </p:cNvPicPr>
          <p:nvPr/>
        </p:nvPicPr>
        <p:blipFill>
          <a:blip r:embed="rId2"/>
          <a:stretch>
            <a:fillRect/>
          </a:stretch>
        </p:blipFill>
        <p:spPr>
          <a:xfrm>
            <a:off x="1714500" y="0"/>
            <a:ext cx="3429000" cy="2572385"/>
          </a:xfrm>
          <a:prstGeom prst="rect">
            <a:avLst/>
          </a:prstGeom>
        </p:spPr>
      </p:pic>
      <p:sp>
        <p:nvSpPr>
          <p:cNvPr id="5" name="サブタイトル 2">
            <a:extLst>
              <a:ext uri="{FF2B5EF4-FFF2-40B4-BE49-F238E27FC236}">
                <a16:creationId xmlns:a16="http://schemas.microsoft.com/office/drawing/2014/main" id="{7D25A582-79F5-47C2-8D95-E3488D313111}"/>
              </a:ext>
            </a:extLst>
          </p:cNvPr>
          <p:cNvSpPr txBox="1">
            <a:spLocks/>
          </p:cNvSpPr>
          <p:nvPr/>
        </p:nvSpPr>
        <p:spPr>
          <a:xfrm>
            <a:off x="3691079" y="2572385"/>
            <a:ext cx="3166921" cy="6063612"/>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900" dirty="0"/>
              <a:t>4. 攻撃者は“バックドア”を残している可能性が高い</a:t>
            </a:r>
          </a:p>
          <a:p>
            <a:pPr algn="l"/>
            <a:r>
              <a:rPr lang="ja-JP" altLang="en-US" sz="900" dirty="0"/>
              <a:t>攻撃者は、最初の侵入経路が塞がれても再侵入できるように、</a:t>
            </a:r>
          </a:p>
          <a:p>
            <a:pPr algn="l"/>
            <a:r>
              <a:rPr lang="ja-JP" altLang="en-US" sz="900" dirty="0"/>
              <a:t>複数のバックドア（再侵入手段） を仕込むことが一般的です。</a:t>
            </a:r>
          </a:p>
          <a:p>
            <a:pPr algn="l"/>
            <a:r>
              <a:rPr lang="ja-JP" altLang="en-US" sz="900" dirty="0"/>
              <a:t>代表例：</a:t>
            </a:r>
          </a:p>
          <a:p>
            <a:pPr algn="l"/>
            <a:r>
              <a:rPr lang="ja-JP" altLang="en-US" sz="900" dirty="0"/>
              <a:t>• 	認証不要のシェルを提供するプロセス</a:t>
            </a:r>
          </a:p>
          <a:p>
            <a:pPr algn="l"/>
            <a:r>
              <a:rPr lang="ja-JP" altLang="en-US" sz="900" dirty="0"/>
              <a:t>• 	高権限の新規ユーザーアカウント</a:t>
            </a:r>
          </a:p>
          <a:p>
            <a:pPr algn="l"/>
            <a:r>
              <a:rPr lang="ja-JP" altLang="en-US" sz="900" dirty="0"/>
              <a:t>• 	定期的に外部へ接続するスケジュールタスク</a:t>
            </a:r>
          </a:p>
          <a:p>
            <a:pPr algn="l"/>
            <a:r>
              <a:rPr lang="ja-JP" altLang="en-US" sz="900" dirty="0"/>
              <a:t>• 	不審なサービス</a:t>
            </a:r>
          </a:p>
          <a:p>
            <a:pPr algn="l"/>
            <a:r>
              <a:rPr lang="ja-JP" altLang="en-US" sz="900" dirty="0"/>
              <a:t>• 	不正な SSH キー</a:t>
            </a:r>
          </a:p>
          <a:p>
            <a:pPr algn="l"/>
            <a:r>
              <a:rPr lang="ja-JP" altLang="en-US" sz="900" dirty="0"/>
              <a:t>• 	不審な DLL やドライバ</a:t>
            </a:r>
          </a:p>
          <a:p>
            <a:pPr algn="l"/>
            <a:r>
              <a:rPr lang="ja-JP" altLang="en-US" sz="900" dirty="0"/>
              <a:t>インシデントハンドラーは：</a:t>
            </a:r>
          </a:p>
          <a:p>
            <a:pPr algn="l"/>
            <a:endParaRPr lang="ja-JP" altLang="en-US" sz="900" dirty="0"/>
          </a:p>
          <a:p>
            <a:pPr algn="l"/>
            <a:r>
              <a:rPr lang="ja-JP" altLang="en-US" sz="900" dirty="0"/>
              <a:t>ICS/OT ではバックドアが残ると、</a:t>
            </a:r>
          </a:p>
          <a:p>
            <a:pPr algn="l"/>
            <a:r>
              <a:rPr lang="ja-JP" altLang="en-US" sz="900" dirty="0"/>
              <a:t>物理プロセスの乗っ取りや安全事故につながるため極めて危険 です。</a:t>
            </a:r>
          </a:p>
          <a:p>
            <a:pPr algn="l"/>
            <a:endParaRPr lang="ja-JP" altLang="en-US" sz="900" dirty="0"/>
          </a:p>
          <a:p>
            <a:pPr algn="l"/>
            <a:r>
              <a:rPr lang="ja-JP" altLang="en-US" sz="900" dirty="0"/>
              <a:t>5. 復旧後は必ず脆弱性スキャンを実施する</a:t>
            </a:r>
          </a:p>
          <a:p>
            <a:pPr algn="l"/>
            <a:r>
              <a:rPr lang="ja-JP" altLang="en-US" sz="900" dirty="0"/>
              <a:t>システムを復旧したら、</a:t>
            </a:r>
          </a:p>
          <a:p>
            <a:pPr algn="l"/>
            <a:r>
              <a:rPr lang="ja-JP" altLang="en-US" sz="900" dirty="0"/>
              <a:t>脆弱性スキャナを使って確認することが推奨されます。</a:t>
            </a:r>
          </a:p>
          <a:p>
            <a:pPr algn="l"/>
            <a:r>
              <a:rPr lang="ja-JP" altLang="en-US" sz="900" dirty="0"/>
              <a:t>目的：</a:t>
            </a:r>
          </a:p>
          <a:p>
            <a:pPr algn="l"/>
            <a:r>
              <a:rPr lang="ja-JP" altLang="en-US" sz="900" dirty="0"/>
              <a:t>• 	問題が本当に修正されたか確認</a:t>
            </a:r>
          </a:p>
          <a:p>
            <a:pPr algn="l"/>
            <a:r>
              <a:rPr lang="ja-JP" altLang="en-US" sz="900" dirty="0"/>
              <a:t>• 	復旧作業中に新たな脆弱性を作っていないか確認</a:t>
            </a:r>
          </a:p>
          <a:p>
            <a:pPr algn="l"/>
            <a:r>
              <a:rPr lang="ja-JP" altLang="en-US" sz="900" dirty="0"/>
              <a:t>• 	他の設定ミスがないか確認</a:t>
            </a:r>
          </a:p>
          <a:p>
            <a:pPr algn="l"/>
            <a:r>
              <a:rPr lang="ja-JP" altLang="en-US" sz="900" dirty="0"/>
              <a:t>ICS/OT ではスキャンがプロセスに影響する場合があるため、</a:t>
            </a:r>
          </a:p>
          <a:p>
            <a:pPr algn="l"/>
            <a:r>
              <a:rPr lang="ja-JP" altLang="en-US" sz="900" dirty="0"/>
              <a:t>OT 向けの安全なスキャン方法（パッシブスキャンなど）を使う必要があります。</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0"/>
            <a:ext cx="6852285" cy="6312535"/>
          </a:xfrm>
        </p:spPr>
        <p:txBody>
          <a:bodyPr>
            <a:normAutofit/>
          </a:bodyPr>
          <a:lstStyle/>
          <a:p>
            <a:pPr algn="l"/>
            <a:r>
              <a:rPr lang="ja-JP" altLang="en-US" sz="1400" dirty="0"/>
              <a:t>1. 商用スキャナも良いが、オープンソースも強力</a:t>
            </a:r>
          </a:p>
          <a:p>
            <a:pPr algn="l"/>
            <a:r>
              <a:rPr lang="ja-JP" altLang="en-US" sz="1400" dirty="0"/>
              <a:t>ISS Internet Scanner のような商用製品は、</a:t>
            </a:r>
          </a:p>
          <a:p>
            <a:pPr algn="l"/>
            <a:r>
              <a:rPr lang="ja-JP" altLang="en-US" sz="1400" dirty="0"/>
              <a:t>• 	高品質なレポート</a:t>
            </a:r>
          </a:p>
          <a:p>
            <a:pPr algn="l"/>
            <a:r>
              <a:rPr lang="ja-JP" altLang="en-US" sz="1400" dirty="0"/>
              <a:t>• 	使いやすい UI</a:t>
            </a:r>
          </a:p>
          <a:p>
            <a:pPr algn="l"/>
            <a:r>
              <a:rPr lang="ja-JP" altLang="en-US" sz="1400" dirty="0"/>
              <a:t>• 	企業向けのサポート</a:t>
            </a:r>
          </a:p>
          <a:p>
            <a:pPr algn="l"/>
            <a:r>
              <a:rPr lang="ja-JP" altLang="en-US" sz="1400" dirty="0"/>
              <a:t>などが魅力です。</a:t>
            </a:r>
          </a:p>
          <a:p>
            <a:pPr algn="l"/>
            <a:r>
              <a:rPr lang="ja-JP" altLang="en-US" sz="1400" dirty="0"/>
              <a:t>しかし、</a:t>
            </a:r>
          </a:p>
          <a:p>
            <a:pPr algn="l"/>
            <a:r>
              <a:rPr lang="ja-JP" altLang="en-US" sz="1400" dirty="0"/>
              <a:t>OpenVAS のようなオープンソースの脆弱性スキャナも非常に優秀 です。</a:t>
            </a:r>
          </a:p>
          <a:p>
            <a:pPr algn="l"/>
            <a:r>
              <a:rPr lang="ja-JP" altLang="en-US" sz="1400" dirty="0"/>
              <a:t>特に：</a:t>
            </a:r>
          </a:p>
          <a:p>
            <a:pPr algn="l"/>
            <a:r>
              <a:rPr lang="ja-JP" altLang="en-US" sz="1400" dirty="0"/>
              <a:t>• 	予算が限られている</a:t>
            </a:r>
          </a:p>
          <a:p>
            <a:pPr algn="l"/>
            <a:r>
              <a:rPr lang="ja-JP" altLang="en-US" sz="1400" dirty="0"/>
              <a:t>• 	迅速にスキャンしたい</a:t>
            </a:r>
          </a:p>
          <a:p>
            <a:pPr algn="l"/>
            <a:r>
              <a:rPr lang="ja-JP" altLang="en-US" sz="1400" dirty="0"/>
              <a:t>• 	カスタマイズしたい</a:t>
            </a:r>
          </a:p>
          <a:p>
            <a:pPr algn="l"/>
            <a:r>
              <a:rPr lang="ja-JP" altLang="en-US" sz="1400" dirty="0"/>
              <a:t>といった場合、オープンソースは大きな価値があります。</a:t>
            </a:r>
          </a:p>
          <a:p>
            <a:pPr algn="l"/>
            <a:r>
              <a:rPr lang="ja-JP" altLang="en-US" sz="1400" dirty="0"/>
              <a:t>ICS/OT では、</a:t>
            </a:r>
          </a:p>
          <a:p>
            <a:pPr algn="l"/>
            <a:r>
              <a:rPr lang="ja-JP" altLang="en-US" sz="1400" dirty="0"/>
              <a:t>スキャンがプロセスに影響しないよう慎重に使う必要がある</a:t>
            </a:r>
          </a:p>
          <a:p>
            <a:pPr algn="l"/>
            <a:r>
              <a:rPr lang="ja-JP" altLang="en-US" sz="1400" dirty="0"/>
              <a:t>という点だけ注意が必要です。</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108729"/>
            <a:ext cx="3550284" cy="7463286"/>
          </a:xfrm>
        </p:spPr>
        <p:txBody>
          <a:bodyPr>
            <a:noAutofit/>
          </a:bodyPr>
          <a:lstStyle/>
          <a:p>
            <a:pPr algn="l"/>
            <a:r>
              <a:rPr lang="ja-JP" altLang="en-US" sz="1000" dirty="0"/>
              <a:t>1. 復旧フェーズで最も重要なのは“脆弱な状態を復元しないこと”</a:t>
            </a:r>
          </a:p>
          <a:p>
            <a:pPr algn="l"/>
            <a:r>
              <a:rPr lang="ja-JP" altLang="en-US" sz="1000" dirty="0"/>
              <a:t>復旧時に最も注意すべき点は：</a:t>
            </a:r>
          </a:p>
          <a:p>
            <a:pPr algn="l"/>
            <a:r>
              <a:rPr lang="ja-JP" altLang="en-US" sz="1000" dirty="0"/>
              <a:t>攻撃者に悪用された脆弱なコードを、そのまま復元してしまわないこと。</a:t>
            </a:r>
          </a:p>
          <a:p>
            <a:pPr algn="l"/>
            <a:r>
              <a:rPr lang="ja-JP" altLang="en-US" sz="1000" dirty="0"/>
              <a:t>例：</a:t>
            </a:r>
          </a:p>
          <a:p>
            <a:pPr algn="l"/>
            <a:r>
              <a:rPr lang="ja-JP" altLang="en-US" sz="1000" dirty="0"/>
              <a:t>テープバックアップから復元すると、</a:t>
            </a:r>
          </a:p>
          <a:p>
            <a:pPr algn="l"/>
            <a:r>
              <a:rPr lang="ja-JP" altLang="en-US" sz="1000" dirty="0"/>
              <a:t>攻撃前の“脆弱な状態”をそのまま戻してしまう 可能性があります。</a:t>
            </a:r>
          </a:p>
          <a:p>
            <a:pPr algn="l"/>
            <a:r>
              <a:rPr lang="ja-JP" altLang="en-US" sz="1000" dirty="0"/>
              <a:t>ここでいう脆弱なコードとは：</a:t>
            </a:r>
          </a:p>
          <a:p>
            <a:pPr algn="l"/>
            <a:r>
              <a:rPr lang="ja-JP" altLang="en-US" sz="1000" dirty="0"/>
              <a:t>• 	パッチが当たっていない OS</a:t>
            </a:r>
          </a:p>
          <a:p>
            <a:pPr algn="l"/>
            <a:r>
              <a:rPr lang="ja-JP" altLang="en-US" sz="1000" dirty="0"/>
              <a:t>• 	脆弱なアプリケーション</a:t>
            </a:r>
          </a:p>
          <a:p>
            <a:pPr algn="l"/>
            <a:r>
              <a:rPr lang="ja-JP" altLang="en-US" sz="1000" dirty="0"/>
              <a:t>• 	古い設定</a:t>
            </a:r>
          </a:p>
          <a:p>
            <a:pPr algn="l"/>
            <a:r>
              <a:rPr lang="ja-JP" altLang="en-US" sz="1000" dirty="0"/>
              <a:t>• 	脆弱なバージョンのソースコード</a:t>
            </a:r>
          </a:p>
          <a:p>
            <a:pPr algn="l"/>
            <a:r>
              <a:rPr lang="ja-JP" altLang="en-US" sz="1000" dirty="0"/>
              <a:t>などを指します。</a:t>
            </a:r>
          </a:p>
          <a:p>
            <a:pPr algn="l"/>
            <a:endParaRPr lang="ja-JP" altLang="en-US" sz="1000" dirty="0"/>
          </a:p>
          <a:p>
            <a:pPr algn="l"/>
            <a:r>
              <a:rPr lang="ja-JP" altLang="en-US" sz="1000" dirty="0"/>
              <a:t>2. 復旧方法は大きく2つ</a:t>
            </a:r>
          </a:p>
          <a:p>
            <a:pPr algn="l"/>
            <a:r>
              <a:rPr lang="ja-JP" altLang="en-US" sz="1000" dirty="0"/>
              <a:t>方法①：完全再構築（最も安全）</a:t>
            </a:r>
          </a:p>
          <a:p>
            <a:pPr algn="l"/>
            <a:r>
              <a:rPr lang="ja-JP" altLang="en-US" sz="1000" dirty="0"/>
              <a:t>• 	OS を公式メディアから再インストール</a:t>
            </a:r>
          </a:p>
          <a:p>
            <a:pPr algn="l"/>
            <a:r>
              <a:rPr lang="ja-JP" altLang="en-US" sz="1000" dirty="0"/>
              <a:t>• 	ファームウェア更新</a:t>
            </a:r>
          </a:p>
          <a:p>
            <a:pPr algn="l"/>
            <a:r>
              <a:rPr lang="ja-JP" altLang="en-US" sz="1000" dirty="0"/>
              <a:t>• 	アプリケーションを最新化</a:t>
            </a:r>
          </a:p>
          <a:p>
            <a:pPr algn="l"/>
            <a:r>
              <a:rPr lang="ja-JP" altLang="en-US" sz="1000" dirty="0"/>
              <a:t>• 	設定を再構築</a:t>
            </a:r>
          </a:p>
          <a:p>
            <a:pPr algn="l"/>
            <a:r>
              <a:rPr lang="ja-JP" altLang="en-US" sz="1000" dirty="0"/>
              <a:t>• 	最後にデータだけバックアップから戻す</a:t>
            </a:r>
          </a:p>
          <a:p>
            <a:pPr algn="l"/>
            <a:r>
              <a:rPr lang="ja-JP" altLang="en-US" sz="1000" dirty="0"/>
              <a:t>これは最も安全で確実ですが、</a:t>
            </a:r>
          </a:p>
          <a:p>
            <a:pPr algn="l"/>
            <a:r>
              <a:rPr lang="ja-JP" altLang="en-US" sz="1000" dirty="0"/>
              <a:t>時間と労力が大きい のが欠点です。</a:t>
            </a:r>
          </a:p>
          <a:p>
            <a:pPr algn="l"/>
            <a:endParaRPr lang="ja-JP" altLang="en-US" sz="1000" dirty="0"/>
          </a:p>
          <a:p>
            <a:pPr algn="l"/>
            <a:r>
              <a:rPr lang="ja-JP" altLang="en-US" sz="1000" dirty="0"/>
              <a:t>方法②：信頼できるバックアップから復元し、パッチを適用</a:t>
            </a:r>
          </a:p>
          <a:p>
            <a:pPr algn="l"/>
            <a:r>
              <a:rPr lang="ja-JP" altLang="en-US" sz="1000" dirty="0"/>
              <a:t>• 	“信頼できる”バックアップから復元</a:t>
            </a:r>
          </a:p>
          <a:p>
            <a:pPr algn="l"/>
            <a:r>
              <a:rPr lang="ja-JP" altLang="en-US" sz="1000" dirty="0"/>
              <a:t>• 	侵害に使われた脆弱性を修正（パッチ適用）</a:t>
            </a:r>
          </a:p>
          <a:p>
            <a:pPr algn="l"/>
            <a:r>
              <a:rPr lang="ja-JP" altLang="en-US" sz="1000" dirty="0"/>
              <a:t>• 	設定を見直す</a:t>
            </a:r>
          </a:p>
          <a:p>
            <a:pPr algn="l"/>
            <a:r>
              <a:rPr lang="ja-JP" altLang="en-US" sz="1000" dirty="0"/>
              <a:t>この方法は早いですが、</a:t>
            </a:r>
          </a:p>
          <a:p>
            <a:pPr algn="l"/>
            <a:r>
              <a:rPr lang="ja-JP" altLang="en-US" sz="1000" dirty="0"/>
              <a:t>バックアップが本当に“安全な時点”のものかどうか が重要です。</a:t>
            </a:r>
          </a:p>
          <a:p>
            <a:pPr algn="l"/>
            <a:endParaRPr lang="ja-JP" altLang="en-US" sz="1000" dirty="0"/>
          </a:p>
        </p:txBody>
      </p:sp>
      <p:pic>
        <p:nvPicPr>
          <p:cNvPr id="4" name="図 3">
            <a:extLst>
              <a:ext uri="{FF2B5EF4-FFF2-40B4-BE49-F238E27FC236}">
                <a16:creationId xmlns:a16="http://schemas.microsoft.com/office/drawing/2014/main" id="{8B5B0547-39BD-4654-9BF6-AC551A254038}"/>
              </a:ext>
            </a:extLst>
          </p:cNvPr>
          <p:cNvPicPr>
            <a:picLocks noChangeAspect="1"/>
          </p:cNvPicPr>
          <p:nvPr/>
        </p:nvPicPr>
        <p:blipFill>
          <a:blip r:embed="rId2"/>
          <a:stretch>
            <a:fillRect/>
          </a:stretch>
        </p:blipFill>
        <p:spPr>
          <a:xfrm>
            <a:off x="1835784" y="58365"/>
            <a:ext cx="3429000" cy="1953087"/>
          </a:xfrm>
          <a:prstGeom prst="rect">
            <a:avLst/>
          </a:prstGeom>
        </p:spPr>
      </p:pic>
      <p:sp>
        <p:nvSpPr>
          <p:cNvPr id="5" name="サブタイトル 2">
            <a:extLst>
              <a:ext uri="{FF2B5EF4-FFF2-40B4-BE49-F238E27FC236}">
                <a16:creationId xmlns:a16="http://schemas.microsoft.com/office/drawing/2014/main" id="{92AC0F40-731A-4375-9A31-663BBDF420A8}"/>
              </a:ext>
            </a:extLst>
          </p:cNvPr>
          <p:cNvSpPr txBox="1">
            <a:spLocks/>
          </p:cNvSpPr>
          <p:nvPr/>
        </p:nvSpPr>
        <p:spPr>
          <a:xfrm>
            <a:off x="3550285" y="2108727"/>
            <a:ext cx="3307715" cy="10011933"/>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000" dirty="0"/>
              <a:t>3. 復旧後は必ず“動作確認（Validation）”を行う</a:t>
            </a:r>
          </a:p>
          <a:p>
            <a:pPr algn="l"/>
            <a:r>
              <a:rPr lang="ja-JP" altLang="en-US" sz="1000" dirty="0"/>
              <a:t>システムを本番に戻す前に、</a:t>
            </a:r>
          </a:p>
          <a:p>
            <a:pPr algn="l"/>
            <a:r>
              <a:rPr lang="ja-JP" altLang="en-US" sz="1000" dirty="0"/>
              <a:t>インシデントハンドラーとシステム管理者が共同で 徹底的に動作確認 を行う必要があります。</a:t>
            </a:r>
          </a:p>
          <a:p>
            <a:pPr algn="l"/>
            <a:r>
              <a:rPr lang="ja-JP" altLang="en-US" sz="1000" dirty="0"/>
              <a:t>理由：</a:t>
            </a:r>
          </a:p>
          <a:p>
            <a:pPr algn="l"/>
            <a:r>
              <a:rPr lang="ja-JP" altLang="en-US" sz="1000" dirty="0"/>
              <a:t>• 	脆弱性を修正したことで、他の機能が壊れている可能性がある</a:t>
            </a:r>
          </a:p>
          <a:p>
            <a:pPr algn="l"/>
            <a:r>
              <a:rPr lang="ja-JP" altLang="en-US" sz="1000" dirty="0"/>
              <a:t>• 	ICS/OT では小さな設定変更がプロセスに大きな影響を与える</a:t>
            </a:r>
          </a:p>
          <a:p>
            <a:pPr algn="l"/>
            <a:r>
              <a:rPr lang="ja-JP" altLang="en-US" sz="1000" dirty="0"/>
              <a:t>• 	復旧後の不具合はすべて“インシデント対応者の責任”にされがち</a:t>
            </a:r>
          </a:p>
          <a:p>
            <a:pPr algn="l"/>
            <a:r>
              <a:rPr lang="ja-JP" altLang="en-US" sz="1000" dirty="0"/>
              <a:t>そのため、</a:t>
            </a:r>
          </a:p>
          <a:p>
            <a:pPr algn="l"/>
            <a:r>
              <a:rPr lang="ja-JP" altLang="en-US" sz="1000" dirty="0"/>
              <a:t>本番復帰前の検証は非常に重要 です。</a:t>
            </a:r>
          </a:p>
          <a:p>
            <a:pPr algn="l"/>
            <a:endParaRPr lang="en-US" altLang="ja-JP" sz="1000" dirty="0"/>
          </a:p>
          <a:p>
            <a:pPr algn="l"/>
            <a:endParaRPr lang="en-US" altLang="ja-JP" sz="1000" dirty="0"/>
          </a:p>
          <a:p>
            <a:pPr algn="l"/>
            <a:r>
              <a:rPr lang="ja-JP" altLang="en-US" sz="1000" dirty="0"/>
              <a:t>4. 本番復帰の最終判断は“システムオーナー”が行う</a:t>
            </a:r>
          </a:p>
          <a:p>
            <a:pPr algn="l"/>
            <a:r>
              <a:rPr lang="ja-JP" altLang="en-US" sz="1000" dirty="0"/>
              <a:t>インシデントハンドラーは助言できますが、</a:t>
            </a:r>
          </a:p>
          <a:p>
            <a:pPr algn="l"/>
            <a:r>
              <a:rPr lang="ja-JP" altLang="en-US" sz="1000" dirty="0"/>
              <a:t>本番復帰の最終決定権はシステムオーナー（または管理者）にあります。</a:t>
            </a:r>
          </a:p>
          <a:p>
            <a:pPr algn="l"/>
            <a:r>
              <a:rPr lang="ja-JP" altLang="en-US" sz="1000" dirty="0"/>
              <a:t>これは ICS/OT では特に重要で：</a:t>
            </a:r>
          </a:p>
          <a:p>
            <a:pPr algn="l"/>
            <a:r>
              <a:rPr lang="ja-JP" altLang="en-US" sz="1000" dirty="0"/>
              <a:t>• 	プロセス安全</a:t>
            </a:r>
          </a:p>
          <a:p>
            <a:pPr algn="l"/>
            <a:r>
              <a:rPr lang="ja-JP" altLang="en-US" sz="1000" dirty="0"/>
              <a:t>• 	生産計画</a:t>
            </a:r>
          </a:p>
          <a:p>
            <a:pPr algn="l"/>
            <a:r>
              <a:rPr lang="ja-JP" altLang="en-US" sz="1000" dirty="0"/>
              <a:t>• 	規制要件</a:t>
            </a:r>
          </a:p>
          <a:p>
            <a:pPr algn="l"/>
            <a:r>
              <a:rPr lang="ja-JP" altLang="en-US" sz="1000" dirty="0"/>
              <a:t>• 	運転部門の判断</a:t>
            </a:r>
          </a:p>
          <a:p>
            <a:pPr algn="l"/>
            <a:r>
              <a:rPr lang="ja-JP" altLang="en-US" sz="1000" dirty="0"/>
              <a:t>などが絡むため、</a:t>
            </a:r>
          </a:p>
          <a:p>
            <a:pPr algn="l"/>
            <a:r>
              <a:rPr lang="ja-JP" altLang="en-US" sz="1000" dirty="0"/>
              <a:t>技術者だけで勝手に復帰を決めてはいけません。</a:t>
            </a:r>
          </a:p>
          <a:p>
            <a:pPr algn="l"/>
            <a:endParaRPr lang="ja-JP" altLang="en-US" sz="1000" dirty="0"/>
          </a:p>
          <a:p>
            <a:pPr algn="l"/>
            <a:r>
              <a:rPr lang="ja-JP" altLang="en-US" sz="1000" dirty="0"/>
              <a:t>5. 根絶（Eradication）が不完全なら再感染する</a:t>
            </a:r>
          </a:p>
          <a:p>
            <a:pPr algn="l"/>
            <a:r>
              <a:rPr lang="ja-JP" altLang="en-US" sz="1000" dirty="0"/>
              <a:t>当然ですが：</a:t>
            </a:r>
          </a:p>
          <a:p>
            <a:pPr algn="l"/>
            <a:r>
              <a:rPr lang="ja-JP" altLang="en-US" sz="1000" dirty="0"/>
              <a:t>• 	脆弱性が残っている</a:t>
            </a:r>
          </a:p>
          <a:p>
            <a:pPr algn="l"/>
            <a:r>
              <a:rPr lang="ja-JP" altLang="en-US" sz="1000" dirty="0"/>
              <a:t>• 	バックドアが残っている</a:t>
            </a:r>
          </a:p>
          <a:p>
            <a:pPr algn="l"/>
            <a:r>
              <a:rPr lang="ja-JP" altLang="en-US" sz="1000" dirty="0"/>
              <a:t>• 	攻撃経路が閉じられていない</a:t>
            </a:r>
          </a:p>
          <a:p>
            <a:pPr algn="l"/>
            <a:r>
              <a:rPr lang="ja-JP" altLang="en-US" sz="1000" dirty="0"/>
              <a:t>こうした状態で復帰すると、</a:t>
            </a:r>
          </a:p>
          <a:p>
            <a:pPr algn="l"/>
            <a:r>
              <a:rPr lang="ja-JP" altLang="en-US" sz="1000" dirty="0"/>
              <a:t>再感染のリスクが非常に高い です。</a:t>
            </a:r>
          </a:p>
          <a:p>
            <a:pPr algn="l"/>
            <a:endParaRPr lang="ja-JP" altLang="en-US" sz="1000" dirty="0"/>
          </a:p>
          <a:p>
            <a:pPr algn="l"/>
            <a:r>
              <a:rPr lang="ja-JP" altLang="en-US" sz="1000" dirty="0"/>
              <a:t>6. 本番復帰後の“数時間”は特に重要</a:t>
            </a:r>
          </a:p>
          <a:p>
            <a:pPr algn="l"/>
            <a:r>
              <a:rPr lang="ja-JP" altLang="en-US" sz="1000" dirty="0"/>
              <a:t>復旧後は、</a:t>
            </a:r>
          </a:p>
          <a:p>
            <a:pPr algn="l"/>
            <a:r>
              <a:rPr lang="ja-JP" altLang="en-US" sz="1000" dirty="0"/>
              <a:t>最初の数時間を重点的に監視 する必要があります。</a:t>
            </a:r>
          </a:p>
          <a:p>
            <a:pPr algn="l"/>
            <a:r>
              <a:rPr lang="ja-JP" altLang="en-US" sz="1000" dirty="0"/>
              <a:t>理由：</a:t>
            </a:r>
          </a:p>
          <a:p>
            <a:pPr algn="l"/>
            <a:r>
              <a:rPr lang="ja-JP" altLang="en-US" sz="1000" dirty="0"/>
              <a:t>• 	攻撃者が再侵入を試みる可能性がある</a:t>
            </a:r>
          </a:p>
          <a:p>
            <a:pPr algn="l"/>
            <a:r>
              <a:rPr lang="ja-JP" altLang="en-US" sz="1000" dirty="0"/>
              <a:t>• 	バックドアが残っている場合、すぐに動き出す</a:t>
            </a:r>
          </a:p>
          <a:p>
            <a:pPr algn="l"/>
            <a:r>
              <a:rPr lang="ja-JP" altLang="en-US" sz="1000" dirty="0"/>
              <a:t>• 	設定変更による不具合が表面化する</a:t>
            </a:r>
          </a:p>
          <a:p>
            <a:pPr algn="l"/>
            <a:r>
              <a:rPr lang="ja-JP" altLang="en-US" sz="1000" dirty="0"/>
              <a:t>ICS/OT では、</a:t>
            </a:r>
          </a:p>
          <a:p>
            <a:pPr algn="l"/>
            <a:r>
              <a:rPr lang="ja-JP" altLang="en-US" sz="1000" dirty="0"/>
              <a:t>復旧後の監視が安全確保に直結 します。</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1"/>
            <a:ext cx="6852285" cy="2184400"/>
          </a:xfrm>
        </p:spPr>
        <p:txBody>
          <a:bodyPr>
            <a:normAutofit/>
          </a:bodyPr>
          <a:lstStyle/>
          <a:p>
            <a:pPr algn="l"/>
            <a:r>
              <a:rPr lang="ja-JP" altLang="en-US" sz="1400" dirty="0"/>
              <a:t>復旧後の監視をしっかり行うことは、インシデント対応チームの重要性 とチームメンバーの献身的な取り組みを組織に示すことにもつながります。</a:t>
            </a:r>
          </a:p>
          <a:p>
            <a:pPr algn="l"/>
            <a:r>
              <a:rPr lang="ja-JP" altLang="en-US" sz="1400" dirty="0"/>
              <a:t>つまり、監視は単に技術的な作業ではなく、</a:t>
            </a:r>
          </a:p>
          <a:p>
            <a:pPr algn="l"/>
            <a:r>
              <a:rPr lang="ja-JP" altLang="en-US" sz="1400" dirty="0"/>
              <a:t>• 	問題が正しく解決されたことを証明する</a:t>
            </a:r>
          </a:p>
          <a:p>
            <a:pPr algn="l"/>
            <a:r>
              <a:rPr lang="ja-JP" altLang="en-US" sz="1400" dirty="0"/>
              <a:t>• 	再発防止のために必要な行動であることを示す</a:t>
            </a:r>
          </a:p>
          <a:p>
            <a:pPr algn="l"/>
            <a:r>
              <a:rPr lang="ja-JP" altLang="en-US" sz="1400" dirty="0"/>
              <a:t>• 	インシデント対応チームが組織にとって不可欠であることを可視化する</a:t>
            </a:r>
          </a:p>
          <a:p>
            <a:pPr algn="l"/>
            <a:r>
              <a:rPr lang="ja-JP" altLang="en-US" sz="1400" dirty="0"/>
              <a:t>という役割も果たします。</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107922"/>
            <a:ext cx="6852285" cy="9084078"/>
          </a:xfrm>
        </p:spPr>
        <p:txBody>
          <a:bodyPr>
            <a:noAutofit/>
          </a:bodyPr>
          <a:lstStyle/>
          <a:p>
            <a:pPr algn="l"/>
            <a:r>
              <a:rPr lang="ja-JP" altLang="en-US" sz="900" dirty="0"/>
              <a:t>1. 復旧後は“全プロセスをまとめた報告書”を作成する</a:t>
            </a:r>
          </a:p>
          <a:p>
            <a:pPr algn="l"/>
            <a:r>
              <a:rPr lang="ja-JP" altLang="en-US" sz="900" dirty="0"/>
              <a:t>システムが復旧し、運用に戻ったら、</a:t>
            </a:r>
          </a:p>
          <a:p>
            <a:pPr algn="l"/>
            <a:r>
              <a:rPr lang="ja-JP" altLang="en-US" sz="900" dirty="0"/>
              <a:t>プライマリーハンドラー（Incident Lead）が全工程をまとめた報告書を作成 します。</a:t>
            </a:r>
          </a:p>
          <a:p>
            <a:pPr algn="l"/>
            <a:r>
              <a:rPr lang="ja-JP" altLang="en-US" sz="900" dirty="0"/>
              <a:t>報告書に含めるべき内容：</a:t>
            </a:r>
          </a:p>
          <a:p>
            <a:pPr algn="l"/>
            <a:r>
              <a:rPr lang="ja-JP" altLang="en-US" sz="900" dirty="0"/>
              <a:t>- インシデントの概要</a:t>
            </a:r>
          </a:p>
          <a:p>
            <a:pPr algn="l"/>
            <a:r>
              <a:rPr lang="ja-JP" altLang="en-US" sz="900" dirty="0"/>
              <a:t>- 何が起きたか（Timeline）</a:t>
            </a:r>
          </a:p>
          <a:p>
            <a:pPr algn="l"/>
            <a:r>
              <a:rPr lang="ja-JP" altLang="en-US" sz="900" dirty="0"/>
              <a:t>- 原因（Root Cause）</a:t>
            </a:r>
          </a:p>
          <a:p>
            <a:pPr algn="l"/>
            <a:r>
              <a:rPr lang="ja-JP" altLang="en-US" sz="900" dirty="0"/>
              <a:t>- どのように封じ込め・根絶・復旧したか</a:t>
            </a:r>
          </a:p>
          <a:p>
            <a:pPr algn="l"/>
            <a:r>
              <a:rPr lang="ja-JP" altLang="en-US" sz="900" dirty="0"/>
              <a:t>- 再発防止のための重要な結論</a:t>
            </a:r>
          </a:p>
          <a:p>
            <a:pPr algn="l"/>
            <a:r>
              <a:rPr lang="ja-JP" altLang="en-US" sz="900" dirty="0"/>
              <a:t>- セキュリティインフラの改善点</a:t>
            </a:r>
          </a:p>
          <a:p>
            <a:pPr algn="l"/>
            <a:r>
              <a:rPr lang="ja-JP" altLang="en-US" sz="900" dirty="0"/>
              <a:t>- インシデント対応プロセスの改善点</a:t>
            </a:r>
          </a:p>
          <a:p>
            <a:pPr algn="l"/>
            <a:r>
              <a:rPr lang="ja-JP" altLang="en-US" sz="900" dirty="0"/>
              <a:t>- インシデント中に新たに判明した必要なセキュリティ施策やプロジェクト</a:t>
            </a:r>
          </a:p>
          <a:p>
            <a:pPr algn="l"/>
            <a:r>
              <a:rPr lang="ja-JP" altLang="en-US" sz="900" dirty="0"/>
              <a:t>つまり、</a:t>
            </a:r>
          </a:p>
          <a:p>
            <a:pPr algn="l"/>
            <a:r>
              <a:rPr lang="ja-JP" altLang="en-US" sz="900" dirty="0"/>
              <a:t>「今回のインシデントから何を学び、どう改善するか」</a:t>
            </a:r>
          </a:p>
          <a:p>
            <a:pPr algn="l"/>
            <a:r>
              <a:rPr lang="ja-JP" altLang="en-US" sz="900" dirty="0"/>
              <a:t>を明確にする文書です。</a:t>
            </a:r>
          </a:p>
          <a:p>
            <a:pPr algn="l"/>
            <a:endParaRPr lang="ja-JP" altLang="en-US" sz="900" dirty="0"/>
          </a:p>
          <a:p>
            <a:pPr algn="l"/>
            <a:r>
              <a:rPr lang="ja-JP" altLang="en-US" sz="900" dirty="0"/>
              <a:t>2. 関係者全員の“合意形成”が重要</a:t>
            </a:r>
          </a:p>
          <a:p>
            <a:pPr algn="l"/>
            <a:r>
              <a:rPr lang="ja-JP" altLang="en-US" sz="900" dirty="0"/>
              <a:t>報告書は、</a:t>
            </a:r>
          </a:p>
          <a:p>
            <a:pPr algn="l"/>
            <a:r>
              <a:rPr lang="ja-JP" altLang="en-US" sz="900" dirty="0"/>
              <a:t>インシデント対応チーム全員の合意を得ることが理想 です。</a:t>
            </a:r>
          </a:p>
          <a:p>
            <a:pPr algn="l"/>
            <a:r>
              <a:rPr lang="ja-JP" altLang="en-US" sz="900" dirty="0"/>
              <a:t>そのために：</a:t>
            </a:r>
          </a:p>
          <a:p>
            <a:pPr algn="l"/>
            <a:r>
              <a:rPr lang="ja-JP" altLang="en-US" sz="900" dirty="0"/>
              <a:t>- 報告書の草案ができたら</a:t>
            </a:r>
          </a:p>
          <a:p>
            <a:pPr algn="l"/>
            <a:r>
              <a:rPr lang="ja-JP" altLang="en-US" sz="900" dirty="0"/>
              <a:t>- チーム全員で「Lessons Learned（教訓共有）」ミーティングを実施</a:t>
            </a:r>
          </a:p>
          <a:p>
            <a:pPr algn="l"/>
            <a:r>
              <a:rPr lang="ja-JP" altLang="en-US" sz="900" dirty="0"/>
              <a:t>このミーティングの目的は：</a:t>
            </a:r>
          </a:p>
          <a:p>
            <a:pPr algn="l"/>
            <a:r>
              <a:rPr lang="ja-JP" altLang="en-US" sz="900" dirty="0"/>
              <a:t>- 何がうまくいったか</a:t>
            </a:r>
          </a:p>
          <a:p>
            <a:pPr algn="l"/>
            <a:r>
              <a:rPr lang="ja-JP" altLang="en-US" sz="900" dirty="0"/>
              <a:t>- 何がうまくいかなかったか</a:t>
            </a:r>
          </a:p>
          <a:p>
            <a:pPr algn="l"/>
            <a:r>
              <a:rPr lang="ja-JP" altLang="en-US" sz="900" dirty="0"/>
              <a:t>- 次回改善すべき点</a:t>
            </a:r>
          </a:p>
          <a:p>
            <a:pPr algn="l"/>
            <a:r>
              <a:rPr lang="ja-JP" altLang="en-US" sz="900" dirty="0"/>
              <a:t>- 経営層に伝えるべきポイント</a:t>
            </a:r>
          </a:p>
          <a:p>
            <a:pPr algn="l"/>
            <a:r>
              <a:rPr lang="ja-JP" altLang="en-US" sz="900" dirty="0"/>
              <a:t>を整理することです。</a:t>
            </a:r>
          </a:p>
          <a:p>
            <a:pPr algn="l"/>
            <a:endParaRPr lang="ja-JP" altLang="en-US" sz="900" dirty="0"/>
          </a:p>
          <a:p>
            <a:pPr algn="l"/>
            <a:r>
              <a:rPr lang="ja-JP" altLang="en-US" sz="900" dirty="0"/>
              <a:t>3. エグゼクティブサマリー（Executive Summary）の作成</a:t>
            </a:r>
          </a:p>
          <a:p>
            <a:pPr algn="l"/>
            <a:r>
              <a:rPr lang="ja-JP" altLang="en-US" sz="900" dirty="0"/>
              <a:t>最終的に、</a:t>
            </a:r>
          </a:p>
          <a:p>
            <a:pPr algn="l"/>
            <a:r>
              <a:rPr lang="ja-JP" altLang="en-US" sz="900" dirty="0"/>
              <a:t>経営層向けの エグゼクティブサマリー を作成します。</a:t>
            </a:r>
          </a:p>
          <a:p>
            <a:pPr algn="l"/>
            <a:r>
              <a:rPr lang="ja-JP" altLang="en-US" sz="900" dirty="0"/>
              <a:t>含めるべき内容：</a:t>
            </a:r>
          </a:p>
          <a:p>
            <a:pPr algn="l"/>
            <a:r>
              <a:rPr lang="ja-JP" altLang="en-US" sz="900" dirty="0"/>
              <a:t>- インシデントの簡潔な概要</a:t>
            </a:r>
          </a:p>
          <a:p>
            <a:pPr algn="l"/>
            <a:r>
              <a:rPr lang="ja-JP" altLang="en-US" sz="900" dirty="0"/>
              <a:t>- 対応の流れ（封じ込め → 根絶 → 復旧）</a:t>
            </a:r>
          </a:p>
          <a:p>
            <a:pPr algn="l"/>
            <a:r>
              <a:rPr lang="ja-JP" altLang="en-US" sz="900" dirty="0"/>
              <a:t>- 重要な結論</a:t>
            </a:r>
          </a:p>
          <a:p>
            <a:pPr algn="l"/>
            <a:r>
              <a:rPr lang="ja-JP" altLang="en-US" sz="900" dirty="0"/>
              <a:t>- 再発防止策の提案</a:t>
            </a:r>
          </a:p>
          <a:p>
            <a:pPr algn="l"/>
            <a:r>
              <a:rPr lang="ja-JP" altLang="en-US" sz="900" dirty="0"/>
              <a:t>- 必要な新規プロジェクトや投資</a:t>
            </a:r>
          </a:p>
          <a:p>
            <a:pPr algn="l"/>
            <a:r>
              <a:rPr lang="ja-JP" altLang="en-US" sz="900" dirty="0"/>
              <a:t>経営層は技術的な詳細を読む時間がないため、</a:t>
            </a:r>
          </a:p>
          <a:p>
            <a:pPr algn="l"/>
            <a:r>
              <a:rPr lang="ja-JP" altLang="en-US" sz="900" dirty="0"/>
              <a:t>短く・要点を押さえたサマリーが必須 です。</a:t>
            </a:r>
          </a:p>
        </p:txBody>
      </p:sp>
      <p:pic>
        <p:nvPicPr>
          <p:cNvPr id="4" name="図 3">
            <a:extLst>
              <a:ext uri="{FF2B5EF4-FFF2-40B4-BE49-F238E27FC236}">
                <a16:creationId xmlns:a16="http://schemas.microsoft.com/office/drawing/2014/main" id="{A48811F4-5A2B-48E1-9F66-7A302FCD7F57}"/>
              </a:ext>
            </a:extLst>
          </p:cNvPr>
          <p:cNvPicPr>
            <a:picLocks noChangeAspect="1"/>
          </p:cNvPicPr>
          <p:nvPr/>
        </p:nvPicPr>
        <p:blipFill>
          <a:blip r:embed="rId2"/>
          <a:stretch>
            <a:fillRect/>
          </a:stretch>
        </p:blipFill>
        <p:spPr>
          <a:xfrm>
            <a:off x="838584" y="58365"/>
            <a:ext cx="5175115" cy="2957209"/>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2918297"/>
            <a:ext cx="3429000" cy="9229948"/>
          </a:xfrm>
        </p:spPr>
        <p:txBody>
          <a:bodyPr>
            <a:noAutofit/>
          </a:bodyPr>
          <a:lstStyle/>
          <a:p>
            <a:pPr algn="l"/>
            <a:r>
              <a:rPr lang="ja-JP" altLang="en-US" sz="800" dirty="0"/>
              <a:t>1. ICS の侵害は“特に難しい”</a:t>
            </a:r>
          </a:p>
          <a:p>
            <a:pPr algn="l"/>
            <a:r>
              <a:rPr lang="ja-JP" altLang="en-US" sz="800" dirty="0"/>
              <a:t>ICS（産業制御システム）の侵害は、IT とは比較にならないほど扱いが難しい。</a:t>
            </a:r>
          </a:p>
          <a:p>
            <a:pPr algn="l"/>
            <a:r>
              <a:rPr lang="ja-JP" altLang="en-US" sz="800" dirty="0"/>
              <a:t>理由は以下の通りです。</a:t>
            </a:r>
          </a:p>
          <a:p>
            <a:pPr algn="l"/>
            <a:endParaRPr lang="ja-JP" altLang="en-US" sz="800" dirty="0"/>
          </a:p>
          <a:p>
            <a:pPr algn="l"/>
            <a:r>
              <a:rPr lang="ja-JP" altLang="en-US" sz="800" dirty="0"/>
              <a:t>2. ICS の侵害は“自分たちで気づけない”ことが多い</a:t>
            </a:r>
          </a:p>
          <a:p>
            <a:pPr algn="l"/>
            <a:r>
              <a:rPr lang="ja-JP" altLang="en-US" sz="800" dirty="0"/>
              <a:t>多くの ICS 事業者は、侵害を自分たちで検知できず、</a:t>
            </a:r>
          </a:p>
          <a:p>
            <a:pPr algn="l"/>
            <a:r>
              <a:rPr lang="ja-JP" altLang="en-US" sz="800" dirty="0"/>
              <a:t>• 	政府機関（ICS‑CERT）</a:t>
            </a:r>
          </a:p>
          <a:p>
            <a:pPr algn="l"/>
            <a:r>
              <a:rPr lang="ja-JP" altLang="en-US" sz="800" dirty="0"/>
              <a:t>• 	研究者</a:t>
            </a:r>
          </a:p>
          <a:p>
            <a:pPr algn="l"/>
            <a:r>
              <a:rPr lang="ja-JP" altLang="en-US" sz="800" dirty="0"/>
              <a:t>• 	セキュリティ企業</a:t>
            </a:r>
          </a:p>
          <a:p>
            <a:pPr algn="l"/>
            <a:r>
              <a:rPr lang="ja-JP" altLang="en-US" sz="800" dirty="0"/>
              <a:t>から 「あなたの環境が侵害されています」 と通知されて初めて気づきます。</a:t>
            </a:r>
          </a:p>
          <a:p>
            <a:pPr algn="l"/>
            <a:r>
              <a:rPr lang="ja-JP" altLang="en-US" sz="800" dirty="0"/>
              <a:t>これは ICS のログ基盤が弱いことが大きな原因です。</a:t>
            </a:r>
          </a:p>
          <a:p>
            <a:pPr algn="l"/>
            <a:endParaRPr lang="ja-JP" altLang="en-US" sz="800" dirty="0"/>
          </a:p>
          <a:p>
            <a:pPr algn="l"/>
            <a:r>
              <a:rPr lang="ja-JP" altLang="en-US" sz="800" dirty="0"/>
              <a:t>3. ログが残っていない（30日で消える）ため、過去の調査が困難</a:t>
            </a:r>
          </a:p>
          <a:p>
            <a:pPr algn="l"/>
            <a:r>
              <a:rPr lang="ja-JP" altLang="en-US" sz="800" dirty="0"/>
              <a:t>多くの ICS/OT 環境では：</a:t>
            </a:r>
          </a:p>
          <a:p>
            <a:pPr algn="l"/>
            <a:r>
              <a:rPr lang="ja-JP" altLang="en-US" sz="800" dirty="0"/>
              <a:t>• 	ログ保持期間が短い（30日程度）</a:t>
            </a:r>
          </a:p>
          <a:p>
            <a:pPr algn="l"/>
            <a:r>
              <a:rPr lang="ja-JP" altLang="en-US" sz="800" dirty="0"/>
              <a:t>• 	そもそもログが収集されていない</a:t>
            </a:r>
          </a:p>
          <a:p>
            <a:pPr algn="l"/>
            <a:r>
              <a:rPr lang="ja-JP" altLang="en-US" sz="800" dirty="0"/>
              <a:t>• 	監視基盤が存在しない</a:t>
            </a:r>
          </a:p>
          <a:p>
            <a:pPr algn="l"/>
            <a:r>
              <a:rPr lang="ja-JP" altLang="en-US" sz="800" dirty="0"/>
              <a:t>そのため、</a:t>
            </a:r>
          </a:p>
          <a:p>
            <a:pPr algn="l"/>
            <a:r>
              <a:rPr lang="ja-JP" altLang="en-US" sz="800" dirty="0"/>
              <a:t>過去に何が起きたかを調査できない という致命的な問題があります。</a:t>
            </a:r>
          </a:p>
          <a:p>
            <a:pPr algn="l"/>
            <a:endParaRPr lang="ja-JP" altLang="en-US" sz="800" dirty="0"/>
          </a:p>
          <a:p>
            <a:pPr algn="l"/>
            <a:r>
              <a:rPr lang="ja-JP" altLang="en-US" sz="800" dirty="0"/>
              <a:t>4. IT と OT の指揮系統が別で、意思決定が止まる</a:t>
            </a:r>
          </a:p>
          <a:p>
            <a:pPr algn="l"/>
            <a:r>
              <a:rPr lang="ja-JP" altLang="en-US" sz="800" dirty="0"/>
              <a:t>ICS/OT ではよくある問題：</a:t>
            </a:r>
          </a:p>
          <a:p>
            <a:pPr algn="l"/>
            <a:r>
              <a:rPr lang="ja-JP" altLang="en-US" sz="800" dirty="0"/>
              <a:t>• 	IT 部門と OT 部門の指揮系統が完全に別</a:t>
            </a:r>
          </a:p>
          <a:p>
            <a:pPr algn="l"/>
            <a:r>
              <a:rPr lang="ja-JP" altLang="en-US" sz="800" dirty="0"/>
              <a:t>• 	どちらが意思決定するのか曖昧</a:t>
            </a:r>
          </a:p>
          <a:p>
            <a:pPr algn="l"/>
            <a:r>
              <a:rPr lang="ja-JP" altLang="en-US" sz="800" dirty="0"/>
              <a:t>• 	重要な判断が止まる</a:t>
            </a:r>
          </a:p>
          <a:p>
            <a:pPr algn="l"/>
            <a:r>
              <a:rPr lang="ja-JP" altLang="en-US" sz="800" dirty="0"/>
              <a:t>• 	インシデント対応が遅れる</a:t>
            </a:r>
          </a:p>
          <a:p>
            <a:pPr algn="l"/>
            <a:r>
              <a:rPr lang="ja-JP" altLang="en-US" sz="800" dirty="0"/>
              <a:t>さらに、</a:t>
            </a:r>
          </a:p>
          <a:p>
            <a:pPr algn="l"/>
            <a:r>
              <a:rPr lang="ja-JP" altLang="en-US" sz="800" dirty="0"/>
              <a:t>IT と OT の両方を理解して意思決定できる人材は非常に少ない。</a:t>
            </a:r>
          </a:p>
          <a:p>
            <a:pPr algn="l"/>
            <a:r>
              <a:rPr lang="ja-JP" altLang="en-US" sz="800" dirty="0"/>
              <a:t>結果として、</a:t>
            </a:r>
          </a:p>
          <a:p>
            <a:pPr algn="l"/>
            <a:r>
              <a:rPr lang="ja-JP" altLang="en-US" sz="800" dirty="0"/>
              <a:t>判断がインシデントレスポンダー一人に集中することすらあります。</a:t>
            </a:r>
          </a:p>
          <a:p>
            <a:pPr algn="l"/>
            <a:r>
              <a:rPr lang="ja-JP" altLang="en-US" sz="800" dirty="0"/>
              <a:t>5. 政府機関が関与するため、さらに複雑化する</a:t>
            </a:r>
          </a:p>
          <a:p>
            <a:pPr algn="l"/>
            <a:r>
              <a:rPr lang="ja-JP" altLang="en-US" sz="800" dirty="0"/>
              <a:t>ICS の侵害では、ほぼ確実に：</a:t>
            </a:r>
          </a:p>
          <a:p>
            <a:pPr algn="l"/>
            <a:r>
              <a:rPr lang="ja-JP" altLang="en-US" sz="800" dirty="0"/>
              <a:t>• 	ICS‑CERT</a:t>
            </a:r>
          </a:p>
          <a:p>
            <a:pPr algn="l"/>
            <a:r>
              <a:rPr lang="ja-JP" altLang="en-US" sz="800" dirty="0"/>
              <a:t>• 	FBI</a:t>
            </a:r>
          </a:p>
          <a:p>
            <a:pPr algn="l"/>
            <a:r>
              <a:rPr lang="ja-JP" altLang="en-US" sz="800" dirty="0"/>
              <a:t>• 	業界の規制当局（電力・石油・化学など）</a:t>
            </a:r>
          </a:p>
          <a:p>
            <a:pPr algn="l"/>
            <a:r>
              <a:rPr lang="ja-JP" altLang="en-US" sz="800" dirty="0" err="1"/>
              <a:t>が関</a:t>
            </a:r>
            <a:r>
              <a:rPr lang="ja-JP" altLang="en-US" sz="800" dirty="0"/>
              <a:t>与します。</a:t>
            </a:r>
          </a:p>
          <a:p>
            <a:pPr algn="l"/>
            <a:r>
              <a:rPr lang="ja-JP" altLang="en-US" sz="800" dirty="0"/>
              <a:t>これは良い面もあります：</a:t>
            </a:r>
          </a:p>
          <a:p>
            <a:pPr algn="l"/>
            <a:r>
              <a:rPr lang="ja-JP" altLang="en-US" sz="800" dirty="0"/>
              <a:t>• 	政府は脅威情報を大量に持っている</a:t>
            </a:r>
          </a:p>
          <a:p>
            <a:pPr algn="l"/>
            <a:r>
              <a:rPr lang="ja-JP" altLang="en-US" sz="800" dirty="0"/>
              <a:t>• 	攻撃者の戦術・手法を深く理解している</a:t>
            </a:r>
          </a:p>
          <a:p>
            <a:pPr algn="l"/>
            <a:r>
              <a:rPr lang="ja-JP" altLang="en-US" sz="800" dirty="0"/>
              <a:t>しかし問題もあります：</a:t>
            </a:r>
          </a:p>
          <a:p>
            <a:pPr algn="l"/>
            <a:r>
              <a:rPr lang="ja-JP" altLang="en-US" sz="800" dirty="0"/>
              <a:t>• 	政府は“最後まで対応を完遂するリソース”を持っていない</a:t>
            </a:r>
          </a:p>
          <a:p>
            <a:pPr algn="l"/>
            <a:r>
              <a:rPr lang="ja-JP" altLang="en-US" sz="800" dirty="0"/>
              <a:t>• 	現場の判断を代わりにしてくれるわけではない</a:t>
            </a:r>
          </a:p>
          <a:p>
            <a:pPr algn="l"/>
            <a:r>
              <a:rPr lang="ja-JP" altLang="en-US" sz="800" dirty="0"/>
              <a:t>重要なのは：</a:t>
            </a:r>
            <a:endParaRPr lang="en-US" altLang="ja-JP" sz="800" dirty="0"/>
          </a:p>
          <a:p>
            <a:pPr algn="l"/>
            <a:endParaRPr lang="ja-JP" altLang="en-US" sz="800" dirty="0"/>
          </a:p>
        </p:txBody>
      </p:sp>
      <p:pic>
        <p:nvPicPr>
          <p:cNvPr id="4" name="図 3">
            <a:extLst>
              <a:ext uri="{FF2B5EF4-FFF2-40B4-BE49-F238E27FC236}">
                <a16:creationId xmlns:a16="http://schemas.microsoft.com/office/drawing/2014/main" id="{83546287-3ADE-4C34-8C1B-3AB1F7AFFE42}"/>
              </a:ext>
            </a:extLst>
          </p:cNvPr>
          <p:cNvPicPr>
            <a:picLocks noChangeAspect="1"/>
          </p:cNvPicPr>
          <p:nvPr/>
        </p:nvPicPr>
        <p:blipFill>
          <a:blip r:embed="rId2"/>
          <a:stretch>
            <a:fillRect/>
          </a:stretch>
        </p:blipFill>
        <p:spPr>
          <a:xfrm>
            <a:off x="1336963" y="82665"/>
            <a:ext cx="4184071" cy="2704289"/>
          </a:xfrm>
          <a:prstGeom prst="rect">
            <a:avLst/>
          </a:prstGeom>
        </p:spPr>
      </p:pic>
      <p:sp>
        <p:nvSpPr>
          <p:cNvPr id="5" name="サブタイトル 2">
            <a:extLst>
              <a:ext uri="{FF2B5EF4-FFF2-40B4-BE49-F238E27FC236}">
                <a16:creationId xmlns:a16="http://schemas.microsoft.com/office/drawing/2014/main" id="{39BEE18D-3859-4A81-8C23-53941DDE2B64}"/>
              </a:ext>
            </a:extLst>
          </p:cNvPr>
          <p:cNvSpPr txBox="1">
            <a:spLocks/>
          </p:cNvSpPr>
          <p:nvPr/>
        </p:nvSpPr>
        <p:spPr>
          <a:xfrm>
            <a:off x="3428999" y="2918297"/>
            <a:ext cx="3429000" cy="7840493"/>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900" dirty="0"/>
              <a:t>6. 専門家（Trusted Advisor）を“事前に”選んでおくべき</a:t>
            </a:r>
          </a:p>
          <a:p>
            <a:pPr algn="l"/>
            <a:r>
              <a:rPr lang="ja-JP" altLang="en-US" sz="900" dirty="0"/>
              <a:t>政府機関と連携しながら ICS インシデントを処理するには、</a:t>
            </a:r>
          </a:p>
          <a:p>
            <a:pPr algn="l"/>
            <a:r>
              <a:rPr lang="ja-JP" altLang="en-US" sz="900" dirty="0"/>
              <a:t>専門家の支援がほぼ必須 です。</a:t>
            </a:r>
          </a:p>
          <a:p>
            <a:pPr algn="l"/>
            <a:r>
              <a:rPr lang="ja-JP" altLang="en-US" sz="900" dirty="0"/>
              <a:t>• 	ICS フォレンジック</a:t>
            </a:r>
          </a:p>
          <a:p>
            <a:pPr algn="l"/>
            <a:r>
              <a:rPr lang="ja-JP" altLang="en-US" sz="900" dirty="0"/>
              <a:t>• 	OT ネットワーク</a:t>
            </a:r>
          </a:p>
          <a:p>
            <a:pPr algn="l"/>
            <a:r>
              <a:rPr lang="ja-JP" altLang="en-US" sz="900" dirty="0"/>
              <a:t>• 	PLC/SCADA の挙動</a:t>
            </a:r>
          </a:p>
          <a:p>
            <a:pPr algn="l"/>
            <a:r>
              <a:rPr lang="ja-JP" altLang="en-US" sz="900" dirty="0"/>
              <a:t>• 	規制要件</a:t>
            </a:r>
          </a:p>
          <a:p>
            <a:pPr algn="l"/>
            <a:r>
              <a:rPr lang="ja-JP" altLang="en-US" sz="900" dirty="0"/>
              <a:t>• 	政府との調整</a:t>
            </a:r>
          </a:p>
          <a:p>
            <a:pPr algn="l"/>
            <a:r>
              <a:rPr lang="ja-JP" altLang="en-US" sz="900" dirty="0"/>
              <a:t>これらを理解している人材は非常に少ないため、</a:t>
            </a:r>
          </a:p>
          <a:p>
            <a:pPr algn="l"/>
            <a:r>
              <a:rPr lang="ja-JP" altLang="en-US" sz="900" dirty="0"/>
              <a:t>事前に信頼できる専門家を選定・契約しておくべき です。</a:t>
            </a:r>
          </a:p>
          <a:p>
            <a:pPr algn="l"/>
            <a:r>
              <a:rPr lang="ja-JP" altLang="en-US" sz="900" dirty="0"/>
              <a:t>インシデント発生後に探すのは遅すぎます。</a:t>
            </a:r>
          </a:p>
          <a:p>
            <a:pPr algn="l"/>
            <a:endParaRPr lang="ja-JP" altLang="en-US" sz="900" dirty="0"/>
          </a:p>
          <a:p>
            <a:pPr algn="l"/>
            <a:r>
              <a:rPr lang="ja-JP" altLang="en-US" sz="900" dirty="0"/>
              <a:t>7. ICS インシデント対応は“時間との戦い”</a:t>
            </a:r>
          </a:p>
          <a:p>
            <a:pPr algn="l"/>
            <a:r>
              <a:rPr lang="ja-JP" altLang="en-US" sz="900" dirty="0"/>
              <a:t>上記の問題が積み重なると：</a:t>
            </a:r>
          </a:p>
          <a:p>
            <a:pPr algn="l"/>
            <a:r>
              <a:rPr lang="ja-JP" altLang="en-US" sz="900" dirty="0"/>
              <a:t>• 	意思決定が遅れる</a:t>
            </a:r>
          </a:p>
          <a:p>
            <a:pPr algn="l"/>
            <a:r>
              <a:rPr lang="ja-JP" altLang="en-US" sz="900" dirty="0"/>
              <a:t>• 	調査が遅れる</a:t>
            </a:r>
          </a:p>
          <a:p>
            <a:pPr algn="l"/>
            <a:r>
              <a:rPr lang="ja-JP" altLang="en-US" sz="900" dirty="0"/>
              <a:t>• 	封じ込めが遅れる</a:t>
            </a:r>
          </a:p>
          <a:p>
            <a:pPr algn="l"/>
            <a:r>
              <a:rPr lang="ja-JP" altLang="en-US" sz="900" dirty="0"/>
              <a:t>• 	被害が拡大する</a:t>
            </a:r>
          </a:p>
          <a:p>
            <a:pPr algn="l"/>
            <a:r>
              <a:rPr lang="ja-JP" altLang="en-US" sz="900" dirty="0"/>
              <a:t>だからこそ：</a:t>
            </a:r>
          </a:p>
          <a:p>
            <a:pPr algn="l"/>
            <a:endParaRPr lang="ja-JP" altLang="en-US" sz="900" dirty="0"/>
          </a:p>
          <a:p>
            <a:pPr algn="l"/>
            <a:r>
              <a:rPr lang="ja-JP" altLang="en-US" sz="900" dirty="0"/>
              <a:t>ICS/OT の IR は、準備していないと確実に失敗します。</a:t>
            </a:r>
          </a:p>
          <a:p>
            <a:pPr algn="l"/>
            <a:endParaRPr lang="ja-JP" altLang="en-US" sz="900" dirty="0"/>
          </a:p>
          <a:p>
            <a:pPr algn="l"/>
            <a:r>
              <a:rPr lang="ja-JP" altLang="en-US" sz="900" dirty="0"/>
              <a:t>8. ICS への攻撃は“最新のハッキング技術”ではない</a:t>
            </a:r>
          </a:p>
          <a:p>
            <a:pPr algn="l"/>
            <a:r>
              <a:rPr lang="ja-JP" altLang="en-US" sz="900" dirty="0"/>
              <a:t>メディアは「高度な攻撃」「国家レベルの攻撃」と騒ぎますが、</a:t>
            </a:r>
          </a:p>
          <a:p>
            <a:pPr algn="l"/>
            <a:r>
              <a:rPr lang="ja-JP" altLang="en-US" sz="900" dirty="0"/>
              <a:t>実際には：</a:t>
            </a:r>
          </a:p>
          <a:p>
            <a:pPr algn="l"/>
            <a:endParaRPr lang="ja-JP" altLang="en-US" sz="900" dirty="0"/>
          </a:p>
          <a:p>
            <a:pPr algn="l"/>
            <a:r>
              <a:rPr lang="ja-JP" altLang="en-US" sz="900" dirty="0"/>
              <a:t>理由：</a:t>
            </a:r>
          </a:p>
          <a:p>
            <a:pPr algn="l"/>
            <a:r>
              <a:rPr lang="ja-JP" altLang="en-US" sz="900" dirty="0"/>
              <a:t>• 	ICS 資産は古い OS や古いプロトコルを使っている</a:t>
            </a:r>
          </a:p>
          <a:p>
            <a:pPr algn="l"/>
            <a:r>
              <a:rPr lang="ja-JP" altLang="en-US" sz="900" dirty="0"/>
              <a:t>• 	パッチが当てられない</a:t>
            </a:r>
          </a:p>
          <a:p>
            <a:pPr algn="l"/>
            <a:r>
              <a:rPr lang="ja-JP" altLang="en-US" sz="900" dirty="0"/>
              <a:t>• 	ネットワーク分離が不十分</a:t>
            </a:r>
          </a:p>
          <a:p>
            <a:pPr algn="l"/>
            <a:r>
              <a:rPr lang="ja-JP" altLang="en-US" sz="900" dirty="0"/>
              <a:t>• 	認証が弱い</a:t>
            </a:r>
          </a:p>
          <a:p>
            <a:pPr algn="l"/>
            <a:r>
              <a:rPr lang="ja-JP" altLang="en-US" sz="900" dirty="0"/>
              <a:t>• 	ログがない</a:t>
            </a:r>
          </a:p>
          <a:p>
            <a:pPr algn="l"/>
            <a:r>
              <a:rPr lang="ja-JP" altLang="en-US" sz="900" dirty="0"/>
              <a:t>つまり、</a:t>
            </a:r>
          </a:p>
          <a:p>
            <a:pPr algn="l"/>
            <a:r>
              <a:rPr lang="ja-JP" altLang="en-US" sz="900" dirty="0"/>
              <a:t>高度な攻撃者に対抗するには、まず基本に戻るべき ということです。</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0"/>
            <a:ext cx="6852285" cy="12192000"/>
          </a:xfrm>
        </p:spPr>
        <p:txBody>
          <a:bodyPr>
            <a:normAutofit fontScale="77500" lnSpcReduction="20000"/>
          </a:bodyPr>
          <a:lstStyle/>
          <a:p>
            <a:pPr algn="l"/>
            <a:r>
              <a:rPr lang="ja-JP" altLang="en-US" sz="1400" dirty="0"/>
              <a:t>1. Plan, plan, plan（とにかく計画せよ）</a:t>
            </a:r>
          </a:p>
          <a:p>
            <a:pPr algn="l"/>
            <a:r>
              <a:rPr lang="ja-JP" altLang="en-US" sz="1400" dirty="0"/>
              <a:t>組織全体に効力を持つ IR（インシデント対応）計画を作ること。</a:t>
            </a:r>
          </a:p>
          <a:p>
            <a:pPr algn="l"/>
            <a:r>
              <a:rPr lang="ja-JP" altLang="en-US" sz="1400" dirty="0"/>
              <a:t>- Attack Tree</a:t>
            </a:r>
          </a:p>
          <a:p>
            <a:pPr algn="l"/>
            <a:r>
              <a:rPr lang="ja-JP" altLang="en-US" sz="1400" dirty="0"/>
              <a:t>- Kill Chain</a:t>
            </a:r>
          </a:p>
          <a:p>
            <a:pPr algn="l"/>
            <a:r>
              <a:rPr lang="ja-JP" altLang="en-US" sz="1400" dirty="0"/>
              <a:t>- MITRE ATT&amp;CK</a:t>
            </a:r>
          </a:p>
          <a:p>
            <a:pPr algn="l"/>
            <a:r>
              <a:rPr lang="ja-JP" altLang="en-US" sz="1400" dirty="0"/>
              <a:t>- ICS Kill Chain</a:t>
            </a:r>
          </a:p>
          <a:p>
            <a:pPr algn="l"/>
            <a:r>
              <a:rPr lang="ja-JP" altLang="en-US" sz="1400" dirty="0"/>
              <a:t>- 事業特性に合った判断基準</a:t>
            </a:r>
          </a:p>
          <a:p>
            <a:pPr algn="l"/>
            <a:r>
              <a:rPr lang="ja-JP" altLang="en-US" sz="1400" dirty="0"/>
              <a:t>などを使い、</a:t>
            </a:r>
          </a:p>
          <a:p>
            <a:pPr algn="l"/>
            <a:r>
              <a:rPr lang="ja-JP" altLang="en-US" sz="1400" dirty="0"/>
              <a:t>“誰が、どのタイミングで、何を決めるのか” を明確にする。</a:t>
            </a:r>
          </a:p>
          <a:p>
            <a:pPr algn="l"/>
            <a:r>
              <a:rPr lang="ja-JP" altLang="en-US" sz="1400" dirty="0"/>
              <a:t>重要ポイント：</a:t>
            </a:r>
          </a:p>
          <a:p>
            <a:pPr algn="l"/>
            <a:r>
              <a:rPr lang="ja-JP" altLang="en-US" sz="1400" dirty="0"/>
              <a:t>- 権限を“実際に対応できる人”に与える</a:t>
            </a:r>
          </a:p>
          <a:p>
            <a:pPr algn="l"/>
            <a:r>
              <a:rPr lang="ja-JP" altLang="en-US" sz="1400" dirty="0"/>
              <a:t>- 報告ラインとエスカレーション手順を明確化</a:t>
            </a:r>
          </a:p>
          <a:p>
            <a:pPr algn="l"/>
            <a:r>
              <a:rPr lang="ja-JP" altLang="en-US" sz="1400" dirty="0"/>
              <a:t>- 文書化して全員が理解できるようにする</a:t>
            </a:r>
          </a:p>
          <a:p>
            <a:pPr algn="l"/>
            <a:r>
              <a:rPr lang="ja-JP" altLang="en-US" sz="1400" dirty="0"/>
              <a:t>- そして何より、計画を頻繁にテストすること</a:t>
            </a:r>
          </a:p>
          <a:p>
            <a:pPr algn="l"/>
            <a:r>
              <a:rPr lang="ja-JP" altLang="en-US" sz="1400" dirty="0"/>
              <a:t>ICS/OT の IR 計画は、</a:t>
            </a:r>
          </a:p>
          <a:p>
            <a:pPr algn="l"/>
            <a:r>
              <a:rPr lang="ja-JP" altLang="en-US" sz="1400" dirty="0"/>
              <a:t>机上の計画では意味がない。演習して初めて機能する。</a:t>
            </a:r>
          </a:p>
          <a:p>
            <a:pPr algn="l"/>
            <a:endParaRPr lang="ja-JP" altLang="en-US" sz="1400" dirty="0"/>
          </a:p>
          <a:p>
            <a:pPr algn="l"/>
            <a:r>
              <a:rPr lang="ja-JP" altLang="en-US" sz="1400" dirty="0"/>
              <a:t>2. Spend the money（お金を使え）</a:t>
            </a:r>
          </a:p>
          <a:p>
            <a:pPr algn="l"/>
            <a:r>
              <a:rPr lang="ja-JP" altLang="en-US" sz="1400" dirty="0"/>
              <a:t>ほぼすべてのセキュリティチームは、</a:t>
            </a:r>
          </a:p>
          <a:p>
            <a:pPr algn="l"/>
            <a:r>
              <a:rPr lang="ja-JP" altLang="en-US" sz="1400" dirty="0"/>
              <a:t>「いますぐ改善すべき 5〜10 個の問題」を即答できます。</a:t>
            </a:r>
          </a:p>
          <a:p>
            <a:pPr algn="l"/>
            <a:r>
              <a:rPr lang="ja-JP" altLang="en-US" sz="1400" dirty="0"/>
              <a:t>そして真実はこれ：</a:t>
            </a:r>
          </a:p>
          <a:p>
            <a:pPr algn="l"/>
            <a:r>
              <a:rPr lang="ja-JP" altLang="en-US" sz="1400" dirty="0"/>
              <a:t>インシデント対応は、予防より圧倒的に高くつく。</a:t>
            </a:r>
          </a:p>
          <a:p>
            <a:pPr algn="l"/>
            <a:endParaRPr lang="ja-JP" altLang="en-US" sz="1400" dirty="0"/>
          </a:p>
          <a:p>
            <a:pPr algn="l"/>
            <a:r>
              <a:rPr lang="ja-JP" altLang="en-US" sz="1400" dirty="0"/>
              <a:t>- ログ不足</a:t>
            </a:r>
          </a:p>
          <a:p>
            <a:pPr algn="l"/>
            <a:r>
              <a:rPr lang="ja-JP" altLang="en-US" sz="1400" dirty="0"/>
              <a:t>- 老朽化した機器</a:t>
            </a:r>
          </a:p>
          <a:p>
            <a:pPr algn="l"/>
            <a:r>
              <a:rPr lang="ja-JP" altLang="en-US" sz="1400" dirty="0"/>
              <a:t>- 監視の欠如</a:t>
            </a:r>
          </a:p>
          <a:p>
            <a:pPr algn="l"/>
            <a:r>
              <a:rPr lang="ja-JP" altLang="en-US" sz="1400" dirty="0"/>
              <a:t>- ネットワーク分離の不備</a:t>
            </a:r>
          </a:p>
          <a:p>
            <a:pPr algn="l"/>
            <a:r>
              <a:rPr lang="ja-JP" altLang="en-US" sz="1400" dirty="0"/>
              <a:t>- パッチ未適用</a:t>
            </a:r>
          </a:p>
          <a:p>
            <a:pPr algn="l"/>
            <a:r>
              <a:rPr lang="ja-JP" altLang="en-US" sz="1400" dirty="0"/>
              <a:t>こうした問題を放置すると、</a:t>
            </a:r>
          </a:p>
          <a:p>
            <a:pPr algn="l"/>
            <a:r>
              <a:rPr lang="ja-JP" altLang="en-US" sz="1400" dirty="0"/>
              <a:t>後で莫大なコスト（停止・罰金・復旧費用）を払うことになる。</a:t>
            </a:r>
          </a:p>
          <a:p>
            <a:pPr algn="l"/>
            <a:r>
              <a:rPr lang="ja-JP" altLang="en-US" sz="1400" dirty="0"/>
              <a:t>早く少額を投資する方が、遅く大量に払うよりはるかに良い。</a:t>
            </a:r>
          </a:p>
          <a:p>
            <a:pPr algn="l"/>
            <a:endParaRPr lang="ja-JP" altLang="en-US" sz="1400" dirty="0"/>
          </a:p>
          <a:p>
            <a:pPr algn="l"/>
            <a:r>
              <a:rPr lang="ja-JP" altLang="en-US" sz="1400" dirty="0"/>
              <a:t>3. Be involved（関与せよ）</a:t>
            </a:r>
          </a:p>
          <a:p>
            <a:pPr algn="l"/>
            <a:r>
              <a:rPr lang="ja-JP" altLang="en-US" sz="1400" dirty="0"/>
              <a:t>ICS の世界には多くの情報共有コミュニティがあります。</a:t>
            </a:r>
          </a:p>
          <a:p>
            <a:pPr algn="l"/>
            <a:r>
              <a:rPr lang="ja-JP" altLang="en-US" sz="1400" dirty="0"/>
              <a:t>例：</a:t>
            </a:r>
          </a:p>
          <a:p>
            <a:pPr algn="l"/>
            <a:r>
              <a:rPr lang="ja-JP" altLang="en-US" sz="1400" dirty="0"/>
              <a:t>- ISAC（Information Sharing and Analysis Center）</a:t>
            </a:r>
          </a:p>
          <a:p>
            <a:pPr algn="l"/>
            <a:r>
              <a:rPr lang="ja-JP" altLang="en-US" sz="1400" dirty="0"/>
              <a:t>- ICS‑CERT Advisories</a:t>
            </a:r>
          </a:p>
          <a:p>
            <a:pPr algn="l"/>
            <a:r>
              <a:rPr lang="ja-JP" altLang="en-US" sz="1400" dirty="0"/>
              <a:t>- Vendor Security Bulletins</a:t>
            </a:r>
          </a:p>
          <a:p>
            <a:pPr algn="l"/>
            <a:r>
              <a:rPr lang="ja-JP" altLang="en-US" sz="1400" dirty="0"/>
              <a:t>- OT セキュリティコミュニティ</a:t>
            </a:r>
          </a:p>
          <a:p>
            <a:pPr algn="l"/>
            <a:r>
              <a:rPr lang="ja-JP" altLang="en-US" sz="1400" dirty="0"/>
              <a:t>- 業界の勉強会・ユーザー会</a:t>
            </a:r>
          </a:p>
          <a:p>
            <a:pPr algn="l"/>
            <a:r>
              <a:rPr lang="ja-JP" altLang="en-US" sz="1400" dirty="0"/>
              <a:t>脅威を知っている組織は強い。</a:t>
            </a:r>
          </a:p>
          <a:p>
            <a:pPr algn="l"/>
            <a:r>
              <a:rPr lang="ja-JP" altLang="en-US" sz="1400" dirty="0"/>
              <a:t>オペレーターから CEO まで、</a:t>
            </a:r>
          </a:p>
          <a:p>
            <a:pPr algn="l"/>
            <a:r>
              <a:rPr lang="ja-JP" altLang="en-US" sz="1400" dirty="0"/>
              <a:t>組織全体がリスクを理解している企業は、</a:t>
            </a:r>
          </a:p>
          <a:p>
            <a:pPr algn="l"/>
            <a:r>
              <a:rPr lang="ja-JP" altLang="en-US" sz="1400" dirty="0"/>
              <a:t>インシデント発生時に一丸となって対応できる。</a:t>
            </a:r>
          </a:p>
          <a:p>
            <a:pPr algn="l"/>
            <a:endParaRPr lang="ja-JP" altLang="en-US" sz="1400" dirty="0"/>
          </a:p>
          <a:p>
            <a:pPr algn="l"/>
            <a:r>
              <a:rPr lang="ja-JP" altLang="en-US" sz="1400" dirty="0"/>
              <a:t>4. 最後に：あなたは必ず攻撃される</a:t>
            </a:r>
          </a:p>
          <a:p>
            <a:pPr algn="l"/>
            <a:r>
              <a:rPr lang="ja-JP" altLang="en-US" sz="1400" dirty="0"/>
              <a:t>これは ICS/OT の現実です。</a:t>
            </a:r>
          </a:p>
          <a:p>
            <a:pPr algn="l"/>
            <a:r>
              <a:rPr lang="ja-JP" altLang="en-US" sz="1400" dirty="0"/>
              <a:t>だからこそ：</a:t>
            </a:r>
          </a:p>
          <a:p>
            <a:pPr algn="l"/>
            <a:r>
              <a:rPr lang="ja-JP" altLang="en-US" sz="1400" dirty="0"/>
              <a:t>- セキュリティチームは攻撃レベルを迅速に判断できるツールを持つべき</a:t>
            </a:r>
          </a:p>
          <a:p>
            <a:pPr algn="l"/>
            <a:r>
              <a:rPr lang="ja-JP" altLang="en-US" sz="1400" dirty="0"/>
              <a:t>- 標的型かどうかを見極める訓練が必要</a:t>
            </a:r>
          </a:p>
          <a:p>
            <a:pPr algn="l"/>
            <a:r>
              <a:rPr lang="ja-JP" altLang="en-US" sz="1400" dirty="0"/>
              <a:t>- 経験に勝る学習方法は存在しない</a:t>
            </a:r>
          </a:p>
          <a:p>
            <a:pPr algn="l"/>
            <a:r>
              <a:rPr lang="ja-JP" altLang="en-US" sz="1400" dirty="0"/>
              <a:t>- 人材への投資は最も価値がある</a:t>
            </a:r>
          </a:p>
          <a:p>
            <a:pPr algn="l"/>
            <a:r>
              <a:rPr lang="ja-JP" altLang="en-US" sz="1400" dirty="0"/>
              <a:t>ICS/OT の IR は、</a:t>
            </a:r>
          </a:p>
          <a:p>
            <a:pPr algn="l"/>
            <a:r>
              <a:rPr lang="ja-JP" altLang="en-US" sz="1400" dirty="0"/>
              <a:t>ツールよりも“人”が決定的に重要 です。</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037007"/>
            <a:ext cx="6852285" cy="9064199"/>
          </a:xfrm>
        </p:spPr>
        <p:txBody>
          <a:bodyPr>
            <a:noAutofit/>
          </a:bodyPr>
          <a:lstStyle/>
          <a:p>
            <a:pPr algn="l"/>
            <a:r>
              <a:rPr lang="ja-JP" altLang="en-US" sz="1050" dirty="0"/>
              <a:t>1. GridEx は“高度な分散型 TTX（机上演習）”の代表例</a:t>
            </a:r>
          </a:p>
          <a:p>
            <a:pPr algn="l"/>
            <a:r>
              <a:rPr lang="ja-JP" altLang="en-US" sz="1050" dirty="0"/>
              <a:t>高度な TTX（Advanced TTX）の実例として、</a:t>
            </a:r>
          </a:p>
          <a:p>
            <a:pPr algn="l"/>
            <a:r>
              <a:rPr lang="ja-JP" altLang="en-US" sz="1050" dirty="0"/>
              <a:t>NERC GridEx（北米電力信頼性協議会の大規模演習） が挙げられます。</a:t>
            </a:r>
          </a:p>
          <a:p>
            <a:pPr algn="l"/>
            <a:r>
              <a:rPr lang="ja-JP" altLang="en-US" sz="1050" dirty="0"/>
              <a:t>GridEx は何度も実施されており、</a:t>
            </a:r>
          </a:p>
          <a:p>
            <a:pPr algn="l"/>
            <a:r>
              <a:rPr lang="ja-JP" altLang="en-US" sz="1050" dirty="0"/>
              <a:t>毎回異なる目的（Objective Set） が設定されるため、</a:t>
            </a:r>
          </a:p>
          <a:p>
            <a:pPr algn="l"/>
            <a:r>
              <a:rPr lang="ja-JP" altLang="en-US" sz="1050" dirty="0"/>
              <a:t>単なる繰り返しではなく、毎回新しいシナリオで訓練できます。</a:t>
            </a:r>
          </a:p>
          <a:p>
            <a:pPr algn="l"/>
            <a:endParaRPr lang="ja-JP" altLang="en-US" sz="1050" dirty="0"/>
          </a:p>
          <a:p>
            <a:pPr algn="l"/>
            <a:r>
              <a:rPr lang="ja-JP" altLang="en-US" sz="1050" dirty="0"/>
              <a:t>2. 参加対象は広範囲</a:t>
            </a:r>
          </a:p>
          <a:p>
            <a:pPr algn="l"/>
            <a:r>
              <a:rPr lang="ja-JP" altLang="en-US" sz="1050" dirty="0"/>
              <a:t>GridEx は以下の組織が参加できます：</a:t>
            </a:r>
          </a:p>
          <a:p>
            <a:pPr algn="l"/>
            <a:r>
              <a:rPr lang="ja-JP" altLang="en-US" sz="1050" dirty="0"/>
              <a:t>- NERC に登録している電力事業者</a:t>
            </a:r>
          </a:p>
          <a:p>
            <a:pPr algn="l"/>
            <a:r>
              <a:rPr lang="ja-JP" altLang="en-US" sz="1050" dirty="0"/>
              <a:t>- 一部の政府機関</a:t>
            </a:r>
          </a:p>
          <a:p>
            <a:pPr algn="l"/>
            <a:r>
              <a:rPr lang="ja-JP" altLang="en-US" sz="1050" dirty="0"/>
              <a:t>- ベンダー</a:t>
            </a:r>
          </a:p>
          <a:p>
            <a:pPr algn="l"/>
            <a:r>
              <a:rPr lang="ja-JP" altLang="en-US" sz="1050" dirty="0"/>
              <a:t>- 限定された第三者組織</a:t>
            </a:r>
          </a:p>
          <a:p>
            <a:pPr algn="l"/>
            <a:r>
              <a:rPr lang="ja-JP" altLang="en-US" sz="1050" dirty="0"/>
              <a:t>つまり、電力業界全体を巻き込んだ大規模演習 です。</a:t>
            </a:r>
          </a:p>
          <a:p>
            <a:pPr algn="l"/>
            <a:endParaRPr lang="ja-JP" altLang="en-US" sz="1050" dirty="0"/>
          </a:p>
          <a:p>
            <a:pPr algn="l"/>
            <a:r>
              <a:rPr lang="ja-JP" altLang="en-US" sz="1050" dirty="0"/>
              <a:t>3. 演習は“分散型”で実施される</a:t>
            </a:r>
          </a:p>
          <a:p>
            <a:pPr algn="l"/>
            <a:r>
              <a:rPr lang="ja-JP" altLang="en-US" sz="1050" dirty="0"/>
              <a:t>GridEx は中央集権型ではなく、</a:t>
            </a:r>
          </a:p>
          <a:p>
            <a:pPr algn="l"/>
            <a:r>
              <a:rPr lang="ja-JP" altLang="en-US" sz="1050" dirty="0"/>
              <a:t>分散型（Distributed Play） の演習です。</a:t>
            </a:r>
          </a:p>
          <a:p>
            <a:pPr algn="l"/>
            <a:r>
              <a:rPr lang="ja-JP" altLang="en-US" sz="1050" dirty="0"/>
              <a:t>- 中央には Exercise Control Team（演習統制チーム） が存在し、</a:t>
            </a:r>
          </a:p>
          <a:p>
            <a:pPr algn="l"/>
            <a:r>
              <a:rPr lang="ja-JP" altLang="en-US" sz="1050" dirty="0"/>
              <a:t>- シナリオの“インジェクト（Inject）”を配信</a:t>
            </a:r>
          </a:p>
          <a:p>
            <a:pPr algn="l"/>
            <a:r>
              <a:rPr lang="ja-JP" altLang="en-US" sz="1050" dirty="0"/>
              <a:t>- 全体のコミュニケーションを管理</a:t>
            </a:r>
          </a:p>
          <a:p>
            <a:pPr algn="l"/>
            <a:r>
              <a:rPr lang="ja-JP" altLang="en-US" sz="1050" dirty="0"/>
              <a:t>- 参加組織（Entity）は、</a:t>
            </a:r>
          </a:p>
          <a:p>
            <a:pPr algn="l"/>
            <a:r>
              <a:rPr lang="ja-JP" altLang="en-US" sz="1050" dirty="0"/>
              <a:t>- 自分たちの職場</a:t>
            </a:r>
          </a:p>
          <a:p>
            <a:pPr algn="l"/>
            <a:r>
              <a:rPr lang="ja-JP" altLang="en-US" sz="1050" dirty="0"/>
              <a:t>- または 自社の会議室</a:t>
            </a:r>
          </a:p>
          <a:p>
            <a:pPr algn="l"/>
            <a:r>
              <a:rPr lang="ja-JP" altLang="en-US" sz="1050" dirty="0"/>
              <a:t>で演習を実施します。</a:t>
            </a:r>
          </a:p>
          <a:p>
            <a:pPr algn="l"/>
            <a:r>
              <a:rPr lang="ja-JP" altLang="en-US" sz="1050" dirty="0"/>
              <a:t>つまり、</a:t>
            </a:r>
          </a:p>
          <a:p>
            <a:pPr algn="l"/>
            <a:r>
              <a:rPr lang="ja-JP" altLang="en-US" sz="1050" dirty="0"/>
              <a:t>実際の業務環境に近い状態で訓練できる のが特徴です。</a:t>
            </a:r>
          </a:p>
          <a:p>
            <a:pPr algn="l"/>
            <a:endParaRPr lang="ja-JP" altLang="en-US" sz="1050" dirty="0"/>
          </a:p>
          <a:p>
            <a:pPr algn="l"/>
            <a:r>
              <a:rPr lang="ja-JP" altLang="en-US" sz="1050" dirty="0"/>
              <a:t>4. 参加規模は年々拡大</a:t>
            </a:r>
          </a:p>
          <a:p>
            <a:pPr algn="l"/>
            <a:r>
              <a:rPr lang="ja-JP" altLang="en-US" sz="1050" dirty="0"/>
              <a:t>GridEx は年々規模が拡大しており：</a:t>
            </a:r>
          </a:p>
          <a:p>
            <a:pPr algn="l"/>
            <a:r>
              <a:rPr lang="ja-JP" altLang="en-US" sz="1050" dirty="0"/>
              <a:t>- 364 を超える組織</a:t>
            </a:r>
          </a:p>
          <a:p>
            <a:pPr algn="l"/>
            <a:r>
              <a:rPr lang="ja-JP" altLang="en-US" sz="1050" dirty="0"/>
              <a:t>- 4,400 人以上の参加者</a:t>
            </a:r>
          </a:p>
          <a:p>
            <a:pPr algn="l"/>
            <a:r>
              <a:rPr lang="ja-JP" altLang="en-US" sz="1050" dirty="0"/>
              <a:t>という巨大な演習になっています。</a:t>
            </a:r>
          </a:p>
          <a:p>
            <a:pPr algn="l"/>
            <a:r>
              <a:rPr lang="ja-JP" altLang="en-US" sz="1050" dirty="0"/>
              <a:t>これは、</a:t>
            </a:r>
          </a:p>
          <a:p>
            <a:pPr algn="l"/>
            <a:r>
              <a:rPr lang="ja-JP" altLang="en-US" sz="1050" dirty="0"/>
              <a:t>電力インフラのサイバー・物理リスクが増大していること</a:t>
            </a:r>
          </a:p>
          <a:p>
            <a:pPr algn="l"/>
            <a:r>
              <a:rPr lang="ja-JP" altLang="en-US" sz="1050" dirty="0"/>
              <a:t>業界全体での協力が不可欠であること</a:t>
            </a:r>
          </a:p>
          <a:p>
            <a:pPr algn="l"/>
            <a:r>
              <a:rPr lang="ja-JP" altLang="en-US" sz="1050" dirty="0"/>
              <a:t>を示しています。</a:t>
            </a:r>
          </a:p>
          <a:p>
            <a:pPr algn="l"/>
            <a:endParaRPr lang="ja-JP" altLang="en-US" sz="1050" dirty="0"/>
          </a:p>
          <a:p>
            <a:pPr algn="l"/>
            <a:endParaRPr lang="ja-JP" altLang="en-US" sz="1050" dirty="0"/>
          </a:p>
        </p:txBody>
      </p:sp>
      <p:pic>
        <p:nvPicPr>
          <p:cNvPr id="4" name="図 3">
            <a:extLst>
              <a:ext uri="{FF2B5EF4-FFF2-40B4-BE49-F238E27FC236}">
                <a16:creationId xmlns:a16="http://schemas.microsoft.com/office/drawing/2014/main" id="{D95F6922-E34F-45FF-BBFA-106821035ADB}"/>
              </a:ext>
            </a:extLst>
          </p:cNvPr>
          <p:cNvPicPr>
            <a:picLocks noChangeAspect="1"/>
          </p:cNvPicPr>
          <p:nvPr/>
        </p:nvPicPr>
        <p:blipFill>
          <a:blip r:embed="rId2"/>
          <a:stretch>
            <a:fillRect/>
          </a:stretch>
        </p:blipFill>
        <p:spPr>
          <a:xfrm>
            <a:off x="891237" y="58365"/>
            <a:ext cx="5075525" cy="289560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259483"/>
            <a:ext cx="6852285" cy="8822267"/>
          </a:xfrm>
        </p:spPr>
        <p:txBody>
          <a:bodyPr>
            <a:normAutofit fontScale="75000" lnSpcReduction="20000"/>
          </a:bodyPr>
          <a:lstStyle/>
          <a:p>
            <a:pPr algn="l"/>
            <a:r>
              <a:rPr lang="ja-JP" altLang="en-US" sz="1400" dirty="0"/>
              <a:t>1. E‑ISAC は NERC 登録組織に対して CRPA を実施する</a:t>
            </a:r>
          </a:p>
          <a:p>
            <a:pPr algn="l"/>
            <a:r>
              <a:rPr lang="ja-JP" altLang="en-US" sz="1400" dirty="0"/>
              <a:t>E‑ISAC（Electricity ISAC）は、</a:t>
            </a:r>
          </a:p>
          <a:p>
            <a:pPr algn="l"/>
            <a:r>
              <a:rPr lang="ja-JP" altLang="en-US" sz="1400" dirty="0"/>
              <a:t>NERC（北米電力信頼性協議会）に登録している電力事業者 を対象に</a:t>
            </a:r>
          </a:p>
          <a:p>
            <a:pPr algn="l"/>
            <a:r>
              <a:rPr lang="ja-JP" altLang="en-US" sz="1400" dirty="0"/>
              <a:t>CRPA（Cyber Risk Preparedness Assessment） を実施します。</a:t>
            </a:r>
          </a:p>
          <a:p>
            <a:pPr algn="l"/>
            <a:r>
              <a:rPr lang="ja-JP" altLang="en-US" sz="1400" dirty="0"/>
              <a:t>目的は：</a:t>
            </a:r>
          </a:p>
          <a:p>
            <a:pPr algn="l"/>
            <a:r>
              <a:rPr lang="ja-JP" altLang="en-US" sz="1400" dirty="0"/>
              <a:t>- 組織のサイバー対応能力を評価する</a:t>
            </a:r>
          </a:p>
          <a:p>
            <a:pPr algn="l"/>
            <a:r>
              <a:rPr lang="ja-JP" altLang="en-US" sz="1400" dirty="0"/>
              <a:t>- 電力系統（Bulk Power System：BPS）のサイバー・レジリエンスを測る</a:t>
            </a:r>
          </a:p>
          <a:p>
            <a:pPr algn="l"/>
            <a:r>
              <a:rPr lang="ja-JP" altLang="en-US" sz="1400" dirty="0"/>
              <a:t>- 現行の信頼性メカニズムがサイバー脅威に十分かどうか確認する</a:t>
            </a:r>
          </a:p>
          <a:p>
            <a:pPr algn="l"/>
            <a:r>
              <a:rPr lang="ja-JP" altLang="en-US" sz="1400" dirty="0"/>
              <a:t>- 改善すべき領域を特定する</a:t>
            </a:r>
          </a:p>
          <a:p>
            <a:pPr algn="l"/>
            <a:r>
              <a:rPr lang="ja-JP" altLang="en-US" sz="1400" dirty="0"/>
              <a:t>- 業界全体で共有すべき“成功事例（Best Practices）”を見つける</a:t>
            </a:r>
          </a:p>
          <a:p>
            <a:pPr algn="l"/>
            <a:r>
              <a:rPr lang="ja-JP" altLang="en-US" sz="1400" dirty="0"/>
              <a:t>つまり、電力インフラ全体のサイバー防御力を底上げするための評価 です。</a:t>
            </a:r>
          </a:p>
          <a:p>
            <a:pPr algn="l"/>
            <a:endParaRPr lang="ja-JP" altLang="en-US" sz="1400" dirty="0"/>
          </a:p>
          <a:p>
            <a:pPr algn="l"/>
            <a:r>
              <a:rPr lang="ja-JP" altLang="en-US" sz="1400" dirty="0"/>
              <a:t>2. CRPA は“ファシリテートされた TTX（机上演習）”として実施される</a:t>
            </a:r>
          </a:p>
          <a:p>
            <a:pPr algn="l"/>
            <a:r>
              <a:rPr lang="ja-JP" altLang="en-US" sz="1400" dirty="0"/>
              <a:t>CRPA は、</a:t>
            </a:r>
          </a:p>
          <a:p>
            <a:pPr algn="l"/>
            <a:r>
              <a:rPr lang="ja-JP" altLang="en-US" sz="1400" dirty="0"/>
              <a:t>ファシリテーター（進行役）がつく TTX（Tabletop Exercise）形式 で行われます。</a:t>
            </a:r>
          </a:p>
          <a:p>
            <a:pPr algn="l"/>
            <a:r>
              <a:rPr lang="ja-JP" altLang="en-US" sz="1400" dirty="0"/>
              <a:t>シナリオは、組織が以下の能力を評価できるように設計されています：</a:t>
            </a:r>
          </a:p>
          <a:p>
            <a:pPr algn="l"/>
            <a:r>
              <a:rPr lang="ja-JP" altLang="en-US" sz="1400" dirty="0"/>
              <a:t>● サイバー攻撃を検知できるか（Detect）</a:t>
            </a:r>
          </a:p>
          <a:p>
            <a:pPr algn="l"/>
            <a:r>
              <a:rPr lang="ja-JP" altLang="en-US" sz="1400" dirty="0"/>
              <a:t>ログ、監視、アラート、SOC の能力など。</a:t>
            </a:r>
          </a:p>
          <a:p>
            <a:pPr algn="l"/>
            <a:r>
              <a:rPr lang="ja-JP" altLang="en-US" sz="1400" dirty="0"/>
              <a:t>● サイバー攻撃を防止できるか（Prevent）</a:t>
            </a:r>
          </a:p>
          <a:p>
            <a:pPr algn="l"/>
            <a:r>
              <a:rPr lang="ja-JP" altLang="en-US" sz="1400" dirty="0"/>
              <a:t>ネットワーク分離、アクセス制御、パッチ管理など。</a:t>
            </a:r>
          </a:p>
          <a:p>
            <a:pPr algn="l"/>
            <a:r>
              <a:rPr lang="ja-JP" altLang="en-US" sz="1400" dirty="0"/>
              <a:t>● サイバー攻撃に対応できるか（Respond）</a:t>
            </a:r>
          </a:p>
          <a:p>
            <a:pPr algn="l"/>
            <a:r>
              <a:rPr lang="ja-JP" altLang="en-US" sz="1400" dirty="0"/>
              <a:t>封じ込め、根絶、復旧、IR 手順の実行。</a:t>
            </a:r>
          </a:p>
          <a:p>
            <a:pPr algn="l"/>
            <a:r>
              <a:rPr lang="ja-JP" altLang="en-US" sz="1400" dirty="0"/>
              <a:t>● 電力資産を安全に管理し、被害を最小化できるか</a:t>
            </a:r>
          </a:p>
          <a:p>
            <a:pPr algn="l"/>
            <a:r>
              <a:rPr lang="ja-JP" altLang="en-US" sz="1400" dirty="0"/>
              <a:t>SCADA、EMS、保護リレー、通信ネットワークの管理。</a:t>
            </a:r>
          </a:p>
          <a:p>
            <a:pPr algn="l"/>
            <a:r>
              <a:rPr lang="ja-JP" altLang="en-US" sz="1400" dirty="0"/>
              <a:t>● 隣接組織や信頼性コーディネータと連携できるか</a:t>
            </a:r>
          </a:p>
          <a:p>
            <a:pPr algn="l"/>
            <a:r>
              <a:rPr lang="ja-JP" altLang="en-US" sz="1400" dirty="0"/>
              <a:t>電力は相互接続されているため、連携が最重要。</a:t>
            </a:r>
          </a:p>
          <a:p>
            <a:pPr algn="l"/>
            <a:r>
              <a:rPr lang="ja-JP" altLang="en-US" sz="1400" dirty="0"/>
              <a:t>● 地方・連邦政府と適切に連携できるか</a:t>
            </a:r>
          </a:p>
          <a:p>
            <a:pPr algn="l"/>
            <a:r>
              <a:rPr lang="ja-JP" altLang="en-US" sz="1400" dirty="0"/>
              <a:t>FBI、DOE、ICS‑CERT などとの調整。</a:t>
            </a:r>
          </a:p>
          <a:p>
            <a:pPr algn="l"/>
            <a:r>
              <a:rPr lang="ja-JP" altLang="en-US" sz="1400" dirty="0"/>
              <a:t>これらは、電力インフラのサイバー対応に必要な“6つの柱”です。</a:t>
            </a:r>
          </a:p>
          <a:p>
            <a:pPr algn="l"/>
            <a:endParaRPr lang="ja-JP" altLang="en-US" sz="1400" dirty="0"/>
          </a:p>
          <a:p>
            <a:pPr algn="l"/>
            <a:r>
              <a:rPr lang="ja-JP" altLang="en-US" sz="1400" dirty="0"/>
              <a:t>3. E‑ISAC は“スターターキット”を提供している</a:t>
            </a:r>
          </a:p>
          <a:p>
            <a:pPr algn="l"/>
            <a:r>
              <a:rPr lang="ja-JP" altLang="en-US" sz="1400" dirty="0"/>
              <a:t>NERC E‑ISAC は、</a:t>
            </a:r>
          </a:p>
          <a:p>
            <a:pPr algn="l"/>
            <a:r>
              <a:rPr lang="ja-JP" altLang="en-US" sz="1400" dirty="0"/>
              <a:t>組織が自分たちで演習（ドリル）を実施できるように、スターターキットを提供 しています。</a:t>
            </a:r>
          </a:p>
          <a:p>
            <a:pPr algn="l"/>
            <a:r>
              <a:rPr lang="ja-JP" altLang="en-US" sz="1400" dirty="0"/>
              <a:t>内容例：</a:t>
            </a:r>
          </a:p>
          <a:p>
            <a:pPr algn="l"/>
            <a:r>
              <a:rPr lang="ja-JP" altLang="en-US" sz="1400" dirty="0"/>
              <a:t>- シナリオテンプレート</a:t>
            </a:r>
          </a:p>
          <a:p>
            <a:pPr algn="l"/>
            <a:r>
              <a:rPr lang="ja-JP" altLang="en-US" sz="1400" dirty="0"/>
              <a:t>- 進行ガイド</a:t>
            </a:r>
          </a:p>
          <a:p>
            <a:pPr algn="l"/>
            <a:r>
              <a:rPr lang="ja-JP" altLang="en-US" sz="1400" dirty="0"/>
              <a:t>- ロール（役割）定義</a:t>
            </a:r>
          </a:p>
          <a:p>
            <a:pPr algn="l"/>
            <a:r>
              <a:rPr lang="ja-JP" altLang="en-US" sz="1400" dirty="0"/>
              <a:t>- 評価基準</a:t>
            </a:r>
          </a:p>
          <a:p>
            <a:pPr algn="l"/>
            <a:r>
              <a:rPr lang="ja-JP" altLang="en-US" sz="1400" dirty="0"/>
              <a:t>- 報告書テンプレート</a:t>
            </a:r>
          </a:p>
          <a:p>
            <a:pPr algn="l"/>
            <a:r>
              <a:rPr lang="ja-JP" altLang="en-US" sz="1400" dirty="0"/>
              <a:t>つまり、自社版 GridEx のような演習を自分たちで実施できる ようになるツールセットです。</a:t>
            </a:r>
          </a:p>
        </p:txBody>
      </p:sp>
      <p:pic>
        <p:nvPicPr>
          <p:cNvPr id="4" name="図 3">
            <a:extLst>
              <a:ext uri="{FF2B5EF4-FFF2-40B4-BE49-F238E27FC236}">
                <a16:creationId xmlns:a16="http://schemas.microsoft.com/office/drawing/2014/main" id="{FF33622E-17ED-4DF1-A260-6A686F3ACE0B}"/>
              </a:ext>
            </a:extLst>
          </p:cNvPr>
          <p:cNvPicPr>
            <a:picLocks noChangeAspect="1"/>
          </p:cNvPicPr>
          <p:nvPr/>
        </p:nvPicPr>
        <p:blipFill>
          <a:blip r:embed="rId2"/>
          <a:stretch>
            <a:fillRect/>
          </a:stretch>
        </p:blipFill>
        <p:spPr>
          <a:xfrm>
            <a:off x="754780" y="77820"/>
            <a:ext cx="5348439" cy="3064933"/>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125456"/>
            <a:ext cx="3429000" cy="8991600"/>
          </a:xfrm>
        </p:spPr>
        <p:txBody>
          <a:bodyPr>
            <a:noAutofit/>
          </a:bodyPr>
          <a:lstStyle/>
          <a:p>
            <a:pPr algn="l"/>
            <a:r>
              <a:rPr lang="ja-JP" altLang="en-US" sz="1000" dirty="0"/>
              <a:t>1. インシデントが起きてから IR 計画を開くようでは遅すぎる</a:t>
            </a:r>
          </a:p>
          <a:p>
            <a:pPr algn="l"/>
            <a:r>
              <a:rPr lang="ja-JP" altLang="en-US" sz="1000" dirty="0"/>
              <a:t>もし IRP（Incident Response Plan）や</a:t>
            </a:r>
          </a:p>
          <a:p>
            <a:pPr algn="l"/>
            <a:r>
              <a:rPr lang="ja-JP" altLang="en-US" sz="1000" dirty="0"/>
              <a:t>通信・通知計画を インシデント発生時に初めて開く ようでは、</a:t>
            </a:r>
          </a:p>
          <a:p>
            <a:pPr algn="l"/>
            <a:r>
              <a:rPr lang="ja-JP" altLang="en-US" sz="1000" dirty="0"/>
              <a:t>適切な対応はまずできません。</a:t>
            </a:r>
          </a:p>
          <a:p>
            <a:pPr algn="l"/>
            <a:r>
              <a:rPr lang="ja-JP" altLang="en-US" sz="1000" dirty="0"/>
              <a:t>これはスポーツ選手と同じで：</a:t>
            </a:r>
          </a:p>
          <a:p>
            <a:pPr algn="l"/>
            <a:endParaRPr lang="ja-JP" altLang="en-US" sz="1000" dirty="0"/>
          </a:p>
          <a:p>
            <a:pPr algn="l"/>
            <a:endParaRPr lang="ja-JP" altLang="en-US" sz="1000" dirty="0"/>
          </a:p>
          <a:p>
            <a:pPr algn="l"/>
            <a:r>
              <a:rPr lang="ja-JP" altLang="en-US" sz="1000" dirty="0"/>
              <a:t>2. 演習は“何をすべきか”だけでなく“何をしてはいけないか”も教えてくれる</a:t>
            </a:r>
          </a:p>
          <a:p>
            <a:pPr algn="l"/>
            <a:r>
              <a:rPr lang="ja-JP" altLang="en-US" sz="1000" dirty="0"/>
              <a:t>演習（TTX や実動演習）を行うことで：</a:t>
            </a:r>
          </a:p>
          <a:p>
            <a:pPr algn="l"/>
            <a:r>
              <a:rPr lang="ja-JP" altLang="en-US" sz="1000" dirty="0"/>
              <a:t>• 	重要イベントを素早く識別する能力が向上</a:t>
            </a:r>
          </a:p>
          <a:p>
            <a:pPr algn="l"/>
            <a:r>
              <a:rPr lang="ja-JP" altLang="en-US" sz="1000" dirty="0"/>
              <a:t>• 	プレイヤーが取るべき行動を学べる</a:t>
            </a:r>
          </a:p>
          <a:p>
            <a:pPr algn="l"/>
            <a:r>
              <a:rPr lang="ja-JP" altLang="en-US" sz="1000" dirty="0"/>
              <a:t>• 	やってはいけない行動 を理解できる（これが非常に重要）</a:t>
            </a:r>
          </a:p>
          <a:p>
            <a:pPr algn="l"/>
            <a:r>
              <a:rPr lang="ja-JP" altLang="en-US" sz="1000" dirty="0"/>
              <a:t>ICS/OT では誤った行動が 物理的事故 に直結するため、</a:t>
            </a:r>
          </a:p>
          <a:p>
            <a:pPr algn="l"/>
            <a:r>
              <a:rPr lang="ja-JP" altLang="en-US" sz="1000" dirty="0"/>
              <a:t>“何をしてはいけないか”の訓練は特に重要です。</a:t>
            </a:r>
          </a:p>
          <a:p>
            <a:pPr algn="l"/>
            <a:endParaRPr lang="ja-JP" altLang="en-US" sz="1000" dirty="0"/>
          </a:p>
          <a:p>
            <a:pPr algn="l"/>
            <a:r>
              <a:rPr lang="ja-JP" altLang="en-US" sz="1000" dirty="0"/>
              <a:t>3. 成熟したリスク評価（Risk Assessment）は演習の基盤になる</a:t>
            </a:r>
          </a:p>
          <a:p>
            <a:pPr algn="l"/>
            <a:r>
              <a:rPr lang="ja-JP" altLang="en-US" sz="1000" dirty="0"/>
              <a:t>多くの組織は、</a:t>
            </a:r>
          </a:p>
          <a:p>
            <a:pPr algn="l"/>
            <a:r>
              <a:rPr lang="ja-JP" altLang="en-US" sz="1000" dirty="0"/>
              <a:t>運用環境に対するリスク評価プロセスを持っています。</a:t>
            </a:r>
          </a:p>
          <a:p>
            <a:pPr algn="l"/>
            <a:r>
              <a:rPr lang="ja-JP" altLang="en-US" sz="1000" dirty="0"/>
              <a:t>成熟したリスク評価は：</a:t>
            </a:r>
          </a:p>
          <a:p>
            <a:pPr algn="l"/>
            <a:r>
              <a:rPr lang="ja-JP" altLang="en-US" sz="1000" dirty="0"/>
              <a:t>• 	運用部門</a:t>
            </a:r>
          </a:p>
          <a:p>
            <a:pPr algn="l"/>
            <a:r>
              <a:rPr lang="ja-JP" altLang="en-US" sz="1000" dirty="0"/>
              <a:t>• 	それを支える他部門（IT、設備、サプライチェーンなど）</a:t>
            </a:r>
          </a:p>
          <a:p>
            <a:pPr algn="l"/>
            <a:r>
              <a:rPr lang="ja-JP" altLang="en-US" sz="1000" dirty="0"/>
              <a:t>を巻き込んで実施されます。</a:t>
            </a:r>
          </a:p>
          <a:p>
            <a:pPr algn="l"/>
            <a:r>
              <a:rPr lang="ja-JP" altLang="en-US" sz="1000" dirty="0"/>
              <a:t>高度な演習シナリオを作ると、</a:t>
            </a:r>
          </a:p>
          <a:p>
            <a:pPr algn="l"/>
            <a:r>
              <a:rPr lang="ja-JP" altLang="en-US" sz="1000" dirty="0"/>
              <a:t>事前のリスク評価が妥当だったかどうかを再検証できる のがポイントです。</a:t>
            </a:r>
          </a:p>
          <a:p>
            <a:pPr algn="l"/>
            <a:endParaRPr lang="ja-JP" altLang="en-US" sz="1000" dirty="0"/>
          </a:p>
          <a:p>
            <a:pPr algn="l"/>
            <a:r>
              <a:rPr lang="ja-JP" altLang="en-US" sz="1000" dirty="0"/>
              <a:t>4. 演習を通じて“必要な追加防御”が見えてくる</a:t>
            </a:r>
          </a:p>
          <a:p>
            <a:pPr algn="l"/>
            <a:r>
              <a:rPr lang="ja-JP" altLang="en-US" sz="1000" dirty="0"/>
              <a:t>演習で封じ込め・根絶・復旧を試すと：</a:t>
            </a:r>
          </a:p>
          <a:p>
            <a:pPr algn="l"/>
            <a:r>
              <a:rPr lang="ja-JP" altLang="en-US" sz="1000" dirty="0"/>
              <a:t>• 	追加の防御層が必要</a:t>
            </a:r>
          </a:p>
          <a:p>
            <a:pPr algn="l"/>
            <a:r>
              <a:rPr lang="ja-JP" altLang="en-US" sz="1000" dirty="0"/>
              <a:t>• 	新しいツールが必要</a:t>
            </a:r>
          </a:p>
          <a:p>
            <a:pPr algn="l"/>
            <a:r>
              <a:rPr lang="ja-JP" altLang="en-US" sz="1000" dirty="0"/>
              <a:t>• 	手順の改善が必要</a:t>
            </a:r>
          </a:p>
          <a:p>
            <a:pPr algn="l"/>
            <a:r>
              <a:rPr lang="ja-JP" altLang="en-US" sz="1000" dirty="0"/>
              <a:t>といった 改善点が自然に浮き彫りになる。</a:t>
            </a:r>
          </a:p>
          <a:p>
            <a:pPr algn="l"/>
            <a:r>
              <a:rPr lang="ja-JP" altLang="en-US" sz="1000" dirty="0"/>
              <a:t>また、</a:t>
            </a:r>
          </a:p>
          <a:p>
            <a:pPr algn="l"/>
            <a:r>
              <a:rPr lang="ja-JP" altLang="en-US" sz="1000" dirty="0"/>
              <a:t>部門間の依存関係（Interdependency） が明確になり、</a:t>
            </a:r>
          </a:p>
          <a:p>
            <a:pPr algn="l"/>
            <a:r>
              <a:rPr lang="ja-JP" altLang="en-US" sz="1000" dirty="0"/>
              <a:t>「この部門も IR のステークホルダーだったのか」</a:t>
            </a:r>
          </a:p>
          <a:p>
            <a:pPr algn="l"/>
            <a:r>
              <a:rPr lang="ja-JP" altLang="en-US" sz="1000" dirty="0"/>
              <a:t>という気づきが得られます。</a:t>
            </a:r>
          </a:p>
          <a:p>
            <a:pPr algn="l"/>
            <a:endParaRPr lang="ja-JP" altLang="en-US" sz="1000" dirty="0"/>
          </a:p>
        </p:txBody>
      </p:sp>
      <p:pic>
        <p:nvPicPr>
          <p:cNvPr id="4" name="図 3">
            <a:extLst>
              <a:ext uri="{FF2B5EF4-FFF2-40B4-BE49-F238E27FC236}">
                <a16:creationId xmlns:a16="http://schemas.microsoft.com/office/drawing/2014/main" id="{5CA51827-8CF9-44B6-87F6-3C6E09D46782}"/>
              </a:ext>
            </a:extLst>
          </p:cNvPr>
          <p:cNvPicPr>
            <a:picLocks noChangeAspect="1"/>
          </p:cNvPicPr>
          <p:nvPr/>
        </p:nvPicPr>
        <p:blipFill>
          <a:blip r:embed="rId2"/>
          <a:stretch>
            <a:fillRect/>
          </a:stretch>
        </p:blipFill>
        <p:spPr>
          <a:xfrm>
            <a:off x="1162454" y="38910"/>
            <a:ext cx="4533090" cy="3036462"/>
          </a:xfrm>
          <a:prstGeom prst="rect">
            <a:avLst/>
          </a:prstGeom>
        </p:spPr>
      </p:pic>
      <p:sp>
        <p:nvSpPr>
          <p:cNvPr id="5" name="サブタイトル 2">
            <a:extLst>
              <a:ext uri="{FF2B5EF4-FFF2-40B4-BE49-F238E27FC236}">
                <a16:creationId xmlns:a16="http://schemas.microsoft.com/office/drawing/2014/main" id="{02BD8985-0F67-49EF-8A4A-1CB8F39500BB}"/>
              </a:ext>
            </a:extLst>
          </p:cNvPr>
          <p:cNvSpPr txBox="1">
            <a:spLocks/>
          </p:cNvSpPr>
          <p:nvPr/>
        </p:nvSpPr>
        <p:spPr>
          <a:xfrm>
            <a:off x="3429000" y="3125456"/>
            <a:ext cx="3429000" cy="8187638"/>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000" dirty="0"/>
              <a:t>5. Cross-BU（部門横断）の連携は ICS/OT では必須</a:t>
            </a:r>
          </a:p>
          <a:p>
            <a:pPr algn="l"/>
            <a:r>
              <a:rPr lang="ja-JP" altLang="en-US" sz="1000" dirty="0"/>
              <a:t>インシデント対応には、</a:t>
            </a:r>
          </a:p>
          <a:p>
            <a:pPr algn="l"/>
            <a:r>
              <a:rPr lang="ja-JP" altLang="en-US" sz="1000" dirty="0"/>
              <a:t>以下のような広範囲の部門が関わります：</a:t>
            </a:r>
          </a:p>
          <a:p>
            <a:pPr algn="l"/>
            <a:r>
              <a:rPr lang="ja-JP" altLang="en-US" sz="1000" dirty="0"/>
              <a:t>• 	経営層（C-suite）</a:t>
            </a:r>
          </a:p>
          <a:p>
            <a:pPr algn="l"/>
            <a:r>
              <a:rPr lang="ja-JP" altLang="en-US" sz="1000" dirty="0"/>
              <a:t>• 	広報（Public Affairs）</a:t>
            </a:r>
          </a:p>
          <a:p>
            <a:pPr algn="l"/>
            <a:r>
              <a:rPr lang="ja-JP" altLang="en-US" sz="1000" dirty="0"/>
              <a:t>• 	IT</a:t>
            </a:r>
          </a:p>
          <a:p>
            <a:pPr algn="l"/>
            <a:r>
              <a:rPr lang="ja-JP" altLang="en-US" sz="1000" dirty="0"/>
              <a:t>• 	OT / Operations</a:t>
            </a:r>
          </a:p>
          <a:p>
            <a:pPr algn="l"/>
            <a:r>
              <a:rPr lang="ja-JP" altLang="en-US" sz="1000" dirty="0"/>
              <a:t>• 	法務</a:t>
            </a:r>
          </a:p>
          <a:p>
            <a:pPr algn="l"/>
            <a:r>
              <a:rPr lang="ja-JP" altLang="en-US" sz="1000" dirty="0"/>
              <a:t>• 	コーポレートコミュニケーション</a:t>
            </a:r>
          </a:p>
          <a:p>
            <a:pPr algn="l"/>
            <a:r>
              <a:rPr lang="ja-JP" altLang="en-US" sz="1000" dirty="0"/>
              <a:t>• 	顧客対応</a:t>
            </a:r>
          </a:p>
          <a:p>
            <a:pPr algn="l"/>
            <a:r>
              <a:rPr lang="ja-JP" altLang="en-US" sz="1000" dirty="0"/>
              <a:t>• 	リスク委員会</a:t>
            </a:r>
          </a:p>
          <a:p>
            <a:pPr algn="l"/>
            <a:r>
              <a:rPr lang="ja-JP" altLang="en-US" sz="1000" dirty="0"/>
              <a:t>• 	コンプライアンス</a:t>
            </a:r>
          </a:p>
          <a:p>
            <a:pPr algn="l"/>
            <a:r>
              <a:rPr lang="ja-JP" altLang="en-US" sz="1000" dirty="0"/>
              <a:t>• 	規制当局</a:t>
            </a:r>
          </a:p>
          <a:p>
            <a:pPr algn="l"/>
            <a:r>
              <a:rPr lang="ja-JP" altLang="en-US" sz="1000" dirty="0"/>
              <a:t>• 	ベンダー</a:t>
            </a:r>
          </a:p>
          <a:p>
            <a:pPr algn="l"/>
            <a:r>
              <a:rPr lang="ja-JP" altLang="en-US" sz="1000" dirty="0"/>
              <a:t>• 	サプライチェーン</a:t>
            </a:r>
          </a:p>
          <a:p>
            <a:pPr algn="l"/>
            <a:r>
              <a:rPr lang="ja-JP" altLang="en-US" sz="1000" dirty="0"/>
              <a:t>• 	施設管理</a:t>
            </a:r>
          </a:p>
          <a:p>
            <a:pPr algn="l"/>
            <a:r>
              <a:rPr lang="ja-JP" altLang="en-US" sz="1000" dirty="0"/>
              <a:t>• 	物理セキュリティ</a:t>
            </a:r>
          </a:p>
          <a:p>
            <a:pPr algn="l"/>
            <a:r>
              <a:rPr lang="ja-JP" altLang="en-US" sz="1000" dirty="0"/>
              <a:t>• 	法執行機関</a:t>
            </a:r>
          </a:p>
          <a:p>
            <a:pPr algn="l"/>
            <a:r>
              <a:rPr lang="ja-JP" altLang="en-US" sz="1000" dirty="0"/>
              <a:t>ICS/OT のインシデントは、</a:t>
            </a:r>
          </a:p>
          <a:p>
            <a:pPr algn="l"/>
            <a:r>
              <a:rPr lang="ja-JP" altLang="en-US" sz="1000" dirty="0"/>
              <a:t>技術だけで解決できる問題ではない ため、</a:t>
            </a:r>
          </a:p>
          <a:p>
            <a:pPr algn="l"/>
            <a:r>
              <a:rPr lang="ja-JP" altLang="en-US" sz="1000" dirty="0"/>
              <a:t>この“広範囲の連携”が不可欠です。</a:t>
            </a:r>
          </a:p>
          <a:p>
            <a:pPr algn="l"/>
            <a:endParaRPr lang="ja-JP" altLang="en-US" sz="1000" dirty="0"/>
          </a:p>
          <a:p>
            <a:pPr algn="l"/>
            <a:r>
              <a:rPr lang="ja-JP" altLang="en-US" sz="1000" dirty="0"/>
              <a:t>6. 多くの IR 計画は“エスカレーションの逆”を定義していない</a:t>
            </a:r>
          </a:p>
          <a:p>
            <a:pPr algn="l"/>
            <a:r>
              <a:rPr lang="ja-JP" altLang="en-US" sz="1000" dirty="0"/>
              <a:t>多くの IR 計画には：</a:t>
            </a:r>
          </a:p>
          <a:p>
            <a:pPr algn="l"/>
            <a:r>
              <a:rPr lang="ja-JP" altLang="en-US" sz="1000" dirty="0"/>
              <a:t>• 	エスカレーション（上に報告する）手順はある</a:t>
            </a:r>
          </a:p>
          <a:p>
            <a:pPr algn="l"/>
            <a:r>
              <a:rPr lang="ja-JP" altLang="en-US" sz="1000" dirty="0"/>
              <a:t>• 	しかし デエスカレーション（収束させる）手順がない</a:t>
            </a:r>
          </a:p>
          <a:p>
            <a:pPr algn="l"/>
            <a:r>
              <a:rPr lang="ja-JP" altLang="en-US" sz="1000" dirty="0"/>
              <a:t>• 	部門間の優先順位付けやリソース配分のルールがない</a:t>
            </a:r>
          </a:p>
          <a:p>
            <a:pPr algn="l"/>
            <a:r>
              <a:rPr lang="ja-JP" altLang="en-US" sz="1000" dirty="0"/>
              <a:t>これが原因で、</a:t>
            </a:r>
          </a:p>
          <a:p>
            <a:pPr algn="l"/>
            <a:r>
              <a:rPr lang="ja-JP" altLang="en-US" sz="1000" dirty="0"/>
              <a:t>インシデントが終わった後も混乱が続くことがあります。</a:t>
            </a:r>
          </a:p>
          <a:p>
            <a:pPr algn="l"/>
            <a:r>
              <a:rPr lang="ja-JP" altLang="en-US" sz="1000" dirty="0"/>
              <a:t>また、</a:t>
            </a:r>
          </a:p>
          <a:p>
            <a:pPr algn="l"/>
            <a:r>
              <a:rPr lang="ja-JP" altLang="en-US" sz="1000" dirty="0"/>
              <a:t>インシデント後の報告義務（規制・法務・顧客向け） が</a:t>
            </a:r>
          </a:p>
          <a:p>
            <a:pPr algn="l"/>
            <a:r>
              <a:rPr lang="ja-JP" altLang="en-US" sz="1000" dirty="0"/>
              <a:t>計画に含まれていないケースも多い。</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0"/>
            <a:ext cx="6852285" cy="12192000"/>
          </a:xfrm>
        </p:spPr>
        <p:txBody>
          <a:bodyPr>
            <a:normAutofit fontScale="77500" lnSpcReduction="20000"/>
          </a:bodyPr>
          <a:lstStyle/>
          <a:p>
            <a:pPr algn="l"/>
            <a:r>
              <a:rPr lang="ja-JP" altLang="en-US" sz="1400" dirty="0"/>
              <a:t>1. インシデント後には多くの“報告義務”がある</a:t>
            </a:r>
          </a:p>
          <a:p>
            <a:pPr algn="l"/>
            <a:r>
              <a:rPr lang="ja-JP" altLang="en-US" sz="1400" dirty="0"/>
              <a:t>インシデント後には、以下のような報告や文書化が必要になる場合があります：</a:t>
            </a:r>
          </a:p>
          <a:p>
            <a:pPr algn="l"/>
            <a:r>
              <a:rPr lang="ja-JP" altLang="en-US" sz="1400" dirty="0"/>
              <a:t>• 	規制当局への報告（Regulatory reporting）</a:t>
            </a:r>
          </a:p>
          <a:p>
            <a:pPr algn="l"/>
            <a:r>
              <a:rPr lang="ja-JP" altLang="en-US" sz="1400" dirty="0"/>
              <a:t>電力・石油・化学などの ICS 分野では義務化されていることが多い。</a:t>
            </a:r>
          </a:p>
          <a:p>
            <a:pPr algn="l"/>
            <a:r>
              <a:rPr lang="ja-JP" altLang="en-US" sz="1400" dirty="0"/>
              <a:t>• 	財務影響の報告（Financial impact reporting）</a:t>
            </a:r>
          </a:p>
          <a:p>
            <a:pPr algn="l"/>
            <a:r>
              <a:rPr lang="ja-JP" altLang="en-US" sz="1400" dirty="0"/>
              <a:t>停止時間、損害額、復旧コストなど。</a:t>
            </a:r>
          </a:p>
          <a:p>
            <a:pPr algn="l"/>
            <a:r>
              <a:rPr lang="ja-JP" altLang="en-US" sz="1400" dirty="0"/>
              <a:t>• 	教訓の文書化（Lessons learned）</a:t>
            </a:r>
          </a:p>
          <a:p>
            <a:pPr algn="l"/>
            <a:r>
              <a:rPr lang="ja-JP" altLang="en-US" sz="1400" dirty="0"/>
              <a:t>何が起き、何を改善すべきか。</a:t>
            </a:r>
          </a:p>
          <a:p>
            <a:pPr algn="l"/>
            <a:r>
              <a:rPr lang="ja-JP" altLang="en-US" sz="1400" dirty="0"/>
              <a:t>• 	根本原因分析（Root Cause Analysis）</a:t>
            </a:r>
          </a:p>
          <a:p>
            <a:pPr algn="l"/>
            <a:r>
              <a:rPr lang="ja-JP" altLang="en-US" sz="1400" dirty="0"/>
              <a:t>なぜ起きたのか、どう防ぐか。</a:t>
            </a:r>
          </a:p>
          <a:p>
            <a:pPr algn="l"/>
            <a:r>
              <a:rPr lang="ja-JP" altLang="en-US" sz="1400" dirty="0"/>
              <a:t>• 	ベストプラクティスの整理（Best practices）</a:t>
            </a:r>
          </a:p>
          <a:p>
            <a:pPr algn="l"/>
            <a:r>
              <a:rPr lang="ja-JP" altLang="en-US" sz="1400" dirty="0"/>
              <a:t>他の設備・他部門にも展開すべき改善点。</a:t>
            </a:r>
          </a:p>
          <a:p>
            <a:pPr algn="l"/>
            <a:r>
              <a:rPr lang="ja-JP" altLang="en-US" sz="1400" dirty="0"/>
              <a:t>ICS/OT では規制が厳しいため、</a:t>
            </a:r>
          </a:p>
          <a:p>
            <a:pPr algn="l"/>
            <a:r>
              <a:rPr lang="ja-JP" altLang="en-US" sz="1400" dirty="0"/>
              <a:t>これらの報告は“義務”であることが多い。</a:t>
            </a:r>
          </a:p>
          <a:p>
            <a:pPr algn="l"/>
            <a:endParaRPr lang="ja-JP" altLang="en-US" sz="1400" dirty="0"/>
          </a:p>
          <a:p>
            <a:pPr algn="l"/>
            <a:r>
              <a:rPr lang="ja-JP" altLang="en-US" sz="1400" dirty="0"/>
              <a:t>2. 通信テストは“規制で義務化”されている場合が多い</a:t>
            </a:r>
          </a:p>
          <a:p>
            <a:pPr algn="l"/>
            <a:r>
              <a:rPr lang="ja-JP" altLang="en-US" sz="1400" dirty="0"/>
              <a:t>多くの ICS/OT 組織は、規制により：</a:t>
            </a:r>
          </a:p>
          <a:p>
            <a:pPr algn="l"/>
            <a:r>
              <a:rPr lang="ja-JP" altLang="en-US" sz="1400" dirty="0"/>
              <a:t>• 	通信テスト</a:t>
            </a:r>
          </a:p>
          <a:p>
            <a:pPr algn="l"/>
            <a:r>
              <a:rPr lang="ja-JP" altLang="en-US" sz="1400" dirty="0"/>
              <a:t>• 	通知手順のテスト</a:t>
            </a:r>
          </a:p>
          <a:p>
            <a:pPr algn="l"/>
            <a:r>
              <a:rPr lang="ja-JP" altLang="en-US" sz="1400" dirty="0"/>
              <a:t>• 	報告フローのテスト</a:t>
            </a:r>
          </a:p>
          <a:p>
            <a:pPr algn="l"/>
            <a:r>
              <a:rPr lang="ja-JP" altLang="en-US" sz="1400" dirty="0"/>
              <a:t>を 定期的に実施することが義務 になっています。</a:t>
            </a:r>
          </a:p>
          <a:p>
            <a:pPr algn="l"/>
            <a:r>
              <a:rPr lang="ja-JP" altLang="en-US" sz="1400" dirty="0"/>
              <a:t>外部要件がない組織でも、</a:t>
            </a:r>
          </a:p>
          <a:p>
            <a:pPr algn="l"/>
            <a:r>
              <a:rPr lang="ja-JP" altLang="en-US" sz="1400" dirty="0"/>
              <a:t>演習で通信手段を確認しておくべき です。</a:t>
            </a:r>
          </a:p>
          <a:p>
            <a:pPr algn="l"/>
            <a:r>
              <a:rPr lang="ja-JP" altLang="en-US" sz="1400" dirty="0"/>
              <a:t>理由：</a:t>
            </a:r>
          </a:p>
          <a:p>
            <a:pPr algn="l"/>
            <a:r>
              <a:rPr lang="ja-JP" altLang="en-US" sz="1400" dirty="0"/>
              <a:t>• 	文書が古くて使えない</a:t>
            </a:r>
          </a:p>
          <a:p>
            <a:pPr algn="l"/>
            <a:r>
              <a:rPr lang="ja-JP" altLang="en-US" sz="1400" dirty="0"/>
              <a:t>• 	連絡先が間違っている</a:t>
            </a:r>
          </a:p>
          <a:p>
            <a:pPr algn="l"/>
            <a:r>
              <a:rPr lang="ja-JP" altLang="en-US" sz="1400" dirty="0"/>
              <a:t>• 	VoIP が落ちて連絡できない</a:t>
            </a:r>
          </a:p>
          <a:p>
            <a:pPr algn="l"/>
            <a:r>
              <a:rPr lang="ja-JP" altLang="en-US" sz="1400" dirty="0"/>
              <a:t>• 	ICS 障害でネットワークが死んでいる</a:t>
            </a:r>
          </a:p>
          <a:p>
            <a:pPr algn="l"/>
            <a:r>
              <a:rPr lang="ja-JP" altLang="en-US" sz="1400" dirty="0"/>
              <a:t>こうした状況は ICS/OT では“普通に起こる”。</a:t>
            </a:r>
          </a:p>
          <a:p>
            <a:pPr algn="l"/>
            <a:endParaRPr lang="ja-JP" altLang="en-US" sz="1400" dirty="0"/>
          </a:p>
          <a:p>
            <a:pPr algn="l"/>
            <a:r>
              <a:rPr lang="ja-JP" altLang="en-US" sz="1400" dirty="0"/>
              <a:t>3. 多くの IR 計画は“実際には使えない”</a:t>
            </a:r>
          </a:p>
          <a:p>
            <a:pPr algn="l"/>
            <a:r>
              <a:rPr lang="ja-JP" altLang="en-US" sz="1400" dirty="0"/>
              <a:t>よくある問題：</a:t>
            </a:r>
          </a:p>
          <a:p>
            <a:pPr algn="l"/>
            <a:r>
              <a:rPr lang="ja-JP" altLang="en-US" sz="1400" dirty="0"/>
              <a:t>• 	IRP が不十分</a:t>
            </a:r>
          </a:p>
          <a:p>
            <a:pPr algn="l"/>
            <a:r>
              <a:rPr lang="ja-JP" altLang="en-US" sz="1400" dirty="0"/>
              <a:t>• 	手順が曖昧</a:t>
            </a:r>
          </a:p>
          <a:p>
            <a:pPr algn="l"/>
            <a:r>
              <a:rPr lang="ja-JP" altLang="en-US" sz="1400" dirty="0"/>
              <a:t>• 	どこに保存されているか誰も知らない</a:t>
            </a:r>
          </a:p>
          <a:p>
            <a:pPr algn="l"/>
            <a:r>
              <a:rPr lang="ja-JP" altLang="en-US" sz="1400" dirty="0"/>
              <a:t>• 	従業員が IRP の存在すら知らない</a:t>
            </a:r>
          </a:p>
          <a:p>
            <a:pPr algn="l"/>
            <a:r>
              <a:rPr lang="ja-JP" altLang="en-US" sz="1400" dirty="0"/>
              <a:t>• 	演習していないため、誰も使い方を理解していない</a:t>
            </a:r>
          </a:p>
          <a:p>
            <a:pPr algn="l"/>
            <a:r>
              <a:rPr lang="ja-JP" altLang="en-US" sz="1400" dirty="0"/>
              <a:t>その結果：</a:t>
            </a:r>
          </a:p>
          <a:p>
            <a:pPr algn="l"/>
            <a:endParaRPr lang="ja-JP" altLang="en-US" sz="1400" dirty="0"/>
          </a:p>
          <a:p>
            <a:pPr algn="l"/>
            <a:r>
              <a:rPr lang="ja-JP" altLang="en-US" sz="1400" dirty="0"/>
              <a:t>ICS/OT ではこれは致命的です。</a:t>
            </a:r>
          </a:p>
          <a:p>
            <a:pPr algn="l"/>
            <a:endParaRPr lang="ja-JP" altLang="en-US" sz="1400" dirty="0"/>
          </a:p>
          <a:p>
            <a:pPr algn="l"/>
            <a:r>
              <a:rPr lang="ja-JP" altLang="en-US" sz="1400" dirty="0"/>
              <a:t>4. 演習は“システムの強さ”だけでなく“人の強さ”を評価する</a:t>
            </a:r>
          </a:p>
          <a:p>
            <a:pPr algn="l"/>
            <a:r>
              <a:rPr lang="ja-JP" altLang="en-US" sz="1400" dirty="0"/>
              <a:t>演習（TTX・実動演習）は、</a:t>
            </a:r>
          </a:p>
          <a:p>
            <a:pPr algn="l"/>
            <a:r>
              <a:rPr lang="ja-JP" altLang="en-US" sz="1400" dirty="0"/>
              <a:t>単にシステムや防御能力を評価するだけではありません。</a:t>
            </a:r>
          </a:p>
          <a:p>
            <a:pPr algn="l"/>
            <a:r>
              <a:rPr lang="ja-JP" altLang="en-US" sz="1400" dirty="0"/>
              <a:t>演習で分かるもの：</a:t>
            </a:r>
          </a:p>
          <a:p>
            <a:pPr algn="l"/>
            <a:r>
              <a:rPr lang="ja-JP" altLang="en-US" sz="1400" dirty="0"/>
              <a:t>• 	人材のスキル</a:t>
            </a:r>
          </a:p>
          <a:p>
            <a:pPr algn="l"/>
            <a:r>
              <a:rPr lang="ja-JP" altLang="en-US" sz="1400" dirty="0"/>
              <a:t>• 	判断力</a:t>
            </a:r>
          </a:p>
          <a:p>
            <a:pPr algn="l"/>
            <a:r>
              <a:rPr lang="ja-JP" altLang="en-US" sz="1400" dirty="0"/>
              <a:t>• 	経験値</a:t>
            </a:r>
          </a:p>
          <a:p>
            <a:pPr algn="l"/>
            <a:r>
              <a:rPr lang="ja-JP" altLang="en-US" sz="1400" dirty="0"/>
              <a:t>• 	チームワーク</a:t>
            </a:r>
          </a:p>
          <a:p>
            <a:pPr algn="l"/>
            <a:r>
              <a:rPr lang="ja-JP" altLang="en-US" sz="1400" dirty="0"/>
              <a:t>• 	ストレス下での対応力</a:t>
            </a:r>
          </a:p>
          <a:p>
            <a:pPr algn="l"/>
            <a:r>
              <a:rPr lang="ja-JP" altLang="en-US" sz="1400" dirty="0"/>
              <a:t>• 	手順理解度</a:t>
            </a:r>
          </a:p>
          <a:p>
            <a:pPr algn="l"/>
            <a:r>
              <a:rPr lang="ja-JP" altLang="en-US" sz="1400" dirty="0"/>
              <a:t>• 	組織の成熟度（Maturity）</a:t>
            </a:r>
          </a:p>
          <a:p>
            <a:pPr algn="l"/>
            <a:r>
              <a:rPr lang="ja-JP" altLang="en-US" sz="1400" dirty="0"/>
              <a:t>どれだけ優れたシステムや計画があっても、</a:t>
            </a:r>
          </a:p>
          <a:p>
            <a:pPr algn="l"/>
            <a:r>
              <a:rPr lang="ja-JP" altLang="en-US" sz="1400" dirty="0"/>
              <a:t>人材が未熟ならインシデント対応は失敗する。</a:t>
            </a:r>
          </a:p>
          <a:p>
            <a:pPr algn="l"/>
            <a:r>
              <a:rPr lang="ja-JP" altLang="en-US" sz="1400" dirty="0"/>
              <a:t>ICS/OT の IR は特に“人”がすべてです。</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7C1A3735-2C73-4689-820E-3D44B5EB142E}"/>
              </a:ext>
            </a:extLst>
          </p:cNvPr>
          <p:cNvPicPr>
            <a:picLocks noChangeAspect="1"/>
          </p:cNvPicPr>
          <p:nvPr/>
        </p:nvPicPr>
        <p:blipFill>
          <a:blip r:embed="rId2"/>
          <a:stretch>
            <a:fillRect/>
          </a:stretch>
        </p:blipFill>
        <p:spPr>
          <a:xfrm>
            <a:off x="228600" y="97275"/>
            <a:ext cx="6400800" cy="3630924"/>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BD7791D7-8AEE-46CD-A1E4-3F79B980B1CB}"/>
              </a:ext>
            </a:extLst>
          </p:cNvPr>
          <p:cNvPicPr>
            <a:picLocks noChangeAspect="1"/>
          </p:cNvPicPr>
          <p:nvPr/>
        </p:nvPicPr>
        <p:blipFill>
          <a:blip r:embed="rId2"/>
          <a:stretch>
            <a:fillRect/>
          </a:stretch>
        </p:blipFill>
        <p:spPr>
          <a:xfrm>
            <a:off x="277238" y="97275"/>
            <a:ext cx="6303523" cy="3591781"/>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60" y="3928533"/>
            <a:ext cx="6852285" cy="6312535"/>
          </a:xfrm>
        </p:spPr>
        <p:txBody>
          <a:bodyPr>
            <a:normAutofit/>
          </a:bodyPr>
          <a:lstStyle/>
          <a:p>
            <a:pPr algn="l"/>
            <a:r>
              <a:rPr lang="en-US" altLang="ja-JP" sz="1400" dirty="0"/>
              <a:t>SANS conveniently hosts quite a bit of </a:t>
            </a:r>
            <a:r>
              <a:rPr lang="en-US" altLang="ja-JP" sz="1400" dirty="0" err="1"/>
              <a:t>infomation</a:t>
            </a:r>
            <a:r>
              <a:rPr lang="en-US" altLang="ja-JP" sz="1400" dirty="0"/>
              <a:t> that will be useful to any security </a:t>
            </a:r>
            <a:r>
              <a:rPr lang="en-US" altLang="ja-JP" sz="1400" dirty="0" err="1"/>
              <a:t>practitioner.Some</a:t>
            </a:r>
            <a:r>
              <a:rPr lang="en-US" altLang="ja-JP" sz="1400" dirty="0"/>
              <a:t> excellent </a:t>
            </a:r>
            <a:r>
              <a:rPr lang="en-US" altLang="ja-JP" sz="1400" dirty="0" err="1"/>
              <a:t>resouces</a:t>
            </a:r>
            <a:r>
              <a:rPr lang="en-US" altLang="ja-JP" sz="1400" dirty="0"/>
              <a:t>:</a:t>
            </a:r>
          </a:p>
          <a:p>
            <a:pPr algn="l"/>
            <a:endParaRPr lang="en-US" altLang="ja-JP" sz="1400" dirty="0"/>
          </a:p>
          <a:p>
            <a:pPr algn="l"/>
            <a:r>
              <a:rPr lang="ja-JP" altLang="en-US" sz="1400" dirty="0"/>
              <a:t>・</a:t>
            </a:r>
            <a:r>
              <a:rPr lang="en-US" altLang="ja-JP" sz="1400" dirty="0"/>
              <a:t>SANS reading Room - https://www.sans.org/reading-room</a:t>
            </a:r>
          </a:p>
          <a:p>
            <a:pPr algn="l"/>
            <a:r>
              <a:rPr lang="ja-JP" altLang="en-US" sz="1400" dirty="0"/>
              <a:t>・</a:t>
            </a:r>
            <a:r>
              <a:rPr lang="en-US" altLang="ja-JP" sz="1400" dirty="0"/>
              <a:t>SANS </a:t>
            </a:r>
            <a:r>
              <a:rPr lang="en-US" altLang="ja-JP" sz="1400" dirty="0" err="1"/>
              <a:t>NewsBites</a:t>
            </a:r>
            <a:r>
              <a:rPr lang="en-US" altLang="ja-JP" sz="1400" dirty="0"/>
              <a:t> - https://www.sans.org/newsletters</a:t>
            </a:r>
          </a:p>
          <a:p>
            <a:pPr algn="l"/>
            <a:r>
              <a:rPr lang="ja-JP" altLang="en-US" sz="1400" dirty="0"/>
              <a:t>・</a:t>
            </a:r>
            <a:r>
              <a:rPr lang="en-US" altLang="ja-JP" sz="1400" dirty="0"/>
              <a:t>SANS Security Policy Project - https://www.sans.org/information-security-policy/</a:t>
            </a:r>
          </a:p>
          <a:p>
            <a:pPr algn="l"/>
            <a:r>
              <a:rPr lang="ja-JP" altLang="en-US" sz="1400" dirty="0"/>
              <a:t>・</a:t>
            </a:r>
            <a:r>
              <a:rPr lang="en-US" altLang="ja-JP" sz="1400" dirty="0"/>
              <a:t>SANS ICS Cybersecurity Poster - https://www.sans.org/media/industrial-control-systems/ics-target.pdf</a:t>
            </a:r>
          </a:p>
          <a:p>
            <a:pPr algn="l"/>
            <a:r>
              <a:rPr lang="ja-JP" altLang="en-US" sz="1400" dirty="0"/>
              <a:t>・</a:t>
            </a:r>
            <a:r>
              <a:rPr lang="en-US" altLang="ja-JP" sz="1400" dirty="0"/>
              <a:t>SANS ICS Community Forum signup page - https://ics-community.sans.org/signup</a:t>
            </a:r>
            <a:endParaRPr lang="ja-JP" altLang="en-US" sz="1400" dirty="0"/>
          </a:p>
        </p:txBody>
      </p:sp>
      <p:pic>
        <p:nvPicPr>
          <p:cNvPr id="4" name="図 3">
            <a:extLst>
              <a:ext uri="{FF2B5EF4-FFF2-40B4-BE49-F238E27FC236}">
                <a16:creationId xmlns:a16="http://schemas.microsoft.com/office/drawing/2014/main" id="{E4F6F4C8-941A-4788-A1FC-74C0783A5C4A}"/>
              </a:ext>
            </a:extLst>
          </p:cNvPr>
          <p:cNvPicPr>
            <a:picLocks noChangeAspect="1"/>
          </p:cNvPicPr>
          <p:nvPr/>
        </p:nvPicPr>
        <p:blipFill>
          <a:blip r:embed="rId2"/>
          <a:stretch>
            <a:fillRect/>
          </a:stretch>
        </p:blipFill>
        <p:spPr>
          <a:xfrm>
            <a:off x="256937" y="138324"/>
            <a:ext cx="6344126" cy="3625215"/>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2111" y="3877732"/>
            <a:ext cx="6852285" cy="1783766"/>
          </a:xfrm>
        </p:spPr>
        <p:txBody>
          <a:bodyPr>
            <a:normAutofit/>
          </a:bodyPr>
          <a:lstStyle/>
          <a:p>
            <a:pPr algn="l"/>
            <a:r>
              <a:rPr lang="ja-JP" altLang="en-US" sz="1400" dirty="0"/>
              <a:t>ホストコースは</a:t>
            </a:r>
            <a:r>
              <a:rPr lang="en-US" altLang="ja-JP" sz="1400" dirty="0"/>
              <a:t>SANS</a:t>
            </a:r>
            <a:r>
              <a:rPr lang="ja-JP" altLang="en-US" sz="1400" dirty="0"/>
              <a:t>限定ではないため、公開</a:t>
            </a:r>
            <a:r>
              <a:rPr lang="en-US" altLang="ja-JP" sz="1400" dirty="0"/>
              <a:t>SANS</a:t>
            </a:r>
            <a:r>
              <a:rPr lang="ja-JP" altLang="en-US" sz="1400" dirty="0"/>
              <a:t>コース番号は付与されません。ホストコースは通常</a:t>
            </a:r>
            <a:r>
              <a:rPr lang="en-US" altLang="ja-JP" sz="1400" dirty="0"/>
              <a:t>SANS</a:t>
            </a:r>
            <a:r>
              <a:rPr lang="ja-JP" altLang="en-US" sz="1400" dirty="0"/>
              <a:t>サミットで開催されますが、他の大規模な</a:t>
            </a:r>
            <a:r>
              <a:rPr lang="en-US" altLang="ja-JP" sz="1400" dirty="0"/>
              <a:t>SANS</a:t>
            </a:r>
            <a:r>
              <a:rPr lang="ja-JP" altLang="en-US" sz="1400" dirty="0"/>
              <a:t>イベントでも開催される場合があります。ホストコースの詳細については、以下の</a:t>
            </a:r>
            <a:r>
              <a:rPr lang="en-US" altLang="ja-JP" sz="1400" dirty="0"/>
              <a:t>URL</a:t>
            </a:r>
            <a:r>
              <a:rPr lang="ja-JP" altLang="en-US" sz="1400" dirty="0"/>
              <a:t>をご覧ください。制御システムと</a:t>
            </a:r>
            <a:r>
              <a:rPr lang="en-US" altLang="ja-JP" sz="1400" dirty="0"/>
              <a:t>IoT</a:t>
            </a:r>
            <a:r>
              <a:rPr lang="ja-JP" altLang="en-US" sz="1400" dirty="0"/>
              <a:t>の評価と活用</a:t>
            </a:r>
            <a:endParaRPr lang="en-US" altLang="ja-JP" sz="1400" dirty="0"/>
          </a:p>
          <a:p>
            <a:pPr algn="l"/>
            <a:r>
              <a:rPr lang="en-US" altLang="ja-JP" sz="1400" dirty="0"/>
              <a:t>https://www.controlthings.io/training</a:t>
            </a:r>
            <a:endParaRPr lang="ja-JP" altLang="en-US" sz="1400" dirty="0"/>
          </a:p>
        </p:txBody>
      </p:sp>
      <p:pic>
        <p:nvPicPr>
          <p:cNvPr id="4" name="図 3">
            <a:extLst>
              <a:ext uri="{FF2B5EF4-FFF2-40B4-BE49-F238E27FC236}">
                <a16:creationId xmlns:a16="http://schemas.microsoft.com/office/drawing/2014/main" id="{170A647C-5BEF-4BC7-9C8B-DF968414620F}"/>
              </a:ext>
            </a:extLst>
          </p:cNvPr>
          <p:cNvPicPr>
            <a:picLocks noChangeAspect="1"/>
          </p:cNvPicPr>
          <p:nvPr/>
        </p:nvPicPr>
        <p:blipFill>
          <a:blip r:embed="rId2"/>
          <a:stretch>
            <a:fillRect/>
          </a:stretch>
        </p:blipFill>
        <p:spPr>
          <a:xfrm>
            <a:off x="238327" y="97275"/>
            <a:ext cx="6381345" cy="3619888"/>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11A43FB6-41B1-438E-A9C1-FA6A76CE52A4}"/>
              </a:ext>
            </a:extLst>
          </p:cNvPr>
          <p:cNvPicPr>
            <a:picLocks noChangeAspect="1"/>
          </p:cNvPicPr>
          <p:nvPr/>
        </p:nvPicPr>
        <p:blipFill>
          <a:blip r:embed="rId2"/>
          <a:stretch>
            <a:fillRect/>
          </a:stretch>
        </p:blipFill>
        <p:spPr>
          <a:xfrm>
            <a:off x="299771" y="97275"/>
            <a:ext cx="6258458" cy="3560323"/>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2905322"/>
            <a:ext cx="3429000" cy="9244519"/>
          </a:xfrm>
        </p:spPr>
        <p:txBody>
          <a:bodyPr>
            <a:noAutofit/>
          </a:bodyPr>
          <a:lstStyle/>
          <a:p>
            <a:pPr algn="l"/>
            <a:r>
              <a:rPr lang="ja-JP" altLang="en-US" sz="1000" dirty="0"/>
              <a:t>1. Justin Searle は InGuardians の ICS セキュリティディレクター</a:t>
            </a:r>
          </a:p>
          <a:p>
            <a:pPr algn="l"/>
            <a:r>
              <a:rPr lang="ja-JP" altLang="en-US" sz="1000" dirty="0"/>
              <a:t>Justin Searle は、InGuardians 社で ICS セキュリティ部門のディレクター を務めています。</a:t>
            </a:r>
          </a:p>
          <a:p>
            <a:pPr algn="l"/>
            <a:r>
              <a:rPr lang="ja-JP" altLang="en-US" sz="1000" dirty="0"/>
              <a:t>専門分野は：</a:t>
            </a:r>
          </a:p>
          <a:p>
            <a:pPr algn="l"/>
            <a:r>
              <a:rPr lang="ja-JP" altLang="en-US" sz="1000" dirty="0"/>
              <a:t>• 	ICS セキュリティアーキテクチャ設計</a:t>
            </a:r>
          </a:p>
          <a:p>
            <a:pPr algn="l"/>
            <a:r>
              <a:rPr lang="ja-JP" altLang="en-US" sz="1000" dirty="0"/>
              <a:t>• 	ICS/OT のペネトレーションテスト（侵入テスト）</a:t>
            </a:r>
          </a:p>
          <a:p>
            <a:pPr algn="l"/>
            <a:r>
              <a:rPr lang="ja-JP" altLang="en-US" sz="1000" dirty="0"/>
              <a:t>つまり、OT セキュリティの設計と攻撃の両方に精通した人物 です。</a:t>
            </a:r>
          </a:p>
          <a:p>
            <a:pPr algn="l"/>
            <a:endParaRPr lang="ja-JP" altLang="en-US" sz="1000" dirty="0"/>
          </a:p>
          <a:p>
            <a:pPr algn="l"/>
            <a:r>
              <a:rPr lang="ja-JP" altLang="en-US" sz="1000" dirty="0"/>
              <a:t>2. NIST IR 7628（スマートグリッドセキュリティの基準）を主導</a:t>
            </a:r>
          </a:p>
          <a:p>
            <a:pPr algn="l"/>
            <a:r>
              <a:rPr lang="ja-JP" altLang="en-US" sz="1000" dirty="0"/>
              <a:t>彼は、スマートグリッドのセキュリティ基準として有名な：</a:t>
            </a:r>
          </a:p>
          <a:p>
            <a:pPr algn="l"/>
            <a:r>
              <a:rPr lang="ja-JP" altLang="en-US" sz="1000" dirty="0"/>
              <a:t>• 	NIST Interagency Report 7628（NISTIR 7628）</a:t>
            </a:r>
          </a:p>
          <a:p>
            <a:pPr algn="l"/>
            <a:r>
              <a:rPr lang="ja-JP" altLang="en-US" sz="1000" dirty="0"/>
              <a:t>の作成において、</a:t>
            </a:r>
          </a:p>
          <a:p>
            <a:pPr algn="l"/>
            <a:r>
              <a:rPr lang="ja-JP" altLang="en-US" sz="1000" dirty="0"/>
              <a:t>Smart Grid Security Architecture グループを率いた中心人物 です。</a:t>
            </a:r>
          </a:p>
          <a:p>
            <a:pPr algn="l"/>
            <a:r>
              <a:rPr lang="ja-JP" altLang="en-US" sz="1000" dirty="0"/>
              <a:t>さらに、以下の主要プロジェクトにも深く関与：</a:t>
            </a:r>
          </a:p>
          <a:p>
            <a:pPr algn="l"/>
            <a:r>
              <a:rPr lang="ja-JP" altLang="en-US" sz="1000" dirty="0"/>
              <a:t>• 	ASAP-SG（Advanced Security Acceleration Project for the Smart Grid）</a:t>
            </a:r>
          </a:p>
          <a:p>
            <a:pPr algn="l"/>
            <a:r>
              <a:rPr lang="ja-JP" altLang="en-US" sz="1000" dirty="0"/>
              <a:t>• 	NESCOR（National Electric Sector Cybersecurity Organization Resources）</a:t>
            </a:r>
          </a:p>
          <a:p>
            <a:pPr algn="l"/>
            <a:r>
              <a:rPr lang="ja-JP" altLang="en-US" sz="1000" dirty="0"/>
              <a:t>• 	SGIP（Smart Grid Interoperability Panel）</a:t>
            </a:r>
          </a:p>
          <a:p>
            <a:pPr algn="l"/>
            <a:r>
              <a:rPr lang="ja-JP" altLang="en-US" sz="1000" dirty="0"/>
              <a:t>電力分野の ICS セキュリティ標準化に大きく貢献しています。</a:t>
            </a:r>
          </a:p>
          <a:p>
            <a:pPr algn="l"/>
            <a:endParaRPr lang="ja-JP" altLang="en-US" sz="1000" dirty="0"/>
          </a:p>
          <a:p>
            <a:pPr algn="l"/>
            <a:r>
              <a:rPr lang="ja-JP" altLang="en-US" sz="1000" dirty="0"/>
              <a:t>3. 世界中で教え、講演するトップインストラクター</a:t>
            </a:r>
          </a:p>
          <a:p>
            <a:pPr algn="l"/>
            <a:r>
              <a:rPr lang="ja-JP" altLang="en-US" sz="1000" dirty="0"/>
              <a:t>Justin は以下の分野で多数の大学・企業・カンファレンスで講師を務めています：</a:t>
            </a:r>
          </a:p>
          <a:p>
            <a:pPr algn="l"/>
            <a:r>
              <a:rPr lang="ja-JP" altLang="en-US" sz="1000" dirty="0"/>
              <a:t>• 	ハッキング技術</a:t>
            </a:r>
          </a:p>
          <a:p>
            <a:pPr algn="l"/>
            <a:r>
              <a:rPr lang="ja-JP" altLang="en-US" sz="1000" dirty="0"/>
              <a:t>• 	フォレンジック</a:t>
            </a:r>
          </a:p>
          <a:p>
            <a:pPr algn="l"/>
            <a:r>
              <a:rPr lang="ja-JP" altLang="en-US" sz="1000" dirty="0"/>
              <a:t>• 	ネットワーク</a:t>
            </a:r>
          </a:p>
          <a:p>
            <a:pPr algn="l"/>
            <a:r>
              <a:rPr lang="ja-JP" altLang="en-US" sz="1000" dirty="0"/>
              <a:t>• 	侵入検知</a:t>
            </a:r>
          </a:p>
          <a:p>
            <a:pPr algn="l"/>
            <a:r>
              <a:rPr lang="ja-JP" altLang="en-US" sz="1000" dirty="0"/>
              <a:t>現在は：</a:t>
            </a:r>
          </a:p>
          <a:p>
            <a:pPr algn="l"/>
            <a:r>
              <a:rPr lang="ja-JP" altLang="en-US" sz="1000" dirty="0"/>
              <a:t>• 	SANS Institute の Senior Instructor（上級講師）</a:t>
            </a:r>
          </a:p>
          <a:p>
            <a:pPr algn="l"/>
            <a:r>
              <a:rPr lang="ja-JP" altLang="en-US" sz="1000" dirty="0"/>
              <a:t>• 	IANS の教員</a:t>
            </a:r>
          </a:p>
          <a:p>
            <a:pPr algn="l"/>
            <a:r>
              <a:rPr lang="ja-JP" altLang="en-US" sz="1000" dirty="0"/>
              <a:t>さらに、世界的なセキュリティカンファレンスでも頻繁に登壇：</a:t>
            </a:r>
          </a:p>
          <a:p>
            <a:pPr algn="l"/>
            <a:r>
              <a:rPr lang="ja-JP" altLang="en-US" sz="1000" dirty="0"/>
              <a:t>• 	Black Hat</a:t>
            </a:r>
          </a:p>
          <a:p>
            <a:pPr algn="l"/>
            <a:r>
              <a:rPr lang="ja-JP" altLang="en-US" sz="1000" dirty="0"/>
              <a:t>• 	DEFCON</a:t>
            </a:r>
          </a:p>
          <a:p>
            <a:pPr algn="l"/>
            <a:r>
              <a:rPr lang="ja-JP" altLang="en-US" sz="1000" dirty="0"/>
              <a:t>• 	OWASP</a:t>
            </a:r>
          </a:p>
          <a:p>
            <a:pPr algn="l"/>
            <a:r>
              <a:rPr lang="ja-JP" altLang="en-US" sz="1000" dirty="0"/>
              <a:t>• 	Nullcon</a:t>
            </a:r>
          </a:p>
          <a:p>
            <a:pPr algn="l"/>
            <a:r>
              <a:rPr lang="ja-JP" altLang="en-US" sz="1000" dirty="0"/>
              <a:t>• 	AusCERT</a:t>
            </a:r>
          </a:p>
          <a:p>
            <a:pPr algn="l"/>
            <a:r>
              <a:rPr lang="ja-JP" altLang="en-US" sz="1000" dirty="0"/>
              <a:t>ICS/OT セキュリティの分野では、最も影響力のある講師の一人 と言えます。</a:t>
            </a:r>
          </a:p>
          <a:p>
            <a:pPr algn="l"/>
            <a:endParaRPr lang="ja-JP" altLang="en-US" sz="1000" dirty="0"/>
          </a:p>
          <a:p>
            <a:pPr algn="l"/>
            <a:endParaRPr lang="ja-JP" altLang="en-US" sz="1000" dirty="0"/>
          </a:p>
        </p:txBody>
      </p:sp>
      <p:pic>
        <p:nvPicPr>
          <p:cNvPr id="4" name="図 3">
            <a:extLst>
              <a:ext uri="{FF2B5EF4-FFF2-40B4-BE49-F238E27FC236}">
                <a16:creationId xmlns:a16="http://schemas.microsoft.com/office/drawing/2014/main" id="{DD2770F3-829B-4C55-8274-42BB36B3CD05}"/>
              </a:ext>
            </a:extLst>
          </p:cNvPr>
          <p:cNvPicPr>
            <a:picLocks noChangeAspect="1"/>
          </p:cNvPicPr>
          <p:nvPr/>
        </p:nvPicPr>
        <p:blipFill>
          <a:blip r:embed="rId2"/>
          <a:stretch>
            <a:fillRect/>
          </a:stretch>
        </p:blipFill>
        <p:spPr>
          <a:xfrm>
            <a:off x="1028212" y="77820"/>
            <a:ext cx="4801573" cy="2723745"/>
          </a:xfrm>
          <a:prstGeom prst="rect">
            <a:avLst/>
          </a:prstGeom>
        </p:spPr>
      </p:pic>
      <p:sp>
        <p:nvSpPr>
          <p:cNvPr id="5" name="サブタイトル 2">
            <a:extLst>
              <a:ext uri="{FF2B5EF4-FFF2-40B4-BE49-F238E27FC236}">
                <a16:creationId xmlns:a16="http://schemas.microsoft.com/office/drawing/2014/main" id="{A7A93C90-28C5-4841-B1C5-70E4C365B889}"/>
              </a:ext>
            </a:extLst>
          </p:cNvPr>
          <p:cNvSpPr txBox="1">
            <a:spLocks/>
          </p:cNvSpPr>
          <p:nvPr/>
        </p:nvSpPr>
        <p:spPr>
          <a:xfrm>
            <a:off x="3428999" y="2905322"/>
            <a:ext cx="3429000" cy="5285362"/>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000" dirty="0"/>
              <a:t>4. 有名なオープンソースプロジェクトのリーダー</a:t>
            </a:r>
          </a:p>
          <a:p>
            <a:pPr algn="l"/>
            <a:r>
              <a:rPr lang="ja-JP" altLang="en-US" sz="1000" dirty="0"/>
              <a:t>Justin は ICS/OT セキュリティで有名な OSS プロジェクトを主導しています：</a:t>
            </a:r>
          </a:p>
          <a:p>
            <a:pPr algn="l"/>
            <a:r>
              <a:rPr lang="ja-JP" altLang="en-US" sz="1000" dirty="0"/>
              <a:t>• 	ControlThings Platform</a:t>
            </a:r>
          </a:p>
          <a:p>
            <a:pPr algn="l"/>
            <a:r>
              <a:rPr lang="ja-JP" altLang="en-US" sz="1000" dirty="0"/>
              <a:t>→ ICS/OT の攻撃・防御のための総合プラットフォーム</a:t>
            </a:r>
          </a:p>
          <a:p>
            <a:pPr algn="l"/>
            <a:r>
              <a:rPr lang="ja-JP" altLang="en-US" sz="1000" dirty="0"/>
              <a:t>• 	Samurai Web Testing Framework（SamuraiWTF）</a:t>
            </a:r>
          </a:p>
          <a:p>
            <a:pPr algn="l"/>
            <a:r>
              <a:rPr lang="ja-JP" altLang="en-US" sz="1000" dirty="0"/>
              <a:t>→ Web アプリケーション攻撃用の有名なペンテスト環境</a:t>
            </a:r>
          </a:p>
          <a:p>
            <a:pPr algn="l"/>
            <a:r>
              <a:rPr lang="ja-JP" altLang="en-US" sz="1000" dirty="0"/>
              <a:t>• 	SamuraiSTFU（Samurai Security Testing Framework for Utilities）</a:t>
            </a:r>
          </a:p>
          <a:p>
            <a:pPr algn="l"/>
            <a:r>
              <a:rPr lang="ja-JP" altLang="en-US" sz="1000" dirty="0"/>
              <a:t>→ 電力・ユーティリティ向けの攻撃・評価フレームワーク</a:t>
            </a:r>
          </a:p>
          <a:p>
            <a:pPr algn="l"/>
            <a:r>
              <a:rPr lang="ja-JP" altLang="en-US" sz="1000" dirty="0"/>
              <a:t>ICS/OT の実務者なら一度は触れるツール群です。</a:t>
            </a:r>
          </a:p>
          <a:p>
            <a:pPr algn="l"/>
            <a:endParaRPr lang="ja-JP" altLang="en-US" sz="1000" dirty="0"/>
          </a:p>
          <a:p>
            <a:pPr algn="l"/>
            <a:r>
              <a:rPr lang="ja-JP" altLang="en-US" sz="1000" dirty="0"/>
              <a:t>5. 高度な資格と学歴を持つ</a:t>
            </a:r>
          </a:p>
          <a:p>
            <a:pPr algn="l"/>
            <a:r>
              <a:rPr lang="ja-JP" altLang="en-US" sz="1000" dirty="0"/>
              <a:t>Justin は以下の資格を保有：</a:t>
            </a:r>
          </a:p>
          <a:p>
            <a:pPr algn="l"/>
            <a:r>
              <a:rPr lang="ja-JP" altLang="en-US" sz="1000" dirty="0"/>
              <a:t>• 	CISSP</a:t>
            </a:r>
          </a:p>
          <a:p>
            <a:pPr algn="l"/>
            <a:r>
              <a:rPr lang="ja-JP" altLang="en-US" sz="1000" dirty="0"/>
              <a:t>• 	GCIH（Incident Handler）</a:t>
            </a:r>
          </a:p>
          <a:p>
            <a:pPr algn="l"/>
            <a:r>
              <a:rPr lang="ja-JP" altLang="en-US" sz="1000" dirty="0"/>
              <a:t>• 	GCIA（Intrusion Analyst）</a:t>
            </a:r>
          </a:p>
          <a:p>
            <a:pPr algn="l"/>
            <a:r>
              <a:rPr lang="ja-JP" altLang="en-US" sz="1000" dirty="0"/>
              <a:t>• 	GWAPT（Web App PenTester）</a:t>
            </a:r>
          </a:p>
          <a:p>
            <a:pPr algn="l"/>
            <a:r>
              <a:rPr lang="ja-JP" altLang="en-US" sz="1000" dirty="0"/>
              <a:t>• 	GICSP（Industrial Control Security Professional）</a:t>
            </a:r>
          </a:p>
          <a:p>
            <a:pPr algn="l"/>
            <a:r>
              <a:rPr lang="ja-JP" altLang="en-US" sz="1000" dirty="0"/>
              <a:t>さらに、</a:t>
            </a:r>
          </a:p>
          <a:p>
            <a:pPr algn="l"/>
            <a:r>
              <a:rPr lang="ja-JP" altLang="en-US" sz="1000" dirty="0"/>
              <a:t>国際テクノロジー分野の MBA を取得しており、</a:t>
            </a:r>
          </a:p>
          <a:p>
            <a:pPr algn="l"/>
            <a:r>
              <a:rPr lang="ja-JP" altLang="en-US" sz="1000" dirty="0"/>
              <a:t>技術とビジネスの両面に強い人物です。</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MS PGothic"/>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MS PGothic"/>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2003</TotalTime>
  <Words>25879</Words>
  <Application>Microsoft Office PowerPoint</Application>
  <PresentationFormat>ワイド画面</PresentationFormat>
  <Paragraphs>2828</Paragraphs>
  <Slides>113</Slides>
  <Notes>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113</vt:i4>
      </vt:variant>
    </vt:vector>
  </HeadingPairs>
  <TitlesOfParts>
    <vt:vector size="118" baseType="lpstr">
      <vt:lpstr>MS PGothic</vt:lpstr>
      <vt:lpstr>MS PGothic</vt:lpstr>
      <vt:lpstr>Arial</vt:lpstr>
      <vt:lpstr>Calibri</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A1251715</cp:lastModifiedBy>
  <cp:revision>115</cp:revision>
  <dcterms:created xsi:type="dcterms:W3CDTF">2026-01-25T22:59:00Z</dcterms:created>
  <dcterms:modified xsi:type="dcterms:W3CDTF">2026-03-09T07:15:46Z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1033-11.2.0.9396</vt:lpwstr>
  </property>
</Properties>
</file>